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2: AI Development Environment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התפקיד של VS Code, Git ו-GitHub בזרימת העבודה?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ההבדל בין כלי Autocomplete לכלי Agentic?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איך פותחים ומנהלים session עם Claude Code בפועל?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אילו כלי AI חינמיים זמינים כדי להתחיל בלי תקציב?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0" y="640080"/>
            <a:ext cx="5056632" cy="557784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583680" y="640080"/>
            <a:ext cx="5056632" cy="55778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שולחן עבודה — VS Code פתוח עם פאנל Claude Code בצד]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2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Code, Git ו-GitHub — יסודות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577840" y="15544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55778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סביבת הפיתוח שרוב כלי ה-AI האג'נטיים מתחברים אליה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577840" y="29260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3101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רשת ביטחון: כל שינוי הוא תמונת מצב שאפשר לחזור אליה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577840" y="42976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557784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6817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אחסון מרוחק ושיתוף פעולה (יורחב בשבוע 10)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92240" y="1554480"/>
            <a:ext cx="5148072" cy="292608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492240" y="1554480"/>
            <a:ext cx="5148072" cy="29260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ממשק VS Code עם פאנל Git פתוח]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4663440"/>
            <a:ext cx="5148072" cy="1097280"/>
          </a:xfrm>
          <a:prstGeom prst="roundRect">
            <a:avLst>
              <a:gd name="adj" fmla="val 8333"/>
            </a:avLst>
          </a:prstGeom>
          <a:solidFill>
            <a:srgbClr val="E6FBF7"/>
          </a:solidFill>
          <a:ln/>
        </p:spPr>
      </p:sp>
      <p:sp>
        <p:nvSpPr>
          <p:cNvPr id="18" name="Text 16"/>
          <p:cNvSpPr/>
          <p:nvPr/>
        </p:nvSpPr>
        <p:spPr>
          <a:xfrm>
            <a:off x="6720840" y="4663440"/>
            <a:ext cx="4690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אצבע: Commit נקי לפני שנותנים ל-AI לגעת בקוד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הופך כלי ל״אג'נטי״?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36792" y="173736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F2F2F2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73736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E6FBF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Agentic (Claude Code)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מקבל משימה ברמה גבוהה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קורא קבצים, כותב במספר מקומות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מריץ בדיקות ומתקן את עצמו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שותף לביצוע משימה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11112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Autocomplete בסיסי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11112" y="251460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משלים שורה/פונקציה בודדת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פועל לפי הקשר מקומי בלבד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אתם מחליטים הכל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5486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ההבדל: עוזר הקלדה מול שותף לביצוע משימה.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— איך זה עובד בפועל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6FBF7"/>
          </a:solidFill>
          <a:ln/>
        </p:spPr>
      </p:sp>
      <p:sp>
        <p:nvSpPr>
          <p:cNvPr id="4" name="Shape 2"/>
          <p:cNvSpPr/>
          <p:nvPr/>
        </p:nvSpPr>
        <p:spPr>
          <a:xfrm>
            <a:off x="1261872" y="21488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5" name="Text 3"/>
          <p:cNvSpPr/>
          <p:nvPr/>
        </p:nvSpPr>
        <p:spPr>
          <a:xfrm>
            <a:off x="126187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פתיחת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14600" y="2011680"/>
            <a:ext cx="320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679192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6FBF7"/>
          </a:solidFill>
          <a:ln/>
        </p:spPr>
      </p:sp>
      <p:sp>
        <p:nvSpPr>
          <p:cNvPr id="9" name="Shape 7"/>
          <p:cNvSpPr/>
          <p:nvPr/>
        </p:nvSpPr>
        <p:spPr>
          <a:xfrm>
            <a:off x="3392424" y="21488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0" name="Text 8"/>
          <p:cNvSpPr/>
          <p:nvPr/>
        </p:nvSpPr>
        <p:spPr>
          <a:xfrm>
            <a:off x="3392424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79192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ברורה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45152" y="2011680"/>
            <a:ext cx="320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809744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6FBF7"/>
          </a:solidFill>
          <a:ln/>
        </p:spPr>
      </p:sp>
      <p:sp>
        <p:nvSpPr>
          <p:cNvPr id="14" name="Shape 12"/>
          <p:cNvSpPr/>
          <p:nvPr/>
        </p:nvSpPr>
        <p:spPr>
          <a:xfrm>
            <a:off x="5522976" y="21488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5" name="Text 13"/>
          <p:cNvSpPr/>
          <p:nvPr/>
        </p:nvSpPr>
        <p:spPr>
          <a:xfrm>
            <a:off x="5522976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09744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/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פעולה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75704" y="2011680"/>
            <a:ext cx="320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940296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FFF6E6"/>
          </a:solidFill>
          <a:ln/>
        </p:spPr>
      </p:sp>
      <p:sp>
        <p:nvSpPr>
          <p:cNvPr id="19" name="Shape 17"/>
          <p:cNvSpPr/>
          <p:nvPr/>
        </p:nvSpPr>
        <p:spPr>
          <a:xfrm>
            <a:off x="7653528" y="2148840"/>
            <a:ext cx="502920" cy="50292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20" name="Text 18"/>
          <p:cNvSpPr/>
          <p:nvPr/>
        </p:nvSpPr>
        <p:spPr>
          <a:xfrm>
            <a:off x="7653528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40296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בדיקת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906256" y="2011680"/>
            <a:ext cx="320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070848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6FBF7"/>
          </a:solidFill>
          <a:ln/>
        </p:spPr>
      </p:sp>
      <p:sp>
        <p:nvSpPr>
          <p:cNvPr id="24" name="Shape 22"/>
          <p:cNvSpPr/>
          <p:nvPr/>
        </p:nvSpPr>
        <p:spPr>
          <a:xfrm>
            <a:off x="9784080" y="21488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070848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צעד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40233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i="1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בדיקת ה-Diff היא לא אופציונלית — זה השלב שבו אתם עדיין בשליטה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48640" y="49377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בדיוק שלבים 4-6 מה-Workflow שלמדנו בשיעור 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 חינמיים להתחלה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38160" y="164592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0" y="18288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Free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321040" y="260604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מסלול חינמי רחב, ללא צורך באימות סטודנט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233672" y="164592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E6FBF7"/>
          </a:solidFill>
          <a:ln/>
        </p:spPr>
      </p:sp>
      <p:sp>
        <p:nvSpPr>
          <p:cNvPr id="7" name="Text 5"/>
          <p:cNvSpPr/>
          <p:nvPr/>
        </p:nvSpPr>
        <p:spPr>
          <a:xfrm>
            <a:off x="4416552" y="18288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Student Pack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416552" y="260604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הרחבה למי שמאמת סטודנט (זמינות משתנה)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29184" y="164592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E6FBF7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" y="18288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12064" y="260604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מלא, מסלול חינמי מוגבל (מכסת השלמות)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FF6E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32720" y="448056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14" name="Text 12"/>
          <p:cNvSpPr/>
          <p:nvPr/>
        </p:nvSpPr>
        <p:spPr>
          <a:xfrm>
            <a:off x="10332720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44348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שוק הכלים משתנה מהר — ראו מקרה Gemini CLI → Antigravity משיעור 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לעבודה עם כלי Agentic (1)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332720" y="15544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הנחיות ברורות וספציפיות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“תוסיף התחברות” עמום; “תוסיף התחברות עם Google OAuth, עם redirect לדף הבית” ברור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332720" y="29260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103327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צעדים קטנים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3101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משימה גדולה מתפרקת לצעדים — קל יותר לבדוק תוצאה של צעד קטן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332720" y="42976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1033272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בדיקת כל Diff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6817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לפני אישור שינוי, קוראים אותו. תמיד, בלי יוצא מן הכלל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לעבודה עם כלי Agentic (2)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332720" y="15544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כרשת ביטחון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לפני כל ניסוי משמעותי — תמיד אפשר לחזור אחורה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332720" y="29260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103327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לסמוך בעיוורון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3101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אם משהו נראה “יותר מדי חכם” או משתמש בפונקציה לא מוכרת — בודקים שהיא קיימת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332720" y="42976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1033272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איטרציה, לא ניסיון יחיד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6817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אם התוצאה הראשונה לא מושלמת, מבקשים תיקון ממוקד — לא מתחילים מאפס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פותחים session אמיתי על פרויקט קיים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demo/prompt.md להוראות המלאות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0" y="2880360"/>
            <a:ext cx="5788152" cy="329184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200400" y="2880360"/>
            <a:ext cx="5788152" cy="32918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שיתוף — Diff מוצג לפני אישור בכלי ה-AI]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C2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דקות: הקמת סביבת עבודה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VS Code + Git מותקנים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Repository חדש ב-GitHub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כלי AI חינמי מחובר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Commit ראשון נדחף בהצלחה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09360" y="2651760"/>
            <a:ext cx="5056632" cy="292608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309360" y="2651760"/>
            <a:ext cx="5056632" cy="29260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אחרי git push מוצלח]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exercises.md ו-solutions.md לפירוט מלא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332720" y="15544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 + Git + GitHub = השולחן שעליו עובדים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332720" y="251460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7" name="Text 5"/>
          <p:cNvSpPr/>
          <p:nvPr/>
        </p:nvSpPr>
        <p:spPr>
          <a:xfrm>
            <a:off x="1033272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≠ Autocomplete — זה שותף לביצוע משימה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332720" y="347472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0" name="Text 8"/>
          <p:cNvSpPr/>
          <p:nvPr/>
        </p:nvSpPr>
        <p:spPr>
          <a:xfrm>
            <a:off x="1033272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47472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נקודת כניסה חינמית — אין תירוץ לא להתחיל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00C2A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28523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שבוע הבא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56235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 — איך ״מזינים״ לכלי את מה שהוא צריך לדעת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2026-07-19T15:30:36Z</dcterms:created>
  <dcterms:modified xsi:type="dcterms:W3CDTF">2026-07-19T15:30:36Z</dcterms:modified>
</cp:coreProperties>
</file>