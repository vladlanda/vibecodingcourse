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– AI-Native Software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2: AI Development Environment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Development Environment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83464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השיעור תדעו לענות על: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291840"/>
            <a:ext cx="76169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זה IDE, Git, ו-GitHub — ולמה כל אחד מהם קריטי לעבודה עם AI?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ההבדל בין כלי Autocomplete לכלי Agentic?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נראה תהליך עבודה טיפוסי מול כלי AI אג'נטי כמו Claude Code?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כלים חינמיים זמינים כדי להתחיל בלי תקציב?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Course · Lesson 2 of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בכלל IDE?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בכלל כותבים קוד, טכנית?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51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אפשר טכנית לפתוח קובץ טקסט רגיל (כמו Notepad) ולהקליד בו — זה עובד, אבל בלי שום עזרה: אין צביעת תחביר (סימון צבעוני של מילות קוד), אין השלמה אוטומטית, ואין דרך להריץ קוד בלי לעבור לתוכנה אחרת לגמרי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(ראשי תיבות: Integrated Development Environment — סביבת פיתוח משולבת) = תוכנה שמאחדת במקום אחד עורך טקסט חכם, טרמינל מובנה (שורת פקודה בתוך התוכנה עצמה), וכלים לאיתור באגים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(ראשי תיבות של Visual Studio Code) = ה-IDE החינמי והפופולרי ביותר כיום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כלי ה-AI האג'נטיים (כולל Claude Code) מתחברים ל-VS Code כתוסף (Extension), או פועלים לצידו מתוך הטרמינל המובנה שלו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77356" y="4155948"/>
            <a:ext cx="5362956" cy="1028700"/>
          </a:xfrm>
          <a:prstGeom prst="roundRect">
            <a:avLst>
              <a:gd name="adj" fmla="val 5333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77356" y="4229100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Notepad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51676" y="4613148"/>
            <a:ext cx="4814316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1676" y="4613148"/>
            <a:ext cx="4814316" cy="4343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טקסט רגיל, בלי צבע ובלי עזרה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4155948"/>
            <a:ext cx="5362956" cy="1028700"/>
          </a:xfrm>
          <a:prstGeom prst="roundRect">
            <a:avLst>
              <a:gd name="adj" fmla="val 5333"/>
            </a:avLst>
          </a:prstGeom>
          <a:solidFill>
            <a:srgbClr val="1B1F3B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29100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(IDE)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594860"/>
            <a:ext cx="4905756" cy="218313"/>
          </a:xfrm>
          <a:prstGeom prst="rect">
            <a:avLst/>
          </a:prstGeom>
          <a:solidFill>
            <a:srgbClr val="2A2F55"/>
          </a:solidFill>
          <a:ln w="6350">
            <a:solidFill>
              <a:srgbClr val="00A8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94860"/>
            <a:ext cx="4905756" cy="218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עורך קוד צבעוני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4868037"/>
            <a:ext cx="4905756" cy="74295"/>
          </a:xfrm>
          <a:prstGeom prst="rect">
            <a:avLst/>
          </a:prstGeom>
          <a:solidFill>
            <a:srgbClr val="2A2F55"/>
          </a:solidFill>
          <a:ln w="6350">
            <a:solidFill>
              <a:srgbClr val="00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68037"/>
            <a:ext cx="4905756" cy="7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טרמינל מובנה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4997196"/>
            <a:ext cx="4905756" cy="50292"/>
          </a:xfrm>
          <a:prstGeom prst="rect">
            <a:avLst/>
          </a:prstGeom>
          <a:solidFill>
            <a:srgbClr val="2A2F55"/>
          </a:solidFill>
          <a:ln w="6350">
            <a:solidFill>
              <a:srgbClr val="00A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997196"/>
            <a:ext cx="4905756" cy="5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איתור באגים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276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Notepad — טקסט פשוט בלי עזרה, מול VS Code — עורך צבעוני + טרמינל מובנה + איתור באגים, הכל בחלון אחד.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235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כל התרגול היום (ובכל שיעור מכאן והלאה) יתבצע בתוך VS Code — זה "השולחן" שעליו כל שאר הכלים יושבים.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הבעיה ש-Version Control פותר?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שומרים גרסאות של קובץ בלי להתבלבל?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דמיינו שאתם כותבים עבודה ושומרים: `עבודה.docx`, `עבודה_v2.docx`, `עבודה_v2_final.docx`, `עבודה_v2_final_REALLY.docx` — זה בדיוק מה שקורה עם קוד בלי כלי מתאים, ומחמיר עוד יותר כשכמה אנשים עובדים על אותו פרויקט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(ניהול גרסאות) = מערכת ששומרת "תמונת מצב" (Snapshot — עותק מדויק של כל הפרויקט ברגע נתון) בכל נקודת זמן שתבחרו, עם אפשרות לחזור אליה, להשוות בין גרסאות, ולעבוד יחד עם אחרים בלי לדרוך אחד על השני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990838" y="3666744"/>
            <a:ext cx="2649474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990838" y="3666744"/>
            <a:ext cx="264947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עבודה.docx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844534" y="3858768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176772" y="3666744"/>
            <a:ext cx="2649474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76772" y="3666744"/>
            <a:ext cx="264947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עבודה_v2.docx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0468" y="3858768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3362706" y="3666744"/>
            <a:ext cx="2649474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62706" y="3666744"/>
            <a:ext cx="264947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v2_final.docx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16402" y="3858768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666744"/>
            <a:ext cx="2649474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3666744"/>
            <a:ext cx="264947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v2_final_REALLY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78415" y="4846320"/>
            <a:ext cx="274320" cy="274320"/>
          </a:xfrm>
          <a:prstGeom prst="ellipse">
            <a:avLst/>
          </a:prstGeom>
          <a:solidFill>
            <a:srgbClr val="00A88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66101" y="4983480"/>
            <a:ext cx="2484882" cy="0"/>
          </a:xfrm>
          <a:prstGeom prst="line">
            <a:avLst/>
          </a:prstGeom>
          <a:noFill/>
          <a:ln w="15875">
            <a:solidFill>
              <a:srgbClr val="00A88A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7364349" y="4846320"/>
            <a:ext cx="274320" cy="274320"/>
          </a:xfrm>
          <a:prstGeom prst="ellipse">
            <a:avLst/>
          </a:prstGeom>
          <a:solidFill>
            <a:srgbClr val="00A88A"/>
          </a:solidFill>
          <a:ln/>
        </p:spPr>
      </p:sp>
      <p:sp>
        <p:nvSpPr>
          <p:cNvPr id="19" name="Shape 17"/>
          <p:cNvSpPr/>
          <p:nvPr/>
        </p:nvSpPr>
        <p:spPr>
          <a:xfrm>
            <a:off x="4852035" y="4983480"/>
            <a:ext cx="2484882" cy="0"/>
          </a:xfrm>
          <a:prstGeom prst="line">
            <a:avLst/>
          </a:prstGeom>
          <a:noFill/>
          <a:ln w="15875">
            <a:solidFill>
              <a:srgbClr val="00A88A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4550283" y="4846320"/>
            <a:ext cx="274320" cy="274320"/>
          </a:xfrm>
          <a:prstGeom prst="ellipse">
            <a:avLst/>
          </a:prstGeom>
          <a:solidFill>
            <a:srgbClr val="00A88A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7969" y="4983480"/>
            <a:ext cx="2484882" cy="0"/>
          </a:xfrm>
          <a:prstGeom prst="line">
            <a:avLst/>
          </a:prstGeom>
          <a:noFill/>
          <a:ln w="15875">
            <a:solidFill>
              <a:srgbClr val="00A88A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1736217" y="4846320"/>
            <a:ext cx="274320" cy="274320"/>
          </a:xfrm>
          <a:prstGeom prst="ellipse">
            <a:avLst/>
          </a:prstGeom>
          <a:solidFill>
            <a:srgbClr val="00A88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93792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נקי, מסודר וניתן-לחזרה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26694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שרשרת שמות קבצים מבולבלת (למעלה, מוחלש) מול שרשרת Commit-ים מסודרת עם מסלול חזרה (למטה, בטיל).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522976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14416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Version Control הוא לא "נחמד שיהיה" — הוא הבסיס שעליו כל שאר השיעור בנוי, כי בלעדיו אי אפשר לעבוד בבטחון עם AI (בשקף הבא נראה למה).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הכלי שעושה את זה בפועל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בפועל מיישמים Version Control?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כלי ניהול הגרסאות הנפוץ ביותר, רץ על המחשב שלכם בעצמו (בחינם, קוד פתוח — כל אחד יכול לראות ולשנות את הקוד שלו)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(בקיצור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תיקיית הפרויקט שעליה Git "שומר עין" — כל קובץ בתוכה עוקב אחר ההיסטוריה שלו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"תמונת מצב" שמורה אחת, עם הודעה שמסבירה מה השתנה (למשל: "הוספתי כפתור התחברות") — בדיוק כמו נקודת שמירה במשחק מחשב, תמיד אפשר לחזור אליה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למסלול AI: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זו רשת הביטחון שלכם כש-AI כותב קוד — אם הוא הורס משהו, Git מאפשר לחזור לתמונת המצב הקודמת תוך שניות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57784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לפני שנותנים ל-AI לגעת בקוד, מוודאים שיש Commit נקי מאחור. זה לא בירוקרטיה — זה הביטוח שהופך ניסוי-וטעייה עם AI לבטוח.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— לא אותו דבר כמו Git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אם Git כבר שומר הכל אצלי במחשב, למה צריך עוד שירות?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בלבול נפוץ אצל מתחילים: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= הכלי שרץ אצלכם במחשב, שומר היסטוריה מקומית בלבד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שירות אחסון בענן (של Microsoft) ששומר עותק מגובה של ה-Repository באינטרנט, מאפשר לשתף אותו עם אחרים, ולשתף פעולה על אותו קוד (נרחיב בשיעור 10)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אנלוגיה: Git הוא כמו קובץ Word בודד במחשב שלכם; GitHub הוא כמו Google Drive — המקום שבו הוא מגובה ומשותף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מי כבר השתמש ב-Git, ולו רק כדי לשכפל Repository של מישהו אחר? איך שיתפתם קוד לפני שהכרתם GitHub (וואטסאפ? מייל?)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97396" y="4647895"/>
            <a:ext cx="5042916" cy="753466"/>
          </a:xfrm>
          <a:prstGeom prst="roundRect">
            <a:avLst>
              <a:gd name="adj" fmla="val 7282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97396" y="4647895"/>
            <a:ext cx="5042916" cy="75346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המחשב שלכם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Git — היסטוריה מקומית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647895"/>
            <a:ext cx="5042916" cy="753466"/>
          </a:xfrm>
          <a:prstGeom prst="roundRect">
            <a:avLst>
              <a:gd name="adj" fmla="val 7282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47895"/>
            <a:ext cx="5042916" cy="75346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E6FFFA"/>
                </a:solidFill>
              </a:rPr>
              <a:t>בענן — מגובה ומשותף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82996" y="4911608"/>
            <a:ext cx="822960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5682996" y="5137648"/>
            <a:ext cx="822960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637276" y="49057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5869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Git רץ על המחשב שלכם (היסטוריה מקומית); GitHub הוא העותק בענן, מגובה ומשותף — Push מעלה, Pull מוריד.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843016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93445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בתרגול היום תיצרו Repository משלכם ב-GitHub — הבית הקבוע של הפרויקט לאורך הסמסטר.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בקנה מידה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180M+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מפתחים רשומים (36M+ הצטרפו בשנה האחרונה בלבד — קצב הצמיחה המהיר ביותר בהיסטוריית הפלטפורמה)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630M+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Repositories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43.2M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בקשות שילוב קוד (Pull Requests) נמזגות בכל חודש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מחברות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(מדד 100 החברות הגדולות בעולם לפי הכנסות) משתמשות ב-GitHub Enterprise (הגרסה הארגונית בתשלום)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זו לא "עוד פלטפורמה" — זו התשתית שרוב תעשיית התוכנה בנויה עליה.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618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Kinsta &amp; Skillademia — GitHub Statistics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בכלל "כלי AI לכתיבת קוד"?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מה בדיוק קורה מאחורי הקלעים כשכלי AI "כותב קוד"?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AI לכתיבת קוד = תוכנה שמשלבת מודל שפה (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כפי שלמדנו בשיעור 1) בתוך סביבת הפיתוח שלכם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כותבים בקשה בשפה טבעית ("תוסיף כפתור שמוחק משימה") — הכלי מתרגם אותה לקוד בפועל בקבצים שלכם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כמה "רמות" של כלים כאלה, מהבסיסית ביותר ועד המתקדמת — וזה בדיוק ההבדל בין Autocomplete ל-Agentic שנפרט בשקף הבא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95488" y="3648456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5488" y="3648456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בקשה בשפה טבעית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85176" y="3899916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322064" y="3648456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2064" y="3648456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1752" y="3899916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648456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8456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בקובץ שלכם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457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בקשה בשפה טבעית → כלי AI → קוד שנכתב בפועל בקובץ שלכם.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001768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932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בשיעור הקודם ראיתם הדגמה של זה בפעולה — עכשיו נגדיר את זה במדויק.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הופך כלי ל"אג'נטי"?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מה ההבדל בין "עוזר הקלדה" לבין "שותף לביצוע משימה"?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41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בסיסי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(הדורות הראשונים של כלי AI לקוד) — משלים שורה או פונקציה בודדת לפי הקשר מקומי; אתם עדיין מקבלים כל החלטה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Agentic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(כמו Claude Code) — מקבל משימה ברמה גבוהה ("תוסיף התחברות עם Google לאפליקציה"), ומבצע בעצמו סדרת פעולות: קורא קבצים רלוונטיים, כותב קוד במספר מקומות, מריץ בדיקות, ולעיתים גם מתקן את עצמו אם משהו נכשל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למסלול AI: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דומה למעבר מ-Feature Engineering ידני ל-Deep Learning — גם שם עוברים מ"מגדיר כל שלב" ל"מגדיר מטרה, המערכת מבצעת", אבל אתם עדיין בודקים את התוצאה (כמו Evaluation ב-ML)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131552" y="40645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15250" y="4064508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15250" y="4064508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קורא קבצים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05522" y="4256532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26380" y="4064508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6380" y="4064508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כותב קוד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6223" y="3921862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223" y="392186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6652" y="4256532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37510" y="4064508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7510" y="4064508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מריץ בדיקות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27782" y="4256532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4508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4508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מתקן את עצמו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31552" y="50200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15250" y="5020056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5250" y="5020056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קורא קבצים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45093" y="4877410"/>
            <a:ext cx="219456" cy="219456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5093" y="487741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05522" y="5212080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6380" y="5020056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6380" y="5020056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כותב קוד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6223" y="4877410"/>
            <a:ext cx="219456" cy="219456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6223" y="487741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6652" y="5212080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37510" y="5020056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37510" y="5020056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מריץ בדיקות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67353" y="4877410"/>
            <a:ext cx="219456" cy="219456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7353" y="487741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27782" y="5212080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020056"/>
            <a:ext cx="2279142" cy="384048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020056"/>
            <a:ext cx="227914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מתקן את עצמו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578483" y="4877410"/>
            <a:ext cx="219456" cy="219456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78483" y="487741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5869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אותם 4 שלבי-פעולה: Autocomplete נוגע רק בכתיבת קוד; Agentic פועל בכל השלבים - קורא, כותב, בודק, ומתקן את עצמו.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843016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93445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הקורס הזה עוסק בסוג השני (Agentic) — "עוזר הקלדה" זה לא המטרה כאן.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פעילות בזוגות: Autocomplete או Agentic?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המשימה (2-3 דקות בזוגות):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לכל אחת מהמשימות הבאות, קבעו יחד — מספיק Autocomplete בסיסי, או צריך כלי Agentic מלא? נמקו.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להשלים שם משתנה שכבר התחלתם להקליד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להוסיף מסך "התחברות" שלם לאפליקציה, כולל שמירה במסד נתונים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לתקן שגיאת הזחה (Indentation) בשורה בודדת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לעדכן פונקציה אחת בעשרה קבצים שונים בפרויקט, בעקביות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התשובה: 1+3 = Autocomplete מספיק (שינוי נקודתי); 2+4 = דורש Agentic (משתרע על כמה קבצים, דורש החלטות). תרחיש 4 הכי פחות חד-משמעי — זה בדיוק העניין.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מודדים "כמה טוב" כלי אג'נטי?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משווים בין כלי AI שונים בצורה אובייקטיבית?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הדרך המקצועית היא בנצ'מארקים (מבחני השוואה סטנדרטיים):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(בעיות תכנות אמיתיות שנאספו מ-GitHub) ו-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Terminal-Bench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(משימות טרמינל/שורת-פקודה מורכבות)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אזהרה מקצועית: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יש היום חמש גרסאות שונות של SWE-bench (Original, Verified, Pro, Multilingual, Live), וההשוואה ביניהן לא תמיד הוגנת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אפילו על אותם משקלי מודל בדיוק, יש שונות (Variance) של 10-20 נקודות אחוז, בהתאם ל-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(התשתית הטכנית שמריצה את הבדיקה בפועל)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57784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תמיד בודקים את המתודולוגיה מאחורי מספר בנצ'מארק לפני שסומכים עליו — בדיוק כמו שבודקים מתודולוגיה לפני שסומכים על הערכת מודל בכל הקשר אחר שאתם מכירים.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המרוץ לבנצ'מארק: המספרים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התוצאה של Claude Code ב-SWE-bench Verified (הגרסה ה"מנוקה" של הבנצ'מארק)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78.9%-83.1%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טווח התוצאות של Claude Code ב-Terminal-Bench 2.1, תלוי בגרסת המודל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כפי שראינו בשקף הקודם — המספרים האלה חשובים, אבל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ביחד עם אזהרת המתודולוגיה, לא בלעדיה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מספר בנצ'מארק בודד הוא נקודת התחלה לבדיקה, לא מסקנה סופית.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618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DigitalApplied, MorphLLM —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לוחות תוצאות חיים — לפתיחה בכיתה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רואים את זה לא כטקסט על שקף, אלא כמשהו אמיתי ומתעדכן?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SWE-bench Verified (התוצאות המדויקות שראינו בשקף הקודם):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swebench.com/verified.html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Terminal-Bench 2.1: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tbench.ai/leaderboard/terminal-bench/2.1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הלוחות מתעדכנים באופן שוטף — המספר שראיתם בשקף הקודם עשוי כבר להיות לא הכי עדכני ברגע שאתם קוראים את זה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358384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49824"/>
            <a:ext cx="11091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המרצה פותח את שני הלינקים בדפדפן מול הכיתה. </a:t>
            </a:r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פעילות (הרימו יד):</a:t>
            </a:r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לפני שפותחים — מי בטוח שהמודל שהיה מוביל בזמן הכנת השקף עדיין מוביל היום? זו ההדגמה הכי טובה לאזהרת המתודולוגיה מהשקף הקודם: המספרים משתנים ממש מתחת לרגליים.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בנצ'מארק שני: לא רק "עובד/לא עובד"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SWE-bench בודק אם הפתרון נכון — אבל איך בודקים כמה זמן כלי יכול להתמיד במשימה בלי עזרה?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(ארגון מחקר שמפרסם מדדי יכולת עצמאית של סוכני AI) מודד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"אופק זמן" (Time Horizon)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משך המשימה (לפי זמן שלוקח למומחה אנושי) שבו למודל יש 50% סיכוי להצליח, ללא התערבות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שונה מ-SWE-bench: שם בודקים "האם הפתרון הספציפי הזה נכון", כאן בודקים "כמה זמן הכלי יכול להתמיד לבד לפני שהוא נתקע או טועה"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הנתון: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אופק הזמן הכפיל את עצמו בערך כל 4 חודשים בשנים האחרונות; במודלים המובילים באמצע 2026 האופק הגיע לכ-12 שעות (לשם השוואה: Claude 3.7 Sonnet, מ-2025, עמד על כ-50 דקות בלבד)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997196" y="4160520"/>
            <a:ext cx="822960" cy="274320"/>
          </a:xfrm>
          <a:prstGeom prst="rect">
            <a:avLst/>
          </a:prstGeom>
          <a:solidFill>
            <a:srgbClr val="B8B8C8"/>
          </a:solidFill>
          <a:ln/>
        </p:spPr>
      </p:sp>
      <p:sp>
        <p:nvSpPr>
          <p:cNvPr id="6" name="Text 4"/>
          <p:cNvSpPr/>
          <p:nvPr/>
        </p:nvSpPr>
        <p:spPr>
          <a:xfrm>
            <a:off x="4677156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דקות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68796" y="3758184"/>
            <a:ext cx="822960" cy="676656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8" name="Text 6"/>
          <p:cNvSpPr/>
          <p:nvPr/>
        </p:nvSpPr>
        <p:spPr>
          <a:xfrm>
            <a:off x="6048756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מובילים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אמצע 2026: ~12 שעות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28916" y="3859682"/>
            <a:ext cx="0" cy="473659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headEnd type="triangle"/>
          </a:ln>
        </p:spPr>
      </p:sp>
      <p:sp>
        <p:nvSpPr>
          <p:cNvPr id="10" name="Text 8"/>
          <p:cNvSpPr/>
          <p:nvPr/>
        </p:nvSpPr>
        <p:spPr>
          <a:xfrm>
            <a:off x="548640" y="4983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המחשה (לא לפי קנה-מידה): אופק הזמן גדל משמעותית בין דורות מודלים - מדקות בודדות לשעות ארוכות.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239512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330952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שני סוגי הבנצ'מארק משלימים זה את זה — אחד אומר "האם זה נכון", השני אומר "כמה הוא יכול להתמיד לבד". כשמעריכים כלי AI (בקורס הזה או בעתיד המקצועי שלכם), שווה לשאול את שתי השאלות, לא רק אחת.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062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metr.org/time-horizons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איך זה עובד בפועל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אז איך בפועל נראית עבודה מול כלי אג'נטי, צעד-צעד?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פתיחת Session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(חיבור פעיל אחד מול כלי ה-AI, מתחילתו ועד סופו) — מהטרמינל, או כתוסף בתוך VS Code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הנחיה ברורה וספציפית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אומרים בדיוק מה רוצים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הכלי מציג תוכנית או מתחיל לפעול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קורא קבצים, כותב קוד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בודקים כל Diff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(תצוגה שמראה בדיוק אילו שורות קוד השתנו, נוספו, או נמחקו)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שמאשרים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ממשיכים לצעד הבא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או חוזרים לשלב 2 אם צריך תיקון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1137392" y="431139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37392" y="4311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20556" y="4562856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8490204" y="431139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90204" y="4311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73368" y="4562856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5843016" y="431139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3016" y="4311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26180" y="4562856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3195828" y="431139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5828" y="4311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8992" y="4562856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311396"/>
            <a:ext cx="502920" cy="502920"/>
          </a:xfrm>
          <a:prstGeom prst="ellipse">
            <a:avLst/>
          </a:prstGeom>
          <a:solidFill>
            <a:srgbClr val="00A88A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1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76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5 השלבים בזרימה מ-1 עד 5 (כזכור מהבולט למעלה - אם שלב 4 דורש תיקון, חוזרים לשלב 2).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6235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זה בדיוק החיבור לשלבים 4-6 מה-Workflow שלמדנו בשיעור 1 (תכנון עם AI → מימוש עם AI → Code Review) — היום אתם עושים את זה בפועל, לא רק רואים הדגמה.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כבר עובדים ליד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זה נשמע מסובך — האם אתם באמת מתחילים מאפס?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מי מכם כבר השתמש ב-ChatGPT או Claude כדי לכתוב סקריפט לניקוי דאטה, או פונקציית עזר למודל? מה עשיתם עם הקוד שקיבלתם בסוף?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ברוב הכיתות: התשובה היא העתק-הדבק לקובץ בעצמכם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אג'נטי עושה בדיוק את זה בשבילכם — רק כותב ישירות לקבצים, וגם קורא את שאר הפרויקט קודם כדי להבין הקשר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57784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זה לא כלי חדש לגמרי — זה שדרוג למשהו שאתם כבר עושים, רק עם פחות חיכוך והרבה יותר הקשר.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משתמש במה, בפועל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82% נתח שימוש כללי לעזרה בקוד (הכלי הכי נפוץ)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68% נתח שימוש כללי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מבין ה-IDE-ים הממוקדי-AI: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(עורך קוד עם AI מובנה) — 18% נתח שימוש כללי, אך 24% כ"כלי ראשי" בקרב מי שכבר עובד אג'נטית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10% נתח שימוש כללי, אך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כ"כלי ראשי" בקרב מי שכבר עובד אג'נטית — כלומר מי שבחר להתמקצע בעבודה אג'נטית מלאה נוטה לבחור בו דווקא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(ChatGPT ו-Copilot לא נמדדו בקטגוריית "כלי ראשי אג'נטי" כי הם משמשים בעיקר כעזר כללי, לא כסביבת עבודה אג'נטית מלאה)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אין "כלי אחד נכון" — הקורס מלמד עם Claude Code כי הוא מייצג היטב את העבודה האג'נטית המלאה, אבל ה-Workflow שתלמדו עובד בכל אחד מהכלים האלה.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Stack Overflow Developer Survey (סקר שנתי בקרב מפתחים, מבית אתר Stack Overflow) 2025 — survey.stackoverflow.co/2025 · index.dev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 חינמיים להתחלה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Free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מסלול חינמי רחב, ללא צורך באימות סטודנט, זמין ישירות ב-VS Code — נקודת הכניסה הפשוטה ביותר. כולל גם מצב Agent (לא רק השלמות), עם בחירת מודל אוטומטית ומכסה חודשית (docs.github.com/.../plans)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Student Developer Pack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חבילת הטבות לסטודנטים מאומתים; הרשמה חדשה להטבת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Student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(מסלול מורחב יותר מ-Copilot Free הרגיל) מושהית מאפריל 2026 בשל עומס על תשתית Agentic — מי שכבר אומת קודם ממשיך לקבל אותה, וחברי Pack חדשים מקבלים כרגע את Copilot Free הרגיל (education.github.com/pack)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 מלא מבוסס AI, עם מסלול חינמי מוגבל (Agent requests מוגבל + מכסת השלמות בסיסית, בלי כרטיס אשראי) — cursor.com/pricing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שוק הכלים משתנה מהר (בשיעור 1 ראינו את Gemini CLI החינמי נסגר תוך פחות משנה) — ולכן ההתקנה וההרשמה בפועל לכלי הנבחר קורות בתרגול המיידי, לא כאן. תמיד כדאי לבדוק סטטוס עדכני קרוב למועד השימוש.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לעבודה עם כלי Agentic (חלק א׳)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הנחיות ברורות וספציפיות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"תוסיף התחברות" עמום מדי; "תוסיף התחברות עם Google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(פרוטוקול התחברות מאובטח דרך חשבון קיים), עם Redirect (הפניה אוטומטית) לדף הבית אחרי הצלחה" ברור וממוקד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צעדים קטנים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משימה גדולה מתפרקת לצעדים; קל יותר לבדוק תוצאה של צעד קטן מאשר של שינוי ענק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בדיקת כל Diff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לפני אישור שינוי, קוראים אותו. תמיד, בלי יוצא מן הכלל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שלושת הכללים האלה (וגם השלושה בשקף הבא) הם מה שמבדיל שימוש מקצועי מ"ניסוי מקרי".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לעבודה עם כלי Agentic (חלק ב׳)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Git כרשת ביטחון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Commit לפני כל ניסוי משמעותי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לא לסמוך בעיוורון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אם משהו נראה "יותר מדי חכם", או משתמש בפונקציה שלא הכרתם — בודקים שהיא אכן קיימת (זוכרים את Hallucination משיעור 1?)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איטרציה, לא ניסיון יחיד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אם התוצאה הראשונה לא מושלמת, מבקשים תיקון ממוקד, לא מתחילים מאפס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בשקף הבא נראה שיש לזה גם מחיר מדיד, לא רק "עצה טובה".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בזוגות: לתקן הנחיה מעורפלת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המשימה (3 דקות בזוגות):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אחד/אחת בזוג כותב/ת בכוונה הנחיה מעורפלת לכלי AI (למשל: "תשפר את הקוד", "תתקן את הבאג", "תוסיף אבטחה"). השני/ה כותב/ת אותה מחדש לפי כלל 1 (הנחיות ברורות וספציפיות) — כמו הדוגמה מהשקף הקודם.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אחרי 3 דקות, 2-3 זוגות מקריאים בקול את ההנחיה ה"לפני" וה"אחרי". מטרת התרגיל: להרגיש בעצמכם למה כלי AI "מנחש" כשההנחיה עמומה — לא רק לשמוע את זה כעצה.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 של דילוג על הכללים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דו"ח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(מחקר שנתי מוביל על תהליכי פיתוח תוכנה, מבית Google — הכרנו בשיעור 1) מצא: אימוץ AI בלי תהליך עבודה מסודר (בדיוק הכללים משני השקפים הקודמים) מוביל ל-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30-41%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חוב טכני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(עבודה "מהירה" עכשיו שדורשת תיקון יקר יותר בהמשך), לעומת עבודה עם תהליך מסודר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בקשות שילוב קוד (Pull Requests) שנכתבו על ידי AI נושאות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 1.7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בעיות מ-PR שכתב בן אדם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ה-Best Practices משני השקפים הקודמים הם לא בירוקרטיה — הם ההבדל בין "AI שעוזר" ל"AI שיוצר בעיה גדולה יותר ממה שפתר".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DORA — ROI of AI-Assisted Software Development,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מקרה בוחן: כשמדלגים על Review בפועל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זה נשמע תיאורטי — האם יש דוגמה אמיתית וגדולה למחיר הזה?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במרץ 2026, אתר המסחר של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עבר שני תקלות חמורות תוך שלושה ימים: ב-2 במרץ קריסה של כ-6 שעות (כ-1.6 מיליון שגיאות אתר, כ-120,000 הזמנות אבודות), וב-5 במרץ קריסה חמורה עוד יותר — ירידה של 99% בהזמנות בצפון אמריקה ביחס לקצב הרגיל, כ-6.3 מיליון הזמנות אבודות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דיווחי Amazon עצמה, הגורם המרכזי לתקלה השנייה היה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קוד שעבר לייצור בלי תהליך אישור ותיעוד פורמלי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בדיוק סוג הדילוג-על-Review שדיברנו עליו. Amazon הבהירה שרק תקלה אחת בכלל נגעה לכלי AI, ושם הסיבה הייתה תקלה אנושית בתהליך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התגובה של Amazon: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"איפוס בטיחות קוד" בן 90 יום על כ-335 מערכות קריטיות — כל שינוי דורש עכשיו אישור שני אנשים, תיעוד פורמלי, ובדיקות אוטומטיות מחמירות יותר; שינויי קוד שנוצרו בעזרת AI דורשים ספציפית גם חתימה של מהנדס בכיר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376672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68112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גם ענקית כמו Amazon נדרשה לחזק בדיוק את הכללים שלמדתם היום — לא כי AI "רע", אלא כי דילוג על Review הוא הסיכון האמיתי, עם או בלי AI.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Yahoo Tech, Digital Trends — מרץ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 (חלק א׳): Autocomplete מול Agentic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דקות. פותחים session אמיתי מול קוד קיים — פרויקט ה-Todo App שבנינו יחד בשיעור 1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1 — Autocomplete (לא אג'נטי):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המרצה מקליד בעצמו בתוך `index.html`, למשל תוך כדי הוספת פונקציה חדשה, ונותן לכלי להשלים שורה אחת בלבד. הדגש: "זה עוזר, אבל אני עדיין מחליט כל דבר."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2 — שימוש אג'נטי אמיתי: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פותחים session אג'נטי מלא (Claude Code / Cursor Agent Mode) על אותה תיקייה, ומקלידים את הפרומפט שבשקף הבא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הניגוד בין שני השלבים הוא הנקודה הפדגוגית המרכזית — לתת לכיתה לראות בעיניים את ההבדל, לא רק לשמוע עליו.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חיה (חלק ב׳)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18304" y="914400"/>
            <a:ext cx="2743200" cy="0"/>
          </a:xfrm>
          <a:prstGeom prst="line">
            <a:avLst/>
          </a:prstGeom>
          <a:noFill/>
          <a:ln w="19050">
            <a:solidFill>
              <a:srgbClr val="00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אג'נטי מלא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 הדגמת Autocomplete בשלב 1, מקלידים את זה מול הכיתה: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43200"/>
            <a:ext cx="10634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תוסיף לאפליקציית ה-Todo הזו שדה "עדיפות" לכל משימה (נמוכה/בינונית/גבוהה),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עם צבע רקע שונה לכל רמת עדיפות ברשימה. תשמור על אותו סגנון קוד שכבר קיים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בקובץ.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165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האישור, עוצרים ובודקים מול הכיתה: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עוצרים לפני אישור השינוי, ובודקים ביחד את ה-Diff שהתקבל: אילו שורות נוספו, אילו השתנו. שני דברים לשים לב אליהם: (א) האם הכלי "קרא" את הקוד הקיים לפני שהוסיף (שמר על מוסכמות שמות קיימות)? (ב) האם הכלי הציע לשנות משהו לא קשור (Scope Creep — "זחילת היקף", הרחבה לא מתוכננת של המשימה)? אם כן — זו הזדמנות להראות איך דוחים חלק מהצעה ומאשרים רק את מה שרלוונטי.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לתרגול: הקמת סביבה (חלק א׳ — המשימה)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מה המטרה של 45 הדקות האלה?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להקים סביבת עבודה אישית שתלווה אתכם לאורך כל הסמסטר, ולבצע בה פעולה אמיתית ראשונה עם כלי AI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המשימה: מתקינים VS Code + Git, יוצרים Repository חדש בשם `my-vibe-coding-env` ב-GitHub, משכפלים אותו למחשב (`git clone`), ומפעילים כלי AI חינמי (Copilot Free או שקול)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 מבקשים מה-AI ליצור קובץ `hello.py` (או `hello.js`) שמדפיס הודעת פתיחה אישית — זו הפעולה האג'נטית הראשונה שלכם בקורס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57784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אם משהו בהתקנה לא עובד — זה בדיוק סוג הבעיה ש-AI טוב בפתרון שלה. מעתיקים את הודעת השגיאה המדויקת ושואלים את כלי ה-AI "מה השגיאה הזו אומרת ואיך פותרים אותה?" — זה תרגול לגיטימי, לא "רמאות".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עוברים לתרגול (חלק ב׳)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18304" y="914400"/>
            <a:ext cx="2743200" cy="0"/>
          </a:xfrm>
          <a:prstGeom prst="line">
            <a:avLst/>
          </a:prstGeom>
          <a:noFill/>
          <a:ln w="19050">
            <a:solidFill>
              <a:srgbClr val="00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פתיחה לתרגול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מכאן, והתאימו את השם שלכם: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1672" cy="3429000"/>
          </a:xfrm>
          <a:prstGeom prst="roundRect">
            <a:avLst>
              <a:gd name="adj" fmla="val 1600"/>
            </a:avLst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43200"/>
            <a:ext cx="106344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תיצור קובץ hello.py שמדפיס "שלום מ-Vibe Coding, שיעור 2!" ואת השם שלי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[השם שלכם]. תוסיף גם הדפסה של התאריך הנוכחי.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לתרגול: מתי סיימתם? (חלק ג׳)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יודעים שהתרגול הושלם בהצלחה?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מותקן ופתוח על תיקיית הפרויקט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מותקן, וה-Repository `my-vibe-coding-env` קיים ב-GitHub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AI חינמי מותקן ופעיל (Copilot Free או שקול)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קובץ `hello.py`/`hello.js` נוצר בעזרת AI, נבדק, ורץ בהצלחה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בוצע Commit אחד לפחות, ונדחף (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העלאה מהמחשב המקומי לשרת המרוחק) ל-GitHub בהצלחה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358384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49824"/>
            <a:ext cx="11091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הבעיה הכי נפוצה בתרגול הזה היא אימות/הרשאות מול GitHub (HTTPS Token או SSH key — שתי שיטות שונות להוכיח שאתם באמת אתם). אם נתקעתם כאן — זה בדיוק המקום לבקש עזרה מהמרצה או מ-AI, זה לא קשור ליכולת התכנות שלכם.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 + GitHub = השולחן שעליו עובדים לאורך כל הקורס</a:t>
            </a:r>
            <a:endParaRPr lang="en-US" sz="1900" dirty="0"/>
          </a:p>
          <a:p>
            <a:pPr rtl="1" algn="r" marL="228600" indent="-2286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≠ Autocomplete — זה שותף לביצוע משימה, לא רק עוזר הקלדה (וזוכרים: תמיד בודקים Diff לפני אישור)</a:t>
            </a:r>
            <a:endParaRPr lang="en-US" sz="1900" dirty="0"/>
          </a:p>
          <a:p>
            <a:pPr rtl="1" algn="r" marL="228600" indent="-2286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נקודת כניסה חינמית לכל הכלים שלמדנו היום — אין תירוץ לא להתחיל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הבא: </a:t>
            </a:r>
            <a:pPr rtl="1" algn="r"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— איך "מזינים" לכלי את מה שהוא צריך לדעת על הפרויקט שלכם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בהמשך הקורס: עבודה עם קוד קיים (שבוע 4) · Agents (שבוע 5) · תכנון לפני קוד (שבוע 6) · עד פריסה מלאה בענן ואבטחה (שבועות 11-12)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Kinsta &amp; Skillademia — GitHub Statistics 2026 · DigitalApplied &amp; MorphLLM — Benchmark Guides 2026 · swebench.com · tbench.ai · metr.org/time-horizons · Stack Overflow Developer Survey 2025 (survey.stackoverflow.co/2025) · index.dev 2026 · DORA — ROI of AI-Assisted Software Development, 2026 · cursor.com/pricing · docs.github.com/copilot/plans · education.github.com/pack · Yahoo Tech / Digital Trends (מקרה Amazon, מרץ 2026)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פירוט מלא: references.md — כל הנתונים נבדקו ביולי 2026 ועשויים להשתנות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2 · שקף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2026-07-24T08:15:56Z</dcterms:created>
  <dcterms:modified xsi:type="dcterms:W3CDTF">2026-07-24T08:15:56Z</dcterms:modified>
</cp:coreProperties>
</file>