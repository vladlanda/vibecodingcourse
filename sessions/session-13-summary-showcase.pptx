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11"/>
    <p:sldId id="257" r:id="rId12"/>
    <p:sldId id="258" r:id="rId13"/>
    <p:sldId id="298" r:id="rId53"/>
    <p:sldId id="288" r:id="rId43"/>
    <p:sldId id="259" r:id="rId14"/>
    <p:sldId id="260" r:id="rId15"/>
    <p:sldId id="261" r:id="rId16"/>
    <p:sldId id="262" r:id="rId17"/>
    <p:sldId id="286" r:id="rId41"/>
    <p:sldId id="287" r:id="rId42"/>
    <p:sldId id="263" r:id="rId18"/>
    <p:sldId id="264" r:id="rId19"/>
    <p:sldId id="265" r:id="rId20"/>
    <p:sldId id="266" r:id="rId21"/>
    <p:sldId id="267" r:id="rId22"/>
    <p:sldId id="268" r:id="rId23"/>
    <p:sldId id="289" r:id="rId44"/>
    <p:sldId id="269" r:id="rId24"/>
    <p:sldId id="270" r:id="rId25"/>
    <p:sldId id="271" r:id="rId26"/>
    <p:sldId id="272" r:id="rId27"/>
    <p:sldId id="273" r:id="rId28"/>
    <p:sldId id="299" r:id="rId54"/>
    <p:sldId id="284" r:id="rId39"/>
    <p:sldId id="274" r:id="rId29"/>
    <p:sldId id="275" r:id="rId30"/>
    <p:sldId id="290" r:id="rId45"/>
    <p:sldId id="276" r:id="rId31"/>
    <p:sldId id="277" r:id="rId32"/>
    <p:sldId id="278" r:id="rId33"/>
    <p:sldId id="279" r:id="rId34"/>
    <p:sldId id="285" r:id="rId40"/>
    <p:sldId id="280" r:id="rId35"/>
    <p:sldId id="281" r:id="rId36"/>
    <p:sldId id="282" r:id="rId37"/>
    <p:sldId id="283" r:id="rId38"/>
    <p:sldId id="291" r:id="rId46"/>
    <p:sldId id="292" r:id="rId47"/>
    <p:sldId id="293" r:id="rId48"/>
    <p:sldId id="294" r:id="rId49"/>
    <p:sldId id="295" r:id="rId50"/>
    <p:sldId id="296" r:id="rId51"/>
    <p:sldId id="297" r:id="rId52"/>
  </p:sldIdLst>
  <p:sldSz cy="5143500" cx="9144000"/>
  <p:notesSz cx="6858000" cy="9144000"/>
  <p:embeddedFontLst>
    <p:embeddedFont>
      <p:font typeface="Roboto Mono"/>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9DD8FB8-E6A7-485A-9FB0-3124AB043D13}">
  <a:tblStyle styleId="{E9DD8FB8-E6A7-485A-9FB0-3124AB043D1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25.xml"/><Relationship Id="rId40" Type="http://schemas.openxmlformats.org/officeDocument/2006/relationships/slide" Target="slides/slide33.xml"/><Relationship Id="rId41" Type="http://schemas.openxmlformats.org/officeDocument/2006/relationships/slide" Target="slides/slide10.xml"/><Relationship Id="rId42" Type="http://schemas.openxmlformats.org/officeDocument/2006/relationships/slide" Target="slides/slide11.xml"/><Relationship Id="rId43" Type="http://schemas.openxmlformats.org/officeDocument/2006/relationships/slide" Target="slides/slide5.xml"/><Relationship Id="rId44" Type="http://schemas.openxmlformats.org/officeDocument/2006/relationships/slide" Target="slides/slide18.xml"/><Relationship Id="rId45" Type="http://schemas.openxmlformats.org/officeDocument/2006/relationships/slide" Target="slides/slide28.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xml"/><Relationship Id="rId54" Type="http://schemas.openxmlformats.org/officeDocument/2006/relationships/slide" Target="slides/slide24.xml"/><Relationship Id="rId57" Type="http://schemas.openxmlformats.org/officeDocument/2006/relationships/font" Target="fonts/RobotoMono-regular.fntdata"/><Relationship Id="rId58" Type="http://schemas.openxmlformats.org/officeDocument/2006/relationships/font" Target="fonts/RobotoMono-bold.fntdata"/><Relationship Id="rId59" Type="http://schemas.openxmlformats.org/officeDocument/2006/relationships/font" Target="fonts/RobotoMono-italic.fntdata"/><Relationship Id="rId60" Type="http://schemas.openxmlformats.org/officeDocument/2006/relationships/font" Target="fonts/RobotoMon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פתיחה (8 דקות בסך הכול: שקפים 1 עד 3 כ־5 דקות, ועוד השאלה של היום ושרשרת הרעיונות, שקפים 4 ו־5, כ־3 דקות).</a:t>
            </a:r>
          </a:p>
          <a:p>
            <a:pPr rtl="1" algn="r" marL="0" indent="0">
              <a:buNone/>
            </a:pPr>
            <a:r>
              <a:rPr b="1" sz="1200" lang="he-IL"/>
              <a:t>מה אומרים</a:t>
            </a:r>
          </a:p>
          <a:p>
            <a:pPr rtl="1" algn="r" marL="0" indent="0">
              <a:buNone/>
            </a:pPr>
            <a:r>
              <a:rPr sz="1200" lang="he-IL"/>
              <a:t>•  המפגש האחרון משלב סיכום של הקורס, ריכוז פרקטיקות והצגת פרויקטים.</a:t>
            </a:r>
          </a:p>
          <a:p>
            <a:pPr rtl="1" algn="r" marL="0" indent="0">
              <a:buNone/>
            </a:pPr>
            <a:r>
              <a:rPr sz="1200" lang="he-IL"/>
              <a:t>•  התחילו מהמשפט שמלווה את הקורס כולו: תארו, אמתו, והיו אחראים.</a:t>
            </a:r>
          </a:p>
          <a:p>
            <a:pPr rtl="1" algn="r" marL="0" indent="0">
              <a:buNone/>
            </a:pPr>
            <a:r>
              <a:rPr sz="1200" lang="he-IL"/>
              <a:t>•  תארו: בקשה ברורה, הקשר ומפרט.</a:t>
            </a:r>
          </a:p>
          <a:p>
            <a:pPr rtl="1" algn="r" marL="0" indent="0">
              <a:buNone/>
            </a:pPr>
            <a:r>
              <a:rPr sz="1200" lang="he-IL"/>
              <a:t>•  אמתו: מריצים, בודקים וקוראים diff.</a:t>
            </a:r>
          </a:p>
          <a:p>
            <a:pPr rtl="1" algn="r" marL="0" indent="0">
              <a:buNone/>
            </a:pPr>
            <a:r>
              <a:rPr sz="1200" lang="he-IL"/>
              <a:t>•  היו אחראים: מתעדים, מאבטחים ומודיעים.</a:t>
            </a:r>
          </a:p>
          <a:p>
            <a:pPr rtl="1" algn="r" marL="0" indent="0">
              <a:buNone/>
            </a:pPr>
            <a:r>
              <a:rPr sz="1200" lang="he-IL"/>
              <a:t>•  שאלת פתיחה (כ־2 עד 3 דקות): מה הדבר האחד שהייתם אומרים לחבר שמתחיל מחר לעבוד עם סוכן קוד?</a:t>
            </a:r>
          </a:p>
          <a:p>
            <a:pPr rtl="1" algn="r" marL="0" indent="0">
              <a:buNone/>
            </a:pPr>
            <a:r>
              <a:rPr sz="1200" lang="he-IL"/>
              <a:t>•  אספו 3 עד 4 תשובות על הלוח וחזרו אליהן בסוף המפגש, כדי לראות מה השתנה.</a:t>
            </a:r>
          </a:p>
          <a:p>
            <a:pPr rtl="1" algn="r" marL="0" indent="0">
              <a:buNone/>
            </a:pPr>
            <a:r>
              <a:rPr sz="1200" lang="he-IL"/>
              <a:t>•  הסבירו את מבנה הזמן: סיכום 19 דקות, פרקטיקות 13, הצגות 42 (כולל כ־6 דקות מסגרת), סיכום אישי 8.</a:t>
            </a:r>
          </a:p>
          <a:p>
            <a:pPr rtl="1" algn="r" marL="0" indent="0">
              <a:buNone/>
            </a:pPr>
            <a:r>
              <a:rPr sz="1200" lang="he-IL"/>
              <a:t>•  שקפים עם התג ״אופציונלי״ או ״העשרה״ אינם בתקציב ונשארים לקריאה אחרי המפגש.</a:t>
            </a:r>
          </a:p>
          <a:p>
            <a:pPr rtl="1" algn="r" marL="0" indent="0">
              <a:buNone/>
            </a:pPr>
            <a:r>
              <a:rPr sz="1200" lang="he-IL"/>
              <a:t>•  טיפ: ביום ההצגות הסטודנטים לחוצים, ולכן הדגישו שהמטרה היא להראות תהליך ואחריות ולא רק דמו מרשים.</a:t>
            </a:r>
          </a:p>
          <a:p>
            <a:pPr rtl="1" algn="r" marL="0" indent="0">
              <a:buNone/>
            </a:pPr>
            <a:r>
              <a:rPr b="1" sz="1200" lang="he-IL"/>
              <a:t>טעות נפוצה</a:t>
            </a:r>
          </a:p>
          <a:p>
            <a:pPr rtl="1" algn="r" marL="0" indent="0">
              <a:buNone/>
            </a:pPr>
            <a:r>
              <a:rPr sz="1200" lang="he-IL"/>
              <a:t>•  להציג רק את מה שעובד.</a:t>
            </a:r>
          </a:p>
          <a:p>
            <a:pPr rtl="1" algn="r" marL="0" indent="0">
              <a:buNone/>
            </a:pPr>
            <a:r>
              <a:rPr sz="1200" lang="he-IL"/>
              <a:t>•  מה שנבדק הוא גם איך אימתתם, ומה לא עובד.</a:t>
            </a:r>
          </a:p>
          <a:p>
            <a:pPr rtl="1" algn="r" marL="0" indent="0">
              <a:buNone/>
            </a:pPr>
            <a:r>
              <a:rPr sz="1200" lang="he-IL"/>
              <a:t>•  חיבור למפגש הקודם: מפגש 12 נסגר בכלל ״בודקים, מתעדים ומודיעים״ ובהכנה להיום: להשלים את שלושת הפערים בצ׳קליסט, לוודא שעמוד הנחיתה חי עם סרטון וקישור, ולהכין הצגה של 5 דקות.</a:t>
            </a:r>
          </a:p>
          <a:p>
            <a:pPr rtl="1" algn="r" marL="0" indent="0">
              <a:buNone/>
            </a:pPr>
            <a:r>
              <a:rPr sz="1200" lang="he-IL"/>
              <a:t>•  שלוש המילים של היום מרכזות את כל השרשרת (תארו: מפגשים 3, 4 ו־7; אמתו: 8 ו־9; היו אחראים: 10 עד 12), והשקפים 4 ו־5 מראים איפה כל חוליה חוזרת בהצגות.</a:t>
            </a:r>
          </a:p>
          <a:p>
            <a:pPr rtl="1" algn="r" marL="0" indent="0">
              <a:buNone/>
            </a:pPr>
            <a:r>
              <a:rPr b="1" sz="1200" lang="he-IL"/>
              <a:t>שאלת היזכרות</a:t>
            </a:r>
          </a:p>
          <a:p>
            <a:pPr rtl="1" algn="r" marL="0" indent="0">
              <a:buNone/>
            </a:pPr>
            <a:r>
              <a:rPr sz="1200" lang="he-IL"/>
              <a:t>•  מי זוכר מה הכלל של מפגש 12?</a:t>
            </a:r>
          </a:p>
          <a:p>
            <a:pPr rtl="1" algn="r" marL="0" indent="0">
              <a:buNone/>
            </a:pPr>
            <a:r>
              <a:rPr b="1" sz="1200" lang="he-IL"/>
              <a:t>תשובה</a:t>
            </a:r>
          </a:p>
          <a:p>
            <a:pPr rtl="1" algn="r" marL="0" indent="0">
              <a:buNone/>
            </a:pPr>
            <a:r>
              <a:rPr sz="1200" lang="he-IL"/>
              <a:t>•  בודקים, מתעדים ומודיעים, וכש־AI כתב עדיין אתם חתומים.</a:t>
            </a:r>
          </a:p>
          <a:p>
            <a:pPr rtl="1" algn="r" marL="0" indent="0">
              <a:buNone/>
            </a:pPr>
            <a:r>
              <a:rPr b="1" sz="1200" lang="he-IL"/>
              <a:t>אם הכיתה לא זוכרת</a:t>
            </a:r>
          </a:p>
          <a:p>
            <a:pPr rtl="1" algn="r" marL="0" indent="0">
              <a:buNone/>
            </a:pPr>
            <a:r>
              <a:rPr sz="1200" lang="he-IL"/>
              <a:t>•  הקריאו את השורה בתחתית השקף, ואמרו שהיום הכלל הזה הופך מהצהרה להצגה עם ראיה.</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יעדי למידה, כדקה.</a:t>
            </a:r>
          </a:p>
          <a:p>
            <a:pPr rtl="1" algn="r" marL="0" indent="0">
              <a:buNone/>
            </a:pPr>
            <a:r>
              <a:rPr b="1" sz="1200" lang="he-IL"/>
              <a:t>מה אומרים</a:t>
            </a:r>
          </a:p>
          <a:p>
            <a:pPr rtl="1" algn="r" marL="0" indent="0">
              <a:buNone/>
            </a:pPr>
            <a:r>
              <a:rPr sz="1200" lang="he-IL"/>
              <a:t>•  ארבעה יעדים: לסכם את הקורס (שרשרת הרעיונות שמחברת את מפגש 12 והקורס כולו להצגות של היום, ותהליך העבודה), לרכז פרקטיקות שאפשר ליישם מחר, להציג פרויקט (בעיה, דמו, תהליך עם AI ואחריות אישית), ולתת משוב מקצועי לעמיתים.</a:t>
            </a:r>
          </a:p>
          <a:p>
            <a:pPr rtl="1" algn="r" marL="0" indent="0">
              <a:buNone/>
            </a:pPr>
            <a:r>
              <a:rPr sz="1200" lang="he-IL"/>
              <a:t>•  הדגישו שהמפגש הוא גם תרגול: הצגה היא כישור מקצועי, ומשוב מעמיתים הוא דרך ללמוד.</a:t>
            </a:r>
          </a:p>
          <a:p>
            <a:pPr rtl="1" algn="r" marL="0" indent="0">
              <a:buNone/>
            </a:pPr>
            <a:r>
              <a:rPr sz="1200" lang="he-IL"/>
              <a:t>•  משוב מקצועי אומר מה עבד, מה לא ברור ומה לשפר, בלי ביקורת אישית.</a:t>
            </a:r>
          </a:p>
          <a:p>
            <a:pPr rtl="1" algn="r" marL="0" indent="0">
              <a:buNone/>
            </a:pPr>
            <a:r>
              <a:rPr sz="1200" lang="he-IL"/>
              <a:t>•  הזכירו שלפי הסילבוס פרויקט הגמר הוא 70 אחוז מהציון (המרכיבים בסילבוס מסומנים ״לא סופי״), וכולל הצעה (checkpoint), עמוד נחיתה, הצגה ואחריות אישית מתועדת.</a:t>
            </a:r>
          </a:p>
          <a:p>
            <a:pPr rtl="1" algn="r" marL="0" indent="0">
              <a:buNone/>
            </a:pPr>
            <a:r>
              <a:rPr sz="1200" lang="he-IL"/>
              <a:t>•  יעדי העשרה, לשקפים האופציונליים בלבד: להבחין בין ממצא מחקרי להמלצת פרקטיקה, להכיר ראיות על פרודוקטיביות ואבטחה בעבודה עם AI, ולהכיר מקורות מאומתים וכיווני המשך בנושאי סוכנים, הערכה ובטיחות.</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מפת המפגש, 90 דקות, כדקה.</a:t>
            </a:r>
          </a:p>
          <a:p>
            <a:pPr rtl="1" algn="r" marL="0" indent="0">
              <a:buNone/>
            </a:pPr>
            <a:r>
              <a:rPr b="1" sz="1200" lang="he-IL"/>
              <a:t>מה אומרים</a:t>
            </a:r>
          </a:p>
          <a:p>
            <a:pPr rtl="1" algn="r" marL="0" indent="0">
              <a:buNone/>
            </a:pPr>
            <a:r>
              <a:rPr sz="1200" lang="he-IL"/>
              <a:t>•  כחול הוא הסבר קצר וכתום הוא עבודה של הסטודנטים.</a:t>
            </a:r>
          </a:p>
          <a:p>
            <a:pPr rtl="1" algn="r" marL="0" indent="0">
              <a:buNone/>
            </a:pPr>
            <a:r>
              <a:rPr sz="1200" lang="he-IL"/>
              <a:t>•  התקציב: פתיחה 8 (שקפים 1 עד 3 ושאלת פתיחה 5 דקות, השאלה של היום דקה, שרשרת הרעיונות שמחברת את מפגש 12 והקורס כולו להצגות 2 דקות).</a:t>
            </a:r>
          </a:p>
          <a:p>
            <a:pPr rtl="1" algn="r" marL="0" indent="0">
              <a:buNone/>
            </a:pPr>
            <a:r>
              <a:rPr sz="1200" lang="he-IL"/>
              <a:t>•  חלק א׳ סיכום 19: מפת הקורס 1, מפגשים 1 עד 4 2.5, מפגשים 5 עד 7 2.5, מפגשים 8 עד 12 2.5, כלל לכל מפגש 2, תהליך העבודה המלא 4, חידון 4.5 (שרשרת הרעיונות עברה לפתיחה).</a:t>
            </a:r>
          </a:p>
          <a:p>
            <a:pPr rtl="1" algn="r" marL="0" indent="0">
              <a:buNone/>
            </a:pPr>
            <a:r>
              <a:rPr sz="1200" lang="he-IL"/>
              <a:t>•  חלק ב׳ פרקטיקות 13: חמש ראשונות 2, חמש אחרונות 2, טעויות נפוצות 2, צ׳קליסט 1.5, כשהכלים מתחלפים 1.5, שאלת בדיקה 2.5, שקף המחברת 1, ועוד חצי דקה גמישות.</a:t>
            </a:r>
          </a:p>
          <a:p>
            <a:pPr rtl="1" algn="r" marL="0" indent="0">
              <a:buNone/>
            </a:pPr>
            <a:r>
              <a:rPr sz="1200" lang="he-IL"/>
              <a:t>•  חלק ג׳ הצגות 42: כ־6 דקות מסגרת (כללי ההצגה 1.5, מה מעריכים 1, מה מראים כראיה 1, לוח זמנים 0.3, שאלות על הקוד 1, טופס משוב 0.7, מחברת משוב 0.5) ועוד 36 דקות הצגות, כלומר 6 קבוצות של 6 דקות (5 הצגה ו־1 שאלות).</a:t>
            </a:r>
          </a:p>
          <a:p>
            <a:pPr rtl="1" algn="r" marL="0" indent="0">
              <a:buNone/>
            </a:pPr>
            <a:r>
              <a:rPr sz="1200" lang="he-IL"/>
              <a:t>•  סיכום 8: מה לקחתי 3, הכלל 1.5, הגשה 2, חזרה לשאלת הפתיחה 1.5.</a:t>
            </a:r>
          </a:p>
          <a:p>
            <a:pPr rtl="1" algn="r" marL="0" indent="0">
              <a:buNone/>
            </a:pPr>
            <a:r>
              <a:rPr sz="1200" lang="he-IL"/>
              <a:t>•  סך הכול 90.</a:t>
            </a:r>
          </a:p>
          <a:p>
            <a:pPr rtl="1" algn="r" marL="0" indent="0">
              <a:buNone/>
            </a:pPr>
            <a:r>
              <a:rPr sz="1200" lang="he-IL"/>
              <a:t>•  שקפים אופציונליים בכיתה (מושגי יסוד פעמיים 1.5, מה המחקר אומר 2, הדגמה חיה 1) מוסיפים עד 6 דקות, ולכן עד 96 עם כולם.</a:t>
            </a:r>
          </a:p>
          <a:p>
            <a:pPr rtl="1" algn="r" marL="0" indent="0">
              <a:buNone/>
            </a:pPr>
            <a:r>
              <a:rPr sz="1200" lang="he-IL"/>
              <a:t>•  שקפי ״להעמקה״ בסוף אינם בתקציב.</a:t>
            </a:r>
          </a:p>
          <a:p>
            <a:pPr rtl="1" algn="r" marL="0" indent="0">
              <a:buNone/>
            </a:pPr>
            <a:r>
              <a:rPr sz="1200" lang="he-IL"/>
              <a:t>•  סדר הקיצוץ כשיש 7 קבוצות או יותר: קודם כל השקפים האופציונליים, אחר כך חידון של 3 שאלות במקום 5 (חוסך 2), תהליך העבודה 2.5 במקום 4 (חוסך 1.5), מפגשים 1 עד 4 בדקה וחצי (חוסך 1), ואיחוד שני שקפי הפרקטיקות (חוסך 1.5).</a:t>
            </a:r>
          </a:p>
          <a:p>
            <a:pPr rtl="1" algn="r" marL="0" indent="0">
              <a:buNone/>
            </a:pPr>
            <a:r>
              <a:rPr sz="1200" lang="he-IL"/>
              <a:t>•  המחברת HM_13 (כ־20 דקות) אינה בלוק במפה: הליבה (חלקים א׳ עד ג׳, כ־15 דקות) לבית או בזמן שנחסך, חלק ד׳ (משוב) בזמן ההצגות וחלק ה׳ לבית.</a:t>
            </a:r>
          </a:p>
          <a:p>
            <a:pPr rtl="1" algn="r" marL="0" indent="0">
              <a:buNone/>
            </a:pPr>
            <a:r>
              <a:rPr sz="1200" lang="he-IL"/>
              <a:t>•  אם חסר זמן בפתיחה: שרשרת הרעיונות בדקה במקום שתיים (קוראים רק את העמודה האחרונה, איפה זה חוזר היום), וחוסכים דקה לחלק ג׳.</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מפת הקורס, כדקה.</a:t>
            </a:r>
          </a:p>
          <a:p>
            <a:pPr rtl="1" algn="r" marL="0" indent="0">
              <a:buNone/>
            </a:pPr>
            <a:r>
              <a:rPr b="1" sz="1200" lang="he-IL"/>
              <a:t>מה אומרים</a:t>
            </a:r>
          </a:p>
          <a:p>
            <a:pPr rtl="1" algn="r" marL="0" indent="0">
              <a:buNone/>
            </a:pPr>
            <a:r>
              <a:rPr sz="1200" lang="he-IL"/>
              <a:t>•  ארבעה שלבים: להבין איך מודל שפה עובד (מפגשים 1 ו־2), לתקשר איתו (3 ו־4), לבנות עם כלים וסוכנים (5 עד 7), ולאמת ולשחרר באחריות (8 עד 12).</a:t>
            </a:r>
          </a:p>
          <a:p>
            <a:pPr rtl="1" algn="r" marL="0" indent="0">
              <a:buNone/>
            </a:pPr>
            <a:r>
              <a:rPr sz="1200" lang="he-IL"/>
              <a:t>•  החלוקה לארבעה שלבים היא חלוקה פדגוגית שלנו ואינה חלוקה מקובלת בספרות.</a:t>
            </a:r>
          </a:p>
          <a:p>
            <a:pPr rtl="1" algn="r" marL="0" indent="0">
              <a:buNone/>
            </a:pPr>
            <a:r>
              <a:rPr sz="1200" lang="he-IL"/>
              <a:t>•  הנקודה המרכזית, בהתאם לסילבוס: הקורס אינו מתמקד בכלי ספציפי אלא בתהליך עבודה שאפשר ליישם בכל כלי, עם דגש על חשיבה ביקורתית וכישורי אימות.</a:t>
            </a:r>
          </a:p>
          <a:p>
            <a:pPr rtl="1" algn="r" marL="0" indent="0">
              <a:buNone/>
            </a:pPr>
            <a:r>
              <a:rPr b="1" sz="1200" lang="he-IL"/>
              <a:t>שאלה לכיתה</a:t>
            </a:r>
          </a:p>
          <a:p>
            <a:pPr rtl="1" algn="r" marL="0" indent="0">
              <a:buNone/>
            </a:pPr>
            <a:r>
              <a:rPr sz="1200" lang="he-IL"/>
              <a:t>•  איזה שלב היה הכי חדש לכם?</a:t>
            </a:r>
          </a:p>
          <a:p>
            <a:pPr rtl="1" algn="r" marL="0" indent="0">
              <a:buNone/>
            </a:pPr>
            <a:r>
              <a:rPr sz="1200" lang="he-IL"/>
              <a:t>•  אל תכנסו לפרטים כאן, זו רק מפה.</a:t>
            </a:r>
          </a:p>
          <a:p>
            <a:pPr rtl="1" algn="r" marL="0" indent="0">
              <a:buNone/>
            </a:pPr>
            <a:r>
              <a:rPr sz="1200" lang="he-IL"/>
              <a:t>•  ההרחבה בשקפים הבאים: סיכום לפי שלבים ותהליך העבודה המלא (שרשרת הרעיונות כבר הוצגה בפתיחה).</a:t>
            </a:r>
          </a:p>
          <a:p>
            <a:pPr rtl="1" algn="r" marL="0" indent="0">
              <a:buNone/>
            </a:pPr>
            <a:r>
              <a:rPr sz="1200" lang="he-IL"/>
              <a:t>•  אם רוצים, יש שני שקפים אופציונליים עם מושגי היסוד של כל מפגש, מיד אחרי סיכום מפגשים 8 עד 12.</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סיכום מפגשים 1 עד 4, כ־2.5 דקות.</a:t>
            </a:r>
          </a:p>
          <a:p>
            <a:pPr rtl="1" algn="r" marL="0" indent="0">
              <a:buNone/>
            </a:pPr>
            <a:r>
              <a:rPr b="1" sz="1200" lang="he-IL"/>
              <a:t>מה אומרים</a:t>
            </a:r>
          </a:p>
          <a:p>
            <a:pPr rtl="1" algn="r" marL="0" indent="0">
              <a:buNone/>
            </a:pPr>
            <a:r>
              <a:rPr sz="1200" lang="he-IL"/>
              <a:t>•  מפגש 1: Vibe Coding הוא סגנון עבודה שבו מתארים בשפה טבעית מה רוצים וכלי AI כותב את הקוד, והמתכנת מכוון ומאשר.</a:t>
            </a:r>
          </a:p>
          <a:p>
            <a:pPr rtl="1" algn="r" marL="0" indent="0">
              <a:buNone/>
            </a:pPr>
            <a:r>
              <a:rPr sz="1200" lang="he-IL"/>
              <a:t>•  מודל שפה גדול מנבא את הטוקן הסביר הבא, ולכן אין לו מנגנון פנימי של ״לא יודע״.</a:t>
            </a:r>
          </a:p>
          <a:p>
            <a:pPr rtl="1" algn="r" marL="0" indent="0">
              <a:buNone/>
            </a:pPr>
            <a:r>
              <a:rPr sz="1200" lang="he-IL"/>
              <a:t>•  מטאפורת הג׳וניור המוכשר: סומכים, אבל בודקים.</a:t>
            </a:r>
          </a:p>
          <a:p>
            <a:pPr rtl="1" algn="r" marL="0" indent="0">
              <a:buNone/>
            </a:pPr>
            <a:r>
              <a:rPr sz="1200" lang="he-IL"/>
              <a:t>•  מפגש 2: טוקן (יחידת טקסט עם מספר מזהה), embedding (משמעות כמיקום בווקטור, כשקרבה נמדדת למשל בדמיון קוסינוס), attention (שקלול ההקשר), טמפרטורה (כמה אקראיות בבחירת הטוקן הבא), חלון הקשר (כמה טוקנים המודל מעבד בבת אחת) והזיות בחמישה סוגים: פונקציה, פרמטר, חבילה, גרסה והתנהגות.</a:t>
            </a:r>
          </a:p>
          <a:p>
            <a:pPr rtl="1" algn="r" marL="0" indent="0">
              <a:buNone/>
            </a:pPr>
            <a:r>
              <a:rPr sz="1200" lang="he-IL"/>
              <a:t>•  ממצא מחקרי להמחשה: Spracklen ועמיתים (USENIX Security 2025) ייצרו 576,000 דוגמאות קוד ב־16 מודלים ומצאו חבילות מומצאות בלפחות 5.2% מהחבילות במודלים מסחריים וב־21.7% במודלי קוד פתוח.</a:t>
            </a:r>
          </a:p>
          <a:p>
            <a:pPr rtl="1" algn="r" marL="0" indent="0">
              <a:buNone/>
            </a:pPr>
            <a:r>
              <a:rPr sz="1200" lang="he-IL"/>
              <a:t>•  מפגשים 3 ו־4 לפי הסילבוס: פרומפט אפקטיבי (מבנה, פירוק משימות, דוגמאות few-shot) והנדסת הקשר (ניהול הקשר לאורך פרויקט, קבצי הנחיה, תיעוד ידידותי ל־AI).</a:t>
            </a:r>
          </a:p>
          <a:p>
            <a:pPr rtl="1" algn="r" marL="0" indent="0">
              <a:buNone/>
            </a:pPr>
            <a:r>
              <a:rPr sz="1200" lang="he-IL"/>
              <a:t>•  לפני השיעור: להתאים את שני הכרטיסים האחרונים לתוכן שהועבר בפועל, כי מצגות 3 ו־4 לא היו זמינות בעת הכנת השקף (הקובץ ״שיעור 3״ בתיקיית הקורס נראה כמכיל את תוכן מפגש 2).</a:t>
            </a:r>
          </a:p>
          <a:p>
            <a:pPr rtl="1" algn="r" marL="0" indent="0">
              <a:buNone/>
            </a:pPr>
            <a:r>
              <a:rPr b="1" sz="1200" lang="he-IL"/>
              <a:t>שאלה לכיתה</a:t>
            </a:r>
          </a:p>
          <a:p>
            <a:pPr rtl="1" algn="r" marL="0" indent="0">
              <a:buNone/>
            </a:pPr>
            <a:r>
              <a:rPr sz="1200" lang="he-IL"/>
              <a:t>•  למה הזיה אינה תקלה נדירה?</a:t>
            </a:r>
          </a:p>
          <a:p>
            <a:pPr rtl="1" algn="r" marL="0" indent="0">
              <a:buNone/>
            </a:pPr>
            <a:r>
              <a:rPr b="1" sz="1200" lang="he-IL"/>
              <a:t>תשובה</a:t>
            </a:r>
          </a:p>
          <a:p>
            <a:pPr rtl="1" algn="r" marL="0" indent="0">
              <a:buNone/>
            </a:pPr>
            <a:r>
              <a:rPr sz="1200" lang="he-IL"/>
              <a:t>•  היא תוצר צפוי של מנגנון שמייצר טקסט סביר ולא בהכרח נכון.</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סיכום מפגשים 5 עד 7, כ־2.5 דקות.</a:t>
            </a:r>
          </a:p>
          <a:p>
            <a:pPr rtl="1" algn="r" marL="0" indent="0">
              <a:buNone/>
            </a:pPr>
            <a:r>
              <a:rPr b="1" sz="1200" lang="he-IL"/>
              <a:t>מה אומרים</a:t>
            </a:r>
          </a:p>
          <a:p>
            <a:pPr rtl="1" algn="r" marL="0" indent="0">
              <a:buNone/>
            </a:pPr>
            <a:r>
              <a:rPr sz="1200" lang="he-IL"/>
              <a:t>•  מפגש 5: שלוש משפחות כלים (צ׳אט, עוזר בעורך, סוכן שורת פקודה).</a:t>
            </a:r>
          </a:p>
          <a:p>
            <a:pPr rtl="1" algn="r" marL="0" indent="0">
              <a:buNone/>
            </a:pPr>
            <a:r>
              <a:rPr sz="1200" lang="he-IL"/>
              <a:t>•  הגדרה שחוזרת בקורס: כלי הוא מודל ועוד מעטפת, והמעטפת היא שנותנת לכלי לקרוא קבצים, להריץ ולערוך, ולכן צ׳אט אינו סוכן.</a:t>
            </a:r>
          </a:p>
          <a:p>
            <a:pPr rtl="1" algn="r" marL="0" indent="0">
              <a:buNone/>
            </a:pPr>
            <a:r>
              <a:rPr sz="1200" lang="he-IL"/>
              <a:t>•  בוחרים כלי לפי חמישה קריטריונים, ולפי משימה וסיכון ולא לפי הרעש.</a:t>
            </a:r>
          </a:p>
          <a:p>
            <a:pPr rtl="1" algn="r" marL="0" indent="0">
              <a:buNone/>
            </a:pPr>
            <a:r>
              <a:rPr sz="1200" lang="he-IL"/>
              <a:t>•  מפגש 6: לולאת plan-act-observe (תכנון, פעולה, התבוננות).</a:t>
            </a:r>
          </a:p>
          <a:p>
            <a:pPr rtl="1" algn="r" marL="0" indent="0">
              <a:buNone/>
            </a:pPr>
            <a:r>
              <a:rPr sz="1200" lang="he-IL"/>
              <a:t>•  הרעיון האקדמי הוא ReAct (Yao ועמיתים, ICLR 2023): חשיבה ופעולה לסירוגין, כשתוצאת כל פעולה משפיעה על הצעד הבא.</a:t>
            </a:r>
          </a:p>
          <a:p>
            <a:pPr rtl="1" algn="r" marL="0" indent="0">
              <a:buNone/>
            </a:pPr>
            <a:r>
              <a:rPr sz="1200" lang="he-IL"/>
              <a:t>•  סוכן משתמש בכלים (Tool Use) וממשיך עד שהמשימה הושלמה או שאדם עצר אותו.</a:t>
            </a:r>
          </a:p>
          <a:p>
            <a:pPr rtl="1" algn="r" marL="0" indent="0">
              <a:buNone/>
            </a:pPr>
            <a:r>
              <a:rPr sz="1200" lang="he-IL"/>
              <a:t>•  רמות אוטונומיה: מתחילים נמוך ומעלים רק כשיש גיבוי.</a:t>
            </a:r>
          </a:p>
          <a:p>
            <a:pPr rtl="1" algn="r" marL="0" indent="0">
              <a:buNone/>
            </a:pPr>
            <a:r>
              <a:rPr sz="1200" lang="he-IL"/>
              <a:t>•  Git: commit לפני סוכן כדי שיהיה לאן לחזור, ו־diff אחריו כדי לראות כל שינוי.</a:t>
            </a:r>
          </a:p>
          <a:p>
            <a:pPr rtl="1" algn="r" marL="0" indent="0">
              <a:buNone/>
            </a:pPr>
            <a:r>
              <a:rPr sz="1200" lang="he-IL"/>
              <a:t>•  מפגש 7: HTTP וקודי סטטוס, OpenAPI כחוזה, שירות עם SQL וממשק, Docker, ותור עם עובד למודל איטי.</a:t>
            </a:r>
          </a:p>
          <a:p>
            <a:pPr rtl="1" algn="r" marL="0" indent="0">
              <a:buNone/>
            </a:pPr>
            <a:r>
              <a:rPr sz="1200" lang="he-IL"/>
              <a:t>•  שאלו שאלה אחת על כל מפגש: מה ההבדל בין צ׳אט לסוכן?</a:t>
            </a:r>
          </a:p>
          <a:p>
            <a:pPr rtl="1" algn="r" marL="0" indent="0">
              <a:buNone/>
            </a:pPr>
            <a:r>
              <a:rPr sz="1200" lang="he-IL"/>
              <a:t>•  למה commit לפני סוכן?</a:t>
            </a:r>
          </a:p>
          <a:p>
            <a:pPr rtl="1" algn="r" marL="0" indent="0">
              <a:buNone/>
            </a:pPr>
            <a:r>
              <a:rPr sz="1200" lang="he-IL"/>
              <a:t>•  למה API מחזיר 202?</a:t>
            </a:r>
          </a:p>
          <a:p>
            <a:pPr rtl="1" algn="r" marL="0" indent="0">
              <a:buNone/>
            </a:pPr>
            <a:r>
              <a:rPr sz="1200" lang="he-IL"/>
              <a:t>•  תנו תשובה קצרה, והחידון בהמשך יחזור על אותם רעיונות.</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סיכום מפגשים 8 עד 12, כ־2.5 דקות.</a:t>
            </a:r>
          </a:p>
          <a:p>
            <a:pPr rtl="1" algn="r" marL="0" indent="0">
              <a:buNone/>
            </a:pPr>
            <a:r>
              <a:rPr b="1" sz="1200" lang="he-IL"/>
              <a:t>מה אומרים</a:t>
            </a:r>
          </a:p>
          <a:p>
            <a:pPr rtl="1" algn="r" marL="0" indent="0">
              <a:buNone/>
            </a:pPr>
            <a:r>
              <a:rPr sz="1200" lang="he-IL"/>
              <a:t>•  מפגש 8: קוד בלי בדיקה הוא השערה.</a:t>
            </a:r>
          </a:p>
          <a:p>
            <a:pPr rtl="1" algn="r" marL="0" indent="0">
              <a:buNone/>
            </a:pPr>
            <a:r>
              <a:rPr sz="1200" lang="he-IL"/>
              <a:t>•  אנטומיית בדיקה (נתון, הפעלה, ציפייה), TDD (אדום, ירוק, שיפור), בדיקת מוטציות (שוברים את הקוד בכוונה ובודקים שהבדיקות נכשלות), וסקירת diff של סוכן.</a:t>
            </a:r>
          </a:p>
          <a:p>
            <a:pPr rtl="1" algn="r" marL="0" indent="0">
              <a:buNone/>
            </a:pPr>
            <a:r>
              <a:rPr sz="1200" lang="he-IL"/>
              <a:t>•  מפגש 9: שבעה צעדי דיבוג, קריאת Traceback, באג שקט (קוד שרץ ומחזיר תוצאה שגויה), ובדיקת רגרסיה שנכתבת אחרי התיקון כדי שהבאג לא יחזור.</a:t>
            </a:r>
          </a:p>
          <a:p>
            <a:pPr rtl="1" algn="r" marL="0" indent="0">
              <a:buNone/>
            </a:pPr>
            <a:r>
              <a:rPr sz="1200" lang="he-IL"/>
              <a:t>•  מפגש 10: סוד נשאר מחוץ לקוד וההיסטוריה של Git זוכרת אותו, חמש תבניות של קוד לא בטוח (למשל הזרקת SQL ו־eval על קלט), והזרקת פרומפט עקיפה: הוראה שמוסתרת בתוכן שהסוכן קורא (Greshake ועמיתים, 2023).</a:t>
            </a:r>
          </a:p>
          <a:p>
            <a:pPr rtl="1" algn="r" marL="0" indent="0">
              <a:buNone/>
            </a:pPr>
            <a:r>
              <a:rPr sz="1200" lang="he-IL"/>
              <a:t>•  מפגש 11: Refactoring לפי Fowler (2018) הוא שינוי במבנה הפנימי בלי שינוי בהתנהגות, בצעדים קטנים ועם בדיקות ירוקות, בשלוש שכבות, ועם מסמך העברה לקוד של אחרים.</a:t>
            </a:r>
          </a:p>
          <a:p>
            <a:pPr rtl="1" algn="r" marL="0" indent="0">
              <a:buNone/>
            </a:pPr>
            <a:r>
              <a:rPr sz="1200" lang="he-IL"/>
              <a:t>•  מפגש 12: פריסה, CI, חזרה אחורה וניטור, צ׳קליסט לפני חשיפה, בעלות ורישיונות על קוד שנוצר ב־AI, פרטיות, עקרון הסיכון בתקנה האירופית, ומדיניות ארגונית.</a:t>
            </a:r>
          </a:p>
          <a:p>
            <a:pPr rtl="1" algn="r" marL="0" indent="0">
              <a:buNone/>
            </a:pPr>
            <a:r>
              <a:rPr b="1" sz="1200" lang="he-IL"/>
              <a:t>שאלה לכיתה</a:t>
            </a:r>
          </a:p>
          <a:p>
            <a:pPr rtl="1" algn="r" marL="0" indent="0">
              <a:buNone/>
            </a:pPr>
            <a:r>
              <a:rPr sz="1200" lang="he-IL"/>
              <a:t>•  איזה מפגש היה הכי שימושי לפרויקט שלכם, ולמה?</a:t>
            </a:r>
          </a:p>
          <a:p>
            <a:pPr rtl="1" algn="r" marL="0" indent="0">
              <a:buNone/>
            </a:pPr>
            <a:r>
              <a:rPr sz="1200" lang="he-IL"/>
              <a:t>•  זה גם משוב על הקורס.</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כלל אחד לכל מפגש, כ־2 דקות.</a:t>
            </a:r>
          </a:p>
          <a:p>
            <a:pPr rtl="1" algn="r" marL="0" indent="0">
              <a:buNone/>
            </a:pPr>
            <a:r>
              <a:rPr b="1" sz="1200" lang="he-IL"/>
              <a:t>מה אומרים</a:t>
            </a:r>
          </a:p>
          <a:p>
            <a:pPr rtl="1" algn="r" marL="0" indent="0">
              <a:buNone/>
            </a:pPr>
            <a:r>
              <a:rPr sz="1200" lang="he-IL"/>
              <a:t>•  בכל מפגש מהחמישי ואילך נתנו כלל אחד, והם בונים זה על זה.</a:t>
            </a:r>
          </a:p>
          <a:p>
            <a:pPr rtl="1" algn="r" marL="0" indent="0">
              <a:buNone/>
            </a:pPr>
            <a:r>
              <a:rPr sz="1200" lang="he-IL"/>
              <a:t>•  הכלל הראשון של הקורס, ממפגש 1, הוא: לא ראיתם בתיעוד ולא הרצתם, לא סומכים.</a:t>
            </a:r>
          </a:p>
          <a:p>
            <a:pPr rtl="1" algn="r" marL="0" indent="0">
              <a:buNone/>
            </a:pPr>
            <a:r>
              <a:rPr sz="1200" lang="he-IL"/>
              <a:t>•  קראו את הטבלה במהירות ובקשו מהכיתה להשלים את הכלל הבא לפני שחושפים אותו (אפשר להסתיר שורות בהצגה).</a:t>
            </a:r>
          </a:p>
          <a:p>
            <a:pPr rtl="1" algn="r" marL="0" indent="0">
              <a:buNone/>
            </a:pPr>
            <a:r>
              <a:rPr sz="1200" lang="he-IL"/>
              <a:t>•  הבחנה חשובה: הכללים האלה הם המלצות פרקטיקה שמבוססות על ניסיון בתעשייה ועל מה שראינו במעבדות, ולא תוצאות של מחקר מבוקר אחד.</a:t>
            </a:r>
          </a:p>
          <a:p>
            <a:pPr rtl="1" algn="r" marL="0" indent="0">
              <a:buNone/>
            </a:pPr>
            <a:r>
              <a:rPr sz="1200" lang="he-IL"/>
              <a:t>•  הראיות המחקריות בשקף ״מה המחקר אומר״ תומכות בעיקר בכלל על אימות: כשמודדים, האינטואיציה של מפתחים לגבי יעילות ואבטחה לא תמיד נכונה.</a:t>
            </a:r>
          </a:p>
          <a:p>
            <a:pPr rtl="1" algn="r" marL="0" indent="0">
              <a:buNone/>
            </a:pPr>
            <a:r>
              <a:rPr b="1" sz="1200" lang="he-IL"/>
              <a:t>שאלה לכיתה</a:t>
            </a:r>
          </a:p>
          <a:p>
            <a:pPr rtl="1" algn="r" marL="0" indent="0">
              <a:buNone/>
            </a:pPr>
            <a:r>
              <a:rPr sz="1200" lang="he-IL"/>
              <a:t>•  איזה כלל הכי שימושי בפרויקט שלכם?</a:t>
            </a:r>
          </a:p>
          <a:p>
            <a:pPr rtl="1" algn="r" marL="0" indent="0">
              <a:buNone/>
            </a:pPr>
            <a:r>
              <a:rPr sz="1200" lang="he-IL"/>
              <a:t>•  התשובה תעזור להם בהצגה.</a:t>
            </a:r>
          </a:p>
          <a:p>
            <a:pPr rtl="1" algn="r" marL="0" indent="0">
              <a:buNone/>
            </a:pPr>
            <a:r>
              <a:rPr sz="1200" lang="he-IL"/>
              <a:t>•  הכלל של מפגש 12 הוא שלושת הפעלים: בודקים, מתעדים ומודיעים.</a:t>
            </a:r>
          </a:p>
          <a:p>
            <a:pPr rtl="1" algn="r" marL="0" indent="0">
              <a:buNone/>
            </a:pPr>
            <a:r>
              <a:rPr sz="1200" lang="he-IL"/>
              <a:t>•  הטבלה זהה ל־starter-kit/course_cheatsheet.md שמחולק לסטודנטים.</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התמונה המרכזית של הקורס, כ־4 דקות.</a:t>
            </a:r>
          </a:p>
          <a:p>
            <a:pPr rtl="1" algn="r" marL="0" indent="0">
              <a:buNone/>
            </a:pPr>
            <a:r>
              <a:rPr b="1" sz="1200" lang="he-IL"/>
              <a:t>מה אומרים</a:t>
            </a:r>
          </a:p>
          <a:p>
            <a:pPr rtl="1" algn="r" marL="0" indent="0">
              <a:buNone/>
            </a:pPr>
            <a:r>
              <a:rPr sz="1200" lang="he-IL"/>
              <a:t>•  תהליך עבודה עם סוכן הוא מעגל ולא קו: מגדירים מפרט וחוזה (7), נותנים הקשר (4), מנסחים פרומפט (3), הסוכן עובד (6), קוראים diff (6 ו־8), בודקים (8), מדבגים (9), מאבטחים (10), מסדרים (11) ומשחררים (12).</a:t>
            </a:r>
          </a:p>
          <a:p>
            <a:pPr rtl="1" algn="r" marL="0" indent="0">
              <a:buNone/>
            </a:pPr>
            <a:r>
              <a:rPr sz="1200" lang="he-IL"/>
              <a:t>•  לאחר מכן חוזרים.</a:t>
            </a:r>
          </a:p>
          <a:p>
            <a:pPr rtl="1" algn="r" marL="0" indent="0">
              <a:buNone/>
            </a:pPr>
            <a:r>
              <a:rPr sz="1200" lang="he-IL"/>
              <a:t>•  הדגישו שהאדם נמצא בכל תחנת אימות והסוכן בתחנות ביצוע.</a:t>
            </a:r>
          </a:p>
          <a:p>
            <a:pPr rtl="1" algn="r" marL="0" indent="0">
              <a:buNone/>
            </a:pPr>
            <a:r>
              <a:rPr sz="1200" lang="he-IL"/>
              <a:t>•  הקשר לספרות: הלולאה של הסוכן עצמו נשענת על ReAct (Yao ועמיתים, ICLR 2023), והמעגל כולו הוא בקרת איכות בשכבות.</a:t>
            </a:r>
          </a:p>
          <a:p>
            <a:pPr rtl="1" algn="r" marL="0" indent="0">
              <a:buNone/>
            </a:pPr>
            <a:r>
              <a:rPr b="1" sz="1200" lang="he-IL"/>
              <a:t>שאלה לכיתה</a:t>
            </a:r>
          </a:p>
          <a:p>
            <a:pPr rtl="1" algn="r" marL="0" indent="0">
              <a:buNone/>
            </a:pPr>
            <a:r>
              <a:rPr sz="1200" lang="he-IL"/>
              <a:t>•  איפה בדרך כלל מדלגים?</a:t>
            </a:r>
          </a:p>
          <a:p>
            <a:pPr rtl="1" algn="r" marL="0" indent="0">
              <a:buNone/>
            </a:pPr>
            <a:r>
              <a:rPr sz="1200" lang="he-IL"/>
              <a:t>•  תשובה אופיינית: קריאת ה־diff והבדיקות.</a:t>
            </a:r>
          </a:p>
          <a:p>
            <a:pPr rtl="1" algn="r" marL="0" indent="0">
              <a:buNone/>
            </a:pPr>
            <a:r>
              <a:rPr sz="1200" lang="he-IL"/>
              <a:t>•  תרגיל של דקה: כל סטודנט מסמן את התחנה שהכי פחות עשה בפרויקט שלו ומספר לחבר.</a:t>
            </a:r>
          </a:p>
          <a:p>
            <a:pPr rtl="1" algn="r" marL="0" indent="0">
              <a:buNone/>
            </a:pPr>
            <a:r>
              <a:rPr sz="1200" lang="he-IL"/>
              <a:t>•  בחרו שניים-שלושה סטודנטים לשתף.</a:t>
            </a:r>
          </a:p>
          <a:p>
            <a:pPr rtl="1" algn="r" marL="0" indent="0">
              <a:buNone/>
            </a:pPr>
            <a:r>
              <a:rPr b="1" sz="1200" lang="he-IL"/>
              <a:t>טעות נפוצה</a:t>
            </a:r>
          </a:p>
          <a:p>
            <a:pPr rtl="1" algn="r" marL="0" indent="0">
              <a:buNone/>
            </a:pPr>
            <a:r>
              <a:rPr sz="1200" lang="he-IL"/>
              <a:t>•  לראות את המעגל כרצף חד־פעמי, בפועל חוזרים אליו בכל שינוי.</a:t>
            </a:r>
          </a:p>
          <a:p>
            <a:pPr rtl="1" algn="r" marL="0" indent="0">
              <a:buNone/>
            </a:pPr>
            <a:r>
              <a:rPr sz="1200" lang="he-IL"/>
              <a:t>•  חיבור להצגות: היום כל קבוצה מראה לפחות את תחנות האימות של המעגל (diff, בדיקות, אבטחה) עם ראיה, ואת תחנת השחרור (מפגש 12) בעמוד הנחיתה.</a:t>
            </a:r>
          </a:p>
          <a:p>
            <a:pPr rtl="1" algn="r" marL="0" indent="0">
              <a:buNone/>
            </a:pPr>
            <a:r>
              <a:rPr b="1" sz="1200" lang="he-IL"/>
              <a:t>שאלת היזכרות</a:t>
            </a:r>
          </a:p>
          <a:p>
            <a:pPr rtl="1" algn="r" marL="0" indent="0">
              <a:buNone/>
            </a:pPr>
            <a:r>
              <a:rPr sz="1200" lang="he-IL"/>
              <a:t>•  איזו תחנה שייכת למפגש 9?</a:t>
            </a:r>
          </a:p>
          <a:p>
            <a:pPr rtl="1" algn="r" marL="0" indent="0">
              <a:buNone/>
            </a:pPr>
            <a:r>
              <a:rPr b="1" sz="1200" lang="he-IL"/>
              <a:t>תשובה</a:t>
            </a:r>
          </a:p>
          <a:p>
            <a:pPr rtl="1" algn="r" marL="0" indent="0">
              <a:buNone/>
            </a:pPr>
            <a:r>
              <a:rPr sz="1200" lang="he-IL"/>
              <a:t>•  דיבוג.</a:t>
            </a:r>
          </a:p>
          <a:p>
            <a:pPr rtl="1" algn="r" marL="0" indent="0">
              <a:buNone/>
            </a:pPr>
            <a:r>
              <a:rPr b="1" sz="1200" lang="he-IL"/>
              <a:t>אם הכיתה לא זוכרת</a:t>
            </a:r>
          </a:p>
          <a:p>
            <a:pPr rtl="1" algn="r" marL="0" indent="0">
              <a:buNone/>
            </a:pPr>
            <a:r>
              <a:rPr sz="1200" lang="he-IL"/>
              <a:t>•  חזרו לשקף שרשרת הרעיונות ובקשו למצוא את מפגש 9 בשורה ״8–9״.</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חידון סיכום, כ־4.5 דקות כולל השקף הבא, בצורה מהירה.</a:t>
            </a:r>
          </a:p>
          <a:p>
            <a:pPr rtl="1" algn="r" marL="0" indent="0">
              <a:buNone/>
            </a:pPr>
            <a:r>
              <a:rPr b="1" sz="1200" lang="he-IL"/>
              <a:t>מה אומרים</a:t>
            </a:r>
          </a:p>
          <a:p>
            <a:pPr rtl="1" algn="r" marL="0" indent="0">
              <a:buNone/>
            </a:pPr>
            <a:r>
              <a:rPr sz="1200" lang="he-IL"/>
              <a:t>•  שאלו כל שאלה בקול, תנו לכיתה 15 שניות, ואז חשפו את התשובה בשקף הבא.</a:t>
            </a:r>
          </a:p>
          <a:p>
            <a:pPr rtl="1" algn="r" marL="0" indent="0">
              <a:buNone/>
            </a:pPr>
            <a:r>
              <a:rPr sz="1200" lang="he-IL"/>
              <a:t>•  אפשר לתת נקודה לכל קבוצה שעונה נכון.</a:t>
            </a:r>
          </a:p>
          <a:p>
            <a:pPr rtl="1" algn="r" marL="0" indent="0">
              <a:buNone/>
            </a:pPr>
            <a:r>
              <a:rPr sz="1200" lang="he-IL"/>
              <a:t>•  השאלות נלקחו ממפגשים 5, 6, 7, 8 ו־10, והן יכולות לשמש כבנק שאלות לבדיקה עצמית.</a:t>
            </a:r>
          </a:p>
          <a:p>
            <a:pPr rtl="1" algn="r" marL="0" indent="0">
              <a:buNone/>
            </a:pPr>
            <a:r>
              <a:rPr sz="1200" lang="he-IL"/>
              <a:t>•  אם הזמן קצר, שואלים רק שלוש שאלות (שאלות 2, 4 ו־5).</a:t>
            </a:r>
          </a:p>
          <a:p>
            <a:pPr rtl="1" algn="r" marL="0" indent="0">
              <a:buNone/>
            </a:pPr>
            <a:r>
              <a:rPr sz="1200" lang="he-IL"/>
              <a:t>•  אפשר להפנות למחברת HM_13, חלק ה׳: חידון של עשר שאלות על מפגשים 5 עד 12, עם הסבר מיידי לכל טעות, לעבודה עצמית בבית.</a:t>
            </a:r>
          </a:p>
          <a:p>
            <a:pPr rtl="1" algn="r" marL="0" indent="0">
              <a:buNone/>
            </a:pPr>
            <a:r>
              <a:rPr sz="1200" lang="he-IL"/>
              <a:t>•  מפגשים 3 ו־4 לא נכללים בחידון, כי השקף שלהם נכתב לפי הסילבוס בלבד.</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תשובות.</a:t>
            </a:r>
          </a:p>
          <a:p>
            <a:pPr rtl="1" algn="r" marL="0" indent="0">
              <a:buNone/>
            </a:pPr>
            <a:r>
              <a:rPr b="1" sz="1200" lang="he-IL"/>
              <a:t>מה אומרים</a:t>
            </a:r>
          </a:p>
          <a:p>
            <a:pPr rtl="1" algn="r" marL="0" indent="0">
              <a:buNone/>
            </a:pPr>
            <a:r>
              <a:rPr sz="1200" lang="he-IL"/>
              <a:t>•  אחרי כל תשובה הוסיפו משפט אחד מהקשר: מפגש 5 (כלי הוא מודל ועוד מעטפת, ולכן צ׳אט אינו סוכן), מפגש 6 (commit לפני סוכן כדי שיהיה לאן לחזור, ו־diff אחריו), מפגש 7 (202 אומר שהבקשה התקבלה ותטופל ברקע), מפגש 8 (ירוק אינו מספיק, וצריך לבדוק diff ומספר בדיקות), מפגש 10 (הזרקה עקיפה: ההוראה מסתתרת בתוכן שהסוכן קורא, Greshake ועמיתים 2023).</a:t>
            </a:r>
          </a:p>
          <a:p>
            <a:pPr rtl="1" algn="r" marL="0" indent="0">
              <a:buNone/>
            </a:pPr>
            <a:r>
              <a:rPr sz="1200" lang="he-IL"/>
              <a:t>•  אם תשובה של סטודנט הייתה חלקית, בקשו מחבר להשלים אותה.</a:t>
            </a:r>
          </a:p>
          <a:p>
            <a:pPr rtl="1" algn="r" marL="0" indent="0">
              <a:buNone/>
            </a:pPr>
            <a:r>
              <a:rPr sz="1200" lang="he-IL"/>
              <a:t>•  אל תכנסו לדיון ארוך: זה סיכום, והזמן מוקדש להצגות.</a:t>
            </a:r>
          </a:p>
          <a:p>
            <a:pPr rtl="1" algn="r" marL="0" indent="0">
              <a:buNone/>
            </a:pPr>
            <a:r>
              <a:rPr sz="1200" lang="he-IL"/>
              <a:t>•  החידון עצמו הוא דוגמה לבדיקה עצמית: ניחוש לפני חשיפת התשובה עוזר לזכור יותר מקריאה פסיבית.</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חלק ב׳ (13 דקות בסך הכול).</a:t>
            </a:r>
          </a:p>
          <a:p>
            <a:pPr rtl="1" algn="r" marL="0" indent="0">
              <a:buNone/>
            </a:pPr>
            <a:r>
              <a:rPr b="1" sz="1200" lang="he-IL"/>
              <a:t>מה אומרים</a:t>
            </a:r>
          </a:p>
          <a:p>
            <a:pPr rtl="1" algn="r" marL="0" indent="0">
              <a:buNone/>
            </a:pPr>
            <a:r>
              <a:rPr sz="1200" lang="he-IL"/>
              <a:t>•  חמש הפרקטיקות הראשונות עוסקות בהתחלה של עבודה, כ־2 דקות.</a:t>
            </a:r>
          </a:p>
          <a:p>
            <a:pPr rtl="1" algn="r" marL="0" indent="0">
              <a:buNone/>
            </a:pPr>
            <a:r>
              <a:rPr sz="1200" lang="he-IL"/>
              <a:t>•  1: מתחילים ממפרט וחוזה.</a:t>
            </a:r>
          </a:p>
          <a:p>
            <a:pPr rtl="1" algn="r" marL="0" indent="0">
              <a:buNone/>
            </a:pPr>
            <a:r>
              <a:rPr sz="1200" lang="he-IL"/>
              <a:t>•  2: נותנים הקשר מדויק ולא את כל הפרויקט, כי חלון ההקשר מוגבל.</a:t>
            </a:r>
          </a:p>
          <a:p>
            <a:pPr rtl="1" algn="r" marL="0" indent="0">
              <a:buNone/>
            </a:pPr>
            <a:r>
              <a:rPr sz="1200" lang="he-IL"/>
              <a:t>•  3: עובדים בצעדים קטנים עם commit אחרי כל אחד.</a:t>
            </a:r>
          </a:p>
          <a:p>
            <a:pPr rtl="1" algn="r" marL="0" indent="0">
              <a:buNone/>
            </a:pPr>
            <a:r>
              <a:rPr sz="1200" lang="he-IL"/>
              <a:t>•  4: מתחילים ברמת אוטונומיה נמוכה ומעלים לפי סיכון.</a:t>
            </a:r>
          </a:p>
          <a:p>
            <a:pPr rtl="1" algn="r" marL="0" indent="0">
              <a:buNone/>
            </a:pPr>
            <a:r>
              <a:rPr sz="1200" lang="he-IL"/>
              <a:t>•  5: מבקשים הסבר לפני תיקון.</a:t>
            </a:r>
          </a:p>
          <a:p>
            <a:pPr rtl="1" algn="r" marL="0" indent="0">
              <a:buNone/>
            </a:pPr>
            <a:r>
              <a:rPr sz="1200" lang="he-IL"/>
              <a:t>•  לכל אחת תנו דוגמה אחת מהקורס.</a:t>
            </a:r>
          </a:p>
          <a:p>
            <a:pPr rtl="1" algn="r" marL="0" indent="0">
              <a:buNone/>
            </a:pPr>
            <a:r>
              <a:rPr sz="1200" lang="he-IL"/>
              <a:t>•  הבחנה שחשוב לומר בקול: אלה המלצות פרקטיקה שנגזרות מהקורס ומהניסיון בתעשייה, ולא תוצאות של ניסוי מבוקר.</a:t>
            </a:r>
          </a:p>
          <a:p>
            <a:pPr rtl="1" algn="r" marL="0" indent="0">
              <a:buNone/>
            </a:pPr>
            <a:r>
              <a:rPr sz="1200" lang="he-IL"/>
              <a:t>•  הראיות המחקריות נמצאות בשקף האופציונלי ״מה המחקר אומר״ שאחרי הפרקטיקות.</a:t>
            </a:r>
          </a:p>
          <a:p>
            <a:pPr rtl="1" algn="r" marL="0" indent="0">
              <a:buNone/>
            </a:pPr>
            <a:r>
              <a:rPr sz="1200" lang="he-IL"/>
              <a:t>•  בקשו מסטודנט אחד לתת דוגמה מהפרויקט שלו לפרקטיקה אחת.</a:t>
            </a:r>
          </a:p>
          <a:p>
            <a:pPr rtl="1" algn="r" marL="0" indent="0">
              <a:buNone/>
            </a:pPr>
            <a:r>
              <a:rPr b="1" sz="1200" lang="he-IL"/>
              <a:t>טעות נפוצה</a:t>
            </a:r>
          </a:p>
          <a:p>
            <a:pPr rtl="1" algn="r" marL="0" indent="0">
              <a:buNone/>
            </a:pPr>
            <a:r>
              <a:rPr sz="1200" lang="he-IL"/>
              <a:t>•  לבחור את הפרקטיקה הקלה (למשל README) ולדלג על הקשה (בדיקה שנכשלת לפני הקוד).</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חמש הפרקטיקות האחרונות (6 עד 10) עוסקות באימות ובאחריות, כ־2 דקות.</a:t>
            </a:r>
          </a:p>
          <a:p>
            <a:pPr rtl="1" algn="r" marL="0" indent="0">
              <a:buNone/>
            </a:pPr>
            <a:r>
              <a:rPr b="1" sz="1200" lang="he-IL"/>
              <a:t>מה אומרים</a:t>
            </a:r>
          </a:p>
          <a:p>
            <a:pPr rtl="1" algn="r" marL="0" indent="0">
              <a:buNone/>
            </a:pPr>
            <a:r>
              <a:rPr sz="1200" lang="he-IL"/>
              <a:t>•  6: קוראים כל diff של סוכן, גם בקבצים שלא ביקשתם לגעת בהם.</a:t>
            </a:r>
          </a:p>
          <a:p>
            <a:pPr rtl="1" algn="r" marL="0" indent="0">
              <a:buNone/>
            </a:pPr>
            <a:r>
              <a:rPr sz="1200" lang="he-IL"/>
              <a:t>•  7: כותבים בדיקות וראיתם אותן נכשלות לפני ירוק, ומוודאים שלא נמחקו ולא נחלשו.</a:t>
            </a:r>
          </a:p>
          <a:p>
            <a:pPr rtl="1" algn="r" marL="0" indent="0">
              <a:buNone/>
            </a:pPr>
            <a:r>
              <a:rPr sz="1200" lang="he-IL"/>
              <a:t>•  8: סודות מחוץ לקוד, וקלט חיצוני נחשב לא מהימן.</a:t>
            </a:r>
          </a:p>
          <a:p>
            <a:pPr rtl="1" algn="r" marL="0" indent="0">
              <a:buNone/>
            </a:pPr>
            <a:r>
              <a:rPr sz="1200" lang="he-IL"/>
              <a:t>•  9: מתעדים שימוש ב־AI ביומן, ב־README וב־commits.</a:t>
            </a:r>
          </a:p>
          <a:p>
            <a:pPr rtl="1" algn="r" marL="0" indent="0">
              <a:buNone/>
            </a:pPr>
            <a:r>
              <a:rPr sz="1200" lang="he-IL"/>
              <a:t>•  10: מצהירים על מגבלות ושומרים אחריות אנושית.</a:t>
            </a:r>
          </a:p>
          <a:p>
            <a:pPr rtl="1" algn="r" marL="0" indent="0">
              <a:buNone/>
            </a:pPr>
            <a:r>
              <a:rPr sz="1200" lang="he-IL"/>
              <a:t>•  חזרו על כך שפרקטיקה 9 חשובה לציון: אחריות אישית מתועדת.</a:t>
            </a:r>
          </a:p>
          <a:p>
            <a:pPr rtl="1" algn="r" marL="0" indent="0">
              <a:buNone/>
            </a:pPr>
            <a:r>
              <a:rPr sz="1200" lang="he-IL"/>
              <a:t>•  בקשו מהכיתה לשים לב לספרות: לא לכל פרקטיקה יש מחקר מבוקר, אבל לשתיים יש ראיות שמראות מדוע אימות נחוץ: אנשים עם עוזר AI כתבו קוד פחות מאובטח והאמינו שהוא מאובטח יותר (Perry ועמיתים 2023), ומפתחים ותיקים העריכו שה־AI מקצר להם זמן בעוד שבמדידה הוא האריך אותו (METR 2025).</a:t>
            </a:r>
          </a:p>
          <a:p>
            <a:pPr rtl="1" algn="r" marL="0" indent="0">
              <a:buNone/>
            </a:pPr>
            <a:r>
              <a:rPr b="1" sz="1200" lang="he-IL"/>
              <a:t>שאלה לכיתה</a:t>
            </a:r>
          </a:p>
          <a:p>
            <a:pPr rtl="1" algn="r" marL="0" indent="0">
              <a:buNone/>
            </a:pPr>
            <a:r>
              <a:rPr sz="1200" lang="he-IL"/>
              <a:t>•  איזו פרקטיקה הכי קשה ליישם בלחץ זמן?</a:t>
            </a:r>
          </a:p>
          <a:p>
            <a:pPr rtl="1" algn="r" marL="0" indent="0">
              <a:buNone/>
            </a:pPr>
            <a:r>
              <a:rPr sz="1200" lang="he-IL"/>
              <a:t>•  תשובה אופיינית: בדיקות.</a:t>
            </a:r>
          </a:p>
          <a:p>
            <a:pPr rtl="1" algn="r" marL="0" indent="0">
              <a:buNone/>
            </a:pPr>
            <a:r>
              <a:rPr sz="1200" lang="he-IL"/>
              <a:t>•  הסבירו שזה בדיוק המצב שבו הן הכי נחוצות.</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טעויות נפוצות, כ־2 דקות.</a:t>
            </a:r>
          </a:p>
          <a:p>
            <a:pPr rtl="1" algn="r" marL="0" indent="0">
              <a:buNone/>
            </a:pPr>
            <a:r>
              <a:rPr b="1" sz="1200" lang="he-IL"/>
              <a:t>מה אומרים</a:t>
            </a:r>
          </a:p>
          <a:p>
            <a:pPr rtl="1" algn="r" marL="0" indent="0">
              <a:buNone/>
            </a:pPr>
            <a:r>
              <a:rPr sz="1200" lang="he-IL"/>
              <a:t>•  שש טעויות שראינו בקורס ומה עושים.</a:t>
            </a:r>
          </a:p>
          <a:p>
            <a:pPr rtl="1" algn="r" marL="0" indent="0">
              <a:buNone/>
            </a:pPr>
            <a:r>
              <a:rPr sz="1200" lang="he-IL"/>
              <a:t>•  ״הסוכן אמר שסיים״: מריצים ובודקים בעצמכם, כי מה שהסוכן אומר אינו הוכחה.</a:t>
            </a:r>
          </a:p>
          <a:p>
            <a:pPr rtl="1" algn="r" marL="0" indent="0">
              <a:buNone/>
            </a:pPr>
            <a:r>
              <a:rPr sz="1200" lang="he-IL"/>
              <a:t>•  ״נשכתב את כל הקובץ״: צעדים קטנים, בדיקות ו־commit.</a:t>
            </a:r>
          </a:p>
          <a:p>
            <a:pPr rtl="1" algn="r" marL="0" indent="0">
              <a:buNone/>
            </a:pPr>
            <a:r>
              <a:rPr sz="1200" lang="he-IL"/>
              <a:t>•  ״נדביק את השגיאה בלבד״: בקשה עם קוד, שגיאה, ציפייה ומה ניסינו.</a:t>
            </a:r>
          </a:p>
          <a:p>
            <a:pPr rtl="1" algn="r" marL="0" indent="0">
              <a:buNone/>
            </a:pPr>
            <a:r>
              <a:rPr sz="1200" lang="he-IL"/>
              <a:t>•  ״הכל ירוק, זה נכון״: בודקים את מספר הבדיקות ואת ה־diff, כי בדיקה יכולה להיות מוחלשת או נמחקה.</a:t>
            </a:r>
          </a:p>
          <a:p>
            <a:pPr rtl="1" algn="r" marL="0" indent="0">
              <a:buNone/>
            </a:pPr>
            <a:r>
              <a:rPr sz="1200" lang="he-IL"/>
              <a:t>•  ״המפתח במאגר פרטי, זה בסדר״: סודות מחוץ לקוד, ואם דלף, מבטלים אותו, כי ההיסטוריה של Git זוכרת.</a:t>
            </a:r>
          </a:p>
          <a:p>
            <a:pPr rtl="1" algn="r" marL="0" indent="0">
              <a:buNone/>
            </a:pPr>
            <a:r>
              <a:rPr sz="1200" lang="he-IL"/>
              <a:t>•  ״ה־AI כתב, זו לא אחריותי״: מי שפורס אחראי ומתעד.</a:t>
            </a:r>
          </a:p>
          <a:p>
            <a:pPr rtl="1" algn="r" marL="0" indent="0">
              <a:buNone/>
            </a:pPr>
            <a:r>
              <a:rPr sz="1200" lang="he-IL"/>
              <a:t>•  בקשו מהכיתה להצביע על הטעות הנפוצה ביותר בקבוצה שלהם, ולהסביר באיזה שלב בתהליך היא קרתה.</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צ׳קליסט קצר להתחלה של כל פרויקט חדש, כדי שהפרקטיקות לא יישארו בקורס, כ־1.5 דקות.</a:t>
            </a:r>
          </a:p>
          <a:p>
            <a:pPr rtl="1" algn="r" marL="0" indent="0">
              <a:buNone/>
            </a:pPr>
            <a:r>
              <a:rPr b="1" sz="1200" lang="he-IL"/>
              <a:t>מה אומרים</a:t>
            </a:r>
          </a:p>
          <a:p>
            <a:pPr rtl="1" algn="r" marL="0" indent="0">
              <a:buNone/>
            </a:pPr>
            <a:r>
              <a:rPr sz="1200" lang="he-IL"/>
              <a:t>•  חמישה צעדים: מאגר Git עם commit ראשון, README עם מטרה, מפרט של עמוד, בדיקה אחת שנכשלת לפני הקוד הראשון, ויומן שימוש ב־AI.</a:t>
            </a:r>
          </a:p>
          <a:p>
            <a:pPr rtl="1" algn="r" marL="0" indent="0">
              <a:buNone/>
            </a:pPr>
            <a:r>
              <a:rPr sz="1200" lang="he-IL"/>
              <a:t>•  הסבירו שזה לא תוספת עבודה אלא חיסכון: זה מונע את רוב הבעיות שראינו, ונותן לסוכן מסגרת שאפשר לבדוק מולה.</a:t>
            </a:r>
          </a:p>
          <a:p>
            <a:pPr rtl="1" algn="r" marL="0" indent="0">
              <a:buNone/>
            </a:pPr>
            <a:r>
              <a:rPr sz="1200" lang="he-IL"/>
              <a:t>•  זה גם מחבר בין מפגשים 6 (commit), 7 (מפרט), 8 (בדיקה) ו־11 (README).</a:t>
            </a:r>
          </a:p>
          <a:p>
            <a:pPr rtl="1" algn="r" marL="0" indent="0">
              <a:buNone/>
            </a:pPr>
            <a:r>
              <a:rPr sz="1200" lang="he-IL"/>
              <a:t>•  בקשו מהסטודנטים לצלם את השקף או לשמור את הרשימה (היא גם בקובץ course_cheatsheet.md בערכת ההתחלה).</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מה נשאר כשהכלים מתחלפים, כ־1.5 דקות.</a:t>
            </a:r>
          </a:p>
          <a:p>
            <a:pPr rtl="1" algn="r" marL="0" indent="0">
              <a:buNone/>
            </a:pPr>
            <a:r>
              <a:rPr b="1" sz="1200" lang="he-IL"/>
              <a:t>מה אומרים</a:t>
            </a:r>
          </a:p>
          <a:p>
            <a:pPr rtl="1" algn="r" marL="0" indent="0">
              <a:buNone/>
            </a:pPr>
            <a:r>
              <a:rPr sz="1200" lang="he-IL"/>
              <a:t>•  הכלים משתנים כל כמה חודשים.</a:t>
            </a:r>
          </a:p>
          <a:p>
            <a:pPr rtl="1" algn="r" marL="0" indent="0">
              <a:buNone/>
            </a:pPr>
            <a:r>
              <a:rPr sz="1200" lang="he-IL"/>
              <a:t>•  אם במהלך הקורס כלי שהשתמשתם בו שינה תמחור או הוחלף, זו דוגמה טובה להביא.</a:t>
            </a:r>
          </a:p>
          <a:p>
            <a:pPr rtl="1" algn="r" marL="0" indent="0">
              <a:buNone/>
            </a:pPr>
            <a:r>
              <a:rPr sz="1200" lang="he-IL"/>
              <a:t>•  מה שנשאר הוא היסודות: HTTP, SQL, Git, בדיקות, אבטחה ותקשורת ברורה.</a:t>
            </a:r>
          </a:p>
          <a:p>
            <a:pPr rtl="1" algn="r" marL="0" indent="0">
              <a:buNone/>
            </a:pPr>
            <a:r>
              <a:rPr b="1" sz="1200" lang="he-IL"/>
              <a:t>מסר מרכזי</a:t>
            </a:r>
          </a:p>
          <a:p>
            <a:pPr rtl="1" algn="r" marL="0" indent="0">
              <a:buNone/>
            </a:pPr>
            <a:r>
              <a:rPr sz="1200" lang="he-IL"/>
              <a:t>•  משקיעים ביסודות ובשיטה ולא בכפתורים של כלי מסוים (כמו שנאמר במפגש 1: מי שמבין את ה־workflow יכול להחליף כלי תוך יום).</a:t>
            </a:r>
          </a:p>
          <a:p>
            <a:pPr rtl="1" algn="r" marL="0" indent="0">
              <a:buNone/>
            </a:pPr>
            <a:r>
              <a:rPr sz="1200" lang="he-IL"/>
              <a:t>•  הקריאה להעמקה היא מהביבליוגרפיה של הסילבוס: ReAct (Yao ועמיתים, ICLR 2023), Toolformer (Schick ועמיתים, NeurIPS 2023), Refactoring של Fowler (2018, מהדורה שנייה), התיעוד של Anthropic והפרוטוקול MCP.</a:t>
            </a:r>
          </a:p>
          <a:p>
            <a:pPr rtl="1" algn="r" marL="0" indent="0">
              <a:buNone/>
            </a:pPr>
            <a:r>
              <a:rPr sz="1200" lang="he-IL"/>
              <a:t>•  את הפרטים המאומתים של כל מקור אפשר לראות בשקפי ״להעמקה״ בסוף המצגת.</a:t>
            </a:r>
          </a:p>
          <a:p>
            <a:pPr rtl="1" algn="r" marL="0" indent="0">
              <a:buNone/>
            </a:pPr>
            <a:r>
              <a:rPr sz="1200" lang="he-IL"/>
              <a:t>•  את התיעוד המקוון כדאי לבדוק מדי שנה, כפי שרשום בסילבוס.</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שאלת בדיקה אחרונה בחלק הפרקטיקות, כ־1.5 דקות לשאלה.</a:t>
            </a:r>
          </a:p>
          <a:p>
            <a:pPr rtl="1" algn="r" marL="0" indent="0">
              <a:buNone/>
            </a:pPr>
            <a:r>
              <a:rPr b="1" sz="1200" lang="he-IL"/>
              <a:t>מה אומרים</a:t>
            </a:r>
          </a:p>
          <a:p>
            <a:pPr rtl="1" algn="r" marL="0" indent="0">
              <a:buNone/>
            </a:pPr>
            <a:r>
              <a:rPr sz="1200" lang="he-IL"/>
              <a:t>•  תנו לסטודנטים 30 שניות לחשוב, ובקשו שיענו בזוגות.</a:t>
            </a:r>
          </a:p>
          <a:p>
            <a:pPr rtl="1" algn="r" marL="0" indent="0">
              <a:buNone/>
            </a:pPr>
            <a:r>
              <a:rPr sz="1200" lang="he-IL"/>
              <a:t>•  רמז: מה אנחנו רוצים שיהיה לנו לפני שהסוכן משנה משהו, כדי שנוכל לאמת ולחזור אחורה?</a:t>
            </a:r>
          </a:p>
          <a:p>
            <a:pPr rtl="1" algn="r" marL="0" indent="0">
              <a:buNone/>
            </a:pPr>
            <a:r>
              <a:rPr b="1" sz="1200" lang="he-IL"/>
              <a:t>תשובה</a:t>
            </a:r>
          </a:p>
          <a:p>
            <a:pPr rtl="1" algn="r" marL="0" indent="0">
              <a:buNone/>
            </a:pPr>
            <a:r>
              <a:rPr sz="1200" lang="he-IL"/>
              <a:t>•  מאגר Git, README, מפרט, בדיקה.</a:t>
            </a:r>
          </a:p>
          <a:p>
            <a:pPr rtl="1" algn="r" marL="0" indent="0">
              <a:buNone/>
            </a:pPr>
            <a:r>
              <a:rPr sz="1200" lang="he-IL"/>
              <a:t>•  זה מחבר את מפגשים 6, 7, 8 ו־11.</a:t>
            </a:r>
          </a:p>
          <a:p>
            <a:pPr rtl="1" algn="r" marL="0" indent="0">
              <a:buNone/>
            </a:pPr>
            <a:r>
              <a:rPr sz="1200" lang="he-IL"/>
              <a:t>•  אם הכיתה עונה במהירות, אפשר להוסיף שאלה: ומה היה קורה בלי כל אלה?</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תשובה, כדקה.</a:t>
            </a:r>
          </a:p>
          <a:p>
            <a:pPr rtl="1" algn="r" marL="0" indent="0">
              <a:buNone/>
            </a:pPr>
            <a:r>
              <a:rPr b="1" sz="1200" lang="he-IL"/>
              <a:t>מה אומרים</a:t>
            </a:r>
          </a:p>
          <a:p>
            <a:pPr rtl="1" algn="r" marL="0" indent="0">
              <a:buNone/>
            </a:pPr>
            <a:r>
              <a:rPr sz="1200" lang="he-IL"/>
              <a:t>•  הצעד הראשון בכל פרויקט הוא תשתית שמאפשרת לאמת ולחזור אחורה: מאגר Git עם commit ראשון, README, מפרט של עמוד ובדיקה אחת שנכשלת.</a:t>
            </a:r>
          </a:p>
          <a:p>
            <a:pPr rtl="1" algn="r" marL="0" indent="0">
              <a:buNone/>
            </a:pPr>
            <a:r>
              <a:rPr sz="1200" lang="he-IL"/>
              <a:t>•  כך הסוכן עובד על מסגרת ברורה, והשינויים שלו נבדקים.</a:t>
            </a:r>
          </a:p>
          <a:p>
            <a:pPr rtl="1" algn="r" marL="0" indent="0">
              <a:buNone/>
            </a:pPr>
            <a:r>
              <a:rPr sz="1200" lang="he-IL"/>
              <a:t>•  בקשו משני סטודנטים להוסיף פעולה נוספת מהצ׳קליסט, למשל יומן שימוש ב־AI.</a:t>
            </a:r>
          </a:p>
          <a:p>
            <a:pPr rtl="1" algn="r" marL="0" indent="0">
              <a:buNone/>
            </a:pPr>
            <a:r>
              <a:rPr sz="1200" lang="he-IL"/>
              <a:t>•  הדגישו שההשקעה בשעה הראשונה חוסכת שעות של תיקונים בהמשך, וזה בדיוק מה שראינו בדיבוג ובארגון מחדש של קוד.</a:t>
            </a:r>
          </a:p>
          <a:p>
            <a:pPr rtl="1" algn="r" marL="0" indent="0">
              <a:buNone/>
            </a:pPr>
            <a:r>
              <a:rPr sz="1200" lang="he-IL"/>
              <a:t>•  הסבר מושגי: בדיקה שנכשלת לפני הקוד הראשון מוכיחה שהבדיקה בכלל מסוגלת להיכשל, ולכן ירוק בהמשך אומר משהו.</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חלק ג׳ (42 דקות: כ־6 דקות מסגרת ו־36 דקות הצגות).</a:t>
            </a:r>
          </a:p>
          <a:p>
            <a:pPr rtl="1" algn="r" marL="0" indent="0">
              <a:buNone/>
            </a:pPr>
            <a:r>
              <a:rPr b="1" sz="1200" lang="he-IL"/>
              <a:t>מה אומרים</a:t>
            </a:r>
          </a:p>
          <a:p>
            <a:pPr rtl="1" algn="r" marL="0" indent="0">
              <a:buNone/>
            </a:pPr>
            <a:r>
              <a:rPr sz="1200" lang="he-IL"/>
              <a:t>•  השקף הזה פותח את המסגרת, כ־1.5 דקות.</a:t>
            </a:r>
          </a:p>
          <a:p>
            <a:pPr rtl="1" algn="r" marL="0" indent="0">
              <a:buNone/>
            </a:pPr>
            <a:r>
              <a:rPr sz="1200" lang="he-IL"/>
              <a:t>•  כל קבוצה מציגה כ־5 דקות: דקה לבעיה ולמשתמש, שתי דקות דמו (חי או סרטון), דקה על תהליך העבודה עם AI, ודקה על אחריות ובדיקות.</a:t>
            </a:r>
          </a:p>
          <a:p>
            <a:pPr rtl="1" algn="r" marL="0" indent="0">
              <a:buNone/>
            </a:pPr>
            <a:r>
              <a:rPr sz="1200" lang="he-IL"/>
              <a:t>•  אחרי זה דקה לשאלות, ובסך הכול 6 דקות לקבוצה.</a:t>
            </a:r>
          </a:p>
          <a:p>
            <a:pPr rtl="1" algn="r" marL="0" indent="0">
              <a:buNone/>
            </a:pPr>
            <a:r>
              <a:rPr sz="1200" lang="he-IL"/>
              <a:t>•  מי שמדלג על בדיקות ואחריות מאבד חלק גדול מהמטרה של הקורס, ולכן אל תוותרו על הדקה האחרונה.</a:t>
            </a:r>
          </a:p>
          <a:p>
            <a:pPr rtl="1" algn="r" marL="0" indent="0">
              <a:buNone/>
            </a:pPr>
            <a:r>
              <a:rPr sz="1200" lang="he-IL"/>
              <a:t>•  כל חבר צוות מציג חלק, ומי שמציג עונה גם על שאלות על החלק שלו בקוד.</a:t>
            </a:r>
          </a:p>
          <a:p>
            <a:pPr rtl="1" algn="r" marL="0" indent="0">
              <a:buNone/>
            </a:pPr>
            <a:r>
              <a:rPr sz="1200" lang="he-IL"/>
              <a:t>•  הסבירו שהמרצה יעצור הצגות שחורגות, ושימו שעון נראה על המקרן.</a:t>
            </a:r>
          </a:p>
          <a:p>
            <a:pPr rtl="1" algn="r" marL="0" indent="0">
              <a:buNone/>
            </a:pPr>
            <a:r>
              <a:rPr sz="1200" lang="he-IL"/>
              <a:t>•  טיפ להצגה: משפט אחד לכל טענה והראיה שלה, כפי שמופיע בשקף ״מה מראים כראיה״.</a:t>
            </a:r>
          </a:p>
          <a:p>
            <a:pPr rtl="1" algn="r" marL="0" indent="0">
              <a:buNone/>
            </a:pPr>
            <a:r>
              <a:rPr b="1" sz="1200" lang="he-IL"/>
              <a:t>חיבור לשיעורים קודמים</a:t>
            </a:r>
          </a:p>
          <a:p>
            <a:pPr rtl="1" algn="r" marL="0" indent="0">
              <a:buNone/>
            </a:pPr>
            <a:r>
              <a:rPr sz="1200" lang="he-IL"/>
              <a:t>•  הדקה ״תהליך עם AI״ מבוססת על יומן השימוש ב־AI (מפגש 5) ועל לולאת הסוכן (מפגש 6), והדקה ״אחריות ובדיקות״ על מפגשים 8 עד 12.</a:t>
            </a:r>
          </a:p>
          <a:p>
            <a:pPr rtl="1" algn="r" marL="0" indent="0">
              <a:buNone/>
            </a:pPr>
            <a:r>
              <a:rPr b="1" sz="1200" lang="he-IL"/>
              <a:t>שאלת היזכרות</a:t>
            </a:r>
          </a:p>
          <a:p>
            <a:pPr rtl="1" algn="r" marL="0" indent="0">
              <a:buNone/>
            </a:pPr>
            <a:r>
              <a:rPr sz="1200" lang="he-IL"/>
              <a:t>•  איזה כלל ממפגש 8 צריך להופיע בדקת הבדיקות?</a:t>
            </a:r>
          </a:p>
          <a:p>
            <a:pPr rtl="1" algn="r" marL="0" indent="0">
              <a:buNone/>
            </a:pPr>
            <a:r>
              <a:rPr b="1" sz="1200" lang="he-IL"/>
              <a:t>תשובה</a:t>
            </a:r>
          </a:p>
          <a:p>
            <a:pPr rtl="1" algn="r" marL="0" indent="0">
              <a:buNone/>
            </a:pPr>
            <a:r>
              <a:rPr sz="1200" lang="he-IL"/>
              <a:t>•  קוד בלי בדיקה הוא השערה, ובדיקה שלא ראיתם נכשלת היא השערה.</a:t>
            </a:r>
          </a:p>
          <a:p>
            <a:pPr rtl="1" algn="r" marL="0" indent="0">
              <a:buNone/>
            </a:pPr>
            <a:r>
              <a:rPr b="1" sz="1200" lang="he-IL"/>
              <a:t>אם הכיתה לא זוכרת</a:t>
            </a:r>
          </a:p>
          <a:p>
            <a:pPr rtl="1" algn="r" marL="0" indent="0">
              <a:buNone/>
            </a:pPr>
            <a:r>
              <a:rPr sz="1200" lang="he-IL"/>
              <a:t>•  הציגו את שקף ״מה מראים כראיה״ והראו את השורה על בדיקה שנכשלה קודם.</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ששת הממדים שנבדקים בהצגה ובפרויקט, כדקה.</a:t>
            </a:r>
          </a:p>
          <a:p>
            <a:pPr rtl="1" algn="r" marL="0" indent="0">
              <a:buNone/>
            </a:pPr>
            <a:r>
              <a:rPr b="1" sz="1200" lang="he-IL"/>
              <a:t>מה אומרים</a:t>
            </a:r>
          </a:p>
          <a:p>
            <a:pPr rtl="1" algn="r" marL="0" indent="0">
              <a:buNone/>
            </a:pPr>
            <a:r>
              <a:rPr sz="1200" lang="he-IL"/>
              <a:t>•  הם נגזרים מהסילבוס: פרויקט גמר שכולל הצעה, עמוד נחיתה, הצגה ואחריות אישית מתועדת.</a:t>
            </a:r>
          </a:p>
          <a:p>
            <a:pPr rtl="1" algn="r" marL="0" indent="0">
              <a:buNone/>
            </a:pPr>
            <a:r>
              <a:rPr sz="1200" lang="he-IL"/>
              <a:t>•  אין כאן משקלים מספריים: יש להשלים אותם לפי החלטת המרצה (לעדכן לפני השיעור ולהודיע לסטודנטים).</a:t>
            </a:r>
          </a:p>
          <a:p>
            <a:pPr rtl="1" algn="r" marL="0" indent="0">
              <a:buNone/>
            </a:pPr>
            <a:r>
              <a:rPr sz="1200" lang="he-IL"/>
              <a:t>•  הסבירו לכל ממד מה נראה כטוב: בעיה ברורה, דמו שעובד, תהליך מתועד (commits ויומן), בדיקות ואבטחה, עמוד נחיתה, ותרומה אישית שאפשר להסביר.</a:t>
            </a:r>
          </a:p>
          <a:p>
            <a:pPr rtl="1" algn="r" marL="0" indent="0">
              <a:buNone/>
            </a:pPr>
            <a:r>
              <a:rPr sz="1200" lang="he-IL"/>
              <a:t>•  אם קבוצה חזקה בממד אחד אך חלשה באחר, זה מראה מה ללמוד.</a:t>
            </a:r>
          </a:p>
          <a:p>
            <a:pPr rtl="1" algn="r" marL="0" indent="0">
              <a:buNone/>
            </a:pPr>
            <a:r>
              <a:rPr sz="1200" lang="he-IL"/>
              <a:t>•  במחברת HM_13, חלק א׳, אותם ששת הממדים מופיעים כמחוון לתרגול, עם משקלים לדוגמה בלבד (15, 25, 20, 15, 10, 15).</a:t>
            </a:r>
          </a:p>
          <a:p>
            <a:pPr rtl="1" algn="r" marL="0" indent="0">
              <a:buNone/>
            </a:pPr>
            <a:r>
              <a:rPr sz="1200" lang="he-IL"/>
              <a:t>•  המשקלים האמיתיים טרם נקבעו: להחליט, להודיע לסטודנטים לפני ההצגות, ואם משנים, להחליף את הערכים בתא RUBRIC במחברת.</a:t>
            </a:r>
          </a:p>
          <a:p>
            <a:pPr rtl="1" algn="r" marL="0" indent="0">
              <a:buNone/>
            </a:pPr>
            <a:r>
              <a:rPr sz="1200" lang="he-IL"/>
              <a:t>•  ערכת ההתחלה כוללת תבנית מחוון (rubric_template.md).</a:t>
            </a:r>
          </a:p>
          <a:p>
            <a:pPr rtl="1" algn="r" marL="0" indent="0">
              <a:buNone/>
            </a:pPr>
            <a:r>
              <a:rPr b="1" sz="1200" lang="he-IL"/>
              <a:t>חיבור לשיעורים קודמים</a:t>
            </a:r>
          </a:p>
          <a:p>
            <a:pPr rtl="1" algn="r" marL="0" indent="0">
              <a:buNone/>
            </a:pPr>
            <a:r>
              <a:rPr sz="1200" lang="he-IL"/>
              <a:t>•  ליד כל ממד מסומנים המפגשים שהוא נשען עליהם.</a:t>
            </a:r>
          </a:p>
          <a:p>
            <a:pPr rtl="1" algn="r" marL="0" indent="0">
              <a:buNone/>
            </a:pPr>
            <a:r>
              <a:rPr sz="1200" lang="he-IL"/>
              <a:t>•  סוכן שעובד: בחירת כלי ותוצאה מול ידוע (מפגש 5) ולולאת הסוכן (מפגש 6).</a:t>
            </a:r>
          </a:p>
          <a:p>
            <a:pPr rtl="1" algn="r" marL="0" indent="0">
              <a:buNone/>
            </a:pPr>
            <a:r>
              <a:rPr sz="1200" lang="he-IL"/>
              <a:t>•  איכות הנדסית: Git (6), בדיקות (8) ו־README (11).</a:t>
            </a:r>
          </a:p>
          <a:p>
            <a:pPr rtl="1" algn="r" marL="0" indent="0">
              <a:buNone/>
            </a:pPr>
            <a:r>
              <a:rPr sz="1200" lang="he-IL"/>
              <a:t>•  אבטחה ואחריות: סודות וקלט (10) והצהרת AI ומגבלות (12).</a:t>
            </a:r>
          </a:p>
          <a:p>
            <a:pPr rtl="1" algn="r" marL="0" indent="0">
              <a:buNone/>
            </a:pPr>
            <a:r>
              <a:rPr sz="1200" lang="he-IL"/>
              <a:t>•  עמוד נחיתה: מפגש 12.</a:t>
            </a:r>
          </a:p>
          <a:p>
            <a:pPr rtl="1" algn="r" marL="0" indent="0">
              <a:buNone/>
            </a:pPr>
            <a:r>
              <a:rPr sz="1200" lang="he-IL"/>
              <a:t>•  אחריות אישית: מפגש 1 קבע שכל אחד מסביר קוד שהגיש (״ראיון קוד״).</a:t>
            </a:r>
          </a:p>
          <a:p>
            <a:pPr rtl="1" algn="r" marL="0" indent="0">
              <a:buNone/>
            </a:pPr>
            <a:r>
              <a:rPr b="1" sz="1200" lang="he-IL"/>
              <a:t>שאלת היזכרות</a:t>
            </a:r>
          </a:p>
          <a:p>
            <a:pPr rtl="1" algn="r" marL="0" indent="0">
              <a:buNone/>
            </a:pPr>
            <a:r>
              <a:rPr sz="1200" lang="he-IL"/>
              <a:t>•  מי זוכר איזה כלל ממפגש 1 עומד מאחורי ״אחריות אישית״?</a:t>
            </a:r>
          </a:p>
          <a:p>
            <a:pPr rtl="1" algn="r" marL="0" indent="0">
              <a:buNone/>
            </a:pPr>
            <a:r>
              <a:rPr b="1" sz="1200" lang="he-IL"/>
              <a:t>תשובה</a:t>
            </a:r>
          </a:p>
          <a:p>
            <a:pPr rtl="1" algn="r" marL="0" indent="0">
              <a:buNone/>
            </a:pPr>
            <a:r>
              <a:rPr sz="1200" lang="he-IL"/>
              <a:t>•  לעולם לא מגישים קוד של AI בלי שקראנו, הבנו ובדקנו אותו.</a:t>
            </a:r>
          </a:p>
          <a:p>
            <a:pPr rtl="1" algn="r" marL="0" indent="0">
              <a:buNone/>
            </a:pPr>
            <a:r>
              <a:rPr b="1" sz="1200" lang="he-IL"/>
              <a:t>אם הכיתה לא זוכרת</a:t>
            </a:r>
          </a:p>
          <a:p>
            <a:pPr rtl="1" algn="r" marL="0" indent="0">
              <a:buNone/>
            </a:pPr>
            <a:r>
              <a:rPr sz="1200" lang="he-IL"/>
              <a:t>•  אמרו את הכלל בעצמכם וציינו שהוא נאמר כבר במפגש הראשון.</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טבלת זמנים, כ־20 שניות.</a:t>
            </a:r>
          </a:p>
          <a:p>
            <a:pPr rtl="1" algn="r" marL="0" indent="0">
              <a:buNone/>
            </a:pPr>
            <a:r>
              <a:rPr b="1" sz="1200" lang="he-IL"/>
              <a:t>מה אומרים</a:t>
            </a:r>
          </a:p>
          <a:p>
            <a:pPr rtl="1" algn="r" marL="0" indent="0">
              <a:buNone/>
            </a:pPr>
            <a:r>
              <a:rPr sz="1200" lang="he-IL"/>
              <a:t>•  מלאו את סדר הקבוצות לפני השיעור או הגרילו בכיתה.</a:t>
            </a:r>
          </a:p>
          <a:p>
            <a:pPr rtl="1" algn="r" marL="0" indent="0">
              <a:buNone/>
            </a:pPr>
            <a:r>
              <a:rPr sz="1200" lang="he-IL"/>
              <a:t>•  החישוב: כל קבוצה 6 דקות, ולכן עם 6 קבוצות צריך 36 דקות, עם 7 קבוצות 42, עם 8 קבוצות 48.</a:t>
            </a:r>
          </a:p>
          <a:p>
            <a:pPr rtl="1" algn="r" marL="0" indent="0">
              <a:buNone/>
            </a:pPr>
            <a:r>
              <a:rPr sz="1200" lang="he-IL"/>
              <a:t>•  מפת המפגש מקצה לחלק ג׳ 42 דקות, מהן כ־6 דקות מסגרת (השקפים שלפני ההצגות), ולכן 6 קבוצות נכנסות בתקציב.</a:t>
            </a:r>
          </a:p>
          <a:p>
            <a:pPr rtl="1" algn="r" marL="0" indent="0">
              <a:buNone/>
            </a:pPr>
            <a:r>
              <a:rPr sz="1200" lang="he-IL"/>
              <a:t>•  אם יש 7 קבוצות צריך עוד 6 דקות: חידון של שלוש שאלות במקום חמש (2), תהליך העבודה 2.5 דקות במקום 4 (1.5), מפגשים 1 עד 4 בדקה וחצי (1) ואיחוד שקפי הפרקטיקות (1.5).</a:t>
            </a:r>
          </a:p>
          <a:p>
            <a:pPr rtl="1" algn="r" marL="0" indent="0">
              <a:buNone/>
            </a:pPr>
            <a:r>
              <a:rPr sz="1200" lang="he-IL"/>
              <a:t>•  עם 8 קבוצות: מקצרים את ההצגה ל־4 דקות ועוד דקה לשאלות, או מוסיפים 10 דקות מחוץ למפגש.</a:t>
            </a:r>
          </a:p>
          <a:p>
            <a:pPr rtl="1" algn="r" marL="0" indent="0">
              <a:buNone/>
            </a:pPr>
            <a:r>
              <a:rPr sz="1200" lang="he-IL"/>
              <a:t>•  מעבר בין קבוצות: הקבוצה הבאה כבר מוכנה עם המחשב.</a:t>
            </a:r>
          </a:p>
          <a:p>
            <a:pPr rtl="1" algn="r" marL="0" indent="0">
              <a:buNone/>
            </a:pPr>
            <a:r>
              <a:rPr sz="1200" lang="he-IL"/>
              <a:t>•  שימו אחראי על השעון, אפשר סטודנט מתנדב.</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אופציונלי, כדקה, אפשר לשלוח לקבוצות מראש.</a:t>
            </a:r>
          </a:p>
          <a:p>
            <a:pPr rtl="1" algn="r" marL="0" indent="0">
              <a:buNone/>
            </a:pPr>
            <a:r>
              <a:rPr b="1" sz="1200" lang="he-IL"/>
              <a:t>מה אומרים</a:t>
            </a:r>
          </a:p>
          <a:p>
            <a:pPr rtl="1" algn="r" marL="0" indent="0">
              <a:buNone/>
            </a:pPr>
            <a:r>
              <a:rPr sz="1200" lang="he-IL"/>
              <a:t>•  הדגמות חיות נכשלות בגלל רשת, מפתח, מכסה או שינוי של הרגע האחרון.</a:t>
            </a:r>
          </a:p>
          <a:p>
            <a:pPr rtl="1" algn="r" marL="0" indent="0">
              <a:buNone/>
            </a:pPr>
            <a:r>
              <a:rPr sz="1200" lang="he-IL"/>
              <a:t>•  חמישה כללים: סרטון גיבוי מוכן (גם אם מראים חי), נתונים סינתטיים שנטענים בהפעלה, ללא שינוי קוד ב־30 הדקות האחרונות, מפתח עם מכסה פנויה ובדוק, ופתיחה מוקדמת של הכל לפני ההצגה.</a:t>
            </a:r>
          </a:p>
          <a:p>
            <a:pPr rtl="1" algn="r" marL="0" indent="0">
              <a:buNone/>
            </a:pPr>
            <a:r>
              <a:rPr sz="1200" lang="he-IL"/>
              <a:t>•  אם התקלה קורית בכל זאת: מציינים אותה, עוברים לסרטון וממשיכים.</a:t>
            </a:r>
          </a:p>
          <a:p>
            <a:pPr rtl="1" algn="r" marL="0" indent="0">
              <a:buNone/>
            </a:pPr>
            <a:r>
              <a:rPr sz="1200" lang="he-IL"/>
              <a:t>•  הצגה שמטפלת בתקלה בביטחון נחשבת טוב.</a:t>
            </a:r>
          </a:p>
          <a:p>
            <a:pPr rtl="1" algn="r" marL="0" indent="0">
              <a:buNone/>
            </a:pPr>
            <a:r>
              <a:rPr sz="1200" lang="he-IL"/>
              <a:t>•  הזכירו את מפגש 12: צ׳קליסט לפני חשיפה.</a:t>
            </a:r>
          </a:p>
          <a:p>
            <a:pPr rtl="1" algn="r" marL="0" indent="0">
              <a:buNone/>
            </a:pPr>
            <a:r>
              <a:rPr sz="1200" lang="he-IL"/>
              <a:t>•  הקשר מושגי: אותם כללים הם ניהול סיכונים.</a:t>
            </a:r>
          </a:p>
          <a:p>
            <a:pPr rtl="1" algn="r" marL="0" indent="0">
              <a:buNone/>
            </a:pPr>
            <a:r>
              <a:rPr sz="1200" lang="he-IL"/>
              <a:t>•  כל כלל מקטין סיכון אחד (רשת, מפתח, מכסה, שינוי ברגע האחרון), והסרטון הוא תוכנית גיבוי.</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חלק מהקורס הוא אחריות אישית: כל חבר יכול להיות מתבקש להסביר קוד שהגיש, וזה נאמר מראש כדי שאפשר יהיה להתכונן.</a:t>
            </a:r>
          </a:p>
          <a:p>
            <a:pPr rtl="1" algn="r" marL="0" indent="0">
              <a:buNone/>
            </a:pPr>
            <a:r>
              <a:rPr b="1" sz="1200" lang="he-IL"/>
              <a:t>מה אומרים</a:t>
            </a:r>
          </a:p>
          <a:p>
            <a:pPr rtl="1" algn="r" marL="0" indent="0">
              <a:buNone/>
            </a:pPr>
            <a:r>
              <a:rPr sz="1200" lang="he-IL"/>
              <a:t>•  כדקה.</a:t>
            </a:r>
          </a:p>
          <a:p>
            <a:pPr rtl="1" algn="r" marL="0" indent="0">
              <a:buNone/>
            </a:pPr>
            <a:r>
              <a:rPr sz="1200" lang="he-IL"/>
              <a:t>•  שאלות לדוגמה: מה הפונקציה הזו עושה, ולמה כתבתם אותה כך?</a:t>
            </a:r>
          </a:p>
          <a:p>
            <a:pPr rtl="1" algn="r" marL="0" indent="0">
              <a:buNone/>
            </a:pPr>
            <a:r>
              <a:rPr sz="1200" lang="he-IL"/>
              <a:t>•  איזו בדיקה מוודאת את החלק שלך?</a:t>
            </a:r>
          </a:p>
          <a:p>
            <a:pPr rtl="1" algn="r" marL="0" indent="0">
              <a:buNone/>
            </a:pPr>
            <a:r>
              <a:rPr sz="1200" lang="he-IL"/>
              <a:t>•  איפה נשמרים המפתחות ואיך יודעים שלא דלפו?</a:t>
            </a:r>
          </a:p>
          <a:p>
            <a:pPr rtl="1" algn="r" marL="0" indent="0">
              <a:buNone/>
            </a:pPr>
            <a:r>
              <a:rPr sz="1200" lang="he-IL"/>
              <a:t>•  היה רגע שהסוכן טעה, ואיך גיליתם?</a:t>
            </a:r>
          </a:p>
          <a:p>
            <a:pPr rtl="1" algn="r" marL="0" indent="0">
              <a:buNone/>
            </a:pPr>
            <a:r>
              <a:rPr sz="1200" lang="he-IL"/>
              <a:t>•  אילו מגבלות יש למערכת ומתי נדרש אדם?</a:t>
            </a:r>
          </a:p>
          <a:p>
            <a:pPr rtl="1" algn="r" marL="0" indent="0">
              <a:buNone/>
            </a:pPr>
            <a:r>
              <a:rPr sz="1200" lang="he-IL"/>
              <a:t>•  תרגלו תשובה של 30 שניות.</a:t>
            </a:r>
          </a:p>
          <a:p>
            <a:pPr rtl="1" algn="r" marL="0" indent="0">
              <a:buNone/>
            </a:pPr>
            <a:r>
              <a:rPr sz="1200" lang="he-IL"/>
              <a:t>•  הסבירו שהמטרה אינה לפסול: מי שהבין, יסביר גם בלי לשנן.</a:t>
            </a:r>
          </a:p>
          <a:p>
            <a:pPr rtl="1" algn="r" marL="0" indent="0">
              <a:buNone/>
            </a:pPr>
            <a:r>
              <a:rPr sz="1200" lang="he-IL"/>
              <a:t>•  הסתייעות ב־AI מותרת, אבל הבנה חייבת להיות שלכם.</a:t>
            </a:r>
          </a:p>
          <a:p>
            <a:pPr rtl="1" algn="r" marL="0" indent="0">
              <a:buNone/>
            </a:pPr>
            <a:r>
              <a:rPr sz="1200" lang="he-IL"/>
              <a:t>•  מומלץ לבדוק את מדיניות השימוש ב־AI של האוניברסיטה ולהתאים את ההנחיות אליה.</a:t>
            </a:r>
          </a:p>
          <a:p>
            <a:pPr rtl="1" algn="r" marL="0" indent="0">
              <a:buNone/>
            </a:pPr>
            <a:r>
              <a:rPr b="1" sz="1200" lang="he-IL"/>
              <a:t>חיבור לשיעורים קודמים</a:t>
            </a:r>
          </a:p>
          <a:p>
            <a:pPr rtl="1" algn="r" marL="0" indent="0">
              <a:buNone/>
            </a:pPr>
            <a:r>
              <a:rPr sz="1200" lang="he-IL"/>
              <a:t>•  ״ראיון קוד״ הוא כלל של מפגש 1: מי שהגיש קוד מסביר אותו.</a:t>
            </a:r>
          </a:p>
          <a:p>
            <a:pPr rtl="1" algn="r" marL="0" indent="0">
              <a:buNone/>
            </a:pPr>
            <a:r>
              <a:rPr sz="1200" lang="he-IL"/>
              <a:t>•  השאלות כאן ממפות את הקורס: פונקציה (מפגשים 1 ו־6, קוראים diff), בדיקה (8), מפתחות (10), רגע שהסוכן טעה (2 ו־9) ומגבלות (12).</a:t>
            </a:r>
          </a:p>
          <a:p>
            <a:pPr rtl="1" algn="r" marL="0" indent="0">
              <a:buNone/>
            </a:pPr>
            <a:r>
              <a:rPr b="1" sz="1200" lang="he-IL"/>
              <a:t>שאלת היזכרות</a:t>
            </a:r>
          </a:p>
          <a:p>
            <a:pPr rtl="1" algn="r" marL="0" indent="0">
              <a:buNone/>
            </a:pPr>
            <a:r>
              <a:rPr sz="1200" lang="he-IL"/>
              <a:t>•  מי זוכר איך קראנו למבחן ״אם אינכם מבינים מה הקוד עושה, עוד לא סיימתם״?</a:t>
            </a:r>
          </a:p>
          <a:p>
            <a:pPr rtl="1" algn="r" marL="0" indent="0">
              <a:buNone/>
            </a:pPr>
            <a:r>
              <a:rPr b="1" sz="1200" lang="he-IL"/>
              <a:t>תשובה</a:t>
            </a:r>
          </a:p>
          <a:p>
            <a:pPr rtl="1" algn="r" marL="0" indent="0">
              <a:buNone/>
            </a:pPr>
            <a:r>
              <a:rPr sz="1200" lang="he-IL"/>
              <a:t>•  ראיון קוד, ממפגש 1.</a:t>
            </a:r>
          </a:p>
          <a:p>
            <a:pPr rtl="1" algn="r" marL="0" indent="0">
              <a:buNone/>
            </a:pPr>
            <a:r>
              <a:rPr b="1" sz="1200" lang="he-IL"/>
              <a:t>אם הכיתה לא זוכרת</a:t>
            </a:r>
          </a:p>
          <a:p>
            <a:pPr rtl="1" algn="r" marL="0" indent="0">
              <a:buNone/>
            </a:pPr>
            <a:r>
              <a:rPr sz="1200" lang="he-IL"/>
              <a:t>•  הקריאו את הכלל ואמרו שהיום זה קורה בפועל, באופן קל, בדקת השאלות.</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משוב לעמיתים נותן ללומדים ערך כפול, כדקה.</a:t>
            </a:r>
          </a:p>
          <a:p>
            <a:pPr rtl="1" algn="r" marL="0" indent="0">
              <a:buNone/>
            </a:pPr>
            <a:r>
              <a:rPr b="1" sz="1200" lang="he-IL"/>
              <a:t>מה אומרים</a:t>
            </a:r>
          </a:p>
          <a:p>
            <a:pPr rtl="1" algn="r" marL="0" indent="0">
              <a:buNone/>
            </a:pPr>
            <a:r>
              <a:rPr sz="1200" lang="he-IL"/>
              <a:t>•  כל סטודנט ממלא טופס קצר לכל קבוצה: מה עבד הכי טוב, איזו שאלה נשארה, ושיפור אחד מוצע.</a:t>
            </a:r>
          </a:p>
          <a:p>
            <a:pPr rtl="1" algn="r" marL="0" indent="0">
              <a:buNone/>
            </a:pPr>
            <a:r>
              <a:rPr sz="1200" lang="he-IL"/>
              <a:t>•  הסבירו כללי משוב: ספציפי, מנומס, ומתייחס לעבודה ולא לאנשים.</a:t>
            </a:r>
          </a:p>
          <a:p>
            <a:pPr rtl="1" algn="r" marL="0" indent="0">
              <a:buNone/>
            </a:pPr>
            <a:r>
              <a:rPr sz="1200" lang="he-IL"/>
              <a:t>•  דוגמה לניסוח חלש: ״יפה מאוד״.</a:t>
            </a:r>
          </a:p>
          <a:p>
            <a:pPr rtl="1" algn="r" marL="0" indent="0">
              <a:buNone/>
            </a:pPr>
            <a:r>
              <a:rPr sz="1200" lang="he-IL"/>
              <a:t>•  דוגמה לניסוח טוב: ״הדמו הראה שלושה מוצרים, ולא נאמר איפה נשמר מפתח ה־API״.</a:t>
            </a:r>
          </a:p>
          <a:p>
            <a:pPr rtl="1" algn="r" marL="0" indent="0">
              <a:buNone/>
            </a:pPr>
            <a:r>
              <a:rPr sz="1200" lang="he-IL"/>
              <a:t>•  הטופס יכול להיות מקוון (קישור או קוד QR, שיש להשלים) או על נייר.</a:t>
            </a:r>
          </a:p>
          <a:p>
            <a:pPr rtl="1" algn="r" marL="0" indent="0">
              <a:buNone/>
            </a:pPr>
            <a:r>
              <a:rPr sz="1200" lang="he-IL"/>
              <a:t>•  הטפסים עוברים לקבוצות ולמרצה, ובלי שמות מדווחים אם רוצים (להחליט).</a:t>
            </a:r>
          </a:p>
          <a:p>
            <a:pPr rtl="1" algn="r" marL="0" indent="0">
              <a:buNone/>
            </a:pPr>
            <a:r>
              <a:rPr sz="1200" lang="he-IL"/>
              <a:t>•  אפשר גם לבקש מכל קבוצה לבחור שאלה אחת מהטפסים שהכי עזרה.</a:t>
            </a:r>
          </a:p>
          <a:p>
            <a:pPr rtl="1" algn="r" marL="0" indent="0">
              <a:buNone/>
            </a:pPr>
            <a:r>
              <a:rPr sz="1200" lang="he-IL"/>
              <a:t>•  אפשר להרכיב את הטופס גם במחברת HM_13, חלק ד׳, בעזרת format_feedback (ראו השקף הבא).</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שעון להצגה.</a:t>
            </a:r>
          </a:p>
          <a:p>
            <a:pPr rtl="1" algn="r" marL="0" indent="0">
              <a:buNone/>
            </a:pPr>
            <a:r>
              <a:rPr b="1" sz="1200" lang="he-IL"/>
              <a:t>מה אומרים</a:t>
            </a:r>
          </a:p>
          <a:p>
            <a:pPr rtl="1" algn="r" marL="0" indent="0">
              <a:buNone/>
            </a:pPr>
            <a:r>
              <a:rPr sz="1200" lang="he-IL"/>
              <a:t>•  מקרינים אותו כשמתחילה כל הצגה ומפעילים טיימר (בפלאפון או בשעון).</a:t>
            </a:r>
          </a:p>
          <a:p>
            <a:pPr rtl="1" algn="r" marL="0" indent="0">
              <a:buNone/>
            </a:pPr>
            <a:r>
              <a:rPr sz="1200" lang="he-IL"/>
              <a:t>•  אחרי חמש דקות, מסמנים שנותרה דקה לשאלות.</a:t>
            </a:r>
          </a:p>
          <a:p>
            <a:pPr rtl="1" algn="r" marL="0" indent="0">
              <a:buNone/>
            </a:pPr>
            <a:r>
              <a:rPr sz="1200" lang="he-IL"/>
              <a:t>•  בין קבוצות מחליפים בשקט, עם מחשב מוכן.</a:t>
            </a:r>
          </a:p>
          <a:p>
            <a:pPr rtl="1" algn="r" marL="0" indent="0">
              <a:buNone/>
            </a:pPr>
            <a:r>
              <a:rPr sz="1200" lang="he-IL"/>
              <a:t>•  הפסקות קצרות בין הצגות אפשריות רק אם נשאר זמן.</a:t>
            </a:r>
          </a:p>
          <a:p>
            <a:pPr rtl="1" algn="r" marL="0" indent="0">
              <a:buNone/>
            </a:pPr>
            <a:r>
              <a:rPr sz="1200" lang="he-IL"/>
              <a:t>•  אל תתפשרו על הזמן: כל הקבוצות צריכות הזדמנות שווה.</a:t>
            </a:r>
          </a:p>
          <a:p>
            <a:pPr rtl="1" algn="r" marL="0" indent="0">
              <a:buNone/>
            </a:pPr>
            <a:r>
              <a:rPr sz="1200" lang="he-IL"/>
              <a:t>•  אם קבוצה חורגת, עצרו אותה בנימוס וביקשו לסכם במשפט.</a:t>
            </a:r>
          </a:p>
          <a:p>
            <a:pPr rtl="1" algn="r" marL="0" indent="0">
              <a:buNone/>
            </a:pPr>
            <a:r>
              <a:rPr sz="1200" lang="he-IL"/>
              <a:t>•  סטודנט שמוזמן לנהל את השעון לומד גם הוא על הצגה בזמן.</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סיכום אישי, כ־3 דקות.</a:t>
            </a:r>
          </a:p>
          <a:p>
            <a:pPr rtl="1" algn="r" marL="0" indent="0">
              <a:buNone/>
            </a:pPr>
            <a:r>
              <a:rPr b="1" sz="1200" lang="he-IL"/>
              <a:t>מה אומרים</a:t>
            </a:r>
          </a:p>
          <a:p>
            <a:pPr rtl="1" algn="r" marL="0" indent="0">
              <a:buNone/>
            </a:pPr>
            <a:r>
              <a:rPr sz="1200" lang="he-IL"/>
              <a:t>•  כל סטודנט כותב או אומר משפט אחד לכל אחד משלושת הנושאים: משהו שלא ידעתי ועכשיו כן, משהו שאעשה אחרת, ושאלה שנשארה לי.</a:t>
            </a:r>
          </a:p>
          <a:p>
            <a:pPr rtl="1" algn="r" marL="0" indent="0">
              <a:buNone/>
            </a:pPr>
            <a:r>
              <a:rPr sz="1200" lang="he-IL"/>
              <a:t>•  אפשר לאסוף מספר תשובות בקול או בטופס.</a:t>
            </a:r>
          </a:p>
          <a:p>
            <a:pPr rtl="1" algn="r" marL="0" indent="0">
              <a:buNone/>
            </a:pPr>
            <a:r>
              <a:rPr sz="1200" lang="he-IL"/>
              <a:t>•  זה גם משוב על הקורס ועל סדר המפגשים.</a:t>
            </a:r>
          </a:p>
          <a:p>
            <a:pPr rtl="1" algn="r" marL="0" indent="0">
              <a:buNone/>
            </a:pPr>
            <a:r>
              <a:rPr sz="1200" lang="he-IL"/>
              <a:t>•  חזרו לשאלה מתחילת המפגש: מה הדבר האחד שהייתם אומרים לחבר שמתחיל?</a:t>
            </a:r>
          </a:p>
          <a:p>
            <a:pPr rtl="1" algn="r" marL="0" indent="0">
              <a:buNone/>
            </a:pPr>
            <a:r>
              <a:rPr sz="1200" lang="he-IL"/>
              <a:t>•  נסו לשמוע תשובות שונות מהתחלה, ובדקו אם הן השתנו.</a:t>
            </a:r>
          </a:p>
          <a:p>
            <a:pPr rtl="1" algn="r" marL="0" indent="0">
              <a:buNone/>
            </a:pPr>
            <a:r>
              <a:rPr sz="1200" lang="he-IL"/>
              <a:t>•  הכלל שלי בעוד שנה: במחברת HM_13, חלק ה׳, יש משפט אחד בנוסח ״כש־מצב, אני פעולה, ואבדוק על ידי אימות״.</a:t>
            </a:r>
          </a:p>
          <a:p>
            <a:pPr rtl="1" algn="r" marL="0" indent="0">
              <a:buNone/>
            </a:pPr>
            <a:r>
              <a:rPr sz="1200" lang="he-IL"/>
              <a:t>•  אפשר לבקש משלושה סטודנטים לקרוא אותו בקול.</a:t>
            </a:r>
          </a:p>
          <a:p>
            <a:pPr rtl="1" algn="r" marL="0" indent="0">
              <a:buNone/>
            </a:pPr>
            <a:r>
              <a:rPr sz="1200" lang="he-IL"/>
              <a:t>•  תשובה טובה כוללת מצב קונקרטי, פעולה ודרך אימות.</a:t>
            </a:r>
          </a:p>
          <a:p>
            <a:pPr rtl="1" algn="r" marL="0" indent="0">
              <a:buNone/>
            </a:pPr>
            <a:r>
              <a:rPr sz="1200" lang="he-IL"/>
              <a:t>•  השאלות שנשארו הן חומר טוב לשקפי ״להעמקה״.</a:t>
            </a:r>
          </a:p>
          <a:p>
            <a:pPr rtl="1" algn="r" marL="0" indent="0">
              <a:buNone/>
            </a:pPr>
            <a:r>
              <a:rPr b="1" sz="1200" lang="he-IL"/>
              <a:t>חיבור לשיעורים קודמים</a:t>
            </a:r>
          </a:p>
          <a:p>
            <a:pPr rtl="1" algn="r" marL="0" indent="0">
              <a:buNone/>
            </a:pPr>
            <a:r>
              <a:rPr sz="1200" lang="he-IL"/>
              <a:t>•  בבחירת ״אעשה אחרת״ עודדו לציין מפגש (למשל ״commit לפני סוכן״ ממפגש 6, או ״בדיקה שנכשלת קודם״ ממפגש 8), כדי שהכלל יהיה קשור לחוליה מוכרת.</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הכלל האחרון של הקורס והחזרה לשלוש המילים מהפתיחה, כ־1.5 דקות.</a:t>
            </a:r>
          </a:p>
          <a:p>
            <a:pPr rtl="1" algn="r" marL="0" indent="0">
              <a:buNone/>
            </a:pPr>
            <a:r>
              <a:rPr b="1" sz="1200" lang="he-IL"/>
              <a:t>מה אומרים</a:t>
            </a:r>
          </a:p>
          <a:p>
            <a:pPr rtl="1" algn="r" marL="0" indent="0">
              <a:buNone/>
            </a:pPr>
            <a:r>
              <a:rPr sz="1200" lang="he-IL"/>
              <a:t>•  תארו: בקשה ברורה, הקשר ומפרט.</a:t>
            </a:r>
          </a:p>
          <a:p>
            <a:pPr rtl="1" algn="r" marL="0" indent="0">
              <a:buNone/>
            </a:pPr>
            <a:r>
              <a:rPr sz="1200" lang="he-IL"/>
              <a:t>•  אמתו: מריצים, בודקים וקוראים diff.</a:t>
            </a:r>
          </a:p>
          <a:p>
            <a:pPr rtl="1" algn="r" marL="0" indent="0">
              <a:buNone/>
            </a:pPr>
            <a:r>
              <a:rPr sz="1200" lang="he-IL"/>
              <a:t>•  היו אחראים: מתעדים, מאבטחים ומודיעים.</a:t>
            </a:r>
          </a:p>
          <a:p>
            <a:pPr rtl="1" algn="r" marL="0" indent="0">
              <a:buNone/>
            </a:pPr>
            <a:r>
              <a:rPr sz="1200" lang="he-IL"/>
              <a:t>•  הקרינו את השקף ושאלו את הכיתה על כל אחד משלושת הפעלים: מה זה אומר בפרויקט שלכם?</a:t>
            </a:r>
          </a:p>
          <a:p>
            <a:pPr rtl="1" algn="r" marL="0" indent="0">
              <a:buNone/>
            </a:pPr>
            <a:r>
              <a:rPr sz="1200" lang="he-IL"/>
              <a:t>•  אפשר לקשר: ״תארו״ הוא מה שבנינו במפגשים 3, 4 ו־7, ״אמתו״ הוא מפגשים 8 ו־9, ״היו אחראים״ הוא מפגשים 10 עד 12.</a:t>
            </a:r>
          </a:p>
          <a:p>
            <a:pPr rtl="1" algn="r" marL="0" indent="0">
              <a:buNone/>
            </a:pPr>
            <a:r>
              <a:rPr sz="1200" lang="he-IL"/>
              <a:t>•  סיימו במשפט שמסכם: הכלים משתנים, והשיטה נשארת.</a:t>
            </a:r>
          </a:p>
          <a:p>
            <a:pPr rtl="1" algn="r" marL="0" indent="0">
              <a:buNone/>
            </a:pPr>
            <a:r>
              <a:rPr sz="1200" lang="he-IL"/>
              <a:t>•  זה הרעיון של הסילבוס: קורס בתהליך עבודה ולא בכלי.</a:t>
            </a:r>
          </a:p>
          <a:p>
            <a:pPr rtl="1" algn="r" marL="0" indent="0">
              <a:buNone/>
            </a:pPr>
            <a:r>
              <a:rPr b="1" sz="1200" lang="he-IL"/>
              <a:t>חיבור לשיעורים קודמים</a:t>
            </a:r>
          </a:p>
          <a:p>
            <a:pPr rtl="1" algn="r" marL="0" indent="0">
              <a:buNone/>
            </a:pPr>
            <a:r>
              <a:rPr sz="1200" lang="he-IL"/>
              <a:t>•  בוחרים לפי סיכון (5), commit לפני ו־diff אחרי (6), חוזה קודם (7), קוד בלי בדיקה הוא השערה (8), לא מתקנים סימפטום (9), קלט לא מהימן וסוד מחוץ לקוד (10), משנים מבנה כשהכול ירוק (11), בודקים, מתעדים ומודיעים (12), ועכשיו: תארו, אמתו, היו אחראים.</a:t>
            </a:r>
          </a:p>
          <a:p>
            <a:pPr rtl="1" algn="r" marL="0" indent="0">
              <a:buNone/>
            </a:pPr>
            <a:r>
              <a:rPr sz="1200" lang="he-IL"/>
              <a:t>•  זה אותו מנגנון של שקף שרשרת הרעיונות מהפתיחה: כל כלל ענה על בעיה שהקודם השאיר.</a:t>
            </a:r>
          </a:p>
          <a:p>
            <a:pPr rtl="1" algn="r" marL="0" indent="0">
              <a:buNone/>
            </a:pPr>
            <a:r>
              <a:rPr sz="1200" lang="he-IL"/>
              <a:t>•  הקדימה: אין מפגש הבא, והכלל ממשיך אל הפרויקט הסופי, ההגשה והעבודה אחרי הקורס.</a:t>
            </a:r>
          </a:p>
          <a:p>
            <a:pPr rtl="1" algn="r" marL="0" indent="0">
              <a:buNone/>
            </a:pPr>
            <a:r>
              <a:rPr b="1" sz="1200" lang="he-IL"/>
              <a:t>שאלת היזכרות</a:t>
            </a:r>
          </a:p>
          <a:p>
            <a:pPr rtl="1" algn="r" marL="0" indent="0">
              <a:buNone/>
            </a:pPr>
            <a:r>
              <a:rPr sz="1200" lang="he-IL"/>
              <a:t>•  מי זוכר איזה כלל פתח את השרשרת, ממפגש 1?</a:t>
            </a:r>
          </a:p>
          <a:p>
            <a:pPr rtl="1" algn="r" marL="0" indent="0">
              <a:buNone/>
            </a:pPr>
            <a:r>
              <a:rPr b="1" sz="1200" lang="he-IL"/>
              <a:t>תשובה</a:t>
            </a:r>
          </a:p>
          <a:p>
            <a:pPr rtl="1" algn="r" marL="0" indent="0">
              <a:buNone/>
            </a:pPr>
            <a:r>
              <a:rPr sz="1200" lang="he-IL"/>
              <a:t>•  סומכים אבל בודקים; לא מגישים קוד של AI בלי שקראנו, הבנו ובדקנו.</a:t>
            </a:r>
          </a:p>
          <a:p>
            <a:pPr rtl="1" algn="r" marL="0" indent="0">
              <a:buNone/>
            </a:pPr>
            <a:r>
              <a:rPr b="1" sz="1200" lang="he-IL"/>
              <a:t>אם הכיתה לא זוכרת</a:t>
            </a:r>
          </a:p>
          <a:p>
            <a:pPr rtl="1" algn="r" marL="0" indent="0">
              <a:buNone/>
            </a:pPr>
            <a:r>
              <a:rPr sz="1200" lang="he-IL"/>
              <a:t>•  אמרו אותו בעצמכם וציינו שכל מה שבא אחר כך הוא דרכים לבדוק.</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הנחיות הגשה, כ־2 דקות.</a:t>
            </a:r>
          </a:p>
          <a:p>
            <a:pPr rtl="1" algn="r" marL="0" indent="0">
              <a:buNone/>
            </a:pPr>
            <a:r>
              <a:rPr b="1" sz="1200" lang="he-IL"/>
              <a:t>מה אומרים</a:t>
            </a:r>
          </a:p>
          <a:p>
            <a:pPr rtl="1" algn="r" marL="0" indent="0">
              <a:buNone/>
            </a:pPr>
            <a:r>
              <a:rPr sz="1200" lang="he-IL"/>
              <a:t>•  להשלים לפי הסילבוס את הפרויקט הסופי, כולל עמוד נחיתה עם סרטון הדגמה, הסבר על תהליך העבודה, קישור לדמו חי אם רלוונטי, והיסטוריית commits ויומן שימוש ב־AI כראיה לאחריות אישית.</a:t>
            </a:r>
          </a:p>
          <a:p>
            <a:pPr rtl="1" algn="r" marL="0" indent="0">
              <a:buNone/>
            </a:pPr>
            <a:r>
              <a:rPr sz="1200" lang="he-IL"/>
              <a:t>•  את המועד, צורת ההגשה ואופן הערכת הפרויקט יש להשלים (לעדכן), והמרכיבים בסילבוס מסומנים ״לא סופי״.</a:t>
            </a:r>
          </a:p>
          <a:p>
            <a:pPr rtl="1" algn="r" marL="0" indent="0">
              <a:buNone/>
            </a:pPr>
            <a:r>
              <a:rPr sz="1200" lang="he-IL"/>
              <a:t>•  הודו לסטודנטים על המעורבות ובקשו משוב על הקורס.</a:t>
            </a:r>
          </a:p>
          <a:p>
            <a:pPr rtl="1" algn="r" marL="0" indent="0">
              <a:buNone/>
            </a:pPr>
            <a:r>
              <a:rPr sz="1200" lang="he-IL"/>
              <a:t>•  אפשר לסיים ברשימת התפוצה או בערוץ לשאלות אחרי הקורס.</a:t>
            </a:r>
          </a:p>
          <a:p>
            <a:pPr rtl="1" algn="r" marL="0" indent="0">
              <a:buNone/>
            </a:pPr>
            <a:r>
              <a:rPr sz="1200" lang="he-IL"/>
              <a:t>•  המחברת HM_13 (Restart session and run all, ואז Download .ipynb) היא תרגול ולא חלק מרשימת ההגשה שבשקף, אלא אם תחליטו אחרת: להחליט ולעדכן.</a:t>
            </a:r>
          </a:p>
          <a:p>
            <a:pPr rtl="1" algn="r" marL="0" indent="0">
              <a:buNone/>
            </a:pPr>
            <a:r>
              <a:rPr sz="1200" lang="he-IL"/>
              <a:t>•  מכאן ואילך שקפי ״להעמקה״ הם לקריאה אחרי הקורס, ואפשר לשלוח אותם לסטודנטים עם סיכום המפגש.</a:t>
            </a:r>
          </a:p>
          <a:p>
            <a:pPr rtl="1" algn="r" marL="0" indent="0">
              <a:buNone/>
            </a:pPr>
            <a:r>
              <a:rPr sz="1200" lang="he-IL"/>
              <a:t>•  חיבור קדימה: אין מפגש נוסף.</a:t>
            </a:r>
          </a:p>
          <a:p>
            <a:pPr rtl="1" algn="r" marL="0" indent="0">
              <a:buNone/>
            </a:pPr>
            <a:r>
              <a:rPr sz="1200" lang="he-IL"/>
              <a:t>•  מה שנשאר הוא ההגשה, והכללים של מפגשים 5 עד 12 נבדקים בה: commits ממפגש 6, README ממפגש 11, יומן AI ממפגשים 5 ו־12.</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המחברת, כדקה.</a:t>
            </a:r>
          </a:p>
          <a:p>
            <a:pPr rtl="1" algn="r" marL="0" indent="0">
              <a:buNone/>
            </a:pPr>
            <a:r>
              <a:rPr b="1" sz="1200" lang="he-IL"/>
              <a:t>מה אומרים</a:t>
            </a:r>
          </a:p>
          <a:p>
            <a:pPr rtl="1" algn="r" marL="0" indent="0">
              <a:buNone/>
            </a:pPr>
            <a:r>
              <a:rPr sz="1200" lang="he-IL"/>
              <a:t>•  המחברת HM_13 היא לא בלוק במפת המפגש: המפגש האחרון הוא בעיקר הצגות.</a:t>
            </a:r>
          </a:p>
          <a:p>
            <a:pPr rtl="1" algn="r" marL="0" indent="0">
              <a:buNone/>
            </a:pPr>
            <a:r>
              <a:rPr sz="1200" lang="he-IL"/>
              <a:t>•  הליבה, חלקים א׳ עד ג׳, כ־15 דקות, מיועדת לבית או לזמן שנחסך כשמעבירים את חלק א׳ מהר.</a:t>
            </a:r>
          </a:p>
          <a:p>
            <a:pPr rtl="1" algn="r" marL="0" indent="0">
              <a:buNone/>
            </a:pPr>
            <a:r>
              <a:rPr sz="1200" lang="he-IL"/>
              <a:t>•  הכול פייתון טהור, בלי מפתחות ובלי חשבון.</a:t>
            </a:r>
          </a:p>
          <a:p>
            <a:pPr rtl="1" algn="r" marL="0" indent="0">
              <a:buNone/>
            </a:pPr>
            <a:r>
              <a:rPr sz="1200" lang="he-IL"/>
              <a:t>•  חלק א׳, 4 דקות: weighted_score ו־score_problems על שישה ממדי ההערכה משקף ״מה מעריכים״.</a:t>
            </a:r>
          </a:p>
          <a:p>
            <a:pPr rtl="1" algn="r" marL="0" indent="0">
              <a:buNone/>
            </a:pPr>
            <a:r>
              <a:rPr sz="1200" lang="he-IL"/>
              <a:t>•  המשקלים במחברת (15, 25, 20, 15, 10, 15) הם דוגמה בלבד; המשקלים האמיתיים טרם נקבעו, ויש להחליט ולהודיע.</a:t>
            </a:r>
          </a:p>
          <a:p>
            <a:pPr rtl="1" algn="r" marL="0" indent="0">
              <a:buNone/>
            </a:pPr>
            <a:r>
              <a:rPr sz="1200" lang="he-IL"/>
              <a:t>•  חלק ב׳, 6 דקות: split_sections ו־check_readme.</a:t>
            </a:r>
          </a:p>
          <a:p>
            <a:pPr rtl="1" algn="r" marL="0" indent="0">
              <a:buNone/>
            </a:pPr>
            <a:r>
              <a:rPr sz="1200" lang="he-IL"/>
              <a:t>•  ב־weak_readme חסרים חמישה סעיפים מתוך שישה.</a:t>
            </a:r>
          </a:p>
          <a:p>
            <a:pPr rtl="1" algn="r" marL="0" indent="0">
              <a:buNone/>
            </a:pPr>
            <a:r>
              <a:rPr sz="1200" lang="he-IL"/>
              <a:t>•  אחר כך כל סטודנט מבקש מ־Gemini לכתוב README ובודק אותו; התוצאות שונות בין סטודנטים, בכוונה, והנקודה היא טענה אחת שאי אפשר לאמת.</a:t>
            </a:r>
          </a:p>
          <a:p>
            <a:pPr rtl="1" algn="r" marL="0" indent="0">
              <a:buNone/>
            </a:pPr>
            <a:r>
              <a:rPr sz="1200" lang="he-IL"/>
              <a:t>•  חלק ג׳, 5 דקות: parse_log, ai_use_summary ו־disclosure_sentence על יומן הדוגמה: 8 שורות, אימצנו 4, תיקנו 3, דחינו 1, ובשתיים לא תועד אימות (דגל אדום).</a:t>
            </a:r>
          </a:p>
          <a:p>
            <a:pPr rtl="1" algn="r" marL="0" indent="0">
              <a:buNone/>
            </a:pPr>
            <a:r>
              <a:rPr b="1" sz="1200" lang="he-IL"/>
              <a:t>למה עושים את זה</a:t>
            </a:r>
          </a:p>
          <a:p>
            <a:pPr rtl="1" algn="r" marL="0" indent="0">
              <a:buNone/>
            </a:pPr>
            <a:r>
              <a:rPr sz="1200" lang="he-IL"/>
              <a:t>•  המחברת הופכת את שלוש המילים לכלים שאפשר להריץ: מחוון (תארו), בדיקת README מול טענה (אמתו), גילוי שימוש ב־AI (היו אחראים).</a:t>
            </a:r>
          </a:p>
          <a:p>
            <a:pPr rtl="1" algn="r" marL="0" indent="0">
              <a:buNone/>
            </a:pPr>
            <a:r>
              <a:rPr b="1" sz="1200" lang="he-IL"/>
              <a:t>הכנה לפני השיעור</a:t>
            </a:r>
          </a:p>
          <a:p>
            <a:pPr rtl="1" algn="r" marL="0" indent="0">
              <a:buNone/>
            </a:pPr>
            <a:r>
              <a:rPr sz="1200" lang="he-IL"/>
              <a:t>•  להעלות את HM_13.ipynb ל־Colab, להחליף את ה־QR (מקום שמור) בקישור אמיתי, ולהריץ Run all על גרסת הפתרון.</a:t>
            </a:r>
          </a:p>
          <a:p>
            <a:pPr rtl="1" algn="r" marL="0" indent="0">
              <a:buNone/>
            </a:pPr>
            <a:r>
              <a:rPr b="1" sz="1200" lang="he-IL"/>
              <a:t>שגיאות צפויות</a:t>
            </a:r>
          </a:p>
          <a:p>
            <a:pPr rtl="1" algn="r" marL="0" indent="0">
              <a:buNone/>
            </a:pPr>
            <a:r>
              <a:rPr sz="1200" lang="he-IL"/>
              <a:t>•  חילוק בסכום המשקלים בלבד, elif חסר, ושכחו להסיר בלוקי קוד לפני הפירוק לסעיפים.</a:t>
            </a:r>
          </a:p>
          <a:p>
            <a:pPr rtl="1" algn="r" marL="0" indent="0">
              <a:buNone/>
            </a:pPr>
            <a:r>
              <a:rPr sz="1200" lang="he-IL"/>
              <a:t>•  פירוט בקובץ הערות_למרצה_HM_13.md.</a:t>
            </a:r>
          </a:p>
          <a:p>
            <a:pPr rtl="1" algn="r" marL="0" indent="0">
              <a:buNone/>
            </a:pPr>
            <a:r>
              <a:rPr sz="1200" lang="he-IL"/>
              <a:t>•  חיבור לשרשרת, בקיצור: מחוון משוקלל הוא מפרט שנכתב לפני ההערכה (חוזה קודם, מפגש 7), score_problems בודקת קלט לפני שסומכים עליו (מפגשים 8 ו־10), check_readme נשענת על README ומסמך העברה (מפגש 11) ועל הכלל שטענה בלי ראיה היא השערה (8), ויומן ה־AI הוא AI_LOG.md שהתחלנו במפגש 5 וחלק מהצהרת האחריות של מפגש 12.</a:t>
            </a:r>
          </a:p>
          <a:p>
            <a:pPr rtl="1" algn="r" marL="0" indent="0">
              <a:buNone/>
            </a:pPr>
            <a:r>
              <a:rPr b="1" sz="1200" lang="he-IL"/>
              <a:t>שאלת היזכרות</a:t>
            </a:r>
          </a:p>
          <a:p>
            <a:pPr rtl="1" algn="r" marL="0" indent="0">
              <a:buNone/>
            </a:pPr>
            <a:r>
              <a:rPr sz="1200" lang="he-IL"/>
              <a:t>•  איזה קובץ פתחנו במפגש 5 כדי לתעד שימוש ב־AI?</a:t>
            </a:r>
          </a:p>
          <a:p>
            <a:pPr rtl="1" algn="r" marL="0" indent="0">
              <a:buNone/>
            </a:pPr>
            <a:r>
              <a:rPr b="1" sz="1200" lang="he-IL"/>
              <a:t>תשובה</a:t>
            </a:r>
          </a:p>
          <a:p>
            <a:pPr rtl="1" algn="r" marL="0" indent="0">
              <a:buNone/>
            </a:pPr>
            <a:r>
              <a:rPr sz="1200" lang="he-IL"/>
              <a:t>•  AI_LOG.md.</a:t>
            </a:r>
          </a:p>
          <a:p>
            <a:pPr rtl="1" algn="r" marL="0" indent="0">
              <a:buNone/>
            </a:pPr>
            <a:r>
              <a:rPr b="1" sz="1200" lang="he-IL"/>
              <a:t>אם הכיתה לא זוכרת</a:t>
            </a:r>
          </a:p>
          <a:p>
            <a:pPr rtl="1" algn="r" marL="0" indent="0">
              <a:buNone/>
            </a:pPr>
            <a:r>
              <a:rPr sz="1200" lang="he-IL"/>
              <a:t>•  הציגו את שורת הדוגמה מהמחברת (כלי, פרומפט, מה קיבלתי, איך אימתתי, החלטה).</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חלק ד׳ של המחברת HM_13, כ־2 דקות, מתאים במיוחד לזמן ההצגות: כל סטודנט פותח את המחברת ומרכיב משוב אמיתי לקבוצה שהוא צופה בה.</a:t>
            </a:r>
          </a:p>
          <a:p>
            <a:pPr rtl="1" algn="r" marL="0" indent="0">
              <a:buNone/>
            </a:pPr>
            <a:r>
              <a:rPr b="1" sz="1200" lang="he-IL"/>
              <a:t>מה אומרים</a:t>
            </a:r>
          </a:p>
          <a:p>
            <a:pPr rtl="1" algn="r" marL="0" indent="0">
              <a:buNone/>
            </a:pPr>
            <a:r>
              <a:rPr sz="1200" lang="he-IL"/>
              <a:t>•  הפונקציה format_feedback מחזירה שלוש שורות בדיוק: מה עבד הכי טוב, איזו שאלה נשארה לי, ושיפור אחד, וזורקת ValueError אם אחת מהנקודות קצרה מ־3 מילים, כדי שלא יהיה משוב ריק כמו ״יפה מאוד״.</a:t>
            </a:r>
          </a:p>
          <a:p>
            <a:pPr rtl="1" algn="r" marL="0" indent="0">
              <a:buNone/>
            </a:pPr>
            <a:r>
              <a:rPr sz="1200" lang="he-IL"/>
              <a:t>•  במחברת יש גם קבוצה דמיונית לתרגול (דמו שזיהה שלושה מוצרים, ולא נאמר איפה נשמר מפתח ה־API ולא הוזכרו מגבלות), ואחריה כותבים משוב על קבוצה אמיתית.</a:t>
            </a:r>
          </a:p>
          <a:p>
            <a:pPr rtl="1" algn="r" marL="0" indent="0">
              <a:buNone/>
            </a:pPr>
            <a:r>
              <a:rPr sz="1200" lang="he-IL"/>
              <a:t>•  מה לבדוק בזמן הסיור: שהמשוב מתייחס לעבודה ולא לאנשים, ושהשאלה נובעת ממה שלא נאמר בהצגה.</a:t>
            </a:r>
          </a:p>
          <a:p>
            <a:pPr rtl="1" algn="r" marL="0" indent="0">
              <a:buNone/>
            </a:pPr>
            <a:r>
              <a:rPr b="1" sz="1200" lang="he-IL"/>
              <a:t>למה עושים את זה</a:t>
            </a:r>
          </a:p>
          <a:p>
            <a:pPr rtl="1" algn="r" marL="0" indent="0">
              <a:buNone/>
            </a:pPr>
            <a:r>
              <a:rPr sz="1200" lang="he-IL"/>
              <a:t>•  הפונקציה אוכפת את כלל המשוב המקצועי בקוד, וזו דוגמה לכלל שהופך מהמלצה לבדיקה.</a:t>
            </a:r>
          </a:p>
          <a:p>
            <a:pPr rtl="1" algn="r" marL="0" indent="0">
              <a:buNone/>
            </a:pPr>
            <a:r>
              <a:rPr b="1" sz="1200" lang="he-IL"/>
              <a:t>הכנה לפני השיעור</a:t>
            </a:r>
          </a:p>
          <a:p>
            <a:pPr rtl="1" algn="r" marL="0" indent="0">
              <a:buNone/>
            </a:pPr>
            <a:r>
              <a:rPr sz="1200" lang="he-IL"/>
              <a:t>•  להעלות את HM_13.ipynb ל־Colab ולהחליף את ה־QR (מקום שמור) בקישור אמיתי.</a:t>
            </a:r>
          </a:p>
          <a:p>
            <a:pPr rtl="1" algn="r" marL="0" indent="0">
              <a:buNone/>
            </a:pPr>
            <a:r>
              <a:rPr sz="1200" lang="he-IL"/>
              <a:t>•  אם אין זמן בכיתה, זה נשאר כשיעורי בית.</a:t>
            </a:r>
          </a:p>
          <a:p>
            <a:pPr rtl="1" algn="r" marL="0" indent="0">
              <a:buNone/>
            </a:pPr>
            <a:r>
              <a:rPr sz="1200" lang="he-IL"/>
              <a:t>•  חלק ה׳ (חידון של עשר שאלות והכלל שלי) מתאים לבית או לשקף ״מה לקחתי מהקורס״.</a:t>
            </a:r>
          </a:p>
          <a:p>
            <a:pPr rtl="1" algn="r" marL="0" indent="0">
              <a:buNone/>
            </a:pPr>
            <a:r>
              <a:rPr sz="1200" lang="he-IL"/>
              <a:t>•  חיבור לשרשרת, בקיצור: format_feedback עושה לכלל משוב מקצועי מה שבדיקות עושות לכלל קוד במפגש 8: כלל שנשבר נכשל (ValueError), ולא נשאר המלצה.</a:t>
            </a:r>
          </a:p>
          <a:p>
            <a:pPr rtl="1" algn="r" marL="0" indent="0">
              <a:buNone/>
            </a:pPr>
            <a:r>
              <a:rPr b="1" sz="1200" lang="he-IL"/>
              <a:t>שאלת היזכרות</a:t>
            </a:r>
          </a:p>
          <a:p>
            <a:pPr rtl="1" algn="r" marL="0" indent="0">
              <a:buNone/>
            </a:pPr>
            <a:r>
              <a:rPr sz="1200" lang="he-IL"/>
              <a:t>•  מי זוכר איזה כלל משוב קבענו?</a:t>
            </a:r>
          </a:p>
          <a:p>
            <a:pPr rtl="1" algn="r" marL="0" indent="0">
              <a:buNone/>
            </a:pPr>
            <a:r>
              <a:rPr b="1" sz="1200" lang="he-IL"/>
              <a:t>תשובה</a:t>
            </a:r>
          </a:p>
          <a:p>
            <a:pPr rtl="1" algn="r" marL="0" indent="0">
              <a:buNone/>
            </a:pPr>
            <a:r>
              <a:rPr sz="1200" lang="he-IL"/>
              <a:t>•  ספציפי, מנומס ומתייחס לעבודה ולא לאנשים.</a:t>
            </a:r>
          </a:p>
          <a:p>
            <a:pPr rtl="1" algn="r" marL="0" indent="0">
              <a:buNone/>
            </a:pPr>
            <a:r>
              <a:rPr b="1" sz="1200" lang="he-IL"/>
              <a:t>אם הכיתה לא זוכרת</a:t>
            </a:r>
          </a:p>
          <a:p>
            <a:pPr rtl="1" algn="r" marL="0" indent="0">
              <a:buNone/>
            </a:pPr>
            <a:r>
              <a:rPr sz="1200" lang="he-IL"/>
              <a:t>•  קראו את השורה בשקף טופס המשוב לעמיתים.</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אופציונלי, כדקה וחצי, אפשר לדלג או להשאיר כדף עזר.</a:t>
            </a:r>
          </a:p>
          <a:p>
            <a:pPr rtl="1" algn="r" marL="0" indent="0">
              <a:buNone/>
            </a:pPr>
            <a:r>
              <a:rPr b="1" sz="1200" lang="he-IL"/>
              <a:t>מה אומרים</a:t>
            </a:r>
          </a:p>
          <a:p>
            <a:pPr rtl="1" algn="r" marL="0" indent="0">
              <a:buNone/>
            </a:pPr>
            <a:r>
              <a:rPr sz="1200" lang="he-IL"/>
              <a:t>•  זו מפת מושגי היסוד של מפגשים 1 עד 6, שורה לכל מפגש.</a:t>
            </a:r>
          </a:p>
          <a:p>
            <a:pPr rtl="1" algn="r" marL="0" indent="0">
              <a:buNone/>
            </a:pPr>
            <a:r>
              <a:rPr sz="1200" lang="he-IL"/>
              <a:t>•  אפשר להציג אותה כחידון: מסתירים את העמודה השמאלית ומבקשים מהכיתה להיזכר במושגים של כל מפגש.</a:t>
            </a:r>
          </a:p>
          <a:p>
            <a:pPr rtl="1" algn="r" marL="0" indent="0">
              <a:buNone/>
            </a:pPr>
            <a:r>
              <a:rPr sz="1200" lang="he-IL"/>
              <a:t>•  הכללים של כל מפגש נמצאים בשקף הבא.</a:t>
            </a:r>
          </a:p>
          <a:p>
            <a:pPr rtl="1" algn="r" marL="0" indent="0">
              <a:buNone/>
            </a:pPr>
            <a:r>
              <a:rPr b="1" sz="1200" lang="he-IL"/>
              <a:t>שימו לב</a:t>
            </a:r>
          </a:p>
          <a:p>
            <a:pPr rtl="1" algn="r" marL="0" indent="0">
              <a:buNone/>
            </a:pPr>
            <a:r>
              <a:rPr sz="1200" lang="he-IL"/>
              <a:t>•  מפגשים 3 ו־4 נכתבו לפי הסילבוס (מבנה פרומפט, פירוק משימות, few-shot; ניהול הקשר, קבצי הנחיה, תיעוד ידידותי ל־AI) ויש להתאים אותם לתוכן שהועבר בפועל.</a:t>
            </a:r>
          </a:p>
          <a:p>
            <a:pPr rtl="1" algn="r" marL="0" indent="0">
              <a:buNone/>
            </a:pPr>
            <a:r>
              <a:rPr sz="1200" lang="he-IL"/>
              <a:t>•  הגדרות קצרות לשאלות מהכיתה: טוקן הוא חתיכת טקסט עם מספר מזהה באוצר מילים קבוע.</a:t>
            </a:r>
          </a:p>
          <a:p>
            <a:pPr rtl="1" algn="r" marL="0" indent="0">
              <a:buNone/>
            </a:pPr>
            <a:r>
              <a:rPr sz="1200" lang="he-IL"/>
              <a:t>•  Embedding הוא ייצוג של משמעות כוקטור.</a:t>
            </a:r>
          </a:p>
          <a:p>
            <a:pPr rtl="1" algn="r" marL="0" indent="0">
              <a:buNone/>
            </a:pPr>
            <a:r>
              <a:rPr sz="1200" lang="he-IL"/>
              <a:t>•  Attention הוא מנגנון ששוקל לכל טוקן את הרלוונטיות של הטוקנים הקודמים.</a:t>
            </a:r>
          </a:p>
          <a:p>
            <a:pPr rtl="1" algn="r" marL="0" indent="0">
              <a:buNone/>
            </a:pPr>
            <a:r>
              <a:rPr sz="1200" lang="he-IL"/>
              <a:t>•  חלון הקשר הוא כמות הטוקנים שהמודל מעבד בבת אחת. few-shot הוא מתן כמה דוגמאות בתוך הפרומפט.</a:t>
            </a:r>
          </a:p>
          <a:p>
            <a:pPr rtl="1" algn="r" marL="0" indent="0">
              <a:buNone/>
            </a:pPr>
            <a:r>
              <a:rPr sz="1200" lang="he-IL"/>
              <a:t>•  Tool Use הוא מצב שבו המודל מבקש להפעיל כלי חיצוני.</a:t>
            </a:r>
          </a:p>
          <a:p>
            <a:pPr rtl="1" algn="r" marL="0" indent="0">
              <a:buNone/>
            </a:pPr>
            <a:r>
              <a:rPr sz="1200" lang="he-IL"/>
              <a:t>•  RAG הוא הזנת המודל במידע שנשלף ממסמכים. diff הוא ההפרש בין שתי גרסאות של קבצים.</a:t>
            </a:r>
          </a:p>
          <a:p>
            <a:pPr rtl="1" algn="r" marL="0" indent="0">
              <a:buNone/>
            </a:pPr>
            <a:r>
              <a:rPr sz="1200" lang="he-IL"/>
              <a:t>•  מעטפת היא התוכנה שמקיפה את המודל ונותנת לו לקרוא ולהריץ.</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אופציונלי, כדקה וחצי, אפשר לדלג או להשאיר כדף עזר.</a:t>
            </a:r>
          </a:p>
          <a:p>
            <a:pPr rtl="1" algn="r" marL="0" indent="0">
              <a:buNone/>
            </a:pPr>
            <a:r>
              <a:rPr b="1" sz="1200" lang="he-IL"/>
              <a:t>מה אומרים</a:t>
            </a:r>
          </a:p>
          <a:p>
            <a:pPr rtl="1" algn="r" marL="0" indent="0">
              <a:buNone/>
            </a:pPr>
            <a:r>
              <a:rPr sz="1200" lang="he-IL"/>
              <a:t>•  מפת מושגי היסוד של מפגשים 7 עד 12.</a:t>
            </a:r>
          </a:p>
          <a:p>
            <a:pPr rtl="1" algn="r" marL="0" indent="0">
              <a:buNone/>
            </a:pPr>
            <a:r>
              <a:rPr sz="1200" lang="he-IL"/>
              <a:t>•  אפשר להציג כחידון: מסתירים את העמודה השמאלית ושואלים אילו מושגים שייכים לכל מפגש.</a:t>
            </a:r>
          </a:p>
          <a:p>
            <a:pPr rtl="1" algn="r" marL="0" indent="0">
              <a:buNone/>
            </a:pPr>
            <a:r>
              <a:rPr sz="1200" lang="he-IL"/>
              <a:t>•  הגדרות קצרות לשאלות: OpenAPI הוא תיאור מכונה-קריא של ה־API, ולכן הוא חוזה שאפשר לבדוק מולו.</a:t>
            </a:r>
          </a:p>
          <a:p>
            <a:pPr rtl="1" algn="r" marL="0" indent="0">
              <a:buNone/>
            </a:pPr>
            <a:r>
              <a:rPr sz="1200" lang="he-IL"/>
              <a:t>•  תור ועובד: הבקשה נכנסת לתור, עובד מטפל בה ברקע והלקוח בודק סטטוס, ולכן ה־API מחזיר 202.</a:t>
            </a:r>
          </a:p>
          <a:p>
            <a:pPr rtl="1" algn="r" marL="0" indent="0">
              <a:buNone/>
            </a:pPr>
            <a:r>
              <a:rPr sz="1200" lang="he-IL"/>
              <a:t>•  TDD: כותבים בדיקה שנכשלת, ממשים עד שהיא עוברת, ומשפרים את המבנה.</a:t>
            </a:r>
          </a:p>
          <a:p>
            <a:pPr rtl="1" algn="r" marL="0" indent="0">
              <a:buNone/>
            </a:pPr>
            <a:r>
              <a:rPr sz="1200" lang="he-IL"/>
              <a:t>•  בדיקת מוטציות: משנים את הקוד בכוונה ובודקים שהבדיקות נתפסות.</a:t>
            </a:r>
          </a:p>
          <a:p>
            <a:pPr rtl="1" algn="r" marL="0" indent="0">
              <a:buNone/>
            </a:pPr>
            <a:r>
              <a:rPr sz="1200" lang="he-IL"/>
              <a:t>•  באג שקט: קוד שרץ ללא שגיאה ומחזיר תוצאה שגויה.</a:t>
            </a:r>
          </a:p>
          <a:p>
            <a:pPr rtl="1" algn="r" marL="0" indent="0">
              <a:buNone/>
            </a:pPr>
            <a:r>
              <a:rPr sz="1200" lang="he-IL"/>
              <a:t>•  בדיקת רגרסיה: בדיקה שנכתבת אחרי תיקון כדי שהבאג לא יחזור.</a:t>
            </a:r>
          </a:p>
          <a:p>
            <a:pPr rtl="1" algn="r" marL="0" indent="0">
              <a:buNone/>
            </a:pPr>
            <a:r>
              <a:rPr sz="1200" lang="he-IL"/>
              <a:t>•  הזרקת פרומפט עקיפה: הוראה בתוך תוכן שהסוכן קורא.</a:t>
            </a:r>
          </a:p>
          <a:p>
            <a:pPr rtl="1" algn="r" marL="0" indent="0">
              <a:buNone/>
            </a:pPr>
            <a:r>
              <a:rPr sz="1200" lang="he-IL"/>
              <a:t>•  Refactoring: שינוי מבנה בלי שינוי התנהגות (Fowler 2018).</a:t>
            </a:r>
          </a:p>
          <a:p>
            <a:pPr rtl="1" algn="r" marL="0" indent="0">
              <a:buNone/>
            </a:pPr>
            <a:r>
              <a:rPr sz="1200" lang="he-IL"/>
              <a:t>•  CI: הרצה אוטומטית של בדיקות בכל שינוי.</a:t>
            </a:r>
          </a:p>
          <a:p>
            <a:pPr rtl="1" algn="r" marL="0" indent="0">
              <a:buNone/>
            </a:pPr>
            <a:r>
              <a:rPr sz="1200" lang="he-IL"/>
              <a:t>•  את עקרון הסיכון בתקנה האירופית ראינו במפגש 12, ואין צורך להרחיב כאן.</a:t>
            </a:r>
          </a:p>
          <a:p>
            <a:pPr rtl="1" algn="r" marL="0" indent="0">
              <a:buNone/>
            </a:pPr>
            <a:r>
              <a:rPr b="1" sz="1200" lang="he-IL"/>
              <a:t>שאלה לכיתה</a:t>
            </a:r>
          </a:p>
          <a:p>
            <a:pPr rtl="1" algn="r" marL="0" indent="0">
              <a:buNone/>
            </a:pPr>
            <a:r>
              <a:rPr sz="1200" lang="he-IL"/>
              <a:t>•  איזה מושג הכי הפתיע אתכם?</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שרשרת הרעיונות, כ־2 דקות.</a:t>
            </a:r>
          </a:p>
          <a:p>
            <a:pPr rtl="1" algn="r" marL="0" indent="0">
              <a:buNone/>
            </a:pPr>
            <a:r>
              <a:rPr b="1" sz="1200" lang="he-IL"/>
              <a:t>מה אומרים</a:t>
            </a:r>
          </a:p>
          <a:p>
            <a:pPr rtl="1" algn="r" marL="0" indent="0">
              <a:buNone/>
            </a:pPr>
            <a:r>
              <a:rPr sz="1200" lang="he-IL"/>
              <a:t>•  השקף מחבר את כל הקורס להצגות של היום: כל שורה היא קבוצת מפגשים, מה למדנו בה, ואיפה זה חוזר היום.</a:t>
            </a:r>
          </a:p>
          <a:p>
            <a:pPr rtl="1" algn="r" marL="0" indent="0">
              <a:buNone/>
            </a:pPr>
            <a:r>
              <a:rPr sz="1200" lang="he-IL"/>
              <a:t>•  קראו מימין לשמאל.</a:t>
            </a:r>
          </a:p>
          <a:p>
            <a:pPr rtl="1" algn="r" marL="0" indent="0">
              <a:buNone/>
            </a:pPr>
            <a:r>
              <a:rPr sz="1200" lang="he-IL"/>
              <a:t>•  הרעיון המארגן: כל מפגש ענה על בעיה שהקודם השאיר פתוחה.</a:t>
            </a:r>
          </a:p>
          <a:p>
            <a:pPr rtl="1" algn="r" marL="0" indent="0">
              <a:buNone/>
            </a:pPr>
            <a:r>
              <a:rPr sz="1200" lang="he-IL"/>
              <a:t>•  מפגשים 1 עד 4: המודל מנבא ולכן ממציא (הזיות, מפגש 2), ולכן מבקשים ברור, נותנים הקשר (מפגשים 3 ו־4, לפי הנושא בסילבוס) ובודקים.</a:t>
            </a:r>
          </a:p>
          <a:p>
            <a:pPr rtl="1" algn="r" marL="0" indent="0">
              <a:buNone/>
            </a:pPr>
            <a:r>
              <a:rPr sz="1200" lang="he-IL"/>
              <a:t>•  מפגשים 5 עד 7: בקשה טובה אינה תהליך, ולכן כלי לפי סיכון, commit לפני סוכן ו־diff אחריו, וחוזה קודם.</a:t>
            </a:r>
          </a:p>
          <a:p>
            <a:pPr rtl="1" algn="r" marL="0" indent="0">
              <a:buNone/>
            </a:pPr>
            <a:r>
              <a:rPr sz="1200" lang="he-IL"/>
              <a:t>•  מפגשים 8 ו־9: אפשר להריץ ועדיין לטעות, ולכן קוד בלי בדיקה הוא השערה, וכשבדיקה נכשלת מחפשים שורש.</a:t>
            </a:r>
          </a:p>
          <a:p>
            <a:pPr rtl="1" algn="r" marL="0" indent="0">
              <a:buNone/>
            </a:pPr>
            <a:r>
              <a:rPr sz="1200" lang="he-IL"/>
              <a:t>•  מפגש 10: קוד נכון עלול להיות חשוף, ולכן קלט חיצוני לא מהימן וסוד נשאר מחוץ לקוד.</a:t>
            </a:r>
          </a:p>
          <a:p>
            <a:pPr rtl="1" algn="r" marL="0" indent="0">
              <a:buNone/>
            </a:pPr>
            <a:r>
              <a:rPr sz="1200" lang="he-IL"/>
              <a:t>•  מפגש 11: קוד בטוח עלול להיות קשה לתחזוקה, ולכן צעדים קטנים ומסמך העברה.</a:t>
            </a:r>
          </a:p>
          <a:p>
            <a:pPr rtl="1" algn="r" marL="0" indent="0">
              <a:buNone/>
            </a:pPr>
            <a:r>
              <a:rPr sz="1200" lang="he-IL"/>
              <a:t>•  מפגש 12, המפגש הקודם, מסומן בכחול: קוד מסודר עדיין צריך להיפרס באחריות, ולכן בודקים, מתעדים ומודיעים.</a:t>
            </a:r>
          </a:p>
          <a:p>
            <a:pPr rtl="1" algn="r" marL="0" indent="0">
              <a:buNone/>
            </a:pPr>
            <a:r>
              <a:rPr sz="1200" lang="he-IL"/>
              <a:t>•  והבעיה שמפגש 12 השאיר היא השאלה של היום: איך מוכיחים.</a:t>
            </a:r>
          </a:p>
          <a:p>
            <a:pPr rtl="1" algn="r" marL="0" indent="0">
              <a:buNone/>
            </a:pPr>
            <a:r>
              <a:rPr sz="1200" lang="he-IL"/>
              <a:t>•  העמודה השמאלית היא מה שתראו בהצגות: דמו מול תוצאה ידועה, היסטוריית commits וממצא מפרט, בדיקה שנכשלה קודם, מקום המפתחות, README והצהרת AI.</a:t>
            </a:r>
          </a:p>
          <a:p>
            <a:pPr rtl="1" algn="r" marL="0" indent="0">
              <a:buNone/>
            </a:pPr>
            <a:r>
              <a:rPr b="1" sz="1200" lang="he-IL"/>
              <a:t>שאלת היזכרות</a:t>
            </a:r>
          </a:p>
          <a:p>
            <a:pPr rtl="1" algn="r" marL="0" indent="0">
              <a:buNone/>
            </a:pPr>
            <a:r>
              <a:rPr sz="1200" lang="he-IL"/>
              <a:t>•  איזה כלל של מפגש 6 חוזר בהגשה הסופית?</a:t>
            </a:r>
          </a:p>
          <a:p>
            <a:pPr rtl="1" algn="r" marL="0" indent="0">
              <a:buNone/>
            </a:pPr>
            <a:r>
              <a:rPr b="1" sz="1200" lang="he-IL"/>
              <a:t>תשובה</a:t>
            </a:r>
          </a:p>
          <a:p>
            <a:pPr rtl="1" algn="r" marL="0" indent="0">
              <a:buNone/>
            </a:pPr>
            <a:r>
              <a:rPr sz="1200" lang="he-IL"/>
              <a:t>•  commit לפני סוכן ו־diff אחריו, והראיה היא היסטוריית commits של כל חברי הקבוצה.</a:t>
            </a:r>
          </a:p>
          <a:p>
            <a:pPr rtl="1" algn="r" marL="0" indent="0">
              <a:buNone/>
            </a:pPr>
            <a:r>
              <a:rPr sz="1200" lang="he-IL"/>
              <a:t>•  ומה הכלל של מפגש 8?</a:t>
            </a:r>
          </a:p>
          <a:p>
            <a:pPr rtl="1" algn="r" marL="0" indent="0">
              <a:buNone/>
            </a:pPr>
            <a:r>
              <a:rPr sz="1200" lang="he-IL"/>
              <a:t>•  קוד בלי בדיקה הוא השערה, ובדיקה שלא ראיתם נכשלת היא השערה.</a:t>
            </a:r>
          </a:p>
          <a:p>
            <a:pPr rtl="1" algn="r" marL="0" indent="0">
              <a:buNone/>
            </a:pPr>
            <a:r>
              <a:rPr b="1" sz="1200" lang="he-IL"/>
              <a:t>אם הכיתה לא זוכרת</a:t>
            </a:r>
          </a:p>
          <a:p>
            <a:pPr rtl="1" algn="r" marL="0" indent="0">
              <a:buNone/>
            </a:pPr>
            <a:r>
              <a:rPr sz="1200" lang="he-IL"/>
              <a:t>•  עברו שורה שורה על העמודה האמצעית ובקשו מתנדב להשלים את הכלל לפני שאתם חושפים את העמודה השמאלית.</a:t>
            </a:r>
          </a:p>
          <a:p>
            <a:pPr rtl="1" algn="r" marL="0" indent="0">
              <a:buNone/>
            </a:pPr>
            <a:r>
              <a:rPr sz="1200" lang="he-IL"/>
              <a:t>•  מפגשים 3 ו־4 מסוכמים לפי הנושא בסילבוס בלבד (פרומפט אפקטיבי והנדסת הקשר), אל תוסיפו להם תוכן ספציפי.</a:t>
            </a:r>
          </a:p>
          <a:p>
            <a:pPr rtl="1" algn="r" marL="0" indent="0">
              <a:buNone/>
            </a:pPr>
            <a:r>
              <a:rPr sz="1200" lang="he-IL"/>
              <a:t>•  הנקודה האקדמית: זו בקרת איכות בשכבות, כל שכבה תופסת סוג אחר של טעות ואף שכבה בודדת אינה מספיקה.</a:t>
            </a:r>
          </a:p>
          <a:p>
            <a:pPr rtl="1" algn="r" marL="0" indent="0">
              <a:buNone/>
            </a:pPr>
            <a:r>
              <a:rPr b="1" sz="1200" lang="he-IL"/>
              <a:t>טעות נפוצה</a:t>
            </a:r>
          </a:p>
          <a:p>
            <a:pPr rtl="1" algn="r" marL="0" indent="0">
              <a:buNone/>
            </a:pPr>
            <a:r>
              <a:rPr sz="1200" lang="he-IL"/>
              <a:t>•  לדלג על חוליה כי ״הכלי עושה אותה אוטומטית״.</a:t>
            </a:r>
          </a:p>
          <a:p>
            <a:pPr rtl="1" algn="r" marL="0" indent="0">
              <a:buNone/>
            </a:pPr>
            <a:r>
              <a:rPr sz="1200" lang="he-IL"/>
              <a:t>•  הפירוט של כל מפגש בשקפי חלק א׳ שאחרי כן.</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אופציונלי, כ־2 דקות, אפשר לדלג ולהשאיר לקריאה.</a:t>
            </a:r>
          </a:p>
          <a:p>
            <a:pPr rtl="1" algn="r" marL="0" indent="0">
              <a:buNone/>
            </a:pPr>
            <a:r>
              <a:rPr b="1" sz="1200" lang="he-IL"/>
              <a:t>מה אומרים</a:t>
            </a:r>
          </a:p>
          <a:p>
            <a:pPr rtl="1" algn="r" marL="0" indent="0">
              <a:buNone/>
            </a:pPr>
            <a:r>
              <a:rPr sz="1200" lang="he-IL"/>
              <a:t>•  מטרתו להבחין בין המלצת פרקטיקה לבין ראיה, וכדאי לתת לסטודנטים לנחש לפני שחושפים את המספרים.</a:t>
            </a:r>
          </a:p>
          <a:p>
            <a:pPr rtl="1" algn="r" marL="0" indent="0">
              <a:buNone/>
            </a:pPr>
            <a:r>
              <a:rPr sz="1200" lang="he-IL"/>
              <a:t>•  ארבעה מחקרים מאומתים.</a:t>
            </a:r>
          </a:p>
          <a:p>
            <a:pPr rtl="1" algn="r" marL="0" indent="0">
              <a:buNone/>
            </a:pPr>
            <a:r>
              <a:rPr sz="1200" lang="he-IL"/>
              <a:t>•  METR (Becker ועמיתים, arXiv:2507.09089, יולי 2025): ניסוי מבוקר עם 16 מפתחים ותיקים בפרויקטי קוד פתוח בוגרים, 246 משימות.</a:t>
            </a:r>
          </a:p>
          <a:p>
            <a:pPr rtl="1" algn="r" marL="0" indent="0">
              <a:buNone/>
            </a:pPr>
            <a:r>
              <a:rPr sz="1200" lang="he-IL"/>
              <a:t>•  כשמותר היה להשתמש ב־AI, הזמן להשלמת משימה עלה ב־19%.</a:t>
            </a:r>
          </a:p>
          <a:p>
            <a:pPr rtl="1" algn="r" marL="0" indent="0">
              <a:buNone/>
            </a:pPr>
            <a:r>
              <a:rPr sz="1200" lang="he-IL"/>
              <a:t>•  לפני הניסוי המפתחים צפו חיסכון של 24%, ואחריו עדיין העריכו חיסכון של 20%.</a:t>
            </a:r>
          </a:p>
          <a:p>
            <a:pPr rtl="1" algn="r" marL="0" indent="0">
              <a:buNone/>
            </a:pPr>
            <a:r>
              <a:rPr sz="1200" lang="he-IL"/>
              <a:t>•  הסתייגות: מדגם קטן, כלי תחילת 2025, מפתחים עם ניסיון רב בפרויקט.</a:t>
            </a:r>
          </a:p>
          <a:p>
            <a:pPr rtl="1" algn="r" marL="0" indent="0">
              <a:buNone/>
            </a:pPr>
            <a:r>
              <a:rPr sz="1200" lang="he-IL"/>
              <a:t>•  Peng ועמיתים (arXiv:2302.06590, 2023): בניסוי מבוקר על משימה אחת, מימוש שרת HTTP ב־JavaScript, קבוצה עם GitHub Copilot סיימה מהר ב־55.8%.</a:t>
            </a:r>
          </a:p>
          <a:p>
            <a:pPr rtl="1" algn="r" marL="0" indent="0">
              <a:buNone/>
            </a:pPr>
            <a:r>
              <a:rPr sz="1200" lang="he-IL"/>
              <a:t>•  הסתייגות: משימה קצרה ומוגדרת היטב.</a:t>
            </a:r>
          </a:p>
          <a:p>
            <a:pPr rtl="1" algn="r" marL="0" indent="0">
              <a:buNone/>
            </a:pPr>
            <a:r>
              <a:rPr sz="1200" lang="he-IL"/>
              <a:t>•  Pearce ועמיתים (IEEE S&amp;P 2022): 89 תרחישים ו־1,689 תוכניות שהשלים Copilot, כ־40% מהן פגיעות.</a:t>
            </a:r>
          </a:p>
          <a:p>
            <a:pPr rtl="1" algn="r" marL="0" indent="0">
              <a:buNone/>
            </a:pPr>
            <a:r>
              <a:rPr sz="1200" lang="he-IL"/>
              <a:t>•  הסתייגות: גרסה ישנה של הכלי.</a:t>
            </a:r>
          </a:p>
          <a:p>
            <a:pPr rtl="1" algn="r" marL="0" indent="0">
              <a:buNone/>
            </a:pPr>
            <a:r>
              <a:rPr sz="1200" lang="he-IL"/>
              <a:t>•  Perry ועמיתים (ACM CCS 2023): משתתפים עם עוזר AI כתבו קוד פחות מאובטח, והיו בטוחים יותר שהוא מאובטח; מי שהאמין פחות ל־AI והשקיע יותר בניסוח הבקשות הפיק פחות פגיעויות.</a:t>
            </a:r>
          </a:p>
          <a:p>
            <a:pPr rtl="1" algn="r" marL="0" indent="0">
              <a:buNone/>
            </a:pPr>
            <a:r>
              <a:rPr b="1" sz="1200" lang="he-IL"/>
              <a:t>מסר מרכזי</a:t>
            </a:r>
          </a:p>
          <a:p>
            <a:pPr rtl="1" algn="r" marL="0" indent="0">
              <a:buNone/>
            </a:pPr>
            <a:r>
              <a:rPr sz="1200" lang="he-IL"/>
              <a:t>•  התוצאות סותרות לכאורה (מהיר יותר, איטי יותר), וההקשר קובע.</a:t>
            </a:r>
          </a:p>
          <a:p>
            <a:pPr rtl="1" algn="r" marL="0" indent="0">
              <a:buNone/>
            </a:pPr>
            <a:r>
              <a:rPr sz="1200" lang="he-IL"/>
              <a:t>•  הפער בין התחושה למדידה הוא הסיבה לכלל ״אמתו״.</a:t>
            </a:r>
          </a:p>
          <a:p>
            <a:pPr rtl="1" algn="r" marL="0" indent="0">
              <a:buNone/>
            </a:pPr>
            <a:r>
              <a:rPr b="1" sz="1200" lang="he-IL"/>
              <a:t>שאלה לכיתה</a:t>
            </a:r>
          </a:p>
          <a:p>
            <a:pPr rtl="1" algn="r" marL="0" indent="0">
              <a:buNone/>
            </a:pPr>
            <a:r>
              <a:rPr sz="1200" lang="he-IL"/>
              <a:t>•  מה היה משתנה אילו המדידה הייתה בפרויקט שלכם?</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מה מראים כראיה, כדקה.</a:t>
            </a:r>
          </a:p>
          <a:p>
            <a:pPr rtl="1" algn="r" marL="0" indent="0">
              <a:buNone/>
            </a:pPr>
            <a:r>
              <a:rPr b="1" sz="1200" lang="he-IL"/>
              <a:t>מה אומרים</a:t>
            </a:r>
          </a:p>
          <a:p>
            <a:pPr rtl="1" algn="r" marL="0" indent="0">
              <a:buNone/>
            </a:pPr>
            <a:r>
              <a:rPr sz="1200" lang="he-IL"/>
              <a:t>•  השקף מתרגם את ״אמתו״ לשפת ההצגה: כל טענה בהצגה מלווה בראיה שאפשר לראות.</a:t>
            </a:r>
          </a:p>
          <a:p>
            <a:pPr rtl="1" algn="r" marL="0" indent="0">
              <a:buNone/>
            </a:pPr>
            <a:r>
              <a:rPr sz="1200" lang="he-IL"/>
              <a:t>•  קראו את הטבלה מימין לשמאל: אם אומרים ״הסוכן עובד״, מראים דמו חי או סרטון מול תוצאה ידועה, ולא רק שהוא רץ.</a:t>
            </a:r>
          </a:p>
          <a:p>
            <a:pPr rtl="1" algn="r" marL="0" indent="0">
              <a:buNone/>
            </a:pPr>
            <a:r>
              <a:rPr sz="1200" lang="he-IL"/>
              <a:t>•  ״בדקנו אותו״: בדיקות ירוקות, כולל בדיקה אחת שנכשלה לפני התיקון (כך רואים שהבדיקה מסוגלת להיכשל).</a:t>
            </a:r>
          </a:p>
          <a:p>
            <a:pPr rtl="1" algn="r" marL="0" indent="0">
              <a:buNone/>
            </a:pPr>
            <a:r>
              <a:rPr sz="1200" lang="he-IL"/>
              <a:t>•  ״אני מבין את הקוד״: מסבירים פונקציה אחת בלי להסתכל, כי זו הדרך לאחריות אישית.</a:t>
            </a:r>
          </a:p>
          <a:p>
            <a:pPr rtl="1" algn="r" marL="0" indent="0">
              <a:buNone/>
            </a:pPr>
            <a:r>
              <a:rPr sz="1200" lang="he-IL"/>
              <a:t>•  ״זה מאובטח״: מראים שהמפתח מחוץ למאגר ואומרים מה לא נבדק.</a:t>
            </a:r>
          </a:p>
          <a:p>
            <a:pPr rtl="1" algn="r" marL="0" indent="0">
              <a:buNone/>
            </a:pPr>
            <a:r>
              <a:rPr sz="1200" lang="he-IL"/>
              <a:t>•  ״השתמשנו ב־AI באחריות״: יומן עם מה אימצנו, תיקנו ודחינו, כמו במחברת HM_13 חלק ג׳.</a:t>
            </a:r>
          </a:p>
          <a:p>
            <a:pPr rtl="1" algn="r" marL="0" indent="0">
              <a:buNone/>
            </a:pPr>
            <a:r>
              <a:rPr sz="1200" lang="he-IL"/>
              <a:t>•  ״יש מגבלות״: מקרה אחד שבו המערכת טועה ומי הבודק האנושי.</a:t>
            </a:r>
          </a:p>
          <a:p>
            <a:pPr rtl="1" algn="r" marL="0" indent="0">
              <a:buNone/>
            </a:pPr>
            <a:r>
              <a:rPr sz="1200" lang="he-IL"/>
              <a:t>•  ההבחנה האקדמית: טענה בלי ראיה היא השערה.</a:t>
            </a:r>
          </a:p>
          <a:p>
            <a:pPr rtl="1" algn="r" marL="0" indent="0">
              <a:buNone/>
            </a:pPr>
            <a:r>
              <a:rPr b="1" sz="1200" lang="he-IL"/>
              <a:t>שאלה לכיתה</a:t>
            </a:r>
          </a:p>
          <a:p>
            <a:pPr rtl="1" algn="r" marL="0" indent="0">
              <a:buNone/>
            </a:pPr>
            <a:r>
              <a:rPr sz="1200" lang="he-IL"/>
              <a:t>•  איזו טענה בהצגה שלכם עדיין בלי ראיה?</a:t>
            </a:r>
          </a:p>
          <a:p>
            <a:pPr rtl="1" algn="r" marL="0" indent="0">
              <a:buNone/>
            </a:pPr>
            <a:r>
              <a:rPr sz="1200" lang="he-IL"/>
              <a:t>•  תנו לקבוצות 30 שניות לחשוב לפני שמתחילים.</a:t>
            </a:r>
          </a:p>
          <a:p>
            <a:pPr rtl="1" algn="r" marL="0" indent="0">
              <a:buNone/>
            </a:pPr>
            <a:r>
              <a:rPr sz="1200" lang="he-IL"/>
              <a:t>•  הקבוצות שמראות ראיה אחת לכל טענה יקבלו משוב טוב יותר מעמיתים.</a:t>
            </a:r>
          </a:p>
          <a:p>
            <a:pPr rtl="1" algn="r" marL="0" indent="0">
              <a:buNone/>
            </a:pPr>
            <a:r>
              <a:rPr b="1" sz="1200" lang="he-IL"/>
              <a:t>חיבור לשיעורים קודמים</a:t>
            </a:r>
          </a:p>
          <a:p>
            <a:pPr rtl="1" algn="r" marL="0" indent="0">
              <a:buNone/>
            </a:pPr>
            <a:r>
              <a:rPr sz="1200" lang="he-IL"/>
              <a:t>•  ליד כל ראיה בסוגריים המפגש שבו למדנו אותה: תוצאה מול ידוע (5, validate_top5), בדיקה שנכשלה קודם (8), הסבר פונקציה בלי להסתכל (1, ״ראיון קוד״), מפתח מחוץ למאגר (10), יומן AI (5 ו־12) ומגבלות (12).</a:t>
            </a:r>
          </a:p>
          <a:p>
            <a:pPr rtl="1" algn="r" marL="0" indent="0">
              <a:buNone/>
            </a:pPr>
            <a:r>
              <a:rPr b="1" sz="1200" lang="he-IL"/>
              <a:t>שאלת היזכרות</a:t>
            </a:r>
          </a:p>
          <a:p>
            <a:pPr rtl="1" algn="r" marL="0" indent="0">
              <a:buNone/>
            </a:pPr>
            <a:r>
              <a:rPr sz="1200" lang="he-IL"/>
              <a:t>•  איך ידעתם במפגש 5 שתוצאה של כלי נכונה?</a:t>
            </a:r>
          </a:p>
          <a:p>
            <a:pPr rtl="1" algn="r" marL="0" indent="0">
              <a:buNone/>
            </a:pPr>
            <a:r>
              <a:rPr b="1" sz="1200" lang="he-IL"/>
              <a:t>תשובה</a:t>
            </a:r>
          </a:p>
          <a:p>
            <a:pPr rtl="1" algn="r" marL="0" indent="0">
              <a:buNone/>
            </a:pPr>
            <a:r>
              <a:rPr sz="1200" lang="he-IL"/>
              <a:t>•  בדקנו אותה מול תוצאה ידועה.</a:t>
            </a:r>
          </a:p>
          <a:p>
            <a:pPr rtl="1" algn="r" marL="0" indent="0">
              <a:buNone/>
            </a:pPr>
            <a:r>
              <a:rPr b="1" sz="1200" lang="he-IL"/>
              <a:t>אם הכיתה לא זוכרת</a:t>
            </a:r>
          </a:p>
          <a:p>
            <a:pPr rtl="1" algn="r" marL="0" indent="0">
              <a:buNone/>
            </a:pPr>
            <a:r>
              <a:rPr sz="1200" lang="he-IL"/>
              <a:t>•  תזכירו את הפונקציה validate_top5 שבנו שם, והסבירו שהיום הבדיקה אותו רעיון, בפרויקט שלהם.</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פתיחה של חומר ההעמקה, כ־20 שניות, ומיועד בעיקר לקריאה אחרי הקורס.</a:t>
            </a:r>
          </a:p>
          <a:p>
            <a:pPr rtl="1" algn="r" marL="0" indent="0">
              <a:buNone/>
            </a:pPr>
            <a:r>
              <a:rPr b="1" sz="1200" lang="he-IL"/>
              <a:t>מה אומרים</a:t>
            </a:r>
          </a:p>
          <a:p>
            <a:pPr rtl="1" algn="r" marL="0" indent="0">
              <a:buNone/>
            </a:pPr>
            <a:r>
              <a:rPr sz="1200" lang="he-IL"/>
              <a:t>•  שבעת השקפים הבאים אינם בתקציב 90 הדקות: כיוונים עתידיים בסוכנים, בהערכה ובבטיחות; הביבליוגרפיה של הסילבוס ומה כל מקור נותן; הקורס מול קורסים אחרים בעולם; ורשימת מקורות מאומתת.</a:t>
            </a:r>
          </a:p>
          <a:p>
            <a:pPr rtl="1" algn="r" marL="0" indent="0">
              <a:buNone/>
            </a:pPr>
            <a:r>
              <a:rPr sz="1200" lang="he-IL"/>
              <a:t>•  כל המקורות נבדקו מול האתר המקורי (arXiv, הליכי NeurIPS, אתרי הארגונים) באוקטובר 2026 בעת הכנת המצגת, ופרטים שלא הצלחנו לאמת הושארו בחוץ.</a:t>
            </a:r>
          </a:p>
          <a:p>
            <a:pPr rtl="1" algn="r" marL="0" indent="0">
              <a:buNone/>
            </a:pPr>
            <a:r>
              <a:rPr sz="1200" lang="he-IL"/>
              <a:t>•  אם נשאר זמן בסוף המפגש, אפשר להציג שקף אחד לפי שאלת סטודנטים.</a:t>
            </a:r>
          </a:p>
          <a:p>
            <a:pPr rtl="1" algn="r" marL="0" indent="0">
              <a:buNone/>
            </a:pPr>
            <a:r>
              <a:rPr sz="1200" lang="he-IL"/>
              <a:t>•  מה אומרים: ״זה לא למבחן, זה לכל מי שרוצה להמשיך״.</a:t>
            </a:r>
          </a:p>
          <a:p>
            <a:pPr rtl="1" algn="r" marL="0" indent="0">
              <a:buNone/>
            </a:pPr>
            <a:r>
              <a:rPr sz="1200" lang="he-IL"/>
              <a:t>•  ההמלצה לסטודנטים שמתעניינים: להתחיל במאמר אחד, לקרוא רק את התקציר ואת האיורים, ולבדוק את המספרים בעצמם.</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העשרה, 2 עד 3 דקות אם מציגים, אחרת לקריאה.</a:t>
            </a:r>
          </a:p>
          <a:p>
            <a:pPr rtl="1" algn="r" marL="0" indent="0">
              <a:buNone/>
            </a:pPr>
            <a:r>
              <a:rPr b="1" sz="1200" lang="he-IL"/>
              <a:t>מה אומרים</a:t>
            </a:r>
          </a:p>
          <a:p>
            <a:pPr rtl="1" algn="r" marL="0" indent="0">
              <a:buNone/>
            </a:pPr>
            <a:r>
              <a:rPr sz="1200" lang="he-IL"/>
              <a:t>•  כיוון עתידי ראשון: סוכנים.</a:t>
            </a:r>
          </a:p>
          <a:p>
            <a:pPr rtl="1" algn="r" marL="0" indent="0">
              <a:buNone/>
            </a:pPr>
            <a:r>
              <a:rPr sz="1200" lang="he-IL"/>
              <a:t>•  שני עמודים: ReAct (Yao ועמיתים, ICLR 2023) הציע שהמודל יחשוב ויפעל לסירוגין.</a:t>
            </a:r>
          </a:p>
          <a:p>
            <a:pPr rtl="1" algn="r" marL="0" indent="0">
              <a:buNone/>
            </a:pPr>
            <a:r>
              <a:rPr sz="1200" lang="he-IL"/>
              <a:t>•  MCP (Model Context Protocol) הוא תקן פתוח לחיבור יישומי AI למערכות חיצוניות, נתונים וכלים (modelcontextprotocol.io).</a:t>
            </a:r>
          </a:p>
          <a:p>
            <a:pPr rtl="1" algn="r" marL="0" indent="0">
              <a:buNone/>
            </a:pPr>
            <a:r>
              <a:rPr sz="1200" lang="he-IL"/>
              <a:t>•  בדצמבר 2025 Anthropic תרמה את MCP ל־Agentic AI Foundation, קרן בתוך Linux Foundation, כדי לשמור אותו פתוח ובלתי תלוי בספק.</a:t>
            </a:r>
          </a:p>
          <a:p>
            <a:pPr rtl="1" algn="r" marL="0" indent="0">
              <a:buNone/>
            </a:pPr>
            <a:r>
              <a:rPr sz="1200" lang="he-IL"/>
              <a:t>•  Anthropic (Building effective agents, דצמבר 2024) מבחינה בין workflows, שבהם מודל וכלים מתוזמרים בנתיב קבוע בקוד, לבין agents, שבהם המודל מכוון בעצמו את התהליך והכלים.</a:t>
            </a:r>
          </a:p>
          <a:p>
            <a:pPr rtl="1" algn="r" marL="0" indent="0">
              <a:buNone/>
            </a:pPr>
            <a:r>
              <a:rPr sz="1200" lang="he-IL"/>
              <a:t>•  METR (Kwa ועמיתים, arXiv:2503.14499) הגדירו ״אופק זמן של 50%״: משך המשימה האנושית ששיעור ההצלחה של המודל בה הוא 50%.</a:t>
            </a:r>
          </a:p>
          <a:p>
            <a:pPr rtl="1" algn="r" marL="0" indent="0">
              <a:buNone/>
            </a:pPr>
            <a:r>
              <a:rPr sz="1200" lang="he-IL"/>
              <a:t>•  לפי המאמר הוא מוכפל בערך כל שבעה חודשים מאז 2019.</a:t>
            </a:r>
          </a:p>
          <a:p>
            <a:pPr rtl="1" algn="r" marL="0" indent="0">
              <a:buNone/>
            </a:pPr>
            <a:r>
              <a:rPr sz="1200" lang="he-IL"/>
              <a:t>•  זו קביעה על מגמה בעבר ולא חיזוי מובטח, והמאמר עצמו מסתייג לגבי הכללה למשימות אמיתיות.</a:t>
            </a:r>
          </a:p>
          <a:p>
            <a:pPr rtl="1" algn="r" marL="0" indent="0">
              <a:buNone/>
            </a:pPr>
            <a:r>
              <a:rPr sz="1200" lang="he-IL"/>
              <a:t>•  Anthropic (Effective context engineering for AI agents, ספטמבר 2025) מתארת דחיסה של שיחה, רישום הערות מחוץ לחלון ההקשר ותת־סוכנים, וזה המשך ישיר של מפגש 4.</a:t>
            </a:r>
          </a:p>
          <a:p>
            <a:pPr rtl="1" algn="r" marL="0" indent="0">
              <a:buNone/>
            </a:pPr>
            <a:r>
              <a:rPr sz="1200" lang="he-IL"/>
              <a:t>•  שאלת מחקר פתוחה לדיון: כמה אוטונומיה בטוחה, ואיך מודדים אותה?</a:t>
            </a:r>
          </a:p>
          <a:p>
            <a:pPr rtl="1" algn="r" marL="0" indent="0">
              <a:buNone/>
            </a:pPr>
            <a:r>
              <a:rPr b="1" sz="1200" lang="he-IL"/>
              <a:t>מתי לדלג</a:t>
            </a:r>
          </a:p>
          <a:p>
            <a:pPr rtl="1" algn="r" marL="0" indent="0">
              <a:buNone/>
            </a:pPr>
            <a:r>
              <a:rPr sz="1200" lang="he-IL"/>
              <a:t>•  אם אין זמן, השאירו לקריאה בבית.</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העשרה, 2 עד 3 דקות אם מציגים, אחרת לקריאה.</a:t>
            </a:r>
          </a:p>
          <a:p>
            <a:pPr rtl="1" algn="r" marL="0" indent="0">
              <a:buNone/>
            </a:pPr>
            <a:r>
              <a:rPr b="1" sz="1200" lang="he-IL"/>
              <a:t>מה אומרים</a:t>
            </a:r>
          </a:p>
          <a:p>
            <a:pPr rtl="1" algn="r" marL="0" indent="0">
              <a:buNone/>
            </a:pPr>
            <a:r>
              <a:rPr sz="1200" lang="he-IL"/>
              <a:t>•  כיוון עתידי שני: הערכה, כלומר איך יודעים שסוכן קוד טוב.</a:t>
            </a:r>
          </a:p>
          <a:p>
            <a:pPr rtl="1" algn="r" marL="0" indent="0">
              <a:buNone/>
            </a:pPr>
            <a:r>
              <a:rPr sz="1200" lang="he-IL"/>
              <a:t>•  SWE-bench (Jimenez ועמיתים, ICLR 2024, arXiv:2310.06770): 2,294 בעיות אמיתיות מ־12 מאגרי פייתון פופולריים, והמודל צריך ליצור תיקון שעובר את הבדיקות.</a:t>
            </a:r>
          </a:p>
          <a:p>
            <a:pPr rtl="1" algn="r" marL="0" indent="0">
              <a:buNone/>
            </a:pPr>
            <a:r>
              <a:rPr sz="1200" lang="he-IL"/>
              <a:t>•  במאמר המקורי המודל הטוב ביותר פתר 1.96% בלבד, ומאז המדד התקדם מאוד, ולכן חשוב לבדוק מספרים עדכניים לפני שמצטטים. pass@k (Chen ועמיתים, 2021, ״Evaluating Large Language Models Trained on Code״, arXiv:2107.03374) מודד את הסיכוי שלפחות אחד מ־k ניסיונות עובר את הבדיקות.</a:t>
            </a:r>
          </a:p>
          <a:p>
            <a:pPr rtl="1" algn="r" marL="0" indent="0">
              <a:buNone/>
            </a:pPr>
            <a:r>
              <a:rPr sz="1200" lang="he-IL"/>
              <a:t>•  במאמר Codex פתר 28.8% מהבעיות בניסיון אחד ו־70.2% כשנדגמו 100 ניסיונות.</a:t>
            </a:r>
          </a:p>
          <a:p>
            <a:pPr rtl="1" algn="r" marL="0" indent="0">
              <a:buNone/>
            </a:pPr>
            <a:r>
              <a:rPr sz="1200" lang="he-IL"/>
              <a:t>•  דוגמה מספרית להמחשה בלבד: אם כל ניסיון מצליח בהסתברות 0.3 ובאופן בלתי תלוי, אז pass@3 הוא 1 פחות 0.7 בחזקת 3, כלומר כ־0.66.</a:t>
            </a:r>
          </a:p>
          <a:p>
            <a:pPr rtl="1" algn="r" marL="0" indent="0">
              <a:buNone/>
            </a:pPr>
            <a:r>
              <a:rPr sz="1200" lang="he-IL"/>
              <a:t>•  מודל כשופט (Zheng ועמיתים, NeurIPS 2023, ״Judging LLM-as-a-Judge״): שופטים חזקים הגיעו להסכמה של מעל 80% עם העדפות בני אדם, אך יש הטיות: מיקום, אורך ופנייה לתשובות של אותו מודל.</a:t>
            </a:r>
          </a:p>
          <a:p>
            <a:pPr rtl="1" algn="r" marL="0" indent="0">
              <a:buNone/>
            </a:pPr>
            <a:r>
              <a:rPr sz="1200" lang="he-IL"/>
              <a:t>•  המסר לפרויקט: מדד כללי אינו הפרויקט שלכם, והבדיקות במאגר הן ההערכה האמיתית.</a:t>
            </a:r>
          </a:p>
          <a:p>
            <a:pPr rtl="1" algn="r" marL="0" indent="0">
              <a:buNone/>
            </a:pPr>
            <a:r>
              <a:rPr b="1" sz="1200" lang="he-IL"/>
              <a:t>להעמקה</a:t>
            </a:r>
          </a:p>
          <a:p>
            <a:pPr rtl="1" algn="r" marL="0" indent="0">
              <a:buNone/>
            </a:pPr>
            <a:r>
              <a:rPr sz="1200" lang="he-IL"/>
              <a:t>•  איך מונעים זליגה של מבחנים לנתוני האימון?</a:t>
            </a:r>
          </a:p>
          <a:p>
            <a:pPr rtl="1" algn="r" marL="0" indent="0">
              <a:buNone/>
            </a:pPr>
            <a:r>
              <a:rPr b="1" sz="1200" lang="he-IL"/>
              <a:t>מתי לדלג</a:t>
            </a:r>
          </a:p>
          <a:p>
            <a:pPr rtl="1" algn="r" marL="0" indent="0">
              <a:buNone/>
            </a:pPr>
            <a:r>
              <a:rPr sz="1200" lang="he-IL"/>
              <a:t>•  אם אין זמן, השאירו לקריאה.</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העשרה, 2 עד 3 דקות אם מציגים, אחרת לקריאה.</a:t>
            </a:r>
          </a:p>
          <a:p>
            <a:pPr rtl="1" algn="r" marL="0" indent="0">
              <a:buNone/>
            </a:pPr>
            <a:r>
              <a:rPr b="1" sz="1200" lang="he-IL"/>
              <a:t>מה אומרים</a:t>
            </a:r>
          </a:p>
          <a:p>
            <a:pPr rtl="1" algn="r" marL="0" indent="0">
              <a:buNone/>
            </a:pPr>
            <a:r>
              <a:rPr sz="1200" lang="he-IL"/>
              <a:t>•  כיוון עתידי שלישי: בטיחות ואבטחה, והמשך ישיר של מפגשים 10 ו־12.</a:t>
            </a:r>
          </a:p>
          <a:p>
            <a:pPr rtl="1" algn="r" marL="0" indent="0">
              <a:buNone/>
            </a:pPr>
            <a:r>
              <a:rPr sz="1200" lang="he-IL"/>
              <a:t>•  הזרקת פרומפט עקיפה: Greshake ועמיתים (arXiv:2302.12173, 2023) הראו שאפשר להחביא הוראות בתוכן שיישום מבוסס מודל שולף, ושהדבר מטשטש את הגבול בין נתונים להוראות.</a:t>
            </a:r>
          </a:p>
          <a:p>
            <a:pPr rtl="1" algn="r" marL="0" indent="0">
              <a:buNone/>
            </a:pPr>
            <a:r>
              <a:rPr sz="1200" lang="he-IL"/>
              <a:t>•  OWASP GenAI Security Project מפרסם את ״Top 10 for LLM Applications״ (גרסת 2025), ובראשה LLM01 Prompt Injection; LLM06 הוא Excessive Agency: לסוכן יש יותר הרשאות או אוטונומיה ממה שנדרש.</a:t>
            </a:r>
          </a:p>
          <a:p>
            <a:pPr rtl="1" algn="r" marL="0" indent="0">
              <a:buNone/>
            </a:pPr>
            <a:r>
              <a:rPr sz="1200" lang="he-IL"/>
              <a:t>•  מפגש 5 עסק בסולם האוטונומיה, וזה הצד המעשי של אותו סיכון.</a:t>
            </a:r>
          </a:p>
          <a:p>
            <a:pPr rtl="1" algn="r" marL="0" indent="0">
              <a:buNone/>
            </a:pPr>
            <a:r>
              <a:rPr sz="1200" lang="he-IL"/>
              <a:t>•  חבילות מומצאות: Spracklen ועמיתים (USENIX Security 2025, arXiv:2406.10279): ב־576,000 דוגמאות מ־16 מודלים, לפחות 5.2% מהחבילות היו מומצאות במודלים מסחריים ו־21.7% במודלי קוד פתוח; יש 205,474 שמות מומצאים ייחודיים.</a:t>
            </a:r>
          </a:p>
          <a:p>
            <a:pPr rtl="1" algn="r" marL="0" indent="0">
              <a:buNone/>
            </a:pPr>
            <a:r>
              <a:rPr sz="1200" lang="he-IL"/>
              <a:t>•  NIST AI Risk Management Framework 1.0 (NIST AI 100-1, ינואר 2023) ו־Generative AI Profile (NIST AI 600-1, יולי 2024) הן מסגרות וולונטריות לניהול סיכוני AI, עם ארבע פונקציות: ממשל (Govern), מיפוי (Map), מדידה (Measure) וניהול (Manage).</a:t>
            </a:r>
          </a:p>
          <a:p>
            <a:pPr rtl="1" algn="r" marL="0" indent="0">
              <a:buNone/>
            </a:pPr>
            <a:r>
              <a:rPr sz="1200" lang="he-IL"/>
              <a:t>•  אתר NIST מציין שהמסגרת עומדת לעדכון, ולכן יש לבדוק גרסה עדכנית.</a:t>
            </a:r>
          </a:p>
          <a:p>
            <a:pPr rtl="1" algn="r" marL="0" indent="0">
              <a:buNone/>
            </a:pPr>
            <a:r>
              <a:rPr b="1" sz="1200" lang="he-IL"/>
              <a:t>להעמקה</a:t>
            </a:r>
          </a:p>
          <a:p>
            <a:pPr rtl="1" algn="r" marL="0" indent="0">
              <a:buNone/>
            </a:pPr>
            <a:r>
              <a:rPr sz="1200" lang="he-IL"/>
              <a:t>•  איך מגינים על סוכן שחייב לקרוא תוכן לא מהימן?</a:t>
            </a:r>
          </a:p>
          <a:p>
            <a:pPr rtl="1" algn="r" marL="0" indent="0">
              <a:buNone/>
            </a:pPr>
            <a:r>
              <a:rPr b="1" sz="1200" lang="he-IL"/>
              <a:t>מתי לדלג</a:t>
            </a:r>
          </a:p>
          <a:p>
            <a:pPr rtl="1" algn="r" marL="0" indent="0">
              <a:buNone/>
            </a:pPr>
            <a:r>
              <a:rPr sz="1200" lang="he-IL"/>
              <a:t>•  אם אין זמן, השאירו לקריאה.</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העשרה, כ־2 דקות אם מציגים, אחרת לקריאה.</a:t>
            </a:r>
          </a:p>
          <a:p>
            <a:pPr rtl="1" algn="r" marL="0" indent="0">
              <a:buNone/>
            </a:pPr>
            <a:r>
              <a:rPr b="1" sz="1200" lang="he-IL"/>
              <a:t>מה אומרים</a:t>
            </a:r>
          </a:p>
          <a:p>
            <a:pPr rtl="1" algn="r" marL="0" indent="0">
              <a:buNone/>
            </a:pPr>
            <a:r>
              <a:rPr sz="1200" lang="he-IL"/>
              <a:t>•  הביבליוגרפיה של הסילבוס, ומה כל מקור נותן.</a:t>
            </a:r>
          </a:p>
          <a:p>
            <a:pPr rtl="1" algn="r" marL="0" indent="0">
              <a:buNone/>
            </a:pPr>
            <a:r>
              <a:rPr sz="1200" lang="he-IL"/>
              <a:t>•  כל הפרטים נבדקו מול המקור.</a:t>
            </a:r>
          </a:p>
          <a:p>
            <a:pPr rtl="1" algn="r" marL="0" indent="0">
              <a:buNone/>
            </a:pPr>
            <a:r>
              <a:rPr sz="1200" lang="he-IL"/>
              <a:t>•  ReAct: Yao, Zhao, Yu, Du, Shafran, Narasimhan ו־Cao, ICLR 2023 (arXiv:2210.03629, הופיע ב־2022).</a:t>
            </a:r>
          </a:p>
          <a:p>
            <a:pPr rtl="1" algn="r" marL="0" indent="0">
              <a:buNone/>
            </a:pPr>
            <a:r>
              <a:rPr sz="1200" lang="he-IL"/>
              <a:t>•  Toolformer: Schick, Dwivedi-Yu, Dessì, Raileanu, Lomeli, Hambro, Zettlemoyer, Cancedda ו־Scialom, NeurIPS 2023 (arXiv:2302.04761); מודל שלומד בעצמו אילו כלים לקרוא, מתי, באילו ארגומנטים ואיך לשלב את התוצאה.</a:t>
            </a:r>
          </a:p>
          <a:p>
            <a:pPr rtl="1" algn="r" marL="0" indent="0">
              <a:buNone/>
            </a:pPr>
            <a:r>
              <a:rPr sz="1200" lang="he-IL"/>
              <a:t>•  Fowler, Refactoring: Improving the Design of Existing Code, מהדורה שנייה, Addison-Wesley, תאריך הפרסום 19 בנובמבר 2018 (בקטלוג של ההוצאה מופיעה שנת זכויות היוצרים 2019).</a:t>
            </a:r>
          </a:p>
          <a:p>
            <a:pPr rtl="1" algn="r" marL="0" indent="0">
              <a:buNone/>
            </a:pPr>
            <a:r>
              <a:rPr sz="1200" lang="he-IL"/>
              <a:t>•  Geng ועמיתים (arXiv:2608.05898, 6 באוגוסט 2026): Mapping the Emerging Curriculum for AI-Assisted Software Engineering via Syllabus Analysis, ניתוח של 23 סילבוסים.</a:t>
            </a:r>
          </a:p>
          <a:p>
            <a:pPr rtl="1" algn="r" marL="0" indent="0">
              <a:buNone/>
            </a:pPr>
            <a:r>
              <a:rPr sz="1200" lang="he-IL"/>
              <a:t>•  Anthropic, Prompt Engineering Overview: העמוד הועבר לכתובת platform.claude.com, והוא מפנה לעמוד ״Prompting best practices״ שבו מרוכזות הטכניקות (בהירות, דוגמאות, מבנה, תפקיד, חשיבה ושרשור פרומפטים).</a:t>
            </a:r>
          </a:p>
          <a:p>
            <a:pPr rtl="1" algn="r" marL="0" indent="0">
              <a:buNone/>
            </a:pPr>
            <a:r>
              <a:rPr sz="1200" lang="he-IL"/>
              <a:t>•  MCP: התיעוד הרשמי ב־modelcontextprotocol.io.</a:t>
            </a:r>
          </a:p>
          <a:p>
            <a:pPr rtl="1" algn="r" marL="0" indent="0">
              <a:buNone/>
            </a:pPr>
            <a:r>
              <a:rPr sz="1200" lang="he-IL"/>
              <a:t>•  הערה למרצה: תיעוד מקוון משתנה, ולכן צריך לבדוק פעם בשנה, כפי שרשום בסילבוס.</a:t>
            </a:r>
          </a:p>
          <a:p>
            <a:pPr rtl="1" algn="r" marL="0" indent="0">
              <a:buNone/>
            </a:pPr>
            <a:r>
              <a:rPr b="1" sz="1200" lang="he-IL"/>
              <a:t>מתי לדלג</a:t>
            </a:r>
          </a:p>
          <a:p>
            <a:pPr rtl="1" algn="r" marL="0" indent="0">
              <a:buNone/>
            </a:pPr>
            <a:r>
              <a:rPr sz="1200" lang="he-IL"/>
              <a:t>•  אם אין זמן.</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העשרה, כ־2 דקות אם מציגים, אחרת לקריאה.</a:t>
            </a:r>
          </a:p>
          <a:p>
            <a:pPr rtl="1" algn="r" marL="0" indent="0">
              <a:buNone/>
            </a:pPr>
            <a:r>
              <a:rPr b="1" sz="1200" lang="he-IL"/>
              <a:t>מה אומרים</a:t>
            </a:r>
          </a:p>
          <a:p>
            <a:pPr rtl="1" algn="r" marL="0" indent="0">
              <a:buNone/>
            </a:pPr>
            <a:r>
              <a:rPr sz="1200" lang="he-IL"/>
              <a:t>•  המקור הוא Geng ועמיתים (arXiv:2608.05898, אוגוסט 2026), מאמר שמופיע בביבליוגרפיה של הסילבוס.</a:t>
            </a:r>
          </a:p>
          <a:p>
            <a:pPr rtl="1" algn="r" marL="0" indent="0">
              <a:buNone/>
            </a:pPr>
            <a:r>
              <a:rPr sz="1200" lang="he-IL"/>
              <a:t>•  החוקרים ניתחו חומרים פומביים של 23 קורסים ברמה מתקדמת בארצות הברית שמלמדים הנדסת תוכנה עם AI, וקידדו את מטרות הלימוד, ההערכה, הנושאים והכלים.</a:t>
            </a:r>
          </a:p>
          <a:p>
            <a:pPr rtl="1" algn="r" marL="0" indent="0">
              <a:buNone/>
            </a:pPr>
            <a:r>
              <a:rPr sz="1200" lang="he-IL"/>
              <a:t>•  לפי הניתוח, הנושאים הנפוצים היו יסודות AI ולמידת מכונה (12 קורסים), בדיקות (10), פיתוח אג׳נטי (10) והנדסת פרומפטים (9).</a:t>
            </a:r>
          </a:p>
          <a:p>
            <a:pPr rtl="1" algn="r" marL="0" indent="0">
              <a:buNone/>
            </a:pPr>
            <a:r>
              <a:rPr sz="1200" lang="he-IL"/>
              <a:t>•  נושאי אתיקה ואחריות הופיעו ב־6 קורסים ופריסה ב־5.</a:t>
            </a:r>
          </a:p>
          <a:p>
            <a:pPr rtl="1" algn="r" marL="0" indent="0">
              <a:buNone/>
            </a:pPr>
            <a:r>
              <a:rPr sz="1200" lang="he-IL"/>
              <a:t>•  המספרים הם ספירת קורסים מתוך 18 קורסים שפרסמו רשימת נושאים, כפי שמופיע בטבלה 5 במאמר.</a:t>
            </a:r>
          </a:p>
          <a:p>
            <a:pPr rtl="1" algn="r" marL="0" indent="0">
              <a:buNone/>
            </a:pPr>
            <a:r>
              <a:rPr sz="1200" lang="he-IL"/>
              <a:t>•  מגבלות שהמחברים מציינים: החומרים פומביים בלבד ואינם משקפים בהכרח מה שנלמד בפועל, והמדגם קטן; החוקרים מתארים את התחום כמרחב עיצוב ולא כתוכנית לימודים מקובלת.</a:t>
            </a:r>
          </a:p>
          <a:p>
            <a:pPr rtl="1" algn="r" marL="0" indent="0">
              <a:buNone/>
            </a:pPr>
            <a:r>
              <a:rPr sz="1200" lang="he-IL"/>
              <a:t>•  השוואה לקורס שלנו: ארבעת הנושאים הנפוצים כוסו בקורס, וכן אבטחה (מפגש 10), פריסה ואתיקה (מפגש 12).</a:t>
            </a:r>
          </a:p>
          <a:p>
            <a:pPr rtl="1" algn="r" marL="0" indent="0">
              <a:buNone/>
            </a:pPr>
            <a:r>
              <a:rPr sz="1200" lang="he-IL"/>
              <a:t>•  אל תטענו שהקורס ״עדיף״: ההשוואה היא לתמונת מצב כללית.</a:t>
            </a:r>
          </a:p>
          <a:p>
            <a:pPr rtl="1" algn="r" marL="0" indent="0">
              <a:buNone/>
            </a:pPr>
            <a:r>
              <a:rPr sz="1200" lang="he-IL"/>
              <a:t>•  שאלה לדיון: איזה נושא חסר בקורס שלנו לדעתכם?</a:t>
            </a:r>
          </a:p>
          <a:p>
            <a:pPr rtl="1" algn="r" marL="0" indent="0">
              <a:buNone/>
            </a:pPr>
            <a:r>
              <a:rPr b="1" sz="1200" lang="he-IL"/>
              <a:t>מתי לדלג</a:t>
            </a:r>
          </a:p>
          <a:p>
            <a:pPr rtl="1" algn="r" marL="0" indent="0">
              <a:buNone/>
            </a:pPr>
            <a:r>
              <a:rPr sz="1200" lang="he-IL"/>
              <a:t>•  אם אין זמן.</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״מקורות להעמקה״, כדקה אם מציגים, אחרת להפנות לקריאה.</a:t>
            </a:r>
          </a:p>
          <a:p>
            <a:pPr rtl="1" algn="r" marL="0" indent="0">
              <a:buNone/>
            </a:pPr>
            <a:r>
              <a:rPr b="1" sz="1200" lang="he-IL"/>
              <a:t>מה אומרים</a:t>
            </a:r>
          </a:p>
          <a:p>
            <a:pPr rtl="1" algn="r" marL="0" indent="0">
              <a:buNone/>
            </a:pPr>
            <a:r>
              <a:rPr sz="1200" lang="he-IL"/>
              <a:t>•  שמונה מקורות, וכולם נבדקו בפועל בכתובות המקוריות.</a:t>
            </a:r>
          </a:p>
          <a:p>
            <a:pPr rtl="1" algn="r" marL="0" indent="0">
              <a:buNone/>
            </a:pPr>
            <a:r>
              <a:rPr sz="1200" lang="he-IL"/>
              <a:t>•  אין צורך לקרוא הכול: בחרו מקור אחד לפי העניין.</a:t>
            </a:r>
          </a:p>
          <a:p>
            <a:pPr rtl="1" algn="r" marL="0" indent="0">
              <a:buNone/>
            </a:pPr>
            <a:r>
              <a:rPr sz="1200" lang="he-IL"/>
              <a:t>•  לסוכנים: ReAct (arXiv:2210.03629) ו־Toolformer (arXiv:2302.04761), ומאמר ההנדסה של Anthropic ״Building effective agents״ (19 בדצמבר 2024).</a:t>
            </a:r>
          </a:p>
          <a:p>
            <a:pPr rtl="1" algn="r" marL="0" indent="0">
              <a:buNone/>
            </a:pPr>
            <a:r>
              <a:rPr sz="1200" lang="he-IL"/>
              <a:t>•  להערכה: SWE-bench (arXiv:2310.06770, ICLR 2024) ומחקר METR על פרודוקטיביות של מפתחים ותיקים (arXiv:2507.09089, יולי 2025).</a:t>
            </a:r>
          </a:p>
          <a:p>
            <a:pPr rtl="1" algn="r" marL="0" indent="0">
              <a:buNone/>
            </a:pPr>
            <a:r>
              <a:rPr sz="1200" lang="he-IL"/>
              <a:t>•  לארגון הקוד: Fowler, Refactoring, מהדורה שנייה.</a:t>
            </a:r>
          </a:p>
          <a:p>
            <a:pPr rtl="1" algn="r" marL="0" indent="0">
              <a:buNone/>
            </a:pPr>
            <a:r>
              <a:rPr sz="1200" lang="he-IL"/>
              <a:t>•  לבטיחות ולממשל: OWASP Top 10 for LLM Applications (2025) ו־NIST AI RMF 1.0 (NIST AI 100-1, 2023).</a:t>
            </a:r>
          </a:p>
          <a:p>
            <a:pPr rtl="1" algn="r" marL="0" indent="0">
              <a:buNone/>
            </a:pPr>
            <a:r>
              <a:rPr sz="1200" lang="he-IL"/>
              <a:t>•  המלצה לקריאה: לקרוא תקציר ואיורים, ורק אחר כך את המאמר.</a:t>
            </a:r>
          </a:p>
          <a:p>
            <a:pPr rtl="1" algn="r" marL="0" indent="0">
              <a:buNone/>
            </a:pPr>
            <a:r>
              <a:rPr b="1" sz="1200" lang="he-IL"/>
              <a:t>אנלוגיה</a:t>
            </a:r>
          </a:p>
          <a:p>
            <a:pPr rtl="1" algn="r" marL="0" indent="0">
              <a:buNone/>
            </a:pPr>
            <a:r>
              <a:rPr sz="1200" lang="he-IL"/>
              <a:t>•  כמו קריאת דוח הנהלה, מתחילים בתקציר ובטבלאות.</a:t>
            </a:r>
          </a:p>
          <a:p>
            <a:pPr rtl="1" algn="r" marL="0" indent="0">
              <a:buNone/>
            </a:pPr>
            <a:r>
              <a:rPr sz="1200" lang="he-IL"/>
              <a:t>•  מקורות נוספים שהוזכרו בשקפים ובהערות: Spracklen ועמיתים (arXiv:2406.10279), Greshake ועמיתים (arXiv:2302.12173), Perry ועמיתים (arXiv:2211.03622), Pearce ועמיתים (arXiv:2108.09293), Peng ועמיתים (arXiv:2302.06590), Chen ועמיתים (arXiv:2107.03374), Zheng ועמיתים (arXiv:2306.05685), Kwa ועמיתים (arXiv:2503.14499), וקריאה נוספת: Anthropic על הנדסת הקשר (ספטמבר 2025).</a:t>
            </a:r>
          </a:p>
          <a:p>
            <a:pPr rtl="1" algn="r" marL="0" indent="0">
              <a:buNone/>
            </a:pPr>
            <a:r>
              <a:rPr b="1" sz="1200" lang="he-IL"/>
              <a:t>שימו לב</a:t>
            </a:r>
          </a:p>
          <a:p>
            <a:pPr rtl="1" algn="r" marL="0" indent="0">
              <a:buNone/>
            </a:pPr>
            <a:r>
              <a:rPr sz="1200" lang="he-IL"/>
              <a:t>•  מונח Vibe Coding מיוחס ל־Andrej Karpathy (פברואר 2025) לפי מקורות משניים בלבד, ולא אימתנו מול הפוסט המקורי, ולכן הוא אינו נכלל כמקור.</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השאלה של היום, כדקה.</a:t>
            </a:r>
          </a:p>
          <a:p>
            <a:pPr rtl="1" algn="r" marL="0" indent="0">
              <a:buNone/>
            </a:pPr>
            <a:r>
              <a:rPr b="1" sz="1200" lang="he-IL"/>
              <a:t>מה אומרים</a:t>
            </a:r>
          </a:p>
          <a:p>
            <a:pPr rtl="1" algn="r" marL="0" indent="0">
              <a:buNone/>
            </a:pPr>
            <a:r>
              <a:rPr sz="1200" lang="he-IL"/>
              <a:t>•  הבעיה שנשארה ממפגש 12: הצ׳קליסט לפני חשיפה מסתיים בסימוני ✓, וכל סעיף בו אמור להיות מלווה בראיה (קובץ, קישור או פלט) ובאחראי.</a:t>
            </a:r>
          </a:p>
          <a:p>
            <a:pPr rtl="1" algn="r" marL="0" indent="0">
              <a:buNone/>
            </a:pPr>
            <a:r>
              <a:rPr sz="1200" lang="he-IL"/>
              <a:t>•  אבל סימון הוא טענה ולא הוכחה.</a:t>
            </a:r>
          </a:p>
          <a:p>
            <a:pPr rtl="1" algn="r" marL="0" indent="0">
              <a:buNone/>
            </a:pPr>
            <a:r>
              <a:rPr sz="1200" lang="he-IL"/>
              <a:t>•  היום כל קבוצה צריכה להראות את הטענה לעמיתים בתוך חמש דקות.</a:t>
            </a:r>
          </a:p>
          <a:p>
            <a:pPr rtl="1" algn="r" marL="0" indent="0">
              <a:buNone/>
            </a:pPr>
            <a:r>
              <a:rPr sz="1200" lang="he-IL"/>
              <a:t>•  אמרו: במפגש 12 הכנתם את הפרויקט לחשיפה, והיום אתם נחשפים; הראיה היא מה שהופך ״הכול עובד״ ל״נבדק״.</a:t>
            </a:r>
          </a:p>
          <a:p>
            <a:pPr rtl="1" algn="r" marL="0" indent="0">
              <a:buNone/>
            </a:pPr>
            <a:r>
              <a:rPr b="1" sz="1200" lang="he-IL"/>
              <a:t>שאלת היזכרות</a:t>
            </a:r>
          </a:p>
          <a:p>
            <a:pPr rtl="1" algn="r" marL="0" indent="0">
              <a:buNone/>
            </a:pPr>
            <a:r>
              <a:rPr sz="1200" lang="he-IL"/>
              <a:t>•  מי זוכר אילו שלושה דברים ביקשנו להכין לקראת היום, בסוף מפגש 12?</a:t>
            </a:r>
          </a:p>
          <a:p>
            <a:pPr rtl="1" algn="r" marL="0" indent="0">
              <a:buNone/>
            </a:pPr>
            <a:r>
              <a:rPr b="1" sz="1200" lang="he-IL"/>
              <a:t>תשובה</a:t>
            </a:r>
          </a:p>
          <a:p>
            <a:pPr rtl="1" algn="r" marL="0" indent="0">
              <a:buNone/>
            </a:pPr>
            <a:r>
              <a:rPr sz="1200" lang="he-IL"/>
              <a:t>•  להשלים את שלושת הפערים בצ׳קליסט, לוודא שעמוד הנחיתה חי עם סרטון וקישור, ולהכין הצגה של 5 דקות: בעיה, דמו, תהליך ואחריות.</a:t>
            </a:r>
          </a:p>
          <a:p>
            <a:pPr rtl="1" algn="r" marL="0" indent="0">
              <a:buNone/>
            </a:pPr>
            <a:r>
              <a:rPr b="1" sz="1200" lang="he-IL"/>
              <a:t>אם הכיתה לא זוכרת</a:t>
            </a:r>
          </a:p>
          <a:p>
            <a:pPr rtl="1" algn="r" marL="0" indent="0">
              <a:buNone/>
            </a:pPr>
            <a:r>
              <a:rPr sz="1200" lang="he-IL"/>
              <a:t>•  קראו את שלושת הפריטים בעצמכם ושאלו איזו קבוצה עדיין חסר לה פער, בלי ללחוץ.</a:t>
            </a:r>
          </a:p>
          <a:p>
            <a:pPr rtl="1" algn="r" marL="0" indent="0">
              <a:buNone/>
            </a:pPr>
            <a:r>
              <a:rPr sz="1200" lang="he-IL"/>
              <a:t>•  מעבר לשקף הבא: השרשרת מראה לכל חוליה בקורס איפה היא חוזרת בהצגה שלכם.</a:t>
            </a:r>
          </a:p>
          <a:p>
            <a:pPr rtl="1" algn="r" marL="0" indent="0">
              <a:buNone/>
            </a:pPr>
            <a:r>
              <a:rPr b="1" sz="1200" lang="he-IL"/>
              <a:t>טעות נפוצה</a:t>
            </a:r>
          </a:p>
          <a:p>
            <a:pPr rtl="1" algn="r" marL="0" indent="0">
              <a:buNone/>
            </a:pPr>
            <a:r>
              <a:rPr sz="1200" lang="he-IL"/>
              <a:t>•  לענות ״נראה את זה בדמו״; דמו מוכיח שהמערכת רצה, ואינו מוכיח שהיא נכונה, בטוחה ומתועדת.</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lang="he-IL"/>
              <a:t>📎 הקובץ הנדרש לתרגול, כדקה. כדקה</a:t>
            </a:r>
          </a:p>
          <a:p>
            <a:pPr rtl="1" algn="r" marL="0" indent="0">
              <a:buNone/>
            </a:pPr>
            <a:r>
              <a:rPr lang="he-IL"/>
              <a:t>מה אומרים</a:t>
            </a:r>
          </a:p>
          <a:p>
            <a:pPr rtl="1" algn="r" marL="0" indent="0">
              <a:buNone/>
            </a:pPr>
            <a:r>
              <a:rPr lang="he-IL"/>
              <a:t>• הקובץ לתרגול הזה: HM_13.ipynb. חלקים א׳-ג׳ לבית או בזמן שנחסך; חלק ד׳ בזמן ההצגות.</a:t>
            </a:r>
          </a:p>
          <a:p>
            <a:pPr rtl="1" algn="r" marL="0" indent="0">
              <a:buNone/>
            </a:pPr>
            <a:r>
              <a:rPr lang="he-IL"/>
              <a:t>• כל המעבדות של המפגש נעשות באותו קובץ. כל מעבדה היא חלק אחר בתוכו.</a:t>
            </a:r>
          </a:p>
          <a:p>
            <a:pPr rtl="1" algn="r" marL="0" indent="0">
              <a:buNone/>
            </a:pPr>
            <a:r>
              <a:rPr lang="he-IL"/>
              <a:t>• הנתונים כבר בתוך המחברת, ולכן לא צריך להעלות קבצים.</a:t>
            </a:r>
          </a:p>
          <a:p>
            <a:pPr rtl="1" algn="r" marL="0" indent="0">
              <a:buNone/>
            </a:pPr>
            <a:r>
              <a:rPr lang="he-IL"/>
              <a:t>• פותחים בעזרת הקישור או קוד ה־QR, או מעלים את הקובץ ב־Colab (File → Upload notebook). כל הדרכים במדריך Google Colab, פרק 3.</a:t>
            </a:r>
          </a:p>
          <a:p>
            <a:pPr rtl="1" algn="r" marL="0" indent="0">
              <a:buNone/>
            </a:pPr>
            <a:r>
              <a:rPr lang="he-IL"/>
              <a:t>• בתחילת העבודה שומרים עותק ב־Drive (File → Save a copy in Drive) וכותבים את השם בתא הפתיחה.</a:t>
            </a:r>
          </a:p>
          <a:p>
            <a:pPr rtl="1" algn="r" marL="0" indent="0">
              <a:buNone/>
            </a:pPr>
            <a:r>
              <a:rPr lang="he-IL"/>
              <a:t>הכנה לפני השיעור</a:t>
            </a:r>
          </a:p>
          <a:p>
            <a:pPr rtl="1" algn="r" marL="0" indent="0">
              <a:buNone/>
            </a:pPr>
            <a:r>
              <a:rPr lang="he-IL"/>
              <a:t>• להעלות את HM_13.ipynb ל־Colab או ל־Drive, ולהחליף את ה־QR (מקום שמור) בקישור אמיתי.</a:t>
            </a:r>
          </a:p>
          <a:p>
            <a:pPr rtl="1" algn="r" marL="0" indent="0">
              <a:buNone/>
            </a:pPr>
            <a:r>
              <a:rPr lang="he-IL"/>
              <a:t>• להריץ Run all על HM_13_SOLUTION לפני השיעור, ולוודא שכל הבדיקות מסומנות ✓.</a:t>
            </a:r>
          </a:p>
          <a:p>
            <a:pPr rtl="1" algn="r" marL="0" indent="0">
              <a:buNone/>
            </a:pPr>
            <a:r>
              <a:rPr lang="he-IL"/>
              <a:t>• להפיץ לסטודנטים את הקובץ מדריך_Google_Colab.pdf (גם מי שמגיע בלי הכנה צריך אותו).</a:t>
            </a:r>
          </a:p>
          <a:p>
            <a:pPr rtl="1" algn="r" marL="0" indent="0">
              <a:buNone/>
            </a:pPr>
            <a:r>
              <a:rPr lang="he-IL"/>
              <a:t>שגיאות צפויות</a:t>
            </a:r>
          </a:p>
          <a:p>
            <a:pPr rtl="1" algn="r" marL="0" indent="0">
              <a:buNone/>
            </a:pPr>
            <a:r>
              <a:rPr lang="he-IL"/>
              <a:t>• סטודנט בלי חשבון Google או בלי מחשב עובד: עבודה בזוגות.</a:t>
            </a:r>
          </a:p>
          <a:p>
            <a:pPr rtl="1" algn="r" marL="0" indent="0">
              <a:buNone/>
            </a:pPr>
            <a:r>
              <a:rPr lang="he-IL"/>
              <a:t>• הקבצים נעלמו אחרי ניתוק: מריצים מההתחלה (Run all). תוצרים חשובים נשמרים ב־Drive (המדריך, פרק 5).</a:t>
            </a:r>
          </a:p>
          <a:p>
            <a:pPr rtl="1" algn="r" marL="0" indent="0">
              <a:buNone/>
            </a:pPr>
            <a:r>
              <a:rPr lang="he-IL"/>
              <a:t>• המחברת נפתחה לקריאה בלבד: צריך לשמור עותק ב־Drive לפני העבודה.</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שיעור 13</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280160"/>
            <a:ext cx="8412480" cy="6400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800" b="1" i="0" lang="he-IL">
                <a:solidFill>
                  <a:srgbClr val="4285F4"/>
                </a:solidFill>
              </a:rPr>
              <a:t>שלוש מילים שמסכמות את הקורס</a:t>
            </a:r>
          </a:p>
        </p:txBody>
      </p:sp>
      <p:sp>
        <p:nvSpPr>
          <p:cNvPr id="6" name="Rounded Rectangle 5"/>
          <p:cNvSpPr/>
          <p:nvPr/>
        </p:nvSpPr>
        <p:spPr>
          <a:xfrm>
            <a:off x="6172200" y="2103120"/>
            <a:ext cx="2697480" cy="2286000"/>
          </a:xfrm>
          <a:prstGeom prst="roundRect">
            <a:avLst>
              <a:gd name="adj" fmla="val 12000"/>
            </a:avLst>
          </a:prstGeom>
          <a:solidFill>
            <a:srgbClr val="E3EE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4000" b="0" i="0" lang="he-IL">
                <a:solidFill>
                  <a:srgbClr val="212121"/>
                </a:solidFill>
              </a:rPr>
              <a:t>🗣️</a:t>
            </a:r>
          </a:p>
          <a:p>
            <a:pPr rtl="1" algn="ctr" marL="0" indent="0">
              <a:lnSpc>
                <a:spcPct val="105000"/>
              </a:lnSpc>
              <a:spcBef>
                <a:spcPts val="0"/>
              </a:spcBef>
              <a:spcAft>
                <a:spcPts val="0"/>
              </a:spcAft>
              <a:buNone/>
            </a:pPr>
            <a:r>
              <a:rPr sz="2600" b="1" i="0" lang="he-IL">
                <a:solidFill>
                  <a:srgbClr val="212121"/>
                </a:solidFill>
              </a:rPr>
              <a:t>תארו</a:t>
            </a:r>
          </a:p>
          <a:p>
            <a:pPr rtl="1" algn="ctr" marL="0" indent="0">
              <a:lnSpc>
                <a:spcPct val="105000"/>
              </a:lnSpc>
              <a:spcBef>
                <a:spcPts val="0"/>
              </a:spcBef>
              <a:spcAft>
                <a:spcPts val="0"/>
              </a:spcAft>
              <a:buNone/>
            </a:pPr>
            <a:r>
              <a:rPr sz="1500" b="0" i="0" lang="he-IL">
                <a:solidFill>
                  <a:srgbClr val="595959"/>
                </a:solidFill>
              </a:rPr>
              <a:t>בקשה ברורה, הקשר ומפרט</a:t>
            </a:r>
          </a:p>
        </p:txBody>
      </p:sp>
      <p:sp>
        <p:nvSpPr>
          <p:cNvPr id="7" name="Rounded Rectangle 6"/>
          <p:cNvSpPr/>
          <p:nvPr/>
        </p:nvSpPr>
        <p:spPr>
          <a:xfrm>
            <a:off x="3246120" y="2103120"/>
            <a:ext cx="2697480" cy="228600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4000" b="0" i="0" lang="he-IL">
                <a:solidFill>
                  <a:srgbClr val="212121"/>
                </a:solidFill>
              </a:rPr>
              <a:t>🔍</a:t>
            </a:r>
          </a:p>
          <a:p>
            <a:pPr rtl="1" algn="ctr" marL="0" indent="0">
              <a:lnSpc>
                <a:spcPct val="105000"/>
              </a:lnSpc>
              <a:spcBef>
                <a:spcPts val="0"/>
              </a:spcBef>
              <a:spcAft>
                <a:spcPts val="0"/>
              </a:spcAft>
              <a:buNone/>
            </a:pPr>
            <a:r>
              <a:rPr sz="2600" b="1" i="0" lang="he-IL">
                <a:solidFill>
                  <a:srgbClr val="212121"/>
                </a:solidFill>
              </a:rPr>
              <a:t>אמתו</a:t>
            </a:r>
          </a:p>
          <a:p>
            <a:pPr rtl="1" algn="ctr" marL="0" indent="0">
              <a:lnSpc>
                <a:spcPct val="105000"/>
              </a:lnSpc>
              <a:spcBef>
                <a:spcPts val="0"/>
              </a:spcBef>
              <a:spcAft>
                <a:spcPts val="0"/>
              </a:spcAft>
              <a:buNone/>
            </a:pPr>
            <a:r>
              <a:rPr sz="1500" b="0" i="0" lang="he-IL">
                <a:solidFill>
                  <a:srgbClr val="595959"/>
                </a:solidFill>
              </a:rPr>
              <a:t>מריצים, בודקים וקוראים diff</a:t>
            </a:r>
          </a:p>
        </p:txBody>
      </p:sp>
      <p:sp>
        <p:nvSpPr>
          <p:cNvPr id="8" name="Rounded Rectangle 7"/>
          <p:cNvSpPr/>
          <p:nvPr/>
        </p:nvSpPr>
        <p:spPr>
          <a:xfrm>
            <a:off x="320039" y="2103120"/>
            <a:ext cx="2697480" cy="2286000"/>
          </a:xfrm>
          <a:prstGeom prst="roundRect">
            <a:avLst>
              <a:gd name="adj" fmla="val 12000"/>
            </a:avLst>
          </a:prstGeom>
          <a:solidFill>
            <a:srgbClr val="FFF0D9"/>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4000" b="0" i="0" lang="he-IL">
                <a:solidFill>
                  <a:srgbClr val="212121"/>
                </a:solidFill>
              </a:rPr>
              <a:t>🙋</a:t>
            </a:r>
          </a:p>
          <a:p>
            <a:pPr rtl="1" algn="ctr" marL="0" indent="0">
              <a:lnSpc>
                <a:spcPct val="105000"/>
              </a:lnSpc>
              <a:spcBef>
                <a:spcPts val="0"/>
              </a:spcBef>
              <a:spcAft>
                <a:spcPts val="0"/>
              </a:spcAft>
              <a:buNone/>
            </a:pPr>
            <a:r>
              <a:rPr sz="2600" b="1" i="0" lang="he-IL">
                <a:solidFill>
                  <a:srgbClr val="212121"/>
                </a:solidFill>
              </a:rPr>
              <a:t>היו אחראים</a:t>
            </a:r>
          </a:p>
          <a:p>
            <a:pPr rtl="1" algn="ctr" marL="0" indent="0">
              <a:lnSpc>
                <a:spcPct val="105000"/>
              </a:lnSpc>
              <a:spcBef>
                <a:spcPts val="0"/>
              </a:spcBef>
              <a:spcAft>
                <a:spcPts val="0"/>
              </a:spcAft>
              <a:buNone/>
            </a:pPr>
            <a:r>
              <a:rPr sz="1500" b="0" i="0" lang="he-IL">
                <a:solidFill>
                  <a:srgbClr val="595959"/>
                </a:solidFill>
              </a:rPr>
              <a:t>מתעדים, מאבטחים ומודיעים</a:t>
            </a:r>
          </a:p>
        </p:txBody>
      </p:sp>
      <p:sp>
        <p:nvSpPr>
          <p:cNvPr id="9" name="TextBox 8"/>
          <p:cNvSpPr txBox="1"/>
          <p:nvPr/>
        </p:nvSpPr>
        <p:spPr>
          <a:xfrm>
            <a:off x="365760" y="4572000"/>
            <a:ext cx="841248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595959"/>
                </a:solidFill>
              </a:rPr>
              <a:t>ממפגש 12: בודקים, מתעדים, מודיעים. היום מראים את זה בהצגות.</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a:t>
            </a:r>
            <a:r>
              <a:rPr sz="3000" b="1" i="0" lang="he-IL">
                <a:solidFill>
                  <a:srgbClr val="212121"/>
                </a:solidFill>
              </a:rPr>
              <a:t>מטרות המפגש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229600" y="146304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6" name="TextBox 5"/>
          <p:cNvSpPr txBox="1"/>
          <p:nvPr/>
        </p:nvSpPr>
        <p:spPr>
          <a:xfrm>
            <a:off x="365760" y="1371600"/>
            <a:ext cx="7726679" cy="822959"/>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100" b="0" i="0" lang="he-IL">
                <a:solidFill>
                  <a:srgbClr val="212121"/>
                </a:solidFill>
              </a:rPr>
              <a:t>לסכם את הקורס: שרשרת מפגשים 1 עד 12, והתהליך שמחבר אותה להצגות היום.</a:t>
            </a:r>
          </a:p>
        </p:txBody>
      </p:sp>
      <p:sp>
        <p:nvSpPr>
          <p:cNvPr id="7" name="Oval 6"/>
          <p:cNvSpPr/>
          <p:nvPr/>
        </p:nvSpPr>
        <p:spPr>
          <a:xfrm>
            <a:off x="8229600" y="233172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8" name="TextBox 7"/>
          <p:cNvSpPr txBox="1"/>
          <p:nvPr/>
        </p:nvSpPr>
        <p:spPr>
          <a:xfrm>
            <a:off x="365760" y="2240280"/>
            <a:ext cx="7726679" cy="822959"/>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100" b="0" i="0" lang="he-IL">
                <a:solidFill>
                  <a:srgbClr val="212121"/>
                </a:solidFill>
              </a:rPr>
              <a:t>לרכז Best Practices לעבודה עם סוכני קוד שאפשר להפעיל מחר בבוקר.</a:t>
            </a:r>
          </a:p>
        </p:txBody>
      </p:sp>
      <p:sp>
        <p:nvSpPr>
          <p:cNvPr id="9" name="Oval 8"/>
          <p:cNvSpPr/>
          <p:nvPr/>
        </p:nvSpPr>
        <p:spPr>
          <a:xfrm>
            <a:off x="8229600" y="320040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0" name="TextBox 9"/>
          <p:cNvSpPr txBox="1"/>
          <p:nvPr/>
        </p:nvSpPr>
        <p:spPr>
          <a:xfrm>
            <a:off x="365760" y="3108960"/>
            <a:ext cx="7726679" cy="822959"/>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100" b="0" i="0" lang="he-IL">
                <a:solidFill>
                  <a:srgbClr val="212121"/>
                </a:solidFill>
              </a:rPr>
              <a:t>להציג את הפרויקט הקבוצתי: בעיה, דמו, תהליך עבודה עם AI ואחריות אישית.</a:t>
            </a:r>
          </a:p>
        </p:txBody>
      </p:sp>
      <p:sp>
        <p:nvSpPr>
          <p:cNvPr id="11" name="Oval 10"/>
          <p:cNvSpPr/>
          <p:nvPr/>
        </p:nvSpPr>
        <p:spPr>
          <a:xfrm>
            <a:off x="8229600" y="4069079"/>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4</a:t>
            </a:r>
          </a:p>
        </p:txBody>
      </p:sp>
      <p:sp>
        <p:nvSpPr>
          <p:cNvPr id="12" name="TextBox 11"/>
          <p:cNvSpPr txBox="1"/>
          <p:nvPr/>
        </p:nvSpPr>
        <p:spPr>
          <a:xfrm>
            <a:off x="365760" y="3977639"/>
            <a:ext cx="7726679" cy="822959"/>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100" b="0" i="0" lang="he-IL">
                <a:solidFill>
                  <a:srgbClr val="212121"/>
                </a:solidFill>
              </a:rPr>
              <a:t>לתת ולקבל משוב מקצועי על פרויקטים של עמיתים.</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a:t>
            </a:r>
            <a:r>
              <a:rPr sz="3000" b="1" i="0" lang="he-IL">
                <a:solidFill>
                  <a:srgbClr val="212121"/>
                </a:solidFill>
              </a:rPr>
              <a:t>מפת המפגש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8039951" y="2011680"/>
            <a:ext cx="720000" cy="1005840"/>
          </a:xfrm>
          <a:prstGeom prst="roundRect">
            <a:avLst>
              <a:gd name="adj" fmla="val 8000"/>
            </a:avLst>
          </a:prstGeom>
          <a:solidFill>
            <a:srgbClr val="78909C"/>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פתיחה</a:t>
            </a:r>
          </a:p>
          <a:p>
            <a:pPr rtl="1" algn="ctr" marL="0" indent="0">
              <a:lnSpc>
                <a:spcPct val="105000"/>
              </a:lnSpc>
              <a:spcBef>
                <a:spcPts val="0"/>
              </a:spcBef>
              <a:spcAft>
                <a:spcPts val="0"/>
              </a:spcAft>
              <a:buNone/>
            </a:pPr>
            <a:r>
              <a:rPr sz="1300" b="0" i="0" lang="he-IL">
                <a:solidFill>
                  <a:srgbClr val="FFFFFF"/>
                </a:solidFill>
              </a:rPr>
              <a:t>8׳</a:t>
            </a:r>
          </a:p>
        </p:txBody>
      </p:sp>
      <p:sp>
        <p:nvSpPr>
          <p:cNvPr id="6" name="Rounded Rectangle 5"/>
          <p:cNvSpPr/>
          <p:nvPr/>
        </p:nvSpPr>
        <p:spPr>
          <a:xfrm>
            <a:off x="6272783" y="2011680"/>
            <a:ext cx="1730591"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FFFFFF"/>
                </a:solidFill>
              </a:rPr>
              <a:t>א׳: סיכום</a:t>
            </a:r>
          </a:p>
          <a:p>
            <a:pPr rtl="1" algn="ctr" marL="0" indent="0">
              <a:lnSpc>
                <a:spcPct val="105000"/>
              </a:lnSpc>
              <a:spcBef>
                <a:spcPts val="0"/>
              </a:spcBef>
              <a:spcAft>
                <a:spcPts val="0"/>
              </a:spcAft>
              <a:buNone/>
            </a:pPr>
            <a:r>
              <a:rPr sz="1300" b="0" i="0" lang="he-IL">
                <a:solidFill>
                  <a:srgbClr val="FFFFFF"/>
                </a:solidFill>
              </a:rPr>
              <a:t>19׳</a:t>
            </a:r>
          </a:p>
        </p:txBody>
      </p:sp>
      <p:sp>
        <p:nvSpPr>
          <p:cNvPr id="7" name="Rounded Rectangle 6"/>
          <p:cNvSpPr/>
          <p:nvPr/>
        </p:nvSpPr>
        <p:spPr>
          <a:xfrm>
            <a:off x="5057648" y="2011680"/>
            <a:ext cx="1178559"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FFFFFF"/>
                </a:solidFill>
              </a:rPr>
              <a:t>ב׳: פרקטיקות</a:t>
            </a:r>
          </a:p>
          <a:p>
            <a:pPr rtl="1" algn="ctr" marL="0" indent="0">
              <a:lnSpc>
                <a:spcPct val="105000"/>
              </a:lnSpc>
              <a:spcBef>
                <a:spcPts val="0"/>
              </a:spcBef>
              <a:spcAft>
                <a:spcPts val="0"/>
              </a:spcAft>
              <a:buNone/>
            </a:pPr>
            <a:r>
              <a:rPr sz="1300" b="0" i="0" lang="he-IL">
                <a:solidFill>
                  <a:srgbClr val="FFFFFF"/>
                </a:solidFill>
              </a:rPr>
              <a:t>13׳</a:t>
            </a:r>
          </a:p>
        </p:txBody>
      </p:sp>
      <p:sp>
        <p:nvSpPr>
          <p:cNvPr id="8" name="Rounded Rectangle 7"/>
          <p:cNvSpPr/>
          <p:nvPr/>
        </p:nvSpPr>
        <p:spPr>
          <a:xfrm>
            <a:off x="1131824" y="2011680"/>
            <a:ext cx="3889247" cy="1005840"/>
          </a:xfrm>
          <a:prstGeom prst="roundRect">
            <a:avLst>
              <a:gd name="adj" fmla="val 8000"/>
            </a:avLst>
          </a:prstGeom>
          <a:solidFill>
            <a:srgbClr val="FFAB40"/>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212121"/>
                </a:solidFill>
              </a:rPr>
              <a:t>ג׳: הצגות</a:t>
            </a:r>
          </a:p>
          <a:p>
            <a:pPr rtl="1" algn="ctr" marL="0" indent="0">
              <a:lnSpc>
                <a:spcPct val="105000"/>
              </a:lnSpc>
              <a:spcBef>
                <a:spcPts val="0"/>
              </a:spcBef>
              <a:spcAft>
                <a:spcPts val="0"/>
              </a:spcAft>
              <a:buNone/>
            </a:pPr>
            <a:r>
              <a:rPr sz="1300" b="0" i="0" lang="he-IL">
                <a:solidFill>
                  <a:srgbClr val="212121"/>
                </a:solidFill>
              </a:rPr>
              <a:t>42׳</a:t>
            </a:r>
          </a:p>
        </p:txBody>
      </p:sp>
      <p:sp>
        <p:nvSpPr>
          <p:cNvPr id="9" name="Rounded Rectangle 8"/>
          <p:cNvSpPr/>
          <p:nvPr/>
        </p:nvSpPr>
        <p:spPr>
          <a:xfrm>
            <a:off x="384048" y="2011680"/>
            <a:ext cx="711199" cy="1005840"/>
          </a:xfrm>
          <a:prstGeom prst="roundRect">
            <a:avLst>
              <a:gd name="adj" fmla="val 8000"/>
            </a:avLst>
          </a:prstGeom>
          <a:solidFill>
            <a:srgbClr val="78909C"/>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סיכום</a:t>
            </a:r>
          </a:p>
          <a:p>
            <a:pPr rtl="1" algn="ctr" marL="0" indent="0">
              <a:lnSpc>
                <a:spcPct val="105000"/>
              </a:lnSpc>
              <a:spcBef>
                <a:spcPts val="0"/>
              </a:spcBef>
              <a:spcAft>
                <a:spcPts val="0"/>
              </a:spcAft>
              <a:buNone/>
            </a:pPr>
            <a:r>
              <a:rPr sz="1300" b="0" i="0" lang="he-IL">
                <a:solidFill>
                  <a:srgbClr val="FFFFFF"/>
                </a:solidFill>
              </a:rPr>
              <a:t>8׳</a:t>
            </a:r>
          </a:p>
        </p:txBody>
      </p:sp>
      <p:cxnSp>
        <p:nvCxnSpPr>
          <p:cNvPr id="10" name="Connector 9"/>
          <p:cNvCxnSpPr/>
          <p:nvPr/>
        </p:nvCxnSpPr>
        <p:spPr>
          <a:xfrm flipH="1">
            <a:off x="365760" y="3337560"/>
            <a:ext cx="8412480" cy="0"/>
          </a:xfrm>
          <a:prstGeom prst="line">
            <a:avLst/>
          </a:prstGeom>
          <a:ln w="254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338328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595959"/>
                </a:solidFill>
              </a:rPr>
              <a:t>90 דקות</a:t>
            </a:r>
          </a:p>
        </p:txBody>
      </p:sp>
      <p:sp>
        <p:nvSpPr>
          <p:cNvPr id="12" name="Rectangle 11"/>
          <p:cNvSpPr/>
          <p:nvPr/>
        </p:nvSpPr>
        <p:spPr>
          <a:xfrm>
            <a:off x="6126480" y="4023360"/>
            <a:ext cx="320040" cy="274320"/>
          </a:xfrm>
          <a:prstGeom prst="rect">
            <a:avLst/>
          </a:prstGeom>
          <a:solidFill>
            <a:srgbClr val="4285F4"/>
          </a:solidFill>
          <a:ln>
            <a:noFill/>
          </a:ln>
        </p:spPr>
        <p:txBody>
          <a:bodyPr rtlCol="0" anchor="ctr" wrap="square" lIns="73152" rIns="73152" tIns="73152" bIns="73152">
            <a:noAutofit/>
          </a:bodyPr>
          <a:lstStyle/>
          <a:p>
            <a:pPr algn="ctr"/>
          </a:p>
        </p:txBody>
      </p:sp>
      <p:sp>
        <p:nvSpPr>
          <p:cNvPr id="13" name="TextBox 12"/>
          <p:cNvSpPr txBox="1"/>
          <p:nvPr/>
        </p:nvSpPr>
        <p:spPr>
          <a:xfrm>
            <a:off x="3931920" y="3950208"/>
            <a:ext cx="2194560" cy="4114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600" b="0" i="0" lang="he-IL">
                <a:solidFill>
                  <a:srgbClr val="212121"/>
                </a:solidFill>
              </a:rPr>
              <a:t>הסבר קצר</a:t>
            </a:r>
          </a:p>
        </p:txBody>
      </p:sp>
      <p:sp>
        <p:nvSpPr>
          <p:cNvPr id="14" name="Rectangle 13"/>
          <p:cNvSpPr/>
          <p:nvPr/>
        </p:nvSpPr>
        <p:spPr>
          <a:xfrm>
            <a:off x="3566160" y="4023360"/>
            <a:ext cx="320040" cy="274320"/>
          </a:xfrm>
          <a:prstGeom prst="rect">
            <a:avLst/>
          </a:prstGeom>
          <a:solidFill>
            <a:srgbClr val="FFAB40"/>
          </a:solidFill>
          <a:ln>
            <a:noFill/>
          </a:ln>
        </p:spPr>
        <p:txBody>
          <a:bodyPr rtlCol="0" anchor="ctr" wrap="square" lIns="73152" rIns="73152" tIns="73152" bIns="73152">
            <a:noAutofit/>
          </a:bodyPr>
          <a:lstStyle/>
          <a:p>
            <a:pPr algn="ctr"/>
          </a:p>
        </p:txBody>
      </p:sp>
      <p:sp>
        <p:nvSpPr>
          <p:cNvPr id="15" name="TextBox 14"/>
          <p:cNvSpPr txBox="1"/>
          <p:nvPr/>
        </p:nvSpPr>
        <p:spPr>
          <a:xfrm>
            <a:off x="1463040" y="3950208"/>
            <a:ext cx="2103120" cy="4114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600" b="0" i="0" lang="he-IL">
                <a:solidFill>
                  <a:srgbClr val="212121"/>
                </a:solidFill>
              </a:rPr>
              <a:t>עבודה שלכם</a:t>
            </a:r>
          </a:p>
        </p:txBody>
      </p:sp>
      <p:sp>
        <p:nvSpPr>
          <p:cNvPr id="16" name="TextBox 20"/>
          <p:cNvSpPr txBox="1"/>
          <p:nvPr/>
        </p:nvSpPr>
        <p:spPr>
          <a:xfrm>
            <a:off x="365760" y="448056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שקפים עם התג ״אופציונלי״ או ״העשרה״ אינם בתקציב 90 הדקות.</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a:t>
            </a:r>
            <a:r>
              <a:rPr sz="3000" b="1" i="0" lang="he-IL">
                <a:solidFill>
                  <a:srgbClr val="212121"/>
                </a:solidFill>
              </a:rPr>
              <a:t>השאלה של היום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במפגש 12 סימנתם ✓ בצ׳קליסט. איך מוכיחים לעמיתים, בחמש דקות, שהסימון נכון?</a:t>
            </a:r>
          </a:p>
        </p:txBody>
      </p:sp>
      <p:sp>
        <p:nvSpPr>
          <p:cNvPr id="6" name="TextBox 8"/>
          <p:cNvSpPr txBox="1"/>
          <p:nvPr/>
        </p:nvSpPr>
        <p:spPr>
          <a:xfrm>
            <a:off x="365760" y="2800000"/>
            <a:ext cx="8412480" cy="900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595959"/>
                </a:solidFill>
              </a:rPr>
              <a:t>הבעיה שנשארה: ״עובד״ ו־✓ הם טענות, לא ראיות.</a:t>
            </a:r>
          </a:p>
          <a:p>
            <a:pPr rtl="1" algn="ctr" marL="0" indent="0">
              <a:lnSpc>
                <a:spcPct val="110000"/>
              </a:lnSpc>
              <a:spcBef>
                <a:spcPts val="0"/>
              </a:spcBef>
              <a:spcAft>
                <a:spcPts val="0"/>
              </a:spcAft>
              <a:buNone/>
            </a:pPr>
            <a:r>
              <a:rPr sz="1600" b="0" i="0" lang="he-IL">
                <a:solidFill>
                  <a:srgbClr val="595959"/>
                </a:solidFill>
              </a:rPr>
              <a:t>מה נעשה היום: הצגה עם ראיה לכל טענה, ושאלות על הקוד.</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a:t>
            </a:r>
            <a:r>
              <a:rPr sz="3000" b="1" i="0" lang="he-IL">
                <a:solidFill>
                  <a:srgbClr val="212121"/>
                </a:solidFill>
              </a:rPr>
              <a:t>שרשרת הרעיונות: מה חוזר היום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280160"/>
          <a:ext cx="8412480" cy="3360000"/>
        </p:xfrm>
        <a:graphic>
          <a:graphicData uri="http://schemas.openxmlformats.org/drawingml/2006/table">
            <a:tbl>
              <a:tblPr firstRow="0" bandRow="0">
                <a:tableStyleId>{2D5ABB26-0587-4C30-8999-92F81FD0307C}</a:tableStyleId>
              </a:tblPr>
              <a:tblGrid>
                <a:gridCol w="3250000"/>
                <a:gridCol w="3600000"/>
                <a:gridCol w="1562480"/>
              </a:tblGrid>
              <a:tr h="480000">
                <a:tc>
                  <a:txBody>
                    <a:bodyPr wrap="square"/>
                    <a:lstStyle/>
                    <a:p>
                      <a:pPr rtl="1" algn="ctr" marL="0" indent="0">
                        <a:lnSpc>
                          <a:spcPct val="100000"/>
                        </a:lnSpc>
                        <a:spcBef>
                          <a:spcPts val="0"/>
                        </a:spcBef>
                        <a:spcAft>
                          <a:spcPts val="0"/>
                        </a:spcAft>
                        <a:buNone/>
                      </a:pPr>
                      <a:r>
                        <a:rPr sz="1300" b="1" i="0" lang="he-IL">
                          <a:solidFill>
                            <a:srgbClr val="212121"/>
                          </a:solidFill>
                        </a:rPr>
                        <a:t>איפה זה חוזר היום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300" b="1" i="0" lang="he-IL">
                          <a:solidFill>
                            <a:srgbClr val="212121"/>
                          </a:solidFill>
                        </a:rPr>
                        <a:t>מה למדנו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300" b="1" i="0" lang="he-IL">
                          <a:solidFill>
                            <a:srgbClr val="212121"/>
                          </a:solidFill>
                        </a:rPr>
                        <a:t>מפגש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480000">
                <a:tc>
                  <a:txBody>
                    <a:bodyPr wrap="square"/>
                    <a:lstStyle/>
                    <a:p>
                      <a:pPr rtl="1" algn="r" marL="0" indent="0">
                        <a:lnSpc>
                          <a:spcPct val="100000"/>
                        </a:lnSpc>
                        <a:spcBef>
                          <a:spcPts val="0"/>
                        </a:spcBef>
                        <a:spcAft>
                          <a:spcPts val="0"/>
                        </a:spcAft>
                        <a:buNone/>
                      </a:pPr>
                      <a:r>
                        <a:rPr sz="1300" b="1" i="0" lang="he-IL">
                          <a:solidFill>
                            <a:srgbClr val="212121"/>
                          </a:solidFill>
                        </a:rPr>
                        <a:t>דמו מול תוצאה ידועה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המודל ממציא: מבקשים ברור ובודקים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ctr" marL="0" indent="0">
                        <a:lnSpc>
                          <a:spcPct val="100000"/>
                        </a:lnSpc>
                        <a:spcBef>
                          <a:spcPts val="0"/>
                        </a:spcBef>
                        <a:spcAft>
                          <a:spcPts val="0"/>
                        </a:spcAft>
                        <a:buNone/>
                      </a:pPr>
                      <a:r>
                        <a:rPr sz="1300" b="1" i="0" lang="he-IL">
                          <a:solidFill>
                            <a:srgbClr val="212121"/>
                          </a:solidFill>
                        </a:rPr>
                        <a:t>1‎–‎4</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80000">
                <a:tc>
                  <a:txBody>
                    <a:bodyPr wrap="square"/>
                    <a:lstStyle/>
                    <a:p>
                      <a:pPr rtl="1" algn="r" marL="0" indent="0">
                        <a:lnSpc>
                          <a:spcPct val="100000"/>
                        </a:lnSpc>
                        <a:spcBef>
                          <a:spcPts val="0"/>
                        </a:spcBef>
                        <a:spcAft>
                          <a:spcPts val="0"/>
                        </a:spcAft>
                        <a:buNone/>
                      </a:pPr>
                      <a:r>
                        <a:rPr sz="1300" b="1" i="0" lang="he-IL">
                          <a:solidFill>
                            <a:srgbClr val="212121"/>
                          </a:solidFill>
                        </a:rPr>
                        <a:t>היסטוריית commits ומפרט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commit לפני, diff אחרי, חוזה קודם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ctr" marL="0" indent="0">
                        <a:lnSpc>
                          <a:spcPct val="100000"/>
                        </a:lnSpc>
                        <a:spcBef>
                          <a:spcPts val="0"/>
                        </a:spcBef>
                        <a:spcAft>
                          <a:spcPts val="0"/>
                        </a:spcAft>
                        <a:buNone/>
                      </a:pPr>
                      <a:r>
                        <a:rPr sz="1300" b="1" i="0" lang="he-IL">
                          <a:solidFill>
                            <a:srgbClr val="212121"/>
                          </a:solidFill>
                        </a:rPr>
                        <a:t>5‎–‎7</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80000">
                <a:tc>
                  <a:txBody>
                    <a:bodyPr wrap="square"/>
                    <a:lstStyle/>
                    <a:p>
                      <a:pPr rtl="1" algn="r" marL="0" indent="0">
                        <a:lnSpc>
                          <a:spcPct val="100000"/>
                        </a:lnSpc>
                        <a:spcBef>
                          <a:spcPts val="0"/>
                        </a:spcBef>
                        <a:spcAft>
                          <a:spcPts val="0"/>
                        </a:spcAft>
                        <a:buNone/>
                      </a:pPr>
                      <a:r>
                        <a:rPr sz="1300" b="1" i="0" lang="he-IL">
                          <a:solidFill>
                            <a:srgbClr val="212121"/>
                          </a:solidFill>
                        </a:rPr>
                        <a:t>בדיקה שנכשלה קודם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קוד בלי בדיקה הוא השערה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ctr" marL="0" indent="0">
                        <a:lnSpc>
                          <a:spcPct val="100000"/>
                        </a:lnSpc>
                        <a:spcBef>
                          <a:spcPts val="0"/>
                        </a:spcBef>
                        <a:spcAft>
                          <a:spcPts val="0"/>
                        </a:spcAft>
                        <a:buNone/>
                      </a:pPr>
                      <a:r>
                        <a:rPr sz="1300" b="1" i="0" lang="he-IL">
                          <a:solidFill>
                            <a:srgbClr val="212121"/>
                          </a:solidFill>
                        </a:rPr>
                        <a:t>8‎–‎9</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80000">
                <a:tc>
                  <a:txBody>
                    <a:bodyPr wrap="square"/>
                    <a:lstStyle/>
                    <a:p>
                      <a:pPr rtl="1" algn="r" marL="0" indent="0">
                        <a:lnSpc>
                          <a:spcPct val="100000"/>
                        </a:lnSpc>
                        <a:spcBef>
                          <a:spcPts val="0"/>
                        </a:spcBef>
                        <a:spcAft>
                          <a:spcPts val="0"/>
                        </a:spcAft>
                        <a:buNone/>
                      </a:pPr>
                      <a:r>
                        <a:rPr sz="1300" b="1" i="0" lang="he-IL">
                          <a:solidFill>
                            <a:srgbClr val="212121"/>
                          </a:solidFill>
                        </a:rPr>
                        <a:t>איפה נשמרים המפתחות?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קלט לא מהימן, סוד מחוץ לקוד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ctr" marL="0" indent="0">
                        <a:lnSpc>
                          <a:spcPct val="100000"/>
                        </a:lnSpc>
                        <a:spcBef>
                          <a:spcPts val="0"/>
                        </a:spcBef>
                        <a:spcAft>
                          <a:spcPts val="0"/>
                        </a:spcAft>
                        <a:buNone/>
                      </a:pPr>
                      <a:r>
                        <a:rPr sz="1300" b="1" i="0" lang="he-IL">
                          <a:solidFill>
                            <a:srgbClr val="212121"/>
                          </a:solidFill>
                        </a:rPr>
                        <a:t>10</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80000">
                <a:tc>
                  <a:txBody>
                    <a:bodyPr wrap="square"/>
                    <a:lstStyle/>
                    <a:p>
                      <a:pPr rtl="1" algn="r" marL="0" indent="0">
                        <a:lnSpc>
                          <a:spcPct val="100000"/>
                        </a:lnSpc>
                        <a:spcBef>
                          <a:spcPts val="0"/>
                        </a:spcBef>
                        <a:spcAft>
                          <a:spcPts val="0"/>
                        </a:spcAft>
                        <a:buNone/>
                      </a:pPr>
                      <a:r>
                        <a:rPr sz="1300" b="1" i="0" lang="he-IL">
                          <a:solidFill>
                            <a:srgbClr val="212121"/>
                          </a:solidFill>
                        </a:rPr>
                        <a:t>README בהגשה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צעדים קטנים, מסמך העברה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ctr" marL="0" indent="0">
                        <a:lnSpc>
                          <a:spcPct val="100000"/>
                        </a:lnSpc>
                        <a:spcBef>
                          <a:spcPts val="0"/>
                        </a:spcBef>
                        <a:spcAft>
                          <a:spcPts val="0"/>
                        </a:spcAft>
                        <a:buNone/>
                      </a:pPr>
                      <a:r>
                        <a:rPr sz="1300" b="1" i="0" lang="he-IL">
                          <a:solidFill>
                            <a:srgbClr val="212121"/>
                          </a:solidFill>
                        </a:rPr>
                        <a:t>11</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80000">
                <a:tc>
                  <a:txBody>
                    <a:bodyPr wrap="square"/>
                    <a:lstStyle/>
                    <a:p>
                      <a:pPr rtl="1" algn="r" marL="0" indent="0">
                        <a:lnSpc>
                          <a:spcPct val="100000"/>
                        </a:lnSpc>
                        <a:spcBef>
                          <a:spcPts val="0"/>
                        </a:spcBef>
                        <a:spcAft>
                          <a:spcPts val="0"/>
                        </a:spcAft>
                        <a:buNone/>
                      </a:pPr>
                      <a:r>
                        <a:rPr sz="1300" b="1" i="0" lang="he-IL">
                          <a:solidFill>
                            <a:srgbClr val="212121"/>
                          </a:solidFill>
                        </a:rPr>
                        <a:t>הצהרת AI ומגבלות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8F0FE"/>
                    </a:solidFill>
                  </a:tcPr>
                </a:tc>
                <a:tc>
                  <a:txBody>
                    <a:bodyPr wrap="square"/>
                    <a:lstStyle/>
                    <a:p>
                      <a:pPr rtl="1" algn="r" marL="0" indent="0">
                        <a:lnSpc>
                          <a:spcPct val="100000"/>
                        </a:lnSpc>
                        <a:spcBef>
                          <a:spcPts val="0"/>
                        </a:spcBef>
                        <a:spcAft>
                          <a:spcPts val="0"/>
                        </a:spcAft>
                        <a:buNone/>
                      </a:pPr>
                      <a:r>
                        <a:rPr sz="1300" b="0" i="0" lang="he-IL">
                          <a:solidFill>
                            <a:srgbClr val="212121"/>
                          </a:solidFill>
                        </a:rPr>
                        <a:t>בודקים, מתעדים, מודיעים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8F0FE"/>
                    </a:solidFill>
                  </a:tcPr>
                </a:tc>
                <a:tc>
                  <a:txBody>
                    <a:bodyPr wrap="square"/>
                    <a:lstStyle/>
                    <a:p>
                      <a:pPr rtl="1" algn="ctr" marL="0" indent="0">
                        <a:lnSpc>
                          <a:spcPct val="100000"/>
                        </a:lnSpc>
                        <a:spcBef>
                          <a:spcPts val="0"/>
                        </a:spcBef>
                        <a:spcAft>
                          <a:spcPts val="0"/>
                        </a:spcAft>
                        <a:buNone/>
                      </a:pPr>
                      <a:r>
                        <a:rPr sz="1300" b="1" i="0" lang="he-IL">
                          <a:solidFill>
                            <a:srgbClr val="212121"/>
                          </a:solidFill>
                        </a:rPr>
                        <a:t>12</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8F0FE"/>
                    </a:solidFill>
                  </a:tcPr>
                </a:tc>
              </a:tr>
            </a:tbl>
          </a:graphicData>
        </a:graphic>
      </p:graphicFrame>
      <p:sp>
        <p:nvSpPr>
          <p:cNvPr id="6" name="TextBox 20"/>
          <p:cNvSpPr txBox="1"/>
          <p:nvPr/>
        </p:nvSpPr>
        <p:spPr>
          <a:xfrm>
            <a:off x="365760" y="475488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כל מפגש ענה על בעיה שהקודם השאיר. מפגש 12 השאיר: איך מוכיחים?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א׳ :</a:t>
            </a:r>
            <a:r>
              <a:rPr sz="3000" b="1" i="0" lang="he-IL">
                <a:solidFill>
                  <a:srgbClr val="212121"/>
                </a:solidFill>
              </a:rPr>
              <a:t>מפת הקורס</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858000" y="3017520"/>
            <a:ext cx="2011680" cy="1737360"/>
          </a:xfrm>
          <a:prstGeom prst="roundRect">
            <a:avLst>
              <a:gd name="adj" fmla="val 12000"/>
            </a:avLst>
          </a:prstGeom>
          <a:solidFill>
            <a:srgbClr val="E3EEFF"/>
          </a:solidFill>
          <a:ln w="31750">
            <a:solidFill>
              <a:srgbClr val="4285F4"/>
            </a:solidFill>
          </a:ln>
        </p:spPr>
        <p:txBody>
          <a:bodyPr rtlCol="0" anchor="t" wrap="square" lIns="73152" rIns="73152" tIns="73152" bIns="73152">
            <a:noAutofit/>
          </a:bodyPr>
          <a:lstStyle/>
          <a:p>
            <a:pPr rtl="1" algn="ctr" marL="0" indent="0">
              <a:lnSpc>
                <a:spcPct val="105000"/>
              </a:lnSpc>
              <a:spcBef>
                <a:spcPts val="0"/>
              </a:spcBef>
              <a:spcAft>
                <a:spcPts val="0"/>
              </a:spcAft>
              <a:buNone/>
            </a:pPr>
            <a:r>
              <a:rPr sz="1400" b="1" i="0" lang="he-IL">
                <a:solidFill>
                  <a:srgbClr val="4285F4"/>
                </a:solidFill>
              </a:rPr>
              <a:t>מפגשים 1‎–‎2</a:t>
            </a:r>
          </a:p>
          <a:p>
            <a:pPr rtl="1" algn="ctr" marL="0" indent="0">
              <a:lnSpc>
                <a:spcPct val="105000"/>
              </a:lnSpc>
              <a:spcBef>
                <a:spcPts val="0"/>
              </a:spcBef>
              <a:spcAft>
                <a:spcPts val="0"/>
              </a:spcAft>
              <a:buNone/>
            </a:pPr>
            <a:r>
              <a:rPr sz="2000" b="1" i="0" lang="he-IL">
                <a:solidFill>
                  <a:srgbClr val="212121"/>
                </a:solidFill>
              </a:rPr>
              <a:t>להבין</a:t>
            </a:r>
          </a:p>
          <a:p>
            <a:pPr rtl="1" algn="ctr" marL="0" indent="0">
              <a:lnSpc>
                <a:spcPct val="105000"/>
              </a:lnSpc>
              <a:spcBef>
                <a:spcPts val="0"/>
              </a:spcBef>
              <a:spcAft>
                <a:spcPts val="0"/>
              </a:spcAft>
              <a:buNone/>
            </a:pPr>
            <a:r>
              <a:rPr sz="1200" b="0" i="0" lang="he-IL">
                <a:solidFill>
                  <a:srgbClr val="595959"/>
                </a:solidFill>
              </a:rPr>
              <a:t>איך מודל שפה עובד: טוקנים, הקשר, הזיות</a:t>
            </a:r>
          </a:p>
        </p:txBody>
      </p:sp>
      <p:sp>
        <p:nvSpPr>
          <p:cNvPr id="6" name="Rounded Rectangle 5"/>
          <p:cNvSpPr/>
          <p:nvPr/>
        </p:nvSpPr>
        <p:spPr>
          <a:xfrm>
            <a:off x="4663440" y="2606040"/>
            <a:ext cx="2011680" cy="2148840"/>
          </a:xfrm>
          <a:prstGeom prst="roundRect">
            <a:avLst>
              <a:gd name="adj" fmla="val 12000"/>
            </a:avLst>
          </a:prstGeom>
          <a:solidFill>
            <a:srgbClr val="DDF2F5"/>
          </a:solidFill>
          <a:ln w="31750">
            <a:solidFill>
              <a:srgbClr val="0097A7"/>
            </a:solidFill>
          </a:ln>
        </p:spPr>
        <p:txBody>
          <a:bodyPr rtlCol="0" anchor="t" wrap="square" lIns="73152" rIns="73152" tIns="73152" bIns="73152">
            <a:noAutofit/>
          </a:bodyPr>
          <a:lstStyle/>
          <a:p>
            <a:pPr rtl="1" algn="ctr" marL="0" indent="0">
              <a:lnSpc>
                <a:spcPct val="105000"/>
              </a:lnSpc>
              <a:spcBef>
                <a:spcPts val="0"/>
              </a:spcBef>
              <a:spcAft>
                <a:spcPts val="0"/>
              </a:spcAft>
              <a:buNone/>
            </a:pPr>
            <a:r>
              <a:rPr sz="1400" b="1" i="0" lang="he-IL">
                <a:solidFill>
                  <a:srgbClr val="0097A7"/>
                </a:solidFill>
              </a:rPr>
              <a:t>מפגשים 3‎–‎4</a:t>
            </a:r>
          </a:p>
          <a:p>
            <a:pPr rtl="1" algn="ctr" marL="0" indent="0">
              <a:lnSpc>
                <a:spcPct val="105000"/>
              </a:lnSpc>
              <a:spcBef>
                <a:spcPts val="0"/>
              </a:spcBef>
              <a:spcAft>
                <a:spcPts val="0"/>
              </a:spcAft>
              <a:buNone/>
            </a:pPr>
            <a:r>
              <a:rPr sz="2000" b="1" i="0" lang="he-IL">
                <a:solidFill>
                  <a:srgbClr val="212121"/>
                </a:solidFill>
              </a:rPr>
              <a:t>לתקשר</a:t>
            </a:r>
          </a:p>
          <a:p>
            <a:pPr rtl="1" algn="ctr" marL="0" indent="0">
              <a:lnSpc>
                <a:spcPct val="105000"/>
              </a:lnSpc>
              <a:spcBef>
                <a:spcPts val="0"/>
              </a:spcBef>
              <a:spcAft>
                <a:spcPts val="0"/>
              </a:spcAft>
              <a:buNone/>
            </a:pPr>
            <a:r>
              <a:rPr sz="1200" b="0" i="0" lang="he-IL">
                <a:solidFill>
                  <a:srgbClr val="595959"/>
                </a:solidFill>
              </a:rPr>
              <a:t>פרומפטים והנדסת הקשר</a:t>
            </a:r>
          </a:p>
        </p:txBody>
      </p:sp>
      <p:sp>
        <p:nvSpPr>
          <p:cNvPr id="7" name="Rounded Rectangle 6"/>
          <p:cNvSpPr/>
          <p:nvPr/>
        </p:nvSpPr>
        <p:spPr>
          <a:xfrm>
            <a:off x="2468880" y="2194560"/>
            <a:ext cx="2011680" cy="2560320"/>
          </a:xfrm>
          <a:prstGeom prst="roundRect">
            <a:avLst>
              <a:gd name="adj" fmla="val 12000"/>
            </a:avLst>
          </a:prstGeom>
          <a:solidFill>
            <a:srgbClr val="FFF0D9"/>
          </a:solidFill>
          <a:ln w="31750">
            <a:solidFill>
              <a:srgbClr val="FFAB40"/>
            </a:solidFill>
          </a:ln>
        </p:spPr>
        <p:txBody>
          <a:bodyPr rtlCol="0" anchor="t" wrap="square" lIns="73152" rIns="73152" tIns="73152" bIns="73152">
            <a:noAutofit/>
          </a:bodyPr>
          <a:lstStyle/>
          <a:p>
            <a:pPr rtl="1" algn="ctr" marL="0" indent="0">
              <a:lnSpc>
                <a:spcPct val="105000"/>
              </a:lnSpc>
              <a:spcBef>
                <a:spcPts val="0"/>
              </a:spcBef>
              <a:spcAft>
                <a:spcPts val="0"/>
              </a:spcAft>
              <a:buNone/>
            </a:pPr>
            <a:r>
              <a:rPr sz="1400" b="1" i="0" lang="he-IL">
                <a:solidFill>
                  <a:srgbClr val="FFAB40"/>
                </a:solidFill>
              </a:rPr>
              <a:t>מפגשים 5‎–‎7</a:t>
            </a:r>
          </a:p>
          <a:p>
            <a:pPr rtl="1" algn="ctr" marL="0" indent="0">
              <a:lnSpc>
                <a:spcPct val="105000"/>
              </a:lnSpc>
              <a:spcBef>
                <a:spcPts val="0"/>
              </a:spcBef>
              <a:spcAft>
                <a:spcPts val="0"/>
              </a:spcAft>
              <a:buNone/>
            </a:pPr>
            <a:r>
              <a:rPr sz="2000" b="1" i="0" lang="he-IL">
                <a:solidFill>
                  <a:srgbClr val="212121"/>
                </a:solidFill>
              </a:rPr>
              <a:t>לבנות</a:t>
            </a:r>
          </a:p>
          <a:p>
            <a:pPr rtl="1" algn="ctr" marL="0" indent="0">
              <a:lnSpc>
                <a:spcPct val="105000"/>
              </a:lnSpc>
              <a:spcBef>
                <a:spcPts val="0"/>
              </a:spcBef>
              <a:spcAft>
                <a:spcPts val="0"/>
              </a:spcAft>
              <a:buNone/>
            </a:pPr>
            <a:r>
              <a:rPr sz="1200" b="0" i="0" lang="he-IL">
                <a:solidFill>
                  <a:srgbClr val="595959"/>
                </a:solidFill>
              </a:rPr>
              <a:t>כלים, סוכנים, Git, API ונתונים</a:t>
            </a:r>
          </a:p>
        </p:txBody>
      </p:sp>
      <p:sp>
        <p:nvSpPr>
          <p:cNvPr id="8" name="Rounded Rectangle 7"/>
          <p:cNvSpPr/>
          <p:nvPr/>
        </p:nvSpPr>
        <p:spPr>
          <a:xfrm>
            <a:off x="274320" y="1783080"/>
            <a:ext cx="2011680" cy="2971800"/>
          </a:xfrm>
          <a:prstGeom prst="roundRect">
            <a:avLst>
              <a:gd name="adj" fmla="val 12000"/>
            </a:avLst>
          </a:prstGeom>
          <a:solidFill>
            <a:srgbClr val="E1F4E6"/>
          </a:solidFill>
          <a:ln w="31750">
            <a:solidFill>
              <a:srgbClr val="34A853"/>
            </a:solidFill>
          </a:ln>
        </p:spPr>
        <p:txBody>
          <a:bodyPr rtlCol="0" anchor="t" wrap="square" lIns="73152" rIns="73152" tIns="73152" bIns="73152">
            <a:noAutofit/>
          </a:bodyPr>
          <a:lstStyle/>
          <a:p>
            <a:pPr rtl="1" algn="ctr" marL="0" indent="0">
              <a:lnSpc>
                <a:spcPct val="105000"/>
              </a:lnSpc>
              <a:spcBef>
                <a:spcPts val="0"/>
              </a:spcBef>
              <a:spcAft>
                <a:spcPts val="0"/>
              </a:spcAft>
              <a:buNone/>
            </a:pPr>
            <a:r>
              <a:rPr sz="1400" b="1" i="0" lang="he-IL">
                <a:solidFill>
                  <a:srgbClr val="34A853"/>
                </a:solidFill>
              </a:rPr>
              <a:t>מפגשים 8‎–‎12</a:t>
            </a:r>
          </a:p>
          <a:p>
            <a:pPr rtl="1" algn="ctr" marL="0" indent="0">
              <a:lnSpc>
                <a:spcPct val="105000"/>
              </a:lnSpc>
              <a:spcBef>
                <a:spcPts val="0"/>
              </a:spcBef>
              <a:spcAft>
                <a:spcPts val="0"/>
              </a:spcAft>
              <a:buNone/>
            </a:pPr>
            <a:r>
              <a:rPr sz="2000" b="1" i="0" lang="he-IL">
                <a:solidFill>
                  <a:srgbClr val="212121"/>
                </a:solidFill>
              </a:rPr>
              <a:t>לאמת ולשחרר</a:t>
            </a:r>
          </a:p>
          <a:p>
            <a:pPr rtl="1" algn="ctr" marL="0" indent="0">
              <a:lnSpc>
                <a:spcPct val="105000"/>
              </a:lnSpc>
              <a:spcBef>
                <a:spcPts val="0"/>
              </a:spcBef>
              <a:spcAft>
                <a:spcPts val="0"/>
              </a:spcAft>
              <a:buNone/>
            </a:pPr>
            <a:r>
              <a:rPr sz="1200" b="0" i="0" lang="he-IL">
                <a:solidFill>
                  <a:srgbClr val="595959"/>
                </a:solidFill>
              </a:rPr>
              <a:t>בדיקות, דיבוג, אבטחה, ארכיטקטורה ופריסה</a:t>
            </a:r>
          </a:p>
        </p:txBody>
      </p:sp>
      <p:sp>
        <p:nvSpPr>
          <p:cNvPr id="9" name="TextBox 8"/>
          <p:cNvSpPr txBox="1"/>
          <p:nvPr/>
        </p:nvSpPr>
        <p:spPr>
          <a:xfrm>
            <a:off x="365760" y="1280160"/>
            <a:ext cx="4572000" cy="7315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800" b="1" i="0" lang="he-IL">
                <a:solidFill>
                  <a:srgbClr val="4285F4"/>
                </a:solidFill>
              </a:rPr>
              <a:t>מהבנה לאחריות: ארבעה שלבים.</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א׳ :</a:t>
            </a:r>
            <a:r>
              <a:rPr sz="3000" b="1" i="0" lang="he-IL">
                <a:solidFill>
                  <a:srgbClr val="212121"/>
                </a:solidFill>
              </a:rPr>
              <a:t>מפגשים 1 עד 4: הבסיס</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17320"/>
            <a:ext cx="4114800" cy="1463040"/>
          </a:xfrm>
          <a:prstGeom prst="roundRect">
            <a:avLst>
              <a:gd name="adj" fmla="val 6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77240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7" name="TextBox 6"/>
          <p:cNvSpPr txBox="1"/>
          <p:nvPr/>
        </p:nvSpPr>
        <p:spPr>
          <a:xfrm>
            <a:off x="4754879"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1: Vibe Coding</a:t>
            </a:r>
          </a:p>
        </p:txBody>
      </p:sp>
      <p:sp>
        <p:nvSpPr>
          <p:cNvPr id="8" name="TextBox 7"/>
          <p:cNvSpPr txBox="1"/>
          <p:nvPr/>
        </p:nvSpPr>
        <p:spPr>
          <a:xfrm>
            <a:off x="4754879"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מודל מנבא טוקן. ג׳וניור מוכשר: סומכים, אבל בודקים.</a:t>
            </a:r>
          </a:p>
        </p:txBody>
      </p:sp>
      <p:sp>
        <p:nvSpPr>
          <p:cNvPr id="9" name="Rounded Rectangle 8"/>
          <p:cNvSpPr/>
          <p:nvPr/>
        </p:nvSpPr>
        <p:spPr>
          <a:xfrm>
            <a:off x="365760" y="1417320"/>
            <a:ext cx="4114800" cy="1463040"/>
          </a:xfrm>
          <a:prstGeom prst="roundRect">
            <a:avLst>
              <a:gd name="adj" fmla="val 6000"/>
            </a:avLst>
          </a:prstGeom>
          <a:solidFill>
            <a:srgbClr val="DDF2F5"/>
          </a:solidFill>
          <a:ln w="25400">
            <a:solidFill>
              <a:srgbClr val="0097A7"/>
            </a:solidFill>
          </a:ln>
        </p:spPr>
        <p:txBody>
          <a:bodyPr rtlCol="0" anchor="ctr" wrap="square" lIns="73152" rIns="73152" tIns="73152" bIns="73152">
            <a:noAutofit/>
          </a:bodyPr>
          <a:lstStyle/>
          <a:p>
            <a:pPr algn="ctr"/>
          </a:p>
        </p:txBody>
      </p:sp>
      <p:sp>
        <p:nvSpPr>
          <p:cNvPr id="10" name="TextBox 9"/>
          <p:cNvSpPr txBox="1"/>
          <p:nvPr/>
        </p:nvSpPr>
        <p:spPr>
          <a:xfrm>
            <a:off x="347472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1" name="TextBox 10"/>
          <p:cNvSpPr txBox="1"/>
          <p:nvPr/>
        </p:nvSpPr>
        <p:spPr>
          <a:xfrm>
            <a:off x="457200"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2: איך המודל עובד</a:t>
            </a:r>
          </a:p>
        </p:txBody>
      </p:sp>
      <p:sp>
        <p:nvSpPr>
          <p:cNvPr id="12" name="TextBox 11"/>
          <p:cNvSpPr txBox="1"/>
          <p:nvPr/>
        </p:nvSpPr>
        <p:spPr>
          <a:xfrm>
            <a:off x="457200"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טוקנים, הקשר, טמפרטורה והזיות (5 סוגים).</a:t>
            </a:r>
          </a:p>
        </p:txBody>
      </p:sp>
      <p:sp>
        <p:nvSpPr>
          <p:cNvPr id="13" name="Rounded Rectangle 12"/>
          <p:cNvSpPr/>
          <p:nvPr/>
        </p:nvSpPr>
        <p:spPr>
          <a:xfrm>
            <a:off x="4663440" y="3063240"/>
            <a:ext cx="4114800" cy="1463040"/>
          </a:xfrm>
          <a:prstGeom prst="roundRect">
            <a:avLst>
              <a:gd name="adj" fmla="val 6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4" name="TextBox 13"/>
          <p:cNvSpPr txBox="1"/>
          <p:nvPr/>
        </p:nvSpPr>
        <p:spPr>
          <a:xfrm>
            <a:off x="777240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5" name="TextBox 14"/>
          <p:cNvSpPr txBox="1"/>
          <p:nvPr/>
        </p:nvSpPr>
        <p:spPr>
          <a:xfrm>
            <a:off x="4754879"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3: פרומפטים</a:t>
            </a:r>
          </a:p>
        </p:txBody>
      </p:sp>
      <p:sp>
        <p:nvSpPr>
          <p:cNvPr id="16" name="TextBox 15"/>
          <p:cNvSpPr txBox="1"/>
          <p:nvPr/>
        </p:nvSpPr>
        <p:spPr>
          <a:xfrm>
            <a:off x="4754879"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מבנה, פירוק משימות ודוגמאות few-shot.</a:t>
            </a:r>
          </a:p>
        </p:txBody>
      </p:sp>
      <p:sp>
        <p:nvSpPr>
          <p:cNvPr id="17" name="Rounded Rectangle 16"/>
          <p:cNvSpPr/>
          <p:nvPr/>
        </p:nvSpPr>
        <p:spPr>
          <a:xfrm>
            <a:off x="365760" y="3063240"/>
            <a:ext cx="4114800" cy="1463040"/>
          </a:xfrm>
          <a:prstGeom prst="roundRect">
            <a:avLst>
              <a:gd name="adj" fmla="val 6000"/>
            </a:avLst>
          </a:prstGeom>
          <a:solidFill>
            <a:srgbClr val="E1F4E6"/>
          </a:solidFill>
          <a:ln w="25400">
            <a:solidFill>
              <a:srgbClr val="34A853"/>
            </a:solidFill>
          </a:ln>
        </p:spPr>
        <p:txBody>
          <a:bodyPr rtlCol="0" anchor="ctr" wrap="square" lIns="73152" rIns="73152" tIns="73152" bIns="73152">
            <a:noAutofit/>
          </a:bodyPr>
          <a:lstStyle/>
          <a:p>
            <a:pPr algn="ctr"/>
          </a:p>
        </p:txBody>
      </p:sp>
      <p:sp>
        <p:nvSpPr>
          <p:cNvPr id="18" name="TextBox 17"/>
          <p:cNvSpPr txBox="1"/>
          <p:nvPr/>
        </p:nvSpPr>
        <p:spPr>
          <a:xfrm>
            <a:off x="347472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9" name="TextBox 18"/>
          <p:cNvSpPr txBox="1"/>
          <p:nvPr/>
        </p:nvSpPr>
        <p:spPr>
          <a:xfrm>
            <a:off x="457200"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4: הקשר</a:t>
            </a:r>
          </a:p>
        </p:txBody>
      </p:sp>
      <p:sp>
        <p:nvSpPr>
          <p:cNvPr id="20" name="TextBox 19"/>
          <p:cNvSpPr txBox="1"/>
          <p:nvPr/>
        </p:nvSpPr>
        <p:spPr>
          <a:xfrm>
            <a:off x="457200"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ניהול הקשר, קבצי הנחיה ותיעוד ל־AI.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א׳ :</a:t>
            </a:r>
            <a:r>
              <a:rPr sz="3000" b="1" i="0" lang="he-IL">
                <a:solidFill>
                  <a:srgbClr val="212121"/>
                </a:solidFill>
              </a:rPr>
              <a:t>מפגשים 5 עד 7: כלים ושירות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310896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617220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7" name="TextBox 6"/>
          <p:cNvSpPr txBox="1"/>
          <p:nvPr/>
        </p:nvSpPr>
        <p:spPr>
          <a:xfrm>
            <a:off x="626364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5: בוחרים כלי</a:t>
            </a:r>
          </a:p>
        </p:txBody>
      </p:sp>
      <p:sp>
        <p:nvSpPr>
          <p:cNvPr id="8" name="TextBox 7"/>
          <p:cNvSpPr txBox="1"/>
          <p:nvPr/>
        </p:nvSpPr>
        <p:spPr>
          <a:xfrm>
            <a:off x="6309360"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212121"/>
                </a:solidFill>
              </a:rPr>
              <a:t>צ׳אט, עוזר בעורך וסוכן CLI. בוחרים לפי משימה וסיכון.</a:t>
            </a:r>
          </a:p>
        </p:txBody>
      </p:sp>
      <p:sp>
        <p:nvSpPr>
          <p:cNvPr id="9" name="Rounded Rectangle 8"/>
          <p:cNvSpPr/>
          <p:nvPr/>
        </p:nvSpPr>
        <p:spPr>
          <a:xfrm>
            <a:off x="3246120" y="1463040"/>
            <a:ext cx="2697480" cy="310896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0" name="TextBox 9"/>
          <p:cNvSpPr txBox="1"/>
          <p:nvPr/>
        </p:nvSpPr>
        <p:spPr>
          <a:xfrm>
            <a:off x="324612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1" name="TextBox 10"/>
          <p:cNvSpPr txBox="1"/>
          <p:nvPr/>
        </p:nvSpPr>
        <p:spPr>
          <a:xfrm>
            <a:off x="333756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6: סוכן ו־Git</a:t>
            </a:r>
          </a:p>
        </p:txBody>
      </p:sp>
      <p:sp>
        <p:nvSpPr>
          <p:cNvPr id="12" name="TextBox 11"/>
          <p:cNvSpPr txBox="1"/>
          <p:nvPr/>
        </p:nvSpPr>
        <p:spPr>
          <a:xfrm>
            <a:off x="338327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212121"/>
                </a:solidFill>
              </a:rPr>
              <a:t>לולאת plan-act-observe. commit לפני, diff אחרי.</a:t>
            </a:r>
          </a:p>
        </p:txBody>
      </p:sp>
      <p:sp>
        <p:nvSpPr>
          <p:cNvPr id="13" name="Rounded Rectangle 12"/>
          <p:cNvSpPr/>
          <p:nvPr/>
        </p:nvSpPr>
        <p:spPr>
          <a:xfrm>
            <a:off x="320039" y="1463040"/>
            <a:ext cx="2697480" cy="3108960"/>
          </a:xfrm>
          <a:prstGeom prst="roundRect">
            <a:avLst>
              <a:gd name="adj" fmla="val 6000"/>
            </a:avLst>
          </a:prstGeom>
          <a:solidFill>
            <a:srgbClr val="E1F4E6"/>
          </a:solidFill>
          <a:ln w="31750">
            <a:solidFill>
              <a:srgbClr val="34A853"/>
            </a:solidFill>
          </a:ln>
        </p:spPr>
        <p:txBody>
          <a:bodyPr rtlCol="0" anchor="ctr" wrap="square" lIns="73152" rIns="73152" tIns="73152" bIns="73152">
            <a:noAutofit/>
          </a:bodyPr>
          <a:lstStyle/>
          <a:p>
            <a:pPr algn="ctr"/>
          </a:p>
        </p:txBody>
      </p:sp>
      <p:sp>
        <p:nvSpPr>
          <p:cNvPr id="14" name="TextBox 13"/>
          <p:cNvSpPr txBox="1"/>
          <p:nvPr/>
        </p:nvSpPr>
        <p:spPr>
          <a:xfrm>
            <a:off x="320039"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5" name="TextBox 14"/>
          <p:cNvSpPr txBox="1"/>
          <p:nvPr/>
        </p:nvSpPr>
        <p:spPr>
          <a:xfrm>
            <a:off x="411479"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7: מ־API לשירות</a:t>
            </a:r>
          </a:p>
        </p:txBody>
      </p:sp>
      <p:sp>
        <p:nvSpPr>
          <p:cNvPr id="16" name="TextBox 15"/>
          <p:cNvSpPr txBox="1"/>
          <p:nvPr/>
        </p:nvSpPr>
        <p:spPr>
          <a:xfrm>
            <a:off x="45719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212121"/>
                </a:solidFill>
              </a:rPr>
              <a:t>HTTP, OpenAPI, SQL, Docker ותור עובדים למודל.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א׳ :</a:t>
            </a:r>
            <a:r>
              <a:rPr sz="3000" b="1" i="0" lang="he-IL">
                <a:solidFill>
                  <a:srgbClr val="212121"/>
                </a:solidFill>
              </a:rPr>
              <a:t>מפגשים 8 עד 12: איכות ואחריות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7132320" y="1554480"/>
            <a:ext cx="1600200" cy="3017520"/>
          </a:xfrm>
          <a:prstGeom prst="roundRect">
            <a:avLst>
              <a:gd name="adj" fmla="val 12000"/>
            </a:avLst>
          </a:prstGeom>
          <a:solidFill>
            <a:srgbClr val="E3EEFF"/>
          </a:solidFill>
          <a:ln w="31750">
            <a:solidFill>
              <a:srgbClr val="4285F4"/>
            </a:solidFill>
          </a:ln>
        </p:spPr>
        <p:txBody>
          <a:bodyPr rtlCol="0" anchor="t" wrap="square" lIns="73152" rIns="73152" tIns="73152" bIns="73152">
            <a:noAutofit/>
          </a:bodyPr>
          <a:lstStyle/>
          <a:p>
            <a:pPr rtl="1" algn="ctr" marL="0" indent="0">
              <a:lnSpc>
                <a:spcPct val="105000"/>
              </a:lnSpc>
              <a:spcBef>
                <a:spcPts val="0"/>
              </a:spcBef>
              <a:spcAft>
                <a:spcPts val="0"/>
              </a:spcAft>
              <a:buNone/>
            </a:pPr>
            <a:r>
              <a:rPr sz="3000" b="0" i="0" lang="he-IL">
                <a:solidFill>
                  <a:srgbClr val="212121"/>
                </a:solidFill>
              </a:rPr>
              <a:t>🧪</a:t>
            </a:r>
          </a:p>
          <a:p>
            <a:pPr rtl="1" algn="ctr" marL="0" indent="0">
              <a:lnSpc>
                <a:spcPct val="105000"/>
              </a:lnSpc>
              <a:spcBef>
                <a:spcPts val="0"/>
              </a:spcBef>
              <a:spcAft>
                <a:spcPts val="0"/>
              </a:spcAft>
              <a:buNone/>
            </a:pPr>
            <a:r>
              <a:rPr sz="1500" b="1" i="0" lang="he-IL">
                <a:solidFill>
                  <a:srgbClr val="212121"/>
                </a:solidFill>
              </a:rPr>
              <a:t>8: בדיקות</a:t>
            </a:r>
          </a:p>
          <a:p>
            <a:pPr rtl="1" algn="ctr" marL="0" indent="0">
              <a:lnSpc>
                <a:spcPct val="105000"/>
              </a:lnSpc>
              <a:spcBef>
                <a:spcPts val="0"/>
              </a:spcBef>
              <a:spcAft>
                <a:spcPts val="0"/>
              </a:spcAft>
              <a:buNone/>
            </a:pPr>
            <a:r>
              <a:rPr sz="1200" b="0" i="0" lang="he-IL">
                <a:solidFill>
                  <a:srgbClr val="595959"/>
                </a:solidFill>
              </a:rPr>
              <a:t>TDD וסקירת שינוי של סוכן</a:t>
            </a:r>
          </a:p>
        </p:txBody>
      </p:sp>
      <p:sp>
        <p:nvSpPr>
          <p:cNvPr id="6" name="Rounded Rectangle 5"/>
          <p:cNvSpPr/>
          <p:nvPr/>
        </p:nvSpPr>
        <p:spPr>
          <a:xfrm>
            <a:off x="5394960" y="1554480"/>
            <a:ext cx="1600200" cy="3017520"/>
          </a:xfrm>
          <a:prstGeom prst="roundRect">
            <a:avLst>
              <a:gd name="adj" fmla="val 12000"/>
            </a:avLst>
          </a:prstGeom>
          <a:solidFill>
            <a:srgbClr val="FDE3E0"/>
          </a:solidFill>
          <a:ln w="31750">
            <a:solidFill>
              <a:srgbClr val="EA4335"/>
            </a:solidFill>
          </a:ln>
        </p:spPr>
        <p:txBody>
          <a:bodyPr rtlCol="0" anchor="t" wrap="square" lIns="73152" rIns="73152" tIns="73152" bIns="73152">
            <a:noAutofit/>
          </a:bodyPr>
          <a:lstStyle/>
          <a:p>
            <a:pPr rtl="1" algn="ctr" marL="0" indent="0">
              <a:lnSpc>
                <a:spcPct val="105000"/>
              </a:lnSpc>
              <a:spcBef>
                <a:spcPts val="0"/>
              </a:spcBef>
              <a:spcAft>
                <a:spcPts val="0"/>
              </a:spcAft>
              <a:buNone/>
            </a:pPr>
            <a:r>
              <a:rPr sz="3000" b="0" i="0" lang="he-IL">
                <a:solidFill>
                  <a:srgbClr val="212121"/>
                </a:solidFill>
              </a:rPr>
              <a:t>🐞</a:t>
            </a:r>
          </a:p>
          <a:p>
            <a:pPr rtl="1" algn="ctr" marL="0" indent="0">
              <a:lnSpc>
                <a:spcPct val="105000"/>
              </a:lnSpc>
              <a:spcBef>
                <a:spcPts val="0"/>
              </a:spcBef>
              <a:spcAft>
                <a:spcPts val="0"/>
              </a:spcAft>
              <a:buNone/>
            </a:pPr>
            <a:r>
              <a:rPr sz="1500" b="1" i="0" lang="he-IL">
                <a:solidFill>
                  <a:srgbClr val="212121"/>
                </a:solidFill>
              </a:rPr>
              <a:t>9: דיבוג</a:t>
            </a:r>
          </a:p>
          <a:p>
            <a:pPr rtl="1" algn="ctr" marL="0" indent="0">
              <a:lnSpc>
                <a:spcPct val="105000"/>
              </a:lnSpc>
              <a:spcBef>
                <a:spcPts val="0"/>
              </a:spcBef>
              <a:spcAft>
                <a:spcPts val="0"/>
              </a:spcAft>
              <a:buNone/>
            </a:pPr>
            <a:r>
              <a:rPr sz="1200" b="0" i="0" lang="he-IL">
                <a:solidFill>
                  <a:srgbClr val="595959"/>
                </a:solidFill>
              </a:rPr>
              <a:t>שחזור, שורש ובדיקת רגרסיה</a:t>
            </a:r>
          </a:p>
        </p:txBody>
      </p:sp>
      <p:sp>
        <p:nvSpPr>
          <p:cNvPr id="7" name="Rounded Rectangle 6"/>
          <p:cNvSpPr/>
          <p:nvPr/>
        </p:nvSpPr>
        <p:spPr>
          <a:xfrm>
            <a:off x="3657600" y="1554480"/>
            <a:ext cx="1600200" cy="3017520"/>
          </a:xfrm>
          <a:prstGeom prst="roundRect">
            <a:avLst>
              <a:gd name="adj" fmla="val 12000"/>
            </a:avLst>
          </a:prstGeom>
          <a:solidFill>
            <a:srgbClr val="FFF0D9"/>
          </a:solidFill>
          <a:ln w="31750">
            <a:solidFill>
              <a:srgbClr val="FFAB40"/>
            </a:solidFill>
          </a:ln>
        </p:spPr>
        <p:txBody>
          <a:bodyPr rtlCol="0" anchor="t" wrap="square" lIns="73152" rIns="73152" tIns="73152" bIns="73152">
            <a:noAutofit/>
          </a:bodyPr>
          <a:lstStyle/>
          <a:p>
            <a:pPr rtl="1" algn="ctr" marL="0" indent="0">
              <a:lnSpc>
                <a:spcPct val="105000"/>
              </a:lnSpc>
              <a:spcBef>
                <a:spcPts val="0"/>
              </a:spcBef>
              <a:spcAft>
                <a:spcPts val="0"/>
              </a:spcAft>
              <a:buNone/>
            </a:pPr>
            <a:r>
              <a:rPr sz="3000" b="0" i="0" lang="he-IL">
                <a:solidFill>
                  <a:srgbClr val="212121"/>
                </a:solidFill>
              </a:rPr>
              <a:t>🔐</a:t>
            </a:r>
          </a:p>
          <a:p>
            <a:pPr rtl="1" algn="ctr" marL="0" indent="0">
              <a:lnSpc>
                <a:spcPct val="105000"/>
              </a:lnSpc>
              <a:spcBef>
                <a:spcPts val="0"/>
              </a:spcBef>
              <a:spcAft>
                <a:spcPts val="0"/>
              </a:spcAft>
              <a:buNone/>
            </a:pPr>
            <a:r>
              <a:rPr sz="1500" b="1" i="0" lang="he-IL">
                <a:solidFill>
                  <a:srgbClr val="212121"/>
                </a:solidFill>
              </a:rPr>
              <a:t>10: אבטחה</a:t>
            </a:r>
          </a:p>
          <a:p>
            <a:pPr rtl="1" algn="ctr" marL="0" indent="0">
              <a:lnSpc>
                <a:spcPct val="105000"/>
              </a:lnSpc>
              <a:spcBef>
                <a:spcPts val="0"/>
              </a:spcBef>
              <a:spcAft>
                <a:spcPts val="0"/>
              </a:spcAft>
              <a:buNone/>
            </a:pPr>
            <a:r>
              <a:rPr sz="1200" b="0" i="0" lang="he-IL">
                <a:solidFill>
                  <a:srgbClr val="595959"/>
                </a:solidFill>
              </a:rPr>
              <a:t>סודות, SQL והזרקת פרומפט</a:t>
            </a:r>
          </a:p>
        </p:txBody>
      </p:sp>
      <p:sp>
        <p:nvSpPr>
          <p:cNvPr id="8" name="Rounded Rectangle 7"/>
          <p:cNvSpPr/>
          <p:nvPr/>
        </p:nvSpPr>
        <p:spPr>
          <a:xfrm>
            <a:off x="1920240" y="1554480"/>
            <a:ext cx="1600200" cy="3017520"/>
          </a:xfrm>
          <a:prstGeom prst="roundRect">
            <a:avLst>
              <a:gd name="adj" fmla="val 12000"/>
            </a:avLst>
          </a:prstGeom>
          <a:solidFill>
            <a:srgbClr val="DDF2F5"/>
          </a:solidFill>
          <a:ln w="31750">
            <a:solidFill>
              <a:srgbClr val="0097A7"/>
            </a:solidFill>
          </a:ln>
        </p:spPr>
        <p:txBody>
          <a:bodyPr rtlCol="0" anchor="t" wrap="square" lIns="73152" rIns="73152" tIns="73152" bIns="73152">
            <a:noAutofit/>
          </a:bodyPr>
          <a:lstStyle/>
          <a:p>
            <a:pPr rtl="1" algn="ctr" marL="0" indent="0">
              <a:lnSpc>
                <a:spcPct val="105000"/>
              </a:lnSpc>
              <a:spcBef>
                <a:spcPts val="0"/>
              </a:spcBef>
              <a:spcAft>
                <a:spcPts val="0"/>
              </a:spcAft>
              <a:buNone/>
            </a:pPr>
            <a:r>
              <a:rPr sz="3000" b="0" i="0" lang="he-IL">
                <a:solidFill>
                  <a:srgbClr val="212121"/>
                </a:solidFill>
              </a:rPr>
              <a:t>🧱</a:t>
            </a:r>
          </a:p>
          <a:p>
            <a:pPr rtl="1" algn="ctr" marL="0" indent="0">
              <a:lnSpc>
                <a:spcPct val="105000"/>
              </a:lnSpc>
              <a:spcBef>
                <a:spcPts val="0"/>
              </a:spcBef>
              <a:spcAft>
                <a:spcPts val="0"/>
              </a:spcAft>
              <a:buNone/>
            </a:pPr>
            <a:r>
              <a:rPr sz="1500" b="1" i="0" lang="he-IL">
                <a:solidFill>
                  <a:srgbClr val="212121"/>
                </a:solidFill>
              </a:rPr>
              <a:t>11: ארכיטקטורה</a:t>
            </a:r>
          </a:p>
          <a:p>
            <a:pPr rtl="1" algn="ctr" marL="0" indent="0">
              <a:lnSpc>
                <a:spcPct val="105000"/>
              </a:lnSpc>
              <a:spcBef>
                <a:spcPts val="0"/>
              </a:spcBef>
              <a:spcAft>
                <a:spcPts val="0"/>
              </a:spcAft>
              <a:buNone/>
            </a:pPr>
            <a:r>
              <a:rPr sz="1200" b="0" i="0" lang="he-IL">
                <a:solidFill>
                  <a:srgbClr val="595959"/>
                </a:solidFill>
              </a:rPr>
              <a:t>Refactoring והעברת קוד</a:t>
            </a:r>
          </a:p>
        </p:txBody>
      </p:sp>
      <p:sp>
        <p:nvSpPr>
          <p:cNvPr id="9" name="Rounded Rectangle 8"/>
          <p:cNvSpPr/>
          <p:nvPr/>
        </p:nvSpPr>
        <p:spPr>
          <a:xfrm>
            <a:off x="182880" y="1554480"/>
            <a:ext cx="1600200" cy="3017520"/>
          </a:xfrm>
          <a:prstGeom prst="roundRect">
            <a:avLst>
              <a:gd name="adj" fmla="val 12000"/>
            </a:avLst>
          </a:prstGeom>
          <a:solidFill>
            <a:srgbClr val="E1F4E6"/>
          </a:solidFill>
          <a:ln w="31750">
            <a:solidFill>
              <a:srgbClr val="34A853"/>
            </a:solidFill>
          </a:ln>
        </p:spPr>
        <p:txBody>
          <a:bodyPr rtlCol="0" anchor="t" wrap="square" lIns="73152" rIns="73152" tIns="73152" bIns="73152">
            <a:noAutofit/>
          </a:bodyPr>
          <a:lstStyle/>
          <a:p>
            <a:pPr rtl="1" algn="ctr" marL="0" indent="0">
              <a:lnSpc>
                <a:spcPct val="105000"/>
              </a:lnSpc>
              <a:spcBef>
                <a:spcPts val="0"/>
              </a:spcBef>
              <a:spcAft>
                <a:spcPts val="0"/>
              </a:spcAft>
              <a:buNone/>
            </a:pPr>
            <a:r>
              <a:rPr sz="3000" b="0" i="0" lang="he-IL">
                <a:solidFill>
                  <a:srgbClr val="212121"/>
                </a:solidFill>
              </a:rPr>
              <a:t>🚀</a:t>
            </a:r>
          </a:p>
          <a:p>
            <a:pPr rtl="1" algn="ctr" marL="0" indent="0">
              <a:lnSpc>
                <a:spcPct val="105000"/>
              </a:lnSpc>
              <a:spcBef>
                <a:spcPts val="0"/>
              </a:spcBef>
              <a:spcAft>
                <a:spcPts val="0"/>
              </a:spcAft>
              <a:buNone/>
            </a:pPr>
            <a:r>
              <a:rPr sz="1500" b="1" i="0" lang="he-IL">
                <a:solidFill>
                  <a:srgbClr val="212121"/>
                </a:solidFill>
              </a:rPr>
              <a:t>12: פריסה ואחריות</a:t>
            </a:r>
          </a:p>
          <a:p>
            <a:pPr rtl="1" algn="ctr" marL="0" indent="0">
              <a:lnSpc>
                <a:spcPct val="105000"/>
              </a:lnSpc>
              <a:spcBef>
                <a:spcPts val="0"/>
              </a:spcBef>
              <a:spcAft>
                <a:spcPts val="0"/>
              </a:spcAft>
              <a:buNone/>
            </a:pPr>
            <a:r>
              <a:rPr sz="1200" b="0" i="0" lang="he-IL">
                <a:solidFill>
                  <a:srgbClr val="595959"/>
                </a:solidFill>
              </a:rPr>
              <a:t>צ׳קליסט, רישיונות ומדיניות</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א׳ :</a:t>
            </a:r>
            <a:r>
              <a:rPr sz="3000" b="1" i="0" lang="he-IL">
                <a:solidFill>
                  <a:srgbClr val="212121"/>
                </a:solidFill>
              </a:rPr>
              <a:t>מושגי יסוד: מפגשים 1 עד 6</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280160"/>
          <a:ext cx="8412480" cy="2688336"/>
        </p:xfrm>
        <a:graphic>
          <a:graphicData uri="http://schemas.openxmlformats.org/drawingml/2006/table">
            <a:tbl>
              <a:tblPr firstRow="0" bandRow="0">
                <a:tableStyleId>{2D5ABB26-0587-4C30-8999-92F81FD0307C}</a:tableStyleId>
              </a:tblPr>
              <a:tblGrid>
                <a:gridCol w="5600000"/>
                <a:gridCol w="2812480"/>
              </a:tblGrid>
              <a:tr h="384048">
                <a:tc>
                  <a:txBody>
                    <a:bodyPr wrap="square"/>
                    <a:lstStyle/>
                    <a:p>
                      <a:pPr rtl="1" algn="ctr" marL="0" indent="0">
                        <a:lnSpc>
                          <a:spcPct val="100000"/>
                        </a:lnSpc>
                        <a:spcBef>
                          <a:spcPts val="0"/>
                        </a:spcBef>
                        <a:spcAft>
                          <a:spcPts val="0"/>
                        </a:spcAft>
                        <a:buNone/>
                      </a:pPr>
                      <a:r>
                        <a:rPr sz="1300" b="1" i="0" lang="he-IL">
                          <a:solidFill>
                            <a:srgbClr val="212121"/>
                          </a:solidFill>
                        </a:rPr>
                        <a:t>מושגי יסוד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300" b="1" i="0" lang="he-IL">
                          <a:solidFill>
                            <a:srgbClr val="212121"/>
                          </a:solidFill>
                        </a:rPr>
                        <a:t>מפגש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מנבא טוקן, מקרה קצה, הזיה, ג׳וניור מוכשר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1: Vibe Coding</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טוקן, embedding, attention, טמפרטורה, חלון הקשר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2: איך המודל עובד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מבנה פרומפט, פירוק משימות, few-shot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3: פרומפטים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ניהול הקשר, קבצי הנחיה, תיעוד ל־AI</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4: הקשר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שלוש משפחות כלים, מודל + מעטפת, 5 קריטריונים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5: בוחרים כלי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plan-act-observe, Tool Use, RAG, commit, diff</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6: סוכן ו־Git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א׳ :</a:t>
            </a:r>
            <a:r>
              <a:rPr sz="3000" b="1" i="0" lang="he-IL">
                <a:solidFill>
                  <a:srgbClr val="212121"/>
                </a:solidFill>
              </a:rPr>
              <a:t>מושגי יסוד: מפגשים 7 עד 12</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280160"/>
          <a:ext cx="8412480" cy="2688336"/>
        </p:xfrm>
        <a:graphic>
          <a:graphicData uri="http://schemas.openxmlformats.org/drawingml/2006/table">
            <a:tbl>
              <a:tblPr firstRow="0" bandRow="0">
                <a:tableStyleId>{2D5ABB26-0587-4C30-8999-92F81FD0307C}</a:tableStyleId>
              </a:tblPr>
              <a:tblGrid>
                <a:gridCol w="5600000"/>
                <a:gridCol w="2812480"/>
              </a:tblGrid>
              <a:tr h="384048">
                <a:tc>
                  <a:txBody>
                    <a:bodyPr wrap="square"/>
                    <a:lstStyle/>
                    <a:p>
                      <a:pPr rtl="1" algn="ctr" marL="0" indent="0">
                        <a:lnSpc>
                          <a:spcPct val="100000"/>
                        </a:lnSpc>
                        <a:spcBef>
                          <a:spcPts val="0"/>
                        </a:spcBef>
                        <a:spcAft>
                          <a:spcPts val="0"/>
                        </a:spcAft>
                        <a:buNone/>
                      </a:pPr>
                      <a:r>
                        <a:rPr sz="1300" b="1" i="0" lang="he-IL">
                          <a:solidFill>
                            <a:srgbClr val="212121"/>
                          </a:solidFill>
                        </a:rPr>
                        <a:t>מושגי יסוד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300" b="1" i="0" lang="he-IL">
                          <a:solidFill>
                            <a:srgbClr val="212121"/>
                          </a:solidFill>
                        </a:rPr>
                        <a:t>מפגש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HTTP, OpenAPI כחוזה, SQL, Docker, תור ועובד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7: מ־API לשירות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אנטומיית בדיקה, TDD, בדיקת מוטציות, סקירת diff</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8: בדיקות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7 צעדי דיבוג, Traceback, באג שקט, רגרסיה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9: דיבוג</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סודות, הזרקת SQL, הזרקת פרומפט, שכבות הגנה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10: אבטחה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ריחות קוד, צעד קטן, שלוש שכבות, מסמך העברה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11: ארכיטקטורה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CI, חזרה אחורה, ניטור, רישיונות, פרטיות, מדיניות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12: פריסה ואחריות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א׳ :</a:t>
            </a:r>
            <a:r>
              <a:rPr sz="3000" b="1" i="0" lang="he-IL">
                <a:solidFill>
                  <a:srgbClr val="212121"/>
                </a:solidFill>
              </a:rPr>
              <a:t>כלל אחד לכל מפגש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280160"/>
          <a:ext cx="8412480" cy="3456432"/>
        </p:xfrm>
        <a:graphic>
          <a:graphicData uri="http://schemas.openxmlformats.org/drawingml/2006/table">
            <a:tbl>
              <a:tblPr firstRow="0" bandRow="0">
                <a:tableStyleId>{2D5ABB26-0587-4C30-8999-92F81FD0307C}</a:tableStyleId>
              </a:tblPr>
              <a:tblGrid>
                <a:gridCol w="7315200"/>
                <a:gridCol w="1097280"/>
              </a:tblGrid>
              <a:tr h="384048">
                <a:tc>
                  <a:txBody>
                    <a:bodyPr wrap="square"/>
                    <a:lstStyle/>
                    <a:p>
                      <a:pPr rtl="1" algn="ctr" marL="0" indent="0">
                        <a:lnSpc>
                          <a:spcPct val="100000"/>
                        </a:lnSpc>
                        <a:spcBef>
                          <a:spcPts val="0"/>
                        </a:spcBef>
                        <a:spcAft>
                          <a:spcPts val="0"/>
                        </a:spcAft>
                        <a:buNone/>
                      </a:pPr>
                      <a:r>
                        <a:rPr sz="1300" b="1" i="0" lang="he-IL">
                          <a:solidFill>
                            <a:srgbClr val="212121"/>
                          </a:solidFill>
                        </a:rPr>
                        <a:t>הכלל</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300" b="1" i="0" lang="he-IL">
                          <a:solidFill>
                            <a:srgbClr val="212121"/>
                          </a:solidFill>
                        </a:rPr>
                        <a:t>מפגש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בוחרים כלי לפי המשימה והסיכון, לא לפי הרעש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לפני שהסוכן פועל: commit. אחרי: קוראים diff</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6</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החוזה קודם: מה נכנס, מה יוצא, ומה נחשב נכון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7</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קוד בלי בדיקה הוא השערה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8</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לא מתקנים סימפטום: שורש ובדיקת רגרסיה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9</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קלט חיצוני לא מהימן, וסוד נשאר מחוץ לקוד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10</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משנים מבנה רק כשהבדיקות ירוקות, בצעדים קטנים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11</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בודקים, מתעדים ומודיעים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12</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א׳ :</a:t>
            </a:r>
            <a:r>
              <a:rPr sz="3000" b="1" i="0" lang="he-IL">
                <a:solidFill>
                  <a:srgbClr val="212121"/>
                </a:solidFill>
              </a:rPr>
              <a:t>תהליך העבודה המלא</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886200" y="1444752"/>
            <a:ext cx="1371600" cy="585216"/>
          </a:xfrm>
          <a:prstGeom prst="roundRect">
            <a:avLst>
              <a:gd name="adj" fmla="val 12000"/>
            </a:avLst>
          </a:prstGeom>
          <a:solidFill>
            <a:srgbClr val="E3EEFF"/>
          </a:solidFill>
          <a:ln w="25400">
            <a:solidFill>
              <a:srgbClr val="4285F4"/>
            </a:solid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212121"/>
                </a:solidFill>
              </a:rPr>
              <a:t>מפרט וחוזה</a:t>
            </a:r>
          </a:p>
          <a:p>
            <a:pPr rtl="1" algn="ctr" marL="0" indent="0">
              <a:lnSpc>
                <a:spcPct val="105000"/>
              </a:lnSpc>
              <a:spcBef>
                <a:spcPts val="0"/>
              </a:spcBef>
              <a:spcAft>
                <a:spcPts val="0"/>
              </a:spcAft>
              <a:buNone/>
            </a:pPr>
            <a:r>
              <a:rPr sz="1200" b="0" i="0" lang="he-IL">
                <a:solidFill>
                  <a:srgbClr val="595959"/>
                </a:solidFill>
              </a:rPr>
              <a:t>מפגש 7</a:t>
            </a:r>
          </a:p>
        </p:txBody>
      </p:sp>
      <p:sp>
        <p:nvSpPr>
          <p:cNvPr id="6" name="Rounded Rectangle 5"/>
          <p:cNvSpPr/>
          <p:nvPr/>
        </p:nvSpPr>
        <p:spPr>
          <a:xfrm>
            <a:off x="2112546" y="1697972"/>
            <a:ext cx="1371600" cy="585216"/>
          </a:xfrm>
          <a:prstGeom prst="roundRect">
            <a:avLst>
              <a:gd name="adj" fmla="val 12000"/>
            </a:avLst>
          </a:prstGeom>
          <a:solidFill>
            <a:srgbClr val="DDF2F5"/>
          </a:solidFill>
          <a:ln w="25400">
            <a:solidFill>
              <a:srgbClr val="0097A7"/>
            </a:solid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212121"/>
                </a:solidFill>
              </a:rPr>
              <a:t>הקשר</a:t>
            </a:r>
          </a:p>
          <a:p>
            <a:pPr rtl="1" algn="ctr" marL="0" indent="0">
              <a:lnSpc>
                <a:spcPct val="105000"/>
              </a:lnSpc>
              <a:spcBef>
                <a:spcPts val="0"/>
              </a:spcBef>
              <a:spcAft>
                <a:spcPts val="0"/>
              </a:spcAft>
              <a:buNone/>
            </a:pPr>
            <a:r>
              <a:rPr sz="1200" b="0" i="0" lang="he-IL">
                <a:solidFill>
                  <a:srgbClr val="595959"/>
                </a:solidFill>
              </a:rPr>
              <a:t>מפגש 4</a:t>
            </a:r>
          </a:p>
        </p:txBody>
      </p:sp>
      <p:sp>
        <p:nvSpPr>
          <p:cNvPr id="7" name="Rounded Rectangle 6"/>
          <p:cNvSpPr/>
          <p:nvPr/>
        </p:nvSpPr>
        <p:spPr>
          <a:xfrm>
            <a:off x="1016367" y="2360912"/>
            <a:ext cx="1371600" cy="585216"/>
          </a:xfrm>
          <a:prstGeom prst="roundRect">
            <a:avLst>
              <a:gd name="adj" fmla="val 12000"/>
            </a:avLst>
          </a:prstGeom>
          <a:solidFill>
            <a:srgbClr val="DDF2F5"/>
          </a:solidFill>
          <a:ln w="25400">
            <a:solidFill>
              <a:srgbClr val="0097A7"/>
            </a:solid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212121"/>
                </a:solidFill>
              </a:rPr>
              <a:t>פרומפט</a:t>
            </a:r>
          </a:p>
          <a:p>
            <a:pPr rtl="1" algn="ctr" marL="0" indent="0">
              <a:lnSpc>
                <a:spcPct val="105000"/>
              </a:lnSpc>
              <a:spcBef>
                <a:spcPts val="0"/>
              </a:spcBef>
              <a:spcAft>
                <a:spcPts val="0"/>
              </a:spcAft>
              <a:buNone/>
            </a:pPr>
            <a:r>
              <a:rPr sz="1200" b="0" i="0" lang="he-IL">
                <a:solidFill>
                  <a:srgbClr val="595959"/>
                </a:solidFill>
              </a:rPr>
              <a:t>מפגש 3</a:t>
            </a:r>
          </a:p>
        </p:txBody>
      </p:sp>
      <p:sp>
        <p:nvSpPr>
          <p:cNvPr id="8" name="Rounded Rectangle 7"/>
          <p:cNvSpPr/>
          <p:nvPr/>
        </p:nvSpPr>
        <p:spPr>
          <a:xfrm>
            <a:off x="1016367" y="3180351"/>
            <a:ext cx="1371600" cy="585216"/>
          </a:xfrm>
          <a:prstGeom prst="roundRect">
            <a:avLst>
              <a:gd name="adj" fmla="val 12000"/>
            </a:avLst>
          </a:prstGeom>
          <a:solidFill>
            <a:srgbClr val="FFF0D9"/>
          </a:solidFill>
          <a:ln w="25400">
            <a:solidFill>
              <a:srgbClr val="FFAB40"/>
            </a:solid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212121"/>
                </a:solidFill>
              </a:rPr>
              <a:t>סוכן</a:t>
            </a:r>
          </a:p>
          <a:p>
            <a:pPr rtl="1" algn="ctr" marL="0" indent="0">
              <a:lnSpc>
                <a:spcPct val="105000"/>
              </a:lnSpc>
              <a:spcBef>
                <a:spcPts val="0"/>
              </a:spcBef>
              <a:spcAft>
                <a:spcPts val="0"/>
              </a:spcAft>
              <a:buNone/>
            </a:pPr>
            <a:r>
              <a:rPr sz="1200" b="0" i="0" lang="he-IL">
                <a:solidFill>
                  <a:srgbClr val="595959"/>
                </a:solidFill>
              </a:rPr>
              <a:t>מפגש 6</a:t>
            </a:r>
          </a:p>
        </p:txBody>
      </p:sp>
      <p:sp>
        <p:nvSpPr>
          <p:cNvPr id="9" name="Rounded Rectangle 8"/>
          <p:cNvSpPr/>
          <p:nvPr/>
        </p:nvSpPr>
        <p:spPr>
          <a:xfrm>
            <a:off x="2112546" y="3843291"/>
            <a:ext cx="1371600" cy="585216"/>
          </a:xfrm>
          <a:prstGeom prst="roundRect">
            <a:avLst>
              <a:gd name="adj" fmla="val 12000"/>
            </a:avLst>
          </a:prstGeom>
          <a:solidFill>
            <a:srgbClr val="FDE3E0"/>
          </a:solidFill>
          <a:ln w="25400">
            <a:solidFill>
              <a:srgbClr val="EA4335"/>
            </a:solid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212121"/>
                </a:solidFill>
              </a:rPr>
              <a:t>diff</a:t>
            </a:r>
          </a:p>
          <a:p>
            <a:pPr rtl="1" algn="ctr" marL="0" indent="0">
              <a:lnSpc>
                <a:spcPct val="105000"/>
              </a:lnSpc>
              <a:spcBef>
                <a:spcPts val="0"/>
              </a:spcBef>
              <a:spcAft>
                <a:spcPts val="0"/>
              </a:spcAft>
              <a:buNone/>
            </a:pPr>
            <a:r>
              <a:rPr sz="1200" b="0" i="0" lang="he-IL">
                <a:solidFill>
                  <a:srgbClr val="595959"/>
                </a:solidFill>
              </a:rPr>
              <a:t>מפגש 6/8</a:t>
            </a:r>
          </a:p>
        </p:txBody>
      </p:sp>
      <p:sp>
        <p:nvSpPr>
          <p:cNvPr id="10" name="Rounded Rectangle 9"/>
          <p:cNvSpPr/>
          <p:nvPr/>
        </p:nvSpPr>
        <p:spPr>
          <a:xfrm>
            <a:off x="3886199" y="4096511"/>
            <a:ext cx="1371600" cy="585216"/>
          </a:xfrm>
          <a:prstGeom prst="roundRect">
            <a:avLst>
              <a:gd name="adj" fmla="val 12000"/>
            </a:avLst>
          </a:prstGeom>
          <a:solidFill>
            <a:srgbClr val="E1F4E6"/>
          </a:solidFill>
          <a:ln w="25400">
            <a:solidFill>
              <a:srgbClr val="34A853"/>
            </a:solid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212121"/>
                </a:solidFill>
              </a:rPr>
              <a:t>בדיקות</a:t>
            </a:r>
          </a:p>
          <a:p>
            <a:pPr rtl="1" algn="ctr" marL="0" indent="0">
              <a:lnSpc>
                <a:spcPct val="105000"/>
              </a:lnSpc>
              <a:spcBef>
                <a:spcPts val="0"/>
              </a:spcBef>
              <a:spcAft>
                <a:spcPts val="0"/>
              </a:spcAft>
              <a:buNone/>
            </a:pPr>
            <a:r>
              <a:rPr sz="1200" b="0" i="0" lang="he-IL">
                <a:solidFill>
                  <a:srgbClr val="595959"/>
                </a:solidFill>
              </a:rPr>
              <a:t>מפגש 8</a:t>
            </a:r>
          </a:p>
        </p:txBody>
      </p:sp>
      <p:sp>
        <p:nvSpPr>
          <p:cNvPr id="11" name="Rounded Rectangle 10"/>
          <p:cNvSpPr/>
          <p:nvPr/>
        </p:nvSpPr>
        <p:spPr>
          <a:xfrm>
            <a:off x="5659853" y="3843291"/>
            <a:ext cx="1371600" cy="585216"/>
          </a:xfrm>
          <a:prstGeom prst="roundRect">
            <a:avLst>
              <a:gd name="adj" fmla="val 12000"/>
            </a:avLst>
          </a:prstGeom>
          <a:solidFill>
            <a:srgbClr val="FDE3E0"/>
          </a:solidFill>
          <a:ln w="25400">
            <a:solidFill>
              <a:srgbClr val="EA4335"/>
            </a:solid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212121"/>
                </a:solidFill>
              </a:rPr>
              <a:t>דיבוג</a:t>
            </a:r>
          </a:p>
          <a:p>
            <a:pPr rtl="1" algn="ctr" marL="0" indent="0">
              <a:lnSpc>
                <a:spcPct val="105000"/>
              </a:lnSpc>
              <a:spcBef>
                <a:spcPts val="0"/>
              </a:spcBef>
              <a:spcAft>
                <a:spcPts val="0"/>
              </a:spcAft>
              <a:buNone/>
            </a:pPr>
            <a:r>
              <a:rPr sz="1200" b="0" i="0" lang="he-IL">
                <a:solidFill>
                  <a:srgbClr val="595959"/>
                </a:solidFill>
              </a:rPr>
              <a:t>מפגש 9</a:t>
            </a:r>
          </a:p>
        </p:txBody>
      </p:sp>
      <p:sp>
        <p:nvSpPr>
          <p:cNvPr id="12" name="Rounded Rectangle 11"/>
          <p:cNvSpPr/>
          <p:nvPr/>
        </p:nvSpPr>
        <p:spPr>
          <a:xfrm>
            <a:off x="6756032" y="3180351"/>
            <a:ext cx="1371600" cy="585216"/>
          </a:xfrm>
          <a:prstGeom prst="roundRect">
            <a:avLst>
              <a:gd name="adj" fmla="val 12000"/>
            </a:avLst>
          </a:prstGeom>
          <a:solidFill>
            <a:srgbClr val="FFF0D9"/>
          </a:solidFill>
          <a:ln w="25400">
            <a:solidFill>
              <a:srgbClr val="FFAB40"/>
            </a:solid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212121"/>
                </a:solidFill>
              </a:rPr>
              <a:t>אבטחה</a:t>
            </a:r>
          </a:p>
          <a:p>
            <a:pPr rtl="1" algn="ctr" marL="0" indent="0">
              <a:lnSpc>
                <a:spcPct val="105000"/>
              </a:lnSpc>
              <a:spcBef>
                <a:spcPts val="0"/>
              </a:spcBef>
              <a:spcAft>
                <a:spcPts val="0"/>
              </a:spcAft>
              <a:buNone/>
            </a:pPr>
            <a:r>
              <a:rPr sz="1200" b="0" i="0" lang="he-IL">
                <a:solidFill>
                  <a:srgbClr val="595959"/>
                </a:solidFill>
              </a:rPr>
              <a:t>מפגש 10</a:t>
            </a:r>
          </a:p>
        </p:txBody>
      </p:sp>
      <p:sp>
        <p:nvSpPr>
          <p:cNvPr id="13" name="Rounded Rectangle 12"/>
          <p:cNvSpPr/>
          <p:nvPr/>
        </p:nvSpPr>
        <p:spPr>
          <a:xfrm>
            <a:off x="6756032" y="2360912"/>
            <a:ext cx="1371600" cy="585216"/>
          </a:xfrm>
          <a:prstGeom prst="roundRect">
            <a:avLst>
              <a:gd name="adj" fmla="val 12000"/>
            </a:avLst>
          </a:prstGeom>
          <a:solidFill>
            <a:srgbClr val="DDF2F5"/>
          </a:solidFill>
          <a:ln w="25400">
            <a:solidFill>
              <a:srgbClr val="0097A7"/>
            </a:solid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212121"/>
                </a:solidFill>
              </a:rPr>
              <a:t>סדר</a:t>
            </a:r>
          </a:p>
          <a:p>
            <a:pPr rtl="1" algn="ctr" marL="0" indent="0">
              <a:lnSpc>
                <a:spcPct val="105000"/>
              </a:lnSpc>
              <a:spcBef>
                <a:spcPts val="0"/>
              </a:spcBef>
              <a:spcAft>
                <a:spcPts val="0"/>
              </a:spcAft>
              <a:buNone/>
            </a:pPr>
            <a:r>
              <a:rPr sz="1200" b="0" i="0" lang="he-IL">
                <a:solidFill>
                  <a:srgbClr val="595959"/>
                </a:solidFill>
              </a:rPr>
              <a:t>מפגש 11</a:t>
            </a:r>
          </a:p>
        </p:txBody>
      </p:sp>
      <p:sp>
        <p:nvSpPr>
          <p:cNvPr id="14" name="Rounded Rectangle 13"/>
          <p:cNvSpPr/>
          <p:nvPr/>
        </p:nvSpPr>
        <p:spPr>
          <a:xfrm>
            <a:off x="5659853" y="1697972"/>
            <a:ext cx="1371600" cy="585216"/>
          </a:xfrm>
          <a:prstGeom prst="roundRect">
            <a:avLst>
              <a:gd name="adj" fmla="val 12000"/>
            </a:avLst>
          </a:prstGeom>
          <a:solidFill>
            <a:srgbClr val="E1F4E6"/>
          </a:solidFill>
          <a:ln w="25400">
            <a:solidFill>
              <a:srgbClr val="34A853"/>
            </a:solid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212121"/>
                </a:solidFill>
              </a:rPr>
              <a:t>שחרור</a:t>
            </a:r>
          </a:p>
          <a:p>
            <a:pPr rtl="1" algn="ctr" marL="0" indent="0">
              <a:lnSpc>
                <a:spcPct val="105000"/>
              </a:lnSpc>
              <a:spcBef>
                <a:spcPts val="0"/>
              </a:spcBef>
              <a:spcAft>
                <a:spcPts val="0"/>
              </a:spcAft>
              <a:buNone/>
            </a:pPr>
            <a:r>
              <a:rPr sz="1200" b="0" i="0" lang="he-IL">
                <a:solidFill>
                  <a:srgbClr val="595959"/>
                </a:solidFill>
              </a:rPr>
              <a:t>מפגש 12</a:t>
            </a:r>
          </a:p>
        </p:txBody>
      </p:sp>
      <p:sp>
        <p:nvSpPr>
          <p:cNvPr id="15" name="Oval 14"/>
          <p:cNvSpPr/>
          <p:nvPr/>
        </p:nvSpPr>
        <p:spPr>
          <a:xfrm>
            <a:off x="3383280" y="2697480"/>
            <a:ext cx="2377440" cy="731520"/>
          </a:xfrm>
          <a:prstGeom prst="ellipse">
            <a:avLst/>
          </a:prstGeom>
          <a:solidFill>
            <a:srgbClr val="FFFFFF"/>
          </a:solidFill>
          <a:ln w="19050">
            <a:solidFill>
              <a:srgbClr val="78909C"/>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34A853"/>
                </a:solidFill>
              </a:rPr>
              <a:t>אדם מאמת</a:t>
            </a:r>
          </a:p>
          <a:p>
            <a:pPr rtl="1" algn="ctr" marL="0" indent="0">
              <a:lnSpc>
                <a:spcPct val="105000"/>
              </a:lnSpc>
              <a:spcBef>
                <a:spcPts val="0"/>
              </a:spcBef>
              <a:spcAft>
                <a:spcPts val="0"/>
              </a:spcAft>
              <a:buNone/>
            </a:pPr>
            <a:r>
              <a:rPr sz="1400" b="0" i="0" lang="he-IL">
                <a:solidFill>
                  <a:srgbClr val="FFAB40"/>
                </a:solidFill>
              </a:rPr>
              <a:t>וסוכן מבצע</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a:t>
            </a:r>
            <a:r>
              <a:rPr sz="3000" b="1" i="0" lang="he-IL">
                <a:solidFill>
                  <a:srgbClr val="212121"/>
                </a:solidFill>
              </a:rPr>
              <a:t>שאלות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12480" y="1472184"/>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a:t>
            </a:r>
          </a:p>
        </p:txBody>
      </p:sp>
      <p:sp>
        <p:nvSpPr>
          <p:cNvPr id="6" name="TextBox 5"/>
          <p:cNvSpPr txBox="1"/>
          <p:nvPr/>
        </p:nvSpPr>
        <p:spPr>
          <a:xfrm>
            <a:off x="365760" y="1371600"/>
            <a:ext cx="7909560" cy="658368"/>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מה ההבדל בין צ׳אט לסוכן CLI?</a:t>
            </a:r>
          </a:p>
        </p:txBody>
      </p:sp>
      <p:sp>
        <p:nvSpPr>
          <p:cNvPr id="7" name="Oval 6"/>
          <p:cNvSpPr/>
          <p:nvPr/>
        </p:nvSpPr>
        <p:spPr>
          <a:xfrm>
            <a:off x="8412480" y="2203703"/>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2</a:t>
            </a:r>
          </a:p>
        </p:txBody>
      </p:sp>
      <p:sp>
        <p:nvSpPr>
          <p:cNvPr id="8" name="TextBox 7"/>
          <p:cNvSpPr txBox="1"/>
          <p:nvPr/>
        </p:nvSpPr>
        <p:spPr>
          <a:xfrm>
            <a:off x="365760" y="2103120"/>
            <a:ext cx="7909560" cy="658368"/>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למה commit לפני שהסוכן פועל?</a:t>
            </a:r>
          </a:p>
        </p:txBody>
      </p:sp>
      <p:sp>
        <p:nvSpPr>
          <p:cNvPr id="9" name="Oval 8"/>
          <p:cNvSpPr/>
          <p:nvPr/>
        </p:nvSpPr>
        <p:spPr>
          <a:xfrm>
            <a:off x="8412480" y="2935224"/>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3</a:t>
            </a:r>
          </a:p>
        </p:txBody>
      </p:sp>
      <p:sp>
        <p:nvSpPr>
          <p:cNvPr id="10" name="TextBox 9"/>
          <p:cNvSpPr txBox="1"/>
          <p:nvPr/>
        </p:nvSpPr>
        <p:spPr>
          <a:xfrm>
            <a:off x="365760" y="2834640"/>
            <a:ext cx="7909560" cy="658368"/>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למה API שמשרת מודל איטי מחזיר 202?</a:t>
            </a:r>
          </a:p>
        </p:txBody>
      </p:sp>
      <p:sp>
        <p:nvSpPr>
          <p:cNvPr id="11" name="Oval 10"/>
          <p:cNvSpPr/>
          <p:nvPr/>
        </p:nvSpPr>
        <p:spPr>
          <a:xfrm>
            <a:off x="8412480" y="3666744"/>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4</a:t>
            </a:r>
          </a:p>
        </p:txBody>
      </p:sp>
      <p:sp>
        <p:nvSpPr>
          <p:cNvPr id="12" name="TextBox 11"/>
          <p:cNvSpPr txBox="1"/>
          <p:nvPr/>
        </p:nvSpPr>
        <p:spPr>
          <a:xfrm>
            <a:off x="365760" y="3566160"/>
            <a:ext cx="7909560" cy="658368"/>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למה pytest ירוק לא מספיק?</a:t>
            </a:r>
          </a:p>
        </p:txBody>
      </p:sp>
      <p:sp>
        <p:nvSpPr>
          <p:cNvPr id="13" name="Oval 12"/>
          <p:cNvSpPr/>
          <p:nvPr/>
        </p:nvSpPr>
        <p:spPr>
          <a:xfrm>
            <a:off x="8412480" y="4398264"/>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5</a:t>
            </a:r>
          </a:p>
        </p:txBody>
      </p:sp>
      <p:sp>
        <p:nvSpPr>
          <p:cNvPr id="14" name="TextBox 13"/>
          <p:cNvSpPr txBox="1"/>
          <p:nvPr/>
        </p:nvSpPr>
        <p:spPr>
          <a:xfrm>
            <a:off x="365760" y="4297680"/>
            <a:ext cx="7909560" cy="658368"/>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מהי הזרקת פרומפט עקיפה?</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a:t>
            </a:r>
            <a:r>
              <a:rPr sz="3000" b="1" i="0" lang="he-IL">
                <a:solidFill>
                  <a:srgbClr val="212121"/>
                </a:solidFill>
              </a:rPr>
              <a:t>תשובות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12480" y="1490472"/>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a:t>
            </a:r>
          </a:p>
        </p:txBody>
      </p:sp>
      <p:sp>
        <p:nvSpPr>
          <p:cNvPr id="6" name="TextBox 5"/>
          <p:cNvSpPr txBox="1"/>
          <p:nvPr/>
        </p:nvSpPr>
        <p:spPr>
          <a:xfrm>
            <a:off x="365760" y="1371600"/>
            <a:ext cx="7909560" cy="694944"/>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צ׳אט רואה רק מה שהודבק ולא מריץ. סוכן קורא את הפרויקט, מריץ ועורך.</a:t>
            </a:r>
          </a:p>
        </p:txBody>
      </p:sp>
      <p:sp>
        <p:nvSpPr>
          <p:cNvPr id="7" name="Oval 6"/>
          <p:cNvSpPr/>
          <p:nvPr/>
        </p:nvSpPr>
        <p:spPr>
          <a:xfrm>
            <a:off x="8412480" y="2221991"/>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2</a:t>
            </a:r>
          </a:p>
        </p:txBody>
      </p:sp>
      <p:sp>
        <p:nvSpPr>
          <p:cNvPr id="8" name="TextBox 7"/>
          <p:cNvSpPr txBox="1"/>
          <p:nvPr/>
        </p:nvSpPr>
        <p:spPr>
          <a:xfrm>
            <a:off x="365760" y="2103120"/>
            <a:ext cx="7909560" cy="694944"/>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כדי שיהיה מצב נקי לחזור אליו, וה־diff יראה בדיוק מה השתנה.</a:t>
            </a:r>
          </a:p>
        </p:txBody>
      </p:sp>
      <p:sp>
        <p:nvSpPr>
          <p:cNvPr id="9" name="Oval 8"/>
          <p:cNvSpPr/>
          <p:nvPr/>
        </p:nvSpPr>
        <p:spPr>
          <a:xfrm>
            <a:off x="8412480" y="2953512"/>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3</a:t>
            </a:r>
          </a:p>
        </p:txBody>
      </p:sp>
      <p:sp>
        <p:nvSpPr>
          <p:cNvPr id="10" name="TextBox 9"/>
          <p:cNvSpPr txBox="1"/>
          <p:nvPr/>
        </p:nvSpPr>
        <p:spPr>
          <a:xfrm>
            <a:off x="365760" y="2834640"/>
            <a:ext cx="7909560" cy="694944"/>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כדי לא לחסום את השרת: העבודה עוברת לתור ולעובד, והלקוח בודק סטטוס.</a:t>
            </a:r>
          </a:p>
        </p:txBody>
      </p:sp>
      <p:sp>
        <p:nvSpPr>
          <p:cNvPr id="11" name="Oval 10"/>
          <p:cNvSpPr/>
          <p:nvPr/>
        </p:nvSpPr>
        <p:spPr>
          <a:xfrm>
            <a:off x="8412480" y="3685032"/>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4</a:t>
            </a:r>
          </a:p>
        </p:txBody>
      </p:sp>
      <p:sp>
        <p:nvSpPr>
          <p:cNvPr id="12" name="TextBox 11"/>
          <p:cNvSpPr txBox="1"/>
          <p:nvPr/>
        </p:nvSpPr>
        <p:spPr>
          <a:xfrm>
            <a:off x="365760" y="3566160"/>
            <a:ext cx="7909560" cy="694944"/>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בדיקה יכולה להימחק או להיחלש: בודקים את מספר הבדיקות ואת ה־diff.</a:t>
            </a:r>
          </a:p>
        </p:txBody>
      </p:sp>
      <p:sp>
        <p:nvSpPr>
          <p:cNvPr id="13" name="Oval 12"/>
          <p:cNvSpPr/>
          <p:nvPr/>
        </p:nvSpPr>
        <p:spPr>
          <a:xfrm>
            <a:off x="8412480" y="4416552"/>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5</a:t>
            </a:r>
          </a:p>
        </p:txBody>
      </p:sp>
      <p:sp>
        <p:nvSpPr>
          <p:cNvPr id="14" name="TextBox 13"/>
          <p:cNvSpPr txBox="1"/>
          <p:nvPr/>
        </p:nvSpPr>
        <p:spPr>
          <a:xfrm>
            <a:off x="365760" y="4297680"/>
            <a:ext cx="7909560" cy="694944"/>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הוראה זדונית בתוך תוכן שהסוכן קורא, שמטופלת כפקודה.</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ב׳ :</a:t>
            </a:r>
            <a:r>
              <a:rPr sz="3000" b="1" i="0" lang="he-IL">
                <a:solidFill>
                  <a:srgbClr val="212121"/>
                </a:solidFill>
              </a:rPr>
              <a:t>עשר פרקטיקות: 1 עד 5</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12480" y="1463040"/>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a:t>
            </a:r>
          </a:p>
        </p:txBody>
      </p:sp>
      <p:sp>
        <p:nvSpPr>
          <p:cNvPr id="6" name="TextBox 5"/>
          <p:cNvSpPr txBox="1"/>
          <p:nvPr/>
        </p:nvSpPr>
        <p:spPr>
          <a:xfrm>
            <a:off x="365760" y="1371600"/>
            <a:ext cx="790956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700" b="0" i="0" lang="he-IL">
                <a:solidFill>
                  <a:srgbClr val="212121"/>
                </a:solidFill>
              </a:rPr>
              <a:t>מפרט וחוזה קודם: מה נכנס, מה יוצא, ומה נחשב נכון (מפגש 7)</a:t>
            </a:r>
          </a:p>
        </p:txBody>
      </p:sp>
      <p:sp>
        <p:nvSpPr>
          <p:cNvPr id="7" name="Oval 6"/>
          <p:cNvSpPr/>
          <p:nvPr/>
        </p:nvSpPr>
        <p:spPr>
          <a:xfrm>
            <a:off x="8412480" y="2194560"/>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2</a:t>
            </a:r>
          </a:p>
        </p:txBody>
      </p:sp>
      <p:sp>
        <p:nvSpPr>
          <p:cNvPr id="8" name="TextBox 7"/>
          <p:cNvSpPr txBox="1"/>
          <p:nvPr/>
        </p:nvSpPr>
        <p:spPr>
          <a:xfrm>
            <a:off x="365760" y="2103120"/>
            <a:ext cx="790956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700" b="0" i="0" lang="he-IL">
                <a:solidFill>
                  <a:srgbClr val="212121"/>
                </a:solidFill>
              </a:rPr>
              <a:t>הקשר מדויק: רק הקבצים והמידע הרלוונטיים (מפגשים 2 ו־4)</a:t>
            </a:r>
          </a:p>
        </p:txBody>
      </p:sp>
      <p:sp>
        <p:nvSpPr>
          <p:cNvPr id="9" name="Oval 8"/>
          <p:cNvSpPr/>
          <p:nvPr/>
        </p:nvSpPr>
        <p:spPr>
          <a:xfrm>
            <a:off x="8412480" y="2926080"/>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3</a:t>
            </a:r>
          </a:p>
        </p:txBody>
      </p:sp>
      <p:sp>
        <p:nvSpPr>
          <p:cNvPr id="10" name="TextBox 9"/>
          <p:cNvSpPr txBox="1"/>
          <p:nvPr/>
        </p:nvSpPr>
        <p:spPr>
          <a:xfrm>
            <a:off x="365760" y="2834640"/>
            <a:ext cx="790956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700" b="0" i="0" lang="he-IL">
                <a:solidFill>
                  <a:srgbClr val="212121"/>
                </a:solidFill>
              </a:rPr>
              <a:t>צעדים קטנים: בקשה אחת, diff קטן ו־commit (מפגשים 6 ו־11)</a:t>
            </a:r>
          </a:p>
        </p:txBody>
      </p:sp>
      <p:sp>
        <p:nvSpPr>
          <p:cNvPr id="11" name="Oval 10"/>
          <p:cNvSpPr/>
          <p:nvPr/>
        </p:nvSpPr>
        <p:spPr>
          <a:xfrm>
            <a:off x="8412480" y="3657600"/>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4</a:t>
            </a:r>
          </a:p>
        </p:txBody>
      </p:sp>
      <p:sp>
        <p:nvSpPr>
          <p:cNvPr id="12" name="TextBox 11"/>
          <p:cNvSpPr txBox="1"/>
          <p:nvPr/>
        </p:nvSpPr>
        <p:spPr>
          <a:xfrm>
            <a:off x="365760" y="3566160"/>
            <a:ext cx="790956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700" b="0" i="0" lang="he-IL">
                <a:solidFill>
                  <a:srgbClr val="212121"/>
                </a:solidFill>
              </a:rPr>
              <a:t>אוטונומיה לפי סיכון: מתחילים נמוך, ומעלים כשיש גיבוי ובדיקות (מפגש 6)</a:t>
            </a:r>
          </a:p>
        </p:txBody>
      </p:sp>
      <p:sp>
        <p:nvSpPr>
          <p:cNvPr id="13" name="Oval 12"/>
          <p:cNvSpPr/>
          <p:nvPr/>
        </p:nvSpPr>
        <p:spPr>
          <a:xfrm>
            <a:off x="8412480" y="4389120"/>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5</a:t>
            </a:r>
          </a:p>
        </p:txBody>
      </p:sp>
      <p:sp>
        <p:nvSpPr>
          <p:cNvPr id="14" name="TextBox 13"/>
          <p:cNvSpPr txBox="1"/>
          <p:nvPr/>
        </p:nvSpPr>
        <p:spPr>
          <a:xfrm>
            <a:off x="365760" y="4297680"/>
            <a:ext cx="790956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700" b="0" i="0" lang="he-IL">
                <a:solidFill>
                  <a:srgbClr val="212121"/>
                </a:solidFill>
              </a:rPr>
              <a:t>הסבר לפני תיקון: מבקשים סיבה, ורק אז שינוי (מפגש 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ב׳ :</a:t>
            </a:r>
            <a:r>
              <a:rPr sz="3000" b="1" i="0" lang="he-IL">
                <a:solidFill>
                  <a:srgbClr val="212121"/>
                </a:solidFill>
              </a:rPr>
              <a:t>עשר פרקטיקות: 6 עד 10</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12480" y="1463040"/>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6</a:t>
            </a:r>
          </a:p>
        </p:txBody>
      </p:sp>
      <p:sp>
        <p:nvSpPr>
          <p:cNvPr id="6" name="TextBox 5"/>
          <p:cNvSpPr txBox="1"/>
          <p:nvPr/>
        </p:nvSpPr>
        <p:spPr>
          <a:xfrm>
            <a:off x="365760" y="1371600"/>
            <a:ext cx="790956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700" b="0" i="0" lang="he-IL">
                <a:solidFill>
                  <a:srgbClr val="212121"/>
                </a:solidFill>
              </a:rPr>
              <a:t>קוראים כל diff: גם בקבצים שלא ביקשתם (מפגשים 6 ו־8)</a:t>
            </a:r>
          </a:p>
        </p:txBody>
      </p:sp>
      <p:sp>
        <p:nvSpPr>
          <p:cNvPr id="7" name="Oval 6"/>
          <p:cNvSpPr/>
          <p:nvPr/>
        </p:nvSpPr>
        <p:spPr>
          <a:xfrm>
            <a:off x="8412480" y="2194560"/>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7</a:t>
            </a:r>
          </a:p>
        </p:txBody>
      </p:sp>
      <p:sp>
        <p:nvSpPr>
          <p:cNvPr id="8" name="TextBox 7"/>
          <p:cNvSpPr txBox="1"/>
          <p:nvPr/>
        </p:nvSpPr>
        <p:spPr>
          <a:xfrm>
            <a:off x="365760" y="2103120"/>
            <a:ext cx="790956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700" b="0" i="0" lang="he-IL">
                <a:solidFill>
                  <a:srgbClr val="212121"/>
                </a:solidFill>
              </a:rPr>
              <a:t>בדיקות עם אדום לפני ירוק: ומוודאים שהן לא נמחקו או נחלשו (מפגש 8)</a:t>
            </a:r>
          </a:p>
        </p:txBody>
      </p:sp>
      <p:sp>
        <p:nvSpPr>
          <p:cNvPr id="9" name="Oval 8"/>
          <p:cNvSpPr/>
          <p:nvPr/>
        </p:nvSpPr>
        <p:spPr>
          <a:xfrm>
            <a:off x="8412480" y="2926080"/>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8</a:t>
            </a:r>
          </a:p>
        </p:txBody>
      </p:sp>
      <p:sp>
        <p:nvSpPr>
          <p:cNvPr id="10" name="TextBox 9"/>
          <p:cNvSpPr txBox="1"/>
          <p:nvPr/>
        </p:nvSpPr>
        <p:spPr>
          <a:xfrm>
            <a:off x="365760" y="2834640"/>
            <a:ext cx="790956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700" b="0" i="0" lang="he-IL">
                <a:solidFill>
                  <a:srgbClr val="212121"/>
                </a:solidFill>
              </a:rPr>
              <a:t>סודות וקלט: סודות מחוץ לקוד, וקלט חיצוני לא מהימן (מפגש 10)</a:t>
            </a:r>
          </a:p>
        </p:txBody>
      </p:sp>
      <p:sp>
        <p:nvSpPr>
          <p:cNvPr id="11" name="Oval 10"/>
          <p:cNvSpPr/>
          <p:nvPr/>
        </p:nvSpPr>
        <p:spPr>
          <a:xfrm>
            <a:off x="8412480" y="3657600"/>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9</a:t>
            </a:r>
          </a:p>
        </p:txBody>
      </p:sp>
      <p:sp>
        <p:nvSpPr>
          <p:cNvPr id="12" name="TextBox 11"/>
          <p:cNvSpPr txBox="1"/>
          <p:nvPr/>
        </p:nvSpPr>
        <p:spPr>
          <a:xfrm>
            <a:off x="365760" y="3566160"/>
            <a:ext cx="790956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700" b="0" i="0" lang="he-IL">
                <a:solidFill>
                  <a:srgbClr val="212121"/>
                </a:solidFill>
              </a:rPr>
              <a:t>מתעדים שימוש ב־AI: יומן, README, commits (מפגשים 5 ו־11)</a:t>
            </a:r>
          </a:p>
        </p:txBody>
      </p:sp>
      <p:sp>
        <p:nvSpPr>
          <p:cNvPr id="13" name="Oval 12"/>
          <p:cNvSpPr/>
          <p:nvPr/>
        </p:nvSpPr>
        <p:spPr>
          <a:xfrm>
            <a:off x="8412480" y="4389120"/>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10</a:t>
            </a:r>
          </a:p>
        </p:txBody>
      </p:sp>
      <p:sp>
        <p:nvSpPr>
          <p:cNvPr id="14" name="TextBox 13"/>
          <p:cNvSpPr txBox="1"/>
          <p:nvPr/>
        </p:nvSpPr>
        <p:spPr>
          <a:xfrm>
            <a:off x="365760" y="4297680"/>
            <a:ext cx="790956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700" b="0" i="0" lang="he-IL">
                <a:solidFill>
                  <a:srgbClr val="212121"/>
                </a:solidFill>
              </a:rPr>
              <a:t>מודיעים ואחראים: הצהרת AI, מגבלות ובעלים אנושי (מפגש 12)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ב׳ :</a:t>
            </a:r>
            <a:r>
              <a:rPr sz="3000" b="1" i="0" lang="he-IL">
                <a:solidFill>
                  <a:srgbClr val="212121"/>
                </a:solidFill>
              </a:rPr>
              <a:t>מה המחקר אומר</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17320"/>
            <a:ext cx="4114800" cy="1463040"/>
          </a:xfrm>
          <a:prstGeom prst="roundRect">
            <a:avLst>
              <a:gd name="adj" fmla="val 6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77240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7" name="TextBox 6"/>
          <p:cNvSpPr txBox="1"/>
          <p:nvPr/>
        </p:nvSpPr>
        <p:spPr>
          <a:xfrm>
            <a:off x="4754879"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METR 2025: איטי יותר</a:t>
            </a:r>
          </a:p>
        </p:txBody>
      </p:sp>
      <p:sp>
        <p:nvSpPr>
          <p:cNvPr id="8" name="TextBox 7"/>
          <p:cNvSpPr txBox="1"/>
          <p:nvPr/>
        </p:nvSpPr>
        <p:spPr>
          <a:xfrm>
            <a:off x="4754879"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16 מפתחים ותיקים, 246 משימות: עם AI לקח 19% יותר זמן</a:t>
            </a:r>
          </a:p>
        </p:txBody>
      </p:sp>
      <p:sp>
        <p:nvSpPr>
          <p:cNvPr id="9" name="Rounded Rectangle 8"/>
          <p:cNvSpPr/>
          <p:nvPr/>
        </p:nvSpPr>
        <p:spPr>
          <a:xfrm>
            <a:off x="365760" y="1417320"/>
            <a:ext cx="4114800" cy="1463040"/>
          </a:xfrm>
          <a:prstGeom prst="roundRect">
            <a:avLst>
              <a:gd name="adj" fmla="val 6000"/>
            </a:avLst>
          </a:prstGeom>
          <a:solidFill>
            <a:srgbClr val="DDF2F5"/>
          </a:solidFill>
          <a:ln w="25400">
            <a:solidFill>
              <a:srgbClr val="0097A7"/>
            </a:solidFill>
          </a:ln>
        </p:spPr>
        <p:txBody>
          <a:bodyPr rtlCol="0" anchor="ctr" wrap="square" lIns="73152" rIns="73152" tIns="73152" bIns="73152">
            <a:noAutofit/>
          </a:bodyPr>
          <a:lstStyle/>
          <a:p>
            <a:pPr algn="ctr"/>
          </a:p>
        </p:txBody>
      </p:sp>
      <p:sp>
        <p:nvSpPr>
          <p:cNvPr id="10" name="TextBox 9"/>
          <p:cNvSpPr txBox="1"/>
          <p:nvPr/>
        </p:nvSpPr>
        <p:spPr>
          <a:xfrm>
            <a:off x="347472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1" name="TextBox 10"/>
          <p:cNvSpPr txBox="1"/>
          <p:nvPr/>
        </p:nvSpPr>
        <p:spPr>
          <a:xfrm>
            <a:off x="457200"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GitHub 2023: מהיר יותר</a:t>
            </a:r>
          </a:p>
        </p:txBody>
      </p:sp>
      <p:sp>
        <p:nvSpPr>
          <p:cNvPr id="12" name="TextBox 11"/>
          <p:cNvSpPr txBox="1"/>
          <p:nvPr/>
        </p:nvSpPr>
        <p:spPr>
          <a:xfrm>
            <a:off x="457200"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משימת שרת HTTP בניסוי מבוקר: קבוצת Copilot מהירה ב־55.8%</a:t>
            </a:r>
          </a:p>
        </p:txBody>
      </p:sp>
      <p:sp>
        <p:nvSpPr>
          <p:cNvPr id="13" name="Rounded Rectangle 12"/>
          <p:cNvSpPr/>
          <p:nvPr/>
        </p:nvSpPr>
        <p:spPr>
          <a:xfrm>
            <a:off x="4663440" y="3063240"/>
            <a:ext cx="4114800" cy="1463040"/>
          </a:xfrm>
          <a:prstGeom prst="roundRect">
            <a:avLst>
              <a:gd name="adj" fmla="val 6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4" name="TextBox 13"/>
          <p:cNvSpPr txBox="1"/>
          <p:nvPr/>
        </p:nvSpPr>
        <p:spPr>
          <a:xfrm>
            <a:off x="777240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5" name="TextBox 14"/>
          <p:cNvSpPr txBox="1"/>
          <p:nvPr/>
        </p:nvSpPr>
        <p:spPr>
          <a:xfrm>
            <a:off x="4754879"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Pearce 2022: פגיעויות</a:t>
            </a:r>
          </a:p>
        </p:txBody>
      </p:sp>
      <p:sp>
        <p:nvSpPr>
          <p:cNvPr id="16" name="TextBox 15"/>
          <p:cNvSpPr txBox="1"/>
          <p:nvPr/>
        </p:nvSpPr>
        <p:spPr>
          <a:xfrm>
            <a:off x="4754879"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89 תרחישים, 1,689 תוכניות: כ־40% מהן היו פגיעות</a:t>
            </a:r>
          </a:p>
        </p:txBody>
      </p:sp>
      <p:sp>
        <p:nvSpPr>
          <p:cNvPr id="17" name="Rounded Rectangle 16"/>
          <p:cNvSpPr/>
          <p:nvPr/>
        </p:nvSpPr>
        <p:spPr>
          <a:xfrm>
            <a:off x="365760" y="3063240"/>
            <a:ext cx="4114800" cy="1463040"/>
          </a:xfrm>
          <a:prstGeom prst="roundRect">
            <a:avLst>
              <a:gd name="adj" fmla="val 6000"/>
            </a:avLst>
          </a:prstGeom>
          <a:solidFill>
            <a:srgbClr val="E1F4E6"/>
          </a:solidFill>
          <a:ln w="25400">
            <a:solidFill>
              <a:srgbClr val="34A853"/>
            </a:solidFill>
          </a:ln>
        </p:spPr>
        <p:txBody>
          <a:bodyPr rtlCol="0" anchor="ctr" wrap="square" lIns="73152" rIns="73152" tIns="73152" bIns="73152">
            <a:noAutofit/>
          </a:bodyPr>
          <a:lstStyle/>
          <a:p>
            <a:pPr algn="ctr"/>
          </a:p>
        </p:txBody>
      </p:sp>
      <p:sp>
        <p:nvSpPr>
          <p:cNvPr id="18" name="TextBox 17"/>
          <p:cNvSpPr txBox="1"/>
          <p:nvPr/>
        </p:nvSpPr>
        <p:spPr>
          <a:xfrm>
            <a:off x="347472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9" name="TextBox 18"/>
          <p:cNvSpPr txBox="1"/>
          <p:nvPr/>
        </p:nvSpPr>
        <p:spPr>
          <a:xfrm>
            <a:off x="457200"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Perry 2023: ביטחון יתר</a:t>
            </a:r>
          </a:p>
        </p:txBody>
      </p:sp>
      <p:sp>
        <p:nvSpPr>
          <p:cNvPr id="20" name="TextBox 19"/>
          <p:cNvSpPr txBox="1"/>
          <p:nvPr/>
        </p:nvSpPr>
        <p:spPr>
          <a:xfrm>
            <a:off x="457200"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עם עוזר AI כתבו קוד פחות מאובטח, והאמינו שהוא מאובטח יותר</a:t>
            </a:r>
          </a:p>
        </p:txBody>
      </p:sp>
      <p:sp>
        <p:nvSpPr>
          <p:cNvPr id="21" name="TextBox 20"/>
          <p:cNvSpPr txBox="1"/>
          <p:nvPr/>
        </p:nvSpPr>
        <p:spPr>
          <a:xfrm>
            <a:off x="365760" y="475488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ההקשר קובע: משימה, מפתחים, כלי ומדד. לכן מאמתים בפרויקט שלכם.</a:t>
            </a:r>
          </a:p>
        </p:txBody>
      </p:sp>
      <p:sp>
        <p:nvSpPr>
          <p:cNvPr id="22"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ב׳ :</a:t>
            </a:r>
            <a:r>
              <a:rPr sz="3000" b="1" i="0" lang="he-IL">
                <a:solidFill>
                  <a:srgbClr val="212121"/>
                </a:solidFill>
              </a:rPr>
              <a:t>טעויות נפוצות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25880"/>
          <a:ext cx="8412480" cy="3328416"/>
        </p:xfrm>
        <a:graphic>
          <a:graphicData uri="http://schemas.openxmlformats.org/drawingml/2006/table">
            <a:tbl>
              <a:tblPr firstRow="0" bandRow="0">
                <a:tableStyleId>{2D5ABB26-0587-4C30-8999-92F81FD0307C}</a:tableStyleId>
              </a:tblPr>
              <a:tblGrid>
                <a:gridCol w="4754880"/>
                <a:gridCol w="3657600"/>
              </a:tblGrid>
              <a:tr h="475488">
                <a:tc>
                  <a:txBody>
                    <a:bodyPr wrap="square"/>
                    <a:lstStyle/>
                    <a:p>
                      <a:pPr rtl="1" algn="ctr" marL="0" indent="0">
                        <a:lnSpc>
                          <a:spcPct val="100000"/>
                        </a:lnSpc>
                        <a:spcBef>
                          <a:spcPts val="0"/>
                        </a:spcBef>
                        <a:spcAft>
                          <a:spcPts val="0"/>
                        </a:spcAft>
                        <a:buNone/>
                      </a:pPr>
                      <a:r>
                        <a:rPr sz="1400" b="1" i="0" lang="he-IL">
                          <a:solidFill>
                            <a:srgbClr val="212121"/>
                          </a:solidFill>
                        </a:rPr>
                        <a:t>מה עושים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הטעות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475488">
                <a:tc>
                  <a:txBody>
                    <a:bodyPr wrap="square"/>
                    <a:lstStyle/>
                    <a:p>
                      <a:pPr rtl="1" algn="r" marL="0" indent="0">
                        <a:lnSpc>
                          <a:spcPct val="100000"/>
                        </a:lnSpc>
                        <a:spcBef>
                          <a:spcPts val="0"/>
                        </a:spcBef>
                        <a:spcAft>
                          <a:spcPts val="0"/>
                        </a:spcAft>
                        <a:buNone/>
                      </a:pPr>
                      <a:r>
                        <a:rPr sz="1400" b="0" i="0" lang="he-IL">
                          <a:solidFill>
                            <a:srgbClr val="212121"/>
                          </a:solidFill>
                        </a:rPr>
                        <a:t>מריצים ובודקים בעצמכם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"הסוכן אמר שסיים"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r>
              <a:tr h="475488">
                <a:tc>
                  <a:txBody>
                    <a:bodyPr wrap="square"/>
                    <a:lstStyle/>
                    <a:p>
                      <a:pPr rtl="1" algn="r" marL="0" indent="0">
                        <a:lnSpc>
                          <a:spcPct val="100000"/>
                        </a:lnSpc>
                        <a:spcBef>
                          <a:spcPts val="0"/>
                        </a:spcBef>
                        <a:spcAft>
                          <a:spcPts val="0"/>
                        </a:spcAft>
                        <a:buNone/>
                      </a:pPr>
                      <a:r>
                        <a:rPr sz="1400" b="0" i="0" lang="he-IL">
                          <a:solidFill>
                            <a:srgbClr val="212121"/>
                          </a:solidFill>
                        </a:rPr>
                        <a:t>צעדים קטנים, בדיקות ו־commit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"נשכתב את כל הקובץ"</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r>
              <a:tr h="475488">
                <a:tc>
                  <a:txBody>
                    <a:bodyPr wrap="square"/>
                    <a:lstStyle/>
                    <a:p>
                      <a:pPr rtl="1" algn="r" marL="0" indent="0">
                        <a:lnSpc>
                          <a:spcPct val="100000"/>
                        </a:lnSpc>
                        <a:spcBef>
                          <a:spcPts val="0"/>
                        </a:spcBef>
                        <a:spcAft>
                          <a:spcPts val="0"/>
                        </a:spcAft>
                        <a:buNone/>
                      </a:pPr>
                      <a:r>
                        <a:rPr sz="1400" b="0" i="0" lang="he-IL">
                          <a:solidFill>
                            <a:srgbClr val="212121"/>
                          </a:solidFill>
                        </a:rPr>
                        <a:t>קוד, שגיאה, ציפייה ומה ניסינו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"נדביק את השגיאה בלבד"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r>
              <a:tr h="475488">
                <a:tc>
                  <a:txBody>
                    <a:bodyPr wrap="square"/>
                    <a:lstStyle/>
                    <a:p>
                      <a:pPr rtl="1" algn="r" marL="0" indent="0">
                        <a:lnSpc>
                          <a:spcPct val="100000"/>
                        </a:lnSpc>
                        <a:spcBef>
                          <a:spcPts val="0"/>
                        </a:spcBef>
                        <a:spcAft>
                          <a:spcPts val="0"/>
                        </a:spcAft>
                        <a:buNone/>
                      </a:pPr>
                      <a:r>
                        <a:rPr sz="1400" b="0" i="0" lang="he-IL">
                          <a:solidFill>
                            <a:srgbClr val="212121"/>
                          </a:solidFill>
                        </a:rPr>
                        <a:t>בודקים את מספר הבדיקות ואת ה־diff</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"הכל ירוק, זה נכון"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r>
              <a:tr h="475488">
                <a:tc>
                  <a:txBody>
                    <a:bodyPr wrap="square"/>
                    <a:lstStyle/>
                    <a:p>
                      <a:pPr rtl="1" algn="r" marL="0" indent="0">
                        <a:lnSpc>
                          <a:spcPct val="100000"/>
                        </a:lnSpc>
                        <a:spcBef>
                          <a:spcPts val="0"/>
                        </a:spcBef>
                        <a:spcAft>
                          <a:spcPts val="0"/>
                        </a:spcAft>
                        <a:buNone/>
                      </a:pPr>
                      <a:r>
                        <a:rPr sz="1400" b="0" i="0" lang="he-IL">
                          <a:solidFill>
                            <a:srgbClr val="212121"/>
                          </a:solidFill>
                        </a:rPr>
                        <a:t>סודות מחוץ לקוד. אם דלף, מבטלים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"המפתח במאגר, זה בסדר"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r>
              <a:tr h="475488">
                <a:tc>
                  <a:txBody>
                    <a:bodyPr wrap="square"/>
                    <a:lstStyle/>
                    <a:p>
                      <a:pPr rtl="1" algn="r" marL="0" indent="0">
                        <a:lnSpc>
                          <a:spcPct val="100000"/>
                        </a:lnSpc>
                        <a:spcBef>
                          <a:spcPts val="0"/>
                        </a:spcBef>
                        <a:spcAft>
                          <a:spcPts val="0"/>
                        </a:spcAft>
                        <a:buNone/>
                      </a:pPr>
                      <a:r>
                        <a:rPr sz="1400" b="0" i="0" lang="he-IL">
                          <a:solidFill>
                            <a:srgbClr val="212121"/>
                          </a:solidFill>
                        </a:rPr>
                        <a:t>מי שפורס אחראי, ומתעד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"ה־AI כתב, זו לא אחריותי"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ב׳ :</a:t>
            </a:r>
            <a:r>
              <a:rPr sz="3000" b="1" i="0" lang="he-IL">
                <a:solidFill>
                  <a:srgbClr val="212121"/>
                </a:solidFill>
              </a:rPr>
              <a:t>מחר בבוקר: פרויקט חדש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58200" y="146304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a:t>
            </a:r>
          </a:p>
        </p:txBody>
      </p:sp>
      <p:sp>
        <p:nvSpPr>
          <p:cNvPr id="6" name="Rounded Rectangle 5"/>
          <p:cNvSpPr/>
          <p:nvPr/>
        </p:nvSpPr>
        <p:spPr>
          <a:xfrm>
            <a:off x="365760" y="1371600"/>
            <a:ext cx="7909560" cy="5943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700" b="0" i="0" lang="he-IL">
                <a:solidFill>
                  <a:srgbClr val="212121"/>
                </a:solidFill>
              </a:rPr>
              <a:t>☐  מאגר Git עם commit ראשון ו־.gitignore</a:t>
            </a:r>
          </a:p>
        </p:txBody>
      </p:sp>
      <p:sp>
        <p:nvSpPr>
          <p:cNvPr id="7" name="Oval 6"/>
          <p:cNvSpPr/>
          <p:nvPr/>
        </p:nvSpPr>
        <p:spPr>
          <a:xfrm>
            <a:off x="8458200" y="2176272"/>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2</a:t>
            </a:r>
          </a:p>
        </p:txBody>
      </p:sp>
      <p:sp>
        <p:nvSpPr>
          <p:cNvPr id="8" name="Rounded Rectangle 7"/>
          <p:cNvSpPr/>
          <p:nvPr/>
        </p:nvSpPr>
        <p:spPr>
          <a:xfrm>
            <a:off x="365760" y="2084832"/>
            <a:ext cx="7909560" cy="5943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700" b="0" i="0" lang="he-IL">
                <a:solidFill>
                  <a:srgbClr val="212121"/>
                </a:solidFill>
              </a:rPr>
              <a:t>☐  README: מטרה, איך מריצים, ומי בצוות</a:t>
            </a:r>
          </a:p>
        </p:txBody>
      </p:sp>
      <p:sp>
        <p:nvSpPr>
          <p:cNvPr id="9" name="Oval 8"/>
          <p:cNvSpPr/>
          <p:nvPr/>
        </p:nvSpPr>
        <p:spPr>
          <a:xfrm>
            <a:off x="8458200" y="2889504"/>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3</a:t>
            </a:r>
          </a:p>
        </p:txBody>
      </p:sp>
      <p:sp>
        <p:nvSpPr>
          <p:cNvPr id="10" name="Rounded Rectangle 9"/>
          <p:cNvSpPr/>
          <p:nvPr/>
        </p:nvSpPr>
        <p:spPr>
          <a:xfrm>
            <a:off x="365760" y="2798064"/>
            <a:ext cx="7909560" cy="5943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700" b="0" i="0" lang="he-IL">
                <a:solidFill>
                  <a:srgbClr val="212121"/>
                </a:solidFill>
              </a:rPr>
              <a:t>☐  מפרט של עמוד: קלט, פלט, כללים וקבלה</a:t>
            </a:r>
          </a:p>
        </p:txBody>
      </p:sp>
      <p:sp>
        <p:nvSpPr>
          <p:cNvPr id="11" name="Oval 10"/>
          <p:cNvSpPr/>
          <p:nvPr/>
        </p:nvSpPr>
        <p:spPr>
          <a:xfrm>
            <a:off x="8458200" y="3602736"/>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4</a:t>
            </a:r>
          </a:p>
        </p:txBody>
      </p:sp>
      <p:sp>
        <p:nvSpPr>
          <p:cNvPr id="12" name="Rounded Rectangle 11"/>
          <p:cNvSpPr/>
          <p:nvPr/>
        </p:nvSpPr>
        <p:spPr>
          <a:xfrm>
            <a:off x="365760" y="3511296"/>
            <a:ext cx="7909560" cy="5943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700" b="0" i="0" lang="he-IL">
                <a:solidFill>
                  <a:srgbClr val="212121"/>
                </a:solidFill>
              </a:rPr>
              <a:t>☐  בדיקה אחת שנכשלת, לפני הקוד הראשון</a:t>
            </a:r>
          </a:p>
        </p:txBody>
      </p:sp>
      <p:sp>
        <p:nvSpPr>
          <p:cNvPr id="13" name="Oval 12"/>
          <p:cNvSpPr/>
          <p:nvPr/>
        </p:nvSpPr>
        <p:spPr>
          <a:xfrm>
            <a:off x="8458200" y="4315968"/>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5</a:t>
            </a:r>
          </a:p>
        </p:txBody>
      </p:sp>
      <p:sp>
        <p:nvSpPr>
          <p:cNvPr id="14" name="Rounded Rectangle 13"/>
          <p:cNvSpPr/>
          <p:nvPr/>
        </p:nvSpPr>
        <p:spPr>
          <a:xfrm>
            <a:off x="365760" y="4224528"/>
            <a:ext cx="7909560" cy="5943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700" b="0" i="0" lang="he-IL">
                <a:solidFill>
                  <a:srgbClr val="212121"/>
                </a:solidFill>
              </a:rPr>
              <a:t>☐  יומן שימוש ב־AI: מה ביקשתי ואיך אימתתי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ב׳ :</a:t>
            </a:r>
            <a:r>
              <a:rPr sz="3000" b="1" i="0" lang="he-IL">
                <a:solidFill>
                  <a:srgbClr val="212121"/>
                </a:solidFill>
              </a:rPr>
              <a:t>מה נשאר כשהכלים מתחלפים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2926080" y="1737360"/>
            <a:ext cx="3291840" cy="1463040"/>
          </a:xfrm>
          <a:prstGeom prst="ellipse">
            <a:avLst/>
          </a:prstGeom>
          <a:solidFill>
            <a:srgbClr val="E1F4E6"/>
          </a:solidFill>
          <a:ln w="3810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34A853"/>
                </a:solidFill>
              </a:rPr>
              <a:t>היסודות</a:t>
            </a:r>
          </a:p>
          <a:p>
            <a:pPr rtl="1" algn="ctr" marL="0" indent="0">
              <a:lnSpc>
                <a:spcPct val="105000"/>
              </a:lnSpc>
              <a:spcBef>
                <a:spcPts val="0"/>
              </a:spcBef>
              <a:spcAft>
                <a:spcPts val="0"/>
              </a:spcAft>
              <a:buNone/>
            </a:pPr>
            <a:r>
              <a:rPr sz="1400" b="0" i="0" lang="he-IL">
                <a:solidFill>
                  <a:srgbClr val="212121"/>
                </a:solidFill>
              </a:rPr>
              <a:t>HTTP · SQL · Git
בדיקות · אבטחה · תקשורת</a:t>
            </a:r>
          </a:p>
        </p:txBody>
      </p:sp>
      <p:sp>
        <p:nvSpPr>
          <p:cNvPr id="6" name="Rounded Rectangle 5"/>
          <p:cNvSpPr/>
          <p:nvPr/>
        </p:nvSpPr>
        <p:spPr>
          <a:xfrm>
            <a:off x="7040880" y="1417320"/>
            <a:ext cx="1645920" cy="64008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כלי א׳</a:t>
            </a:r>
          </a:p>
        </p:txBody>
      </p:sp>
      <p:sp>
        <p:nvSpPr>
          <p:cNvPr id="7" name="Rounded Rectangle 6"/>
          <p:cNvSpPr/>
          <p:nvPr/>
        </p:nvSpPr>
        <p:spPr>
          <a:xfrm>
            <a:off x="457200" y="1417320"/>
            <a:ext cx="1645920" cy="64008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כלי ב׳</a:t>
            </a:r>
          </a:p>
        </p:txBody>
      </p:sp>
      <p:sp>
        <p:nvSpPr>
          <p:cNvPr id="8" name="Rounded Rectangle 7"/>
          <p:cNvSpPr/>
          <p:nvPr/>
        </p:nvSpPr>
        <p:spPr>
          <a:xfrm>
            <a:off x="3749039" y="3840480"/>
            <a:ext cx="1645920" cy="64008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כלי ג׳</a:t>
            </a:r>
          </a:p>
        </p:txBody>
      </p:sp>
      <p:cxnSp>
        <p:nvCxnSpPr>
          <p:cNvPr id="9" name="Connector 8"/>
          <p:cNvCxnSpPr/>
          <p:nvPr/>
        </p:nvCxnSpPr>
        <p:spPr>
          <a:xfrm flipH="1">
            <a:off x="6217920" y="1828800"/>
            <a:ext cx="777240" cy="457200"/>
          </a:xfrm>
          <a:prstGeom prst="line">
            <a:avLst/>
          </a:prstGeom>
          <a:ln w="25400">
            <a:solidFill>
              <a:srgbClr val="78909C"/>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148840" y="1828800"/>
            <a:ext cx="822960" cy="457200"/>
          </a:xfrm>
          <a:prstGeom prst="line">
            <a:avLst/>
          </a:prstGeom>
          <a:ln w="25400">
            <a:solidFill>
              <a:srgbClr val="78909C"/>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4572000" y="3246120"/>
            <a:ext cx="0" cy="576071"/>
          </a:xfrm>
          <a:prstGeom prst="line">
            <a:avLst/>
          </a:prstGeom>
          <a:ln w="25400">
            <a:solidFill>
              <a:srgbClr val="78909C"/>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5760" y="4480560"/>
            <a:ext cx="8412480" cy="5943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300" b="0" i="0" lang="he-IL">
                <a:solidFill>
                  <a:srgbClr val="595959"/>
                </a:solidFill>
              </a:rPr>
              <a:t>קריאה להעמקה: ReAct (Yao 2023) · Toolformer (Schick 2023) · Refactoring (Fowler 2018) · Anthropic · MCP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ב׳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אתם מקבלים פרויקט חדש מחר. אילו שלוש פעולות עושים לפני שמבקשים מסוכן לכתוב קוד?</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ב׳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אתם מקבלים פרויקט חדש מחר. אילו שלוש פעולות עושים לפני שמבקשים מסוכן לכתוב קוד?</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מאגר Git עם commit ראשון, README ומפרט של עמוד.</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בדיקה אחת שנכשלת, ויומן שימוש ב־AI. רק אז מבקשים מהסוכן.</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המחברת : הקובץ הנדרש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2011680"/>
          </a:xfrm>
          <a:prstGeom prst="roundRect">
            <a:avLst>
              <a:gd name="adj" fmla="val 12000"/>
            </a:avLst>
          </a:prstGeom>
          <a:solidFill>
            <a:srgbClr val="FFFFFF"/>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34A853"/>
                </a:solidFill>
              </a:rPr>
              <a:t>1</a:t>
            </a:r>
          </a:p>
          <a:p>
            <a:pPr rtl="1" algn="ctr" marL="0" indent="0">
              <a:lnSpc>
                <a:spcPct val="105000"/>
              </a:lnSpc>
              <a:spcBef>
                <a:spcPts val="0"/>
              </a:spcBef>
              <a:spcAft>
                <a:spcPts val="0"/>
              </a:spcAft>
              <a:buNone/>
            </a:pPr>
            <a:r>
              <a:rPr sz="1700" b="1" i="0" lang="he-IL">
                <a:solidFill>
                  <a:srgbClr val="212121"/>
                </a:solidFill>
              </a:rPr>
              <a:t>הקובץ</a:t>
            </a:r>
          </a:p>
          <a:p>
            <a:pPr rtl="1" algn="ctr" marL="0" indent="0">
              <a:lnSpc>
                <a:spcPct val="105000"/>
              </a:lnSpc>
              <a:spcBef>
                <a:spcPts val="0"/>
              </a:spcBef>
              <a:spcAft>
                <a:spcPts val="0"/>
              </a:spcAft>
              <a:buNone/>
            </a:pPr>
            <a:r>
              <a:rPr sz="1300" b="0" i="0" lang="he-IL">
                <a:solidFill>
                  <a:srgbClr val="595959"/>
                </a:solidFill>
              </a:rPr>
              <a:t>HM_13.ipynb. חלקים א׳-ג׳ לבית, חלק ד׳ בזמן ההצגות</a:t>
            </a:r>
          </a:p>
        </p:txBody>
      </p:sp>
      <p:sp>
        <p:nvSpPr>
          <p:cNvPr id="6" name="Rounded Rectangle 5"/>
          <p:cNvSpPr/>
          <p:nvPr/>
        </p:nvSpPr>
        <p:spPr>
          <a:xfrm>
            <a:off x="3246120" y="1463040"/>
            <a:ext cx="2697480" cy="2011680"/>
          </a:xfrm>
          <a:prstGeom prst="roundRect">
            <a:avLst>
              <a:gd name="adj" fmla="val 12000"/>
            </a:avLst>
          </a:prstGeom>
          <a:solidFill>
            <a:srgbClr val="FFFFFF"/>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FFAB40"/>
                </a:solidFill>
              </a:rPr>
              <a:t>2</a:t>
            </a:r>
          </a:p>
          <a:p>
            <a:pPr rtl="1" algn="ctr" marL="0" indent="0">
              <a:lnSpc>
                <a:spcPct val="105000"/>
              </a:lnSpc>
              <a:spcBef>
                <a:spcPts val="0"/>
              </a:spcBef>
              <a:spcAft>
                <a:spcPts val="0"/>
              </a:spcAft>
              <a:buNone/>
            </a:pPr>
            <a:r>
              <a:rPr sz="1700" b="1" i="0" lang="he-IL">
                <a:solidFill>
                  <a:srgbClr val="212121"/>
                </a:solidFill>
              </a:rPr>
              <a:t>איך פותחים</a:t>
            </a:r>
          </a:p>
          <a:p>
            <a:pPr rtl="1" algn="ctr" marL="0" indent="0">
              <a:lnSpc>
                <a:spcPct val="105000"/>
              </a:lnSpc>
              <a:spcBef>
                <a:spcPts val="0"/>
              </a:spcBef>
              <a:spcAft>
                <a:spcPts val="0"/>
              </a:spcAft>
              <a:buNone/>
            </a:pPr>
            <a:r>
              <a:rPr sz="1300" b="0" i="0" lang="he-IL">
                <a:solidFill>
                  <a:srgbClr val="595959"/>
                </a:solidFill>
              </a:rPr>
              <a:t>קישור או QR מהמרצה, או Upload ל־Colab. כל הדרכים במדריך Google Colab</a:t>
            </a:r>
          </a:p>
        </p:txBody>
      </p:sp>
      <p:sp>
        <p:nvSpPr>
          <p:cNvPr id="7" name="Rounded Rectangle 6"/>
          <p:cNvSpPr/>
          <p:nvPr/>
        </p:nvSpPr>
        <p:spPr>
          <a:xfrm>
            <a:off x="320039" y="1463040"/>
            <a:ext cx="2697480" cy="2011680"/>
          </a:xfrm>
          <a:prstGeom prst="roundRect">
            <a:avLst>
              <a:gd name="adj" fmla="val 12000"/>
            </a:avLst>
          </a:prstGeom>
          <a:solidFill>
            <a:srgbClr val="FFFF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4285F4"/>
                </a:solidFill>
              </a:rPr>
              <a:t>3</a:t>
            </a:r>
          </a:p>
          <a:p>
            <a:pPr rtl="1" algn="ctr" marL="0" indent="0">
              <a:lnSpc>
                <a:spcPct val="105000"/>
              </a:lnSpc>
              <a:spcBef>
                <a:spcPts val="0"/>
              </a:spcBef>
              <a:spcAft>
                <a:spcPts val="0"/>
              </a:spcAft>
              <a:buNone/>
            </a:pPr>
            <a:r>
              <a:rPr sz="1700" b="1" i="0" lang="he-IL">
                <a:solidFill>
                  <a:srgbClr val="212121"/>
                </a:solidFill>
              </a:rPr>
              <a:t>מה שומרים</a:t>
            </a:r>
          </a:p>
          <a:p>
            <a:pPr rtl="1" algn="ctr" marL="0" indent="0">
              <a:lnSpc>
                <a:spcPct val="105000"/>
              </a:lnSpc>
              <a:spcBef>
                <a:spcPts val="0"/>
              </a:spcBef>
              <a:spcAft>
                <a:spcPts val="0"/>
              </a:spcAft>
              <a:buNone/>
            </a:pPr>
            <a:r>
              <a:rPr sz="1300" b="0" i="0" lang="he-IL">
                <a:solidFill>
                  <a:srgbClr val="595959"/>
                </a:solidFill>
              </a:rPr>
              <a:t>בסוף: ✓ בכל הבדיקות, שמירה ב־Drive והורדת הקובץ</a:t>
            </a:r>
          </a:p>
        </p:txBody>
      </p:sp>
      <p:sp>
        <p:nvSpPr>
          <p:cNvPr id="8" name="Rectangle 7"/>
          <p:cNvSpPr/>
          <p:nvPr/>
        </p:nvSpPr>
        <p:spPr>
          <a:xfrm>
            <a:off x="7589520" y="3749039"/>
            <a:ext cx="914400" cy="91440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9" name="TextBox 8"/>
          <p:cNvSpPr txBox="1"/>
          <p:nvPr/>
        </p:nvSpPr>
        <p:spPr>
          <a:xfrm>
            <a:off x="7040880" y="4663440"/>
            <a:ext cx="201168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HM_13</a:t>
            </a:r>
          </a:p>
        </p:txBody>
      </p:sp>
      <p:sp>
        <p:nvSpPr>
          <p:cNvPr id="10" name="Rounded Rectangle 9"/>
          <p:cNvSpPr/>
          <p:nvPr/>
        </p:nvSpPr>
        <p:spPr>
          <a:xfrm>
            <a:off x="365760" y="3749039"/>
            <a:ext cx="6858000" cy="118872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הנתונים כבר בתוך המחברת. קבצי פרויקט משלכם: דרך Drive או GitHub (במדריך, פרקים 4 ו־5).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המחברת :</a:t>
            </a:r>
            <a:r>
              <a:rPr sz="3000" b="1" i="0" lang="he-IL">
                <a:solidFill>
                  <a:srgbClr val="212121"/>
                </a:solidFill>
              </a:rPr>
              <a:t>ליבה לבית או לזמן שנחסך</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2011680"/>
          </a:xfrm>
          <a:prstGeom prst="roundRect">
            <a:avLst>
              <a:gd name="adj" fmla="val 12000"/>
            </a:avLst>
          </a:prstGeom>
          <a:solidFill>
            <a:srgbClr val="FFFFFF"/>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34A853"/>
                </a:solidFill>
              </a:rPr>
              <a:t>1</a:t>
            </a:r>
          </a:p>
          <a:p>
            <a:pPr rtl="1" algn="ctr" marL="0" indent="0">
              <a:lnSpc>
                <a:spcPct val="105000"/>
              </a:lnSpc>
              <a:spcBef>
                <a:spcPts val="0"/>
              </a:spcBef>
              <a:spcAft>
                <a:spcPts val="0"/>
              </a:spcAft>
              <a:buNone/>
            </a:pPr>
            <a:r>
              <a:rPr sz="1700" b="1" i="0" lang="he-IL">
                <a:solidFill>
                  <a:srgbClr val="212121"/>
                </a:solidFill>
              </a:rPr>
              <a:t>א׳: מחוון הערכה</a:t>
            </a:r>
          </a:p>
          <a:p>
            <a:pPr rtl="1" algn="ctr" marL="0" indent="0">
              <a:lnSpc>
                <a:spcPct val="105000"/>
              </a:lnSpc>
              <a:spcBef>
                <a:spcPts val="0"/>
              </a:spcBef>
              <a:spcAft>
                <a:spcPts val="0"/>
              </a:spcAft>
              <a:buNone/>
            </a:pPr>
            <a:r>
              <a:rPr sz="1300" b="0" i="0" lang="he-IL">
                <a:solidFill>
                  <a:srgbClr val="595959"/>
                </a:solidFill>
              </a:rPr>
              <a:t>weighted_score, score_problems: ציון בין 0 ל־100, וקלט שנבדק</a:t>
            </a:r>
          </a:p>
        </p:txBody>
      </p:sp>
      <p:sp>
        <p:nvSpPr>
          <p:cNvPr id="6" name="Rounded Rectangle 5"/>
          <p:cNvSpPr/>
          <p:nvPr/>
        </p:nvSpPr>
        <p:spPr>
          <a:xfrm>
            <a:off x="3246120" y="1463040"/>
            <a:ext cx="2697480" cy="2011680"/>
          </a:xfrm>
          <a:prstGeom prst="roundRect">
            <a:avLst>
              <a:gd name="adj" fmla="val 12000"/>
            </a:avLst>
          </a:prstGeom>
          <a:solidFill>
            <a:srgbClr val="FFFFFF"/>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FFAB40"/>
                </a:solidFill>
              </a:rPr>
              <a:t>2</a:t>
            </a:r>
          </a:p>
          <a:p>
            <a:pPr rtl="1" algn="ctr" marL="0" indent="0">
              <a:lnSpc>
                <a:spcPct val="105000"/>
              </a:lnSpc>
              <a:spcBef>
                <a:spcPts val="0"/>
              </a:spcBef>
              <a:spcAft>
                <a:spcPts val="0"/>
              </a:spcAft>
              <a:buNone/>
            </a:pPr>
            <a:r>
              <a:rPr sz="1700" b="1" i="0" lang="he-IL">
                <a:solidFill>
                  <a:srgbClr val="212121"/>
                </a:solidFill>
              </a:rPr>
              <a:t>ב׳: README בדוק</a:t>
            </a:r>
          </a:p>
          <a:p>
            <a:pPr rtl="1" algn="ctr" marL="0" indent="0">
              <a:lnSpc>
                <a:spcPct val="105000"/>
              </a:lnSpc>
              <a:spcBef>
                <a:spcPts val="0"/>
              </a:spcBef>
              <a:spcAft>
                <a:spcPts val="0"/>
              </a:spcAft>
              <a:buNone/>
            </a:pPr>
            <a:r>
              <a:rPr sz="1300" b="0" i="0" lang="he-IL">
                <a:solidFill>
                  <a:srgbClr val="595959"/>
                </a:solidFill>
              </a:rPr>
              <a:t>split_sections, check_readme: בודקים README, גם של Gemini</a:t>
            </a:r>
          </a:p>
        </p:txBody>
      </p:sp>
      <p:sp>
        <p:nvSpPr>
          <p:cNvPr id="7" name="Rounded Rectangle 6"/>
          <p:cNvSpPr/>
          <p:nvPr/>
        </p:nvSpPr>
        <p:spPr>
          <a:xfrm>
            <a:off x="320039" y="1463040"/>
            <a:ext cx="2697480" cy="2011680"/>
          </a:xfrm>
          <a:prstGeom prst="roundRect">
            <a:avLst>
              <a:gd name="adj" fmla="val 12000"/>
            </a:avLst>
          </a:prstGeom>
          <a:solidFill>
            <a:srgbClr val="FFFF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4285F4"/>
                </a:solidFill>
              </a:rPr>
              <a:t>3</a:t>
            </a:r>
          </a:p>
          <a:p>
            <a:pPr rtl="1" algn="ctr" marL="0" indent="0">
              <a:lnSpc>
                <a:spcPct val="105000"/>
              </a:lnSpc>
              <a:spcBef>
                <a:spcPts val="0"/>
              </a:spcBef>
              <a:spcAft>
                <a:spcPts val="0"/>
              </a:spcAft>
              <a:buNone/>
            </a:pPr>
            <a:r>
              <a:rPr sz="1700" b="1" i="0" lang="he-IL">
                <a:solidFill>
                  <a:srgbClr val="212121"/>
                </a:solidFill>
              </a:rPr>
              <a:t>ג׳: גילוי שימוש ב־AI</a:t>
            </a:r>
          </a:p>
          <a:p>
            <a:pPr rtl="1" algn="ctr" marL="0" indent="0">
              <a:lnSpc>
                <a:spcPct val="105000"/>
              </a:lnSpc>
              <a:spcBef>
                <a:spcPts val="0"/>
              </a:spcBef>
              <a:spcAft>
                <a:spcPts val="0"/>
              </a:spcAft>
              <a:buNone/>
            </a:pPr>
            <a:r>
              <a:rPr sz="1300" b="0" i="0" lang="he-IL">
                <a:solidFill>
                  <a:srgbClr val="595959"/>
                </a:solidFill>
              </a:rPr>
              <a:t>parse_log, ai_use_summary: סופרים החלטות ודגלים אדומים ביומן</a:t>
            </a:r>
          </a:p>
        </p:txBody>
      </p:sp>
      <p:sp>
        <p:nvSpPr>
          <p:cNvPr id="8" name="Rectangle 7"/>
          <p:cNvSpPr/>
          <p:nvPr/>
        </p:nvSpPr>
        <p:spPr>
          <a:xfrm>
            <a:off x="7589520" y="3749039"/>
            <a:ext cx="914400" cy="91440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9" name="TextBox 8"/>
          <p:cNvSpPr txBox="1"/>
          <p:nvPr/>
        </p:nvSpPr>
        <p:spPr>
          <a:xfrm>
            <a:off x="7040880" y="4663440"/>
            <a:ext cx="201168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HM_13</a:t>
            </a:r>
          </a:p>
        </p:txBody>
      </p:sp>
      <p:sp>
        <p:nvSpPr>
          <p:cNvPr id="10" name="Rounded Rectangle 9"/>
          <p:cNvSpPr/>
          <p:nvPr/>
        </p:nvSpPr>
        <p:spPr>
          <a:xfrm>
            <a:off x="365760" y="3749039"/>
            <a:ext cx="6858000" cy="118872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ליבה: כ־15 דקות, בבית או בזמן שנחסך מחלק א׳. בלי כלי AI, חוץ מצעד Gemini אחד.</a:t>
            </a:r>
          </a:p>
          <a:p>
            <a:pPr rtl="1" algn="ctr" marL="0" indent="0">
              <a:lnSpc>
                <a:spcPct val="105000"/>
              </a:lnSpc>
              <a:spcBef>
                <a:spcPts val="0"/>
              </a:spcBef>
              <a:spcAft>
                <a:spcPts val="0"/>
              </a:spcAft>
              <a:buNone/>
            </a:pPr>
            <a:r>
              <a:rPr sz="1300" b="0" i="0" lang="he-IL">
                <a:solidFill>
                  <a:srgbClr val="212121"/>
                </a:solidFill>
              </a:rPr>
              <a:t>למה: מפרט (7), בדיקת קלט (10), README (11), יומן AI (5 ו־12).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ג׳ :</a:t>
            </a:r>
            <a:r>
              <a:rPr sz="3000" b="1" i="0" lang="he-IL">
                <a:solidFill>
                  <a:srgbClr val="212121"/>
                </a:solidFill>
              </a:rPr>
              <a:t>כללי ההצגה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7394447" y="1554480"/>
            <a:ext cx="1365503" cy="1371600"/>
          </a:xfrm>
          <a:prstGeom prst="roundRect">
            <a:avLst>
              <a:gd name="adj" fmla="val 8000"/>
            </a:avLst>
          </a:prstGeom>
          <a:solidFill>
            <a:srgbClr val="4285F4"/>
          </a:solidFill>
          <a:ln>
            <a:noFill/>
          </a:ln>
        </p:spPr>
        <p:txBody>
          <a:bodyPr rtlCol="0" anchor="ctr" wrap="square" lIns="27432" rIns="27432" tIns="27432" bIns="27432">
            <a:noAutofit/>
          </a:bodyPr>
          <a:lstStyle/>
          <a:p>
            <a:pPr rtl="1" algn="ctr" marL="0" indent="0">
              <a:lnSpc>
                <a:spcPct val="105000"/>
              </a:lnSpc>
              <a:spcBef>
                <a:spcPts val="0"/>
              </a:spcBef>
              <a:spcAft>
                <a:spcPts val="0"/>
              </a:spcAft>
              <a:buNone/>
            </a:pPr>
            <a:r>
              <a:rPr sz="1300" b="1" i="0" lang="he-IL">
                <a:solidFill>
                  <a:srgbClr val="FFFFFF"/>
                </a:solidFill>
              </a:rPr>
              <a:t>בעיה ומשתמש</a:t>
            </a:r>
          </a:p>
          <a:p>
            <a:pPr rtl="1" algn="ctr" marL="0" indent="0">
              <a:lnSpc>
                <a:spcPct val="105000"/>
              </a:lnSpc>
              <a:spcBef>
                <a:spcPts val="0"/>
              </a:spcBef>
              <a:spcAft>
                <a:spcPts val="0"/>
              </a:spcAft>
              <a:buNone/>
            </a:pPr>
            <a:r>
              <a:rPr sz="1600" b="0" i="0" lang="he-IL">
                <a:solidFill>
                  <a:srgbClr val="FFFFFF"/>
                </a:solidFill>
              </a:rPr>
              <a:t>1׳</a:t>
            </a:r>
          </a:p>
        </p:txBody>
      </p:sp>
      <p:sp>
        <p:nvSpPr>
          <p:cNvPr id="6" name="Rounded Rectangle 5"/>
          <p:cNvSpPr/>
          <p:nvPr/>
        </p:nvSpPr>
        <p:spPr>
          <a:xfrm>
            <a:off x="4590288" y="1554480"/>
            <a:ext cx="2767583" cy="1371600"/>
          </a:xfrm>
          <a:prstGeom prst="roundRect">
            <a:avLst>
              <a:gd name="adj" fmla="val 8000"/>
            </a:avLst>
          </a:prstGeom>
          <a:solidFill>
            <a:srgbClr val="FFAB40"/>
          </a:solidFill>
          <a:ln>
            <a:noFill/>
          </a:ln>
        </p:spPr>
        <p:txBody>
          <a:bodyPr rtlCol="0" anchor="ctr" wrap="square" lIns="27432" rIns="27432" tIns="27432" bIns="27432">
            <a:noAutofit/>
          </a:bodyPr>
          <a:lstStyle/>
          <a:p>
            <a:pPr rtl="1" algn="ctr" marL="0" indent="0">
              <a:lnSpc>
                <a:spcPct val="105000"/>
              </a:lnSpc>
              <a:spcBef>
                <a:spcPts val="0"/>
              </a:spcBef>
              <a:spcAft>
                <a:spcPts val="0"/>
              </a:spcAft>
              <a:buNone/>
            </a:pPr>
            <a:r>
              <a:rPr sz="1300" b="1" i="0" lang="he-IL">
                <a:solidFill>
                  <a:srgbClr val="212121"/>
                </a:solidFill>
              </a:rPr>
              <a:t>דמו</a:t>
            </a:r>
          </a:p>
          <a:p>
            <a:pPr rtl="1" algn="ctr" marL="0" indent="0">
              <a:lnSpc>
                <a:spcPct val="105000"/>
              </a:lnSpc>
              <a:spcBef>
                <a:spcPts val="0"/>
              </a:spcBef>
              <a:spcAft>
                <a:spcPts val="0"/>
              </a:spcAft>
              <a:buNone/>
            </a:pPr>
            <a:r>
              <a:rPr sz="1600" b="0" i="0" lang="he-IL">
                <a:solidFill>
                  <a:srgbClr val="212121"/>
                </a:solidFill>
              </a:rPr>
              <a:t>2׳</a:t>
            </a:r>
          </a:p>
        </p:txBody>
      </p:sp>
      <p:sp>
        <p:nvSpPr>
          <p:cNvPr id="7" name="Rounded Rectangle 6"/>
          <p:cNvSpPr/>
          <p:nvPr/>
        </p:nvSpPr>
        <p:spPr>
          <a:xfrm>
            <a:off x="3188208" y="1554480"/>
            <a:ext cx="1365503" cy="1371600"/>
          </a:xfrm>
          <a:prstGeom prst="roundRect">
            <a:avLst>
              <a:gd name="adj" fmla="val 8000"/>
            </a:avLst>
          </a:prstGeom>
          <a:solidFill>
            <a:srgbClr val="0097A7"/>
          </a:solidFill>
          <a:ln>
            <a:noFill/>
          </a:ln>
        </p:spPr>
        <p:txBody>
          <a:bodyPr rtlCol="0" anchor="ctr" wrap="square" lIns="27432" rIns="27432" tIns="27432" bIns="27432">
            <a:noAutofit/>
          </a:bodyPr>
          <a:lstStyle/>
          <a:p>
            <a:pPr rtl="1" algn="ctr" marL="0" indent="0">
              <a:lnSpc>
                <a:spcPct val="105000"/>
              </a:lnSpc>
              <a:spcBef>
                <a:spcPts val="0"/>
              </a:spcBef>
              <a:spcAft>
                <a:spcPts val="0"/>
              </a:spcAft>
              <a:buNone/>
            </a:pPr>
            <a:r>
              <a:rPr sz="1300" b="1" i="0" lang="he-IL">
                <a:solidFill>
                  <a:srgbClr val="FFFFFF"/>
                </a:solidFill>
              </a:rPr>
              <a:t>תהליך עם AI</a:t>
            </a:r>
          </a:p>
          <a:p>
            <a:pPr rtl="1" algn="ctr" marL="0" indent="0">
              <a:lnSpc>
                <a:spcPct val="105000"/>
              </a:lnSpc>
              <a:spcBef>
                <a:spcPts val="0"/>
              </a:spcBef>
              <a:spcAft>
                <a:spcPts val="0"/>
              </a:spcAft>
              <a:buNone/>
            </a:pPr>
            <a:r>
              <a:rPr sz="1600" b="0" i="0" lang="he-IL">
                <a:solidFill>
                  <a:srgbClr val="FFFFFF"/>
                </a:solidFill>
              </a:rPr>
              <a:t>1׳</a:t>
            </a:r>
          </a:p>
        </p:txBody>
      </p:sp>
      <p:sp>
        <p:nvSpPr>
          <p:cNvPr id="8" name="Rounded Rectangle 7"/>
          <p:cNvSpPr/>
          <p:nvPr/>
        </p:nvSpPr>
        <p:spPr>
          <a:xfrm>
            <a:off x="1786128" y="1554480"/>
            <a:ext cx="1365503" cy="1371600"/>
          </a:xfrm>
          <a:prstGeom prst="roundRect">
            <a:avLst>
              <a:gd name="adj" fmla="val 8000"/>
            </a:avLst>
          </a:prstGeom>
          <a:solidFill>
            <a:srgbClr val="34A853"/>
          </a:solidFill>
          <a:ln>
            <a:noFill/>
          </a:ln>
        </p:spPr>
        <p:txBody>
          <a:bodyPr rtlCol="0" anchor="ctr" wrap="square" lIns="27432" rIns="27432" tIns="27432" bIns="27432">
            <a:noAutofit/>
          </a:bodyPr>
          <a:lstStyle/>
          <a:p>
            <a:pPr rtl="1" algn="ctr" marL="0" indent="0">
              <a:lnSpc>
                <a:spcPct val="105000"/>
              </a:lnSpc>
              <a:spcBef>
                <a:spcPts val="0"/>
              </a:spcBef>
              <a:spcAft>
                <a:spcPts val="0"/>
              </a:spcAft>
              <a:buNone/>
            </a:pPr>
            <a:r>
              <a:rPr sz="1300" b="1" i="0" lang="he-IL">
                <a:solidFill>
                  <a:srgbClr val="FFFFFF"/>
                </a:solidFill>
              </a:rPr>
              <a:t>אחריות ובדיקות</a:t>
            </a:r>
          </a:p>
          <a:p>
            <a:pPr rtl="1" algn="ctr" marL="0" indent="0">
              <a:lnSpc>
                <a:spcPct val="105000"/>
              </a:lnSpc>
              <a:spcBef>
                <a:spcPts val="0"/>
              </a:spcBef>
              <a:spcAft>
                <a:spcPts val="0"/>
              </a:spcAft>
              <a:buNone/>
            </a:pPr>
            <a:r>
              <a:rPr sz="1600" b="0" i="0" lang="he-IL">
                <a:solidFill>
                  <a:srgbClr val="FFFFFF"/>
                </a:solidFill>
              </a:rPr>
              <a:t>1׳</a:t>
            </a:r>
          </a:p>
        </p:txBody>
      </p:sp>
      <p:sp>
        <p:nvSpPr>
          <p:cNvPr id="9" name="Rounded Rectangle 8"/>
          <p:cNvSpPr/>
          <p:nvPr/>
        </p:nvSpPr>
        <p:spPr>
          <a:xfrm>
            <a:off x="384048" y="1554480"/>
            <a:ext cx="1365503" cy="1371600"/>
          </a:xfrm>
          <a:prstGeom prst="roundRect">
            <a:avLst>
              <a:gd name="adj" fmla="val 8000"/>
            </a:avLst>
          </a:prstGeom>
          <a:solidFill>
            <a:srgbClr val="78909C"/>
          </a:solidFill>
          <a:ln>
            <a:noFill/>
          </a:ln>
        </p:spPr>
        <p:txBody>
          <a:bodyPr rtlCol="0" anchor="ctr" wrap="square" lIns="27432" rIns="27432" tIns="27432" bIns="27432">
            <a:noAutofit/>
          </a:bodyPr>
          <a:lstStyle/>
          <a:p>
            <a:pPr rtl="1" algn="ctr" marL="0" indent="0">
              <a:lnSpc>
                <a:spcPct val="105000"/>
              </a:lnSpc>
              <a:spcBef>
                <a:spcPts val="0"/>
              </a:spcBef>
              <a:spcAft>
                <a:spcPts val="0"/>
              </a:spcAft>
              <a:buNone/>
            </a:pPr>
            <a:r>
              <a:rPr sz="1300" b="1" i="0" lang="he-IL">
                <a:solidFill>
                  <a:srgbClr val="FFFFFF"/>
                </a:solidFill>
              </a:rPr>
              <a:t>שאלות</a:t>
            </a:r>
          </a:p>
          <a:p>
            <a:pPr rtl="1" algn="ctr" marL="0" indent="0">
              <a:lnSpc>
                <a:spcPct val="105000"/>
              </a:lnSpc>
              <a:spcBef>
                <a:spcPts val="0"/>
              </a:spcBef>
              <a:spcAft>
                <a:spcPts val="0"/>
              </a:spcAft>
              <a:buNone/>
            </a:pPr>
            <a:r>
              <a:rPr sz="1600" b="0" i="0" lang="he-IL">
                <a:solidFill>
                  <a:srgbClr val="FFFFFF"/>
                </a:solidFill>
              </a:rPr>
              <a:t>1׳</a:t>
            </a:r>
          </a:p>
        </p:txBody>
      </p:sp>
      <p:cxnSp>
        <p:nvCxnSpPr>
          <p:cNvPr id="10" name="Connector 9"/>
          <p:cNvCxnSpPr/>
          <p:nvPr/>
        </p:nvCxnSpPr>
        <p:spPr>
          <a:xfrm flipH="1">
            <a:off x="365760" y="3200400"/>
            <a:ext cx="8412480" cy="0"/>
          </a:xfrm>
          <a:prstGeom prst="line">
            <a:avLst/>
          </a:prstGeom>
          <a:ln w="254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329184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595959"/>
                </a:solidFill>
              </a:rPr>
              <a:t>6 דקות לקבוצה</a:t>
            </a:r>
          </a:p>
        </p:txBody>
      </p:sp>
      <p:sp>
        <p:nvSpPr>
          <p:cNvPr id="12" name="TextBox 11"/>
          <p:cNvSpPr txBox="1"/>
          <p:nvPr/>
        </p:nvSpPr>
        <p:spPr>
          <a:xfrm>
            <a:off x="365760" y="3749039"/>
            <a:ext cx="8412480" cy="12801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כל חבר צוות מציג חלק.</a:t>
            </a:r>
          </a:p>
          <a:p>
            <a:pPr rtl="1" algn="ctr" marL="0" indent="0">
              <a:lnSpc>
                <a:spcPct val="110000"/>
              </a:lnSpc>
              <a:spcBef>
                <a:spcPts val="0"/>
              </a:spcBef>
              <a:spcAft>
                <a:spcPts val="0"/>
              </a:spcAft>
              <a:buNone/>
            </a:pPr>
            <a:r>
              <a:rPr sz="1700" b="0" i="0" lang="he-IL">
                <a:solidFill>
                  <a:srgbClr val="595959"/>
                </a:solidFill>
              </a:rPr>
              <a:t>מי שמציג, גם עונה על שאלות על החלק שלו בקוד.</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ג׳ :</a:t>
            </a:r>
            <a:r>
              <a:rPr sz="3000" b="1" i="0" lang="he-IL">
                <a:solidFill>
                  <a:srgbClr val="212121"/>
                </a:solidFill>
              </a:rPr>
              <a:t>מה מעריכים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371600"/>
            <a:ext cx="4114800" cy="1051560"/>
          </a:xfrm>
          <a:prstGeom prst="roundRect">
            <a:avLst>
              <a:gd name="adj" fmla="val 8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863840" y="1463040"/>
            <a:ext cx="868680" cy="8686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7" name="TextBox 6"/>
          <p:cNvSpPr txBox="1"/>
          <p:nvPr/>
        </p:nvSpPr>
        <p:spPr>
          <a:xfrm>
            <a:off x="4754879" y="146304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בעיה וערך</a:t>
            </a:r>
          </a:p>
        </p:txBody>
      </p:sp>
      <p:sp>
        <p:nvSpPr>
          <p:cNvPr id="8" name="TextBox 7"/>
          <p:cNvSpPr txBox="1"/>
          <p:nvPr/>
        </p:nvSpPr>
        <p:spPr>
          <a:xfrm>
            <a:off x="4754879" y="192024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בעיה תפעולית ברורה ומשתמש מוגדר</a:t>
            </a:r>
          </a:p>
        </p:txBody>
      </p:sp>
      <p:sp>
        <p:nvSpPr>
          <p:cNvPr id="9" name="Rounded Rectangle 8"/>
          <p:cNvSpPr/>
          <p:nvPr/>
        </p:nvSpPr>
        <p:spPr>
          <a:xfrm>
            <a:off x="365760" y="1371600"/>
            <a:ext cx="4114800" cy="1051560"/>
          </a:xfrm>
          <a:prstGeom prst="roundRect">
            <a:avLst>
              <a:gd name="adj" fmla="val 8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0" name="TextBox 9"/>
          <p:cNvSpPr txBox="1"/>
          <p:nvPr/>
        </p:nvSpPr>
        <p:spPr>
          <a:xfrm>
            <a:off x="3566160" y="1463040"/>
            <a:ext cx="868680" cy="8686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11" name="TextBox 10"/>
          <p:cNvSpPr txBox="1"/>
          <p:nvPr/>
        </p:nvSpPr>
        <p:spPr>
          <a:xfrm>
            <a:off x="457200" y="146304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סוכן שעובד</a:t>
            </a:r>
          </a:p>
        </p:txBody>
      </p:sp>
      <p:sp>
        <p:nvSpPr>
          <p:cNvPr id="12" name="TextBox 11"/>
          <p:cNvSpPr txBox="1"/>
          <p:nvPr/>
        </p:nvSpPr>
        <p:spPr>
          <a:xfrm>
            <a:off x="457200" y="192024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דמו חי או סרטון, ותוצאה נכונה (מפגשים 5‎–‎6)</a:t>
            </a:r>
          </a:p>
        </p:txBody>
      </p:sp>
      <p:sp>
        <p:nvSpPr>
          <p:cNvPr id="13" name="Rounded Rectangle 12"/>
          <p:cNvSpPr/>
          <p:nvPr/>
        </p:nvSpPr>
        <p:spPr>
          <a:xfrm>
            <a:off x="4663440" y="2560320"/>
            <a:ext cx="4114800" cy="1051560"/>
          </a:xfrm>
          <a:prstGeom prst="roundRect">
            <a:avLst>
              <a:gd name="adj" fmla="val 8000"/>
            </a:avLst>
          </a:prstGeom>
          <a:solidFill>
            <a:srgbClr val="E1F4E6"/>
          </a:solidFill>
          <a:ln w="25400">
            <a:solidFill>
              <a:srgbClr val="34A853"/>
            </a:solidFill>
          </a:ln>
        </p:spPr>
        <p:txBody>
          <a:bodyPr rtlCol="0" anchor="ctr" wrap="square" lIns="73152" rIns="73152" tIns="73152" bIns="73152">
            <a:noAutofit/>
          </a:bodyPr>
          <a:lstStyle/>
          <a:p>
            <a:pPr algn="ctr"/>
          </a:p>
        </p:txBody>
      </p:sp>
      <p:sp>
        <p:nvSpPr>
          <p:cNvPr id="14" name="TextBox 13"/>
          <p:cNvSpPr txBox="1"/>
          <p:nvPr/>
        </p:nvSpPr>
        <p:spPr>
          <a:xfrm>
            <a:off x="7863840" y="2651760"/>
            <a:ext cx="868680" cy="8686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15" name="TextBox 14"/>
          <p:cNvSpPr txBox="1"/>
          <p:nvPr/>
        </p:nvSpPr>
        <p:spPr>
          <a:xfrm>
            <a:off x="4754879" y="265176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איכות הנדסית</a:t>
            </a:r>
          </a:p>
        </p:txBody>
      </p:sp>
      <p:sp>
        <p:nvSpPr>
          <p:cNvPr id="16" name="TextBox 15"/>
          <p:cNvSpPr txBox="1"/>
          <p:nvPr/>
        </p:nvSpPr>
        <p:spPr>
          <a:xfrm>
            <a:off x="4754879" y="310896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בדיקות, Git ו־README (מפגשים 6, 8, 11)</a:t>
            </a:r>
          </a:p>
        </p:txBody>
      </p:sp>
      <p:sp>
        <p:nvSpPr>
          <p:cNvPr id="17" name="Rounded Rectangle 16"/>
          <p:cNvSpPr/>
          <p:nvPr/>
        </p:nvSpPr>
        <p:spPr>
          <a:xfrm>
            <a:off x="365760" y="2560320"/>
            <a:ext cx="4114800" cy="1051560"/>
          </a:xfrm>
          <a:prstGeom prst="roundRect">
            <a:avLst>
              <a:gd name="adj" fmla="val 8000"/>
            </a:avLst>
          </a:prstGeom>
          <a:solidFill>
            <a:srgbClr val="FDE3E0"/>
          </a:solidFill>
          <a:ln w="25400">
            <a:solidFill>
              <a:srgbClr val="EA4335"/>
            </a:solidFill>
          </a:ln>
        </p:spPr>
        <p:txBody>
          <a:bodyPr rtlCol="0" anchor="ctr" wrap="square" lIns="73152" rIns="73152" tIns="73152" bIns="73152">
            <a:noAutofit/>
          </a:bodyPr>
          <a:lstStyle/>
          <a:p>
            <a:pPr algn="ctr"/>
          </a:p>
        </p:txBody>
      </p:sp>
      <p:sp>
        <p:nvSpPr>
          <p:cNvPr id="18" name="TextBox 17"/>
          <p:cNvSpPr txBox="1"/>
          <p:nvPr/>
        </p:nvSpPr>
        <p:spPr>
          <a:xfrm>
            <a:off x="3566160" y="2651760"/>
            <a:ext cx="868680" cy="8686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19" name="TextBox 18"/>
          <p:cNvSpPr txBox="1"/>
          <p:nvPr/>
        </p:nvSpPr>
        <p:spPr>
          <a:xfrm>
            <a:off x="457200" y="265176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אבטחה ואחריות</a:t>
            </a:r>
          </a:p>
        </p:txBody>
      </p:sp>
      <p:sp>
        <p:nvSpPr>
          <p:cNvPr id="20" name="TextBox 19"/>
          <p:cNvSpPr txBox="1"/>
          <p:nvPr/>
        </p:nvSpPr>
        <p:spPr>
          <a:xfrm>
            <a:off x="457200" y="310896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סודות, מגבלות והצהרת AI (מפגשים 10, 12)</a:t>
            </a:r>
          </a:p>
        </p:txBody>
      </p:sp>
      <p:sp>
        <p:nvSpPr>
          <p:cNvPr id="21" name="Rounded Rectangle 20"/>
          <p:cNvSpPr/>
          <p:nvPr/>
        </p:nvSpPr>
        <p:spPr>
          <a:xfrm>
            <a:off x="4663440" y="3749039"/>
            <a:ext cx="4114800" cy="1051560"/>
          </a:xfrm>
          <a:prstGeom prst="roundRect">
            <a:avLst>
              <a:gd name="adj" fmla="val 8000"/>
            </a:avLst>
          </a:prstGeom>
          <a:solidFill>
            <a:srgbClr val="DDF2F5"/>
          </a:solidFill>
          <a:ln w="25400">
            <a:solidFill>
              <a:srgbClr val="0097A7"/>
            </a:solidFill>
          </a:ln>
        </p:spPr>
        <p:txBody>
          <a:bodyPr rtlCol="0" anchor="ctr" wrap="square" lIns="73152" rIns="73152" tIns="73152" bIns="73152">
            <a:noAutofit/>
          </a:bodyPr>
          <a:lstStyle/>
          <a:p>
            <a:pPr algn="ctr"/>
          </a:p>
        </p:txBody>
      </p:sp>
      <p:sp>
        <p:nvSpPr>
          <p:cNvPr id="22" name="TextBox 21"/>
          <p:cNvSpPr txBox="1"/>
          <p:nvPr/>
        </p:nvSpPr>
        <p:spPr>
          <a:xfrm>
            <a:off x="7863840" y="3840479"/>
            <a:ext cx="868680" cy="8686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23" name="TextBox 22"/>
          <p:cNvSpPr txBox="1"/>
          <p:nvPr/>
        </p:nvSpPr>
        <p:spPr>
          <a:xfrm>
            <a:off x="4754879" y="3840479"/>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עמוד נחיתה</a:t>
            </a:r>
          </a:p>
        </p:txBody>
      </p:sp>
      <p:sp>
        <p:nvSpPr>
          <p:cNvPr id="24" name="TextBox 23"/>
          <p:cNvSpPr txBox="1"/>
          <p:nvPr/>
        </p:nvSpPr>
        <p:spPr>
          <a:xfrm>
            <a:off x="4754879" y="4297679"/>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סרטון, תהליך וקישור לדמו (מפגש 12)</a:t>
            </a:r>
          </a:p>
        </p:txBody>
      </p:sp>
      <p:sp>
        <p:nvSpPr>
          <p:cNvPr id="25" name="Rounded Rectangle 24"/>
          <p:cNvSpPr/>
          <p:nvPr/>
        </p:nvSpPr>
        <p:spPr>
          <a:xfrm>
            <a:off x="365760" y="3749039"/>
            <a:ext cx="4114800" cy="1051560"/>
          </a:xfrm>
          <a:prstGeom prst="roundRect">
            <a:avLst>
              <a:gd name="adj" fmla="val 8000"/>
            </a:avLst>
          </a:prstGeom>
          <a:solidFill>
            <a:srgbClr val="F2F2F2"/>
          </a:solidFill>
          <a:ln w="25400">
            <a:solidFill>
              <a:srgbClr val="78909C"/>
            </a:solidFill>
          </a:ln>
        </p:spPr>
        <p:txBody>
          <a:bodyPr rtlCol="0" anchor="ctr" wrap="square" lIns="73152" rIns="73152" tIns="73152" bIns="73152">
            <a:noAutofit/>
          </a:bodyPr>
          <a:lstStyle/>
          <a:p>
            <a:pPr algn="ctr"/>
          </a:p>
        </p:txBody>
      </p:sp>
      <p:sp>
        <p:nvSpPr>
          <p:cNvPr id="26" name="TextBox 25"/>
          <p:cNvSpPr txBox="1"/>
          <p:nvPr/>
        </p:nvSpPr>
        <p:spPr>
          <a:xfrm>
            <a:off x="3566160" y="3840479"/>
            <a:ext cx="868680" cy="8686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27" name="TextBox 26"/>
          <p:cNvSpPr txBox="1"/>
          <p:nvPr/>
        </p:nvSpPr>
        <p:spPr>
          <a:xfrm>
            <a:off x="457200" y="3840479"/>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אחריות אישית</a:t>
            </a:r>
          </a:p>
        </p:txBody>
      </p:sp>
      <p:sp>
        <p:nvSpPr>
          <p:cNvPr id="28" name="TextBox 27"/>
          <p:cNvSpPr txBox="1"/>
          <p:nvPr/>
        </p:nvSpPr>
        <p:spPr>
          <a:xfrm>
            <a:off x="457200" y="4297679"/>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כל חבר מסביר את חלקו (מפגש 1)</a:t>
            </a:r>
          </a:p>
        </p:txBody>
      </p:sp>
      <p:sp>
        <p:nvSpPr>
          <p:cNvPr id="29" name="TextBox 28"/>
          <p:cNvSpPr txBox="1"/>
          <p:nvPr/>
        </p:nvSpPr>
        <p:spPr>
          <a:xfrm>
            <a:off x="365760" y="4846320"/>
            <a:ext cx="8412480" cy="2743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משקלים: לעדכן לפי החלטת המרצה.</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ג׳ :</a:t>
            </a:r>
            <a:r>
              <a:rPr sz="3000" b="1" i="0" lang="he-IL">
                <a:solidFill>
                  <a:srgbClr val="212121"/>
                </a:solidFill>
              </a:rPr>
              <a:t>מה מראים כראיה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280160"/>
          <a:ext cx="8412480" cy="2688336"/>
        </p:xfrm>
        <a:graphic>
          <a:graphicData uri="http://schemas.openxmlformats.org/drawingml/2006/table">
            <a:tbl>
              <a:tblPr firstRow="0" bandRow="0">
                <a:tableStyleId>{2D5ABB26-0587-4C30-8999-92F81FD0307C}</a:tableStyleId>
              </a:tblPr>
              <a:tblGrid>
                <a:gridCol w="5000000"/>
                <a:gridCol w="3412480"/>
              </a:tblGrid>
              <a:tr h="384048">
                <a:tc>
                  <a:txBody>
                    <a:bodyPr wrap="square"/>
                    <a:lstStyle/>
                    <a:p>
                      <a:pPr rtl="1" algn="ctr" marL="0" indent="0">
                        <a:lnSpc>
                          <a:spcPct val="100000"/>
                        </a:lnSpc>
                        <a:spcBef>
                          <a:spcPts val="0"/>
                        </a:spcBef>
                        <a:spcAft>
                          <a:spcPts val="0"/>
                        </a:spcAft>
                        <a:buNone/>
                      </a:pPr>
                      <a:r>
                        <a:rPr sz="1300" b="1" i="0" lang="he-IL">
                          <a:solidFill>
                            <a:srgbClr val="212121"/>
                          </a:solidFill>
                        </a:rPr>
                        <a:t>מה מראים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300" b="1" i="0" lang="he-IL">
                          <a:solidFill>
                            <a:srgbClr val="212121"/>
                          </a:solidFill>
                        </a:rPr>
                        <a:t>אם אומרים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דמו חי או סרטון, מול תוצאה ידועה (מפגש 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הסוכן עובד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בדיקות ירוקות, כולל אחת שנכשלה קודם (מפגש 8)</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בדקנו אותו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מסבירים פונקציה אחת בלי להסתכל (מפגש 1)</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אני מבין את הקוד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המפתח מחוץ למאגר, ומה לא נבדק (מפגש 10)</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זה מאובטח</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יומן: מה אימצנו, תיקנו ודחינו (מפגשים 5 ו־12)</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השתמשנו ב־AI באחריות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מקרה אחד שבו המערכת טועה, ומי בודק (מפגש 12)</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יש מגבלות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ג׳ :</a:t>
            </a:r>
            <a:r>
              <a:rPr sz="3000" b="1" i="0" lang="he-IL">
                <a:solidFill>
                  <a:srgbClr val="212121"/>
                </a:solidFill>
              </a:rPr>
              <a:t>לוח זמנים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25880"/>
          <a:ext cx="5120638" cy="3200400"/>
        </p:xfrm>
        <a:graphic>
          <a:graphicData uri="http://schemas.openxmlformats.org/drawingml/2006/table">
            <a:tbl>
              <a:tblPr firstRow="0" bandRow="0">
                <a:tableStyleId>{2D5ABB26-0587-4C30-8999-92F81FD0307C}</a:tableStyleId>
              </a:tblPr>
              <a:tblGrid>
                <a:gridCol w="882868"/>
                <a:gridCol w="2295459"/>
                <a:gridCol w="1236016"/>
                <a:gridCol w="706295"/>
              </a:tblGrid>
              <a:tr h="457200">
                <a:tc>
                  <a:txBody>
                    <a:bodyPr wrap="square"/>
                    <a:lstStyle/>
                    <a:p>
                      <a:pPr rtl="1" algn="ctr" marL="0" indent="0">
                        <a:lnSpc>
                          <a:spcPct val="100000"/>
                        </a:lnSpc>
                        <a:spcBef>
                          <a:spcPts val="0"/>
                        </a:spcBef>
                        <a:spcAft>
                          <a:spcPts val="0"/>
                        </a:spcAft>
                        <a:buNone/>
                      </a:pPr>
                      <a:r>
                        <a:rPr sz="1400" b="1" i="0" lang="he-IL">
                          <a:solidFill>
                            <a:srgbClr val="212121"/>
                          </a:solidFill>
                        </a:rPr>
                        <a:t>שעה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נושא</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קבוצה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סדר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457200">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1</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57200">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2</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57200">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3</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57200">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4</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57200">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57200">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6</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graphicFrame>
        <p:nvGraphicFramePr>
          <p:cNvPr id="6" name="Table 5"/>
          <p:cNvGraphicFramePr>
            <a:graphicFrameLocks noGrp="1"/>
          </p:cNvGraphicFramePr>
          <p:nvPr/>
        </p:nvGraphicFramePr>
        <p:xfrm>
          <a:off x="5669280" y="1325880"/>
          <a:ext cx="3108960" cy="2011680"/>
        </p:xfrm>
        <a:graphic>
          <a:graphicData uri="http://schemas.openxmlformats.org/drawingml/2006/table">
            <a:tbl>
              <a:tblPr firstRow="0" bandRow="0">
                <a:tableStyleId>{2D5ABB26-0587-4C30-8999-92F81FD0307C}</a:tableStyleId>
              </a:tblPr>
              <a:tblGrid>
                <a:gridCol w="1828800"/>
                <a:gridCol w="1280160"/>
              </a:tblGrid>
              <a:tr h="502920">
                <a:tc>
                  <a:txBody>
                    <a:bodyPr wrap="square"/>
                    <a:lstStyle/>
                    <a:p>
                      <a:pPr rtl="1" algn="ctr" marL="0" indent="0">
                        <a:lnSpc>
                          <a:spcPct val="100000"/>
                        </a:lnSpc>
                        <a:spcBef>
                          <a:spcPts val="0"/>
                        </a:spcBef>
                        <a:spcAft>
                          <a:spcPts val="0"/>
                        </a:spcAft>
                        <a:buNone/>
                      </a:pPr>
                      <a:r>
                        <a:rPr sz="1500" b="1" i="0" lang="he-IL">
                          <a:solidFill>
                            <a:srgbClr val="212121"/>
                          </a:solidFill>
                        </a:rPr>
                        <a:t>זמן הצגות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500" b="1" i="0" lang="he-IL">
                          <a:solidFill>
                            <a:srgbClr val="212121"/>
                          </a:solidFill>
                        </a:rPr>
                        <a:t>קבוצות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502920">
                <a:tc>
                  <a:txBody>
                    <a:bodyPr wrap="square"/>
                    <a:lstStyle/>
                    <a:p>
                      <a:pPr rtl="1" algn="r" marL="0" indent="0">
                        <a:lnSpc>
                          <a:spcPct val="100000"/>
                        </a:lnSpc>
                        <a:spcBef>
                          <a:spcPts val="0"/>
                        </a:spcBef>
                        <a:spcAft>
                          <a:spcPts val="0"/>
                        </a:spcAft>
                        <a:buNone/>
                      </a:pPr>
                      <a:r>
                        <a:rPr sz="1500" b="0" i="0" lang="he-IL">
                          <a:solidFill>
                            <a:srgbClr val="212121"/>
                          </a:solidFill>
                        </a:rPr>
                        <a:t>36 דקות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6</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02920">
                <a:tc>
                  <a:txBody>
                    <a:bodyPr wrap="square"/>
                    <a:lstStyle/>
                    <a:p>
                      <a:pPr rtl="1" algn="r" marL="0" indent="0">
                        <a:lnSpc>
                          <a:spcPct val="100000"/>
                        </a:lnSpc>
                        <a:spcBef>
                          <a:spcPts val="0"/>
                        </a:spcBef>
                        <a:spcAft>
                          <a:spcPts val="0"/>
                        </a:spcAft>
                        <a:buNone/>
                      </a:pPr>
                      <a:r>
                        <a:rPr sz="1500" b="0" i="0" lang="he-IL">
                          <a:solidFill>
                            <a:srgbClr val="212121"/>
                          </a:solidFill>
                        </a:rPr>
                        <a:t>42 דקות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7</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02920">
                <a:tc>
                  <a:txBody>
                    <a:bodyPr wrap="square"/>
                    <a:lstStyle/>
                    <a:p>
                      <a:pPr rtl="1" algn="r" marL="0" indent="0">
                        <a:lnSpc>
                          <a:spcPct val="100000"/>
                        </a:lnSpc>
                        <a:spcBef>
                          <a:spcPts val="0"/>
                        </a:spcBef>
                        <a:spcAft>
                          <a:spcPts val="0"/>
                        </a:spcAft>
                        <a:buNone/>
                      </a:pPr>
                      <a:r>
                        <a:rPr sz="1500" b="0" i="0" lang="he-IL">
                          <a:solidFill>
                            <a:srgbClr val="212121"/>
                          </a:solidFill>
                        </a:rPr>
                        <a:t>48 דקות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8</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7" name="Rounded Rectangle 6"/>
          <p:cNvSpPr/>
          <p:nvPr/>
        </p:nvSpPr>
        <p:spPr>
          <a:xfrm>
            <a:off x="5669280" y="3566160"/>
            <a:ext cx="3108960" cy="128016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6 דקות × מספר קבוצות</a:t>
            </a:r>
          </a:p>
          <a:p>
            <a:pPr rtl="1" algn="ctr" marL="0" indent="0">
              <a:lnSpc>
                <a:spcPct val="105000"/>
              </a:lnSpc>
              <a:spcBef>
                <a:spcPts val="0"/>
              </a:spcBef>
              <a:spcAft>
                <a:spcPts val="0"/>
              </a:spcAft>
              <a:buNone/>
            </a:pPr>
            <a:r>
              <a:rPr sz="1600" b="1" i="0" lang="he-IL">
                <a:solidFill>
                  <a:srgbClr val="212121"/>
                </a:solidFill>
              </a:rPr>
              <a:t>כולל כ־6 דקות מסגרת. עם יותר קבוצות: מקצרים את חלק א׳</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ג׳ :</a:t>
            </a:r>
            <a:r>
              <a:rPr sz="3000" b="1" i="0" lang="he-IL">
                <a:solidFill>
                  <a:srgbClr val="212121"/>
                </a:solidFill>
              </a:rPr>
              <a:t>הדגמה חיה בלי הפתעות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17320"/>
            <a:ext cx="4114800" cy="1463040"/>
          </a:xfrm>
          <a:prstGeom prst="roundRect">
            <a:avLst>
              <a:gd name="adj" fmla="val 6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77240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7" name="TextBox 6"/>
          <p:cNvSpPr txBox="1"/>
          <p:nvPr/>
        </p:nvSpPr>
        <p:spPr>
          <a:xfrm>
            <a:off x="4754879"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סרטון גיבוי</a:t>
            </a:r>
          </a:p>
        </p:txBody>
      </p:sp>
      <p:sp>
        <p:nvSpPr>
          <p:cNvPr id="8" name="TextBox 7"/>
          <p:cNvSpPr txBox="1"/>
          <p:nvPr/>
        </p:nvSpPr>
        <p:spPr>
          <a:xfrm>
            <a:off x="4754879"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מוכן ופתוח בלשונית</a:t>
            </a:r>
          </a:p>
        </p:txBody>
      </p:sp>
      <p:sp>
        <p:nvSpPr>
          <p:cNvPr id="9" name="Rounded Rectangle 8"/>
          <p:cNvSpPr/>
          <p:nvPr/>
        </p:nvSpPr>
        <p:spPr>
          <a:xfrm>
            <a:off x="365760" y="1417320"/>
            <a:ext cx="4114800" cy="1463040"/>
          </a:xfrm>
          <a:prstGeom prst="roundRect">
            <a:avLst>
              <a:gd name="adj" fmla="val 6000"/>
            </a:avLst>
          </a:prstGeom>
          <a:solidFill>
            <a:srgbClr val="E1F4E6"/>
          </a:solidFill>
          <a:ln w="25400">
            <a:solidFill>
              <a:srgbClr val="34A853"/>
            </a:solidFill>
          </a:ln>
        </p:spPr>
        <p:txBody>
          <a:bodyPr rtlCol="0" anchor="ctr" wrap="square" lIns="73152" rIns="73152" tIns="73152" bIns="73152">
            <a:noAutofit/>
          </a:bodyPr>
          <a:lstStyle/>
          <a:p>
            <a:pPr algn="ctr"/>
          </a:p>
        </p:txBody>
      </p:sp>
      <p:sp>
        <p:nvSpPr>
          <p:cNvPr id="10" name="TextBox 9"/>
          <p:cNvSpPr txBox="1"/>
          <p:nvPr/>
        </p:nvSpPr>
        <p:spPr>
          <a:xfrm>
            <a:off x="347472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1" name="TextBox 10"/>
          <p:cNvSpPr txBox="1"/>
          <p:nvPr/>
        </p:nvSpPr>
        <p:spPr>
          <a:xfrm>
            <a:off x="457200"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נתוני דמו סינתטיים</a:t>
            </a:r>
          </a:p>
        </p:txBody>
      </p:sp>
      <p:sp>
        <p:nvSpPr>
          <p:cNvPr id="12" name="TextBox 11"/>
          <p:cNvSpPr txBox="1"/>
          <p:nvPr/>
        </p:nvSpPr>
        <p:spPr>
          <a:xfrm>
            <a:off x="457200"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נטענים בהפעלה, בלי מידע אישי</a:t>
            </a:r>
          </a:p>
        </p:txBody>
      </p:sp>
      <p:sp>
        <p:nvSpPr>
          <p:cNvPr id="13" name="Rounded Rectangle 12"/>
          <p:cNvSpPr/>
          <p:nvPr/>
        </p:nvSpPr>
        <p:spPr>
          <a:xfrm>
            <a:off x="4663440" y="3063240"/>
            <a:ext cx="4114800" cy="1463040"/>
          </a:xfrm>
          <a:prstGeom prst="roundRect">
            <a:avLst>
              <a:gd name="adj" fmla="val 6000"/>
            </a:avLst>
          </a:prstGeom>
          <a:solidFill>
            <a:srgbClr val="FDE3E0"/>
          </a:solidFill>
          <a:ln w="25400">
            <a:solidFill>
              <a:srgbClr val="EA4335"/>
            </a:solidFill>
          </a:ln>
        </p:spPr>
        <p:txBody>
          <a:bodyPr rtlCol="0" anchor="ctr" wrap="square" lIns="73152" rIns="73152" tIns="73152" bIns="73152">
            <a:noAutofit/>
          </a:bodyPr>
          <a:lstStyle/>
          <a:p>
            <a:pPr algn="ctr"/>
          </a:p>
        </p:txBody>
      </p:sp>
      <p:sp>
        <p:nvSpPr>
          <p:cNvPr id="14" name="TextBox 13"/>
          <p:cNvSpPr txBox="1"/>
          <p:nvPr/>
        </p:nvSpPr>
        <p:spPr>
          <a:xfrm>
            <a:off x="777240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5" name="TextBox 14"/>
          <p:cNvSpPr txBox="1"/>
          <p:nvPr/>
        </p:nvSpPr>
        <p:spPr>
          <a:xfrm>
            <a:off x="4754879"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אין שינויים ברגע האחרון</a:t>
            </a:r>
          </a:p>
        </p:txBody>
      </p:sp>
      <p:sp>
        <p:nvSpPr>
          <p:cNvPr id="16" name="TextBox 15"/>
          <p:cNvSpPr txBox="1"/>
          <p:nvPr/>
        </p:nvSpPr>
        <p:spPr>
          <a:xfrm>
            <a:off x="4754879"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30 דקות לפני: קפואים</a:t>
            </a:r>
          </a:p>
        </p:txBody>
      </p:sp>
      <p:sp>
        <p:nvSpPr>
          <p:cNvPr id="17" name="Rounded Rectangle 16"/>
          <p:cNvSpPr/>
          <p:nvPr/>
        </p:nvSpPr>
        <p:spPr>
          <a:xfrm>
            <a:off x="365760" y="3063240"/>
            <a:ext cx="4114800" cy="1463040"/>
          </a:xfrm>
          <a:prstGeom prst="roundRect">
            <a:avLst>
              <a:gd name="adj" fmla="val 6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8" name="TextBox 17"/>
          <p:cNvSpPr txBox="1"/>
          <p:nvPr/>
        </p:nvSpPr>
        <p:spPr>
          <a:xfrm>
            <a:off x="347472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9" name="TextBox 18"/>
          <p:cNvSpPr txBox="1"/>
          <p:nvPr/>
        </p:nvSpPr>
        <p:spPr>
          <a:xfrm>
            <a:off x="457200"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מפתח ומכסה בדוקים</a:t>
            </a:r>
          </a:p>
        </p:txBody>
      </p:sp>
      <p:sp>
        <p:nvSpPr>
          <p:cNvPr id="20" name="TextBox 19"/>
          <p:cNvSpPr txBox="1"/>
          <p:nvPr/>
        </p:nvSpPr>
        <p:spPr>
          <a:xfrm>
            <a:off x="457200"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הרצה לפני ההצגה</a:t>
            </a:r>
          </a:p>
        </p:txBody>
      </p:sp>
      <p:sp>
        <p:nvSpPr>
          <p:cNvPr id="21"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ג׳ :</a:t>
            </a:r>
            <a:r>
              <a:rPr sz="3000" b="1" i="0" lang="he-IL">
                <a:solidFill>
                  <a:srgbClr val="212121"/>
                </a:solidFill>
              </a:rPr>
              <a:t>שאלות על הקוד שלכם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12480" y="1463040"/>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a:t>
            </a:r>
          </a:p>
        </p:txBody>
      </p:sp>
      <p:sp>
        <p:nvSpPr>
          <p:cNvPr id="6" name="TextBox 5"/>
          <p:cNvSpPr txBox="1"/>
          <p:nvPr/>
        </p:nvSpPr>
        <p:spPr>
          <a:xfrm>
            <a:off x="365760" y="1371600"/>
            <a:ext cx="790956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700" b="0" i="0" lang="he-IL">
                <a:solidFill>
                  <a:srgbClr val="212121"/>
                </a:solidFill>
              </a:rPr>
              <a:t>מה הפונקציה הזו עושה, ולמה כתבתם אותה כך?</a:t>
            </a:r>
          </a:p>
        </p:txBody>
      </p:sp>
      <p:sp>
        <p:nvSpPr>
          <p:cNvPr id="7" name="Oval 6"/>
          <p:cNvSpPr/>
          <p:nvPr/>
        </p:nvSpPr>
        <p:spPr>
          <a:xfrm>
            <a:off x="8412480" y="2194560"/>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2</a:t>
            </a:r>
          </a:p>
        </p:txBody>
      </p:sp>
      <p:sp>
        <p:nvSpPr>
          <p:cNvPr id="8" name="TextBox 7"/>
          <p:cNvSpPr txBox="1"/>
          <p:nvPr/>
        </p:nvSpPr>
        <p:spPr>
          <a:xfrm>
            <a:off x="365760" y="2103120"/>
            <a:ext cx="790956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700" b="0" i="0" lang="he-IL">
                <a:solidFill>
                  <a:srgbClr val="212121"/>
                </a:solidFill>
              </a:rPr>
              <a:t>איזו בדיקה מוודאת את החלק שלכם בפרויקט?</a:t>
            </a:r>
          </a:p>
        </p:txBody>
      </p:sp>
      <p:sp>
        <p:nvSpPr>
          <p:cNvPr id="9" name="Oval 8"/>
          <p:cNvSpPr/>
          <p:nvPr/>
        </p:nvSpPr>
        <p:spPr>
          <a:xfrm>
            <a:off x="8412480" y="2926080"/>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3</a:t>
            </a:r>
          </a:p>
        </p:txBody>
      </p:sp>
      <p:sp>
        <p:nvSpPr>
          <p:cNvPr id="10" name="TextBox 9"/>
          <p:cNvSpPr txBox="1"/>
          <p:nvPr/>
        </p:nvSpPr>
        <p:spPr>
          <a:xfrm>
            <a:off x="365760" y="2834640"/>
            <a:ext cx="790956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700" b="0" i="0" lang="he-IL">
                <a:solidFill>
                  <a:srgbClr val="212121"/>
                </a:solidFill>
              </a:rPr>
              <a:t>איפה נשמרים המפתחות, ואיך אפשר לדעת שלא דלפו?</a:t>
            </a:r>
          </a:p>
        </p:txBody>
      </p:sp>
      <p:sp>
        <p:nvSpPr>
          <p:cNvPr id="11" name="Oval 10"/>
          <p:cNvSpPr/>
          <p:nvPr/>
        </p:nvSpPr>
        <p:spPr>
          <a:xfrm>
            <a:off x="8412480" y="3657600"/>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4</a:t>
            </a:r>
          </a:p>
        </p:txBody>
      </p:sp>
      <p:sp>
        <p:nvSpPr>
          <p:cNvPr id="12" name="TextBox 11"/>
          <p:cNvSpPr txBox="1"/>
          <p:nvPr/>
        </p:nvSpPr>
        <p:spPr>
          <a:xfrm>
            <a:off x="365760" y="3566160"/>
            <a:ext cx="790956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700" b="0" i="0" lang="he-IL">
                <a:solidFill>
                  <a:srgbClr val="212121"/>
                </a:solidFill>
              </a:rPr>
              <a:t>היה רגע שהסוכן טעה? איך גיליתם?</a:t>
            </a:r>
          </a:p>
        </p:txBody>
      </p:sp>
      <p:sp>
        <p:nvSpPr>
          <p:cNvPr id="13" name="Oval 12"/>
          <p:cNvSpPr/>
          <p:nvPr/>
        </p:nvSpPr>
        <p:spPr>
          <a:xfrm>
            <a:off x="8412480" y="4389120"/>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5</a:t>
            </a:r>
          </a:p>
        </p:txBody>
      </p:sp>
      <p:sp>
        <p:nvSpPr>
          <p:cNvPr id="14" name="TextBox 13"/>
          <p:cNvSpPr txBox="1"/>
          <p:nvPr/>
        </p:nvSpPr>
        <p:spPr>
          <a:xfrm>
            <a:off x="365760" y="4297680"/>
            <a:ext cx="790956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700" b="0" i="0" lang="he-IL">
                <a:solidFill>
                  <a:srgbClr val="212121"/>
                </a:solidFill>
              </a:rPr>
              <a:t>אילו מגבלות יש למערכת, ומתי נדרש אדם?</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ג׳ :</a:t>
            </a:r>
            <a:r>
              <a:rPr sz="3000" b="1" i="0" lang="he-IL">
                <a:solidFill>
                  <a:srgbClr val="212121"/>
                </a:solidFill>
              </a:rPr>
              <a:t>טופס משוב לעמיתים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2011680"/>
          </a:xfrm>
          <a:prstGeom prst="roundRect">
            <a:avLst>
              <a:gd name="adj" fmla="val 12000"/>
            </a:avLst>
          </a:prstGeom>
          <a:solidFill>
            <a:srgbClr val="FFFFFF"/>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34A853"/>
                </a:solidFill>
              </a:rPr>
              <a:t>1</a:t>
            </a:r>
          </a:p>
          <a:p>
            <a:pPr rtl="1" algn="ctr" marL="0" indent="0">
              <a:lnSpc>
                <a:spcPct val="105000"/>
              </a:lnSpc>
              <a:spcBef>
                <a:spcPts val="0"/>
              </a:spcBef>
              <a:spcAft>
                <a:spcPts val="0"/>
              </a:spcAft>
              <a:buNone/>
            </a:pPr>
            <a:r>
              <a:rPr sz="1700" b="1" i="0" lang="he-IL">
                <a:solidFill>
                  <a:srgbClr val="212121"/>
                </a:solidFill>
              </a:rPr>
              <a:t>מה עבד הכי טוב?</a:t>
            </a:r>
          </a:p>
          <a:p>
            <a:pPr rtl="1" algn="ctr" marL="0" indent="0">
              <a:lnSpc>
                <a:spcPct val="105000"/>
              </a:lnSpc>
              <a:spcBef>
                <a:spcPts val="0"/>
              </a:spcBef>
              <a:spcAft>
                <a:spcPts val="0"/>
              </a:spcAft>
              <a:buNone/>
            </a:pPr>
            <a:r>
              <a:rPr sz="1300" b="0" i="0" lang="he-IL">
                <a:solidFill>
                  <a:srgbClr val="595959"/>
                </a:solidFill>
              </a:rPr>
              <a:t>נקודה אחת, ספציפית</a:t>
            </a:r>
          </a:p>
        </p:txBody>
      </p:sp>
      <p:sp>
        <p:nvSpPr>
          <p:cNvPr id="6" name="Rounded Rectangle 5"/>
          <p:cNvSpPr/>
          <p:nvPr/>
        </p:nvSpPr>
        <p:spPr>
          <a:xfrm>
            <a:off x="3246120" y="1463040"/>
            <a:ext cx="2697480" cy="2011680"/>
          </a:xfrm>
          <a:prstGeom prst="roundRect">
            <a:avLst>
              <a:gd name="adj" fmla="val 12000"/>
            </a:avLst>
          </a:prstGeom>
          <a:solidFill>
            <a:srgbClr val="FFFFFF"/>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FFAB40"/>
                </a:solidFill>
              </a:rPr>
              <a:t>2</a:t>
            </a:r>
          </a:p>
          <a:p>
            <a:pPr rtl="1" algn="ctr" marL="0" indent="0">
              <a:lnSpc>
                <a:spcPct val="105000"/>
              </a:lnSpc>
              <a:spcBef>
                <a:spcPts val="0"/>
              </a:spcBef>
              <a:spcAft>
                <a:spcPts val="0"/>
              </a:spcAft>
              <a:buNone/>
            </a:pPr>
            <a:r>
              <a:rPr sz="1700" b="1" i="0" lang="he-IL">
                <a:solidFill>
                  <a:srgbClr val="212121"/>
                </a:solidFill>
              </a:rPr>
              <a:t>איזו שאלה נשארה לי?</a:t>
            </a:r>
          </a:p>
          <a:p>
            <a:pPr rtl="1" algn="ctr" marL="0" indent="0">
              <a:lnSpc>
                <a:spcPct val="105000"/>
              </a:lnSpc>
              <a:spcBef>
                <a:spcPts val="0"/>
              </a:spcBef>
              <a:spcAft>
                <a:spcPts val="0"/>
              </a:spcAft>
              <a:buNone/>
            </a:pPr>
            <a:r>
              <a:rPr sz="1300" b="0" i="0" lang="he-IL">
                <a:solidFill>
                  <a:srgbClr val="595959"/>
                </a:solidFill>
              </a:rPr>
              <a:t>משהו שלא היה ברור</a:t>
            </a:r>
          </a:p>
        </p:txBody>
      </p:sp>
      <p:sp>
        <p:nvSpPr>
          <p:cNvPr id="7" name="Rounded Rectangle 6"/>
          <p:cNvSpPr/>
          <p:nvPr/>
        </p:nvSpPr>
        <p:spPr>
          <a:xfrm>
            <a:off x="320039" y="1463040"/>
            <a:ext cx="2697480" cy="2011680"/>
          </a:xfrm>
          <a:prstGeom prst="roundRect">
            <a:avLst>
              <a:gd name="adj" fmla="val 12000"/>
            </a:avLst>
          </a:prstGeom>
          <a:solidFill>
            <a:srgbClr val="FFFF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4285F4"/>
                </a:solidFill>
              </a:rPr>
              <a:t>3</a:t>
            </a:r>
          </a:p>
          <a:p>
            <a:pPr rtl="1" algn="ctr" marL="0" indent="0">
              <a:lnSpc>
                <a:spcPct val="105000"/>
              </a:lnSpc>
              <a:spcBef>
                <a:spcPts val="0"/>
              </a:spcBef>
              <a:spcAft>
                <a:spcPts val="0"/>
              </a:spcAft>
              <a:buNone/>
            </a:pPr>
            <a:r>
              <a:rPr sz="1700" b="1" i="0" lang="he-IL">
                <a:solidFill>
                  <a:srgbClr val="212121"/>
                </a:solidFill>
              </a:rPr>
              <a:t>שיפור אחד</a:t>
            </a:r>
          </a:p>
          <a:p>
            <a:pPr rtl="1" algn="ctr" marL="0" indent="0">
              <a:lnSpc>
                <a:spcPct val="105000"/>
              </a:lnSpc>
              <a:spcBef>
                <a:spcPts val="0"/>
              </a:spcBef>
              <a:spcAft>
                <a:spcPts val="0"/>
              </a:spcAft>
              <a:buNone/>
            </a:pPr>
            <a:r>
              <a:rPr sz="1300" b="0" i="0" lang="he-IL">
                <a:solidFill>
                  <a:srgbClr val="595959"/>
                </a:solidFill>
              </a:rPr>
              <a:t>מה הייתי משנה?</a:t>
            </a:r>
          </a:p>
        </p:txBody>
      </p:sp>
      <p:sp>
        <p:nvSpPr>
          <p:cNvPr id="8" name="Rectangle 7"/>
          <p:cNvSpPr/>
          <p:nvPr/>
        </p:nvSpPr>
        <p:spPr>
          <a:xfrm>
            <a:off x="7589520" y="3749039"/>
            <a:ext cx="914400" cy="91440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9" name="TextBox 8"/>
          <p:cNvSpPr txBox="1"/>
          <p:nvPr/>
        </p:nvSpPr>
        <p:spPr>
          <a:xfrm>
            <a:off x="7040880" y="4663440"/>
            <a:ext cx="201168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טופס משוב</a:t>
            </a:r>
          </a:p>
        </p:txBody>
      </p:sp>
      <p:sp>
        <p:nvSpPr>
          <p:cNvPr id="10" name="Rounded Rectangle 9"/>
          <p:cNvSpPr/>
          <p:nvPr/>
        </p:nvSpPr>
        <p:spPr>
          <a:xfrm>
            <a:off x="365760" y="3749039"/>
            <a:ext cx="6858000" cy="118872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משוב טוב: ספציפי, מנומס, ומתייחס לעבודה ולא לאנשים.</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המחברת :</a:t>
            </a:r>
            <a:r>
              <a:rPr sz="3000" b="1" i="0" lang="he-IL">
                <a:solidFill>
                  <a:srgbClr val="212121"/>
                </a:solidFill>
              </a:rPr>
              <a:t>משוב לעמיתים בזמן ההצגות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2011680"/>
          </a:xfrm>
          <a:prstGeom prst="roundRect">
            <a:avLst>
              <a:gd name="adj" fmla="val 12000"/>
            </a:avLst>
          </a:prstGeom>
          <a:solidFill>
            <a:srgbClr val="FFFFFF"/>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34A853"/>
                </a:solidFill>
              </a:rPr>
              <a:t>1</a:t>
            </a:r>
          </a:p>
          <a:p>
            <a:pPr rtl="1" algn="ctr" marL="0" indent="0">
              <a:lnSpc>
                <a:spcPct val="105000"/>
              </a:lnSpc>
              <a:spcBef>
                <a:spcPts val="0"/>
              </a:spcBef>
              <a:spcAft>
                <a:spcPts val="0"/>
              </a:spcAft>
              <a:buNone/>
            </a:pPr>
            <a:r>
              <a:rPr sz="1700" b="1" i="0" lang="he-IL">
                <a:solidFill>
                  <a:srgbClr val="212121"/>
                </a:solidFill>
              </a:rPr>
              <a:t>format_feedback</a:t>
            </a:r>
          </a:p>
          <a:p>
            <a:pPr rtl="1" algn="ctr" marL="0" indent="0">
              <a:lnSpc>
                <a:spcPct val="105000"/>
              </a:lnSpc>
              <a:spcBef>
                <a:spcPts val="0"/>
              </a:spcBef>
              <a:spcAft>
                <a:spcPts val="0"/>
              </a:spcAft>
              <a:buNone/>
            </a:pPr>
            <a:r>
              <a:rPr sz="1300" b="0" i="0" lang="he-IL">
                <a:solidFill>
                  <a:srgbClr val="595959"/>
                </a:solidFill>
              </a:rPr>
              <a:t>מרכיבה את הטופס מהשקף הקודם: שלוש שורות בדיוק</a:t>
            </a:r>
          </a:p>
        </p:txBody>
      </p:sp>
      <p:sp>
        <p:nvSpPr>
          <p:cNvPr id="6" name="Rounded Rectangle 5"/>
          <p:cNvSpPr/>
          <p:nvPr/>
        </p:nvSpPr>
        <p:spPr>
          <a:xfrm>
            <a:off x="3246120" y="1463040"/>
            <a:ext cx="2697480" cy="2011680"/>
          </a:xfrm>
          <a:prstGeom prst="roundRect">
            <a:avLst>
              <a:gd name="adj" fmla="val 12000"/>
            </a:avLst>
          </a:prstGeom>
          <a:solidFill>
            <a:srgbClr val="FFFFFF"/>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FFAB40"/>
                </a:solidFill>
              </a:rPr>
              <a:t>2</a:t>
            </a:r>
          </a:p>
          <a:p>
            <a:pPr rtl="1" algn="ctr" marL="0" indent="0">
              <a:lnSpc>
                <a:spcPct val="105000"/>
              </a:lnSpc>
              <a:spcBef>
                <a:spcPts val="0"/>
              </a:spcBef>
              <a:spcAft>
                <a:spcPts val="0"/>
              </a:spcAft>
              <a:buNone/>
            </a:pPr>
            <a:r>
              <a:rPr sz="1700" b="1" i="0" lang="he-IL">
                <a:solidFill>
                  <a:srgbClr val="212121"/>
                </a:solidFill>
              </a:rPr>
              <a:t>משוב כללי נדחה</a:t>
            </a:r>
          </a:p>
          <a:p>
            <a:pPr rtl="1" algn="ctr" marL="0" indent="0">
              <a:lnSpc>
                <a:spcPct val="105000"/>
              </a:lnSpc>
              <a:spcBef>
                <a:spcPts val="0"/>
              </a:spcBef>
              <a:spcAft>
                <a:spcPts val="0"/>
              </a:spcAft>
              <a:buNone/>
            </a:pPr>
            <a:r>
              <a:rPr sz="1300" b="0" i="0" lang="he-IL">
                <a:solidFill>
                  <a:srgbClr val="595959"/>
                </a:solidFill>
              </a:rPr>
              <a:t>אם אחת מהנקודות קצרה מ־3 מילים: ValueError</a:t>
            </a:r>
          </a:p>
        </p:txBody>
      </p:sp>
      <p:sp>
        <p:nvSpPr>
          <p:cNvPr id="7" name="Rounded Rectangle 6"/>
          <p:cNvSpPr/>
          <p:nvPr/>
        </p:nvSpPr>
        <p:spPr>
          <a:xfrm>
            <a:off x="320039" y="1463040"/>
            <a:ext cx="2697480" cy="2011680"/>
          </a:xfrm>
          <a:prstGeom prst="roundRect">
            <a:avLst>
              <a:gd name="adj" fmla="val 12000"/>
            </a:avLst>
          </a:prstGeom>
          <a:solidFill>
            <a:srgbClr val="FFFF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4285F4"/>
                </a:solidFill>
              </a:rPr>
              <a:t>3</a:t>
            </a:r>
          </a:p>
          <a:p>
            <a:pPr rtl="1" algn="ctr" marL="0" indent="0">
              <a:lnSpc>
                <a:spcPct val="105000"/>
              </a:lnSpc>
              <a:spcBef>
                <a:spcPts val="0"/>
              </a:spcBef>
              <a:spcAft>
                <a:spcPts val="0"/>
              </a:spcAft>
              <a:buNone/>
            </a:pPr>
            <a:r>
              <a:rPr sz="1700" b="1" i="0" lang="he-IL">
                <a:solidFill>
                  <a:srgbClr val="212121"/>
                </a:solidFill>
              </a:rPr>
              <a:t>משוב אמיתי</a:t>
            </a:r>
          </a:p>
          <a:p>
            <a:pPr rtl="1" algn="ctr" marL="0" indent="0">
              <a:lnSpc>
                <a:spcPct val="105000"/>
              </a:lnSpc>
              <a:spcBef>
                <a:spcPts val="0"/>
              </a:spcBef>
              <a:spcAft>
                <a:spcPts val="0"/>
              </a:spcAft>
              <a:buNone/>
            </a:pPr>
            <a:r>
              <a:rPr sz="1300" b="0" i="0" lang="he-IL">
                <a:solidFill>
                  <a:srgbClr val="595959"/>
                </a:solidFill>
              </a:rPr>
              <a:t>כותבים לקבוצה שראיתם: ספציפי, שאלה אמיתית ושיפור אחד</a:t>
            </a:r>
          </a:p>
        </p:txBody>
      </p:sp>
      <p:sp>
        <p:nvSpPr>
          <p:cNvPr id="8" name="Rectangle 7"/>
          <p:cNvSpPr/>
          <p:nvPr/>
        </p:nvSpPr>
        <p:spPr>
          <a:xfrm>
            <a:off x="7589520" y="3749039"/>
            <a:ext cx="914400" cy="91440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9" name="TextBox 8"/>
          <p:cNvSpPr txBox="1"/>
          <p:nvPr/>
        </p:nvSpPr>
        <p:spPr>
          <a:xfrm>
            <a:off x="7040880" y="4663440"/>
            <a:ext cx="201168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HM_13</a:t>
            </a:r>
          </a:p>
        </p:txBody>
      </p:sp>
      <p:sp>
        <p:nvSpPr>
          <p:cNvPr id="10" name="Rounded Rectangle 9"/>
          <p:cNvSpPr/>
          <p:nvPr/>
        </p:nvSpPr>
        <p:spPr>
          <a:xfrm>
            <a:off x="365760" y="3749039"/>
            <a:ext cx="6858000" cy="118872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חלק ד׳, כ־2 דקות. בזמן ההצגות כל סטודנט מריץ אותו על קבוצה אמיתית.</a:t>
            </a:r>
          </a:p>
          <a:p>
            <a:pPr rtl="1" algn="ctr" marL="0" indent="0">
              <a:lnSpc>
                <a:spcPct val="105000"/>
              </a:lnSpc>
              <a:spcBef>
                <a:spcPts val="0"/>
              </a:spcBef>
              <a:spcAft>
                <a:spcPts val="0"/>
              </a:spcAft>
              <a:buNone/>
            </a:pPr>
            <a:r>
              <a:rPr sz="1300" b="0" i="0" lang="he-IL">
                <a:solidFill>
                  <a:srgbClr val="212121"/>
                </a:solidFill>
              </a:rPr>
              <a:t>למה: כלל המשוב ממפגש 12 הופך מהמלצה לבדיקה בקוד, כמו במפגש 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חלק ג׳ :</a:t>
            </a:r>
            <a:r>
              <a:rPr sz="3000" b="1" i="0" lang="he-IL">
                <a:solidFill>
                  <a:srgbClr val="212121"/>
                </a:solidFill>
              </a:rPr>
              <a:t>שעון</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2286000" y="1554480"/>
            <a:ext cx="4572000" cy="2103120"/>
          </a:xfrm>
          <a:prstGeom prst="roundRect">
            <a:avLst>
              <a:gd name="adj" fmla="val 12000"/>
            </a:avLst>
          </a:prstGeom>
          <a:solidFill>
            <a:srgbClr val="FFFFFF"/>
          </a:solidFill>
          <a:ln w="38100">
            <a:solidFill>
              <a:srgbClr val="78909C"/>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6000" b="1" i="0" lang="he-IL">
                <a:solidFill>
                  <a:srgbClr val="595959"/>
                </a:solidFill>
              </a:rPr>
              <a:t>⏱  05:00</a:t>
            </a:r>
          </a:p>
        </p:txBody>
      </p:sp>
      <p:sp>
        <p:nvSpPr>
          <p:cNvPr id="6" name="TextBox 5"/>
          <p:cNvSpPr txBox="1"/>
          <p:nvPr/>
        </p:nvSpPr>
        <p:spPr>
          <a:xfrm>
            <a:off x="365760" y="3931920"/>
            <a:ext cx="8412480" cy="10972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0" i="0" lang="he-IL">
                <a:solidFill>
                  <a:srgbClr val="595959"/>
                </a:solidFill>
              </a:rPr>
              <a:t>קבוצה: ___________    נושא: ___________</a:t>
            </a:r>
          </a:p>
          <a:p>
            <a:pPr rtl="1" algn="ctr" marL="0" indent="0">
              <a:lnSpc>
                <a:spcPct val="110000"/>
              </a:lnSpc>
              <a:spcBef>
                <a:spcPts val="0"/>
              </a:spcBef>
              <a:spcAft>
                <a:spcPts val="0"/>
              </a:spcAft>
              <a:buNone/>
            </a:pPr>
            <a:r>
              <a:rPr sz="1600" b="0" i="0" lang="he-IL">
                <a:solidFill>
                  <a:srgbClr val="595959"/>
                </a:solidFill>
              </a:rPr>
              <a:t>5 דקות הצגה, ועוד דקה לשאלות</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a:t>
            </a:r>
            <a:r>
              <a:rPr sz="3000" b="1" i="0" lang="he-IL">
                <a:solidFill>
                  <a:srgbClr val="212121"/>
                </a:solidFill>
              </a:rPr>
              <a:t>מה לקחתי מהקורס</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310896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617220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7" name="TextBox 6"/>
          <p:cNvSpPr txBox="1"/>
          <p:nvPr/>
        </p:nvSpPr>
        <p:spPr>
          <a:xfrm>
            <a:off x="626364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200" b="1" i="0" lang="he-IL">
                <a:solidFill>
                  <a:srgbClr val="212121"/>
                </a:solidFill>
              </a:rPr>
              <a:t>למדתי</a:t>
            </a:r>
          </a:p>
        </p:txBody>
      </p:sp>
      <p:sp>
        <p:nvSpPr>
          <p:cNvPr id="8" name="TextBox 7"/>
          <p:cNvSpPr txBox="1"/>
          <p:nvPr/>
        </p:nvSpPr>
        <p:spPr>
          <a:xfrm>
            <a:off x="6309360"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0" i="0" lang="he-IL">
                <a:solidFill>
                  <a:srgbClr val="212121"/>
                </a:solidFill>
              </a:rPr>
              <a:t>משהו שלא ידעתי לפני הקורס</a:t>
            </a:r>
          </a:p>
        </p:txBody>
      </p:sp>
      <p:sp>
        <p:nvSpPr>
          <p:cNvPr id="9" name="Rounded Rectangle 8"/>
          <p:cNvSpPr/>
          <p:nvPr/>
        </p:nvSpPr>
        <p:spPr>
          <a:xfrm>
            <a:off x="3246120" y="1463040"/>
            <a:ext cx="2697480" cy="3108960"/>
          </a:xfrm>
          <a:prstGeom prst="roundRect">
            <a:avLst>
              <a:gd name="adj" fmla="val 6000"/>
            </a:avLst>
          </a:prstGeom>
          <a:solidFill>
            <a:srgbClr val="E1F4E6"/>
          </a:solidFill>
          <a:ln w="31750">
            <a:solidFill>
              <a:srgbClr val="34A853"/>
            </a:solidFill>
          </a:ln>
        </p:spPr>
        <p:txBody>
          <a:bodyPr rtlCol="0" anchor="ctr" wrap="square" lIns="73152" rIns="73152" tIns="73152" bIns="73152">
            <a:noAutofit/>
          </a:bodyPr>
          <a:lstStyle/>
          <a:p>
            <a:pPr algn="ctr"/>
          </a:p>
        </p:txBody>
      </p:sp>
      <p:sp>
        <p:nvSpPr>
          <p:cNvPr id="10" name="TextBox 9"/>
          <p:cNvSpPr txBox="1"/>
          <p:nvPr/>
        </p:nvSpPr>
        <p:spPr>
          <a:xfrm>
            <a:off x="324612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1" name="TextBox 10"/>
          <p:cNvSpPr txBox="1"/>
          <p:nvPr/>
        </p:nvSpPr>
        <p:spPr>
          <a:xfrm>
            <a:off x="333756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200" b="1" i="0" lang="he-IL">
                <a:solidFill>
                  <a:srgbClr val="212121"/>
                </a:solidFill>
              </a:rPr>
              <a:t>אעשה אחרת</a:t>
            </a:r>
          </a:p>
        </p:txBody>
      </p:sp>
      <p:sp>
        <p:nvSpPr>
          <p:cNvPr id="12" name="TextBox 11"/>
          <p:cNvSpPr txBox="1"/>
          <p:nvPr/>
        </p:nvSpPr>
        <p:spPr>
          <a:xfrm>
            <a:off x="338327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0" i="0" lang="he-IL">
                <a:solidFill>
                  <a:srgbClr val="212121"/>
                </a:solidFill>
              </a:rPr>
              <a:t>פרקטיקה אחת שאאמץ מחר</a:t>
            </a:r>
          </a:p>
        </p:txBody>
      </p:sp>
      <p:sp>
        <p:nvSpPr>
          <p:cNvPr id="13" name="Rounded Rectangle 12"/>
          <p:cNvSpPr/>
          <p:nvPr/>
        </p:nvSpPr>
        <p:spPr>
          <a:xfrm>
            <a:off x="320039" y="1463040"/>
            <a:ext cx="2697480" cy="310896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4" name="TextBox 13"/>
          <p:cNvSpPr txBox="1"/>
          <p:nvPr/>
        </p:nvSpPr>
        <p:spPr>
          <a:xfrm>
            <a:off x="320039"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5" name="TextBox 14"/>
          <p:cNvSpPr txBox="1"/>
          <p:nvPr/>
        </p:nvSpPr>
        <p:spPr>
          <a:xfrm>
            <a:off x="411479"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200" b="1" i="0" lang="he-IL">
                <a:solidFill>
                  <a:srgbClr val="212121"/>
                </a:solidFill>
              </a:rPr>
              <a:t>נשארה לי שאלה</a:t>
            </a:r>
          </a:p>
        </p:txBody>
      </p:sp>
      <p:sp>
        <p:nvSpPr>
          <p:cNvPr id="16" name="TextBox 15"/>
          <p:cNvSpPr txBox="1"/>
          <p:nvPr/>
        </p:nvSpPr>
        <p:spPr>
          <a:xfrm>
            <a:off x="45719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0" i="0" lang="he-IL">
                <a:solidFill>
                  <a:srgbClr val="212121"/>
                </a:solidFill>
              </a:rPr>
              <a:t>מה עוד הייתי רוצה ללמוד</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a:t>
            </a:r>
            <a:r>
              <a:rPr sz="3000" b="1" i="0" lang="he-IL">
                <a:solidFill>
                  <a:srgbClr val="212121"/>
                </a:solidFill>
              </a:rPr>
              <a:t>הכלל של השיעור</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731520" y="1645920"/>
            <a:ext cx="7680960" cy="2286000"/>
          </a:xfrm>
          <a:prstGeom prst="roundRect">
            <a:avLst>
              <a:gd name="adj" fmla="val 6000"/>
            </a:avLst>
          </a:prstGeom>
          <a:solidFill>
            <a:srgbClr val="E1F4E6"/>
          </a:solidFill>
          <a:ln w="3810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3000" b="1" i="0" lang="he-IL">
                <a:solidFill>
                  <a:srgbClr val="212121"/>
                </a:solidFill>
              </a:rPr>
              <a:t>תארו. אמתו. היו אחראים.</a:t>
            </a:r>
          </a:p>
        </p:txBody>
      </p:sp>
      <p:sp>
        <p:nvSpPr>
          <p:cNvPr id="6" name="TextBox 5"/>
          <p:cNvSpPr txBox="1"/>
          <p:nvPr/>
        </p:nvSpPr>
        <p:spPr>
          <a:xfrm>
            <a:off x="731520" y="4114800"/>
            <a:ext cx="768096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0" i="0" lang="he-IL">
                <a:solidFill>
                  <a:srgbClr val="595959"/>
                </a:solidFill>
              </a:rPr>
              <a:t>בכל כלי, בכל פרויקט, גם כשהכלים מתחלפים.</a:t>
            </a:r>
          </a:p>
          <a:p>
            <a:pPr rtl="1" algn="ctr" marL="0" indent="0">
              <a:lnSpc>
                <a:spcPct val="110000"/>
              </a:lnSpc>
              <a:spcBef>
                <a:spcPts val="0"/>
              </a:spcBef>
              <a:spcAft>
                <a:spcPts val="0"/>
              </a:spcAft>
              <a:buNone/>
            </a:pPr>
            <a:r>
              <a:rPr sz="1900" b="0" i="0" lang="he-IL">
                <a:solidFill>
                  <a:srgbClr val="595959"/>
                </a:solidFill>
              </a:rPr>
              <a:t>הכלל של היום נוסף לשרשרת הכללים של מפגשים 5 עד 12, ונשאר אחרי הקורס.</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a:t>
            </a:r>
            <a:r>
              <a:rPr sz="3000" b="1" i="0" lang="he-IL">
                <a:solidFill>
                  <a:srgbClr val="212121"/>
                </a:solidFill>
              </a:rPr>
              <a:t>הגשה סופית ותודה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371600"/>
            <a:ext cx="8412480" cy="658368"/>
          </a:xfrm>
          <a:prstGeom prst="roundRect">
            <a:avLst>
              <a:gd name="adj" fmla="val 12000"/>
            </a:avLst>
          </a:prstGeom>
          <a:solidFill>
            <a:srgbClr val="E1F4E6"/>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600" b="0" i="0" lang="he-IL">
                <a:solidFill>
                  <a:srgbClr val="212121"/>
                </a:solidFill>
              </a:rPr>
              <a:t>☐  עמוד נחיתה: סרטון הדגמה, הסבר על תהליך העבודה וקישור לדמו חי (אם רלוונטי)</a:t>
            </a:r>
          </a:p>
        </p:txBody>
      </p:sp>
      <p:sp>
        <p:nvSpPr>
          <p:cNvPr id="6" name="Rounded Rectangle 5"/>
          <p:cNvSpPr/>
          <p:nvPr/>
        </p:nvSpPr>
        <p:spPr>
          <a:xfrm>
            <a:off x="365760" y="2148840"/>
            <a:ext cx="8412480" cy="658368"/>
          </a:xfrm>
          <a:prstGeom prst="roundRect">
            <a:avLst>
              <a:gd name="adj" fmla="val 12000"/>
            </a:avLst>
          </a:prstGeom>
          <a:solidFill>
            <a:srgbClr val="E1F4E6"/>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600" b="0" i="0" lang="he-IL">
                <a:solidFill>
                  <a:srgbClr val="212121"/>
                </a:solidFill>
              </a:rPr>
              <a:t>☐  מאגר Git: היסטוריית commits של כל חברי הקבוצה, README ובדיקות</a:t>
            </a:r>
          </a:p>
        </p:txBody>
      </p:sp>
      <p:sp>
        <p:nvSpPr>
          <p:cNvPr id="7" name="Rounded Rectangle 6"/>
          <p:cNvSpPr/>
          <p:nvPr/>
        </p:nvSpPr>
        <p:spPr>
          <a:xfrm>
            <a:off x="365760" y="2926080"/>
            <a:ext cx="8412480" cy="658368"/>
          </a:xfrm>
          <a:prstGeom prst="roundRect">
            <a:avLst>
              <a:gd name="adj" fmla="val 12000"/>
            </a:avLst>
          </a:prstGeom>
          <a:solidFill>
            <a:srgbClr val="E1F4E6"/>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600" b="0" i="0" lang="he-IL">
                <a:solidFill>
                  <a:srgbClr val="212121"/>
                </a:solidFill>
              </a:rPr>
              <a:t>☐  יומן שימוש ב־AI וצ׳קליסט לפני חשיפה ממולא</a:t>
            </a:r>
          </a:p>
        </p:txBody>
      </p:sp>
      <p:sp>
        <p:nvSpPr>
          <p:cNvPr id="8" name="Rounded Rectangle 7"/>
          <p:cNvSpPr/>
          <p:nvPr/>
        </p:nvSpPr>
        <p:spPr>
          <a:xfrm>
            <a:off x="365760" y="3703320"/>
            <a:ext cx="8412480" cy="658368"/>
          </a:xfrm>
          <a:prstGeom prst="roundRect">
            <a:avLst>
              <a:gd name="adj" fmla="val 12000"/>
            </a:avLst>
          </a:prstGeom>
          <a:solidFill>
            <a:srgbClr val="E1F4E6"/>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600" b="0" i="0" lang="he-IL">
                <a:solidFill>
                  <a:srgbClr val="212121"/>
                </a:solidFill>
              </a:rPr>
              <a:t>☐  מועד הגשה: ____ (לעדכן)</a:t>
            </a:r>
          </a:p>
        </p:txBody>
      </p:sp>
      <p:sp>
        <p:nvSpPr>
          <p:cNvPr id="9" name="TextBox 8"/>
          <p:cNvSpPr txBox="1"/>
          <p:nvPr/>
        </p:nvSpPr>
        <p:spPr>
          <a:xfrm>
            <a:off x="365760" y="4572000"/>
            <a:ext cx="8412480" cy="5029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200" b="1" i="0" lang="he-IL">
                <a:solidFill>
                  <a:srgbClr val="4285F4"/>
                </a:solidFill>
              </a:rPr>
              <a:t>תודה, ובהצלחה בפרויקט ובדרך שלכם!</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להעמקה :</a:t>
            </a:r>
            <a:r>
              <a:rPr sz="3000" b="1" i="0" lang="he-IL">
                <a:solidFill>
                  <a:srgbClr val="212121"/>
                </a:solidFill>
              </a:rPr>
              <a:t>חומר לקריאה אחרי הקורס</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731520" y="1645920"/>
            <a:ext cx="7680960" cy="2286000"/>
          </a:xfrm>
          <a:prstGeom prst="roundRect">
            <a:avLst>
              <a:gd name="adj" fmla="val 6000"/>
            </a:avLst>
          </a:prstGeom>
          <a:solidFill>
            <a:srgbClr val="E1F4E6"/>
          </a:solidFill>
          <a:ln w="3810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3000" b="1" i="0" lang="he-IL">
                <a:solidFill>
                  <a:srgbClr val="212121"/>
                </a:solidFill>
              </a:rPr>
              <a:t>להעמקה</a:t>
            </a:r>
          </a:p>
        </p:txBody>
      </p:sp>
      <p:sp>
        <p:nvSpPr>
          <p:cNvPr id="6" name="TextBox 5"/>
          <p:cNvSpPr txBox="1"/>
          <p:nvPr/>
        </p:nvSpPr>
        <p:spPr>
          <a:xfrm>
            <a:off x="731520" y="4114800"/>
            <a:ext cx="768096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0" i="0" lang="he-IL">
                <a:solidFill>
                  <a:srgbClr val="595959"/>
                </a:solidFill>
              </a:rPr>
              <a:t>כיוונים עתידיים ומקורות מאומתים. לא מציגים בכיתה, אלא אם נשאר זמן.</a:t>
            </a:r>
          </a:p>
        </p:txBody>
      </p:sp>
      <p:sp>
        <p:nvSpPr>
          <p:cNvPr id="7"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להעמקה :</a:t>
            </a:r>
            <a:r>
              <a:rPr sz="3000" b="1" i="0" lang="he-IL">
                <a:solidFill>
                  <a:srgbClr val="212121"/>
                </a:solidFill>
              </a:rPr>
              <a:t>כיוונים: סוכנים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17320"/>
            <a:ext cx="4114800" cy="1463040"/>
          </a:xfrm>
          <a:prstGeom prst="roundRect">
            <a:avLst>
              <a:gd name="adj" fmla="val 6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77240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7" name="TextBox 6"/>
          <p:cNvSpPr txBox="1"/>
          <p:nvPr/>
        </p:nvSpPr>
        <p:spPr>
          <a:xfrm>
            <a:off x="4754879"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ReAct ופרוטוקול MCP</a:t>
            </a:r>
          </a:p>
        </p:txBody>
      </p:sp>
      <p:sp>
        <p:nvSpPr>
          <p:cNvPr id="8" name="TextBox 7"/>
          <p:cNvSpPr txBox="1"/>
          <p:nvPr/>
        </p:nvSpPr>
        <p:spPr>
          <a:xfrm>
            <a:off x="4754879"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חשיבה ופעולה לסירוגין. MCP: תקן פתוח לחיבור כלים ונתונים</a:t>
            </a:r>
          </a:p>
        </p:txBody>
      </p:sp>
      <p:sp>
        <p:nvSpPr>
          <p:cNvPr id="9" name="Rounded Rectangle 8"/>
          <p:cNvSpPr/>
          <p:nvPr/>
        </p:nvSpPr>
        <p:spPr>
          <a:xfrm>
            <a:off x="365760" y="1417320"/>
            <a:ext cx="4114800" cy="1463040"/>
          </a:xfrm>
          <a:prstGeom prst="roundRect">
            <a:avLst>
              <a:gd name="adj" fmla="val 6000"/>
            </a:avLst>
          </a:prstGeom>
          <a:solidFill>
            <a:srgbClr val="DDF2F5"/>
          </a:solidFill>
          <a:ln w="25400">
            <a:solidFill>
              <a:srgbClr val="0097A7"/>
            </a:solidFill>
          </a:ln>
        </p:spPr>
        <p:txBody>
          <a:bodyPr rtlCol="0" anchor="ctr" wrap="square" lIns="73152" rIns="73152" tIns="73152" bIns="73152">
            <a:noAutofit/>
          </a:bodyPr>
          <a:lstStyle/>
          <a:p>
            <a:pPr algn="ctr"/>
          </a:p>
        </p:txBody>
      </p:sp>
      <p:sp>
        <p:nvSpPr>
          <p:cNvPr id="10" name="TextBox 9"/>
          <p:cNvSpPr txBox="1"/>
          <p:nvPr/>
        </p:nvSpPr>
        <p:spPr>
          <a:xfrm>
            <a:off x="347472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1" name="TextBox 10"/>
          <p:cNvSpPr txBox="1"/>
          <p:nvPr/>
        </p:nvSpPr>
        <p:spPr>
          <a:xfrm>
            <a:off x="457200"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זרימה או סוכן</a:t>
            </a:r>
          </a:p>
        </p:txBody>
      </p:sp>
      <p:sp>
        <p:nvSpPr>
          <p:cNvPr id="12" name="TextBox 11"/>
          <p:cNvSpPr txBox="1"/>
          <p:nvPr/>
        </p:nvSpPr>
        <p:spPr>
          <a:xfrm>
            <a:off x="457200"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Anthropic 2024: נתיב קבוע בקוד, או מודל שמנהל את התהליך בעצמו</a:t>
            </a:r>
          </a:p>
        </p:txBody>
      </p:sp>
      <p:sp>
        <p:nvSpPr>
          <p:cNvPr id="13" name="Rounded Rectangle 12"/>
          <p:cNvSpPr/>
          <p:nvPr/>
        </p:nvSpPr>
        <p:spPr>
          <a:xfrm>
            <a:off x="4663440" y="3063240"/>
            <a:ext cx="4114800" cy="1463040"/>
          </a:xfrm>
          <a:prstGeom prst="roundRect">
            <a:avLst>
              <a:gd name="adj" fmla="val 6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4" name="TextBox 13"/>
          <p:cNvSpPr txBox="1"/>
          <p:nvPr/>
        </p:nvSpPr>
        <p:spPr>
          <a:xfrm>
            <a:off x="777240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5" name="TextBox 14"/>
          <p:cNvSpPr txBox="1"/>
          <p:nvPr/>
        </p:nvSpPr>
        <p:spPr>
          <a:xfrm>
            <a:off x="4754879"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משימות ארוכות</a:t>
            </a:r>
          </a:p>
        </p:txBody>
      </p:sp>
      <p:sp>
        <p:nvSpPr>
          <p:cNvPr id="16" name="TextBox 15"/>
          <p:cNvSpPr txBox="1"/>
          <p:nvPr/>
        </p:nvSpPr>
        <p:spPr>
          <a:xfrm>
            <a:off x="4754879"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METR: משך המשימות שמודל משלים מוכפל כל כשבעה חודשים</a:t>
            </a:r>
          </a:p>
        </p:txBody>
      </p:sp>
      <p:sp>
        <p:nvSpPr>
          <p:cNvPr id="17" name="Rounded Rectangle 16"/>
          <p:cNvSpPr/>
          <p:nvPr/>
        </p:nvSpPr>
        <p:spPr>
          <a:xfrm>
            <a:off x="365760" y="3063240"/>
            <a:ext cx="4114800" cy="1463040"/>
          </a:xfrm>
          <a:prstGeom prst="roundRect">
            <a:avLst>
              <a:gd name="adj" fmla="val 6000"/>
            </a:avLst>
          </a:prstGeom>
          <a:solidFill>
            <a:srgbClr val="E1F4E6"/>
          </a:solidFill>
          <a:ln w="25400">
            <a:solidFill>
              <a:srgbClr val="34A853"/>
            </a:solidFill>
          </a:ln>
        </p:spPr>
        <p:txBody>
          <a:bodyPr rtlCol="0" anchor="ctr" wrap="square" lIns="73152" rIns="73152" tIns="73152" bIns="73152">
            <a:noAutofit/>
          </a:bodyPr>
          <a:lstStyle/>
          <a:p>
            <a:pPr algn="ctr"/>
          </a:p>
        </p:txBody>
      </p:sp>
      <p:sp>
        <p:nvSpPr>
          <p:cNvPr id="18" name="TextBox 17"/>
          <p:cNvSpPr txBox="1"/>
          <p:nvPr/>
        </p:nvSpPr>
        <p:spPr>
          <a:xfrm>
            <a:off x="347472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9" name="TextBox 18"/>
          <p:cNvSpPr txBox="1"/>
          <p:nvPr/>
        </p:nvSpPr>
        <p:spPr>
          <a:xfrm>
            <a:off x="457200"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הנדסת הקשר</a:t>
            </a:r>
          </a:p>
        </p:txBody>
      </p:sp>
      <p:sp>
        <p:nvSpPr>
          <p:cNvPr id="20" name="TextBox 19"/>
          <p:cNvSpPr txBox="1"/>
          <p:nvPr/>
        </p:nvSpPr>
        <p:spPr>
          <a:xfrm>
            <a:off x="457200"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Anthropic 2025: דחיסה, הערות מחוץ לחלון, תת־סוכנים</a:t>
            </a:r>
          </a:p>
        </p:txBody>
      </p:sp>
      <p:sp>
        <p:nvSpPr>
          <p:cNvPr id="21" name="TextBox 20"/>
          <p:cNvSpPr txBox="1"/>
          <p:nvPr/>
        </p:nvSpPr>
        <p:spPr>
          <a:xfrm>
            <a:off x="365760" y="475488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שאלת מחקר פתוחה: כמה אוטונומיה בטוחה, ואיך מודדים אותה?</a:t>
            </a:r>
          </a:p>
        </p:txBody>
      </p:sp>
      <p:sp>
        <p:nvSpPr>
          <p:cNvPr id="22"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להעמקה :</a:t>
            </a:r>
            <a:r>
              <a:rPr sz="3000" b="1" i="0" lang="he-IL">
                <a:solidFill>
                  <a:srgbClr val="212121"/>
                </a:solidFill>
              </a:rPr>
              <a:t>כיוונים: הערכה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17320"/>
            <a:ext cx="4114800" cy="1463040"/>
          </a:xfrm>
          <a:prstGeom prst="roundRect">
            <a:avLst>
              <a:gd name="adj" fmla="val 6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77240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7" name="TextBox 6"/>
          <p:cNvSpPr txBox="1"/>
          <p:nvPr/>
        </p:nvSpPr>
        <p:spPr>
          <a:xfrm>
            <a:off x="4754879"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SWE-bench</a:t>
            </a:r>
          </a:p>
        </p:txBody>
      </p:sp>
      <p:sp>
        <p:nvSpPr>
          <p:cNvPr id="8" name="TextBox 7"/>
          <p:cNvSpPr txBox="1"/>
          <p:nvPr/>
        </p:nvSpPr>
        <p:spPr>
          <a:xfrm>
            <a:off x="4754879"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2,294 בעיות אמיתיות מ־GitHub, ב־12 מאגרי פייתון (ICLR 2024)</a:t>
            </a:r>
          </a:p>
        </p:txBody>
      </p:sp>
      <p:sp>
        <p:nvSpPr>
          <p:cNvPr id="9" name="Rounded Rectangle 8"/>
          <p:cNvSpPr/>
          <p:nvPr/>
        </p:nvSpPr>
        <p:spPr>
          <a:xfrm>
            <a:off x="365760" y="1417320"/>
            <a:ext cx="4114800" cy="1463040"/>
          </a:xfrm>
          <a:prstGeom prst="roundRect">
            <a:avLst>
              <a:gd name="adj" fmla="val 6000"/>
            </a:avLst>
          </a:prstGeom>
          <a:solidFill>
            <a:srgbClr val="DDF2F5"/>
          </a:solidFill>
          <a:ln w="25400">
            <a:solidFill>
              <a:srgbClr val="0097A7"/>
            </a:solidFill>
          </a:ln>
        </p:spPr>
        <p:txBody>
          <a:bodyPr rtlCol="0" anchor="ctr" wrap="square" lIns="73152" rIns="73152" tIns="73152" bIns="73152">
            <a:noAutofit/>
          </a:bodyPr>
          <a:lstStyle/>
          <a:p>
            <a:pPr algn="ctr"/>
          </a:p>
        </p:txBody>
      </p:sp>
      <p:sp>
        <p:nvSpPr>
          <p:cNvPr id="10" name="TextBox 9"/>
          <p:cNvSpPr txBox="1"/>
          <p:nvPr/>
        </p:nvSpPr>
        <p:spPr>
          <a:xfrm>
            <a:off x="347472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1" name="TextBox 10"/>
          <p:cNvSpPr txBox="1"/>
          <p:nvPr/>
        </p:nvSpPr>
        <p:spPr>
          <a:xfrm>
            <a:off x="457200"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pass@k</a:t>
            </a:r>
          </a:p>
        </p:txBody>
      </p:sp>
      <p:sp>
        <p:nvSpPr>
          <p:cNvPr id="12" name="TextBox 11"/>
          <p:cNvSpPr txBox="1"/>
          <p:nvPr/>
        </p:nvSpPr>
        <p:spPr>
          <a:xfrm>
            <a:off x="457200"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הסיכוי שלפחות אחד מ־k ניסיונות עובר את הבדיקות (Chen 2021)</a:t>
            </a:r>
          </a:p>
        </p:txBody>
      </p:sp>
      <p:sp>
        <p:nvSpPr>
          <p:cNvPr id="13" name="Rounded Rectangle 12"/>
          <p:cNvSpPr/>
          <p:nvPr/>
        </p:nvSpPr>
        <p:spPr>
          <a:xfrm>
            <a:off x="4663440" y="3063240"/>
            <a:ext cx="4114800" cy="1463040"/>
          </a:xfrm>
          <a:prstGeom prst="roundRect">
            <a:avLst>
              <a:gd name="adj" fmla="val 6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4" name="TextBox 13"/>
          <p:cNvSpPr txBox="1"/>
          <p:nvPr/>
        </p:nvSpPr>
        <p:spPr>
          <a:xfrm>
            <a:off x="777240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5" name="TextBox 14"/>
          <p:cNvSpPr txBox="1"/>
          <p:nvPr/>
        </p:nvSpPr>
        <p:spPr>
          <a:xfrm>
            <a:off x="4754879"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מודל כשופט</a:t>
            </a:r>
          </a:p>
        </p:txBody>
      </p:sp>
      <p:sp>
        <p:nvSpPr>
          <p:cNvPr id="16" name="TextBox 15"/>
          <p:cNvSpPr txBox="1"/>
          <p:nvPr/>
        </p:nvSpPr>
        <p:spPr>
          <a:xfrm>
            <a:off x="4754879"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הסכמה של מעל 80% עם בני אדם, אך יש הטיות: מיקום, אורך, העדפה עצמית</a:t>
            </a:r>
          </a:p>
        </p:txBody>
      </p:sp>
      <p:sp>
        <p:nvSpPr>
          <p:cNvPr id="17" name="Rounded Rectangle 16"/>
          <p:cNvSpPr/>
          <p:nvPr/>
        </p:nvSpPr>
        <p:spPr>
          <a:xfrm>
            <a:off x="365760" y="3063240"/>
            <a:ext cx="4114800" cy="1463040"/>
          </a:xfrm>
          <a:prstGeom prst="roundRect">
            <a:avLst>
              <a:gd name="adj" fmla="val 6000"/>
            </a:avLst>
          </a:prstGeom>
          <a:solidFill>
            <a:srgbClr val="E1F4E6"/>
          </a:solidFill>
          <a:ln w="25400">
            <a:solidFill>
              <a:srgbClr val="34A853"/>
            </a:solidFill>
          </a:ln>
        </p:spPr>
        <p:txBody>
          <a:bodyPr rtlCol="0" anchor="ctr" wrap="square" lIns="73152" rIns="73152" tIns="73152" bIns="73152">
            <a:noAutofit/>
          </a:bodyPr>
          <a:lstStyle/>
          <a:p>
            <a:pPr algn="ctr"/>
          </a:p>
        </p:txBody>
      </p:sp>
      <p:sp>
        <p:nvSpPr>
          <p:cNvPr id="18" name="TextBox 17"/>
          <p:cNvSpPr txBox="1"/>
          <p:nvPr/>
        </p:nvSpPr>
        <p:spPr>
          <a:xfrm>
            <a:off x="347472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9" name="TextBox 18"/>
          <p:cNvSpPr txBox="1"/>
          <p:nvPr/>
        </p:nvSpPr>
        <p:spPr>
          <a:xfrm>
            <a:off x="457200"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הבדיקות שלכם</a:t>
            </a:r>
          </a:p>
        </p:txBody>
      </p:sp>
      <p:sp>
        <p:nvSpPr>
          <p:cNvPr id="20" name="TextBox 19"/>
          <p:cNvSpPr txBox="1"/>
          <p:nvPr/>
        </p:nvSpPr>
        <p:spPr>
          <a:xfrm>
            <a:off x="457200"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מדד כללי אינו הפרויקט שלכם: הבדיקות במאגר הן ההערכה האמיתית</a:t>
            </a:r>
          </a:p>
        </p:txBody>
      </p:sp>
      <p:sp>
        <p:nvSpPr>
          <p:cNvPr id="21" name="TextBox 20"/>
          <p:cNvSpPr txBox="1"/>
          <p:nvPr/>
        </p:nvSpPr>
        <p:spPr>
          <a:xfrm>
            <a:off x="365760" y="475488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שאלת מחקר פתוחה: איך מונעים זליגה של מבחנים לנתוני האימון?</a:t>
            </a:r>
          </a:p>
        </p:txBody>
      </p:sp>
      <p:sp>
        <p:nvSpPr>
          <p:cNvPr id="22"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להעמקה :</a:t>
            </a:r>
            <a:r>
              <a:rPr sz="3000" b="1" i="0" lang="he-IL">
                <a:solidFill>
                  <a:srgbClr val="212121"/>
                </a:solidFill>
              </a:rPr>
              <a:t>כיוונים: בטיחות ואבטחה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17320"/>
            <a:ext cx="4114800" cy="1463040"/>
          </a:xfrm>
          <a:prstGeom prst="roundRect">
            <a:avLst>
              <a:gd name="adj" fmla="val 6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77240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7" name="TextBox 6"/>
          <p:cNvSpPr txBox="1"/>
          <p:nvPr/>
        </p:nvSpPr>
        <p:spPr>
          <a:xfrm>
            <a:off x="4754879"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הזרקת פרומפט עקיפה</a:t>
            </a:r>
          </a:p>
        </p:txBody>
      </p:sp>
      <p:sp>
        <p:nvSpPr>
          <p:cNvPr id="8" name="TextBox 7"/>
          <p:cNvSpPr txBox="1"/>
          <p:nvPr/>
        </p:nvSpPr>
        <p:spPr>
          <a:xfrm>
            <a:off x="4754879"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הוראות מוסתרות בתוכן שהמודל קורא. Greshake 2023, OWASP LLM01</a:t>
            </a:r>
          </a:p>
        </p:txBody>
      </p:sp>
      <p:sp>
        <p:nvSpPr>
          <p:cNvPr id="9" name="Rounded Rectangle 8"/>
          <p:cNvSpPr/>
          <p:nvPr/>
        </p:nvSpPr>
        <p:spPr>
          <a:xfrm>
            <a:off x="365760" y="1417320"/>
            <a:ext cx="4114800" cy="1463040"/>
          </a:xfrm>
          <a:prstGeom prst="roundRect">
            <a:avLst>
              <a:gd name="adj" fmla="val 6000"/>
            </a:avLst>
          </a:prstGeom>
          <a:solidFill>
            <a:srgbClr val="DDF2F5"/>
          </a:solidFill>
          <a:ln w="25400">
            <a:solidFill>
              <a:srgbClr val="0097A7"/>
            </a:solidFill>
          </a:ln>
        </p:spPr>
        <p:txBody>
          <a:bodyPr rtlCol="0" anchor="ctr" wrap="square" lIns="73152" rIns="73152" tIns="73152" bIns="73152">
            <a:noAutofit/>
          </a:bodyPr>
          <a:lstStyle/>
          <a:p>
            <a:pPr algn="ctr"/>
          </a:p>
        </p:txBody>
      </p:sp>
      <p:sp>
        <p:nvSpPr>
          <p:cNvPr id="10" name="TextBox 9"/>
          <p:cNvSpPr txBox="1"/>
          <p:nvPr/>
        </p:nvSpPr>
        <p:spPr>
          <a:xfrm>
            <a:off x="347472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1" name="TextBox 10"/>
          <p:cNvSpPr txBox="1"/>
          <p:nvPr/>
        </p:nvSpPr>
        <p:spPr>
          <a:xfrm>
            <a:off x="457200"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יותר מדי הרשאות</a:t>
            </a:r>
          </a:p>
        </p:txBody>
      </p:sp>
      <p:sp>
        <p:nvSpPr>
          <p:cNvPr id="12" name="TextBox 11"/>
          <p:cNvSpPr txBox="1"/>
          <p:nvPr/>
        </p:nvSpPr>
        <p:spPr>
          <a:xfrm>
            <a:off x="457200"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OWASP LLM06: הרשאות עודפות לסוכן. מצמצמים, ודורשים אישור</a:t>
            </a:r>
          </a:p>
        </p:txBody>
      </p:sp>
      <p:sp>
        <p:nvSpPr>
          <p:cNvPr id="13" name="Rounded Rectangle 12"/>
          <p:cNvSpPr/>
          <p:nvPr/>
        </p:nvSpPr>
        <p:spPr>
          <a:xfrm>
            <a:off x="4663440" y="3063240"/>
            <a:ext cx="4114800" cy="1463040"/>
          </a:xfrm>
          <a:prstGeom prst="roundRect">
            <a:avLst>
              <a:gd name="adj" fmla="val 6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4" name="TextBox 13"/>
          <p:cNvSpPr txBox="1"/>
          <p:nvPr/>
        </p:nvSpPr>
        <p:spPr>
          <a:xfrm>
            <a:off x="777240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5" name="TextBox 14"/>
          <p:cNvSpPr txBox="1"/>
          <p:nvPr/>
        </p:nvSpPr>
        <p:spPr>
          <a:xfrm>
            <a:off x="4754879"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חבילות מומצאות</a:t>
            </a:r>
          </a:p>
        </p:txBody>
      </p:sp>
      <p:sp>
        <p:nvSpPr>
          <p:cNvPr id="16" name="TextBox 15"/>
          <p:cNvSpPr txBox="1"/>
          <p:nvPr/>
        </p:nvSpPr>
        <p:spPr>
          <a:xfrm>
            <a:off x="4754879"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576,000 דוגמאות: לפחות 5.2% חבילות מומצאות, ובקוד פתוח 21.7%</a:t>
            </a:r>
          </a:p>
        </p:txBody>
      </p:sp>
      <p:sp>
        <p:nvSpPr>
          <p:cNvPr id="17" name="Rounded Rectangle 16"/>
          <p:cNvSpPr/>
          <p:nvPr/>
        </p:nvSpPr>
        <p:spPr>
          <a:xfrm>
            <a:off x="365760" y="3063240"/>
            <a:ext cx="4114800" cy="1463040"/>
          </a:xfrm>
          <a:prstGeom prst="roundRect">
            <a:avLst>
              <a:gd name="adj" fmla="val 6000"/>
            </a:avLst>
          </a:prstGeom>
          <a:solidFill>
            <a:srgbClr val="E1F4E6"/>
          </a:solidFill>
          <a:ln w="25400">
            <a:solidFill>
              <a:srgbClr val="34A853"/>
            </a:solidFill>
          </a:ln>
        </p:spPr>
        <p:txBody>
          <a:bodyPr rtlCol="0" anchor="ctr" wrap="square" lIns="73152" rIns="73152" tIns="73152" bIns="73152">
            <a:noAutofit/>
          </a:bodyPr>
          <a:lstStyle/>
          <a:p>
            <a:pPr algn="ctr"/>
          </a:p>
        </p:txBody>
      </p:sp>
      <p:sp>
        <p:nvSpPr>
          <p:cNvPr id="18" name="TextBox 17"/>
          <p:cNvSpPr txBox="1"/>
          <p:nvPr/>
        </p:nvSpPr>
        <p:spPr>
          <a:xfrm>
            <a:off x="347472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9" name="TextBox 18"/>
          <p:cNvSpPr txBox="1"/>
          <p:nvPr/>
        </p:nvSpPr>
        <p:spPr>
          <a:xfrm>
            <a:off x="457200"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מסגרות סיכון</a:t>
            </a:r>
          </a:p>
        </p:txBody>
      </p:sp>
      <p:sp>
        <p:nvSpPr>
          <p:cNvPr id="20" name="TextBox 19"/>
          <p:cNvSpPr txBox="1"/>
          <p:nvPr/>
        </p:nvSpPr>
        <p:spPr>
          <a:xfrm>
            <a:off x="457200"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NIST AI RMF 1.0 (2023): ממשל, מיפוי, מדידה, ניהול</a:t>
            </a:r>
          </a:p>
        </p:txBody>
      </p:sp>
      <p:sp>
        <p:nvSpPr>
          <p:cNvPr id="21" name="TextBox 20"/>
          <p:cNvSpPr txBox="1"/>
          <p:nvPr/>
        </p:nvSpPr>
        <p:spPr>
          <a:xfrm>
            <a:off x="365760" y="475488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שאלת מחקר פתוחה: איך מגינים על סוכן שחייב לקרוא תוכן לא מהימן?</a:t>
            </a:r>
          </a:p>
        </p:txBody>
      </p:sp>
      <p:sp>
        <p:nvSpPr>
          <p:cNvPr id="22"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להעמקה :</a:t>
            </a:r>
            <a:r>
              <a:rPr sz="3000" b="1" i="0" lang="he-IL">
                <a:solidFill>
                  <a:srgbClr val="212121"/>
                </a:solidFill>
              </a:rPr>
              <a:t>הביבליוגרפיה של הסילבוס</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280160"/>
          <a:ext cx="8412480" cy="2688336"/>
        </p:xfrm>
        <a:graphic>
          <a:graphicData uri="http://schemas.openxmlformats.org/drawingml/2006/table">
            <a:tbl>
              <a:tblPr firstRow="0" bandRow="0">
                <a:tableStyleId>{2D5ABB26-0587-4C30-8999-92F81FD0307C}</a:tableStyleId>
              </a:tblPr>
              <a:tblGrid>
                <a:gridCol w="5600000"/>
                <a:gridCol w="2812480"/>
              </a:tblGrid>
              <a:tr h="384048">
                <a:tc>
                  <a:txBody>
                    <a:bodyPr wrap="square"/>
                    <a:lstStyle/>
                    <a:p>
                      <a:pPr rtl="1" algn="ctr" marL="0" indent="0">
                        <a:lnSpc>
                          <a:spcPct val="100000"/>
                        </a:lnSpc>
                        <a:spcBef>
                          <a:spcPts val="0"/>
                        </a:spcBef>
                        <a:spcAft>
                          <a:spcPts val="0"/>
                        </a:spcAft>
                        <a:buNone/>
                      </a:pPr>
                      <a:r>
                        <a:rPr sz="1300" b="1" i="0" lang="he-IL">
                          <a:solidFill>
                            <a:srgbClr val="212121"/>
                          </a:solidFill>
                        </a:rPr>
                        <a:t>מה לוקחים ממנו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300" b="1" i="0" lang="he-IL">
                          <a:solidFill>
                            <a:srgbClr val="212121"/>
                          </a:solidFill>
                        </a:rPr>
                        <a:t>מקור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חשיבה ופעולה לסירוגין: הבסיס ללולאת plan-act-observe (מפגש 6)</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ReAct, Yao 2023</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מודל שלומד בעצמו מתי ואיך לקרוא לכלים (מפגשים 5‎–‎6)</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Toolformer, Schick 2023</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שינוי מבנה בלי שינוי התנהגות, בצעדים קטנים (מפגש 11)</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Refactoring, Fowler 2018</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ניתוח של 23 סילבוסים: איך מלמדים הנדסת תוכנה עם AI</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Geng et al. 2026</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הנחיות לפרומפט: בהירות, דוגמאות, מבנה (מפגשים 3‎–‎4)</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Anthropic (פרומפטים)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84048">
                <a:tc>
                  <a:txBody>
                    <a:bodyPr wrap="square"/>
                    <a:lstStyle/>
                    <a:p>
                      <a:pPr rtl="1" algn="r" marL="0" indent="0">
                        <a:lnSpc>
                          <a:spcPct val="100000"/>
                        </a:lnSpc>
                        <a:spcBef>
                          <a:spcPts val="0"/>
                        </a:spcBef>
                        <a:spcAft>
                          <a:spcPts val="0"/>
                        </a:spcAft>
                        <a:buNone/>
                      </a:pPr>
                      <a:r>
                        <a:rPr sz="1300" b="0" i="0" lang="he-IL">
                          <a:solidFill>
                            <a:srgbClr val="212121"/>
                          </a:solidFill>
                        </a:rPr>
                        <a:t>תקן פתוח לחיבור כלים, נתונים ותהליכים למודל</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תיעוד MCP הרשמי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להעמקה :</a:t>
            </a:r>
            <a:r>
              <a:rPr sz="3000" b="1" i="0" lang="he-IL">
                <a:solidFill>
                  <a:srgbClr val="212121"/>
                </a:solidFill>
              </a:rPr>
              <a:t>הקורס מול קורסים בעולם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17320"/>
            <a:ext cx="4114800" cy="1463040"/>
          </a:xfrm>
          <a:prstGeom prst="roundRect">
            <a:avLst>
              <a:gd name="adj" fmla="val 6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77240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7" name="TextBox 6"/>
          <p:cNvSpPr txBox="1"/>
          <p:nvPr/>
        </p:nvSpPr>
        <p:spPr>
          <a:xfrm>
            <a:off x="4754879"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23 קורסים בארה״ב</a:t>
            </a:r>
          </a:p>
        </p:txBody>
      </p:sp>
      <p:sp>
        <p:nvSpPr>
          <p:cNvPr id="8" name="TextBox 7"/>
          <p:cNvSpPr txBox="1"/>
          <p:nvPr/>
        </p:nvSpPr>
        <p:spPr>
          <a:xfrm>
            <a:off x="4754879"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Geng et al. 2026: ניתוח סילבוסים פומביים של קורסי הנדסת תוכנה עם AI</a:t>
            </a:r>
          </a:p>
        </p:txBody>
      </p:sp>
      <p:sp>
        <p:nvSpPr>
          <p:cNvPr id="9" name="Rounded Rectangle 8"/>
          <p:cNvSpPr/>
          <p:nvPr/>
        </p:nvSpPr>
        <p:spPr>
          <a:xfrm>
            <a:off x="365760" y="1417320"/>
            <a:ext cx="4114800" cy="1463040"/>
          </a:xfrm>
          <a:prstGeom prst="roundRect">
            <a:avLst>
              <a:gd name="adj" fmla="val 6000"/>
            </a:avLst>
          </a:prstGeom>
          <a:solidFill>
            <a:srgbClr val="DDF2F5"/>
          </a:solidFill>
          <a:ln w="25400">
            <a:solidFill>
              <a:srgbClr val="0097A7"/>
            </a:solidFill>
          </a:ln>
        </p:spPr>
        <p:txBody>
          <a:bodyPr rtlCol="0" anchor="ctr" wrap="square" lIns="73152" rIns="73152" tIns="73152" bIns="73152">
            <a:noAutofit/>
          </a:bodyPr>
          <a:lstStyle/>
          <a:p>
            <a:pPr algn="ctr"/>
          </a:p>
        </p:txBody>
      </p:sp>
      <p:sp>
        <p:nvSpPr>
          <p:cNvPr id="10" name="TextBox 9"/>
          <p:cNvSpPr txBox="1"/>
          <p:nvPr/>
        </p:nvSpPr>
        <p:spPr>
          <a:xfrm>
            <a:off x="347472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1" name="TextBox 10"/>
          <p:cNvSpPr txBox="1"/>
          <p:nvPr/>
        </p:nvSpPr>
        <p:spPr>
          <a:xfrm>
            <a:off x="457200"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הנושאים הנפוצים</a:t>
            </a:r>
          </a:p>
        </p:txBody>
      </p:sp>
      <p:sp>
        <p:nvSpPr>
          <p:cNvPr id="12" name="TextBox 11"/>
          <p:cNvSpPr txBox="1"/>
          <p:nvPr/>
        </p:nvSpPr>
        <p:spPr>
          <a:xfrm>
            <a:off x="457200"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יסודות AI/ML (12), בדיקות (10), פיתוח אג׳נטי (10), פרומפטים (9)</a:t>
            </a:r>
          </a:p>
        </p:txBody>
      </p:sp>
      <p:sp>
        <p:nvSpPr>
          <p:cNvPr id="13" name="Rounded Rectangle 12"/>
          <p:cNvSpPr/>
          <p:nvPr/>
        </p:nvSpPr>
        <p:spPr>
          <a:xfrm>
            <a:off x="4663440" y="3063240"/>
            <a:ext cx="4114800" cy="1463040"/>
          </a:xfrm>
          <a:prstGeom prst="roundRect">
            <a:avLst>
              <a:gd name="adj" fmla="val 6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4" name="TextBox 13"/>
          <p:cNvSpPr txBox="1"/>
          <p:nvPr/>
        </p:nvSpPr>
        <p:spPr>
          <a:xfrm>
            <a:off x="777240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5" name="TextBox 14"/>
          <p:cNvSpPr txBox="1"/>
          <p:nvPr/>
        </p:nvSpPr>
        <p:spPr>
          <a:xfrm>
            <a:off x="4754879"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ובקורס שלנו</a:t>
            </a:r>
          </a:p>
        </p:txBody>
      </p:sp>
      <p:sp>
        <p:nvSpPr>
          <p:cNvPr id="16" name="TextBox 15"/>
          <p:cNvSpPr txBox="1"/>
          <p:nvPr/>
        </p:nvSpPr>
        <p:spPr>
          <a:xfrm>
            <a:off x="4754879"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ארבעת הנושאים נלמדו, וגם אבטחה (10), פריסה ואתיקה (12)</a:t>
            </a:r>
          </a:p>
        </p:txBody>
      </p:sp>
      <p:sp>
        <p:nvSpPr>
          <p:cNvPr id="17" name="Rounded Rectangle 16"/>
          <p:cNvSpPr/>
          <p:nvPr/>
        </p:nvSpPr>
        <p:spPr>
          <a:xfrm>
            <a:off x="365760" y="3063240"/>
            <a:ext cx="4114800" cy="1463040"/>
          </a:xfrm>
          <a:prstGeom prst="roundRect">
            <a:avLst>
              <a:gd name="adj" fmla="val 6000"/>
            </a:avLst>
          </a:prstGeom>
          <a:solidFill>
            <a:srgbClr val="E1F4E6"/>
          </a:solidFill>
          <a:ln w="25400">
            <a:solidFill>
              <a:srgbClr val="34A853"/>
            </a:solidFill>
          </a:ln>
        </p:spPr>
        <p:txBody>
          <a:bodyPr rtlCol="0" anchor="ctr" wrap="square" lIns="73152" rIns="73152" tIns="73152" bIns="73152">
            <a:noAutofit/>
          </a:bodyPr>
          <a:lstStyle/>
          <a:p>
            <a:pPr algn="ctr"/>
          </a:p>
        </p:txBody>
      </p:sp>
      <p:sp>
        <p:nvSpPr>
          <p:cNvPr id="18" name="TextBox 17"/>
          <p:cNvSpPr txBox="1"/>
          <p:nvPr/>
        </p:nvSpPr>
        <p:spPr>
          <a:xfrm>
            <a:off x="347472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9" name="TextBox 18"/>
          <p:cNvSpPr txBox="1"/>
          <p:nvPr/>
        </p:nvSpPr>
        <p:spPr>
          <a:xfrm>
            <a:off x="457200"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גבולות הניתוח</a:t>
            </a:r>
          </a:p>
        </p:txBody>
      </p:sp>
      <p:sp>
        <p:nvSpPr>
          <p:cNvPr id="20" name="TextBox 19"/>
          <p:cNvSpPr txBox="1"/>
          <p:nvPr/>
        </p:nvSpPr>
        <p:spPr>
          <a:xfrm>
            <a:off x="457200"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חומרים פומביים בלבד, לא מה שנלמד בפועל. מדגם קטן</a:t>
            </a:r>
          </a:p>
        </p:txBody>
      </p:sp>
      <p:sp>
        <p:nvSpPr>
          <p:cNvPr id="21" name="TextBox 20"/>
          <p:cNvSpPr txBox="1"/>
          <p:nvPr/>
        </p:nvSpPr>
        <p:spPr>
          <a:xfrm>
            <a:off x="365760" y="475488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מקור: arXiv:2608.05898, טבלה 5: ספירת קורסים מתוך 18 שפרסמו נושאים.</a:t>
            </a:r>
          </a:p>
        </p:txBody>
      </p:sp>
      <p:sp>
        <p:nvSpPr>
          <p:cNvPr id="22"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13 - להעמקה :</a:t>
            </a:r>
            <a:r>
              <a:rPr sz="3000" b="1" i="0" lang="he-IL">
                <a:solidFill>
                  <a:srgbClr val="212121"/>
                </a:solidFill>
              </a:rPr>
              <a:t>מקורות להעמקה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Source 1"/>
          <p:cNvSpPr/>
          <p:nvPr/>
        </p:nvSpPr>
        <p:spPr>
          <a:xfrm>
            <a:off x="365760" y="1280160"/>
            <a:ext cx="8412480" cy="410000"/>
          </a:xfrm>
          <a:prstGeom prst="rect">
            <a:avLst/>
          </a:prstGeom>
          <a:solidFill>
            <a:srgbClr val="E3EE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Yao, S. et al. (2023). ReAct: Synergizing Reasoning and Acting in Language Models. ICLR. arXiv:2210.03629</a:t>
            </a:r>
          </a:p>
        </p:txBody>
      </p:sp>
      <p:sp>
        <p:nvSpPr>
          <p:cNvPr id="6" name="Source 2"/>
          <p:cNvSpPr/>
          <p:nvPr/>
        </p:nvSpPr>
        <p:spPr>
          <a:xfrm>
            <a:off x="365760" y="1720160"/>
            <a:ext cx="8412480" cy="410000"/>
          </a:xfrm>
          <a:prstGeom prst="rect">
            <a:avLst/>
          </a:prstGeom>
          <a:solidFill>
            <a:srgbClr val="FFFF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Schick, T. et al. (2023). Toolformer: Language Models Can Teach Themselves to Use Tools. NeurIPS.</a:t>
            </a:r>
          </a:p>
        </p:txBody>
      </p:sp>
      <p:sp>
        <p:nvSpPr>
          <p:cNvPr id="7" name="Source 3"/>
          <p:cNvSpPr/>
          <p:nvPr/>
        </p:nvSpPr>
        <p:spPr>
          <a:xfrm>
            <a:off x="365760" y="2160160"/>
            <a:ext cx="8412480" cy="410000"/>
          </a:xfrm>
          <a:prstGeom prst="rect">
            <a:avLst/>
          </a:prstGeom>
          <a:solidFill>
            <a:srgbClr val="E3EE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Fowler, M. (2018). Refactoring: Improving the Design of Existing Code, 2nd ed. Addison-Wesley.</a:t>
            </a:r>
          </a:p>
        </p:txBody>
      </p:sp>
      <p:sp>
        <p:nvSpPr>
          <p:cNvPr id="8" name="Source 4"/>
          <p:cNvSpPr/>
          <p:nvPr/>
        </p:nvSpPr>
        <p:spPr>
          <a:xfrm>
            <a:off x="365760" y="2600160"/>
            <a:ext cx="8412480" cy="410000"/>
          </a:xfrm>
          <a:prstGeom prst="rect">
            <a:avLst/>
          </a:prstGeom>
          <a:solidFill>
            <a:srgbClr val="FFFF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Jimenez, C. E. et al. (2024). SWE-bench: Can Language Models Resolve Real-World GitHub Issues? ICLR.</a:t>
            </a:r>
          </a:p>
        </p:txBody>
      </p:sp>
      <p:sp>
        <p:nvSpPr>
          <p:cNvPr id="9" name="Source 5"/>
          <p:cNvSpPr/>
          <p:nvPr/>
        </p:nvSpPr>
        <p:spPr>
          <a:xfrm>
            <a:off x="365760" y="3040160"/>
            <a:ext cx="8412480" cy="480000"/>
          </a:xfrm>
          <a:prstGeom prst="rect">
            <a:avLst/>
          </a:prstGeom>
          <a:solidFill>
            <a:srgbClr val="E3EE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Becker, J. et al. (2025). Measuring the Impact of Early-2025 AI on Experienced Open-Source Developer Productivity. arXiv:2507.09089</a:t>
            </a:r>
          </a:p>
        </p:txBody>
      </p:sp>
      <p:sp>
        <p:nvSpPr>
          <p:cNvPr id="10" name="Source 6"/>
          <p:cNvSpPr/>
          <p:nvPr/>
        </p:nvSpPr>
        <p:spPr>
          <a:xfrm>
            <a:off x="365760" y="3550160"/>
            <a:ext cx="8412480" cy="410000"/>
          </a:xfrm>
          <a:prstGeom prst="rect">
            <a:avLst/>
          </a:prstGeom>
          <a:solidFill>
            <a:srgbClr val="FFFF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Anthropic (2024). Building effective agents. anthropic.com/engineering/building-effective-agents</a:t>
            </a:r>
          </a:p>
        </p:txBody>
      </p:sp>
      <p:sp>
        <p:nvSpPr>
          <p:cNvPr id="11" name="Source 7"/>
          <p:cNvSpPr/>
          <p:nvPr/>
        </p:nvSpPr>
        <p:spPr>
          <a:xfrm>
            <a:off x="365760" y="3990160"/>
            <a:ext cx="8412480" cy="410000"/>
          </a:xfrm>
          <a:prstGeom prst="rect">
            <a:avLst/>
          </a:prstGeom>
          <a:solidFill>
            <a:srgbClr val="E3EE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OWASP GenAI Security Project (2025). Top 10 for LLM Applications. genai.owasp.org/llm-top-10</a:t>
            </a:r>
          </a:p>
        </p:txBody>
      </p:sp>
      <p:sp>
        <p:nvSpPr>
          <p:cNvPr id="12" name="Source 8"/>
          <p:cNvSpPr/>
          <p:nvPr/>
        </p:nvSpPr>
        <p:spPr>
          <a:xfrm>
            <a:off x="365760" y="4430160"/>
            <a:ext cx="8412480" cy="410000"/>
          </a:xfrm>
          <a:prstGeom prst="rect">
            <a:avLst/>
          </a:prstGeom>
          <a:solidFill>
            <a:srgbClr val="FFFF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NIST (2023). AI Risk Management Framework 1.0, NIST AI 100‎-‎1. nist.gov/itl/ai-risk-management-framework</a:t>
            </a:r>
          </a:p>
        </p:txBody>
      </p:sp>
      <p:sp>
        <p:nvSpPr>
          <p:cNvPr id="13"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