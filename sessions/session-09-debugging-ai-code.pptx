
<file path=[Content_Types].xml><?xml version="1.0" encoding="utf-8"?>
<Types xmlns="http://schemas.openxmlformats.org/package/2006/content-types">
  <Default Extension="fntdata" ContentType="application/x-fontdata"/>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11"/>
    <p:sldId id="257" r:id="rId12"/>
    <p:sldId id="258" r:id="rId13"/>
    <p:sldId id="319" r:id="rId68"/>
    <p:sldId id="320" r:id="rId69"/>
    <p:sldId id="259" r:id="rId14"/>
    <p:sldId id="260" r:id="rId15"/>
    <p:sldId id="261" r:id="rId16"/>
    <p:sldId id="262" r:id="rId17"/>
    <p:sldId id="263" r:id="rId18"/>
    <p:sldId id="264" r:id="rId19"/>
    <p:sldId id="265" r:id="rId20"/>
    <p:sldId id="266" r:id="rId21"/>
    <p:sldId id="321" r:id="rId70"/>
    <p:sldId id="267" r:id="rId22"/>
    <p:sldId id="304" r:id="rId8"/>
    <p:sldId id="268" r:id="rId23"/>
    <p:sldId id="305" r:id="rId7"/>
    <p:sldId id="270" r:id="rId25"/>
    <p:sldId id="273" r:id="rId28"/>
    <p:sldId id="274" r:id="rId29"/>
    <p:sldId id="275" r:id="rId30"/>
    <p:sldId id="276" r:id="rId31"/>
    <p:sldId id="277" r:id="rId32"/>
    <p:sldId id="278" r:id="rId33"/>
    <p:sldId id="279" r:id="rId34"/>
    <p:sldId id="322" r:id="rId71"/>
    <p:sldId id="280" r:id="rId35"/>
    <p:sldId id="283" r:id="rId38"/>
    <p:sldId id="306" r:id="rId61"/>
    <p:sldId id="286" r:id="rId41"/>
    <p:sldId id="287" r:id="rId42"/>
    <p:sldId id="288" r:id="rId43"/>
    <p:sldId id="289" r:id="rId44"/>
    <p:sldId id="310" r:id="rId53"/>
    <p:sldId id="290" r:id="rId45"/>
    <p:sldId id="291" r:id="rId46"/>
    <p:sldId id="292" r:id="rId47"/>
    <p:sldId id="293" r:id="rId48"/>
    <p:sldId id="323" r:id="rId72"/>
    <p:sldId id="294" r:id="rId49"/>
    <p:sldId id="284" r:id="rId39"/>
    <p:sldId id="307" r:id="rId62"/>
    <p:sldId id="296" r:id="rId51"/>
    <p:sldId id="297" r:id="rId52"/>
    <p:sldId id="308" r:id="rId63"/>
    <p:sldId id="271" r:id="rId26"/>
    <p:sldId id="309" r:id="rId64"/>
    <p:sldId id="295" r:id="rId50"/>
    <p:sldId id="311" r:id="rId40"/>
    <p:sldId id="312" r:id="rId37"/>
    <p:sldId id="313" r:id="rId36"/>
    <p:sldId id="314" r:id="rId27"/>
    <p:sldId id="315" r:id="rId24"/>
    <p:sldId id="316" r:id="rId65"/>
    <p:sldId id="317" r:id="rId66"/>
    <p:sldId id="318" r:id="rId67"/>
    <p:sldId id="299" r:id="rId54"/>
    <p:sldId id="300" r:id="rId55"/>
    <p:sldId id="301" r:id="rId56"/>
    <p:sldId id="302" r:id="rId10"/>
    <p:sldId id="303" r:id="rId9"/>
  </p:sldIdLst>
  <p:sldSz cy="5143500" cx="9144000"/>
  <p:notesSz cx="6858000" cy="9144000"/>
  <p:embeddedFontLst>
    <p:embeddedFont>
      <p:font typeface="Roboto Mono"/>
      <p:regular r:id="rId57"/>
      <p:bold r:id="rId58"/>
      <p:italic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9DD8FB8-E6A7-485A-9FB0-3124AB043D13}">
  <a:tblStyle styleId="{E9DD8FB8-E6A7-485A-9FB0-3124AB043D1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8.xml"/><Relationship Id="rId8" Type="http://schemas.openxmlformats.org/officeDocument/2006/relationships/slide" Target="slides/slide16.xml"/><Relationship Id="rId9" Type="http://schemas.openxmlformats.org/officeDocument/2006/relationships/slide" Target="slides/slide62.xml"/><Relationship Id="rId10" Type="http://schemas.openxmlformats.org/officeDocument/2006/relationships/slide" Target="slides/slide6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5.xml"/><Relationship Id="rId23" Type="http://schemas.openxmlformats.org/officeDocument/2006/relationships/slide" Target="slides/slide17.xml"/><Relationship Id="rId24" Type="http://schemas.openxmlformats.org/officeDocument/2006/relationships/slide" Target="slides/slide54.xml"/><Relationship Id="rId25" Type="http://schemas.openxmlformats.org/officeDocument/2006/relationships/slide" Target="slides/slide19.xml"/><Relationship Id="rId26" Type="http://schemas.openxmlformats.org/officeDocument/2006/relationships/slide" Target="slides/slide47.xml"/><Relationship Id="rId27" Type="http://schemas.openxmlformats.org/officeDocument/2006/relationships/slide" Target="slides/slide53.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8.xml"/><Relationship Id="rId36" Type="http://schemas.openxmlformats.org/officeDocument/2006/relationships/slide" Target="slides/slide52.xml"/><Relationship Id="rId37" Type="http://schemas.openxmlformats.org/officeDocument/2006/relationships/slide" Target="slides/slide51.xml"/><Relationship Id="rId38" Type="http://schemas.openxmlformats.org/officeDocument/2006/relationships/slide" Target="slides/slide29.xml"/><Relationship Id="rId39" Type="http://schemas.openxmlformats.org/officeDocument/2006/relationships/slide" Target="slides/slide42.xml"/><Relationship Id="rId40" Type="http://schemas.openxmlformats.org/officeDocument/2006/relationships/slide" Target="slides/slide5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1.xml"/><Relationship Id="rId50" Type="http://schemas.openxmlformats.org/officeDocument/2006/relationships/slide" Target="slides/slide49.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35.xml"/><Relationship Id="rId54" Type="http://schemas.openxmlformats.org/officeDocument/2006/relationships/slide" Target="slides/slide58.xml"/><Relationship Id="rId55" Type="http://schemas.openxmlformats.org/officeDocument/2006/relationships/slide" Target="slides/slide59.xml"/><Relationship Id="rId56" Type="http://schemas.openxmlformats.org/officeDocument/2006/relationships/slide" Target="slides/slide60.xml"/><Relationship Id="rId57" Type="http://schemas.openxmlformats.org/officeDocument/2006/relationships/font" Target="fonts/RobotoMono-regular.fntdata"/><Relationship Id="rId58" Type="http://schemas.openxmlformats.org/officeDocument/2006/relationships/font" Target="fonts/RobotoMono-bold.fntdata"/><Relationship Id="rId59" Type="http://schemas.openxmlformats.org/officeDocument/2006/relationships/font" Target="fonts/RobotoMono-italic.fntdata"/><Relationship Id="rId60" Type="http://schemas.openxmlformats.org/officeDocument/2006/relationships/font" Target="fonts/RobotoMono-boldItalic.fntdata"/><Relationship Id="rId61" Type="http://schemas.openxmlformats.org/officeDocument/2006/relationships/slide" Target="slides/slide30.xml"/><Relationship Id="rId62" Type="http://schemas.openxmlformats.org/officeDocument/2006/relationships/slide" Target="slides/slide43.xml"/><Relationship Id="rId63" Type="http://schemas.openxmlformats.org/officeDocument/2006/relationships/slide" Target="slides/slide46.xml"/><Relationship Id="rId64" Type="http://schemas.openxmlformats.org/officeDocument/2006/relationships/slide" Target="slides/slide48.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4.xml"/><Relationship Id="rId69" Type="http://schemas.openxmlformats.org/officeDocument/2006/relationships/slide" Target="slides/slide5.xml"/><Relationship Id="rId70" Type="http://schemas.openxmlformats.org/officeDocument/2006/relationships/slide" Target="slides/slide14.xml"/><Relationship Id="rId71" Type="http://schemas.openxmlformats.org/officeDocument/2006/relationships/slide" Target="slides/slide27.xml"/><Relationship Id="rId72"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v>
                </c:pt>
              </c:strCache>
            </c:strRef>
          </c:tx>
          <c:spPr>
            <a:solidFill>
              <a:srgbClr val="EA4335"/>
            </a:solidFill>
          </c:spPr>
          <c:cat>
            <c:strRef>
              <c:f>Sheet1!$A$2:$A$3</c:f>
              <c:strCache>
                <c:ptCount val="2"/>
                <c:pt idx="0">
                  <c:v>הדוח</c:v>
                </c:pt>
                <c:pt idx="1">
                  <c:v>הנהלת חשבונות</c:v>
                </c:pt>
              </c:strCache>
            </c:strRef>
          </c:cat>
          <c:val>
            <c:numRef>
              <c:f>Sheet1!$B$2:$B$3</c:f>
              <c:numCache>
                <c:formatCode>General</c:formatCode>
                <c:ptCount val="2"/>
                <c:pt idx="0">
                  <c:v>88527</c:v>
                </c:pt>
                <c:pt idx="1">
                  <c:v>177598</c:v>
                </c:pt>
              </c:numCache>
            </c:numRef>
          </c:val>
        </c:ser>
        <c:dLbls>
          <c:numFmt formatCode="#,##0" sourceLinked="0"/>
          <c:txPr>
            <a:bodyPr/>
            <a:lstStyle/>
            <a:p>
              <a:pPr>
                <a:defRPr sz="15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400"/>
            </a:pPr>
          </a:p>
        </c:txPr>
        <c:crossAx val="-2113994440"/>
        <c:crosses val="autoZero"/>
        <c:auto val="1"/>
        <c:lblAlgn val="ctr"/>
        <c:lblOffset val="100"/>
        <c:noMultiLvlLbl val="0"/>
      </c:catAx>
      <c:valAx>
        <c:axId val="-2113994440"/>
        <c:scaling/>
        <c:delete val="0"/>
        <c:axPos val="l"/>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פתיחה (8 דקות לכל הפתיחה: שקף זה כ־3 דקות, מטרות דקה, מפת המפגש דקה, שרשרת המפגשים כ־2 דקות והשאלה של היום דקה).</a:t>
            </a:r>
          </a:p>
          <a:p>
            <a:pPr rtl="1" algn="r" marL="0" indent="0">
              <a:buNone/>
            </a:pPr>
            <a:r>
              <a:rPr b="1" sz="1200" lang="he-IL"/>
              <a:t>מטרה</a:t>
            </a:r>
          </a:p>
          <a:p>
            <a:pPr rtl="1" algn="r" marL="0" indent="0">
              <a:buNone/>
            </a:pPr>
            <a:r>
              <a:rPr sz="1200" lang="he-IL"/>
              <a:t>•  להרגיש באג שקט לפני שנותנים לו שם.</a:t>
            </a:r>
          </a:p>
          <a:p>
            <a:pPr rtl="1" algn="r" marL="0" indent="0">
              <a:buNone/>
            </a:pPr>
            <a:r>
              <a:rPr sz="1200" lang="he-IL"/>
              <a:t>•  הצביעו על שני המספרים: דוח הכנסות של רבעון 3 שנכתב בעזרת AI מחזיר 88,527, ואילו הנהלת החשבונות אומרת 177,598.</a:t>
            </a:r>
          </a:p>
          <a:p>
            <a:pPr rtl="1" algn="r" marL="0" indent="0">
              <a:buNone/>
            </a:pPr>
            <a:r>
              <a:rPr sz="1200" lang="he-IL"/>
              <a:t>•  הדוח רץ עד הסוף בלי שגיאה ובלי אזהרה, ולכן אין Traceback שאפשר להתחיל ממנו.</a:t>
            </a:r>
          </a:p>
          <a:p>
            <a:pPr rtl="1" algn="r" marL="0" indent="0">
              <a:buNone/>
            </a:pPr>
            <a:r>
              <a:rPr b="1" sz="1200" lang="he-IL"/>
              <a:t>אנלוגיה</a:t>
            </a:r>
          </a:p>
          <a:p>
            <a:pPr rtl="1" algn="r" marL="0" indent="0">
              <a:buNone/>
            </a:pPr>
            <a:r>
              <a:rPr sz="1200" lang="he-IL"/>
              <a:t>•  מכונה בקו ייצור שממשיכה לעבוד בלי נורית אזהרה, אבל כל החלקים יוצאים במידה לא נכונה.</a:t>
            </a:r>
          </a:p>
          <a:p>
            <a:pPr rtl="1" algn="r" marL="0" indent="0">
              <a:buNone/>
            </a:pPr>
            <a:r>
              <a:rPr sz="1200" lang="he-IL"/>
              <a:t>•  רק מדידה תגלה את זה, ולא הצצה בלוח הבקרה.</a:t>
            </a:r>
          </a:p>
          <a:p>
            <a:pPr rtl="1" algn="r" marL="0" indent="0">
              <a:buNone/>
            </a:pPr>
            <a:r>
              <a:rPr b="1" sz="1200" lang="he-IL"/>
              <a:t>שאלה לכיתה</a:t>
            </a:r>
          </a:p>
          <a:p>
            <a:pPr rtl="1" algn="r" marL="0" indent="0">
              <a:buNone/>
            </a:pPr>
            <a:r>
              <a:rPr sz="1200" lang="he-IL"/>
              <a:t>•  איך הייתם מתחילים לחפש?</a:t>
            </a:r>
          </a:p>
          <a:p>
            <a:pPr rtl="1" algn="r" marL="0" indent="0">
              <a:buNone/>
            </a:pPr>
            <a:r>
              <a:rPr b="1" sz="1200" lang="he-IL"/>
              <a:t>תשובה</a:t>
            </a:r>
          </a:p>
          <a:p>
            <a:pPr rtl="1" algn="r" marL="0" indent="0">
              <a:buNone/>
            </a:pPr>
            <a:r>
              <a:rPr sz="1200" lang="he-IL"/>
              <a:t>•  להשוות למקור חיצוני, לספור שורות, לבדוק תאריכים.</a:t>
            </a:r>
          </a:p>
          <a:p>
            <a:pPr rtl="1" algn="r" marL="0" indent="0">
              <a:buNone/>
            </a:pPr>
            <a:r>
              <a:rPr sz="1200" lang="he-IL"/>
              <a:t>•  אמרו שבסוף המפגש הם ימצאו ארבעה באגים נפרדים שמסבירים את הפער, ושהמספרים בשיעור הם מהרצה של הדוח הפגום במחברת HM_09 ב־Colab.</a:t>
            </a:r>
          </a:p>
          <a:p>
            <a:pPr rtl="1" algn="r" marL="0" indent="0">
              <a:buNone/>
            </a:pPr>
            <a:r>
              <a:rPr sz="1200" lang="he-IL"/>
              <a:t>•  גשר למפגש 8: זו אותה תחושה כמו בפתיחה של מפגש 8, ״הקוד עובד, לא קיבלתי שגיאה״ (calc_reorder_point החזירה 17 במקום 20).</a:t>
            </a:r>
          </a:p>
          <a:p>
            <a:pPr rtl="1" algn="r" marL="0" indent="0">
              <a:buNone/>
            </a:pPr>
            <a:r>
              <a:rPr sz="1200" lang="he-IL"/>
              <a:t>•  שם הייתה לנו בדיקה שנכתבה ממפרט ותפסה את הפער; היום יש רק מספר חיצוני להשוואה ואין שום בדיקה.</a:t>
            </a:r>
          </a:p>
          <a:p>
            <a:pPr rtl="1" algn="r" marL="0" indent="0">
              <a:buNone/>
            </a:pPr>
            <a:r>
              <a:rPr b="1" sz="1200" lang="he-IL"/>
              <a:t>שאלת היזכרות</a:t>
            </a:r>
          </a:p>
          <a:p>
            <a:pPr rtl="1" algn="r" marL="0" indent="0">
              <a:buNone/>
            </a:pPr>
            <a:r>
              <a:rPr sz="1200" lang="he-IL"/>
              <a:t>•  מי זוכר מה הייתה התוצאה בפתיחה של מפגש 8?</a:t>
            </a:r>
          </a:p>
          <a:p>
            <a:pPr rtl="1" algn="r" marL="0" indent="0">
              <a:buNone/>
            </a:pPr>
            <a:r>
              <a:rPr b="1" sz="1200" lang="he-IL"/>
              <a:t>תשובה</a:t>
            </a:r>
          </a:p>
          <a:p>
            <a:pPr rtl="1" algn="r" marL="0" indent="0">
              <a:buNone/>
            </a:pPr>
            <a:r>
              <a:rPr sz="1200" lang="he-IL"/>
              <a:t>•  17 במקום 20.</a:t>
            </a:r>
          </a:p>
          <a:p>
            <a:pPr rtl="1" algn="r" marL="0" indent="0">
              <a:buNone/>
            </a:pPr>
            <a:r>
              <a:rPr sz="1200" lang="he-IL"/>
              <a:t>•  אם הכיתה לא זוכרת, אמרו את המספרים בעצמכם ועברו הלאה.</a:t>
            </a:r>
          </a:p>
          <a:p>
            <a:pPr rtl="1" algn="r" marL="0" indent="0">
              <a:buNone/>
            </a:pPr>
            <a:r>
              <a:rPr sz="1200" lang="he-IL"/>
              <a:t>•  הפירוט בשקף שרשרת המפגשים.</a:t>
            </a:r>
          </a:p>
          <a:p>
            <a:pPr rtl="1" algn="r" marL="0" indent="0">
              <a:buNone/>
            </a:pPr>
            <a:r>
              <a:rPr sz="1200" lang="he-IL"/>
              <a:t>•  מושגי מפתח שיוגדרו בהמשך: כשל (הסכום שגוי), הדבקה (שורות NaT בטבלה) ופגם (קוד שלא ציין פורמט); ראו את שקף ההעשרה על פגם, הדבקה וכשל.</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מטרות המפגש (דקה).</a:t>
            </a:r>
          </a:p>
          <a:p>
            <a:pPr rtl="1" algn="r" marL="0" indent="0">
              <a:buNone/>
            </a:pPr>
            <a:r>
              <a:rPr b="1" sz="1200" lang="he-IL"/>
              <a:t>מה אומרים</a:t>
            </a:r>
          </a:p>
          <a:p>
            <a:pPr rtl="1" algn="r" marL="0" indent="0">
              <a:buNone/>
            </a:pPr>
            <a:r>
              <a:rPr sz="1200" lang="he-IL"/>
              <a:t>•  עברו על חמש המטרות לפי הסדר ותארו אותן כמסע: קודם שיטה, אחר כך קריאת שגיאות, אחר כך באגים שקטים, אחר כך עבודה נכונה מול ה־AI, ולבסוף מניעה.</a:t>
            </a:r>
          </a:p>
          <a:p>
            <a:pPr rtl="1" algn="r" marL="0" indent="0">
              <a:buNone/>
            </a:pPr>
            <a:r>
              <a:rPr sz="1200" lang="he-IL"/>
              <a:t>•  הדגישו שהיעד איננו ללמוד לתקן כל שגיאה בעל פה אלא לאמץ תהליך קבוע שאפשר להפעיל גם על קוד שה־AI כתב ואף אחד לא מכיר.</a:t>
            </a:r>
          </a:p>
          <a:p>
            <a:pPr rtl="1" algn="r" marL="0" indent="0">
              <a:buNone/>
            </a:pPr>
            <a:r>
              <a:rPr sz="1200" lang="he-IL"/>
              <a:t>•  קישור לשיעורים קודמים: מפגש 2 נתן את סוגי ההזיות, מפגש 6 נתן Git לשמירת נקודות חזרה, ומפגש 8 נתן בדיקות.</a:t>
            </a:r>
          </a:p>
          <a:p>
            <a:pPr rtl="1" algn="r" marL="0" indent="0">
              <a:buNone/>
            </a:pPr>
            <a:r>
              <a:rPr sz="1200" lang="he-IL"/>
              <a:t>•  כאן מחברים את שלושתם.</a:t>
            </a:r>
          </a:p>
          <a:p>
            <a:pPr rtl="1" algn="r" marL="0" indent="0">
              <a:buNone/>
            </a:pPr>
            <a:r>
              <a:rPr b="1" sz="1200" lang="he-IL"/>
              <a:t>שאלה לכיתה</a:t>
            </a:r>
          </a:p>
          <a:p>
            <a:pPr rtl="1" algn="r" marL="0" indent="0">
              <a:buNone/>
            </a:pPr>
            <a:r>
              <a:rPr sz="1200" lang="he-IL"/>
              <a:t>•  מי נתקל בקוד של AI שרץ ונתן תוצאה מוזרה?</a:t>
            </a:r>
          </a:p>
          <a:p>
            <a:pPr rtl="1" algn="r" marL="0" indent="0">
              <a:buNone/>
            </a:pPr>
            <a:r>
              <a:rPr sz="1200" lang="he-IL"/>
              <a:t>•  תנו לשניים להשיב בקצרה.</a:t>
            </a:r>
          </a:p>
          <a:p>
            <a:pPr rtl="1" algn="r" marL="0" indent="0">
              <a:buNone/>
            </a:pPr>
            <a:r>
              <a:rPr sz="1200" lang="he-IL"/>
              <a:t>•  הסבירו שהיעד המרכזי הוא הרגל של אימות מול מקור חיצוני, ושבסוף נמדוד זאת במעבדה ב׳.</a:t>
            </a:r>
          </a:p>
          <a:p>
            <a:pPr rtl="1" algn="r" marL="0" indent="0">
              <a:buNone/>
            </a:pPr>
            <a:r>
              <a:rPr b="1" sz="1200" lang="he-IL"/>
              <a:t>חיבור לשיעורים קודמים</a:t>
            </a:r>
          </a:p>
          <a:p>
            <a:pPr rtl="1" algn="r" marL="0" indent="0">
              <a:buNone/>
            </a:pPr>
            <a:r>
              <a:rPr sz="1200" lang="he-IL"/>
              <a:t>•  שקף שרשרת המפגשים שבא אחרי מפת המפגש מפרט איפה כל אחד משלושת המפגשים האלה (2, 6 ו־8) חוזר היום, ועוד מפגש 7 (JOIN), שאינו מופיע בשקף המטרות.</a:t>
            </a:r>
          </a:p>
          <a:p>
            <a:pPr rtl="1" algn="r" marL="0" indent="0">
              <a:buNone/>
            </a:pPr>
            <a:r>
              <a:rPr sz="1200" lang="he-IL"/>
              <a:t>•  אם הכיתה צריכה היזכרות קצרה, הפנו לשם ואל תחזרו על התוכן כאן.</a:t>
            </a:r>
          </a:p>
          <a:p>
            <a:pPr rtl="1" algn="r" marL="0" indent="0">
              <a:buNone/>
            </a:pPr>
            <a:r>
              <a:rPr sz="1200" lang="he-IL"/>
              <a:t>•  יעדי העשרה (אופציונליים, בשקפי ההעשרה בסוף המפגש): להבחין בין פגם, הדבקה וכשל ולהסביר מדוע מתקנים את הפגם ומודדים את ההדבקה</a:t>
            </a:r>
          </a:p>
          <a:p>
            <a:pPr rtl="1" algn="r" marL="0" indent="0">
              <a:buNone/>
            </a:pPr>
            <a:r>
              <a:rPr sz="1200" lang="he-IL"/>
              <a:t>•  להבין את הרעיון של חיפוש בינארי של באג (delta debugging, git bisect)</a:t>
            </a:r>
          </a:p>
          <a:p>
            <a:pPr rtl="1" algn="r" marL="0" indent="0">
              <a:buNone/>
            </a:pPr>
            <a:r>
              <a:rPr sz="1200" lang="he-IL"/>
              <a:t>•  להכיר מקרים אמיתיים של כשלי נתונים שקטים</a:t>
            </a:r>
          </a:p>
          <a:p>
            <a:pPr rtl="1" algn="r" marL="0" indent="0">
              <a:buNone/>
            </a:pPr>
            <a:r>
              <a:rPr sz="1200" lang="he-IL"/>
              <a:t>•  להכיר ממצאים מחקריים על באגים, תיקון עצמי ודעיכת הדיבוג בקוד שנוצר ב־AI</a:t>
            </a:r>
          </a:p>
          <a:p>
            <a:pPr rtl="1" algn="r" marL="0" indent="0">
              <a:buNone/>
            </a:pPr>
            <a:r>
              <a:rPr sz="1200" lang="he-IL"/>
              <a:t>•  ולהכיר את מגבלות 5 Whys ואת עקרון התחקיר בלי האשמה.</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מפת המפגש (דקה).</a:t>
            </a:r>
          </a:p>
          <a:p>
            <a:pPr rtl="1" algn="r" marL="0" indent="0">
              <a:buNone/>
            </a:pPr>
            <a:r>
              <a:rPr b="1" sz="1200" lang="he-IL"/>
              <a:t>מה אומרים</a:t>
            </a:r>
          </a:p>
          <a:p>
            <a:pPr rtl="1" algn="r" marL="0" indent="0">
              <a:buNone/>
            </a:pPr>
            <a:r>
              <a:rPr sz="1200" lang="he-IL"/>
              <a:t>•  כחול הוא הסבר קצר של המרצה וכתום הוא עבודה עצמית של הסטודנטים.</a:t>
            </a:r>
          </a:p>
          <a:p>
            <a:pPr rtl="1" algn="r" marL="0" indent="0">
              <a:buNone/>
            </a:pPr>
            <a:r>
              <a:rPr sz="1200" lang="he-IL"/>
              <a:t>•  סך הכול 90 דקות בלי שקפי ההעשרה: פתיחה 8, חלק א׳ 12, מעבדה א׳ 10, חלק ב׳ 11, מעבדה ב׳ 10, חלק ג׳ 12, מעבדה ג׳ 18 וסיכום 9.</a:t>
            </a:r>
          </a:p>
          <a:p>
            <a:pPr rtl="1" algn="r" marL="0" indent="0">
              <a:buNone/>
            </a:pPr>
            <a:r>
              <a:rPr sz="1200" lang="he-IL"/>
              <a:t>•  האיזון: הפתיחה הוגדלה מ־7 ל־8 כי נוספו שקף שרשרת המפגשים (כ־2 דקות) והשאלה של היום (דקה), ובמקביל נקצרו שקף הפתיחה לכ־3 דקות והמטרות והמפה לדקה כל אחד; הסיכום קוצר מ־10 ל־9, כי הסעיפים שלו מסתכמים ב־9 דקות.</a:t>
            </a:r>
          </a:p>
          <a:p>
            <a:pPr rtl="1" algn="r" marL="0" indent="0">
              <a:buNone/>
            </a:pPr>
            <a:r>
              <a:rPr sz="1200" lang="he-IL"/>
              <a:t>•  מעבדה א׳ הוגדלה מ־8 ל־10 כי היא כוללת תדריך קצר ושקף תשובות, ומעבדה ג׳ קוצרה מ־21 ל־18 כי שלב 6 בחלק ג׳ (תחקיר ו־commit), החלק האחרון של חלק ו׳ והבונוס מושלמים בבית</a:t>
            </a:r>
          </a:p>
          <a:p>
            <a:pPr rtl="1" algn="r" marL="0" indent="0">
              <a:buNone/>
            </a:pPr>
            <a:r>
              <a:rPr sz="1200" lang="he-IL"/>
              <a:t>•  חלק ג׳ בתיאוריה הוגדל מ־9 ל־12 כי הוא נושא את בדיקת הרגרסיה, התחקיר וכלל העצירה, ושקף חדש על מדידה אחרי כל תיקון.</a:t>
            </a:r>
          </a:p>
          <a:p>
            <a:pPr rtl="1" algn="r" marL="0" indent="0">
              <a:buNone/>
            </a:pPr>
            <a:r>
              <a:rPr sz="1200" lang="he-IL"/>
              <a:t>•  המחברת HM_09 מעריכה 39 דקות עבודה נטו (8, 10, ובחלקים ג׳ עד ו׳ 21), ובכיתה מתוכן כ־28 דקות עבודה נטו; שאר העבודה, כולל שאלות הניתוח הכתובות, בבית.</a:t>
            </a:r>
          </a:p>
          <a:p>
            <a:pPr rtl="1" algn="r" marL="0" indent="0">
              <a:buNone/>
            </a:pPr>
            <a:r>
              <a:rPr sz="1200" lang="he-IL"/>
              <a:t>•  זמני התיאוריה לפי הערות כל שקף: חלק א׳ 12, חלק ב׳ 11, חלק ג׳ 11.5 (ועוד 2 דקות אופציונליות לשאלת הבדיקה).</a:t>
            </a:r>
          </a:p>
          <a:p>
            <a:pPr rtl="1" algn="r" marL="0" indent="0">
              <a:buNone/>
            </a:pPr>
            <a:r>
              <a:rPr sz="1200" lang="he-IL"/>
              <a:t>•  שקפי ההעשרה (שישה שקפים של כ־2 דקות כל אחד, ושני שקפי מקורות) נמצאים לפני הסיכום והם אופציונליים: עם כולם המפגש מגיע לכ־104 דקות, ולכן בוחרים שניים או שלושה (המלצה: מפגם לכשל, מקרים אמיתיים, תיקון עצמי).</a:t>
            </a:r>
          </a:p>
          <a:p>
            <a:pPr rtl="1" algn="r" marL="0" indent="0">
              <a:buNone/>
            </a:pPr>
            <a:r>
              <a:rPr sz="1200" lang="he-IL"/>
              <a:t>•  סדר הקיצוץ אם הזמן קצר: קודם כל שקפי ההעשרה (לקריאה בבית), אחר כך שאלת הבדיקה של חלק ג׳, אחר כך שאלות הניתוח במחברת בעל פה; לא מקצצים את המעבדות.</a:t>
            </a:r>
          </a:p>
          <a:p>
            <a:pPr rtl="1" algn="r" marL="0" indent="0">
              <a:buNone/>
            </a:pPr>
            <a:r>
              <a:rPr sz="1200" lang="he-IL"/>
              <a:t>•  בדקו לפני תחילת המעבדות שלכל סטודנט יש חשבון Google ושהמחברת נפתחת ב־Colab (הכינו קישור או QR).</a:t>
            </a:r>
          </a:p>
          <a:p>
            <a:pPr rtl="1" algn="r" marL="0" indent="0">
              <a:buNone/>
            </a:pPr>
            <a:r>
              <a:rPr sz="1200" lang="he-IL"/>
              <a:t>•  אם חלק מהכיתה בלי מחשב, ארגנו עבודה בזוגות.</a:t>
            </a:r>
          </a:p>
          <a:p>
            <a:pPr rtl="1" algn="r" marL="0" indent="0">
              <a:buNone/>
            </a:pPr>
            <a:r>
              <a:rPr b="1" sz="1200" lang="he-IL"/>
              <a:t>שאלה לכיתה</a:t>
            </a:r>
          </a:p>
          <a:p>
            <a:pPr rtl="1" algn="r" marL="0" indent="0">
              <a:buNone/>
            </a:pPr>
            <a:r>
              <a:rPr sz="1200" lang="he-IL"/>
              <a:t>•  איפה לדעתכם יהיה הכי קשה?</a:t>
            </a:r>
          </a:p>
          <a:p>
            <a:pPr rtl="1" algn="r" marL="0" indent="0">
              <a:buNone/>
            </a:pPr>
            <a:r>
              <a:rPr sz="1200" lang="he-IL"/>
              <a:t>•  ברוב הכיתות התשובה היא מעבדה ב׳, כי אין שגיאה להיאחז בה.</a:t>
            </a:r>
          </a:p>
          <a:p>
            <a:pPr rtl="1" algn="r" marL="0" indent="0">
              <a:buNone/>
            </a:pPr>
            <a:r>
              <a:rPr b="1" sz="1200" lang="he-IL"/>
              <a:t>חיבור לשיעורים קודמים</a:t>
            </a:r>
          </a:p>
          <a:p>
            <a:pPr rtl="1" algn="r" marL="0" indent="0">
              <a:buNone/>
            </a:pPr>
            <a:r>
              <a:rPr sz="1200" lang="he-IL"/>
              <a:t>•  אחרי המפה באים שקף שרשרת המפגשים (מפגשים 2, 6, 7 ו־8 ואיפה כל אחד חוזר היום) והשאלה של היום, שנולדת ממה שנשאר פתוח בסוף מפגש 8.</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חלק א׳ (12 דקות כולל שקף ההזיות, ומעבדה אחריו).</a:t>
            </a:r>
          </a:p>
          <a:p>
            <a:pPr rtl="1" algn="r" marL="0" indent="0">
              <a:buNone/>
            </a:pPr>
            <a:r>
              <a:rPr b="1" sz="1200" lang="he-IL"/>
              <a:t>מטרה</a:t>
            </a:r>
          </a:p>
          <a:p>
            <a:pPr rtl="1" algn="r" marL="0" indent="0">
              <a:buNone/>
            </a:pPr>
            <a:r>
              <a:rPr sz="1200" lang="he-IL"/>
              <a:t>•  לתת שיטה קבועה במקום ניחושים.</a:t>
            </a:r>
          </a:p>
          <a:p>
            <a:pPr rtl="1" algn="r" marL="0" indent="0">
              <a:buNone/>
            </a:pPr>
            <a:r>
              <a:rPr sz="1200" lang="he-IL"/>
              <a:t>•  עברו על שבעת הצעדים מימין לשמאל לפי הסדר: משחזרים, מבודדים, משערים, בודקים, מתקנים, מאמתים, מונעים.</a:t>
            </a:r>
          </a:p>
          <a:p>
            <a:pPr rtl="1" algn="r" marL="0" indent="0">
              <a:buNone/>
            </a:pPr>
            <a:r>
              <a:rPr sz="1200" lang="he-IL"/>
              <a:t>•  הצבעים: כחול זה הבנה של הבעיה, ירוק-כחול זה חשיבה וניסוי, כתום זה שינוי הקוד, ירוק זה סגירה.</a:t>
            </a:r>
          </a:p>
          <a:p>
            <a:pPr rtl="1" algn="r" marL="0" indent="0">
              <a:buNone/>
            </a:pPr>
            <a:r>
              <a:rPr sz="1200" lang="he-IL"/>
              <a:t>•  אנלוגיה מהנדסית: מכונה עוצרת במפעל.</a:t>
            </a:r>
          </a:p>
          <a:p>
            <a:pPr rtl="1" algn="r" marL="0" indent="0">
              <a:buNone/>
            </a:pPr>
            <a:r>
              <a:rPr sz="1200" lang="he-IL"/>
              <a:t>•  טכנאי טוב לא מחליף חלקים באקראי, אלא משחזר את התקלה, מבודד תחנה אחת, מנסח השערה, בודק, ורק אז מתקן ומתעד.</a:t>
            </a:r>
          </a:p>
          <a:p>
            <a:pPr rtl="1" algn="r" marL="0" indent="0">
              <a:buNone/>
            </a:pPr>
            <a:r>
              <a:rPr sz="1200" lang="he-IL"/>
              <a:t>•  הדגישו ששני הצעדים האחרונים, אימות ומניעה, הם מה שמבדיל מקצוען ממי שרק מטלא.</a:t>
            </a:r>
          </a:p>
          <a:p>
            <a:pPr rtl="1" algn="r" marL="0" indent="0">
              <a:buNone/>
            </a:pPr>
            <a:r>
              <a:rPr b="1" sz="1200" lang="he-IL"/>
              <a:t>שאלה לכיתה</a:t>
            </a:r>
          </a:p>
          <a:p>
            <a:pPr rtl="1" algn="r" marL="0" indent="0">
              <a:buNone/>
            </a:pPr>
            <a:r>
              <a:rPr sz="1200" lang="he-IL"/>
              <a:t>•  איזה צעד אנשים נוטים לדלג עליו?</a:t>
            </a:r>
          </a:p>
          <a:p>
            <a:pPr rtl="1" algn="r" marL="0" indent="0">
              <a:buNone/>
            </a:pPr>
            <a:r>
              <a:rPr b="1" sz="1200" lang="he-IL"/>
              <a:t>תשובה</a:t>
            </a:r>
          </a:p>
          <a:p>
            <a:pPr rtl="1" algn="r" marL="0" indent="0">
              <a:buNone/>
            </a:pPr>
            <a:r>
              <a:rPr sz="1200" lang="he-IL"/>
              <a:t>•  ההשערה והמניעה, כי רוצים ישר לתקן.</a:t>
            </a:r>
          </a:p>
          <a:p>
            <a:pPr rtl="1" algn="r" marL="0" indent="0">
              <a:buNone/>
            </a:pPr>
            <a:r>
              <a:rPr b="1" sz="1200" lang="he-IL"/>
              <a:t>חיבור לשיעורים קודמים</a:t>
            </a:r>
          </a:p>
          <a:p>
            <a:pPr rtl="1" algn="r" marL="0" indent="0">
              <a:buNone/>
            </a:pPr>
            <a:r>
              <a:rPr sz="1200" lang="he-IL"/>
              <a:t>•  צעד 3 (השערה) נשען על טקסונומיית ההזיות ממפגש 2: כש־AI כתב את הקוד, השערה ראשונה סבירה היא שהוא המציא שם.</a:t>
            </a:r>
          </a:p>
          <a:p>
            <a:pPr rtl="1" algn="r" marL="0" indent="0">
              <a:buNone/>
            </a:pPr>
            <a:r>
              <a:rPr sz="1200" lang="he-IL"/>
              <a:t>•  צעד 5 נשען על הכלל של מפגש 6: commit לפני שינוי, diff אחרי, ואפשר לחזור לנקודה בטוחה.</a:t>
            </a:r>
          </a:p>
          <a:p>
            <a:pPr rtl="1" algn="r" marL="0" indent="0">
              <a:buNone/>
            </a:pPr>
            <a:r>
              <a:rPr sz="1200" lang="he-IL"/>
              <a:t>•  צעד 7 הוא בדיקה, כמו שלמדנו במפגש 8, ושם גם הכלל: בדיקה שלא ראיתם נכשלת היא השערה.</a:t>
            </a:r>
          </a:p>
          <a:p>
            <a:pPr rtl="1" algn="r" marL="0" indent="0">
              <a:buNone/>
            </a:pPr>
            <a:r>
              <a:rPr b="1" sz="1200" lang="he-IL"/>
              <a:t>שאלת היזכרות</a:t>
            </a:r>
          </a:p>
          <a:p>
            <a:pPr rtl="1" algn="r" marL="0" indent="0">
              <a:buNone/>
            </a:pPr>
            <a:r>
              <a:rPr sz="1200" lang="he-IL"/>
              <a:t>•  מה הכלל של מפגש 6 לפני שנותנים לסוכן לשנות קוד?</a:t>
            </a:r>
          </a:p>
          <a:p>
            <a:pPr rtl="1" algn="r" marL="0" indent="0">
              <a:buNone/>
            </a:pPr>
            <a:r>
              <a:rPr b="1" sz="1200" lang="he-IL"/>
              <a:t>תשובה</a:t>
            </a:r>
          </a:p>
          <a:p>
            <a:pPr rtl="1" algn="r" marL="0" indent="0">
              <a:buNone/>
            </a:pPr>
            <a:r>
              <a:rPr sz="1200" lang="he-IL"/>
              <a:t>•  commit לפני, diff אחרי.</a:t>
            </a:r>
          </a:p>
          <a:p>
            <a:pPr rtl="1" algn="r" marL="0" indent="0">
              <a:buNone/>
            </a:pPr>
            <a:r>
              <a:rPr sz="1200" lang="he-IL"/>
              <a:t>•  אם הכיתה לא זוכרת, שאלו מה קורה אם הסוכן שבר משהו ואין נקודת חזרה.</a:t>
            </a:r>
          </a:p>
          <a:p>
            <a:pPr rtl="1" algn="r" marL="0" indent="0">
              <a:buNone/>
            </a:pPr>
            <a:r>
              <a:rPr sz="1200" lang="he-IL"/>
              <a:t>•  הסבירו ש־AI עוזר בכל צעד אבל הניסוי והאימות נשארים אצלכם.</a:t>
            </a:r>
          </a:p>
          <a:p>
            <a:pPr rtl="1" algn="r" marL="0" indent="0">
              <a:buNone/>
            </a:pPr>
            <a:r>
              <a:rPr sz="1200" lang="he-IL"/>
              <a:t>•  העמקה אקדמית: שבעת הצעדים הם מסגרת הוראה שלנו.</a:t>
            </a:r>
          </a:p>
          <a:p>
            <a:pPr rtl="1" algn="r" marL="0" indent="0">
              <a:buNone/>
            </a:pPr>
            <a:r>
              <a:rPr sz="1200" lang="he-IL"/>
              <a:t>•  הבסיס בספרות הוא השיטה המדעית לדיבוג של Zeller (Why Programs Fail, 2009, וגם The Debugging Book באתר debuggingbook.org): שואלים שאלה על ההתנהגות, מנסחים השערה, גוזרים ממנה תחזית שאפשר להפריך, מריצים ניסוי, וחוזרים עד שההשערות והתצפיות מתיישבות.</a:t>
            </a:r>
          </a:p>
          <a:p>
            <a:pPr rtl="1" algn="r" marL="0" indent="0">
              <a:buNone/>
            </a:pPr>
            <a:r>
              <a:rPr sz="1200" lang="he-IL"/>
              <a:t>•  לכן במחברת כותבים תחזית לפני כל הרצה.</a:t>
            </a:r>
          </a:p>
          <a:p>
            <a:pPr rtl="1" algn="r" marL="0" indent="0">
              <a:buNone/>
            </a:pPr>
            <a:r>
              <a:rPr sz="1200" lang="he-IL"/>
              <a:t>•  הבחנה בין עובדה להמלצה: ההגדרות של פגם, הדבקה וכשל הן ספרות מבוססת; הסדר המדויק של שבעה צעדים והדגש על מניעה הם בחירה פדגוגית שלנו, ולא תקן.</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הדגמת קריאת Traceback (כ־2 דקות).</a:t>
            </a:r>
          </a:p>
          <a:p>
            <a:pPr rtl="1" algn="r" marL="0" indent="0">
              <a:buNone/>
            </a:pPr>
            <a:r>
              <a:rPr b="1" sz="1200" lang="he-IL"/>
              <a:t>מה אומרים</a:t>
            </a:r>
          </a:p>
          <a:p>
            <a:pPr rtl="1" algn="r" marL="0" indent="0">
              <a:buNone/>
            </a:pPr>
            <a:r>
              <a:rPr sz="1200" lang="he-IL"/>
              <a:t>•  הפלט הוא מקוצר מהרצה אמיתית של e1 במחברת HM_09.</a:t>
            </a:r>
          </a:p>
          <a:p>
            <a:pPr rtl="1" algn="r" marL="0" indent="0">
              <a:buNone/>
            </a:pPr>
            <a:r>
              <a:rPr sz="1200" lang="he-IL"/>
              <a:t>•  התחילו מהשורה האחרונה: KeyError: 'Quantity' אומרת מה קרה, כלומר מבקשים עמודה בשם Quantity והיא לא קיימת.</a:t>
            </a:r>
          </a:p>
          <a:p>
            <a:pPr rtl="1" algn="r" marL="0" indent="0">
              <a:buNone/>
            </a:pPr>
            <a:r>
              <a:rPr sz="1200" lang="he-IL"/>
              <a:t>•  עלו שורה אחת למעלה, ל־e1.py שורה 3, זו השורה שלנו, וזה המקום שאפשר לשנות.</a:t>
            </a:r>
          </a:p>
          <a:p>
            <a:pPr rtl="1" algn="r" marL="0" indent="0">
              <a:buNone/>
            </a:pPr>
            <a:r>
              <a:rPr sz="1200" lang="he-IL"/>
              <a:t>•  שורות שמסתיימות ב־pandas (frame.py, base.py) הן בתוך הספרייה, ואפשר לדלג עליהן כי הבאג כמעט אף פעם לא שם.</a:t>
            </a:r>
          </a:p>
          <a:p>
            <a:pPr rtl="1" algn="r" marL="0" indent="0">
              <a:buNone/>
            </a:pPr>
            <a:r>
              <a:rPr sz="1200" lang="he-IL"/>
              <a:t>•  הערה ליושר מקצועי: ב־Traceback האמיתי יש גם בלוק ארוך נוסף מעל, כי השגיאה שרשרת (The above exception was the direct cause), ומסתכלים על הבלוק האחרון.</a:t>
            </a:r>
          </a:p>
          <a:p>
            <a:pPr rtl="1" algn="r" marL="0" indent="0">
              <a:buNone/>
            </a:pPr>
            <a:r>
              <a:rPr b="1" sz="1200" lang="he-IL"/>
              <a:t>אנלוגיה</a:t>
            </a:r>
          </a:p>
          <a:p>
            <a:pPr rtl="1" algn="r" marL="0" indent="0">
              <a:buNone/>
            </a:pPr>
            <a:r>
              <a:rPr sz="1200" lang="he-IL"/>
              <a:t>•  שרשרת תקלות במפעל, מחפשים איפה בקו שלנו נכנסה הבעיה ולא איך המנוע בפנים בנוי.</a:t>
            </a:r>
          </a:p>
          <a:p>
            <a:pPr rtl="1" algn="r" marL="0" indent="0">
              <a:buNone/>
            </a:pPr>
            <a:r>
              <a:rPr b="1" sz="1200" lang="he-IL"/>
              <a:t>שאלה לכיתה</a:t>
            </a:r>
          </a:p>
          <a:p>
            <a:pPr rtl="1" algn="r" marL="0" indent="0">
              <a:buNone/>
            </a:pPr>
            <a:r>
              <a:rPr sz="1200" lang="he-IL"/>
              <a:t>•  מה אומרת השורה האחרונה ומה קורא לנו לבדוק?</a:t>
            </a:r>
          </a:p>
          <a:p>
            <a:pPr rtl="1" algn="r" marL="0" indent="0">
              <a:buNone/>
            </a:pPr>
            <a:r>
              <a:rPr sz="1200" lang="he-IL"/>
              <a:t>•  צפוי: להשוות בין שם העמודה בקובץ לשם בקוד, אות גדולה מול קטנה.</a:t>
            </a:r>
          </a:p>
          <a:p>
            <a:pPr rtl="1" algn="r" marL="0" indent="0">
              <a:buNone/>
            </a:pPr>
            <a:r>
              <a:rPr sz="1200" lang="he-IL"/>
              <a:t>•  תקלה נפוצה: סטודנטים קוראים מלמעלה ומתייאשים מהאורך.</a:t>
            </a:r>
          </a:p>
          <a:p>
            <a:pPr rtl="1" algn="r" marL="0" indent="0">
              <a:buNone/>
            </a:pPr>
            <a:r>
              <a:rPr b="1" sz="1200" lang="he-IL"/>
              <a:t>חיבור לשיעורים קודמים</a:t>
            </a:r>
          </a:p>
          <a:p>
            <a:pPr rtl="1" algn="r" marL="0" indent="0">
              <a:buNone/>
            </a:pPr>
            <a:r>
              <a:rPr sz="1200" lang="he-IL"/>
              <a:t>•  בשקף ההזיות של מפגש 2 ראינו את אותה צורת שגיאה, AttributeError על df.to_excel_fast, והאימות היה להריץ ולקרוא את ההודעה.</a:t>
            </a:r>
          </a:p>
          <a:p>
            <a:pPr rtl="1" algn="r" marL="0" indent="0">
              <a:buNone/>
            </a:pPr>
            <a:r>
              <a:rPr sz="1200" lang="he-IL"/>
              <a:t>•  כאן לומדים לקרוא אותה בשיטה: השורה האחרונה אומרת מה קרה.</a:t>
            </a:r>
          </a:p>
          <a:p>
            <a:pPr rtl="1" algn="r" marL="0" indent="0">
              <a:buNone/>
            </a:pPr>
            <a:r>
              <a:rPr b="1" sz="1200" lang="he-IL"/>
              <a:t>שאלת היזכרות</a:t>
            </a:r>
          </a:p>
          <a:p>
            <a:pPr rtl="1" algn="r" marL="0" indent="0">
              <a:buNone/>
            </a:pPr>
            <a:r>
              <a:rPr sz="1200" lang="he-IL"/>
              <a:t>•  איזה סוג הזיה הוא מתודה שלא קיימת?</a:t>
            </a:r>
          </a:p>
          <a:p>
            <a:pPr rtl="1" algn="r" marL="0" indent="0">
              <a:buNone/>
            </a:pPr>
            <a:r>
              <a:rPr b="1" sz="1200" lang="he-IL"/>
              <a:t>תשובה</a:t>
            </a:r>
          </a:p>
          <a:p>
            <a:pPr rtl="1" algn="r" marL="0" indent="0">
              <a:buNone/>
            </a:pPr>
            <a:r>
              <a:rPr sz="1200" lang="he-IL"/>
              <a:t>•  הזיית פונקציה או מתודה, מהטקסונומיה של מפגש 2.</a:t>
            </a:r>
          </a:p>
          <a:p>
            <a:pPr rtl="1" algn="r" marL="0" indent="0">
              <a:buNone/>
            </a:pPr>
            <a:r>
              <a:rPr sz="1200" lang="he-IL"/>
              <a:t>•  אם הכיתה לא זוכרת, כתבו את חמשת הסוגים על הלוח: פונקציה, פרמטר, חבילה, גרסה והתנהגות.</a:t>
            </a:r>
          </a:p>
          <a:p>
            <a:pPr rtl="1" algn="r" marL="0" indent="0">
              <a:buNone/>
            </a:pPr>
            <a:r>
              <a:rPr b="1" sz="1200" lang="he-IL"/>
              <a:t>להעמקה</a:t>
            </a:r>
          </a:p>
          <a:p>
            <a:pPr rtl="1" algn="r" marL="0" indent="0">
              <a:buNone/>
            </a:pPr>
            <a:r>
              <a:rPr sz="1200" lang="he-IL"/>
              <a:t>•  בפייתון הכותרת most recent call last אומרת שהקריאה האחרונה נמצאת בתחתית, ולכן קוראים מלמטה.</a:t>
            </a:r>
          </a:p>
          <a:p>
            <a:pPr rtl="1" algn="r" marL="0" indent="0">
              <a:buNone/>
            </a:pPr>
            <a:r>
              <a:rPr sz="1200" lang="he-IL"/>
              <a:t>•  כשיש שרשרת חריגות, פייתון מדפיס קודם את החריגה המקורית ואחר כך את זו שנגזרה ממנה, והבלוק האחרון הוא זה שהתוכנית הציגה.</a:t>
            </a:r>
          </a:p>
          <a:p>
            <a:pPr rtl="1" algn="r" marL="0" indent="0">
              <a:buNone/>
            </a:pPr>
            <a:r>
              <a:rPr sz="1200" lang="he-IL"/>
              <a:t>•  שורה שלכם פירושה שורה בקוד שאתם יכולים לשנות, בניגוד לשורות בתוך ספרייה.</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טבלת שגיאות נפוצות (כ־1.5 דקות).</a:t>
            </a:r>
          </a:p>
          <a:p>
            <a:pPr rtl="1" algn="r" marL="0" indent="0">
              <a:buNone/>
            </a:pPr>
            <a:r>
              <a:rPr b="1" sz="1200" lang="he-IL"/>
              <a:t>מה אומרים</a:t>
            </a:r>
          </a:p>
          <a:p>
            <a:pPr rtl="1" algn="r" marL="0" indent="0">
              <a:buNone/>
            </a:pPr>
            <a:r>
              <a:rPr sz="1200" lang="he-IL"/>
              <a:t>•  עברו שורה אחר שורה וקראו את העמודה האמצעית בקול: זה פירוש השם באנגלית בלשון פשוטה.</a:t>
            </a:r>
          </a:p>
          <a:p>
            <a:pPr rtl="1" algn="r" marL="0" indent="0">
              <a:buNone/>
            </a:pPr>
            <a:r>
              <a:rPr sz="1200" lang="he-IL"/>
              <a:t>•  שתי השורות המסומנות בכתום, ModuleNotFoundError ו־AttributeError, הן לעתים הזיות מהטקסונומיה של מפגש 2: חבילה שלא קיימת ומתודה שלא קיימת.</a:t>
            </a:r>
          </a:p>
          <a:p>
            <a:pPr rtl="1" algn="r" marL="0" indent="0">
              <a:buNone/>
            </a:pPr>
            <a:r>
              <a:rPr sz="1200" lang="he-IL"/>
              <a:t>•  שאר השגיאות הן טעויות רגילות של שמות, טיפוסים ונתיבים.</a:t>
            </a:r>
          </a:p>
          <a:p>
            <a:pPr rtl="1" algn="r" marL="0" indent="0">
              <a:buNone/>
            </a:pPr>
            <a:r>
              <a:rPr sz="1200" lang="he-IL"/>
              <a:t>•  הדגישו ש־ModuleNotFoundError לא תמיד הזיה: לפעמים החבילה אמיתית ופשוט לא הותקנה, ובדיקה ב־PyPI מכריעה.</a:t>
            </a:r>
          </a:p>
          <a:p>
            <a:pPr rtl="1" algn="r" marL="0" indent="0">
              <a:buNone/>
            </a:pPr>
            <a:r>
              <a:rPr b="1" sz="1200" lang="he-IL"/>
              <a:t>אנלוגיה</a:t>
            </a:r>
          </a:p>
          <a:p>
            <a:pPr rtl="1" algn="r" marL="0" indent="0">
              <a:buNone/>
            </a:pPr>
            <a:r>
              <a:rPr sz="1200" lang="he-IL"/>
              <a:t>•  דוח תקלות במפעל שמתחיל בקוד שגיאה, ורק ידע של מה הקוד אומר חוסך זמן.</a:t>
            </a:r>
          </a:p>
          <a:p>
            <a:pPr rtl="1" algn="r" marL="0" indent="0">
              <a:buNone/>
            </a:pPr>
            <a:r>
              <a:rPr b="1" sz="1200" lang="he-IL"/>
              <a:t>שאלה לכיתה</a:t>
            </a:r>
          </a:p>
          <a:p>
            <a:pPr rtl="1" algn="r" marL="0" indent="0">
              <a:buNone/>
            </a:pPr>
            <a:r>
              <a:rPr sz="1200" lang="he-IL"/>
              <a:t>•  איזו שגיאה אתם הכי חוששים ממנה בקוד של AI?</a:t>
            </a:r>
          </a:p>
          <a:p>
            <a:pPr rtl="1" algn="r" marL="0" indent="0">
              <a:buNone/>
            </a:pPr>
            <a:r>
              <a:rPr sz="1200" lang="he-IL"/>
              <a:t>•  ולמה?</a:t>
            </a:r>
          </a:p>
          <a:p>
            <a:pPr rtl="1" algn="r" marL="0" indent="0">
              <a:buNone/>
            </a:pPr>
            <a:r>
              <a:rPr sz="1200" lang="he-IL"/>
              <a:t>•  ההנחיה: הכי מסוכנת איננה שגיאה בכלל אלא באג שקט, ועל זה נדבר בחלק ב׳.</a:t>
            </a:r>
          </a:p>
          <a:p>
            <a:pPr rtl="1" algn="r" marL="0" indent="0">
              <a:buNone/>
            </a:pPr>
            <a:r>
              <a:rPr sz="1200" lang="he-IL"/>
              <a:t>•  הכינו את הכיתה, כי במעבדה א׳ הם יפגשו כל אחת מהחמש האלה במציאות.</a:t>
            </a:r>
          </a:p>
          <a:p>
            <a:pPr rtl="1" algn="r" marL="0" indent="0">
              <a:buNone/>
            </a:pPr>
            <a:r>
              <a:rPr sz="1200" lang="he-IL"/>
              <a:t>•  אם נשאר זמן, בקשו מסטודנט לתת דוגמה למקרה שבו נתקל בשגיאה כזאת.</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בדיקת קיום ה־API (כ־2 דקות).</a:t>
            </a:r>
          </a:p>
          <a:p>
            <a:pPr rtl="1" algn="r" marL="0" indent="0">
              <a:buNone/>
            </a:pPr>
            <a:r>
              <a:rPr b="1" sz="1200" lang="he-IL"/>
              <a:t>מה אומרים</a:t>
            </a:r>
          </a:p>
          <a:p>
            <a:pPr rtl="1" algn="r" marL="0" indent="0">
              <a:buNone/>
            </a:pPr>
            <a:r>
              <a:rPr sz="1200" lang="he-IL"/>
              <a:t>•  זה צעד ההשערה והניסוי עבור הזיות.</a:t>
            </a:r>
          </a:p>
          <a:p>
            <a:pPr rtl="1" algn="r" marL="0" indent="0">
              <a:buNone/>
            </a:pPr>
            <a:r>
              <a:rPr sz="1200" lang="he-IL"/>
              <a:t>•  קראו חמש שורות, ולכל אחת סוג הזיה מטקסונומיית מפגש 2.</a:t>
            </a:r>
          </a:p>
          <a:p>
            <a:pPr rtl="1" algn="r" marL="0" indent="0">
              <a:buNone/>
            </a:pPr>
            <a:r>
              <a:rPr sz="1200" lang="he-IL"/>
              <a:t>•  חבילה: מחפשים את השם ב־pypi.org, וכשאין עמוד אין חבילה (בבדיקה בזמן הכנת השיעור pandas_excel_fast החזירה 404).</a:t>
            </a:r>
          </a:p>
          <a:p>
            <a:pPr rtl="1" algn="r" marL="0" indent="0">
              <a:buNone/>
            </a:pPr>
            <a:r>
              <a:rPr sz="1200" lang="he-IL"/>
              <a:t>•  מתודה: hasattr(df, 'to_excel_fast') מחזיר False, ו־dir(df) מציג את כל המתודות הקיימות.</a:t>
            </a:r>
          </a:p>
          <a:p>
            <a:pPr rtl="1" algn="r" marL="0" indent="0">
              <a:buNone/>
            </a:pPr>
            <a:r>
              <a:rPr sz="1200" lang="he-IL"/>
              <a:t>•  פרמטר: help(pd.read_csv) מציג אילו פרמטרים באמת קיימים.</a:t>
            </a:r>
          </a:p>
          <a:p>
            <a:pPr rtl="1" algn="r" marL="0" indent="0">
              <a:buNone/>
            </a:pPr>
            <a:r>
              <a:rPr sz="1200" lang="he-IL"/>
              <a:t>•  גרסה: מדפיסים pd.__version__ ומשווים לתיעוד של אותה גרסה, כי פונקציה יכולה להתקיים בגרסה אחת ולא באחרת.</a:t>
            </a:r>
          </a:p>
          <a:p>
            <a:pPr rtl="1" algn="r" marL="0" indent="0">
              <a:buNone/>
            </a:pPr>
            <a:r>
              <a:rPr sz="1200" lang="he-IL"/>
              <a:t>•  התנהגות: מריצים על חמש שורות, כי ה־AI יכול להבטיח שהפונקציה עושה משהו והיא לא עושה אותו.</a:t>
            </a:r>
          </a:p>
          <a:p>
            <a:pPr rtl="1" algn="r" marL="0" indent="0">
              <a:buNone/>
            </a:pPr>
            <a:r>
              <a:rPr b="1" sz="1200" lang="he-IL"/>
              <a:t>אנלוגיה</a:t>
            </a:r>
          </a:p>
          <a:p>
            <a:pPr rtl="1" algn="r" marL="0" indent="0">
              <a:buNone/>
            </a:pPr>
            <a:r>
              <a:rPr sz="1200" lang="he-IL"/>
              <a:t>•  אין סומכים על מפרט של ספק בלי לבדוק אל מול המוצר.</a:t>
            </a:r>
          </a:p>
          <a:p>
            <a:pPr rtl="1" algn="r" marL="0" indent="0">
              <a:buNone/>
            </a:pPr>
            <a:r>
              <a:rPr b="1" sz="1200" lang="he-IL"/>
              <a:t>שאלה לכיתה</a:t>
            </a:r>
          </a:p>
          <a:p>
            <a:pPr rtl="1" algn="r" marL="0" indent="0">
              <a:buNone/>
            </a:pPr>
            <a:r>
              <a:rPr sz="1200" lang="he-IL"/>
              <a:t>•  מה הדרך הכי מהירה לבדוק שמתודה קיימת?</a:t>
            </a:r>
          </a:p>
          <a:p>
            <a:pPr rtl="1" algn="r" marL="0" indent="0">
              <a:buNone/>
            </a:pPr>
            <a:r>
              <a:rPr b="1" sz="1200" lang="he-IL"/>
              <a:t>תשובה</a:t>
            </a:r>
          </a:p>
          <a:p>
            <a:pPr rtl="1" algn="r" marL="0" indent="0">
              <a:buNone/>
            </a:pPr>
            <a:r>
              <a:rPr sz="1200" lang="he-IL"/>
              <a:t>•  hasattr או dir.</a:t>
            </a:r>
          </a:p>
          <a:p>
            <a:pPr rtl="1" algn="r" marL="0" indent="0">
              <a:buNone/>
            </a:pPr>
            <a:r>
              <a:rPr b="1" sz="1200" lang="he-IL"/>
              <a:t>חיבור לשיעורים קודמים</a:t>
            </a:r>
          </a:p>
          <a:p>
            <a:pPr rtl="1" algn="r" marL="0" indent="0">
              <a:buNone/>
            </a:pPr>
            <a:r>
              <a:rPr sz="1200" lang="he-IL"/>
              <a:t>•  מפגש 10, חבילה מומצאת היא גם סיכון אבטחה.</a:t>
            </a:r>
          </a:p>
          <a:p>
            <a:pPr rtl="1" algn="r" marL="0" indent="0">
              <a:buNone/>
            </a:pPr>
            <a:r>
              <a:rPr sz="1200" lang="he-IL"/>
              <a:t>•  תזכורת: ה־AI בטוח בעצמו גם כשהוא ממציא.</a:t>
            </a:r>
          </a:p>
          <a:p>
            <a:pPr rtl="1" algn="r" marL="0" indent="0">
              <a:buNone/>
            </a:pPr>
            <a:r>
              <a:rPr sz="1200" lang="he-IL"/>
              <a:t>•  השקף הזה הוא הכלל של מפגש 2 בפעולה: לא ראיתם בתיעוד ולא הרצתם בהצלחה, כולל קלט קצה, לא סומכים.</a:t>
            </a:r>
          </a:p>
          <a:p>
            <a:pPr rtl="1" algn="r" marL="0" indent="0">
              <a:buNone/>
            </a:pPr>
            <a:r>
              <a:rPr sz="1200" lang="he-IL"/>
              <a:t>•  חמש השורות הן חמשת סוגי ההזיות, ובכל אחת נאמר מה מריצים כדי לאמת.</a:t>
            </a:r>
          </a:p>
          <a:p>
            <a:pPr rtl="1" algn="r" marL="0" indent="0">
              <a:buNone/>
            </a:pPr>
            <a:r>
              <a:rPr b="1" sz="1200" lang="he-IL"/>
              <a:t>שאלת היזכרות</a:t>
            </a:r>
          </a:p>
          <a:p>
            <a:pPr rtl="1" algn="r" marL="0" indent="0">
              <a:buNone/>
            </a:pPr>
            <a:r>
              <a:rPr sz="1200" lang="he-IL"/>
              <a:t>•  איזו הזיה הכי קשה לזהות בלי הרצה?</a:t>
            </a:r>
          </a:p>
          <a:p>
            <a:pPr rtl="1" algn="r" marL="0" indent="0">
              <a:buNone/>
            </a:pPr>
            <a:r>
              <a:rPr b="1" sz="1200" lang="he-IL"/>
              <a:t>תשובה</a:t>
            </a:r>
          </a:p>
          <a:p>
            <a:pPr rtl="1" algn="r" marL="0" indent="0">
              <a:buNone/>
            </a:pPr>
            <a:r>
              <a:rPr sz="1200" lang="he-IL"/>
              <a:t>•  הזיית התנהגות, כי הקוד רץ וההסבר עליו שגוי (כמו הטענה שפונקציה מטפלת ברשימה ריקה).</a:t>
            </a:r>
          </a:p>
          <a:p>
            <a:pPr rtl="1" algn="r" marL="0" indent="0">
              <a:buNone/>
            </a:pPr>
            <a:r>
              <a:rPr sz="1200" lang="he-IL"/>
              <a:t>•  אם הכיתה לא זוכרת, תנו את הדוגמה של ממוצע של רשימה ריקה ממפגש 1 ומפגש 2.</a:t>
            </a:r>
          </a:p>
          <a:p>
            <a:pPr rtl="1" algn="r" marL="0" indent="0">
              <a:buNone/>
            </a:pPr>
            <a:r>
              <a:rPr sz="1200" lang="he-IL"/>
              <a:t>•  אימות מעודכן: חיפוש ב־PyPI עבור pandas_excel_fast, pandas-excel-fast וגם fastexcel_pro החזיר 404 ב־22.10.2026.</a:t>
            </a:r>
          </a:p>
          <a:p>
            <a:pPr rtl="1" algn="r" marL="0" indent="0">
              <a:buNone/>
            </a:pPr>
            <a:r>
              <a:rPr sz="1200" lang="he-IL"/>
              <a:t>•  חשוב: שם שאין עליו עמוד היום יכול להירשם מחר, ובמחקר של Spracklen ועמיתים (USENIX Security 2025) נמצאו 205,474 שמות חבילות בדויים ייחודיים.</a:t>
            </a:r>
          </a:p>
          <a:p>
            <a:pPr rtl="1" algn="r" marL="0" indent="0">
              <a:buNone/>
            </a:pPr>
            <a:r>
              <a:rPr sz="1200" lang="he-IL"/>
              <a:t>•  לכן היעדר עמוד הוא סימן אזהרה ולא ערובה, ועמוד קיים אינו ערובה לבטיחות (מפגש 10).</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צעד 2 בשיטה: מבודדים (כ־1.5 דקות).</a:t>
            </a:r>
          </a:p>
          <a:p>
            <a:pPr rtl="1" algn="r" marL="0" indent="0">
              <a:buNone/>
            </a:pPr>
            <a:r>
              <a:rPr b="1" sz="1200" lang="he-IL"/>
              <a:t>מה אומרים</a:t>
            </a:r>
          </a:p>
          <a:p>
            <a:pPr rtl="1" algn="r" marL="0" indent="0">
              <a:buNone/>
            </a:pPr>
            <a:r>
              <a:rPr sz="1200" lang="he-IL"/>
              <a:t>•  בצד ימין הבעיה האמיתית שלנו: 3,040 שורות נתונים, שלושה קבצי CSV וכ־15 שורות קוד.</a:t>
            </a:r>
          </a:p>
          <a:p>
            <a:pPr rtl="1" algn="r" marL="0" indent="0">
              <a:buNone/>
            </a:pPr>
            <a:r>
              <a:rPr sz="1200" lang="he-IL"/>
              <a:t>•  בצד שמאל המטרה: מקרה מינימלי של כחמש שורות נתונים.</a:t>
            </a:r>
          </a:p>
          <a:p>
            <a:pPr rtl="1" algn="r" marL="0" indent="0">
              <a:buNone/>
            </a:pPr>
            <a:r>
              <a:rPr sz="1200" lang="he-IL"/>
              <a:t>•  המספרים של המקרה המינימלי הם כיוון ולא תוצאה מדודה.</a:t>
            </a:r>
          </a:p>
          <a:p>
            <a:pPr rtl="1" algn="r" marL="0" indent="0">
              <a:buNone/>
            </a:pPr>
            <a:r>
              <a:rPr sz="1200" lang="he-IL"/>
              <a:t>•  איך עושים את זה?</a:t>
            </a:r>
          </a:p>
          <a:p>
            <a:pPr rtl="1" algn="r" marL="0" indent="0">
              <a:buNone/>
            </a:pPr>
            <a:r>
              <a:rPr sz="1200" lang="he-IL"/>
              <a:t>•  חותכים נתונים, מוחקים עמודות שלא קשורות, ומורידים שורות קוד עד שהבאג נעלם, ואז מחזירים את האחרונה.</a:t>
            </a:r>
          </a:p>
          <a:p>
            <a:pPr rtl="1" algn="r" marL="0" indent="0">
              <a:buNone/>
            </a:pPr>
            <a:r>
              <a:rPr sz="1200" lang="he-IL"/>
              <a:t>•  בדוח שלנו אפשר לקחת שתי שורות עם תאריכים כמו 03/04/2025 ו־23/01/2025 ולהריץ pd.to_datetime עליהן בלבד עם errors=coerce: כבר רואים שהשנייה נהפכת ל־NaT.</a:t>
            </a:r>
          </a:p>
          <a:p>
            <a:pPr rtl="1" algn="r" marL="0" indent="0">
              <a:buNone/>
            </a:pPr>
            <a:r>
              <a:rPr b="1" sz="1200" lang="he-IL"/>
              <a:t>אנלוגיה</a:t>
            </a:r>
          </a:p>
          <a:p>
            <a:pPr rtl="1" algn="r" marL="0" indent="0">
              <a:buNone/>
            </a:pPr>
            <a:r>
              <a:rPr sz="1200" lang="he-IL"/>
              <a:t>•  מבודדים תחנה אחת בקו ייצור ומריצים אותה לבדה כדי לדעת אם היא אשמה.</a:t>
            </a:r>
          </a:p>
          <a:p>
            <a:pPr rtl="1" algn="r" marL="0" indent="0">
              <a:buNone/>
            </a:pPr>
            <a:r>
              <a:rPr sz="1200" lang="he-IL"/>
              <a:t>•  יתרון נוסף: מקרה מינימלי הוא בדיוק מה שמדביקים ל־AI.</a:t>
            </a:r>
          </a:p>
          <a:p>
            <a:pPr rtl="1" algn="r" marL="0" indent="0">
              <a:buNone/>
            </a:pPr>
            <a:r>
              <a:rPr b="1" sz="1200" lang="he-IL"/>
              <a:t>שאלה לכיתה</a:t>
            </a:r>
          </a:p>
          <a:p>
            <a:pPr rtl="1" algn="r" marL="0" indent="0">
              <a:buNone/>
            </a:pPr>
            <a:r>
              <a:rPr sz="1200" lang="he-IL"/>
              <a:t>•  מה עושים כשהבאג נעלם אחרי שמקטינים?</a:t>
            </a:r>
          </a:p>
          <a:p>
            <a:pPr rtl="1" algn="r" marL="0" indent="0">
              <a:buNone/>
            </a:pPr>
            <a:r>
              <a:rPr b="1" sz="1200" lang="he-IL"/>
              <a:t>תשובה</a:t>
            </a:r>
          </a:p>
          <a:p>
            <a:pPr rtl="1" algn="r" marL="0" indent="0">
              <a:buNone/>
            </a:pPr>
            <a:r>
              <a:rPr sz="1200" lang="he-IL"/>
              <a:t>•  ההסרה האחרונה היא הרמז.</a:t>
            </a:r>
          </a:p>
          <a:p>
            <a:pPr rtl="1" algn="r" marL="0" indent="0">
              <a:buNone/>
            </a:pPr>
            <a:r>
              <a:rPr b="1" sz="1200" lang="he-IL"/>
              <a:t>חיבור לשיעורים קודמים</a:t>
            </a:r>
          </a:p>
          <a:p>
            <a:pPr rtl="1" algn="r" marL="0" indent="0">
              <a:buNone/>
            </a:pPr>
            <a:r>
              <a:rPr sz="1200" lang="he-IL"/>
              <a:t>•  מפגש 2, חלון ההקשר מוגבל, קטן עדיף.</a:t>
            </a:r>
          </a:p>
          <a:p>
            <a:pPr rtl="1" algn="r" marL="0" indent="0">
              <a:buNone/>
            </a:pPr>
            <a:r>
              <a:rPr b="1" sz="1200" lang="he-IL"/>
              <a:t>להעמקה</a:t>
            </a:r>
          </a:p>
          <a:p>
            <a:pPr rtl="1" algn="r" marL="0" indent="0">
              <a:buNone/>
            </a:pPr>
            <a:r>
              <a:rPr sz="1200" lang="he-IL"/>
              <a:t>•  זה הרעיון של Delta Debugging (Zeller ו־Hildebrandt, 2002): מקטינים קלט שנכשל עד שכל הסרה של חלק ממנו מעלימה את הכשל; ראו את שקף ההעשרה על חיפוש בינארי.</a:t>
            </a:r>
          </a:p>
          <a:p>
            <a:pPr rtl="1" algn="r" marL="0" indent="0">
              <a:buNone/>
            </a:pPr>
            <a:r>
              <a:rPr sz="1200" lang="he-IL"/>
              <a:t>•  מלכודת שקשורה למחברת: מ־pandas 2.0 הפורמט נקבע לפי הערך הראשון שאינו ריק (release notes של 2.0.0), ולכן הבחירה של שורות המקרה המינימלי משנה אם הבאג בכלל נראה.</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טעות נפוצה (כדקה).</a:t>
            </a:r>
          </a:p>
          <a:p>
            <a:pPr rtl="1" algn="r" marL="0" indent="0">
              <a:buNone/>
            </a:pPr>
            <a:r>
              <a:rPr b="1" sz="1200" lang="he-IL"/>
              <a:t>מה אומרים</a:t>
            </a:r>
          </a:p>
          <a:p>
            <a:pPr rtl="1" algn="r" marL="0" indent="0">
              <a:buNone/>
            </a:pPr>
            <a:r>
              <a:rPr sz="1200" lang="he-IL"/>
              <a:t>•  התרחיש: סטודנט מעתיק רק את השורה האחרונה של השגיאה ל־AI ומצפה לתיקון.</a:t>
            </a:r>
          </a:p>
          <a:p>
            <a:pPr rtl="1" algn="r" marL="0" indent="0">
              <a:buNone/>
            </a:pPr>
            <a:r>
              <a:rPr sz="1200" lang="he-IL"/>
              <a:t>•  קראו את הטענה בקול ושאלו מה חסר.</a:t>
            </a:r>
          </a:p>
          <a:p>
            <a:pPr rtl="1" algn="r" marL="0" indent="0">
              <a:buNone/>
            </a:pPr>
            <a:r>
              <a:rPr sz="1200" lang="he-IL"/>
              <a:t>•  עברו על שלושת הכרטיסים לפי הסדר: הקוד הרלוונטי בלבד, הציפייה מול המציאות, ומה כבר ניסיתי.</a:t>
            </a:r>
          </a:p>
          <a:p>
            <a:pPr rtl="1" algn="r" marL="0" indent="0">
              <a:buNone/>
            </a:pPr>
            <a:r>
              <a:rPr sz="1200" lang="he-IL"/>
              <a:t>•  בלי אלה ה־AI חייב לנחש, וכשהוא מנחש הוא מציע בביטחון תיקון שאולי לא קשור, למשל לעטוף ב־try/except כך שהשגיאה פשוט תיעלם.</a:t>
            </a:r>
          </a:p>
          <a:p>
            <a:pPr rtl="1" algn="r" marL="0" indent="0">
              <a:buNone/>
            </a:pPr>
            <a:r>
              <a:rPr b="1" sz="1200" lang="he-IL"/>
              <a:t>אנלוגיה</a:t>
            </a:r>
          </a:p>
          <a:p>
            <a:pPr rtl="1" algn="r" marL="0" indent="0">
              <a:buNone/>
            </a:pPr>
            <a:r>
              <a:rPr sz="1200" lang="he-IL"/>
              <a:t>•  טכנאי שמתקשר לתמיכה ואומר רק המכונה לא עובדת, ומקבל עצה גנרית.</a:t>
            </a:r>
          </a:p>
          <a:p>
            <a:pPr rtl="1" algn="r" marL="0" indent="0">
              <a:buNone/>
            </a:pPr>
            <a:r>
              <a:rPr sz="1200" lang="he-IL"/>
              <a:t>•  השקף הזה מכין את שקף הבקשה הטובה בחלק ג׳ ואת המעבדה, שם מתרגלים את התבנית של ארבעה חלקים.</a:t>
            </a:r>
          </a:p>
          <a:p>
            <a:pPr rtl="1" algn="r" marL="0" indent="0">
              <a:buNone/>
            </a:pPr>
            <a:r>
              <a:rPr b="1" sz="1200" lang="he-IL"/>
              <a:t>שאלה לכיתה</a:t>
            </a:r>
          </a:p>
          <a:p>
            <a:pPr rtl="1" algn="r" marL="0" indent="0">
              <a:buNone/>
            </a:pPr>
            <a:r>
              <a:rPr sz="1200" lang="he-IL"/>
              <a:t>•  איזה מבין שלושת החלקים הכי קל לשכוח?</a:t>
            </a:r>
          </a:p>
          <a:p>
            <a:pPr rtl="1" algn="r" marL="0" indent="0">
              <a:buNone/>
            </a:pPr>
            <a:r>
              <a:rPr sz="1200" lang="he-IL"/>
              <a:t>•  צפוי: מה כבר ניסיתי, כי אנחנו שוכחים מה ניסינו.</a:t>
            </a:r>
          </a:p>
          <a:p>
            <a:pPr rtl="1" algn="r" marL="0" indent="0">
              <a:buNone/>
            </a:pPr>
            <a:r>
              <a:rPr sz="1200" lang="he-IL"/>
              <a:t>•  מלכודת: להדביק את כל הקובץ של 500 שורות ולהציף את חלון ההקשר.</a:t>
            </a:r>
          </a:p>
          <a:p>
            <a:pPr rtl="1" algn="r" marL="0" indent="0">
              <a:buNone/>
            </a:pPr>
            <a:r>
              <a:rPr b="1" sz="1200" lang="he-IL"/>
              <a:t>חיבור לשיעורים קודמים</a:t>
            </a:r>
          </a:p>
          <a:p>
            <a:pPr rtl="1" algn="r" marL="0" indent="0">
              <a:buNone/>
            </a:pPr>
            <a:r>
              <a:rPr sz="1200" lang="he-IL"/>
              <a:t>•  במפגש 2 למדנו שהמודל רואה רק את חלון ההקשר, ולכן מה שלא הודבק אינו קיים מבחינתו.</a:t>
            </a:r>
          </a:p>
          <a:p>
            <a:pPr rtl="1" algn="r" marL="0" indent="0">
              <a:buNone/>
            </a:pPr>
            <a:r>
              <a:rPr sz="1200" lang="he-IL"/>
              <a:t>•  נושא מפגש 4 בסילבוס הוא ניהול הקשר, וכאן אותו עיקרון בקטן: שלושת הכרטיסים הם מה שחייב להיכנס לחלון.</a:t>
            </a:r>
          </a:p>
          <a:p>
            <a:pPr rtl="1" algn="r" marL="0" indent="0">
              <a:buNone/>
            </a:pPr>
            <a:r>
              <a:rPr b="1" sz="1200" lang="he-IL"/>
              <a:t>שאלת היזכרות</a:t>
            </a:r>
          </a:p>
          <a:p>
            <a:pPr rtl="1" algn="r" marL="0" indent="0">
              <a:buNone/>
            </a:pPr>
            <a:r>
              <a:rPr sz="1200" lang="he-IL"/>
              <a:t>•  למה המודל ״שכח״ הוראה שנתתם בתחילת שיחה ארוכה?</a:t>
            </a:r>
          </a:p>
          <a:p>
            <a:pPr rtl="1" algn="r" marL="0" indent="0">
              <a:buNone/>
            </a:pPr>
            <a:r>
              <a:rPr b="1" sz="1200" lang="he-IL"/>
              <a:t>תשובה</a:t>
            </a:r>
          </a:p>
          <a:p>
            <a:pPr rtl="1" algn="r" marL="0" indent="0">
              <a:buNone/>
            </a:pPr>
            <a:r>
              <a:rPr sz="1200" lang="he-IL"/>
              <a:t>•  היא כבר לא בחלון או קבורה באמצע הקשר ארוך (מפגש 2).</a:t>
            </a:r>
          </a:p>
          <a:p>
            <a:pPr rtl="1" algn="r" marL="0" indent="0">
              <a:buNone/>
            </a:pPr>
            <a:r>
              <a:rPr sz="1200" lang="he-IL"/>
              <a:t>•  אם הכיתה לא זוכרת, הצביעו על הכרטיס ״מה כבר ניסיתי״ ושאלו מה ה־AI יעשה בלעדיו.</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שאלת בדיקה (כ־1.5 דקות).</a:t>
            </a:r>
          </a:p>
          <a:p>
            <a:pPr rtl="1" algn="r" marL="0" indent="0">
              <a:buNone/>
            </a:pPr>
            <a:r>
              <a:rPr b="1" sz="1200" lang="he-IL"/>
              <a:t>מה אומרים</a:t>
            </a:r>
          </a:p>
          <a:p>
            <a:pPr rtl="1" algn="r" marL="0" indent="0">
              <a:buNone/>
            </a:pPr>
            <a:r>
              <a:rPr sz="1200" lang="he-IL"/>
              <a:t>•  הציגו את השאלה וחכו עשר שניות בשקט לפני שמקבלים תשובות.</a:t>
            </a:r>
          </a:p>
          <a:p>
            <a:pPr rtl="1" algn="r" marL="0" indent="0">
              <a:buNone/>
            </a:pPr>
            <a:r>
              <a:rPr sz="1200" lang="he-IL"/>
              <a:t>•  תנו לשני סטודנטים להציע.</a:t>
            </a:r>
          </a:p>
          <a:p>
            <a:pPr rtl="1" algn="r" marL="0" indent="0">
              <a:buNone/>
            </a:pPr>
            <a:r>
              <a:rPr sz="1200" lang="he-IL"/>
              <a:t>•  תשובות שגויות נפוצות: לבקש מה־AI לתקן, או להתקין את הספרייה מחדש.</a:t>
            </a:r>
          </a:p>
          <a:p>
            <a:pPr rtl="1" algn="r" marL="0" indent="0">
              <a:buNone/>
            </a:pPr>
            <a:r>
              <a:rPr sz="1200" lang="he-IL"/>
              <a:t>•  רמז: חשבו על מה שלמדנו על הזיות במפגש 2, ועל השקף הקודם על בדיקת קיום ה־API.</a:t>
            </a:r>
          </a:p>
          <a:p>
            <a:pPr rtl="1" algn="r" marL="0" indent="0">
              <a:buNone/>
            </a:pPr>
            <a:r>
              <a:rPr sz="1200" lang="he-IL"/>
              <a:t>•  הסבירו שהשאלה עוסקת בצעד 3 בשיטה, השערה.</a:t>
            </a:r>
          </a:p>
          <a:p>
            <a:pPr rtl="1" algn="r" marL="0" indent="0">
              <a:buNone/>
            </a:pPr>
            <a:r>
              <a:rPr sz="1200" lang="he-IL"/>
              <a:t>•  ההשערה הראשונה לשגיאת AttributeError בקוד שנכתב ב־AI היא שהמתודה לא קיימת בכלל, ולא שיש באג בלוגיקה.</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תשובה (כ־1.5 דקות).</a:t>
            </a:r>
          </a:p>
          <a:p>
            <a:pPr rtl="1" algn="r" marL="0" indent="0">
              <a:buNone/>
            </a:pPr>
            <a:r>
              <a:rPr b="1" sz="1200" lang="he-IL"/>
              <a:t>מה אומרים</a:t>
            </a:r>
          </a:p>
          <a:p>
            <a:pPr rtl="1" algn="r" marL="0" indent="0">
              <a:buNone/>
            </a:pPr>
            <a:r>
              <a:rPr sz="1200" lang="he-IL"/>
              <a:t>•  הצעד הראשון הוא לבדוק אם המתודה קיימת: hasattr, dir, או חיפוש בתיעוד הרשמי של הגרסה שמותקנת אצלכם.</a:t>
            </a:r>
          </a:p>
          <a:p>
            <a:pPr rtl="1" algn="r" marL="0" indent="0">
              <a:buNone/>
            </a:pPr>
            <a:r>
              <a:rPr sz="1200" lang="he-IL"/>
              <a:t>•  אם לא קיימת, זו הזיית מתודה מהטקסונומיה של מפגש 2.</a:t>
            </a:r>
          </a:p>
          <a:p>
            <a:pPr rtl="1" algn="r" marL="0" indent="0">
              <a:buNone/>
            </a:pPr>
            <a:r>
              <a:rPr sz="1200" lang="he-IL"/>
              <a:t>•  הטעות להימנע ממנה היא לבקש מה־AI לנסות שוב בלי מידע חדש, כי הוא עלול להמציא עוד שם דומה.</a:t>
            </a:r>
          </a:p>
          <a:p>
            <a:pPr rtl="1" algn="r" marL="0" indent="0">
              <a:buNone/>
            </a:pPr>
            <a:r>
              <a:rPr sz="1200" lang="he-IL"/>
              <a:t>•  נכון יותר לחפש בתיעוד את המתודה האמיתית ולתת אותה ל־AI בבקשה הבאה.</a:t>
            </a:r>
          </a:p>
          <a:p>
            <a:pPr rtl="1" algn="r" marL="0" indent="0">
              <a:buNone/>
            </a:pPr>
            <a:r>
              <a:rPr sz="1200" lang="he-IL"/>
              <a:t>•  דוגמה מהמעבדה: to_excel_fast לא קיימת, ואילו to_excel קיימת.</a:t>
            </a:r>
          </a:p>
          <a:p>
            <a:pPr rtl="1" algn="r" marL="0" indent="0">
              <a:buNone/>
            </a:pPr>
            <a:r>
              <a:rPr sz="1200" lang="he-IL"/>
              <a:t>•  אם יש זמן, שאלו איך זה מתקשר לאבטחה: שם חבילה שמומצא יכול להפוך לחבילה זדונית שמישהו רשם בפועל (מפגש 10).</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א׳, 10 דקות בכיתה (כולל תדריך קצר ושקף התשובות), בזוגות, חלק א׳ במחברת HM_09 ב־Colab.</a:t>
            </a:r>
          </a:p>
          <a:p>
            <a:pPr rtl="1" algn="r" marL="0" indent="0">
              <a:buNone/>
            </a:pPr>
            <a:r>
              <a:rPr b="1" sz="1200" lang="he-IL"/>
              <a:t>מה אומרים</a:t>
            </a:r>
          </a:p>
          <a:p>
            <a:pPr rtl="1" algn="r" marL="0" indent="0">
              <a:buNone/>
            </a:pPr>
            <a:r>
              <a:rPr sz="1200" lang="he-IL"/>
              <a:t>•  הסטודנטים כבר ראו בהרצאה איך קוראים Traceback ומה זו הזיה, ועכשיו בונים את הכלים בעצמם.</a:t>
            </a:r>
          </a:p>
          <a:p>
            <a:pPr rtl="1" algn="r" marL="0" indent="0">
              <a:buNone/>
            </a:pPr>
            <a:r>
              <a:rPr sz="1200" lang="he-IL"/>
              <a:t>•  חמש התוכניות הכושלות (e1 עד e5) כתובות בתא אחד, והפונקציה capture מחזירה את טקסט ה־Traceback, ולכן אין קבצים ואין בעיית נתיב.</a:t>
            </a:r>
          </a:p>
          <a:p>
            <a:pPr rtl="1" algn="r" marL="0" indent="0">
              <a:buNone/>
            </a:pPr>
            <a:r>
              <a:rPr sz="1200" lang="he-IL"/>
              <a:t>•  שלב 1: כותבים parse_traceback, שמחזירה סוג שגיאה, קובץ ומספר שורה של ה־File הראשון מלמטה שאינו בספרייה.</a:t>
            </a:r>
          </a:p>
          <a:p>
            <a:pPr rtl="1" algn="r" marL="0" indent="0">
              <a:buNone/>
            </a:pPr>
            <a:r>
              <a:rPr sz="1200" lang="he-IL"/>
              <a:t>•  שלב 2: api_exists (עם hasattr) ו־package_exists (עם find_spec).</a:t>
            </a:r>
          </a:p>
          <a:p>
            <a:pPr rtl="1" algn="r" marL="0" indent="0">
              <a:buNone/>
            </a:pPr>
            <a:r>
              <a:rPr sz="1200" lang="he-IL"/>
              <a:t>•  חלוקת זמן מומלצת: כדקה וחצי תדריך (שלושת השקפים הראשונים), כ־3.5 דקות לשלב 1, כ־2 לשלב 2, וכדקה לשאלות הניתוח, שעונים עליהן בעל פה בשקף התשובות (2 דקות).</a:t>
            </a:r>
          </a:p>
          <a:p>
            <a:pPr rtl="1" algn="r" marL="0" indent="0">
              <a:buNone/>
            </a:pPr>
            <a:r>
              <a:rPr sz="1200" lang="he-IL"/>
              <a:t>•  המחברת מעריכה 8 דקות עבודה נטו, והזמן בכיתה צפוף, ולכן בקשו מראש לפתוח את המחברת, ומי שלא סיים משלים בבית.</a:t>
            </a:r>
          </a:p>
          <a:p>
            <a:pPr rtl="1" algn="r" marL="0" indent="0">
              <a:buNone/>
            </a:pPr>
            <a:r>
              <a:rPr b="1" sz="1200" lang="he-IL"/>
              <a:t>למה עושים את זה</a:t>
            </a:r>
          </a:p>
          <a:p>
            <a:pPr rtl="1" algn="r" marL="0" indent="0">
              <a:buNone/>
            </a:pPr>
            <a:r>
              <a:rPr sz="1200" lang="he-IL"/>
              <a:t>•  בלי שיטה בדוקה לקריאת Traceback, כל שגיאה היא ניחוש, ובלי בדיקת קיום כל הזיה נראית כבאג רגיל.</a:t>
            </a:r>
          </a:p>
          <a:p>
            <a:pPr rtl="1" algn="r" marL="0" indent="0">
              <a:buNone/>
            </a:pPr>
            <a:r>
              <a:rPr sz="1200" lang="he-IL"/>
              <a:t>•  מה לבדוק בזמן הסיור: שכל זוג כתב תחזית לפני ההרצה, ושמי שנכשל ב־e1 לא קורא את ה־File הראשון מלמעלה.</a:t>
            </a:r>
          </a:p>
          <a:p>
            <a:pPr rtl="1" algn="r" marL="0" indent="0">
              <a:buNone/>
            </a:pPr>
            <a:r>
              <a:rPr b="1" sz="1200" lang="he-IL"/>
              <a:t>שגיאות צפויות</a:t>
            </a:r>
          </a:p>
          <a:p>
            <a:pPr rtl="1" algn="r" marL="0" indent="0">
              <a:buNone/>
            </a:pPr>
            <a:r>
              <a:rPr sz="1200" lang="he-IL"/>
              <a:t>•  לשכוח int(...) על מספר השורה, או להשאיר NotImplementedError.</a:t>
            </a:r>
          </a:p>
          <a:p>
            <a:pPr rtl="1" algn="r" marL="0" indent="0">
              <a:buNone/>
            </a:pPr>
            <a:r>
              <a:rPr b="1" sz="1200" lang="he-IL"/>
              <a:t>הכנה לפני השיעור</a:t>
            </a:r>
          </a:p>
          <a:p>
            <a:pPr rtl="1" algn="r" marL="0" indent="0">
              <a:buNone/>
            </a:pPr>
            <a:r>
              <a:rPr sz="1200" lang="he-IL"/>
              <a:t>•  להעלות את HM_09.ipynb ל־Colab (File ← Upload notebook), להחליף את ה־QR (מקום שמור) בקישור אמיתי, ולהריץ Run all על HM_09_SOLUTION.</a:t>
            </a:r>
          </a:p>
          <a:p>
            <a:pPr rtl="1" algn="r" marL="0" indent="0">
              <a:buNone/>
            </a:pPr>
            <a:r>
              <a:rPr sz="1200" lang="he-IL"/>
              <a:t>•  הערות מפורטות בקובץ הערות_למרצה_HM_09.md.</a:t>
            </a:r>
          </a:p>
          <a:p>
            <a:pPr rtl="1" algn="r" marL="0" indent="0">
              <a:buNone/>
            </a:pPr>
            <a:r>
              <a:rPr sz="1200" lang="he-IL"/>
              <a:t>•  מה בנוי על קודם: קריאת Traceback והבדיקה שהמתודה קיימת הן הכלל של מפגש 2 (לא ראיתם בתיעוד ולא הרצתם, לא סומכים) ובדיקות הקיום של הטקסונומיה: api_exists ו־package_exists.</a:t>
            </a:r>
          </a:p>
          <a:p>
            <a:pPr rtl="1" algn="r" marL="0" indent="0">
              <a:buNone/>
            </a:pPr>
            <a:r>
              <a:rPr sz="1200" lang="he-IL"/>
              <a:t>•  הרגל התחזית לפני הרצה ובדיקת התאים שמדפיסה ✓ הם מבנה המחברות מאז מפגש 5.</a:t>
            </a:r>
          </a:p>
          <a:p>
            <a:pPr rtl="1" algn="r" marL="0" indent="0">
              <a:buNone/>
            </a:pPr>
            <a:r>
              <a:rPr b="1" sz="1200" lang="he-IL"/>
              <a:t>שאלת היזכרות</a:t>
            </a:r>
          </a:p>
          <a:p>
            <a:pPr rtl="1" algn="r" marL="0" indent="0">
              <a:buNone/>
            </a:pPr>
            <a:r>
              <a:rPr sz="1200" lang="he-IL"/>
              <a:t>•  מה בודקים לפני שמאמינים לשם של חבילה?</a:t>
            </a:r>
          </a:p>
          <a:p>
            <a:pPr rtl="1" algn="r" marL="0" indent="0">
              <a:buNone/>
            </a:pPr>
            <a:r>
              <a:rPr b="1" sz="1200" lang="he-IL"/>
              <a:t>תשובה</a:t>
            </a:r>
          </a:p>
          <a:p>
            <a:pPr rtl="1" algn="r" marL="0" indent="0">
              <a:buNone/>
            </a:pPr>
            <a:r>
              <a:rPr sz="1200" lang="he-IL"/>
              <a:t>•  מחפשים ב־pypi.org (מפגש 2).</a:t>
            </a:r>
          </a:p>
          <a:p>
            <a:pPr rtl="1" algn="r" marL="0" indent="0">
              <a:buNone/>
            </a:pPr>
            <a:r>
              <a:rPr sz="1200" lang="he-IL"/>
              <a:t>•  אם הכיתה לא זוכרת, הפנו לשקף בדיקת קיום ה־API.</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חמש השגיאות, כחצי דקה, בתחילת העבודה.</a:t>
            </a:r>
          </a:p>
          <a:p>
            <a:pPr rtl="1" algn="r" marL="0" indent="0">
              <a:buNone/>
            </a:pPr>
            <a:r>
              <a:rPr b="1" sz="1200" lang="he-IL"/>
              <a:t>מה אומרים</a:t>
            </a:r>
          </a:p>
          <a:p>
            <a:pPr rtl="1" algn="r" marL="0" indent="0">
              <a:buNone/>
            </a:pPr>
            <a:r>
              <a:rPr sz="1200" lang="he-IL"/>
              <a:t>•  הקריאה היא מימין לשמאל: שם התוכנית בעיגול הצבעוני, ובצד שמאל השורה האחרונה של ה־Traceback.</a:t>
            </a:r>
          </a:p>
          <a:p>
            <a:pPr rtl="1" algn="r" marL="0" indent="0">
              <a:buNone/>
            </a:pPr>
            <a:r>
              <a:rPr sz="1200" lang="he-IL"/>
              <a:t>•  אלה חמש התוכניות שכתובות במחברת בתוך E_CODES, והפלט של parse_traceback בפתרון הוא: e1 KeyError בשורה 3, e2 TypeError בשורה 3, e3 ModuleNotFoundError בשורה 1, e4 AttributeError בשורה 3, e5 FileNotFoundError בשורה 2. e1: העמודה נקראת quantity באות קטנה. e2: העמודה נקראה כטקסט בגלל dtype=str. e3: חבילה שלא קיימת, pandas_excel_fast. e4: מתודה שלא קיימת, to_excel_fast. e5: הנתיב data/orders.csv שגוי.</a:t>
            </a:r>
          </a:p>
          <a:p>
            <a:pPr rtl="1" algn="r" marL="0" indent="0">
              <a:buNone/>
            </a:pPr>
            <a:r>
              <a:rPr sz="1200" lang="he-IL"/>
              <a:t>•  ב־e1 הפלט ארוך ובשני בלוקים, כי השגיאה שרשרת (The above exception was the direct cause), והבלוק האחרון הוא החשוב.</a:t>
            </a:r>
          </a:p>
          <a:p>
            <a:pPr rtl="1" algn="r" marL="0" indent="0">
              <a:buNone/>
            </a:pPr>
            <a:r>
              <a:rPr sz="1200" lang="he-IL"/>
              <a:t>•  בקשו מהסטודנטים לכתוב תחזית לפני ההרצה.</a:t>
            </a:r>
          </a:p>
          <a:p>
            <a:pPr rtl="1" algn="r" marL="0" indent="0">
              <a:buNone/>
            </a:pPr>
            <a:r>
              <a:rPr sz="1200" lang="he-IL"/>
              <a:t>•  אם מישהו ממהר לתקן, בקשו קודם סיווג: מי אשם, אנחנו או ה־AI?</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אופציונלי (כ־2 דקות), מתאים אחרי חלק ג׳ (לולאת תיקונים וכלל העצירה).</a:t>
            </a:r>
          </a:p>
          <a:p>
            <a:pPr rtl="1" algn="r" marL="0" indent="0">
              <a:buNone/>
            </a:pPr>
            <a:r>
              <a:rPr b="1" sz="1200" lang="he-IL"/>
              <a:t>מה אומרים</a:t>
            </a:r>
          </a:p>
          <a:p>
            <a:pPr rtl="1" algn="r" marL="0" indent="0">
              <a:buNone/>
            </a:pPr>
            <a:r>
              <a:rPr sz="1200" lang="he-IL"/>
              <a:t>•  השאלה: האם המודל יכול לתקן את הקוד של עצמו?</a:t>
            </a:r>
          </a:p>
          <a:p>
            <a:pPr rtl="1" algn="r" marL="0" indent="0">
              <a:buNone/>
            </a:pPr>
            <a:r>
              <a:rPr sz="1200" lang="he-IL"/>
              <a:t>•  אחד, Olausson ועמיתים (ICLR 2024): בדקו את Code Llama, GPT-3.5 ו־GPT-4 על HumanEval ו־APPS; כשסופרים את עלות שלב התיקון, הרווח מתיקון עצמי צנוע, משתנה בין קבוצות נתונים ולפעמים נעלם.</a:t>
            </a:r>
          </a:p>
          <a:p>
            <a:pPr rtl="1" algn="r" marL="0" indent="0">
              <a:buNone/>
            </a:pPr>
            <a:r>
              <a:rPr sz="1200" lang="he-IL"/>
              <a:t>•  ההשערה שלהם: צוואר הבקבוק הוא איכות המשוב של המודל על הקוד של עצמו; משוב ממודל חזק יותר שיפר משמעותית, ומחקר קטן עם משוב אנושי רומז שתיקון עצמי עדיין רחוק מדיבוג ברמה אנושית.</a:t>
            </a:r>
          </a:p>
          <a:p>
            <a:pPr rtl="1" algn="r" marL="0" indent="0">
              <a:buNone/>
            </a:pPr>
            <a:r>
              <a:rPr sz="1200" lang="he-IL"/>
              <a:t>•  שניים, Adnan ו־Kuhn (2025, פרסום ב־arXiv; בעמוד מצוין גם פרסום ב־Scientific Reports): מתארים דעיכה מעריכית ביעילות הדיבוג, כשרוב המודלים מאבדים 60 עד 80 אחוז מיכולת הדיבוג תוך 2 עד 3 ניסיונות, ומציעים התחלה חדשה אסטרטגית.</a:t>
            </a:r>
          </a:p>
          <a:p>
            <a:pPr rtl="1" algn="r" marL="0" indent="0">
              <a:buNone/>
            </a:pPr>
            <a:r>
              <a:rPr sz="1200" lang="he-IL"/>
              <a:t>•  איזון: המחקרים נעשו על בנצ'מרקים מצומצמים ועל מודלים ספציפיים, ולכן עצירה אחרי שני כשלונות היא יוריסטיקה פרקטית שתואמת את הממצאים, ולא חוק.</a:t>
            </a:r>
          </a:p>
          <a:p>
            <a:pPr rtl="1" algn="r" marL="0" indent="0">
              <a:buNone/>
            </a:pPr>
            <a:r>
              <a:rPr sz="1200" lang="he-IL"/>
              <a:t>•  מה שמשותף: משוב אמיתי (הרצה, בדיקה, מספרים) משפר, וצבירת ניסיונות כושלים בהקשר לא.</a:t>
            </a:r>
          </a:p>
          <a:p>
            <a:pPr rtl="1" algn="r" marL="0" indent="0">
              <a:buNone/>
            </a:pPr>
            <a:r>
              <a:rPr sz="1200" lang="he-IL"/>
              <a:t>•  קשר למפגש 2: הקשר עמוס.</a:t>
            </a:r>
          </a:p>
          <a:p>
            <a:pPr rtl="1" algn="r" marL="0" indent="0">
              <a:buNone/>
            </a:pPr>
            <a:r>
              <a:rPr b="1" sz="1200" lang="he-IL"/>
              <a:t>שאלה לכיתה</a:t>
            </a:r>
          </a:p>
          <a:p>
            <a:pPr rtl="1" algn="r" marL="0" indent="0">
              <a:buNone/>
            </a:pPr>
            <a:r>
              <a:rPr sz="1200" lang="he-IL"/>
              <a:t>•  איזה משוב נתתם ל־AI בחלק ה׳ של המחברת?</a:t>
            </a:r>
          </a:p>
          <a:p>
            <a:pPr rtl="1" algn="r" marL="0" indent="0">
              <a:buNone/>
            </a:pPr>
            <a:r>
              <a:rPr sz="1200" lang="he-IL"/>
              <a:t>•  (שגיאה מדויקת, ציפייה, מה ניסיתי).</a:t>
            </a:r>
          </a:p>
          <a:p>
            <a:pPr rtl="1" algn="r" marL="0" indent="0">
              <a:buNone/>
            </a:pPr>
            <a:r>
              <a:rPr b="1" sz="1200" lang="he-IL"/>
              <a:t>מתי לדלג</a:t>
            </a:r>
          </a:p>
          <a:p>
            <a:pPr rtl="1" algn="r" marL="0" indent="0">
              <a:buNone/>
            </a:pPr>
            <a:r>
              <a:rPr sz="1200" lang="he-IL"/>
              <a:t>•  אם כבר דנו בכלל העצירה בהרחבה.</a:t>
            </a:r>
          </a:p>
          <a:p>
            <a:pPr rtl="1" algn="r" marL="0" indent="0">
              <a:buNone/>
            </a:pPr>
            <a:r>
              <a:rPr b="1" sz="1200" lang="he-IL"/>
              <a:t>מקורות</a:t>
            </a:r>
          </a:p>
          <a:p>
            <a:pPr rtl="1" algn="r" marL="0" indent="0">
              <a:buNone/>
            </a:pPr>
            <a:r>
              <a:rPr sz="1200" lang="he-IL"/>
              <a:t>•  Olausson et al.</a:t>
            </a:r>
          </a:p>
          <a:p>
            <a:pPr rtl="1" algn="r" marL="0" indent="0">
              <a:buNone/>
            </a:pPr>
            <a:r>
              <a:rPr sz="1200" lang="he-IL"/>
              <a:t>•  (2024); Adnan &amp; Kuhn (2025), נפתחו ב־22.10.2026.</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תשובות מעבדה א׳, כ־2 דקות, אחרי שהזוגות סיימו את חלק א׳ במחברת.</a:t>
            </a:r>
          </a:p>
          <a:p>
            <a:pPr rtl="1" algn="r" marL="0" indent="0">
              <a:buNone/>
            </a:pPr>
            <a:r>
              <a:rPr b="1" sz="1200" lang="he-IL"/>
              <a:t>מה אומרים</a:t>
            </a:r>
          </a:p>
          <a:p>
            <a:pPr rtl="1" algn="r" marL="0" indent="0">
              <a:buNone/>
            </a:pPr>
            <a:r>
              <a:rPr sz="1200" lang="he-IL"/>
              <a:t>•  עברו על כל שורה והשוו לדיון של הכיתה. e1: הסיבה היא Quantity במקום quantity, והתיקון הוא שם נכון, ובדיקה: הרצה חוזרת מדפיסה מספר. e2: העמודה נקראה כטקסט בגלל dtype=str, ולכן צריך להמיר למספר (astype או to_numeric). e3: הזיית חבילה, מוחקים את ה־import ובודקים בתיעוד מה באמת צריך. e4: הזיית מתודה, to_excel_fast לא קיימת וצריך to_excel. e5: הנתיב שגוי, הקובץ orders_il.csv נמצא בתיקייה הנוכחית ולא בתיקייה data.</a:t>
            </a:r>
          </a:p>
          <a:p>
            <a:pPr rtl="1" algn="r" marL="0" indent="0">
              <a:buNone/>
            </a:pPr>
            <a:r>
              <a:rPr sz="1200" lang="he-IL"/>
              <a:t>•  הצביעו על שתי השורות הכתומות, e3 ו־e4, והזכירו את הקישור למפגש 2.</a:t>
            </a:r>
          </a:p>
          <a:p>
            <a:pPr rtl="1" algn="r" marL="0" indent="0">
              <a:buNone/>
            </a:pPr>
            <a:r>
              <a:rPr sz="1200" lang="he-IL"/>
              <a:t>•  אמרו שהתיקון של הזיות נעשה אצלנו, בתיעוד, ולא אצל ה־AI.</a:t>
            </a:r>
          </a:p>
          <a:p>
            <a:pPr rtl="1" algn="r" marL="0" indent="0">
              <a:buNone/>
            </a:pPr>
            <a:r>
              <a:rPr b="1" sz="1200" lang="he-IL"/>
              <a:t>שאלה לכיתה</a:t>
            </a:r>
          </a:p>
          <a:p>
            <a:pPr rtl="1" algn="r" marL="0" indent="0">
              <a:buNone/>
            </a:pPr>
            <a:r>
              <a:rPr sz="1200" lang="he-IL"/>
              <a:t>•  מה היה קורה אם נתתם ל־AI רק את e3 בלי הקשר?</a:t>
            </a:r>
          </a:p>
          <a:p>
            <a:pPr rtl="1" algn="r" marL="0" indent="0">
              <a:buNone/>
            </a:pPr>
            <a:r>
              <a:rPr sz="1200" lang="he-IL"/>
              <a:t>•  סביר שיציע חבילה אחרת בשם דומה ומומצא.</a:t>
            </a:r>
          </a:p>
          <a:p>
            <a:pPr rtl="1" algn="r" marL="0" indent="0">
              <a:buNone/>
            </a:pPr>
            <a:r>
              <a:rPr sz="1200" lang="he-IL"/>
              <a:t>•  הדגישו את הסיכון האבטחתי של התקנת חבילה בשם מומצא (מפגש 10).</a:t>
            </a:r>
          </a:p>
          <a:p>
            <a:pPr rtl="1" algn="r" marL="0" indent="0">
              <a:buNone/>
            </a:pPr>
            <a:r>
              <a:rPr sz="1200" lang="he-IL"/>
              <a:t>•  בחלק ד׳ במחברת הסטודנטים מתייגים את כל החמש, יחד עם ארבעת באגי הדוח.</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הבקשה שהמחברת בונה, כ־2 דקות, שלב 1 ושלב 2 של חלק ה׳.</a:t>
            </a:r>
          </a:p>
          <a:p>
            <a:pPr rtl="1" algn="r" marL="0" indent="0">
              <a:buNone/>
            </a:pPr>
            <a:r>
              <a:rPr b="1" sz="1200" lang="he-IL"/>
              <a:t>מה אומרים</a:t>
            </a:r>
          </a:p>
          <a:p>
            <a:pPr rtl="1" algn="r" marL="0" indent="0">
              <a:buNone/>
            </a:pPr>
            <a:r>
              <a:rPr sz="1200" lang="he-IL"/>
              <a:t>•  השקף מציג את הפלט האמיתי של build_debug_request על e4, כפי שהוא מודפס בפתרון: הקוד של שלוש השורות, השגיאה AttributeError על to_excel_fast, הציפייה (קובץ out.xlsx) ו־Tried: nothing yet, ובסוף השורה First explain the cause, then fix.</a:t>
            </a:r>
          </a:p>
          <a:p>
            <a:pPr rtl="1" algn="r" marL="0" indent="0">
              <a:buNone/>
            </a:pPr>
            <a:r>
              <a:rPr sz="1200" lang="he-IL"/>
              <a:t>•  ארבעה חלקים: קוד, שגיאה, ציפייה, מה ניסיתי, ובקשה מפורשת להסביר סיבה לפני תיקון.</a:t>
            </a:r>
          </a:p>
          <a:p>
            <a:pPr rtl="1" algn="r" marL="0" indent="0">
              <a:buNone/>
            </a:pPr>
            <a:r>
              <a:rPr sz="1200" lang="he-IL"/>
              <a:t>•  הסטודנטים מריצים את התא, מעתיקים את הבקשה שהודפסה, פותחים את עוזר ה־AI של Colab אם הוא זמין, או כל צ׳אט, ומדביקים.</a:t>
            </a:r>
          </a:p>
          <a:p>
            <a:pPr rtl="1" algn="r" marL="0" indent="0">
              <a:buNone/>
            </a:pPr>
            <a:r>
              <a:rPr sz="1200" lang="he-IL"/>
              <a:t>•  שימו לב שהשגיאה נלקחת מהשורה האחרונה של ה־Traceback האמיתי, בדיוק מה שלמדו לקרוא בחלק א׳.</a:t>
            </a:r>
          </a:p>
          <a:p>
            <a:pPr rtl="1" algn="r" marL="0" indent="0">
              <a:buNone/>
            </a:pPr>
            <a:r>
              <a:rPr sz="1200" lang="he-IL"/>
              <a:t>•  מה לבדוק בזמן הסיור: שהתבנית נשמרה והסדר הוא Code, Error, Expected, Tried (הבדיקה check_e1 דורשת את זה).</a:t>
            </a:r>
          </a:p>
          <a:p>
            <a:pPr rtl="1" algn="r" marL="0" indent="0">
              <a:buNone/>
            </a:pPr>
            <a:r>
              <a:rPr sz="1200" lang="he-IL"/>
              <a:t>•  הקפידו שלא מדביקים נתונים רגישים של ארגון (מפגש 10).</a:t>
            </a:r>
          </a:p>
          <a:p>
            <a:pPr rtl="1" algn="r" marL="0" indent="0">
              <a:buNone/>
            </a:pPr>
            <a:r>
              <a:rPr sz="1200" lang="he-IL"/>
              <a:t>•  אם אין גישה לכלי, אפשר להסתפק בתשובה לדוגמה שבגרסת הפתרון ולדון בה לפי הכללים.</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אופציונלי (כ־2.5 דקות), מתאים אחרי חלק ב׳ או ג׳.</a:t>
            </a:r>
          </a:p>
          <a:p>
            <a:pPr rtl="1" algn="r" marL="0" indent="0">
              <a:buNone/>
            </a:pPr>
            <a:r>
              <a:rPr b="1" sz="1200" lang="he-IL"/>
              <a:t>מה אומרים</a:t>
            </a:r>
          </a:p>
          <a:p>
            <a:pPr rtl="1" algn="r" marL="0" indent="0">
              <a:buNone/>
            </a:pPr>
            <a:r>
              <a:rPr sz="1200" lang="he-IL"/>
              <a:t>•  מה אומר המחקר על באגים בקוד שנוצר ב־AI.</a:t>
            </a:r>
          </a:p>
          <a:p>
            <a:pPr rtl="1" algn="r" marL="0" indent="0">
              <a:buNone/>
            </a:pPr>
            <a:r>
              <a:rPr sz="1200" lang="he-IL"/>
              <a:t>•  אחד, Tambon ועמיתים (arXiv, 2024): ניתחו 333 באגים בקוד של שלושה מודלים (CodeGen, PanGu-Coder ו־Codex) וסיווגו אותם ל־10 דפוסים, בהם Misinterpretations, Missing Corner Case, Wrong Input Type, Hallucinated Object ו־Wrong Attribute</a:t>
            </a:r>
          </a:p>
          <a:p>
            <a:pPr rtl="1" algn="r" marL="0" indent="0">
              <a:buNone/>
            </a:pPr>
            <a:r>
              <a:rPr sz="1200" lang="he-IL"/>
              <a:t>•  סקר של 34 אנשי מקצוע אישר בגדול שהדפוסים נפוצים.</a:t>
            </a:r>
          </a:p>
          <a:p>
            <a:pPr rtl="1" algn="r" marL="0" indent="0">
              <a:buNone/>
            </a:pPr>
            <a:r>
              <a:rPr b="1" sz="1200" lang="he-IL"/>
              <a:t>שימו לב</a:t>
            </a:r>
          </a:p>
          <a:p>
            <a:pPr rtl="1" algn="r" marL="0" indent="0">
              <a:buNone/>
            </a:pPr>
            <a:r>
              <a:rPr sz="1200" lang="he-IL"/>
              <a:t>•  המודלים בניסוי ישנים, ולכן המספרים אינם מייצגים מודלים של היום, אבל הדפוסים עדיין מוכרים.</a:t>
            </a:r>
          </a:p>
          <a:p>
            <a:pPr rtl="1" algn="r" marL="0" indent="0">
              <a:buNone/>
            </a:pPr>
            <a:r>
              <a:rPr sz="1200" lang="he-IL"/>
              <a:t>•  הקבלה שלנו (ניתוח שלנו, לא של המאמר): e2 דומה ל־Wrong Input Type, e3 ל־Hallucinated Object, וטווח עם &gt; במקום ≥ ל־Missing Corner Case.</a:t>
            </a:r>
          </a:p>
          <a:p>
            <a:pPr rtl="1" algn="r" marL="0" indent="0">
              <a:buNone/>
            </a:pPr>
            <a:r>
              <a:rPr sz="1200" lang="he-IL"/>
              <a:t>•  שניים, Liu ועמיתים (EvalPlus, arXiv 2023): הרחבת הבדיקות של HumanEval פי כ־80 הורידה את pass@k בעד 19.3 עד 28.9 אחוז, כלומר חלק מהקוד הנכון לכאורה עבר רק כי הבדיקות היו חלשות; זה הנימוק לכך שבדיקת רגרסיה חייבת להיות חזקה.</a:t>
            </a:r>
          </a:p>
          <a:p>
            <a:pPr rtl="1" algn="r" marL="0" indent="0">
              <a:buNone/>
            </a:pPr>
            <a:r>
              <a:rPr sz="1200" lang="he-IL"/>
              <a:t>•  שלוש, Spracklen ועמיתים (USENIX Security 2025): 576,000 דוגמאות קוד ו־16 מודלים; לפחות 5.2 אחוז מהחבילות שהומלצו במודלים מסחריים ו־21.7 אחוז בקוד פתוח לא היו קיימות, ונמצאו 205,474 שמות בדויים ייחודיים (נושא למפגש 10).</a:t>
            </a:r>
          </a:p>
          <a:p>
            <a:pPr rtl="1" algn="r" marL="0" indent="0">
              <a:buNone/>
            </a:pPr>
            <a:r>
              <a:rPr sz="1200" lang="he-IL"/>
              <a:t>•  הכרטיס הרביעי הוא המלצת פרקטיקה שלנו ולא ממצא של המחקרים.</a:t>
            </a:r>
          </a:p>
          <a:p>
            <a:pPr rtl="1" algn="r" marL="0" indent="0">
              <a:buNone/>
            </a:pPr>
            <a:r>
              <a:rPr b="1" sz="1200" lang="he-IL"/>
              <a:t>שאלה לכיתה</a:t>
            </a:r>
          </a:p>
          <a:p>
            <a:pPr rtl="1" algn="r" marL="0" indent="0">
              <a:buNone/>
            </a:pPr>
            <a:r>
              <a:rPr sz="1200" lang="he-IL"/>
              <a:t>•  איזה דפוס הופיע אצלנו במעבדה?</a:t>
            </a:r>
          </a:p>
          <a:p>
            <a:pPr rtl="1" algn="r" marL="0" indent="0">
              <a:buNone/>
            </a:pPr>
            <a:r>
              <a:rPr b="1" sz="1200" lang="he-IL"/>
              <a:t>מתי לדלג</a:t>
            </a:r>
          </a:p>
          <a:p>
            <a:pPr rtl="1" algn="r" marL="0" indent="0">
              <a:buNone/>
            </a:pPr>
            <a:r>
              <a:rPr sz="1200" lang="he-IL"/>
              <a:t>•  אם חסר זמן, אפשר להזכיר רק את Spracklen שכבר נלמד במפגש 2.</a:t>
            </a:r>
          </a:p>
          <a:p>
            <a:pPr rtl="1" algn="r" marL="0" indent="0">
              <a:buNone/>
            </a:pPr>
            <a:r>
              <a:rPr b="1" sz="1200" lang="he-IL"/>
              <a:t>מקורות</a:t>
            </a:r>
          </a:p>
          <a:p>
            <a:pPr rtl="1" algn="r" marL="0" indent="0">
              <a:buNone/>
            </a:pPr>
            <a:r>
              <a:rPr sz="1200" lang="he-IL"/>
              <a:t>•  Tambon et al.</a:t>
            </a:r>
          </a:p>
          <a:p>
            <a:pPr rtl="1" algn="r" marL="0" indent="0">
              <a:buNone/>
            </a:pPr>
            <a:r>
              <a:rPr sz="1200" lang="he-IL"/>
              <a:t>•  (2024); Liu et al.</a:t>
            </a:r>
          </a:p>
          <a:p>
            <a:pPr rtl="1" algn="r" marL="0" indent="0">
              <a:buNone/>
            </a:pPr>
            <a:r>
              <a:rPr sz="1200" lang="he-IL"/>
              <a:t>•  (2023); Spracklen et al.</a:t>
            </a:r>
          </a:p>
          <a:p>
            <a:pPr rtl="1" algn="r" marL="0" indent="0">
              <a:buNone/>
            </a:pPr>
            <a:r>
              <a:rPr sz="1200" lang="he-IL"/>
              <a:t>•  (2025), נפתחו ב־22.10.2026.</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חלק ב׳ (11 דקות, ואחריו מעבדה ב׳).</a:t>
            </a:r>
          </a:p>
          <a:p>
            <a:pPr rtl="1" algn="r" marL="0" indent="0">
              <a:buNone/>
            </a:pPr>
            <a:r>
              <a:rPr b="1" sz="1200" lang="he-IL"/>
              <a:t>מטרה</a:t>
            </a:r>
          </a:p>
          <a:p>
            <a:pPr rtl="1" algn="r" marL="0" indent="0">
              <a:buNone/>
            </a:pPr>
            <a:r>
              <a:rPr sz="1200" lang="he-IL"/>
              <a:t>•  להבין למה באג שקט מסוכן יותר משגיאה.</a:t>
            </a:r>
          </a:p>
          <a:p>
            <a:pPr rtl="1" algn="r" marL="0" indent="0">
              <a:buNone/>
            </a:pPr>
            <a:r>
              <a:rPr sz="1200" lang="he-IL"/>
              <a:t>•  בגרף: הדוח שלנו 88,527 מול הנהלת החשבונות 177,598, כלומר הדוח שגוי בכ־50 אחוז (88,527 הוא בערך חצי מ־177,598).</a:t>
            </a:r>
          </a:p>
          <a:p>
            <a:pPr rtl="1" algn="r" marL="0" indent="0">
              <a:buNone/>
            </a:pPr>
            <a:r>
              <a:rPr sz="1200" lang="he-IL"/>
              <a:t>•  שגיאה מפילה את התוכנית ומודיעה לכם.</a:t>
            </a:r>
          </a:p>
          <a:p>
            <a:pPr rtl="1" algn="r" marL="0" indent="0">
              <a:buNone/>
            </a:pPr>
            <a:r>
              <a:rPr sz="1200" lang="he-IL"/>
              <a:t>•  באג שקט עובר לדוח, למצגת של ההנהלה ולהחלטות.</a:t>
            </a:r>
          </a:p>
          <a:p>
            <a:pPr rtl="1" algn="r" marL="0" indent="0">
              <a:buNone/>
            </a:pPr>
            <a:r>
              <a:rPr b="1" sz="1200" lang="he-IL"/>
              <a:t>אנלוגיה</a:t>
            </a:r>
          </a:p>
          <a:p>
            <a:pPr rtl="1" algn="r" marL="0" indent="0">
              <a:buNone/>
            </a:pPr>
            <a:r>
              <a:rPr sz="1200" lang="he-IL"/>
              <a:t>•  מערכת תכנון ייצור שמחשבת ביקוש על סמך חצי מההזמנות, וההנהלה מזמינה חומר גלם לפי המספר השגוי.</a:t>
            </a:r>
          </a:p>
          <a:p>
            <a:pPr rtl="1" algn="r" marL="0" indent="0">
              <a:buNone/>
            </a:pPr>
            <a:r>
              <a:rPr sz="1200" lang="he-IL"/>
              <a:t>•  אין התראה, רק ההזמנה הבאה שמתבררת כטעות.</a:t>
            </a:r>
          </a:p>
          <a:p>
            <a:pPr rtl="1" algn="r" marL="0" indent="0">
              <a:buNone/>
            </a:pPr>
            <a:r>
              <a:rPr b="1" sz="1200" lang="he-IL"/>
              <a:t>שאלה לכיתה</a:t>
            </a:r>
          </a:p>
          <a:p>
            <a:pPr rtl="1" algn="r" marL="0" indent="0">
              <a:buNone/>
            </a:pPr>
            <a:r>
              <a:rPr sz="1200" lang="he-IL"/>
              <a:t>•  מי יגלה את הבעיה אם אין שגיאה?</a:t>
            </a:r>
          </a:p>
          <a:p>
            <a:pPr rtl="1" algn="r" marL="0" indent="0">
              <a:buNone/>
            </a:pPr>
            <a:r>
              <a:rPr b="1" sz="1200" lang="he-IL"/>
              <a:t>תשובה</a:t>
            </a:r>
          </a:p>
          <a:p>
            <a:pPr rtl="1" algn="r" marL="0" indent="0">
              <a:buNone/>
            </a:pPr>
            <a:r>
              <a:rPr sz="1200" lang="he-IL"/>
              <a:t>•  רק מי שמשווה למקור חיצוני, בדרך כלל באיחור.</a:t>
            </a:r>
          </a:p>
          <a:p>
            <a:pPr rtl="1" algn="r" marL="0" indent="0">
              <a:buNone/>
            </a:pPr>
            <a:r>
              <a:rPr sz="1200" lang="he-IL"/>
              <a:t>•  כתבו על הלוח: אין שגיאה, אין אזהרה, יש תוצאה.</a:t>
            </a:r>
          </a:p>
          <a:p>
            <a:pPr rtl="1" algn="r" marL="0" indent="0">
              <a:buNone/>
            </a:pPr>
            <a:r>
              <a:rPr b="1" sz="1200" lang="he-IL"/>
              <a:t>חיבור לשיעורים קודמים</a:t>
            </a:r>
          </a:p>
          <a:p>
            <a:pPr rtl="1" algn="r" marL="0" indent="0">
              <a:buNone/>
            </a:pPr>
            <a:r>
              <a:rPr sz="1200" lang="he-IL"/>
              <a:t>•  מפגש 7 (JOIN שמכפיל שורות) ומפגש 8 (בדיקות) מופיעים בהמשך המפגש.</a:t>
            </a:r>
          </a:p>
          <a:p>
            <a:pPr rtl="1" algn="r" marL="0" indent="0">
              <a:buNone/>
            </a:pPr>
            <a:r>
              <a:rPr b="1" sz="1200" lang="he-IL"/>
              <a:t>להעמקה</a:t>
            </a:r>
          </a:p>
          <a:p>
            <a:pPr rtl="1" algn="r" marL="0" indent="0">
              <a:buNone/>
            </a:pPr>
            <a:r>
              <a:rPr sz="1200" lang="he-IL"/>
              <a:t>•  בספרות על כשלים, כשל שקט הוא כשל שהמערכת אינה מדווחת עליו.</a:t>
            </a:r>
          </a:p>
          <a:p>
            <a:pPr rtl="1" algn="r" marL="0" indent="0">
              <a:buNone/>
            </a:pPr>
            <a:r>
              <a:rPr sz="1200" lang="he-IL"/>
              <a:t>•  דוגמאות אמיתיות לכשלי נתונים שקטים (אנגליה 2020, ושמות גנים ב־Excel 2016) נמצאות בשקף ההעשרה על באגים שקטים.</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בדיקות שפיות (כ־1.5 דקות).</a:t>
            </a:r>
          </a:p>
          <a:p>
            <a:pPr rtl="1" algn="r" marL="0" indent="0">
              <a:buNone/>
            </a:pPr>
            <a:r>
              <a:rPr b="1" sz="1200" lang="he-IL"/>
              <a:t>מה אומרים</a:t>
            </a:r>
          </a:p>
          <a:p>
            <a:pPr rtl="1" algn="r" marL="0" indent="0">
              <a:buNone/>
            </a:pPr>
            <a:r>
              <a:rPr sz="1200" lang="he-IL"/>
              <a:t>•  ארבעה כרטיסים, ואפשר לבצע אותם בלי להבין את הקוד.</a:t>
            </a:r>
          </a:p>
          <a:p>
            <a:pPr rtl="1" algn="r" marL="0" indent="0">
              <a:buNone/>
            </a:pPr>
            <a:r>
              <a:rPr sz="1200" lang="he-IL"/>
              <a:t>•  סכום ביקורת: משווים את הסכום למקור חיצוני, כמו הנהלת החשבונות.</a:t>
            </a:r>
          </a:p>
          <a:p>
            <a:pPr rtl="1" algn="r" marL="0" indent="0">
              <a:buNone/>
            </a:pPr>
            <a:r>
              <a:rPr sz="1200" lang="he-IL"/>
              <a:t>•  בקובץ control_total.txt שהמחברת יוצרת כתוב 177597.89 ו־778 הזמנות ייחודיות.</a:t>
            </a:r>
          </a:p>
          <a:p>
            <a:pPr rtl="1" algn="r" marL="0" indent="0">
              <a:buNone/>
            </a:pPr>
            <a:r>
              <a:rPr sz="1200" lang="he-IL"/>
              <a:t>•  ספירות: כמה שורות לפני ואחרי כל צירוף או סינון.</a:t>
            </a:r>
          </a:p>
          <a:p>
            <a:pPr rtl="1" algn="r" marL="0" indent="0">
              <a:buNone/>
            </a:pPr>
            <a:r>
              <a:rPr sz="1200" lang="he-IL"/>
              <a:t>•  אם אחרי הצירוף יש יותר שורות, משהו הוכפל (מפגש 7).</a:t>
            </a:r>
          </a:p>
          <a:p>
            <a:pPr rtl="1" algn="r" marL="0" indent="0">
              <a:buNone/>
            </a:pPr>
            <a:r>
              <a:rPr sz="1200" lang="he-IL"/>
              <a:t>•  ייחודיות: האם order_id מופיע פעם אחת, למשל df['order_id'].is_unique.</a:t>
            </a:r>
          </a:p>
          <a:p>
            <a:pPr rtl="1" algn="r" marL="0" indent="0">
              <a:buNone/>
            </a:pPr>
            <a:r>
              <a:rPr sz="1200" lang="he-IL"/>
              <a:t>•  טווחים: אין כמויות שליליות, ותאריכים בטווח הצפוי.</a:t>
            </a:r>
          </a:p>
          <a:p>
            <a:pPr rtl="1" algn="r" marL="0" indent="0">
              <a:buNone/>
            </a:pPr>
            <a:r>
              <a:rPr b="1" sz="1200" lang="he-IL"/>
              <a:t>אנלוגיה</a:t>
            </a:r>
          </a:p>
          <a:p>
            <a:pPr rtl="1" algn="r" marL="0" indent="0">
              <a:buNone/>
            </a:pPr>
            <a:r>
              <a:rPr sz="1200" lang="he-IL"/>
              <a:t>•  בקרת איכות בקו ייצור עם דגימה ובדיקת מידות בכל תחנה, לא רק בסוף.</a:t>
            </a:r>
          </a:p>
          <a:p>
            <a:pPr rtl="1" algn="r" marL="0" indent="0">
              <a:buNone/>
            </a:pPr>
            <a:r>
              <a:rPr sz="1200" lang="he-IL"/>
              <a:t>•  הכינו את הכיתה: ארבע הבדיקות האלה הן הכלי המרכזי במעבדה ב׳.</a:t>
            </a:r>
          </a:p>
          <a:p>
            <a:pPr rtl="1" algn="r" marL="0" indent="0">
              <a:buNone/>
            </a:pPr>
            <a:r>
              <a:rPr b="1" sz="1200" lang="he-IL"/>
              <a:t>שאלה לכיתה</a:t>
            </a:r>
          </a:p>
          <a:p>
            <a:pPr rtl="1" algn="r" marL="0" indent="0">
              <a:buNone/>
            </a:pPr>
            <a:r>
              <a:rPr sz="1200" lang="he-IL"/>
              <a:t>•  איזו בדיקה הייתה מגלה שהתאריכים נקראו לא נכון?</a:t>
            </a:r>
          </a:p>
          <a:p>
            <a:pPr rtl="1" algn="r" marL="0" indent="0">
              <a:buNone/>
            </a:pPr>
            <a:r>
              <a:rPr b="1" sz="1200" lang="he-IL"/>
              <a:t>תשובה</a:t>
            </a:r>
          </a:p>
          <a:p>
            <a:pPr rtl="1" algn="r" marL="0" indent="0">
              <a:buNone/>
            </a:pPr>
            <a:r>
              <a:rPr sz="1200" lang="he-IL"/>
              <a:t>•  ספירת שורות מול ספירת תאריכים שנקראו, או סכום הביקורת עצמו.</a:t>
            </a:r>
          </a:p>
          <a:p>
            <a:pPr rtl="1" algn="r" marL="0" indent="0">
              <a:buNone/>
            </a:pPr>
            <a:r>
              <a:rPr b="1" sz="1200" lang="he-IL"/>
              <a:t>טעות נפוצה</a:t>
            </a:r>
          </a:p>
          <a:p>
            <a:pPr rtl="1" algn="r" marL="0" indent="0">
              <a:buNone/>
            </a:pPr>
            <a:r>
              <a:rPr sz="1200" lang="he-IL"/>
              <a:t>•  לסמוך רק על סכום הביקורת, בלי לברר באיזה שלב הבעיה.</a:t>
            </a:r>
          </a:p>
          <a:p>
            <a:pPr rtl="1" algn="r" marL="0" indent="0">
              <a:buNone/>
            </a:pPr>
            <a:r>
              <a:rPr b="1" sz="1200" lang="he-IL"/>
              <a:t>חיבור לשיעורים קודמים</a:t>
            </a:r>
          </a:p>
          <a:p>
            <a:pPr rtl="1" algn="r" marL="0" indent="0">
              <a:buNone/>
            </a:pPr>
            <a:r>
              <a:rPr sz="1200" lang="he-IL"/>
              <a:t>•  סכום ביקורת מול ידוע הוא הרעיון של מפגש 5, ריצה בלי שגיאה אינה הוכחה ובודקים תוצאה של כלי מול תשובה שידועה מראש; וספירת שורות לפני ואחרי היא בדיקת אימות השאילתה ממפגש 7 (JOIN שמכפיל שורות).</a:t>
            </a:r>
          </a:p>
          <a:p>
            <a:pPr rtl="1" algn="r" marL="0" indent="0">
              <a:buNone/>
            </a:pPr>
            <a:r>
              <a:rPr b="1" sz="1200" lang="he-IL"/>
              <a:t>שאלת היזכרות</a:t>
            </a:r>
          </a:p>
          <a:p>
            <a:pPr rtl="1" algn="r" marL="0" indent="0">
              <a:buNone/>
            </a:pPr>
            <a:r>
              <a:rPr sz="1200" lang="he-IL"/>
              <a:t>•  אילו שלוש בדיקות למדנו כדי לאמת שאילתה?</a:t>
            </a:r>
          </a:p>
          <a:p>
            <a:pPr rtl="1" algn="r" marL="0" indent="0">
              <a:buNone/>
            </a:pPr>
            <a:r>
              <a:rPr b="1" sz="1200" lang="he-IL"/>
              <a:t>תשובה</a:t>
            </a:r>
          </a:p>
          <a:p>
            <a:pPr rtl="1" algn="r" marL="0" indent="0">
              <a:buNone/>
            </a:pPr>
            <a:r>
              <a:rPr sz="1200" lang="he-IL"/>
              <a:t>•  ספירת שורות, סכום מוכר ודוגמה קטנה (מפגש 7).</a:t>
            </a:r>
          </a:p>
          <a:p>
            <a:pPr rtl="1" algn="r" marL="0" indent="0">
              <a:buNone/>
            </a:pPr>
            <a:r>
              <a:rPr sz="1200" lang="he-IL"/>
              <a:t>•  אם הכיתה לא זוכרת, הצביעו על הכרטיסים ״ספירות״ ו״סכום ביקורת״ בשקף ושאלו מה כל אחד היה תופס.</a:t>
            </a:r>
          </a:p>
          <a:p>
            <a:pPr rtl="1" algn="r" marL="0" indent="0">
              <a:buNone/>
            </a:pPr>
            <a:r>
              <a:rPr b="1" sz="1200" lang="he-IL"/>
              <a:t>להעמקה</a:t>
            </a:r>
          </a:p>
          <a:p>
            <a:pPr rtl="1" algn="r" marL="0" indent="0">
              <a:buNone/>
            </a:pPr>
            <a:r>
              <a:rPr sz="1200" lang="he-IL"/>
              <a:t>•  סכום הביקורת הוא מה שבספרות הבדיקות נקרא אורקל (test oracle), מקור שקובע מהי התשובה הנכונה (Barr ועמיתים, IEEE TSE, 2015).</a:t>
            </a:r>
          </a:p>
          <a:p>
            <a:pPr rtl="1" algn="r" marL="0" indent="0">
              <a:buNone/>
            </a:pPr>
            <a:r>
              <a:rPr sz="1200" lang="he-IL"/>
              <a:t>•  בלי אורקל חיצוני אפשר לבדוק רק עקביות פנימית: ספירות, ייחודיות וטווחים הן בדיקות עקביות, וסכום הביקורת הוא האורקל.</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משפחות של באגים (כ־2 דקות).</a:t>
            </a:r>
          </a:p>
          <a:p>
            <a:pPr rtl="1" algn="r" marL="0" indent="0">
              <a:buNone/>
            </a:pPr>
            <a:r>
              <a:rPr b="1" sz="1200" lang="he-IL"/>
              <a:t>מטרה</a:t>
            </a:r>
          </a:p>
          <a:p>
            <a:pPr rtl="1" algn="r" marL="0" indent="0">
              <a:buNone/>
            </a:pPr>
            <a:r>
              <a:rPr sz="1200" lang="he-IL"/>
              <a:t>•  שפה משותפת לסיווג, וזו בדיוק הטקסונומיה שהסטודנטים מפעילים בחלק ד׳ במחברת (המילונים family ו־is_silent).</a:t>
            </a:r>
          </a:p>
          <a:p>
            <a:pPr rtl="1" algn="r" marL="0" indent="0">
              <a:buNone/>
            </a:pPr>
            <a:r>
              <a:rPr sz="1200" lang="he-IL"/>
              <a:t>•  שני עמודים.</a:t>
            </a:r>
          </a:p>
          <a:p>
            <a:pPr rtl="1" algn="r" marL="0" indent="0">
              <a:buNone/>
            </a:pPr>
            <a:r>
              <a:rPr sz="1200" lang="he-IL"/>
              <a:t>•  ימין, הזיה: ה־AI המציא משהו שלא קיים, וכאן חמשת הסוגים ממפגש 2: פונקציה או מתודה, פרמטר, חבילה, גרסה והתנהגות.</a:t>
            </a:r>
          </a:p>
          <a:p>
            <a:pPr rtl="1" algn="r" marL="0" indent="0">
              <a:buNone/>
            </a:pPr>
            <a:r>
              <a:rPr sz="1200" lang="he-IL"/>
              <a:t>•  שמאל, הנחה שגויה על הנתונים או על הסביבה: שם עמודה, טיפוס או נתיב, פורמט תאריך (יום/חודש), שורות כפולות, צירוף שמכפיל שורות, וטווח לא נכון (&gt; מול ≥).</a:t>
            </a:r>
          </a:p>
          <a:p>
            <a:pPr rtl="1" algn="r" marL="0" indent="0">
              <a:buNone/>
            </a:pPr>
            <a:r>
              <a:rPr sz="1200" lang="he-IL"/>
              <a:t>•  ההבחנה המושגית: הזיה היא טעות על העולם הכללי (ה־API פשוט לא קיים) ולכן בודקים אותה בתיעוד; הנחה היא טעות על העולם הספציפי שלכם (הנתונים שלכם שונים ממה שה־AI שיער) ולכן רק מדידה על הנתונים תחשוף אותה.</a:t>
            </a:r>
          </a:p>
          <a:p>
            <a:pPr rtl="1" algn="r" marL="0" indent="0">
              <a:buNone/>
            </a:pPr>
            <a:r>
              <a:rPr sz="1200" lang="he-IL"/>
              <a:t>•  ציר שני, בלתי תלוי: רועש (יש שגיאה והתוכנית נופלת) או שקט (אין שגיאה).</a:t>
            </a:r>
          </a:p>
          <a:p>
            <a:pPr rtl="1" algn="r" marL="0" indent="0">
              <a:buNone/>
            </a:pPr>
            <a:r>
              <a:rPr sz="1200" lang="he-IL"/>
              <a:t>•  לפי המחברת: e1, e2 וגם e5 הן הנחות רועשות; e3 וגם e4 הן הזיות רועשות; ארבעת באגי הדוח הם הנחות שקטות.</a:t>
            </a:r>
          </a:p>
          <a:p>
            <a:pPr rtl="1" algn="r" marL="0" indent="0">
              <a:buNone/>
            </a:pPr>
            <a:r>
              <a:rPr sz="1200" lang="he-IL"/>
              <a:t>•  הזיית התנהגות או גרסה יכולה להיות שקטה גם היא (מפגש 2), ולכן שני הצירים אינם חופפים.</a:t>
            </a:r>
          </a:p>
          <a:p>
            <a:pPr rtl="1" algn="r" marL="0" indent="0">
              <a:buNone/>
            </a:pPr>
            <a:r>
              <a:rPr sz="1200" lang="he-IL"/>
              <a:t>•  קידוד עברית (mojibake בקבצי CSV שיוצאו מאקסל) הוא דוגמה נוספת להנחה שלא מודגמת במעבדה.</a:t>
            </a:r>
          </a:p>
          <a:p>
            <a:pPr rtl="1" algn="r" marL="0" indent="0">
              <a:buNone/>
            </a:pPr>
            <a:r>
              <a:rPr b="1" sz="1200" lang="he-IL"/>
              <a:t>שאלה לכיתה</a:t>
            </a:r>
          </a:p>
          <a:p>
            <a:pPr rtl="1" algn="r" marL="0" indent="0">
              <a:buNone/>
            </a:pPr>
            <a:r>
              <a:rPr sz="1200" lang="he-IL"/>
              <a:t>•  לאיזו משפחה שייך to_excel_fast, ולאיזו שייך טווח עם &gt; במקום ≥?</a:t>
            </a:r>
          </a:p>
          <a:p>
            <a:pPr rtl="1" algn="r" marL="0" indent="0">
              <a:buNone/>
            </a:pPr>
            <a:r>
              <a:rPr sz="1200" lang="he-IL"/>
              <a:t>•  (הזיה; הנחה).</a:t>
            </a:r>
          </a:p>
          <a:p>
            <a:pPr rtl="1" algn="r" marL="0" indent="0">
              <a:buNone/>
            </a:pPr>
            <a:r>
              <a:rPr sz="1200" lang="he-IL"/>
              <a:t>•  לקשר לספרות: Tambon ועמיתים (2024) מציעים טקסונומיה עשירה יותר של 10 דפוסים (שקף העשרה); זו שלנו מפושטת לצורכי הקורס.</a:t>
            </a:r>
          </a:p>
          <a:p>
            <a:pPr rtl="1" algn="r" marL="0" indent="0">
              <a:buNone/>
            </a:pPr>
            <a:r>
              <a:rPr b="1" sz="1200" lang="he-IL"/>
              <a:t>טעות נפוצה</a:t>
            </a:r>
          </a:p>
          <a:p>
            <a:pPr rtl="1" algn="r" marL="0" indent="0">
              <a:buNone/>
            </a:pPr>
            <a:r>
              <a:rPr sz="1200" lang="he-IL"/>
              <a:t>•  לחשוב שכל באג בקוד של AI הוא הזיה.</a:t>
            </a:r>
          </a:p>
          <a:p>
            <a:pPr rtl="1" algn="r" marL="0" indent="0">
              <a:buNone/>
            </a:pPr>
            <a:r>
              <a:rPr b="1" sz="1200" lang="he-IL"/>
              <a:t>חיבור לשיעורים קודמים</a:t>
            </a:r>
          </a:p>
          <a:p>
            <a:pPr rtl="1" algn="r" marL="0" indent="0">
              <a:buNone/>
            </a:pPr>
            <a:r>
              <a:rPr sz="1200" lang="he-IL"/>
              <a:t>•  בדיקה אוטומטית היא הדרך להפוך באג שקט לרועש, כי היא מפילה את ההרצה במקום להשאיר מספר סביר.</a:t>
            </a:r>
          </a:p>
          <a:p>
            <a:pPr rtl="1" algn="r" marL="0" indent="0">
              <a:buNone/>
            </a:pPr>
            <a:r>
              <a:rPr sz="1200" lang="he-IL"/>
              <a:t>•  לכן המפגש הקודם הוא בדיוק הכלי שמעביר באג מהעמודה ״שקט״ לעמודה ״רועש״.</a:t>
            </a:r>
          </a:p>
          <a:p>
            <a:pPr rtl="1" algn="r" marL="0" indent="0">
              <a:buNone/>
            </a:pPr>
            <a:r>
              <a:rPr b="1" sz="1200" lang="he-IL"/>
              <a:t>שאלת היזכרות</a:t>
            </a:r>
          </a:p>
          <a:p>
            <a:pPr rtl="1" algn="r" marL="0" indent="0">
              <a:buNone/>
            </a:pPr>
            <a:r>
              <a:rPr sz="1200" lang="he-IL"/>
              <a:t>•  מה הבדל בין בדיקה שנכשלת לבין מספר שנראה סביר?</a:t>
            </a:r>
          </a:p>
          <a:p>
            <a:pPr rtl="1" algn="r" marL="0" indent="0">
              <a:buNone/>
            </a:pPr>
            <a:r>
              <a:rPr b="1" sz="1200" lang="he-IL"/>
              <a:t>תשובה</a:t>
            </a:r>
          </a:p>
          <a:p>
            <a:pPr rtl="1" algn="r" marL="0" indent="0">
              <a:buNone/>
            </a:pPr>
            <a:r>
              <a:rPr sz="1200" lang="he-IL"/>
              <a:t>•  בדיקה מושווה לציפייה ידועה מראש, והמספר הסביר לא מושווה לשום דבר.</a:t>
            </a:r>
          </a:p>
          <a:p>
            <a:pPr rtl="1" algn="r" marL="0" indent="0">
              <a:buNone/>
            </a:pPr>
            <a:r>
              <a:rPr sz="1200" lang="he-IL"/>
              <a:t>•  אם הכיתה לא זוכרת, חזרו לפתיחה של מפגש 8: 17 במקום 20.</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מלכודת התאריך (כ־2 דקות).</a:t>
            </a:r>
          </a:p>
          <a:p>
            <a:pPr rtl="1" algn="r" marL="0" indent="0">
              <a:buNone/>
            </a:pPr>
            <a:r>
              <a:rPr b="1" sz="1200" lang="he-IL"/>
              <a:t>מה אומרים</a:t>
            </a:r>
          </a:p>
          <a:p>
            <a:pPr rtl="1" algn="r" marL="0" indent="0">
              <a:buNone/>
            </a:pPr>
            <a:r>
              <a:rPr sz="1200" lang="he-IL"/>
              <a:t>•  הסבירו שהתאריך 03/04/2025 הוא 3 באפריל בישראל ו־4 במרץ בארה״ב.</a:t>
            </a:r>
          </a:p>
          <a:p>
            <a:pPr rtl="1" algn="r" marL="0" indent="0">
              <a:buNone/>
            </a:pPr>
            <a:r>
              <a:rPr sz="1200" lang="he-IL"/>
              <a:t>•  בקוד הדוח pandas קורא את התאריכים בלי לציין פורמט.</a:t>
            </a:r>
          </a:p>
          <a:p>
            <a:pPr rtl="1" algn="r" marL="0" indent="0">
              <a:buNone/>
            </a:pPr>
            <a:r>
              <a:rPr sz="1200" lang="he-IL"/>
              <a:t>•  בחרו את הצד הימני (ירוק): יום/חודש, כמו שהנתונים נכתבו.</a:t>
            </a:r>
          </a:p>
          <a:p>
            <a:pPr rtl="1" algn="r" marL="0" indent="0">
              <a:buNone/>
            </a:pPr>
            <a:r>
              <a:rPr sz="1200" lang="he-IL"/>
              <a:t>•  הצד השמאלי (אדום): חודש/יום, ברירת המחדל כשהפורמט לא צוין.</a:t>
            </a:r>
          </a:p>
          <a:p>
            <a:pPr rtl="1" algn="r" marL="0" indent="0">
              <a:buNone/>
            </a:pPr>
            <a:r>
              <a:rPr sz="1200" lang="he-IL"/>
              <a:t>•  מה קורה כשהיום גדול מ־12, למשל 23/01/2025?</a:t>
            </a:r>
          </a:p>
          <a:p>
            <a:pPr rtl="1" algn="r" marL="0" indent="0">
              <a:buNone/>
            </a:pPr>
            <a:r>
              <a:rPr sz="1200" lang="he-IL"/>
              <a:t>•  אין חודש 23, והקריאה נכשלת.</a:t>
            </a:r>
          </a:p>
          <a:p>
            <a:pPr rtl="1" algn="r" marL="0" indent="0">
              <a:buNone/>
            </a:pPr>
            <a:r>
              <a:rPr sz="1200" lang="he-IL"/>
              <a:t>•  בדוח השתמשו ב־errors=coerce, ולכן במקום שגיאה מתקבל NaT, כלומר תאריך ריק, והשורה נעלמת בשקט מהסינון.</a:t>
            </a:r>
          </a:p>
          <a:p>
            <a:pPr rtl="1" algn="r" marL="0" indent="0">
              <a:buNone/>
            </a:pPr>
            <a:r>
              <a:rPr sz="1200" lang="he-IL"/>
              <a:t>•  בהרצה על נתוני המחברת כ־1,847 מתוך 3,040 שורות נהפכות ל־NaT, וזה הבאג שגורם לרוב הפער.</a:t>
            </a:r>
          </a:p>
          <a:p>
            <a:pPr rtl="1" algn="r" marL="0" indent="0">
              <a:buNone/>
            </a:pPr>
            <a:r>
              <a:rPr sz="1200" lang="he-IL"/>
              <a:t>•  כשהיום קטן מ־13 התאריך נקרא הפוך בלי שום סימן.</a:t>
            </a:r>
          </a:p>
          <a:p>
            <a:pPr rtl="1" algn="r" marL="0" indent="0">
              <a:buNone/>
            </a:pPr>
            <a:r>
              <a:rPr b="1" sz="1200" lang="he-IL"/>
              <a:t>אנלוגיה</a:t>
            </a:r>
          </a:p>
          <a:p>
            <a:pPr rtl="1" algn="r" marL="0" indent="0">
              <a:buNone/>
            </a:pPr>
            <a:r>
              <a:rPr sz="1200" lang="he-IL"/>
              <a:t>•  גיליון אקסל בין שתי מדינות.</a:t>
            </a:r>
          </a:p>
          <a:p>
            <a:pPr rtl="1" algn="r" marL="0" indent="0">
              <a:buNone/>
            </a:pPr>
            <a:r>
              <a:rPr sz="1200" lang="he-IL"/>
              <a:t>•  התיקון: format='%d/%m/%Y' ובלי errors=coerce שמסתיר.</a:t>
            </a:r>
          </a:p>
          <a:p>
            <a:pPr rtl="1" algn="r" marL="0" indent="0">
              <a:buNone/>
            </a:pPr>
            <a:r>
              <a:rPr b="1" sz="1200" lang="he-IL"/>
              <a:t>שאלה לכיתה</a:t>
            </a:r>
          </a:p>
          <a:p>
            <a:pPr rtl="1" algn="r" marL="0" indent="0">
              <a:buNone/>
            </a:pPr>
            <a:r>
              <a:rPr sz="1200" lang="he-IL"/>
              <a:t>•  למה coerce מסוכן כאן?</a:t>
            </a:r>
          </a:p>
          <a:p>
            <a:pPr rtl="1" algn="r" marL="0" indent="0">
              <a:buNone/>
            </a:pPr>
            <a:r>
              <a:rPr b="1" sz="1200" lang="he-IL"/>
              <a:t>תשובה</a:t>
            </a:r>
          </a:p>
          <a:p>
            <a:pPr rtl="1" algn="r" marL="0" indent="0">
              <a:buNone/>
            </a:pPr>
            <a:r>
              <a:rPr sz="1200" lang="he-IL"/>
              <a:t>•  הוא ממיר כשל לערך ריק בשקט.</a:t>
            </a:r>
          </a:p>
          <a:p>
            <a:pPr rtl="1" algn="r" marL="0" indent="0">
              <a:buNone/>
            </a:pPr>
            <a:r>
              <a:rPr b="1" sz="1200" lang="he-IL"/>
              <a:t>חיבור לשיעורים קודמים</a:t>
            </a:r>
          </a:p>
          <a:p>
            <a:pPr rtl="1" algn="r" marL="0" indent="0">
              <a:buNone/>
            </a:pPr>
            <a:r>
              <a:rPr sz="1200" lang="he-IL"/>
              <a:t>•  הקוד רץ ונראה סביר, וזה קרוב לרוח של הזיית התנהגות שראינו שם.</a:t>
            </a:r>
          </a:p>
          <a:p>
            <a:pPr rtl="1" algn="r" marL="0" indent="0">
              <a:buNone/>
            </a:pPr>
            <a:r>
              <a:rPr sz="1200" lang="he-IL"/>
              <a:t>•  אבל לפי הטקסונומיה של היום זו הנחה שגויה על הנתונים (פורמט תאריך) ולא הזיה על API, ולכן אין תיעוד לבדוק מולו אלא מדידה על הנתונים.</a:t>
            </a:r>
          </a:p>
          <a:p>
            <a:pPr rtl="1" algn="r" marL="0" indent="0">
              <a:buNone/>
            </a:pPr>
            <a:r>
              <a:rPr b="1" sz="1200" lang="he-IL"/>
              <a:t>שאלת היזכרות</a:t>
            </a:r>
          </a:p>
          <a:p>
            <a:pPr rtl="1" algn="r" marL="0" indent="0">
              <a:buNone/>
            </a:pPr>
            <a:r>
              <a:rPr sz="1200" lang="he-IL"/>
              <a:t>•  איזו הזיה הכי קשה לזהות בלי הרצה?</a:t>
            </a:r>
          </a:p>
          <a:p>
            <a:pPr rtl="1" algn="r" marL="0" indent="0">
              <a:buNone/>
            </a:pPr>
            <a:r>
              <a:rPr b="1" sz="1200" lang="he-IL"/>
              <a:t>תשובה</a:t>
            </a:r>
          </a:p>
          <a:p>
            <a:pPr rtl="1" algn="r" marL="0" indent="0">
              <a:buNone/>
            </a:pPr>
            <a:r>
              <a:rPr sz="1200" lang="he-IL"/>
              <a:t>•  הזיית התנהגות.</a:t>
            </a:r>
          </a:p>
          <a:p>
            <a:pPr rtl="1" algn="r" marL="0" indent="0">
              <a:buNone/>
            </a:pPr>
            <a:r>
              <a:rPr sz="1200" lang="he-IL"/>
              <a:t>•  אם הכיתה לא זוכרת, הזכירו את הדוגמה ״הפונקציה מטפלת ברשימה ריקה״.</a:t>
            </a:r>
          </a:p>
          <a:p>
            <a:pPr rtl="1" algn="r" marL="0" indent="0">
              <a:buNone/>
            </a:pPr>
            <a:r>
              <a:rPr sz="1200" lang="he-IL"/>
              <a:t>•  העמקה ודיוק: לפני pandas 2.0 הפורמט נוחש לכל ערך בנפרד; מ־2.0 משתמשים בפורמט עקבי שנקבע לפי הערך הראשון שאינו ריק (release notes של 2.0.0).</a:t>
            </a:r>
          </a:p>
          <a:p>
            <a:pPr rtl="1" algn="r" marL="0" indent="0">
              <a:buNone/>
            </a:pPr>
            <a:r>
              <a:rPr sz="1200" lang="he-IL"/>
              <a:t>•  בתיעוד של to_datetime כתוב שהפרמטר dayfirst=True הוא העדפה ולא אכיפה, ולכן התיקון הנכון הוא format מפורש.</a:t>
            </a:r>
          </a:p>
          <a:p>
            <a:pPr rtl="1" algn="r" marL="0" indent="0">
              <a:buNone/>
            </a:pPr>
            <a:r>
              <a:rPr sz="1200" lang="he-IL"/>
              <a:t>•  דוגמה אמיתית לאותו סוג ניחוש: Excel הופך את SEPT2 ל־2-Sep (Ziemann ועמיתים, 2016), ראו שקף ההעשרה.</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טעות של אחד (כ־1.5 דקות).</a:t>
            </a:r>
          </a:p>
          <a:p>
            <a:pPr rtl="1" algn="r" marL="0" indent="0">
              <a:buNone/>
            </a:pPr>
            <a:r>
              <a:rPr b="1" sz="1200" lang="he-IL"/>
              <a:t>מה אומרים</a:t>
            </a:r>
          </a:p>
          <a:p>
            <a:pPr rtl="1" algn="r" marL="0" indent="0">
              <a:buNone/>
            </a:pPr>
            <a:r>
              <a:rPr sz="1200" lang="he-IL"/>
              <a:t>•  הציגו את ציר הזמן: 30 ביוני, 1 ביולי, 2 ביולי, ועד 30 בספטמבר.</a:t>
            </a:r>
          </a:p>
          <a:p>
            <a:pPr rtl="1" algn="r" marL="0" indent="0">
              <a:buNone/>
            </a:pPr>
            <a:r>
              <a:rPr sz="1200" lang="he-IL"/>
              <a:t>•  1 ביולי באדום, כי הוא נופל מחוץ לטווח.</a:t>
            </a:r>
          </a:p>
          <a:p>
            <a:pPr rtl="1" algn="r" marL="0" indent="0">
              <a:buNone/>
            </a:pPr>
            <a:r>
              <a:rPr sz="1200" lang="he-IL"/>
              <a:t>•  בצד שמאל האדום הקוד date &gt; 2025-07-01, שלא כולל את היום הראשון.</a:t>
            </a:r>
          </a:p>
          <a:p>
            <a:pPr rtl="1" algn="r" marL="0" indent="0">
              <a:buNone/>
            </a:pPr>
            <a:r>
              <a:rPr sz="1200" lang="he-IL"/>
              <a:t>•  הירוק הוא date &gt;= 2025-07-01, שכן כולל.</a:t>
            </a:r>
          </a:p>
          <a:p>
            <a:pPr rtl="1" algn="r" marL="0" indent="0">
              <a:buNone/>
            </a:pPr>
            <a:r>
              <a:rPr sz="1200" lang="he-IL"/>
              <a:t>•  בנתונים שלנו 10 הזמנות נרשמו ב־1 ביולי ונעלמו, והסכום עלה ב־3,202.18 כשתיקנו (מ־221,849.03 ל־225,051.21).</a:t>
            </a:r>
          </a:p>
          <a:p>
            <a:pPr rtl="1" algn="r" marL="0" indent="0">
              <a:buNone/>
            </a:pPr>
            <a:r>
              <a:rPr b="1" sz="1200" lang="he-IL"/>
              <a:t>שאלה לכיתה</a:t>
            </a:r>
          </a:p>
          <a:p>
            <a:pPr rtl="1" algn="r" marL="0" indent="0">
              <a:buNone/>
            </a:pPr>
            <a:r>
              <a:rPr sz="1200" lang="he-IL"/>
              <a:t>•  איזה כלל גובה אומר שרבעון מתחיל ב־1 ביולי?</a:t>
            </a:r>
          </a:p>
          <a:p>
            <a:pPr rtl="1" algn="r" marL="0" indent="0">
              <a:buNone/>
            </a:pPr>
            <a:r>
              <a:rPr b="1" sz="1200" lang="he-IL"/>
              <a:t>תשובה</a:t>
            </a:r>
          </a:p>
          <a:p>
            <a:pPr rtl="1" algn="r" marL="0" indent="0">
              <a:buNone/>
            </a:pPr>
            <a:r>
              <a:rPr sz="1200" lang="he-IL"/>
              <a:t>•  הטווח כולל את היום הראשון ואת היום האחרון.</a:t>
            </a:r>
          </a:p>
          <a:p>
            <a:pPr rtl="1" algn="r" marL="0" indent="0">
              <a:buNone/>
            </a:pPr>
            <a:r>
              <a:rPr sz="1200" lang="he-IL"/>
              <a:t>•  הסבירו שזו טעות של אחד (off-by-one) מוכרת, ושדוגמה כזאת קורית בכל קוד, גם שנכתב בידי אדם.</a:t>
            </a:r>
          </a:p>
          <a:p>
            <a:pPr rtl="1" algn="r" marL="0" indent="0">
              <a:buNone/>
            </a:pPr>
            <a:r>
              <a:rPr b="1" sz="1200" lang="he-IL"/>
              <a:t>אנלוגיה</a:t>
            </a:r>
          </a:p>
          <a:p>
            <a:pPr rtl="1" algn="r" marL="0" indent="0">
              <a:buNone/>
            </a:pPr>
            <a:r>
              <a:rPr sz="1200" lang="he-IL"/>
              <a:t>•  משמרת שמתחילה ב־07:00 ושעוזבים את מי שנכנס בדיוק ב־07:00 מהדוח.</a:t>
            </a:r>
          </a:p>
          <a:p>
            <a:pPr rtl="1" algn="r" marL="0" indent="0">
              <a:buNone/>
            </a:pPr>
            <a:r>
              <a:rPr sz="1200" lang="he-IL"/>
              <a:t>•  אחריה בדיקת שפיות: ספירת הזמנות לפי תאריך ראשון בטווח, ובדיקה שיש בו שורות.</a:t>
            </a:r>
          </a:p>
          <a:p>
            <a:pPr rtl="1" algn="r" marL="0" indent="0">
              <a:buNone/>
            </a:pPr>
            <a:r>
              <a:rPr b="1" sz="1200" lang="he-IL"/>
              <a:t>חיבור לשיעורים קודמים</a:t>
            </a:r>
          </a:p>
          <a:p>
            <a:pPr rtl="1" algn="r" marL="0" indent="0">
              <a:buNone/>
            </a:pPr>
            <a:r>
              <a:rPr sz="1200" lang="he-IL"/>
              <a:t>•  בין חמש קטגוריות מקרי הבדיקה היתה קטגוריית גבול (ביקוש 0).</a:t>
            </a:r>
          </a:p>
          <a:p>
            <a:pPr rtl="1" algn="r" marL="0" indent="0">
              <a:buNone/>
            </a:pPr>
            <a:r>
              <a:rPr sz="1200" lang="he-IL"/>
              <a:t>•  ה־1 ביולי הוא מקרה גבול של טווח, ובדיקה אחת על התאריך הראשון הייתה תופסת את הבאג.</a:t>
            </a:r>
          </a:p>
          <a:p>
            <a:pPr rtl="1" algn="r" marL="0" indent="0">
              <a:buNone/>
            </a:pPr>
            <a:r>
              <a:rPr b="1" sz="1200" lang="he-IL"/>
              <a:t>שאלת היזכרות</a:t>
            </a:r>
          </a:p>
          <a:p>
            <a:pPr rtl="1" algn="r" marL="0" indent="0">
              <a:buNone/>
            </a:pPr>
            <a:r>
              <a:rPr sz="1200" lang="he-IL"/>
              <a:t>•  מה חמש הקטגוריות?</a:t>
            </a:r>
          </a:p>
          <a:p>
            <a:pPr rtl="1" algn="r" marL="0" indent="0">
              <a:buNone/>
            </a:pPr>
            <a:r>
              <a:rPr b="1" sz="1200" lang="he-IL"/>
              <a:t>תשובה</a:t>
            </a:r>
          </a:p>
          <a:p>
            <a:pPr rtl="1" algn="r" marL="0" indent="0">
              <a:buNone/>
            </a:pPr>
            <a:r>
              <a:rPr sz="1200" lang="he-IL"/>
              <a:t>•  רגיל, גבול, ריק או חסר, לא חוקי וכלל עסקי.</a:t>
            </a:r>
          </a:p>
          <a:p>
            <a:pPr rtl="1" algn="r" marL="0" indent="0">
              <a:buNone/>
            </a:pPr>
            <a:r>
              <a:rPr sz="1200" lang="he-IL"/>
              <a:t>•  אם הכיתה לא זוכרת, שאלו מה המקרה הקיצוני בטווח תאריכים.</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שאלת בדיקה (כ־1.5 דקות).</a:t>
            </a:r>
          </a:p>
          <a:p>
            <a:pPr rtl="1" algn="r" marL="0" indent="0">
              <a:buNone/>
            </a:pPr>
            <a:r>
              <a:rPr b="1" sz="1200" lang="he-IL"/>
              <a:t>מה אומרים</a:t>
            </a:r>
          </a:p>
          <a:p>
            <a:pPr rtl="1" algn="r" marL="0" indent="0">
              <a:buNone/>
            </a:pPr>
            <a:r>
              <a:rPr sz="1200" lang="he-IL"/>
              <a:t>•  המספרים הם מהרצה על הנתונים האמיתיים כשתוקנו תאריכים, טווח והזמנות כפולות, אבל הספקים עדיין כפולים: 778 הזמנות נכנסות לצירוף, ויוצאות 976 שורות.</a:t>
            </a:r>
          </a:p>
          <a:p>
            <a:pPr rtl="1" algn="r" marL="0" indent="0">
              <a:buNone/>
            </a:pPr>
            <a:r>
              <a:rPr sz="1200" lang="he-IL"/>
              <a:t>•  תנו לכיתה כדקה לחשוב בזוגות.</a:t>
            </a:r>
          </a:p>
          <a:p>
            <a:pPr rtl="1" algn="r" marL="0" indent="0">
              <a:buNone/>
            </a:pPr>
            <a:r>
              <a:rPr sz="1200" lang="he-IL"/>
              <a:t>•  רמז: מה קורה בצירוף כשהמפתח מופיע פעמיים בטבלה אחת?</a:t>
            </a:r>
          </a:p>
          <a:p>
            <a:pPr rtl="1" algn="r" marL="0" indent="0">
              <a:buNone/>
            </a:pPr>
            <a:r>
              <a:rPr sz="1200" lang="he-IL"/>
              <a:t>•  השורות צריכות להישאר 778 אם כל ספק מופיע פעם אחת.</a:t>
            </a:r>
          </a:p>
          <a:p>
            <a:pPr rtl="1" algn="r" marL="0" indent="0">
              <a:buNone/>
            </a:pPr>
            <a:r>
              <a:rPr b="1" sz="1200" lang="he-IL"/>
              <a:t>אנלוגיה</a:t>
            </a:r>
          </a:p>
          <a:p>
            <a:pPr rtl="1" algn="r" marL="0" indent="0">
              <a:buNone/>
            </a:pPr>
            <a:r>
              <a:rPr sz="1200" lang="he-IL"/>
              <a:t>•  כרטיס הזמנה שנשלח לשתי מחלקות שמוציאות חשבונית כל אחת.</a:t>
            </a:r>
          </a:p>
          <a:p>
            <a:pPr rtl="1" algn="r" marL="0" indent="0">
              <a:buNone/>
            </a:pPr>
            <a:r>
              <a:rPr b="1" sz="1200" lang="he-IL"/>
              <a:t>חיבור לשיעורים קודמים</a:t>
            </a:r>
          </a:p>
          <a:p>
            <a:pPr rtl="1" algn="r" marL="0" indent="0">
              <a:buNone/>
            </a:pPr>
            <a:r>
              <a:rPr sz="1200" lang="he-IL"/>
              <a:t>•  מפגש 7, JOIN שמכפיל שורות.</a:t>
            </a:r>
          </a:p>
          <a:p>
            <a:pPr rtl="1" algn="r" marL="0" indent="0">
              <a:buNone/>
            </a:pPr>
            <a:r>
              <a:rPr sz="1200" lang="he-IL"/>
              <a:t>•  שאלו גם: מי מכם ראה את זה בשיעור SQL?</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תשובה (כ־1.5 דקות).</a:t>
            </a:r>
          </a:p>
          <a:p>
            <a:pPr rtl="1" algn="r" marL="0" indent="0">
              <a:buNone/>
            </a:pPr>
            <a:r>
              <a:rPr b="1" sz="1200" lang="he-IL"/>
              <a:t>מה אומרים</a:t>
            </a:r>
          </a:p>
          <a:p>
            <a:pPr rtl="1" algn="r" marL="0" indent="0">
              <a:buNone/>
            </a:pPr>
            <a:r>
              <a:rPr sz="1200" lang="he-IL"/>
              <a:t>•  הצירוף (merge) מכפיל שורות כשהמפתח לא ייחודי בטבלה הימנית.</a:t>
            </a:r>
          </a:p>
          <a:p>
            <a:pPr rtl="1" algn="r" marL="0" indent="0">
              <a:buNone/>
            </a:pPr>
            <a:r>
              <a:rPr sz="1200" lang="he-IL"/>
              <a:t>•  בטבלת הספקים של המחברת (suppliers_dup.csv) יש 10 שורות אבל רק 8 ספקים שונים: S03 (Supplier C) ו־S05 (Supplier E) מופיעים פעמיים.</a:t>
            </a:r>
          </a:p>
          <a:p>
            <a:pPr rtl="1" algn="r" marL="0" indent="0">
              <a:buNone/>
            </a:pPr>
            <a:r>
              <a:rPr sz="1200" lang="he-IL"/>
              <a:t>•  לכן כל הזמנה של מוצר מספק כזה נספרת פעמיים, ועלינו עוד 198 שורות.</a:t>
            </a:r>
          </a:p>
          <a:p>
            <a:pPr rtl="1" algn="r" marL="0" indent="0">
              <a:buNone/>
            </a:pPr>
            <a:r>
              <a:rPr sz="1200" lang="he-IL"/>
              <a:t>•  הבדיקה: בדיקת is_unique על העמודה supplier_id, או השוואת מספר השורות לפני ואחרי.</a:t>
            </a:r>
          </a:p>
          <a:p>
            <a:pPr rtl="1" algn="r" marL="0" indent="0">
              <a:buNone/>
            </a:pPr>
            <a:r>
              <a:rPr sz="1200" lang="he-IL"/>
              <a:t>•  התיקון: drop_duplicates על supplier_id.</a:t>
            </a:r>
          </a:p>
          <a:p>
            <a:pPr rtl="1" algn="r" marL="0" indent="0">
              <a:buNone/>
            </a:pPr>
            <a:r>
              <a:rPr sz="1200" lang="he-IL"/>
              <a:t>•  הוסיפו שאחרי התיקון מספר השורות חוזר ל־778 והסכום ל־177,597.89.</a:t>
            </a:r>
          </a:p>
          <a:p>
            <a:pPr rtl="1" algn="r" marL="0" indent="0">
              <a:buNone/>
            </a:pPr>
            <a:r>
              <a:rPr sz="1200" lang="he-IL"/>
              <a:t>•  הדגישו שאין שגיאה, ולכן רק ספירה תחשוף את זה.</a:t>
            </a:r>
          </a:p>
          <a:p>
            <a:pPr rtl="1" algn="r" marL="0" indent="0">
              <a:buNone/>
            </a:pPr>
            <a:r>
              <a:rPr sz="1200" lang="he-IL"/>
              <a:t>•  זה גם יהיה באג 4 במעבדה ב׳.</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ב׳, 10 דקות, בזוגות, חלק ב׳ במחברת HM_09.</a:t>
            </a:r>
          </a:p>
          <a:p>
            <a:pPr rtl="1" algn="r" marL="0" indent="0">
              <a:buNone/>
            </a:pPr>
            <a:r>
              <a:rPr b="1" sz="1200" lang="he-IL"/>
              <a:t>מה אומרים</a:t>
            </a:r>
          </a:p>
          <a:p>
            <a:pPr rtl="1" algn="r" marL="0" indent="0">
              <a:buNone/>
            </a:pPr>
            <a:r>
              <a:rPr sz="1200" lang="he-IL"/>
              <a:t>•  הדוח שה־AI כתב ארוז בפונקציה buggy_report, באותה לוגיקה בדיוק כמו report_buggy.py בהרצאה, והמטרה היא לא לקרוא אותו אלא למדוד.</a:t>
            </a:r>
          </a:p>
          <a:p>
            <a:pPr rtl="1" algn="r" marL="0" indent="0">
              <a:buNone/>
            </a:pPr>
            <a:r>
              <a:rPr sz="1200" lang="he-IL"/>
              <a:t>•  שלב 1: מריצים ורואים 88,526.81 מול סכום הביקורת 177,597.89, וגם שרק 278 שורות נכנסו לרבעון אבל אחרי הצירוף יש 346: מספר שורות שעולה בצירוף הוא סימן אזהרה.</a:t>
            </a:r>
          </a:p>
          <a:p>
            <a:pPr rtl="1" algn="r" marL="0" indent="0">
              <a:buNone/>
            </a:pPr>
            <a:r>
              <a:rPr sz="1200" lang="he-IL"/>
              <a:t>•  שלב 2: כותבים count_nat (עם isna) ו־count_dup_ids (עם duplicated).</a:t>
            </a:r>
          </a:p>
          <a:p>
            <a:pPr rtl="1" algn="r" marL="0" indent="0">
              <a:buNone/>
            </a:pPr>
            <a:r>
              <a:rPr sz="1200" lang="he-IL"/>
              <a:t>•  שלב 3: find_bad_rows מחזירה את השורות עצמן.</a:t>
            </a:r>
          </a:p>
          <a:p>
            <a:pPr rtl="1" algn="r" marL="0" indent="0">
              <a:buNone/>
            </a:pPr>
            <a:r>
              <a:rPr sz="1200" lang="he-IL"/>
              <a:t>•  שלב 4: בוחרים מקרה מינימלי של עד 5 שורות שמראה את הבאג.</a:t>
            </a:r>
          </a:p>
          <a:p>
            <a:pPr rtl="1" algn="r" marL="0" indent="0">
              <a:buNone/>
            </a:pPr>
            <a:r>
              <a:rPr sz="1200" lang="he-IL"/>
              <a:t>•  חלוקה מומלצת: כדקה תדריך, כ־45 שניות להרצה, 2.5 דקות לספירות, 2.5 לבידוד ו־2.5 למקרה המינימלי, ודקה וחצי לשקף מה אמור לצאת (שאלות הניתוח בעל פה).</a:t>
            </a:r>
          </a:p>
          <a:p>
            <a:pPr rtl="1" algn="r" marL="0" indent="0">
              <a:buNone/>
            </a:pPr>
            <a:r>
              <a:rPr sz="1200" lang="he-IL"/>
              <a:t>•  המחברת מעריכה 10 דקות עבודה, ולכן מי שלא סיים משלים בבית.</a:t>
            </a:r>
          </a:p>
          <a:p>
            <a:pPr rtl="1" algn="r" marL="0" indent="0">
              <a:buNone/>
            </a:pPr>
            <a:r>
              <a:rPr b="1" sz="1200" lang="he-IL"/>
              <a:t>למה עושים את זה</a:t>
            </a:r>
          </a:p>
          <a:p>
            <a:pPr rtl="1" algn="r" marL="0" indent="0">
              <a:buNone/>
            </a:pPr>
            <a:r>
              <a:rPr sz="1200" lang="he-IL"/>
              <a:t>•  כשאין Traceback, המדידה היא כלי הדיבוג היחיד, וזה הרגל שנבנה רק בתרגול.</a:t>
            </a:r>
          </a:p>
          <a:p>
            <a:pPr rtl="1" algn="r" marL="0" indent="0">
              <a:buNone/>
            </a:pPr>
            <a:r>
              <a:rPr b="1" sz="1200" lang="he-IL"/>
              <a:t>שגיאות צפויות</a:t>
            </a:r>
          </a:p>
          <a:p>
            <a:pPr rtl="1" algn="r" marL="0" indent="0">
              <a:buNone/>
            </a:pPr>
            <a:r>
              <a:rPr sz="1200" lang="he-IL"/>
              <a:t>•  לספור NaT עם השוואה למחרוזת (הרמז: .isna().sum()), או להחזיר בשלב 3 מספר במקום טבלה.</a:t>
            </a:r>
          </a:p>
          <a:p>
            <a:pPr rtl="1" algn="r" marL="0" indent="0">
              <a:buNone/>
            </a:pPr>
            <a:r>
              <a:rPr sz="1200" lang="he-IL"/>
              <a:t>•  מלכודת: pandas לומד את הפורמט מהשורה הראשונה, ולכן מי שבחר mini שהשורה הראשונה בו היא 23/01/2025 לא יראה את הבאג, וכדאי להצביע על כך.</a:t>
            </a:r>
          </a:p>
          <a:p>
            <a:pPr rtl="1" algn="r" marL="0" indent="0">
              <a:buNone/>
            </a:pPr>
            <a:r>
              <a:rPr b="1" sz="1200" lang="he-IL"/>
              <a:t>הכנה לפני השיעור</a:t>
            </a:r>
          </a:p>
          <a:p>
            <a:pPr rtl="1" algn="r" marL="0" indent="0">
              <a:buNone/>
            </a:pPr>
            <a:r>
              <a:rPr sz="1200" lang="he-IL"/>
              <a:t>•  להעלות את HM_09.ipynb ל־Colab ולהחליף את ה־QR (מקום שמור) בקישור אמיתי.</a:t>
            </a:r>
          </a:p>
          <a:p>
            <a:pPr rtl="1" algn="r" marL="0" indent="0">
              <a:buNone/>
            </a:pPr>
            <a:r>
              <a:rPr sz="1200" lang="he-IL"/>
              <a:t>•  מה בנוי על קודם: ספירות לפני ואחרי ובדיקת סכום מול ידוע הן בדיקות האימות של מפגש 7 (JOIN שמכפיל שורות) והרעיון של מפגש 5 (תוצאה שרצה אינה הוכחה, משווים לידוע).</a:t>
            </a:r>
          </a:p>
          <a:p>
            <a:pPr rtl="1" algn="r" marL="0" indent="0">
              <a:buNone/>
            </a:pPr>
            <a:r>
              <a:rPr sz="1200" lang="he-IL"/>
              <a:t>•  בלי Traceback המדידה היא הכלי היחיד.</a:t>
            </a:r>
          </a:p>
          <a:p>
            <a:pPr rtl="1" algn="r" marL="0" indent="0">
              <a:buNone/>
            </a:pPr>
            <a:r>
              <a:rPr b="1" sz="1200" lang="he-IL"/>
              <a:t>שאלת היזכרות</a:t>
            </a:r>
          </a:p>
          <a:p>
            <a:pPr rtl="1" algn="r" marL="0" indent="0">
              <a:buNone/>
            </a:pPr>
            <a:r>
              <a:rPr sz="1200" lang="he-IL"/>
              <a:t>•  איזו בדיקה תופסת JOIN שהכפיל שורות?</a:t>
            </a:r>
          </a:p>
          <a:p>
            <a:pPr rtl="1" algn="r" marL="0" indent="0">
              <a:buNone/>
            </a:pPr>
            <a:r>
              <a:rPr b="1" sz="1200" lang="he-IL"/>
              <a:t>תשובה</a:t>
            </a:r>
          </a:p>
          <a:p>
            <a:pPr rtl="1" algn="r" marL="0" indent="0">
              <a:buNone/>
            </a:pPr>
            <a:r>
              <a:rPr sz="1200" lang="he-IL"/>
              <a:t>•  ספירת שורות לפני ואחרי (מפגש 7).</a:t>
            </a:r>
          </a:p>
          <a:p>
            <a:pPr rtl="1" algn="r" marL="0" indent="0">
              <a:buNone/>
            </a:pPr>
            <a:r>
              <a:rPr sz="1200" lang="he-IL"/>
              <a:t>•  אם הכיתה לא זוכרת, הציגו שוב את 778 מול 976.</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אופציונלי (כ־2.5 דקות), מתאים אחרי חלק ב׳.</a:t>
            </a:r>
          </a:p>
          <a:p>
            <a:pPr rtl="1" algn="r" marL="0" indent="0">
              <a:buNone/>
            </a:pPr>
            <a:r>
              <a:rPr b="1" sz="1200" lang="he-IL"/>
              <a:t>מה אומרים</a:t>
            </a:r>
          </a:p>
          <a:p>
            <a:pPr rtl="1" algn="r" marL="0" indent="0">
              <a:buNone/>
            </a:pPr>
            <a:r>
              <a:rPr sz="1200" lang="he-IL"/>
              <a:t>•  שלושה מקרים של כשל שקט בנתונים, שבהם איש לא קיבל הודעת שגיאה.</a:t>
            </a:r>
          </a:p>
          <a:p>
            <a:pPr rtl="1" algn="r" marL="0" indent="0">
              <a:buNone/>
            </a:pPr>
            <a:r>
              <a:rPr sz="1200" lang="he-IL"/>
              <a:t>•  אחד, אנגליה, אוקטובר 2020: Public Health England דיווחה ש־15,841 מקרי קורונה בין 25 בספטמבר ל־2 באוקטובר לא נכללו בדיווח היומי.</a:t>
            </a:r>
          </a:p>
          <a:p>
            <a:pPr rtl="1" algn="r" marL="0" indent="0">
              <a:buNone/>
            </a:pPr>
            <a:r>
              <a:rPr sz="1200" lang="he-IL"/>
              <a:t>•  לפי הדיווח ב־The Register מ־5.10.2020 (בהסתמך על דיווח BBC), תוצאות בדיקה שהגיעו כקבצי CSV נשמרו בפורמט xls הישן, שמוגבל ל־65,536 שורות בגיליון, והשורות העודפות נחתכו בלי התראה; כל תוצאה תפסה כמה שורות, ולכן המגבלה בפועל הייתה כ־1,400 מקרים לגיליון.</a:t>
            </a:r>
          </a:p>
          <a:p>
            <a:pPr rtl="1" algn="r" marL="0" indent="0">
              <a:buNone/>
            </a:pPr>
            <a:r>
              <a:rPr sz="1200" lang="he-IL"/>
              <a:t>•  התיאור הטכני מבוסס על דיווחי עיתונות ולא על דוח רשמי שבדקנו.</a:t>
            </a:r>
          </a:p>
          <a:p>
            <a:pPr rtl="1" algn="r" marL="0" indent="0">
              <a:buNone/>
            </a:pPr>
            <a:r>
              <a:rPr sz="1200" lang="he-IL"/>
              <a:t>•  שניים, Ziemann ועמיתים (Genome Biology, 2016): Excel הופך שמות גנים כמו SEPT2 ל־2-Sep ו־MARCH1 ל־1-Mar; בכחמישית מהמאמרים עם רשימות גנים בקבצי Excel נמצאו שגיאות כאלה (נבדקו 35,175 קבצים משנים 2005 עד 2015).</a:t>
            </a:r>
          </a:p>
          <a:p>
            <a:pPr rtl="1" algn="r" marL="0" indent="0">
              <a:buNone/>
            </a:pPr>
            <a:r>
              <a:rPr sz="1200" lang="he-IL"/>
              <a:t>•  זה בדיוק כמו באג התאריך שלנו: ברירת מחדל של תוכנה מועילה שמפרשת טקסט כתאריך.</a:t>
            </a:r>
          </a:p>
          <a:p>
            <a:pPr rtl="1" algn="r" marL="0" indent="0">
              <a:buNone/>
            </a:pPr>
            <a:r>
              <a:rPr sz="1200" lang="he-IL"/>
              <a:t>•  שלוש, הדוח שלנו: pandas ניחש את הפורמט ו־1,847 שורות נעלמו.</a:t>
            </a:r>
          </a:p>
          <a:p>
            <a:pPr rtl="1" algn="r" marL="0" indent="0">
              <a:buNone/>
            </a:pPr>
            <a:r>
              <a:rPr sz="1200" lang="he-IL"/>
              <a:t>•  המשותף: אין שגיאה, ההמרה נעשית לטובתכם, והגילוי הגיע רק מהשוואה למקור חיצוני.</a:t>
            </a:r>
          </a:p>
          <a:p>
            <a:pPr rtl="1" algn="r" marL="0" indent="0">
              <a:buNone/>
            </a:pPr>
            <a:r>
              <a:rPr b="1" sz="1200" lang="he-IL"/>
              <a:t>שאלה לכיתה</a:t>
            </a:r>
          </a:p>
          <a:p>
            <a:pPr rtl="1" algn="r" marL="0" indent="0">
              <a:buNone/>
            </a:pPr>
            <a:r>
              <a:rPr sz="1200" lang="he-IL"/>
              <a:t>•  איזו בדיקת שפיות הייתה תופסת כל אחד מהם?</a:t>
            </a:r>
          </a:p>
          <a:p>
            <a:pPr rtl="1" algn="r" marL="0" indent="0">
              <a:buNone/>
            </a:pPr>
            <a:r>
              <a:rPr sz="1200" lang="he-IL"/>
              <a:t>•  (ספירת שורות לפני ואחרי; בדיקת טיפוס העמודה).</a:t>
            </a:r>
          </a:p>
          <a:p>
            <a:pPr rtl="1" algn="r" marL="0" indent="0">
              <a:buNone/>
            </a:pPr>
            <a:r>
              <a:rPr b="1" sz="1200" lang="he-IL"/>
              <a:t>מתי לדלג</a:t>
            </a:r>
          </a:p>
          <a:p>
            <a:pPr rtl="1" algn="r" marL="0" indent="0">
              <a:buNone/>
            </a:pPr>
            <a:r>
              <a:rPr sz="1200" lang="he-IL"/>
              <a:t>•  אם הכיתה כבר הבינה את הבאג השקט.</a:t>
            </a:r>
          </a:p>
          <a:p>
            <a:pPr rtl="1" algn="r" marL="0" indent="0">
              <a:buNone/>
            </a:pPr>
            <a:r>
              <a:rPr b="1" sz="1200" lang="he-IL"/>
              <a:t>מקורות</a:t>
            </a:r>
          </a:p>
          <a:p>
            <a:pPr rtl="1" algn="r" marL="0" indent="0">
              <a:buNone/>
            </a:pPr>
            <a:r>
              <a:rPr sz="1200" lang="he-IL"/>
              <a:t>•  Karabus, The Register (2020); Ziemann et al.</a:t>
            </a:r>
          </a:p>
          <a:p>
            <a:pPr rtl="1" algn="r" marL="0" indent="0">
              <a:buNone/>
            </a:pPr>
            <a:r>
              <a:rPr sz="1200" lang="he-IL"/>
              <a:t>•  (2016).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אופציונלי (כ־2 דקות), מתאים אחרי חלק א׳ (הצעד מבודדים).</a:t>
            </a:r>
          </a:p>
          <a:p>
            <a:pPr rtl="1" algn="r" marL="0" indent="0">
              <a:buNone/>
            </a:pPr>
            <a:r>
              <a:rPr b="1" sz="1200" lang="he-IL"/>
              <a:t>מה אומרים</a:t>
            </a:r>
          </a:p>
          <a:p>
            <a:pPr rtl="1" algn="r" marL="0" indent="0">
              <a:buNone/>
            </a:pPr>
            <a:r>
              <a:rPr sz="1200" lang="he-IL"/>
              <a:t>•  שני כלים שמבצעים את אותו רעיון: לחתוך חצי ולבדוק אם הבאג עדיין שם.</a:t>
            </a:r>
          </a:p>
          <a:p>
            <a:pPr rtl="1" algn="r" marL="0" indent="0">
              <a:buNone/>
            </a:pPr>
            <a:r>
              <a:rPr sz="1200" lang="he-IL"/>
              <a:t>•  Delta debugging (Zeller ו־Hildebrandt, IEEE Transactions on Software Engineering, 2002): האלגוריתם ddmin מקבל קלט שגורם לכשל ומקטין אותו אוטומטית עד שכל הסרה של חלק ממנו מעלימה את הכשל, תכונה שנקראת 1-minimal.</a:t>
            </a:r>
          </a:p>
          <a:p>
            <a:pPr rtl="1" algn="r" marL="0" indent="0">
              <a:buNone/>
            </a:pPr>
            <a:r>
              <a:rPr sz="1200" lang="he-IL"/>
              <a:t>•  בניסוי במאמר, מסמך HTML ארוך שהקריס את הדפדפן Mozilla הוצמצם לשורה אחת. git bisect (לפי התיעוד של git): מסמנים קומיט טוב וקומיט רע, git בודק קומיט באמצע הטווח, ובכל סיבוב הטווח קטן בחצי, ולכן מספר הצעדים הוא בערך לוגריתם בסיס 2 של מספר הקומיטים.</a:t>
            </a:r>
          </a:p>
          <a:p>
            <a:pPr rtl="1" algn="r" marL="0" indent="0">
              <a:buNone/>
            </a:pPr>
            <a:r>
              <a:rPr sz="1200" lang="he-IL"/>
              <a:t>•  בדוגמה שבתיעוד, 675 קומיטים שנותרו לבדיקה הם כ־10 צעדים, והפקודה git bisect run מריצה בדיקה אוטומטית בכל צעד.</a:t>
            </a:r>
          </a:p>
          <a:p>
            <a:pPr rtl="1" algn="r" marL="0" indent="0">
              <a:buNone/>
            </a:pPr>
            <a:r>
              <a:rPr b="1" sz="1200" lang="he-IL"/>
              <a:t>אנלוגיה</a:t>
            </a:r>
          </a:p>
          <a:p>
            <a:pPr rtl="1" algn="r" marL="0" indent="0">
              <a:buNone/>
            </a:pPr>
            <a:r>
              <a:rPr sz="1200" lang="he-IL"/>
              <a:t>•  מוצר פגום בקו עם עשר תחנות, בודקים אחרי התחנה החמישית ומחצים את החיפוש.</a:t>
            </a:r>
          </a:p>
          <a:p>
            <a:pPr rtl="1" algn="r" marL="0" indent="0">
              <a:buNone/>
            </a:pPr>
            <a:r>
              <a:rPr sz="1200" lang="he-IL"/>
              <a:t>•  חיבור למחברת: בשלב המקרה המינימלי הסטודנטים מצמצמים ידנית 3,040 שורות לחמש; ddmin עושה זאת אוטומטית כשהכשל מוגדר כבדיקה.</a:t>
            </a:r>
          </a:p>
          <a:p>
            <a:pPr rtl="1" algn="r" marL="0" indent="0">
              <a:buNone/>
            </a:pPr>
            <a:r>
              <a:rPr sz="1200" lang="he-IL"/>
              <a:t>•  חיבור למפגש 6: git bisect נשען על היסטוריית commit נקייה, וקומיטים קטנים הופכים אותו ליעיל.</a:t>
            </a:r>
          </a:p>
          <a:p>
            <a:pPr rtl="1" algn="r" marL="0" indent="0">
              <a:buNone/>
            </a:pPr>
            <a:r>
              <a:rPr sz="1200" lang="he-IL"/>
              <a:t>•  מגבלה: שתי השיטות מניחות שהכשל יציב; כשל שמופיע רק לפעמים דורש קודם שחזור עקבי (הצעד הראשון).</a:t>
            </a:r>
          </a:p>
          <a:p>
            <a:pPr rtl="1" algn="r" marL="0" indent="0">
              <a:buNone/>
            </a:pPr>
            <a:r>
              <a:rPr b="1" sz="1200" lang="he-IL"/>
              <a:t>מתי לדלג</a:t>
            </a:r>
          </a:p>
          <a:p>
            <a:pPr rtl="1" algn="r" marL="0" indent="0">
              <a:buNone/>
            </a:pPr>
            <a:r>
              <a:rPr sz="1200" lang="he-IL"/>
              <a:t>•  אם חסר זמן, הזכירו רק את git bisect.</a:t>
            </a:r>
          </a:p>
          <a:p>
            <a:pPr rtl="1" algn="r" marL="0" indent="0">
              <a:buNone/>
            </a:pPr>
            <a:r>
              <a:rPr b="1" sz="1200" lang="he-IL"/>
              <a:t>מקורות</a:t>
            </a:r>
          </a:p>
          <a:p>
            <a:pPr rtl="1" algn="r" marL="0" indent="0">
              <a:buNone/>
            </a:pPr>
            <a:r>
              <a:rPr sz="1200" lang="he-IL"/>
              <a:t>•  Zeller &amp; Hildebrandt (2002); git-scm.com/docs/git-bisect (נפתח ב־22.10.2026; פרטי המאמר אומתו בחיפוש, המאמר עצמו לא נפתח).</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רמזים, לשימוש הדרגתי רק כשהכיתה נתקעת.</a:t>
            </a:r>
          </a:p>
          <a:p>
            <a:pPr rtl="1" algn="r" marL="0" indent="0">
              <a:buNone/>
            </a:pPr>
            <a:r>
              <a:rPr b="1" sz="1200" lang="he-IL"/>
              <a:t>מה אומרים</a:t>
            </a:r>
          </a:p>
          <a:p>
            <a:pPr rtl="1" algn="r" marL="0" indent="0">
              <a:buNone/>
            </a:pPr>
            <a:r>
              <a:rPr sz="1200" lang="he-IL"/>
              <a:t>•  במחברת עצמה כבר כתובים רמזים בכל שלב, והשקף משמש להכוונה כללית על המקרן.</a:t>
            </a:r>
          </a:p>
          <a:p>
            <a:pPr rtl="1" algn="r" marL="0" indent="0">
              <a:buNone/>
            </a:pPr>
            <a:r>
              <a:rPr sz="1200" lang="he-IL"/>
              <a:t>•  הקרינו רמז אחד בכל פעם.</a:t>
            </a:r>
          </a:p>
          <a:p>
            <a:pPr rtl="1" algn="r" marL="0" indent="0">
              <a:buNone/>
            </a:pPr>
            <a:r>
              <a:rPr sz="1200" lang="he-IL"/>
              <a:t>•  רמז 1: כמה תאריכים נקראו כ־NaT, והמשמעות היא ששורות נעלמות מהסינון בשקט (1,847 שורות, וזה מה ש־count_nat מחזירה בחלק ב׳).</a:t>
            </a:r>
          </a:p>
          <a:p>
            <a:pPr rtl="1" algn="r" marL="0" indent="0">
              <a:buNone/>
            </a:pPr>
            <a:r>
              <a:rPr sz="1200" lang="he-IL"/>
              <a:t>•  רמז 2: האם order_id מופיע יותר מפעם אחת: 40 שורות כפולות, ו־count_dup_ids מוצאת אותן.</a:t>
            </a:r>
          </a:p>
          <a:p>
            <a:pPr rtl="1" algn="r" marL="0" indent="0">
              <a:buNone/>
            </a:pPr>
            <a:r>
              <a:rPr sz="1200" lang="he-IL"/>
              <a:t>•  רמז 3: בטבלת הספקים 10 שורות ו־8 ספקים שונים, ולכן הצירוף מכפיל הזמנות.</a:t>
            </a:r>
          </a:p>
          <a:p>
            <a:pPr rtl="1" algn="r" marL="0" indent="0">
              <a:buNone/>
            </a:pPr>
            <a:r>
              <a:rPr sz="1200" lang="he-IL"/>
              <a:t>•  רמז 4: האם כל ההזמנות של 1 ביולי נכללו: 10 הזמנות נעלמות בגלל סימן ההשוואה, וזה מתגלה במחברת רק בחלק ג׳, בתחזית שלפני שלב 1.</a:t>
            </a:r>
          </a:p>
          <a:p>
            <a:pPr rtl="1" algn="r" marL="0" indent="0">
              <a:buNone/>
            </a:pPr>
            <a:r>
              <a:rPr sz="1200" lang="he-IL"/>
              <a:t>•  אל תחשפו את התיקון עצמו אלא את הכיוון בלבד.</a:t>
            </a:r>
          </a:p>
          <a:p>
            <a:pPr rtl="1" algn="r" marL="0" indent="0">
              <a:buNone/>
            </a:pPr>
            <a:r>
              <a:rPr sz="1200" lang="he-IL"/>
              <a:t>•  אם הכיתה נתקעת אחרי רמז 1, אמרו שהתיקון הראשון הוא באג התאריך כי הוא הגדול ביותר.</a:t>
            </a:r>
          </a:p>
          <a:p>
            <a:pPr rtl="1" algn="r" marL="0" indent="0">
              <a:buNone/>
            </a:pPr>
            <a:r>
              <a:rPr sz="1200" lang="he-IL"/>
              <a:t>•  מי שמתקן בסדר אחר מקבל סכומי ביניים שונים מהפנקס, אבל הסכום הסופי זהה.</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פנקס התיקונים, כ־2 דקות, שלב 3 של חלק ג׳ במחברת.</a:t>
            </a:r>
          </a:p>
          <a:p>
            <a:pPr rtl="1" algn="r" marL="0" indent="0">
              <a:buNone/>
            </a:pPr>
            <a:r>
              <a:rPr b="1" sz="1200" lang="he-IL"/>
              <a:t>מה אומרים</a:t>
            </a:r>
          </a:p>
          <a:p>
            <a:pPr rtl="1" algn="r" marL="0" indent="0">
              <a:buNone/>
            </a:pPr>
            <a:r>
              <a:rPr sz="1200" lang="he-IL"/>
              <a:t>•  הטבלה היא אותה תוצאה שהמחברת מדפיסה, וכל מספר בה נבדק: אחרי כל תיקון הסכום משתנה.</a:t>
            </a:r>
          </a:p>
          <a:p>
            <a:pPr rtl="1" algn="r" marL="0" indent="0">
              <a:buNone/>
            </a:pPr>
            <a:r>
              <a:rPr sz="1200" lang="he-IL"/>
              <a:t>•  לפני תיקונים 88,526.81.</a:t>
            </a:r>
          </a:p>
          <a:p>
            <a:pPr rtl="1" algn="r" marL="0" indent="0">
              <a:buNone/>
            </a:pPr>
            <a:r>
              <a:rPr sz="1200" lang="he-IL"/>
              <a:t>•  אחרי תיקון התאריך 221,849.03: הסכום קופץ מעבר ל־177,597.89 כי הכפילויות עדיין שם.</a:t>
            </a:r>
          </a:p>
          <a:p>
            <a:pPr rtl="1" algn="r" marL="0" indent="0">
              <a:buNone/>
            </a:pPr>
            <a:r>
              <a:rPr sz="1200" lang="he-IL"/>
              <a:t>•  אחרי הטווח 225,051.21, כי נוספו הזמנות מ־1 ביולי.</a:t>
            </a:r>
          </a:p>
          <a:p>
            <a:pPr rtl="1" algn="r" marL="0" indent="0">
              <a:buNone/>
            </a:pPr>
            <a:r>
              <a:rPr sz="1200" lang="he-IL"/>
              <a:t>•  אחרי הסרת הזמנות כפולות 222,175.27, ואחרי הסרת ספקים כפולים 177,597.89, בדיוק כמו הנהלת החשבונות.</a:t>
            </a:r>
          </a:p>
          <a:p>
            <a:pPr rtl="1" algn="r" marL="0" indent="0">
              <a:buNone/>
            </a:pPr>
            <a:r>
              <a:rPr b="1" sz="1200" lang="he-IL"/>
              <a:t>שימו לב</a:t>
            </a:r>
          </a:p>
          <a:p>
            <a:pPr rtl="1" algn="r" marL="0" indent="0">
              <a:buNone/>
            </a:pPr>
            <a:r>
              <a:rPr sz="1200" lang="he-IL"/>
              <a:t>•  העמודה הימנית בשקף היא מספר ההזמנות ברבעון לפני הצירוף (278, 779, 789, 778, 778), ואילו בעמודה rows שבמחברת סופרים שורות אחרי הצירוף (346, 982, 993, 976, 778).</a:t>
            </a:r>
          </a:p>
          <a:p>
            <a:pPr rtl="1" algn="r" marL="0" indent="0">
              <a:buNone/>
            </a:pPr>
            <a:r>
              <a:rPr sz="1200" lang="he-IL"/>
              <a:t>•  זה לא סתירה, כדאי להסביר.</a:t>
            </a:r>
          </a:p>
          <a:p>
            <a:pPr rtl="1" algn="r" marL="0" indent="0">
              <a:buNone/>
            </a:pPr>
            <a:r>
              <a:rPr sz="1200" lang="he-IL"/>
              <a:t>•  הדגישו: הסכום לא מתקרב בצורה חלקה, הוא קופץ מעבר ליעד ואז יורד, ומי שעוצר כשהסכום נראה קרוב יטעה.</a:t>
            </a:r>
          </a:p>
          <a:p>
            <a:pPr rtl="1" algn="r" marL="0" indent="0">
              <a:buNone/>
            </a:pPr>
            <a:r>
              <a:rPr sz="1200" lang="he-IL"/>
              <a:t>•  אם בחרו סדר אחר, סכומי הביניים ישתנו אך הסופי יתאים.</a:t>
            </a:r>
          </a:p>
          <a:p>
            <a:pPr rtl="1" algn="r" marL="0" indent="0">
              <a:buNone/>
            </a:pPr>
            <a:r>
              <a:rPr b="1" sz="1200" lang="he-IL"/>
              <a:t>שאלה לכיתה</a:t>
            </a:r>
          </a:p>
          <a:p>
            <a:pPr rtl="1" algn="r" marL="0" indent="0">
              <a:buNone/>
            </a:pPr>
            <a:r>
              <a:rPr sz="1200" lang="he-IL"/>
              <a:t>•  למה אחרי התיקון הראשון הסכום גבוה מדי?</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אופציונלי (כ־2.5 דקות), מתאים אחרי חלק ג׳ או כשיש זמן בסוף.</a:t>
            </a:r>
          </a:p>
          <a:p>
            <a:pPr rtl="1" algn="r" marL="0" indent="0">
              <a:buNone/>
            </a:pPr>
            <a:r>
              <a:rPr b="1" sz="1200" lang="he-IL"/>
              <a:t>מה אומרים</a:t>
            </a:r>
          </a:p>
          <a:p>
            <a:pPr rtl="1" algn="r" marL="0" indent="0">
              <a:buNone/>
            </a:pPr>
            <a:r>
              <a:rPr sz="1200" lang="he-IL"/>
              <a:t>•  הרעיון לפי אנדריאס צלר (Andreas Zeller, Why Programs Fail, 2009, וגם The Debugging Book באתר debuggingbook.org): טעות של מתכנת יוצרת פגם (defect) בקוד, הפגם גורם להדבקה (infection, וגם fault) במצב התוכנית, וההדבקה מתפשטת עד שהיא נראית כלפי חוץ ככשל (failure).</a:t>
            </a:r>
          </a:p>
          <a:p>
            <a:pPr rtl="1" algn="r" marL="0" indent="0">
              <a:buNone/>
            </a:pPr>
            <a:r>
              <a:rPr sz="1200" lang="he-IL"/>
              <a:t>•  בדוח שלנו: הבקשה בלי דוגמת נתונים הובילה לקוד בלי פורמט (פגם), הקוד יצר 1,847 תאריכי NaT בטבלה (הדבקה), והמשתמש ראה 88,527 במקום 177,598 (כשל).</a:t>
            </a:r>
          </a:p>
          <a:p>
            <a:pPr rtl="1" algn="r" marL="0" indent="0">
              <a:buNone/>
            </a:pPr>
            <a:r>
              <a:rPr sz="1200" lang="he-IL"/>
              <a:t>•  למה זה חשוב: כשל הוא מה שרואים, אבל התיקון נעשה בפגם, וההדבקה היא מה שאפשר למדוד בדרך.</a:t>
            </a:r>
          </a:p>
          <a:p>
            <a:pPr rtl="1" algn="r" marL="0" indent="0">
              <a:buNone/>
            </a:pPr>
            <a:r>
              <a:rPr sz="1200" lang="he-IL"/>
              <a:t>•  לכן הוספת הפער לסכום, תיקון בכשל, היא טלאי, וספירת ה־NaT היא מדידה של ההדבקה.</a:t>
            </a:r>
          </a:p>
          <a:p>
            <a:pPr rtl="1" algn="r" marL="0" indent="0">
              <a:buNone/>
            </a:pPr>
            <a:r>
              <a:rPr sz="1200" lang="he-IL"/>
              <a:t>•  השיטה המדעית של צלר לדיבוג: שאלה על ההתנהגות, השערה, תחזית שנגזרת ממנה, ניסוי, וחוזרים עד שההשערות והתצפיות מתיישבות.</a:t>
            </a:r>
          </a:p>
          <a:p>
            <a:pPr rtl="1" algn="r" marL="0" indent="0">
              <a:buNone/>
            </a:pPr>
            <a:r>
              <a:rPr sz="1200" lang="he-IL"/>
              <a:t>•  זה מה שעשינו כשכתבנו תחזית לפני כל הרצה במחברת.</a:t>
            </a:r>
          </a:p>
          <a:p>
            <a:pPr rtl="1" algn="r" marL="0" indent="0">
              <a:buNone/>
            </a:pPr>
            <a:r>
              <a:rPr b="1" sz="1200" lang="he-IL"/>
              <a:t>שאלה לכיתה</a:t>
            </a:r>
          </a:p>
          <a:p>
            <a:pPr rtl="1" algn="r" marL="0" indent="0">
              <a:buNone/>
            </a:pPr>
            <a:r>
              <a:rPr sz="1200" lang="he-IL"/>
              <a:t>•  איזה שלב בשרשרת מודד count_nat?</a:t>
            </a:r>
          </a:p>
          <a:p>
            <a:pPr rtl="1" algn="r" marL="0" indent="0">
              <a:buNone/>
            </a:pPr>
            <a:r>
              <a:rPr sz="1200" lang="he-IL"/>
              <a:t>•  (ההדבקה).</a:t>
            </a:r>
          </a:p>
          <a:p>
            <a:pPr rtl="1" algn="r" marL="0" indent="0">
              <a:buNone/>
            </a:pPr>
            <a:r>
              <a:rPr sz="1200" lang="he-IL"/>
              <a:t>•  הבחנה בין עובדה להמלצה: ההגדרות הן ספרות מבוססת; החיבור לדוח שלנו הוא ניתוח שלנו.</a:t>
            </a:r>
          </a:p>
          <a:p>
            <a:pPr rtl="1" algn="r" marL="0" indent="0">
              <a:buNone/>
            </a:pPr>
            <a:r>
              <a:rPr b="1" sz="1200" lang="he-IL"/>
              <a:t>מתי לדלג</a:t>
            </a:r>
          </a:p>
          <a:p>
            <a:pPr rtl="1" algn="r" marL="0" indent="0">
              <a:buNone/>
            </a:pPr>
            <a:r>
              <a:rPr sz="1200" lang="he-IL"/>
              <a:t>•  אם הכיתה עייפה, קראו רק את ארבעת הריבועים.</a:t>
            </a:r>
          </a:p>
          <a:p>
            <a:pPr rtl="1" algn="r" marL="0" indent="0">
              <a:buNone/>
            </a:pPr>
            <a:r>
              <a:rPr b="1" sz="1200" lang="he-IL"/>
              <a:t>מקורות</a:t>
            </a:r>
          </a:p>
          <a:p>
            <a:pPr rtl="1" algn="r" marL="0" indent="0">
              <a:buNone/>
            </a:pPr>
            <a:r>
              <a:rPr sz="1200" lang="he-IL"/>
              <a:t>•  Zeller (2009); debuggingbook.org, פרק Introduction to Debugging (נפתח ב־22.10.2026).</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חלק ג׳ (12 דקות, ואחריו מעבדה ג׳).</a:t>
            </a:r>
          </a:p>
          <a:p>
            <a:pPr rtl="1" algn="r" marL="0" indent="0">
              <a:buNone/>
            </a:pPr>
            <a:r>
              <a:rPr b="1" sz="1200" lang="he-IL"/>
              <a:t>מטרה</a:t>
            </a:r>
          </a:p>
          <a:p>
            <a:pPr rtl="1" algn="r" marL="0" indent="0">
              <a:buNone/>
            </a:pPr>
            <a:r>
              <a:rPr sz="1200" lang="he-IL"/>
              <a:t>•  איך מדברים נכון עם ה־AI על באג, ואיך מונעים שיחזור.</a:t>
            </a:r>
          </a:p>
          <a:p>
            <a:pPr rtl="1" algn="r" marL="0" indent="0">
              <a:buNone/>
            </a:pPr>
            <a:r>
              <a:rPr sz="1200" lang="he-IL"/>
              <a:t>•  השקף הראשון: תבנית של ארבעה חלקים שמסדרים ברשימה.</a:t>
            </a:r>
          </a:p>
          <a:p>
            <a:pPr rtl="1" algn="r" marL="0" indent="0">
              <a:buNone/>
            </a:pPr>
            <a:r>
              <a:rPr sz="1200" lang="he-IL"/>
              <a:t>•  1, קוד: הקטע הרלוונטי בלבד, ולא כל הקובץ.</a:t>
            </a:r>
          </a:p>
          <a:p>
            <a:pPr rtl="1" algn="r" marL="0" indent="0">
              <a:buNone/>
            </a:pPr>
            <a:r>
              <a:rPr sz="1200" lang="he-IL"/>
              <a:t>•  2, שגיאה או תוצאה: הטקסט המדויק.</a:t>
            </a:r>
          </a:p>
          <a:p>
            <a:pPr rtl="1" algn="r" marL="0" indent="0">
              <a:buNone/>
            </a:pPr>
            <a:r>
              <a:rPr sz="1200" lang="he-IL"/>
              <a:t>•  3, ציפייה: מה אמור היה לקרות, עם מספר, למשל 177,597.89.</a:t>
            </a:r>
          </a:p>
          <a:p>
            <a:pPr rtl="1" algn="r" marL="0" indent="0">
              <a:buNone/>
            </a:pPr>
            <a:r>
              <a:rPr sz="1200" lang="he-IL"/>
              <a:t>•  4, מה ניסיתי, ובנוסף בקשה מפורשת: קודם הסבר סיבה, ורק אז תיקון.</a:t>
            </a:r>
          </a:p>
          <a:p>
            <a:pPr rtl="1" algn="r" marL="0" indent="0">
              <a:buNone/>
            </a:pPr>
            <a:r>
              <a:rPr b="1" sz="1200" lang="he-IL"/>
              <a:t>אנלוגיה</a:t>
            </a:r>
          </a:p>
          <a:p>
            <a:pPr rtl="1" algn="r" marL="0" indent="0">
              <a:buNone/>
            </a:pPr>
            <a:r>
              <a:rPr sz="1200" lang="he-IL"/>
              <a:t>•  הזמנת סיוע מטכנאי חיצוני, אתם נותנים מספר מכונה, תיאור התקלה, מה הייתה אמורה לעשות ומה כבר ניסיתם.</a:t>
            </a:r>
          </a:p>
          <a:p>
            <a:pPr rtl="1" algn="r" marL="0" indent="0">
              <a:buNone/>
            </a:pPr>
            <a:r>
              <a:rPr sz="1200" lang="he-IL"/>
              <a:t>•  זו התבנית שהסטודנטים בונים בקוד במעבדה ג׳ (build_debug_request), ועכשיו הרחבה לבאג שקט.</a:t>
            </a:r>
          </a:p>
          <a:p>
            <a:pPr rtl="1" algn="r" marL="0" indent="0">
              <a:buNone/>
            </a:pPr>
            <a:r>
              <a:rPr b="1" sz="1200" lang="he-IL"/>
              <a:t>שאלה לכיתה</a:t>
            </a:r>
          </a:p>
          <a:p>
            <a:pPr rtl="1" algn="r" marL="0" indent="0">
              <a:buNone/>
            </a:pPr>
            <a:r>
              <a:rPr sz="1200" lang="he-IL"/>
              <a:t>•  איזה חלק היה חסר בשורת השגיאה לבדה, בשקף הטעות הנפוצה?</a:t>
            </a:r>
          </a:p>
          <a:p>
            <a:pPr rtl="1" algn="r" marL="0" indent="0">
              <a:buNone/>
            </a:pPr>
            <a:r>
              <a:rPr sz="1200" lang="he-IL"/>
              <a:t>•  הדגישו שהתבנית חוסכת סבבי שאלות ותשובות מיותרים.</a:t>
            </a:r>
          </a:p>
          <a:p>
            <a:pPr rtl="1" algn="r" marL="0" indent="0">
              <a:buNone/>
            </a:pPr>
            <a:r>
              <a:rPr b="1" sz="1200" lang="he-IL"/>
              <a:t>חיבור לשיעורים קודמים</a:t>
            </a:r>
          </a:p>
          <a:p>
            <a:pPr rtl="1" algn="r" marL="0" indent="0">
              <a:buNone/>
            </a:pPr>
            <a:r>
              <a:rPr sz="1200" lang="he-IL"/>
              <a:t>•  ארבעת חלקי הבקשה הם יישום של ניסוח בקשה (נושא מפגש 3 לפי הסילבוס: הנדסת פרומפטים) ושל מסירת הקשר רלוונטי בלבד (נושא מפגש 4 לפי הסילבוס: הנדסת הקשר).</a:t>
            </a:r>
          </a:p>
          <a:p>
            <a:pPr rtl="1" algn="r" marL="0" indent="0">
              <a:buNone/>
            </a:pPr>
            <a:r>
              <a:rPr sz="1200" lang="he-IL"/>
              <a:t>•  אל תפרטו מה נלמד שם מעבר לנושא, ושאלו את הכיתה מה היא זוכרת.</a:t>
            </a:r>
          </a:p>
          <a:p>
            <a:pPr rtl="1" algn="r" marL="0" indent="0">
              <a:buNone/>
            </a:pPr>
            <a:r>
              <a:rPr sz="1200" lang="he-IL"/>
              <a:t>•  ממפגש 2: חלון ההקשר מוגבל, ולכן מדביקים רק את הקטע הרלוונטי.</a:t>
            </a:r>
          </a:p>
          <a:p>
            <a:pPr rtl="1" algn="r" marL="0" indent="0">
              <a:buNone/>
            </a:pPr>
            <a:r>
              <a:rPr b="1" sz="1200" lang="he-IL"/>
              <a:t>שאלת היזכרות</a:t>
            </a:r>
          </a:p>
          <a:p>
            <a:pPr rtl="1" algn="r" marL="0" indent="0">
              <a:buNone/>
            </a:pPr>
            <a:r>
              <a:rPr sz="1200" lang="he-IL"/>
              <a:t>•  מה קורה כשמדביקים 500 שורות ״ליתר ביטחון״?</a:t>
            </a:r>
          </a:p>
          <a:p>
            <a:pPr rtl="1" algn="r" marL="0" indent="0">
              <a:buNone/>
            </a:pPr>
            <a:r>
              <a:rPr b="1" sz="1200" lang="he-IL"/>
              <a:t>תשובה</a:t>
            </a:r>
          </a:p>
          <a:p>
            <a:pPr rtl="1" algn="r" marL="0" indent="0">
              <a:buNone/>
            </a:pPr>
            <a:r>
              <a:rPr sz="1200" lang="he-IL"/>
              <a:t>•  החלון מתמלא וההחלטות של המודל מאבדות חדות (מפגש 2).</a:t>
            </a:r>
          </a:p>
          <a:p>
            <a:pPr rtl="1" algn="r" marL="0" indent="0">
              <a:buNone/>
            </a:pPr>
            <a:r>
              <a:rPr sz="1200" lang="he-IL"/>
              <a:t>•  אם הכיתה לא זוכרת, חזרו לשקף הטעות הנפוצה בחלק א׳.</a:t>
            </a:r>
          </a:p>
          <a:p>
            <a:pPr rtl="1" algn="r" marL="0" indent="0">
              <a:buNone/>
            </a:pPr>
            <a:r>
              <a:rPr b="1" sz="1200" lang="he-IL"/>
              <a:t>להעמקה</a:t>
            </a:r>
          </a:p>
          <a:p>
            <a:pPr rtl="1" algn="r" marL="0" indent="0">
              <a:buNone/>
            </a:pPr>
            <a:r>
              <a:rPr sz="1200" lang="he-IL"/>
              <a:t>•  איכות המשוב קובעת את איכות התיקון.</a:t>
            </a:r>
          </a:p>
          <a:p>
            <a:pPr rtl="1" algn="r" marL="0" indent="0">
              <a:buNone/>
            </a:pPr>
            <a:r>
              <a:rPr sz="1200" lang="he-IL"/>
              <a:t>•  Olausson ועמיתים (ICLR 2024) מצאו שצוואר הבקבוק בתיקון עצמי של מודלים הוא איכות המשוב על הקוד, וארבעת חלקי הבקשה הם דרך לספק משוב כזה בעצמכם.</a:t>
            </a:r>
          </a:p>
          <a:p>
            <a:pPr rtl="1" algn="r" marL="0" indent="0">
              <a:buNone/>
            </a:pPr>
            <a:r>
              <a:rPr sz="1200" lang="he-IL"/>
              <a:t>•  הניסוח הסבר סיבה לפני תיקון הוא המלצת פרקטיקה שלנו ולא ממצא ספציפי של מחקר.</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לולאת תיקונים (כ־2 דקות).</a:t>
            </a:r>
          </a:p>
          <a:p>
            <a:pPr rtl="1" algn="r" marL="0" indent="0">
              <a:buNone/>
            </a:pPr>
            <a:r>
              <a:rPr b="1" sz="1200" lang="he-IL"/>
              <a:t>מה אומרים</a:t>
            </a:r>
          </a:p>
          <a:p>
            <a:pPr rtl="1" algn="r" marL="0" indent="0">
              <a:buNone/>
            </a:pPr>
            <a:r>
              <a:rPr sz="1200" lang="he-IL"/>
              <a:t>•  חשוב לומר בקול: זהו תרחיש להמחשה ולא תמלול אמיתי של שיחה, שנבנה כדי להראות דפוס שחוזר בפועל.</a:t>
            </a:r>
          </a:p>
          <a:p>
            <a:pPr rtl="1" algn="r" marL="0" indent="0">
              <a:buNone/>
            </a:pPr>
            <a:r>
              <a:rPr sz="1200" lang="he-IL"/>
              <a:t>•  הקריאה: ארבעה טלאים בזה אחר זה.</a:t>
            </a:r>
          </a:p>
          <a:p>
            <a:pPr rtl="1" algn="r" marL="0" indent="0">
              <a:buNone/>
            </a:pPr>
            <a:r>
              <a:rPr sz="1200" lang="he-IL"/>
              <a:t>•  טלאי 1 מוסיף try/except כדי שלא יופיעו שגיאות, כלומר מסתירים את הסימפטום.</a:t>
            </a:r>
          </a:p>
          <a:p>
            <a:pPr rtl="1" algn="r" marL="0" indent="0">
              <a:buNone/>
            </a:pPr>
            <a:r>
              <a:rPr sz="1200" lang="he-IL"/>
              <a:t>•  טלאי 2 מעגל מספרים.</a:t>
            </a:r>
          </a:p>
          <a:p>
            <a:pPr rtl="1" algn="r" marL="0" indent="0">
              <a:buNone/>
            </a:pPr>
            <a:r>
              <a:rPr sz="1200" lang="he-IL"/>
              <a:t>•  טלאי 3 מסנן ערכים שליליים.</a:t>
            </a:r>
          </a:p>
          <a:p>
            <a:pPr rtl="1" algn="r" marL="0" indent="0">
              <a:buNone/>
            </a:pPr>
            <a:r>
              <a:rPr sz="1200" lang="he-IL"/>
              <a:t>•  טלאי 4, הגרוע ביותר, מחסיר סכום קבוע כדי להתקרב למספר הנכון, ניסיון להתאים את התוצאה ידנית.</a:t>
            </a:r>
          </a:p>
          <a:p>
            <a:pPr rtl="1" algn="r" marL="0" indent="0">
              <a:buNone/>
            </a:pPr>
            <a:r>
              <a:rPr sz="1200" lang="he-IL"/>
              <a:t>•  בצד שמאל, הבעיה האמיתית לא נגעו בה: תאריכים שנקראו הפוך ושורות כפולות.</a:t>
            </a:r>
          </a:p>
          <a:p>
            <a:pPr rtl="1" algn="r" marL="0" indent="0">
              <a:buNone/>
            </a:pPr>
            <a:r>
              <a:rPr sz="1200" lang="he-IL"/>
              <a:t>•  כל טלאי מוסיף קוד ושינה את התוצאה, אבל לא פתר שורש.</a:t>
            </a:r>
          </a:p>
          <a:p>
            <a:pPr rtl="1" algn="r" marL="0" indent="0">
              <a:buNone/>
            </a:pPr>
            <a:r>
              <a:rPr b="1" sz="1200" lang="he-IL"/>
              <a:t>אנלוגיה</a:t>
            </a:r>
          </a:p>
          <a:p>
            <a:pPr rtl="1" algn="r" marL="0" indent="0">
              <a:buNone/>
            </a:pPr>
            <a:r>
              <a:rPr sz="1200" lang="he-IL"/>
              <a:t>•  מכונה שמתחממת, ומוסיפים מאוורר, אחר כך מעלים את סף ההתראה, ובסוף מכבים את החיישן.</a:t>
            </a:r>
          </a:p>
          <a:p>
            <a:pPr rtl="1" algn="r" marL="0" indent="0">
              <a:buNone/>
            </a:pPr>
            <a:r>
              <a:rPr b="1" sz="1200" lang="he-IL"/>
              <a:t>שאלה לכיתה</a:t>
            </a:r>
          </a:p>
          <a:p>
            <a:pPr rtl="1" algn="r" marL="0" indent="0">
              <a:buNone/>
            </a:pPr>
            <a:r>
              <a:rPr sz="1200" lang="he-IL"/>
              <a:t>•  איך מזהים שה־AI מטלא?</a:t>
            </a:r>
          </a:p>
          <a:p>
            <a:pPr rtl="1" algn="r" marL="0" indent="0">
              <a:buNone/>
            </a:pPr>
            <a:r>
              <a:rPr b="1" sz="1200" lang="he-IL"/>
              <a:t>תשובה</a:t>
            </a:r>
          </a:p>
          <a:p>
            <a:pPr rtl="1" algn="r" marL="0" indent="0">
              <a:buNone/>
            </a:pPr>
            <a:r>
              <a:rPr sz="1200" lang="he-IL"/>
              <a:t>•  הקוד גדל, שגיאות נעלמות ללא הסבר, והסכום מכוון ידנית.</a:t>
            </a:r>
          </a:p>
          <a:p>
            <a:pPr rtl="1" algn="r" marL="0" indent="0">
              <a:buNone/>
            </a:pPr>
            <a:r>
              <a:rPr b="1" sz="1200" lang="he-IL"/>
              <a:t>חיבור לשיעורים קודמים</a:t>
            </a:r>
          </a:p>
          <a:p>
            <a:pPr rtl="1" algn="r" marL="0" indent="0">
              <a:buNone/>
            </a:pPr>
            <a:r>
              <a:rPr sz="1200" lang="he-IL"/>
              <a:t>•  מפגש 2, חלון הקשר מזוהם.</a:t>
            </a:r>
          </a:p>
          <a:p>
            <a:pPr rtl="1" algn="r" marL="0" indent="0">
              <a:buNone/>
            </a:pPr>
            <a:r>
              <a:rPr sz="1200" lang="he-IL"/>
              <a:t>•  הקשר עמוס מקטין את החדות של ההחלטות של המודל, ולכן שיחה ארוכה מלאה בטלאים כושלים הולכת ומחמירה.</a:t>
            </a:r>
          </a:p>
          <a:p>
            <a:pPr rtl="1" algn="r" marL="0" indent="0">
              <a:buNone/>
            </a:pPr>
            <a:r>
              <a:rPr sz="1200" lang="he-IL"/>
              <a:t>•  העיקרון המעשי שלמדנו שם: שיחה חדשה לכל משימה חדשה.</a:t>
            </a:r>
          </a:p>
          <a:p>
            <a:pPr rtl="1" algn="r" marL="0" indent="0">
              <a:buNone/>
            </a:pPr>
            <a:r>
              <a:rPr b="1" sz="1200" lang="he-IL"/>
              <a:t>שאלת היזכרות</a:t>
            </a:r>
          </a:p>
          <a:p>
            <a:pPr rtl="1" algn="r" marL="0" indent="0">
              <a:buNone/>
            </a:pPr>
            <a:r>
              <a:rPr sz="1200" lang="he-IL"/>
              <a:t>•  מה קורה להוראה מההודעה הראשונה אחרי 40 הודעות?</a:t>
            </a:r>
          </a:p>
          <a:p>
            <a:pPr rtl="1" algn="r" marL="0" indent="0">
              <a:buNone/>
            </a:pPr>
            <a:r>
              <a:rPr b="1" sz="1200" lang="he-IL"/>
              <a:t>תשובה</a:t>
            </a:r>
          </a:p>
          <a:p>
            <a:pPr rtl="1" algn="r" marL="0" indent="0">
              <a:buNone/>
            </a:pPr>
            <a:r>
              <a:rPr sz="1200" lang="he-IL"/>
              <a:t>•  ייתכן שהיא כבר לא בחלון או קבורה באמצע הקשר ארוך.</a:t>
            </a:r>
          </a:p>
          <a:p>
            <a:pPr rtl="1" algn="r" marL="0" indent="0">
              <a:buNone/>
            </a:pPr>
            <a:r>
              <a:rPr sz="1200" lang="he-IL"/>
              <a:t>•  אם הכיתה לא זוכרת, הצביעו על ארבעת הטלאים ושאלו כמה קוד נוסף נכנס לשיחה.</a:t>
            </a:r>
          </a:p>
          <a:p>
            <a:pPr rtl="1" algn="r" marL="0" indent="0">
              <a:buNone/>
            </a:pPr>
            <a:r>
              <a:rPr b="1" sz="1200" lang="he-IL"/>
              <a:t>להעמקה</a:t>
            </a:r>
          </a:p>
          <a:p>
            <a:pPr rtl="1" algn="r" marL="0" indent="0">
              <a:buNone/>
            </a:pPr>
            <a:r>
              <a:rPr sz="1200" lang="he-IL"/>
              <a:t>•  ראו את שקף ההעשרה על תיקון עצמי.</a:t>
            </a:r>
          </a:p>
          <a:p>
            <a:pPr rtl="1" algn="r" marL="0" indent="0">
              <a:buNone/>
            </a:pPr>
            <a:r>
              <a:rPr sz="1200" lang="he-IL"/>
              <a:t>•  המחקר של Olausson ועמיתים (2024) מראה שהרווח מתיקון עצמי צנוע; ההתנהגות של טלאים היא תצפית נפוצה, ולא ממצא כמותי שבדקנו.</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כלל העצירה (כ־1.5 דקות).</a:t>
            </a:r>
          </a:p>
          <a:p>
            <a:pPr rtl="1" algn="r" marL="0" indent="0">
              <a:buNone/>
            </a:pPr>
            <a:r>
              <a:rPr b="1" sz="1200" lang="he-IL"/>
              <a:t>מה אומרים</a:t>
            </a:r>
          </a:p>
          <a:p>
            <a:pPr rtl="1" algn="r" marL="0" indent="0">
              <a:buNone/>
            </a:pPr>
            <a:r>
              <a:rPr sz="1200" lang="he-IL"/>
              <a:t>•  הקריאה היא מימין לשמאל: ניסיון 1 נכשל, ניסיון 2 נכשל, עוצרים, ופותחים שיחה חדשה עם סיכום.</a:t>
            </a:r>
          </a:p>
          <a:p>
            <a:pPr rtl="1" algn="r" marL="0" indent="0">
              <a:buNone/>
            </a:pPr>
            <a:r>
              <a:rPr sz="1200" lang="he-IL"/>
              <a:t>•  הכלל מבוסס על ניסיון: שיחה ארוכה מלאה בניסיונות כושלים מזהמת את חלון ההקשר (מפגש 2), וה־AI מתחיל לחזור על אותן הצעות.</a:t>
            </a:r>
          </a:p>
          <a:p>
            <a:pPr rtl="1" algn="r" marL="0" indent="0">
              <a:buNone/>
            </a:pPr>
            <a:r>
              <a:rPr sz="1200" lang="he-IL"/>
              <a:t>•  הסיכום לשיחה החדשה הוא ארבעה פריטים: מה צפוי, מה בפועל, מה כבר נבדק ומה ההשערה הנוכחית, ללא ההיסטוריה הארוכה.</a:t>
            </a:r>
          </a:p>
          <a:p>
            <a:pPr rtl="1" algn="r" marL="0" indent="0">
              <a:buNone/>
            </a:pPr>
            <a:r>
              <a:rPr sz="1200" lang="he-IL"/>
              <a:t>•  זה גם גורם לכם לחשוב מחדש.</a:t>
            </a:r>
          </a:p>
          <a:p>
            <a:pPr rtl="1" algn="r" marL="0" indent="0">
              <a:buNone/>
            </a:pPr>
            <a:r>
              <a:rPr b="1" sz="1200" lang="he-IL"/>
              <a:t>אנלוגיה</a:t>
            </a:r>
          </a:p>
          <a:p>
            <a:pPr rtl="1" algn="r" marL="0" indent="0">
              <a:buNone/>
            </a:pPr>
            <a:r>
              <a:rPr sz="1200" lang="he-IL"/>
              <a:t>•  מעבר משמרת, מוסרים סיכום קצר ולא את כל יומן הלילה.</a:t>
            </a:r>
          </a:p>
          <a:p>
            <a:pPr rtl="1" algn="r" marL="0" indent="0">
              <a:buNone/>
            </a:pPr>
            <a:r>
              <a:rPr sz="1200" lang="he-IL"/>
              <a:t>•  הסבירו שבשיחה החדשה כדאי לצרף גם את התוצאה של בדיקות השפיות.</a:t>
            </a:r>
          </a:p>
          <a:p>
            <a:pPr rtl="1" algn="r" marL="0" indent="0">
              <a:buNone/>
            </a:pPr>
            <a:r>
              <a:rPr b="1" sz="1200" lang="he-IL"/>
              <a:t>שאלה לכיתה</a:t>
            </a:r>
          </a:p>
          <a:p>
            <a:pPr rtl="1" algn="r" marL="0" indent="0">
              <a:buNone/>
            </a:pPr>
            <a:r>
              <a:rPr sz="1200" lang="he-IL"/>
              <a:t>•  מה הסימן שהגיע הזמן לעצור?</a:t>
            </a:r>
          </a:p>
          <a:p>
            <a:pPr rtl="1" algn="r" marL="0" indent="0">
              <a:buNone/>
            </a:pPr>
            <a:r>
              <a:rPr b="1" sz="1200" lang="he-IL"/>
              <a:t>תשובה</a:t>
            </a:r>
          </a:p>
          <a:p>
            <a:pPr rtl="1" algn="r" marL="0" indent="0">
              <a:buNone/>
            </a:pPr>
            <a:r>
              <a:rPr sz="1200" lang="he-IL"/>
              <a:t>•  אותה שגיאה או קוד שגדל ללא התקדמות.</a:t>
            </a:r>
          </a:p>
          <a:p>
            <a:pPr rtl="1" algn="r" marL="0" indent="0">
              <a:buNone/>
            </a:pPr>
            <a:r>
              <a:rPr b="1" sz="1200" lang="he-IL"/>
              <a:t>טעות נפוצה</a:t>
            </a:r>
          </a:p>
          <a:p>
            <a:pPr rtl="1" algn="r" marL="0" indent="0">
              <a:buNone/>
            </a:pPr>
            <a:r>
              <a:rPr sz="1200" lang="he-IL"/>
              <a:t>•  להמשיך לנסות עוד פעם אחת, זה נשמע זול אבל לרוב מייקר.</a:t>
            </a:r>
          </a:p>
          <a:p>
            <a:pPr rtl="1" algn="r" marL="0" indent="0">
              <a:buNone/>
            </a:pPr>
            <a:r>
              <a:rPr b="1" sz="1200" lang="he-IL"/>
              <a:t>חיבור לשיעורים קודמים</a:t>
            </a:r>
          </a:p>
          <a:p>
            <a:pPr rtl="1" algn="r" marL="0" indent="0">
              <a:buNone/>
            </a:pPr>
            <a:r>
              <a:rPr sz="1200" lang="he-IL"/>
              <a:t>•  מפגש 6, אפשר גם להחזיר את הקוד ל־commit האחרון לפני הלולאה.</a:t>
            </a:r>
          </a:p>
          <a:p>
            <a:pPr rtl="1" algn="r" marL="0" indent="0">
              <a:buNone/>
            </a:pPr>
            <a:r>
              <a:rPr b="1" sz="1200" lang="he-IL"/>
              <a:t>שאלת היזכרות</a:t>
            </a:r>
          </a:p>
          <a:p>
            <a:pPr rtl="1" algn="r" marL="0" indent="0">
              <a:buNone/>
            </a:pPr>
            <a:r>
              <a:rPr sz="1200" lang="he-IL"/>
              <a:t>•  מה הכלל של מפגש 6 לפני שהסוכן פועל?</a:t>
            </a:r>
          </a:p>
          <a:p>
            <a:pPr rtl="1" algn="r" marL="0" indent="0">
              <a:buNone/>
            </a:pPr>
            <a:r>
              <a:rPr b="1" sz="1200" lang="he-IL"/>
              <a:t>תשובה</a:t>
            </a:r>
          </a:p>
          <a:p>
            <a:pPr rtl="1" algn="r" marL="0" indent="0">
              <a:buNone/>
            </a:pPr>
            <a:r>
              <a:rPr sz="1200" lang="he-IL"/>
              <a:t>•  commit, ואחריו קוראים diff.</a:t>
            </a:r>
          </a:p>
          <a:p>
            <a:pPr rtl="1" algn="r" marL="0" indent="0">
              <a:buNone/>
            </a:pPr>
            <a:r>
              <a:rPr sz="1200" lang="he-IL"/>
              <a:t>•  הכלל הזה הוא מה שמאפשר לעצור בבטחה: אם הלולאה הזיקה, חוזרים ל־commit האחרון ופותחים שיחה חדשה עם סיכום.</a:t>
            </a:r>
          </a:p>
          <a:p>
            <a:pPr rtl="1" algn="r" marL="0" indent="0">
              <a:buNone/>
            </a:pPr>
            <a:r>
              <a:rPr sz="1200" lang="he-IL"/>
              <a:t>•  אם הכיתה לא זוכרת, כתבו על הלוח: commit לפני, diff אחרי.</a:t>
            </a:r>
          </a:p>
          <a:p>
            <a:pPr rtl="1" algn="r" marL="0" indent="0">
              <a:buNone/>
            </a:pPr>
            <a:r>
              <a:rPr b="1" sz="1200" lang="he-IL"/>
              <a:t>להעמקה</a:t>
            </a:r>
          </a:p>
          <a:p>
            <a:pPr rtl="1" algn="r" marL="0" indent="0">
              <a:buNone/>
            </a:pPr>
            <a:r>
              <a:rPr sz="1200" lang="he-IL"/>
              <a:t>•  Adnan ו־Kuhn (2025, arXiv) מדווחים על דעיכה: רוב המודלים מאבדים 60 עד 80 אחוז מיכולת הדיבוג תוך 2 עד 3 ניסיונות.</a:t>
            </a:r>
          </a:p>
          <a:p>
            <a:pPr rtl="1" algn="r" marL="0" indent="0">
              <a:buNone/>
            </a:pPr>
            <a:r>
              <a:rPr sz="1200" lang="he-IL"/>
              <a:t>•  זה תומך בכלל העצירה, אבל המאמר הוא פרסום מקדים שנבדק על מודלים ובנצ'מרקים מסוימים, ולכן עצירה אחרי שני כשלונות היא יוריסטיקה פרקטית ולא חוק.</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סולם 5 למה (כ־2 דקות).</a:t>
            </a:r>
          </a:p>
          <a:p>
            <a:pPr rtl="1" algn="r" marL="0" indent="0">
              <a:buNone/>
            </a:pPr>
            <a:r>
              <a:rPr b="1" sz="1200" lang="he-IL"/>
              <a:t>מה אומרים</a:t>
            </a:r>
          </a:p>
          <a:p>
            <a:pPr rtl="1" algn="r" marL="0" indent="0">
              <a:buNone/>
            </a:pPr>
            <a:r>
              <a:rPr sz="1200" lang="he-IL"/>
              <a:t>•  קראו מלמעלה למטה: כל שורה היא התשובה ל־למה על השורה שמעליה.</a:t>
            </a:r>
          </a:p>
          <a:p>
            <a:pPr rtl="1" algn="r" marL="0" indent="0">
              <a:buNone/>
            </a:pPr>
            <a:r>
              <a:rPr sz="1200" lang="he-IL"/>
              <a:t>•  הסימפטום: הסכום נמוך ב־50 אחוז.</a:t>
            </a:r>
          </a:p>
          <a:p>
            <a:pPr rtl="1" algn="r" marL="0" indent="0">
              <a:buNone/>
            </a:pPr>
            <a:r>
              <a:rPr sz="1200" lang="he-IL"/>
              <a:t>•  למה?</a:t>
            </a:r>
          </a:p>
          <a:p>
            <a:pPr rtl="1" algn="r" marL="0" indent="0">
              <a:buNone/>
            </a:pPr>
            <a:r>
              <a:rPr sz="1200" lang="he-IL"/>
              <a:t>•  כי תאריכים רבים נקראו כ־NaT והוסרו (1,847 מתוך 3,040).</a:t>
            </a:r>
          </a:p>
          <a:p>
            <a:pPr rtl="1" algn="r" marL="0" indent="0">
              <a:buNone/>
            </a:pPr>
            <a:r>
              <a:rPr sz="1200" lang="he-IL"/>
              <a:t>•  למה?</a:t>
            </a:r>
          </a:p>
          <a:p>
            <a:pPr rtl="1" algn="r" marL="0" indent="0">
              <a:buNone/>
            </a:pPr>
            <a:r>
              <a:rPr sz="1200" lang="he-IL"/>
              <a:t>•  כי הקוד לא ציין פורמט תאריך.</a:t>
            </a:r>
          </a:p>
          <a:p>
            <a:pPr rtl="1" algn="r" marL="0" indent="0">
              <a:buNone/>
            </a:pPr>
            <a:r>
              <a:rPr sz="1200" lang="he-IL"/>
              <a:t>•  למה?</a:t>
            </a:r>
          </a:p>
          <a:p>
            <a:pPr rtl="1" algn="r" marL="0" indent="0">
              <a:buNone/>
            </a:pPr>
            <a:r>
              <a:rPr sz="1200" lang="he-IL"/>
              <a:t>•  כי ה־AI הניח פורמט ברירת מחדל (חודש/יום).</a:t>
            </a:r>
          </a:p>
          <a:p>
            <a:pPr rtl="1" algn="r" marL="0" indent="0">
              <a:buNone/>
            </a:pPr>
            <a:r>
              <a:rPr sz="1200" lang="he-IL"/>
              <a:t>•  למה?</a:t>
            </a:r>
          </a:p>
          <a:p>
            <a:pPr rtl="1" algn="r" marL="0" indent="0">
              <a:buNone/>
            </a:pPr>
            <a:r>
              <a:rPr sz="1200" lang="he-IL"/>
              <a:t>•  כי הבקשה לא כללה דוגמת נתונים.</a:t>
            </a:r>
          </a:p>
          <a:p>
            <a:pPr rtl="1" algn="r" marL="0" indent="0">
              <a:buNone/>
            </a:pPr>
            <a:r>
              <a:rPr sz="1200" lang="he-IL"/>
              <a:t>•  המניעה היא בחלק התחתון: להוסיף לבקשה דוגמת נתונים ולציין פורמט במפורש.</a:t>
            </a:r>
          </a:p>
          <a:p>
            <a:pPr rtl="1" algn="r" marL="0" indent="0">
              <a:buNone/>
            </a:pPr>
            <a:r>
              <a:rPr sz="1200" lang="he-IL"/>
              <a:t>•  הסבירו שהחמישה הם מספר גמיש, לא חובה ליותר או לפחות מ־5, הכוונה להמשיך עד שמגיעים לסיבה שאפשר למנוע.</a:t>
            </a:r>
          </a:p>
          <a:p>
            <a:pPr rtl="1" algn="r" marL="0" indent="0">
              <a:buNone/>
            </a:pPr>
            <a:r>
              <a:rPr b="1" sz="1200" lang="he-IL"/>
              <a:t>אנלוגיה</a:t>
            </a:r>
          </a:p>
          <a:p>
            <a:pPr rtl="1" algn="r" marL="0" indent="0">
              <a:buNone/>
            </a:pPr>
            <a:r>
              <a:rPr sz="1200" lang="he-IL"/>
              <a:t>•  תקלה בקו ייצור, מתחקרים עד השורש בשיטת 5 Whys, שמקובלת בתעשייה רזה ובניהול איכות.</a:t>
            </a:r>
          </a:p>
          <a:p>
            <a:pPr rtl="1" algn="r" marL="0" indent="0">
              <a:buNone/>
            </a:pPr>
            <a:r>
              <a:rPr sz="1200" lang="he-IL"/>
              <a:t>•  תוספת: שורש נוסף, שאף אחד לא בדק את הסכום מול הנהלת החשבונות, מציע בדיקת שפיות קבועה.</a:t>
            </a:r>
          </a:p>
          <a:p>
            <a:pPr rtl="1" algn="r" marL="0" indent="0">
              <a:buNone/>
            </a:pPr>
            <a:r>
              <a:rPr b="1" sz="1200" lang="he-IL"/>
              <a:t>שאלה לכיתה</a:t>
            </a:r>
          </a:p>
          <a:p>
            <a:pPr rtl="1" algn="r" marL="0" indent="0">
              <a:buNone/>
            </a:pPr>
            <a:r>
              <a:rPr sz="1200" lang="he-IL"/>
              <a:t>•  איפה התיקון של השורש נעשה, בקוד או בתהליך?</a:t>
            </a:r>
          </a:p>
          <a:p>
            <a:pPr rtl="1" algn="r" marL="0" indent="0">
              <a:buNone/>
            </a:pPr>
            <a:r>
              <a:rPr b="1" sz="1200" lang="he-IL"/>
              <a:t>תשובה</a:t>
            </a:r>
          </a:p>
          <a:p>
            <a:pPr rtl="1" algn="r" marL="0" indent="0">
              <a:buNone/>
            </a:pPr>
            <a:r>
              <a:rPr sz="1200" lang="he-IL"/>
              <a:t>•  שניהם.</a:t>
            </a:r>
          </a:p>
          <a:p>
            <a:pPr rtl="1" algn="r" marL="0" indent="0">
              <a:buNone/>
            </a:pPr>
            <a:r>
              <a:rPr b="1" sz="1200" lang="he-IL"/>
              <a:t>להעמקה</a:t>
            </a:r>
          </a:p>
          <a:p>
            <a:pPr rtl="1" algn="r" marL="0" indent="0">
              <a:buNone/>
            </a:pPr>
            <a:r>
              <a:rPr sz="1200" lang="he-IL"/>
              <a:t>•  5 Whys מיוחסת ל־Taiichi Ohno ולמערכת הייצור של טויוטה (Toyota Production System, 1978 ביפנית, 1988 באנגלית).</a:t>
            </a:r>
          </a:p>
          <a:p>
            <a:pPr rtl="1" algn="r" marL="0" indent="0">
              <a:buNone/>
            </a:pPr>
            <a:r>
              <a:rPr sz="1200" lang="he-IL"/>
              <a:t>•  ביקורת: Card (BMJ Quality &amp; Safety, 2017) מצביע על כך שמספר ה־Why שרירותי, שההיסק נשען על ניחוש ולא על תצפית, ושרשרת אחת מפספסת שורשים מקבילים; אצלנו יש ארבעה שורשים, ולכן עץ ולא שרשרת.</a:t>
            </a:r>
          </a:p>
          <a:p>
            <a:pPr rtl="1" algn="r" marL="0" indent="0">
              <a:buNone/>
            </a:pPr>
            <a:r>
              <a:rPr sz="1200" lang="he-IL"/>
              <a:t>•  ראו שקף ההעשרה.</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בדיקת רגרסיה והודעת commit (כ־2 דקות).</a:t>
            </a:r>
          </a:p>
          <a:p>
            <a:pPr rtl="1" algn="r" marL="0" indent="0">
              <a:buNone/>
            </a:pPr>
            <a:r>
              <a:rPr b="1" sz="1200" lang="he-IL"/>
              <a:t>מה אומרים</a:t>
            </a:r>
          </a:p>
          <a:p>
            <a:pPr rtl="1" algn="r" marL="0" indent="0">
              <a:buNone/>
            </a:pPr>
            <a:r>
              <a:rPr sz="1200" lang="he-IL"/>
              <a:t>•  למעלה בדיקה בסגנון pytest: מחשבת את הדוח המתוקן ובודקת שהסכום, אחרי עיגול, שווה ל־177,597.89.</a:t>
            </a:r>
          </a:p>
          <a:p>
            <a:pPr rtl="1" algn="r" marL="0" indent="0">
              <a:buNone/>
            </a:pPr>
            <a:r>
              <a:rPr sz="1200" lang="he-IL"/>
              <a:t>•  במחברת, הפונקציה test_regression מכילה שלוש בדיקות: סכום כולל, order_id ייחודי, והזמנות של 1 ביולי נכללות.</a:t>
            </a:r>
          </a:p>
          <a:p>
            <a:pPr rtl="1" algn="r" marL="0" indent="0">
              <a:buNone/>
            </a:pPr>
            <a:r>
              <a:rPr sz="1200" lang="he-IL"/>
              <a:t>•  במחברת נבדק שהסרת כל אחד מארבעת התיקונים גורמת לכשל, כלומר הבדיקות באמת תופסות את הבאג.</a:t>
            </a:r>
          </a:p>
          <a:p>
            <a:pPr rtl="1" algn="r" marL="0" indent="0">
              <a:buNone/>
            </a:pPr>
            <a:r>
              <a:rPr sz="1200" lang="he-IL"/>
              <a:t>•  למטה הודעת commit שמסבירה מה ולמה: Fix Q3 report: parse dd/mm/yyyy dates, include July 1, drop duplicate orders and suppliers.</a:t>
            </a:r>
          </a:p>
          <a:p>
            <a:pPr rtl="1" algn="r" marL="0" indent="0">
              <a:buNone/>
            </a:pPr>
            <a:r>
              <a:rPr sz="1200" lang="he-IL"/>
              <a:t>•  הדגישו: הודעה טובה מסבירה למה, ולא רק מה.</a:t>
            </a:r>
          </a:p>
          <a:p>
            <a:pPr rtl="1" algn="r" marL="0" indent="0">
              <a:buNone/>
            </a:pPr>
            <a:r>
              <a:rPr b="1" sz="1200" lang="he-IL"/>
              <a:t>אנלוגיה</a:t>
            </a:r>
          </a:p>
          <a:p>
            <a:pPr rtl="1" algn="r" marL="0" indent="0">
              <a:buNone/>
            </a:pPr>
            <a:r>
              <a:rPr sz="1200" lang="he-IL"/>
              <a:t>•  אחרי תיקון מכונה מוסיפים נוהל בדיקה קבוע כדי שהתקלה לא תחזור בשקט.</a:t>
            </a:r>
          </a:p>
          <a:p>
            <a:pPr rtl="1" algn="r" marL="0" indent="0">
              <a:buNone/>
            </a:pPr>
            <a:r>
              <a:rPr b="1" sz="1200" lang="he-IL"/>
              <a:t>שאלה לכיתה</a:t>
            </a:r>
          </a:p>
          <a:p>
            <a:pPr rtl="1" algn="r" marL="0" indent="0">
              <a:buNone/>
            </a:pPr>
            <a:r>
              <a:rPr sz="1200" lang="he-IL"/>
              <a:t>•  מה היתרון של הבדיקה מול תיעוד בלבד?</a:t>
            </a:r>
          </a:p>
          <a:p>
            <a:pPr rtl="1" algn="r" marL="0" indent="0">
              <a:buNone/>
            </a:pPr>
            <a:r>
              <a:rPr b="1" sz="1200" lang="he-IL"/>
              <a:t>תשובה</a:t>
            </a:r>
          </a:p>
          <a:p>
            <a:pPr rtl="1" algn="r" marL="0" indent="0">
              <a:buNone/>
            </a:pPr>
            <a:r>
              <a:rPr sz="1200" lang="he-IL"/>
              <a:t>•  היא רצה לבד.</a:t>
            </a:r>
          </a:p>
          <a:p>
            <a:pPr rtl="1" algn="r" marL="0" indent="0">
              <a:buNone/>
            </a:pPr>
            <a:r>
              <a:rPr b="1" sz="1200" lang="he-IL"/>
              <a:t>חיבור לשיעורים קודמים</a:t>
            </a:r>
          </a:p>
          <a:p>
            <a:pPr rtl="1" algn="r" marL="0" indent="0">
              <a:buNone/>
            </a:pPr>
            <a:r>
              <a:rPr sz="1200" lang="he-IL"/>
              <a:t>•  מפגש 8, בדיקות, ומפגש 6, commit.</a:t>
            </a:r>
          </a:p>
          <a:p>
            <a:pPr rtl="1" algn="r" marL="0" indent="0">
              <a:buNone/>
            </a:pPr>
            <a:r>
              <a:rPr sz="1200" lang="he-IL"/>
              <a:t>•  חשוב: הבדיקה צריכה להיכשל על הקוד הישן ולעבור על החדש, אחרת היא לא מוכיחה כלום.</a:t>
            </a:r>
          </a:p>
          <a:p>
            <a:pPr rtl="1" algn="r" marL="0" indent="0">
              <a:buNone/>
            </a:pPr>
            <a:r>
              <a:rPr sz="1200" lang="he-IL"/>
              <a:t>•  בדיקה חלשה כמו total גדול מ־100000 היא מהסוג שראינו במפגש 8 (בדיקות חלשות של AI: חמש בדיקות חלשות תפסו רק 2 מתוך 6 מוטנטים).</a:t>
            </a:r>
          </a:p>
          <a:p>
            <a:pPr rtl="1" algn="r" marL="0" indent="0">
              <a:buNone/>
            </a:pPr>
            <a:r>
              <a:rPr sz="1200" lang="he-IL"/>
              <a:t>•  בדיקה חזקה בודקת ערך מדויק מהמפרט, כאן 177,597.89 מהנהלת החשבונות.</a:t>
            </a:r>
          </a:p>
          <a:p>
            <a:pPr rtl="1" algn="r" marL="0" indent="0">
              <a:buNone/>
            </a:pPr>
            <a:r>
              <a:rPr sz="1200" lang="he-IL"/>
              <a:t>•  הודעת ה־commit היא של מפגש 6.</a:t>
            </a:r>
          </a:p>
          <a:p>
            <a:pPr rtl="1" algn="r" marL="0" indent="0">
              <a:buNone/>
            </a:pPr>
            <a:r>
              <a:rPr b="1" sz="1200" lang="he-IL"/>
              <a:t>שאלת היזכרות</a:t>
            </a:r>
          </a:p>
          <a:p>
            <a:pPr rtl="1" algn="r" marL="0" indent="0">
              <a:buNone/>
            </a:pPr>
            <a:r>
              <a:rPr sz="1200" lang="he-IL"/>
              <a:t>•  מה ציון הרג?</a:t>
            </a:r>
          </a:p>
          <a:p>
            <a:pPr rtl="1" algn="r" marL="0" indent="0">
              <a:buNone/>
            </a:pPr>
            <a:r>
              <a:rPr b="1" sz="1200" lang="he-IL"/>
              <a:t>תשובה</a:t>
            </a:r>
          </a:p>
          <a:p>
            <a:pPr rtl="1" algn="r" marL="0" indent="0">
              <a:buNone/>
            </a:pPr>
            <a:r>
              <a:rPr sz="1200" lang="he-IL"/>
              <a:t>•  כמה מוטנטים, כלומר גרסאות שבורות בכוונה, הבדיקות תפסו (מפגש 8).</a:t>
            </a:r>
          </a:p>
          <a:p>
            <a:pPr rtl="1" algn="r" marL="0" indent="0">
              <a:buNone/>
            </a:pPr>
            <a:r>
              <a:rPr sz="1200" lang="he-IL"/>
              <a:t>•  אם הכיתה לא זוכרת, שאלו איך נדע שבדיקה באמת תיכשל על קוד שבור.</a:t>
            </a:r>
          </a:p>
          <a:p>
            <a:pPr rtl="1" algn="r" marL="0" indent="0">
              <a:buNone/>
            </a:pPr>
            <a:r>
              <a:rPr b="1" sz="1200" lang="he-IL"/>
              <a:t>להעמקה</a:t>
            </a:r>
          </a:p>
          <a:p>
            <a:pPr rtl="1" algn="r" marL="0" indent="0">
              <a:buNone/>
            </a:pPr>
            <a:r>
              <a:rPr sz="1200" lang="he-IL"/>
              <a:t>•  בדיקת רגרסיה בודקת שתיקון ישן לא נשבר.</a:t>
            </a:r>
          </a:p>
          <a:p>
            <a:pPr rtl="1" algn="r" marL="0" indent="0">
              <a:buNone/>
            </a:pPr>
            <a:r>
              <a:rPr sz="1200" lang="he-IL"/>
              <a:t>•  סכום הביקורת משמש בה כאורקל חיצוני (Barr ועמיתים, 2015).</a:t>
            </a:r>
          </a:p>
          <a:p>
            <a:pPr rtl="1" algn="r" marL="0" indent="0">
              <a:buNone/>
            </a:pPr>
            <a:r>
              <a:rPr sz="1200" lang="he-IL"/>
              <a:t>•  EvalPlus (Liu ועמיתים, 2023) מראה שבדיקות חלשות מעבירות קוד שגוי: הוספת בדיקות הורידה את pass@k בעד 19.3 עד 28.9 אחוז.</a:t>
            </a:r>
          </a:p>
          <a:p>
            <a:pPr rtl="1" algn="r" marL="0" indent="0">
              <a:buNone/>
            </a:pPr>
            <a:r>
              <a:rPr sz="1200" lang="he-IL"/>
              <a:t>•  לכן בדיקה כמו total גדול מ־100000 אינה מספיקה.</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תחקיר באג (כדקה).</a:t>
            </a:r>
          </a:p>
          <a:p>
            <a:pPr rtl="1" algn="r" marL="0" indent="0">
              <a:buNone/>
            </a:pPr>
            <a:r>
              <a:rPr b="1" sz="1200" lang="he-IL"/>
              <a:t>מה אומרים</a:t>
            </a:r>
          </a:p>
          <a:p>
            <a:pPr rtl="1" algn="r" marL="0" indent="0">
              <a:buNone/>
            </a:pPr>
            <a:r>
              <a:rPr sz="1200" lang="he-IL"/>
              <a:t>•  חמש שורות: מה קרה בשורה אחת, איך גילינו (בדיקת שפיות או משתמש), שורש הבעיה (הסיבה ולא הסימפטום), התיקון (מה שונה ולמה), ומניעה (בדיקה או כלל חדש).</a:t>
            </a:r>
          </a:p>
          <a:p>
            <a:pPr rtl="1" algn="r" marL="0" indent="0">
              <a:buNone/>
            </a:pPr>
            <a:r>
              <a:rPr sz="1200" lang="he-IL"/>
              <a:t>•  בדוגמה שלנו: מה קרה, דוח הכנסות רבעון 3 הראה 88,527 במקום 177,598.</a:t>
            </a:r>
          </a:p>
          <a:p>
            <a:pPr rtl="1" algn="r" marL="0" indent="0">
              <a:buNone/>
            </a:pPr>
            <a:r>
              <a:rPr sz="1200" lang="he-IL"/>
              <a:t>•  איך גילינו, השוואה לסכום הביקורת.</a:t>
            </a:r>
          </a:p>
          <a:p>
            <a:pPr rtl="1" algn="r" marL="0" indent="0">
              <a:buNone/>
            </a:pPr>
            <a:r>
              <a:rPr sz="1200" lang="he-IL"/>
              <a:t>•  שורש, תאריכים נקראו הפוך ושורות כפולות.</a:t>
            </a:r>
          </a:p>
          <a:p>
            <a:pPr rtl="1" algn="r" marL="0" indent="0">
              <a:buNone/>
            </a:pPr>
            <a:r>
              <a:rPr sz="1200" lang="he-IL"/>
              <a:t>•  תיקון, ארבעת התיקונים.</a:t>
            </a:r>
          </a:p>
          <a:p>
            <a:pPr rtl="1" algn="r" marL="0" indent="0">
              <a:buNone/>
            </a:pPr>
            <a:r>
              <a:rPr sz="1200" lang="he-IL"/>
              <a:t>•  מניעה, בדיקת רגרסיה וציון פורמט בבקשה.</a:t>
            </a:r>
          </a:p>
          <a:p>
            <a:pPr rtl="1" algn="r" marL="0" indent="0">
              <a:buNone/>
            </a:pPr>
            <a:r>
              <a:rPr sz="1200" lang="he-IL"/>
              <a:t>•  הדגישו שהמטרה איננה להאשים אלא ללמוד, ושבתעשייה זה נקרא postmortem בלי אשמה.</a:t>
            </a:r>
          </a:p>
          <a:p>
            <a:pPr rtl="1" algn="r" marL="0" indent="0">
              <a:buNone/>
            </a:pPr>
            <a:r>
              <a:rPr sz="1200" lang="he-IL"/>
              <a:t>•  מומלץ להתחיל יומן באגים בפרויקט הקבוצתי, קובץ אחד שבו כל תחקיר הוא עמוד אחד.</a:t>
            </a:r>
          </a:p>
          <a:p>
            <a:pPr rtl="1" algn="r" marL="0" indent="0">
              <a:buNone/>
            </a:pPr>
            <a:r>
              <a:rPr b="1" sz="1200" lang="he-IL"/>
              <a:t>שאלה לכיתה</a:t>
            </a:r>
          </a:p>
          <a:p>
            <a:pPr rtl="1" algn="r" marL="0" indent="0">
              <a:buNone/>
            </a:pPr>
            <a:r>
              <a:rPr sz="1200" lang="he-IL"/>
              <a:t>•  מי קורא את התחקיר?</a:t>
            </a:r>
          </a:p>
          <a:p>
            <a:pPr rtl="1" algn="r" marL="0" indent="0">
              <a:buNone/>
            </a:pPr>
            <a:r>
              <a:rPr b="1" sz="1200" lang="he-IL"/>
              <a:t>תשובה</a:t>
            </a:r>
          </a:p>
          <a:p>
            <a:pPr rtl="1" algn="r" marL="0" indent="0">
              <a:buNone/>
            </a:pPr>
            <a:r>
              <a:rPr sz="1200" lang="he-IL"/>
              <a:t>•  חברי הצוות בעוד חודש, ואתם עצמכם.</a:t>
            </a:r>
          </a:p>
          <a:p>
            <a:pPr rtl="1" algn="r" marL="0" indent="0">
              <a:buNone/>
            </a:pPr>
            <a:r>
              <a:rPr b="1" sz="1200" lang="he-IL"/>
              <a:t>חיבור לשיעורים קודמים</a:t>
            </a:r>
          </a:p>
          <a:p>
            <a:pPr rtl="1" algn="r" marL="0" indent="0">
              <a:buNone/>
            </a:pPr>
            <a:r>
              <a:rPr sz="1200" lang="he-IL"/>
              <a:t>•  מפגש 6, הקובץ נשמר ב־Git עם הקוד.</a:t>
            </a:r>
          </a:p>
          <a:p>
            <a:pPr rtl="1" algn="r" marL="0" indent="0">
              <a:buNone/>
            </a:pPr>
            <a:r>
              <a:rPr b="1" sz="1200" lang="he-IL"/>
              <a:t>להעמקה</a:t>
            </a:r>
          </a:p>
          <a:p>
            <a:pPr rtl="1" algn="r" marL="0" indent="0">
              <a:buNone/>
            </a:pPr>
            <a:r>
              <a:rPr sz="1200" lang="he-IL"/>
              <a:t>•  בפרק 15 בספר ה־SRE של גוגל תחקיר הוא מסמך כתוב שמתאר את האירוע, את ההשפעה, את הפעולות לתיקון, את שורש הבעיה או שורשיה ואת פעולות המעקב, ונאמר שתחקירים בלי האשמה הם עיקרון בתרבות ה־SRE.</a:t>
            </a:r>
          </a:p>
          <a:p>
            <a:pPr rtl="1" algn="r" marL="0" indent="0">
              <a:buNone/>
            </a:pPr>
            <a:r>
              <a:rPr sz="1200" lang="he-IL"/>
              <a:t>•  ראו שקף ההעשרה.</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אופציונלי (כ־2 דקות לזוג השקפים): נכלל בתקציב רק אם נשאר זמן; אחרת דלגו ישר לפנקס התיקונים.</a:t>
            </a:r>
          </a:p>
          <a:p>
            <a:pPr rtl="1" algn="r" marL="0" indent="0">
              <a:buNone/>
            </a:pPr>
            <a:r>
              <a:rPr b="1" sz="1200" lang="he-IL"/>
              <a:t>מה אומרים</a:t>
            </a:r>
          </a:p>
          <a:p>
            <a:pPr rtl="1" algn="r" marL="0" indent="0">
              <a:buNone/>
            </a:pPr>
            <a:r>
              <a:rPr sz="1200" lang="he-IL"/>
              <a:t>•  אם מדלגים, השאלה על התיקון של 40 שורות עולה בחידון הסיום.</a:t>
            </a:r>
          </a:p>
          <a:p>
            <a:pPr rtl="1" algn="r" marL="0" indent="0">
              <a:buNone/>
            </a:pPr>
            <a:r>
              <a:rPr sz="1200" lang="he-IL"/>
              <a:t>•  שאלת בדיקה (כ־1.5 דקות).</a:t>
            </a:r>
          </a:p>
          <a:p>
            <a:pPr rtl="1" algn="r" marL="0" indent="0">
              <a:buNone/>
            </a:pPr>
            <a:r>
              <a:rPr sz="1200" lang="he-IL"/>
              <a:t>•  תרחיש: ה־AI תיקן בניסיון שלישי, אבל הקוד גדל ב־40 שורות.</a:t>
            </a:r>
          </a:p>
          <a:p>
            <a:pPr rtl="1" algn="r" marL="0" indent="0">
              <a:buNone/>
            </a:pPr>
            <a:r>
              <a:rPr sz="1200" lang="he-IL"/>
              <a:t>•  תנו לזוגות דקה להציע מה בודקים.</a:t>
            </a:r>
          </a:p>
          <a:p>
            <a:pPr rtl="1" algn="r" marL="0" indent="0">
              <a:buNone/>
            </a:pPr>
            <a:r>
              <a:rPr b="1" sz="1200" lang="he-IL"/>
              <a:t>תשובה</a:t>
            </a:r>
          </a:p>
          <a:p>
            <a:pPr rtl="1" algn="r" marL="0" indent="0">
              <a:buNone/>
            </a:pPr>
            <a:r>
              <a:rPr sz="1200" lang="he-IL"/>
              <a:t>•  האם הכול עדיין עובד, האם הסכום נכון.</a:t>
            </a:r>
          </a:p>
          <a:p>
            <a:pPr rtl="1" algn="r" marL="0" indent="0">
              <a:buNone/>
            </a:pPr>
            <a:r>
              <a:rPr sz="1200" lang="he-IL"/>
              <a:t>•  רמז: האם 40 שורות הן סימן טוב או רע?</a:t>
            </a:r>
          </a:p>
          <a:p>
            <a:pPr rtl="1" algn="r" marL="0" indent="0">
              <a:buNone/>
            </a:pPr>
            <a:r>
              <a:rPr sz="1200" lang="he-IL"/>
              <a:t>•  זו שאלה על צעדים 6 ו־7 של השיטה: אימות ומניעה.</a:t>
            </a:r>
          </a:p>
          <a:p>
            <a:pPr rtl="1" algn="r" marL="0" indent="0">
              <a:buNone/>
            </a:pPr>
            <a:r>
              <a:rPr b="1" sz="1200" lang="he-IL"/>
              <a:t>אנלוגיה</a:t>
            </a:r>
          </a:p>
          <a:p>
            <a:pPr rtl="1" algn="r" marL="0" indent="0">
              <a:buNone/>
            </a:pPr>
            <a:r>
              <a:rPr sz="1200" lang="he-IL"/>
              <a:t>•  מכונה שתוקנה אבל נוספו לה חמישה חיישנים חדשים, צריך לשאול למה.</a:t>
            </a:r>
          </a:p>
          <a:p>
            <a:pPr rtl="1" algn="r" marL="0" indent="0">
              <a:buNone/>
            </a:pPr>
            <a:r>
              <a:rPr sz="1200" lang="he-IL"/>
              <a:t>•  קישור לשקף לולאת התיקונים והלכה שתיקון טוב קטן ולרוב מוחק קוד.</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תשובה (כ־1.5 דקות).</a:t>
            </a:r>
          </a:p>
          <a:p>
            <a:pPr rtl="1" algn="r" marL="0" indent="0">
              <a:buNone/>
            </a:pPr>
            <a:r>
              <a:rPr b="1" sz="1200" lang="he-IL"/>
              <a:t>מה אומרים</a:t>
            </a:r>
          </a:p>
          <a:p>
            <a:pPr rtl="1" algn="r" marL="0" indent="0">
              <a:buNone/>
            </a:pPr>
            <a:r>
              <a:rPr sz="1200" lang="he-IL"/>
              <a:t>•  בודקים אם התיקון מטפל בשורש או מטלא סימפטום.</a:t>
            </a:r>
          </a:p>
          <a:p>
            <a:pPr rtl="1" algn="r" marL="0" indent="0">
              <a:buNone/>
            </a:pPr>
            <a:r>
              <a:rPr sz="1200" lang="he-IL"/>
              <a:t>•  קוראים את ה־diff, ולא רק מריצים: ארבעים שורות חדשות הן סימן אזהרה, כי באגי השורש שלנו תוקנו בארבע שורות.</a:t>
            </a:r>
          </a:p>
          <a:p>
            <a:pPr rtl="1" algn="r" marL="0" indent="0">
              <a:buNone/>
            </a:pPr>
            <a:r>
              <a:rPr sz="1200" lang="he-IL"/>
              <a:t>•  שואלים אם יש try/except או סינון שמסתיר שגיאה, ואם קיימים קבועים שנראים מכוונים כדי להתאים למספר.</a:t>
            </a:r>
          </a:p>
          <a:p>
            <a:pPr rtl="1" algn="r" marL="0" indent="0">
              <a:buNone/>
            </a:pPr>
            <a:r>
              <a:rPr sz="1200" lang="he-IL"/>
              <a:t>•  בודקים שקיימת בדיקת רגרסיה שנכשלת בלי התיקון ועוברת איתו, ומוחקים טלאים מיותרים.</a:t>
            </a:r>
          </a:p>
          <a:p>
            <a:pPr rtl="1" algn="r" marL="0" indent="0">
              <a:buNone/>
            </a:pPr>
            <a:r>
              <a:rPr sz="1200" lang="he-IL"/>
              <a:t>•  אם אין בדיקה כזאת, מוסיפים אחת לפני מיזוג.</a:t>
            </a:r>
          </a:p>
          <a:p>
            <a:pPr rtl="1" algn="r" marL="0" indent="0">
              <a:buNone/>
            </a:pPr>
            <a:r>
              <a:rPr b="1" sz="1200" lang="he-IL"/>
              <a:t>חיבור לשיעורים קודמים</a:t>
            </a:r>
          </a:p>
          <a:p>
            <a:pPr rtl="1" algn="r" marL="0" indent="0">
              <a:buNone/>
            </a:pPr>
            <a:r>
              <a:rPr sz="1200" lang="he-IL"/>
              <a:t>•  מפגש 6, קריאת diff לפני commit, ומפגש 8, בדיקות.</a:t>
            </a:r>
          </a:p>
          <a:p>
            <a:pPr rtl="1" algn="r" marL="0" indent="0">
              <a:buNone/>
            </a:pPr>
            <a:r>
              <a:rPr sz="1200" lang="he-IL"/>
              <a:t>•  אם התיקון מכיל טלאים, פותחים שיחה חדשה עם סיכום ומבקשים תיקון מינימלי.</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ג׳, 18 דקות בכיתה (המחברת מעריכה כ־21 דקות עבודה, והשאר בבית), בזוגות, חלקים ג׳ עד ו׳ במחברת HM_09.</a:t>
            </a:r>
          </a:p>
          <a:p>
            <a:pPr rtl="1" algn="r" marL="0" indent="0">
              <a:buNone/>
            </a:pPr>
            <a:r>
              <a:rPr b="1" sz="1200" lang="he-IL"/>
              <a:t>מה אומרים</a:t>
            </a:r>
          </a:p>
          <a:p>
            <a:pPr rtl="1" algn="r" marL="0" indent="0">
              <a:buNone/>
            </a:pPr>
            <a:r>
              <a:rPr sz="1200" lang="he-IL"/>
              <a:t>•  זה הבלוק הארוך, כי הוא מחליף את התיקון, את הבדיקה ואת הניסוי עם ה־AI.</a:t>
            </a:r>
          </a:p>
          <a:p>
            <a:pPr rtl="1" algn="r" marL="0" indent="0">
              <a:buNone/>
            </a:pPr>
            <a:r>
              <a:rPr sz="1200" lang="he-IL"/>
              <a:t>•  חלק ג׳ (כ־8 דקות בכיתה): שלב 1 תיקוני תאריך וטווח (parse_dates בלי errors coerce, in_q3 עם &gt;= ו־&lt;=), שלב 2 הכפילויות (drop_dup_orders, drop_dup_suppliers), שלב 3 פנקס תיקונים שמודפס מהפונקציה q3_revenue, שלב 4 הטלאי של הוספת הפער, שלב 5 test_regression.</a:t>
            </a:r>
          </a:p>
          <a:p>
            <a:pPr rtl="1" algn="r" marL="0" indent="0">
              <a:buNone/>
            </a:pPr>
            <a:r>
              <a:rPr sz="1200" lang="he-IL"/>
              <a:t>•  שלב 6 (תחקיר ו־commit) אפשר להשלים בבית.</a:t>
            </a:r>
          </a:p>
          <a:p>
            <a:pPr rtl="1" algn="r" marL="0" indent="0">
              <a:buNone/>
            </a:pPr>
            <a:r>
              <a:rPr sz="1200" lang="he-IL"/>
              <a:t>•  אחר כך חלק ד׳ (כ־2 דקות), חלק ה׳ (5) וחלק ו׳ (כדקה בכיתה, והשאר בבית), בשקפים הבאים.</a:t>
            </a:r>
          </a:p>
          <a:p>
            <a:pPr rtl="1" algn="r" marL="0" indent="0">
              <a:buNone/>
            </a:pPr>
            <a:r>
              <a:rPr sz="1200" lang="he-IL"/>
              <a:t>•  חלוקת 18 הדקות: כדקה תדריך, 8 דקות לחלק ג׳, 2 לחלק ד׳, 5 לחלק ה׳, כדקה לחלק ו׳, ועוד כדקה לדיון בפנקס.</a:t>
            </a:r>
          </a:p>
          <a:p>
            <a:pPr rtl="1" algn="r" marL="0" indent="0">
              <a:buNone/>
            </a:pPr>
            <a:r>
              <a:rPr b="1" sz="1200" lang="he-IL"/>
              <a:t>למה עושים את זה</a:t>
            </a:r>
          </a:p>
          <a:p>
            <a:pPr rtl="1" algn="r" marL="0" indent="0">
              <a:buNone/>
            </a:pPr>
            <a:r>
              <a:rPr sz="1200" lang="he-IL"/>
              <a:t>•  המעבדה סוגרת את כל מעגל הדיבוג, תיקון, אימות ומניעה, ובודקת אותו מול ה־AI.</a:t>
            </a:r>
          </a:p>
          <a:p>
            <a:pPr rtl="1" algn="r" marL="0" indent="0">
              <a:buNone/>
            </a:pPr>
            <a:r>
              <a:rPr sz="1200" lang="he-IL"/>
              <a:t>•  אם הכיתה מפגרת, שלב 6, חלק ו׳ והבונוס עוברים לבית ואין קיצוץ בחלק ה׳.</a:t>
            </a:r>
          </a:p>
          <a:p>
            <a:pPr rtl="1" algn="r" marL="0" indent="0">
              <a:buNone/>
            </a:pPr>
            <a:r>
              <a:rPr sz="1200" lang="he-IL"/>
              <a:t>•  מה לבדוק בזמן הסיור: שבוחרים &gt;= ולא &gt;, ושהבדיקה test_regression לא נשארה עם assert של total גדול מ־100000.</a:t>
            </a:r>
          </a:p>
          <a:p>
            <a:pPr rtl="1" algn="r" marL="0" indent="0">
              <a:buNone/>
            </a:pPr>
            <a:r>
              <a:rPr b="1" sz="1200" lang="he-IL"/>
              <a:t>שגיאות צפויות</a:t>
            </a:r>
          </a:p>
          <a:p>
            <a:pPr rtl="1" algn="r" marL="0" indent="0">
              <a:buNone/>
            </a:pPr>
            <a:r>
              <a:rPr sz="1200" lang="he-IL"/>
              <a:t>•  להשאיר errors coerce, לשכוח return True בבדיקה.</a:t>
            </a:r>
          </a:p>
          <a:p>
            <a:pPr rtl="1" algn="r" marL="0" indent="0">
              <a:buNone/>
            </a:pPr>
            <a:r>
              <a:rPr sz="1200" lang="he-IL"/>
              <a:t>•  אם הזמן קצר: לוותר על שלב 6.</a:t>
            </a:r>
          </a:p>
          <a:p>
            <a:pPr rtl="1" algn="r" marL="0" indent="0">
              <a:buNone/>
            </a:pPr>
            <a:r>
              <a:rPr b="1" sz="1200" lang="he-IL"/>
              <a:t>הכנה לפני השיעור</a:t>
            </a:r>
          </a:p>
          <a:p>
            <a:pPr rtl="1" algn="r" marL="0" indent="0">
              <a:buNone/>
            </a:pPr>
            <a:r>
              <a:rPr sz="1200" lang="he-IL"/>
              <a:t>•  להעלות את HM_09.ipynb ל־Colab, להחליף את ה־QR (מקום שמור) בקישור אמיתי, ולהריץ Run all על גרסת הפתרון.</a:t>
            </a:r>
          </a:p>
          <a:p>
            <a:pPr rtl="1" algn="r" marL="0" indent="0">
              <a:buNone/>
            </a:pPr>
            <a:r>
              <a:rPr sz="1200" lang="he-IL"/>
              <a:t>•  נבדק בהרצה מקומית ולא ב־Colab עצמו.</a:t>
            </a:r>
          </a:p>
          <a:p>
            <a:pPr rtl="1" algn="r" marL="0" indent="0">
              <a:buNone/>
            </a:pPr>
            <a:r>
              <a:rPr sz="1200" lang="he-IL"/>
              <a:t>•  מה בנוי על קודם: test_regression היא בדיקה בסגנון מפגש 8, וכדי שתהיה אמינה היא חייבת להיכשל על כל גרסה פגומה (אדום לפני ירוק) ולבדוק ערך מדויק ולא רק תנאי חלש.</a:t>
            </a:r>
          </a:p>
          <a:p>
            <a:pPr rtl="1" algn="r" marL="0" indent="0">
              <a:buNone/>
            </a:pPr>
            <a:r>
              <a:rPr sz="1200" lang="he-IL"/>
              <a:t>•  הפנקס ממשיך את הכלל מפגש 8 ״שינוי אחד, מדידה אחת״, והודעת ה־commit בשלב 6 היא של מפגש 6.</a:t>
            </a:r>
          </a:p>
          <a:p>
            <a:pPr rtl="1" algn="r" marL="0" indent="0">
              <a:buNone/>
            </a:pPr>
            <a:r>
              <a:rPr b="1" sz="1200" lang="he-IL"/>
              <a:t>שאלת היזכרות</a:t>
            </a:r>
          </a:p>
          <a:p>
            <a:pPr rtl="1" algn="r" marL="0" indent="0">
              <a:buNone/>
            </a:pPr>
            <a:r>
              <a:rPr sz="1200" lang="he-IL"/>
              <a:t>•  איך יודעים שבדיקה באמת בודקת משהו?</a:t>
            </a:r>
          </a:p>
          <a:p>
            <a:pPr rtl="1" algn="r" marL="0" indent="0">
              <a:buNone/>
            </a:pPr>
            <a:r>
              <a:rPr b="1" sz="1200" lang="he-IL"/>
              <a:t>תשובה</a:t>
            </a:r>
          </a:p>
          <a:p>
            <a:pPr rtl="1" algn="r" marL="0" indent="0">
              <a:buNone/>
            </a:pPr>
            <a:r>
              <a:rPr sz="1200" lang="he-IL"/>
              <a:t>•  רואים אותה נכשלת על הקוד הישן (מפגש 8).</a:t>
            </a:r>
          </a:p>
          <a:p>
            <a:pPr rtl="1" algn="r" marL="0" indent="0">
              <a:buNone/>
            </a:pPr>
            <a:r>
              <a:rPr sz="1200" lang="he-IL"/>
              <a:t>•  אם הכיתה לא זוכרת, שאלו מה שווה בדיקה שאף פעם לא נכשלה.</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בונוס 3 במחברת, למי שמסיים מוקדם או בבית.</a:t>
            </a:r>
          </a:p>
          <a:p>
            <a:pPr rtl="1" algn="r" marL="0" indent="0">
              <a:buNone/>
            </a:pPr>
            <a:r>
              <a:rPr b="1" sz="1200" lang="he-IL"/>
              <a:t>מה אומרים</a:t>
            </a:r>
          </a:p>
          <a:p>
            <a:pPr rtl="1" algn="r" marL="0" indent="0">
              <a:buNone/>
            </a:pPr>
            <a:r>
              <a:rPr sz="1200" lang="he-IL"/>
              <a:t>•  הניסוי המלא של שתי הבקשות לא נכנס לשמונה הדקות של חלק ה׳, ולכן הוא נשאר בונוס.</a:t>
            </a:r>
          </a:p>
          <a:p>
            <a:pPr rtl="1" algn="r" marL="0" indent="0">
              <a:buNone/>
            </a:pPr>
            <a:r>
              <a:rPr sz="1200" lang="he-IL"/>
              <a:t>•  ימין: בקשה א׳ הגרועה, My report total is wrong.</a:t>
            </a:r>
          </a:p>
          <a:p>
            <a:pPr rtl="1" algn="r" marL="0" indent="0">
              <a:buNone/>
            </a:pPr>
            <a:r>
              <a:rPr sz="1200" lang="he-IL"/>
              <a:t>•  Fix it., בלי קוד ובלי מספרים.</a:t>
            </a:r>
          </a:p>
          <a:p>
            <a:pPr rtl="1" algn="r" marL="0" indent="0">
              <a:buNone/>
            </a:pPr>
            <a:r>
              <a:rPr sz="1200" lang="he-IL"/>
              <a:t>•  שמאל: בקשה ב׳ הטובה, עם הקוד של buggy_report, הסכום בפועל 88526.81, הציפייה 177597.89, מה ניסיתי, ובקשה להסביר קודם את הסיבות ורק אז לתקן אחת.</a:t>
            </a:r>
          </a:p>
          <a:p>
            <a:pPr rtl="1" algn="r" marL="0" indent="0">
              <a:buNone/>
            </a:pPr>
            <a:r>
              <a:rPr sz="1200" lang="he-IL"/>
              <a:t>•  במחברת הבונוס מדביק ל־Gemini את הקוד בלי לספר על התאריכים, ובודקים כמה מארבע הסיבות הכלי מצא ואם הציע try/except או קבוע, ואז מפעילים את כלל העצירה.</a:t>
            </a:r>
          </a:p>
          <a:p>
            <a:pPr rtl="1" algn="r" marL="0" indent="0">
              <a:buNone/>
            </a:pPr>
            <a:r>
              <a:rPr sz="1200" lang="he-IL"/>
              <a:t>•  התוצאה אינה מובטחת, כי מודלי שפה לא נותנים תמיד אותה תשובה, ולכן מדווחים על מה שקרה בפועל.</a:t>
            </a:r>
          </a:p>
          <a:p>
            <a:pPr rtl="1" algn="r" marL="0" indent="0">
              <a:buNone/>
            </a:pPr>
            <a:r>
              <a:rPr b="1" sz="1200" lang="he-IL"/>
              <a:t>אנלוגיה</a:t>
            </a:r>
          </a:p>
          <a:p>
            <a:pPr rtl="1" algn="r" marL="0" indent="0">
              <a:buNone/>
            </a:pPr>
            <a:r>
              <a:rPr sz="1200" lang="he-IL"/>
              <a:t>•  שני דוחות תקלה לאותו טכנאי, אחד עם נתונים ואחד בלי.</a:t>
            </a:r>
          </a:p>
          <a:p>
            <a:pPr rtl="1" algn="r" marL="0" indent="0">
              <a:buNone/>
            </a:pPr>
            <a:r>
              <a:rPr sz="1200" lang="he-IL"/>
              <a:t>•  גיבוי: אם אין AI, ההשוואה נעשית על ניסוח בלבד.</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מתעדים ומונעים, כדקה בכיתה, שלב 6 של חלק ג׳ במחברת, והוא השלב שמותר להשלים בבית אם נגמר הזמן.</a:t>
            </a:r>
          </a:p>
          <a:p>
            <a:pPr rtl="1" algn="r" marL="0" indent="0">
              <a:buNone/>
            </a:pPr>
            <a:r>
              <a:rPr b="1" sz="1200" lang="he-IL"/>
              <a:t>מה אומרים</a:t>
            </a:r>
          </a:p>
          <a:p>
            <a:pPr rtl="1" algn="r" marL="0" indent="0">
              <a:buNone/>
            </a:pPr>
            <a:r>
              <a:rPr sz="1200" lang="he-IL"/>
              <a:t>•  שני תאים: המילון postmortem והמחרוזת commit_message.</a:t>
            </a:r>
          </a:p>
          <a:p>
            <a:pPr rtl="1" algn="r" marL="0" indent="0">
              <a:buNone/>
            </a:pPr>
            <a:r>
              <a:rPr sz="1200" lang="he-IL"/>
              <a:t>•  1: שורש בעיה הוא סיבה ולא סימפטום: ״הסכום נמוך״ הוא סימפטום, ״הקוד קרא תאריכים בלי לציין פורמט״ הוא שורש.</a:t>
            </a:r>
          </a:p>
          <a:p>
            <a:pPr rtl="1" algn="r" marL="0" indent="0">
              <a:buNone/>
            </a:pPr>
            <a:r>
              <a:rPr sz="1200" lang="he-IL"/>
              <a:t>•  2: בדיקת הרגרסיה test_regression כבר נכתבה בשלב 5, והיא נבדקת מול סכום הביקורת של הנהלת החשבונות ולא מול מספר שנגזר מהקוד.</a:t>
            </a:r>
          </a:p>
          <a:p>
            <a:pPr rtl="1" algn="r" marL="0" indent="0">
              <a:buNone/>
            </a:pPr>
            <a:r>
              <a:rPr sz="1200" lang="he-IL"/>
              <a:t>•  3: הודעת commit באנגלית: שורה ראשונה עד 72 תווים, שורה שמסבירה למה, והמילים date ו־duplicate.</a:t>
            </a:r>
          </a:p>
          <a:p>
            <a:pPr rtl="1" algn="r" marL="0" indent="0">
              <a:buNone/>
            </a:pPr>
            <a:r>
              <a:rPr sz="1200" lang="he-IL"/>
              <a:t>•  המחברת לא מריצה git בפועל, ההודעה היא טקסט בלבד, והבדיקה check_c5 בודקת רק את המבנה.</a:t>
            </a:r>
          </a:p>
          <a:p>
            <a:pPr rtl="1" algn="r" marL="0" indent="0">
              <a:buNone/>
            </a:pPr>
            <a:r>
              <a:rPr sz="1200" lang="he-IL"/>
              <a:t>•  4: חמשת מפתחות התחקיר.</a:t>
            </a:r>
          </a:p>
          <a:p>
            <a:pPr rtl="1" algn="r" marL="0" indent="0">
              <a:buNone/>
            </a:pPr>
            <a:r>
              <a:rPr b="1" sz="1200" lang="he-IL"/>
              <a:t>שגיאות צפויות</a:t>
            </a:r>
          </a:p>
          <a:p>
            <a:pPr rtl="1" algn="r" marL="0" indent="0">
              <a:buNone/>
            </a:pPr>
            <a:r>
              <a:rPr sz="1200" lang="he-IL"/>
              <a:t>•  שורש שמתאר סימפטום, והודעת commit שאומרת רק fix bug.</a:t>
            </a:r>
          </a:p>
          <a:p>
            <a:pPr rtl="1" algn="r" marL="0" indent="0">
              <a:buNone/>
            </a:pPr>
            <a:r>
              <a:rPr sz="1200" lang="he-IL"/>
              <a:t>•  הנחו להשאיר את חמשת המפתחות ולא להשאיר את הטקסט שבסוגריים.</a:t>
            </a:r>
          </a:p>
          <a:p>
            <a:pPr rtl="1" algn="r" marL="0" indent="0">
              <a:buNone/>
            </a:pPr>
            <a:r>
              <a:rPr b="1" sz="1200" lang="he-IL"/>
              <a:t>חיבור לשיעורים קודמים</a:t>
            </a:r>
          </a:p>
          <a:p>
            <a:pPr rtl="1" algn="r" marL="0" indent="0">
              <a:buNone/>
            </a:pPr>
            <a:r>
              <a:rPr sz="1200" lang="he-IL"/>
              <a:t>•  מפגש 8 ומפגש 6.</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תחקיר באג, תבנית למילוי בתא postmortem של המחברת, אפשר בבית.</a:t>
            </a:r>
          </a:p>
          <a:p>
            <a:pPr rtl="1" algn="r" marL="0" indent="0">
              <a:buNone/>
            </a:pPr>
            <a:r>
              <a:rPr b="1" sz="1200" lang="he-IL"/>
              <a:t>מה אומרים</a:t>
            </a:r>
          </a:p>
          <a:p>
            <a:pPr rtl="1" algn="r" marL="0" indent="0">
              <a:buNone/>
            </a:pPr>
            <a:r>
              <a:rPr sz="1200" lang="he-IL"/>
              <a:t>•  חמש השורות בטבלה הן חמשת המפתחות של המילון במחברת: what (מה קרה), found_by (איך גילינו), root_cause (שורש הבעיה), fix (התיקון) ו־prevention (מניעה).</a:t>
            </a:r>
          </a:p>
          <a:p>
            <a:pPr rtl="1" algn="r" marL="0" indent="0">
              <a:buNone/>
            </a:pPr>
            <a:r>
              <a:rPr sz="1200" lang="he-IL"/>
              <a:t>•  ההנחיה: משפט קצר לכל תא, ושורש הבעיה חייב להיות סיבה ולא סימפטום.</a:t>
            </a:r>
          </a:p>
          <a:p>
            <a:pPr rtl="1" algn="r" marL="0" indent="0">
              <a:buNone/>
            </a:pPr>
            <a:r>
              <a:rPr sz="1200" lang="he-IL"/>
              <a:t>•  תשובות מצופות בדוח שלנו: מה קרה, הדוח הראה 88,527 במקום 177,598 בלי שגיאה.</a:t>
            </a:r>
          </a:p>
          <a:p>
            <a:pPr rtl="1" algn="r" marL="0" indent="0">
              <a:buNone/>
            </a:pPr>
            <a:r>
              <a:rPr sz="1200" lang="he-IL"/>
              <a:t>•  איך גילינו, השוואה לסכום הביקורת ואז ספירות: 1,847 NaT, 40 order_id כפולים וספקים כפולים.</a:t>
            </a:r>
          </a:p>
          <a:p>
            <a:pPr rtl="1" algn="r" marL="0" indent="0">
              <a:buNone/>
            </a:pPr>
            <a:r>
              <a:rPr sz="1200" lang="he-IL"/>
              <a:t>•  שורש: הקוד נכתב בלי לראות את הנתונים, תאריכים נקראו בלי פורמט, הטווח עם &gt; והשורות הכפולות.</a:t>
            </a:r>
          </a:p>
          <a:p>
            <a:pPr rtl="1" algn="r" marL="0" indent="0">
              <a:buNone/>
            </a:pPr>
            <a:r>
              <a:rPr sz="1200" lang="he-IL"/>
              <a:t>•  תיקון: ארבעה שינויים קטנים.</a:t>
            </a:r>
          </a:p>
          <a:p>
            <a:pPr rtl="1" algn="r" marL="0" indent="0">
              <a:buNone/>
            </a:pPr>
            <a:r>
              <a:rPr sz="1200" lang="he-IL"/>
              <a:t>•  מניעה: test_regression מול סכום הביקורת, ובבקשה ל־AI מצרפים דוגמת נתונים ומציינים פורמט תאריך.</a:t>
            </a:r>
          </a:p>
          <a:p>
            <a:pPr rtl="1" algn="r" marL="0" indent="0">
              <a:buNone/>
            </a:pPr>
            <a:r>
              <a:rPr sz="1200" lang="he-IL"/>
              <a:t>•  עברו בין הזוגות ושאלו: האם זו סיבה או סימפטום?</a:t>
            </a:r>
          </a:p>
          <a:p>
            <a:pPr rtl="1" algn="r" marL="0" indent="0">
              <a:buNone/>
            </a:pPr>
            <a:r>
              <a:rPr sz="1200" lang="he-IL"/>
              <a:t>•  תחקיר טוב משמש גם כחומר ליומן הבאגים בפרויקט הקבוצתי.</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תיקון אחד, מדידה אחת (כ־1.5 דקות), בחלק ג׳ לפני בדיקת הרגרסיה.</a:t>
            </a:r>
          </a:p>
          <a:p>
            <a:pPr rtl="1" algn="r" marL="0" indent="0">
              <a:buNone/>
            </a:pPr>
            <a:r>
              <a:rPr b="1" sz="1200" lang="he-IL"/>
              <a:t>מה אומרים</a:t>
            </a:r>
          </a:p>
          <a:p>
            <a:pPr rtl="1" algn="r" marL="0" indent="0">
              <a:buNone/>
            </a:pPr>
            <a:r>
              <a:rPr sz="1200" lang="he-IL"/>
              <a:t>•  הרעיון הוא הרעיון של ניסוי מבוקר: משנים דבר אחד בכל פעם ומודדים לפני ואחרי.</a:t>
            </a:r>
          </a:p>
          <a:p>
            <a:pPr rtl="1" algn="r" marL="0" indent="0">
              <a:buNone/>
            </a:pPr>
            <a:r>
              <a:rPr sz="1200" lang="he-IL"/>
              <a:t>•  אם משנים שני דברים יחד ואחד מהם מזיק, אי אפשר לדעת איזה.</a:t>
            </a:r>
          </a:p>
          <a:p>
            <a:pPr rtl="1" algn="r" marL="0" indent="0">
              <a:buNone/>
            </a:pPr>
            <a:r>
              <a:rPr sz="1200" lang="he-IL"/>
              <a:t>•  הדוגמה בשקף היא דוגמת צעצוע ולא המספרים של המעבדה, בכוונה, כדי לא לחשוף את תחזית המעבדה: היעד 100, אחרי התיקון הראשון הסכום 140, ואחרי השני 100.</a:t>
            </a:r>
          </a:p>
          <a:p>
            <a:pPr rtl="1" algn="r" marL="0" indent="0">
              <a:buNone/>
            </a:pPr>
            <a:r>
              <a:rPr sz="1200" lang="he-IL"/>
              <a:t>•  שימו לב שהסכום יכול לעבור את היעד לפני שהוא חוזר אליו, כי תיקון אחד חושף בעיה אחרת שהייתה מוסתרת, ולכן עצירה ברגע שהמספר נראה קרוב היא טעות.</a:t>
            </a:r>
          </a:p>
          <a:p>
            <a:pPr rtl="1" algn="r" marL="0" indent="0">
              <a:buNone/>
            </a:pPr>
            <a:r>
              <a:rPr sz="1200" lang="he-IL"/>
              <a:t>•  כלל: מאמתים מול מקור חיצוני (סכום ביקורת) ולא מול התחושה שהמספר סביר.</a:t>
            </a:r>
          </a:p>
          <a:p>
            <a:pPr rtl="1" algn="r" marL="0" indent="0">
              <a:buNone/>
            </a:pPr>
            <a:r>
              <a:rPr sz="1200" lang="he-IL"/>
              <a:t>•  במחברת זה שלב 3 של חלק ג׳: הפונקציה q3_revenue מקבלת רשימת fixes ומפעילה את התיקונים אחד אחרי השני, והפנקס מדפיס סכום ומספר שורות אחרי כל אחד.</a:t>
            </a:r>
          </a:p>
          <a:p>
            <a:pPr rtl="1" algn="r" marL="0" indent="0">
              <a:buNone/>
            </a:pPr>
            <a:r>
              <a:rPr sz="1200" lang="he-IL"/>
              <a:t>•  בקשו מהכיתה לחזות עכשיו: אחרי התיקון הראשון (תאריכים בלבד), הסכום יהיה מתחת ליעד, מעליו או שווה?</a:t>
            </a:r>
          </a:p>
          <a:p>
            <a:pPr rtl="1" algn="r" marL="0" indent="0">
              <a:buNone/>
            </a:pPr>
            <a:r>
              <a:rPr sz="1200" lang="he-IL"/>
              <a:t>•  (התשובה תתגלה במעבדה.) אנלוגיה: כיול מכונה, מסובבים בורג אחד בכל פעם ומודדים.</a:t>
            </a:r>
          </a:p>
          <a:p>
            <a:pPr rtl="1" algn="r" marL="0" indent="0">
              <a:buNone/>
            </a:pPr>
            <a:r>
              <a:rPr b="1" sz="1200" lang="he-IL"/>
              <a:t>טעות נפוצה</a:t>
            </a:r>
          </a:p>
          <a:p>
            <a:pPr rtl="1" algn="r" marL="0" indent="0">
              <a:buNone/>
            </a:pPr>
            <a:r>
              <a:rPr sz="1200" lang="he-IL"/>
              <a:t>•  לתקן הכול ביחד ואז לגלות שהסכום שגוי בלי לדעת איפה.</a:t>
            </a:r>
          </a:p>
          <a:p>
            <a:pPr rtl="1" algn="r" marL="0" indent="0">
              <a:buNone/>
            </a:pPr>
            <a:r>
              <a:rPr b="1" sz="1200" lang="he-IL"/>
              <a:t>חיבור לשיעורים קודמים</a:t>
            </a:r>
          </a:p>
          <a:p>
            <a:pPr rtl="1" algn="r" marL="0" indent="0">
              <a:buNone/>
            </a:pPr>
            <a:r>
              <a:rPr sz="1200" lang="he-IL"/>
              <a:t>•  מפגש 6, commit קטן לכל תיקון מאפשר לחזור צעד אחד אחורה.</a:t>
            </a:r>
          </a:p>
          <a:p>
            <a:pPr rtl="1" algn="r" marL="0" indent="0">
              <a:buNone/>
            </a:pPr>
            <a:r>
              <a:rPr sz="1200" lang="he-IL"/>
              <a:t>•  שם ראינו אדום לפני ירוק, ובדיקה שמעולם לא נכשלה אינה מוכיחה כלום.</a:t>
            </a:r>
          </a:p>
          <a:p>
            <a:pPr rtl="1" algn="r" marL="0" indent="0">
              <a:buNone/>
            </a:pPr>
            <a:r>
              <a:rPr sz="1200" lang="he-IL"/>
              <a:t>•  כאן אותו רעיון על הדוח: מודדים אחרי כל תיקון ורואים שהמספר זז כצפוי.</a:t>
            </a:r>
          </a:p>
          <a:p>
            <a:pPr rtl="1" algn="r" marL="0" indent="0">
              <a:buNone/>
            </a:pPr>
            <a:r>
              <a:rPr b="1" sz="1200" lang="he-IL"/>
              <a:t>שאלת היזכרות</a:t>
            </a:r>
          </a:p>
          <a:p>
            <a:pPr rtl="1" algn="r" marL="0" indent="0">
              <a:buNone/>
            </a:pPr>
            <a:r>
              <a:rPr sz="1200" lang="he-IL"/>
              <a:t>•  מה הכלל של מפגש 8?</a:t>
            </a:r>
          </a:p>
          <a:p>
            <a:pPr rtl="1" algn="r" marL="0" indent="0">
              <a:buNone/>
            </a:pPr>
            <a:r>
              <a:rPr b="1" sz="1200" lang="he-IL"/>
              <a:t>תשובה</a:t>
            </a:r>
          </a:p>
          <a:p>
            <a:pPr rtl="1" algn="r" marL="0" indent="0">
              <a:buNone/>
            </a:pPr>
            <a:r>
              <a:rPr sz="1200" lang="he-IL"/>
              <a:t>•  קוד בלי בדיקה הוא השערה, ובדיקה שלא ראיתם נכשלת היא השערה.</a:t>
            </a:r>
          </a:p>
          <a:p>
            <a:pPr rtl="1" algn="r" marL="0" indent="0">
              <a:buNone/>
            </a:pPr>
            <a:r>
              <a:rPr sz="1200" lang="he-IL"/>
              <a:t>•  אם הכיתה לא זוכרת, כתבו את שני חצאי הכלל על הלוח.</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הכלל של המפגש (דקה).</a:t>
            </a:r>
          </a:p>
          <a:p>
            <a:pPr rtl="1" algn="r" marL="0" indent="0">
              <a:buNone/>
            </a:pPr>
            <a:r>
              <a:rPr b="1" sz="1200" lang="he-IL"/>
              <a:t>מה אומרים</a:t>
            </a:r>
          </a:p>
          <a:p>
            <a:pPr rtl="1" algn="r" marL="0" indent="0">
              <a:buNone/>
            </a:pPr>
            <a:r>
              <a:rPr sz="1200" lang="he-IL"/>
              <a:t>•  קראו אותו בקול ובקשו מהכיתה לחזור על כל חלק: משחזרים, מבודדים, מוצאים שורש, מוסיפים בדיקה.</a:t>
            </a:r>
          </a:p>
          <a:p>
            <a:pPr rtl="1" algn="r" marL="0" indent="0">
              <a:buNone/>
            </a:pPr>
            <a:r>
              <a:rPr sz="1200" lang="he-IL"/>
              <a:t>•  זה תקציר שבע הצעדים בארבע מילים.</a:t>
            </a:r>
          </a:p>
          <a:p>
            <a:pPr rtl="1" algn="r" marL="0" indent="0">
              <a:buNone/>
            </a:pPr>
            <a:r>
              <a:rPr sz="1200" lang="he-IL"/>
              <a:t>•  חזרו לדוגמה מהפתיחה: 88,527 מול 177,598.</a:t>
            </a:r>
          </a:p>
          <a:p>
            <a:pPr rtl="1" algn="r" marL="0" indent="0">
              <a:buNone/>
            </a:pPr>
            <a:r>
              <a:rPr sz="1200" lang="he-IL"/>
              <a:t>•  מה הסימפטום ומה השורש?</a:t>
            </a:r>
          </a:p>
          <a:p>
            <a:pPr rtl="1" algn="r" marL="0" indent="0">
              <a:buNone/>
            </a:pPr>
            <a:r>
              <a:rPr sz="1200" lang="he-IL"/>
              <a:t>•  סימפטום: הסכום נמוך.</a:t>
            </a:r>
          </a:p>
          <a:p>
            <a:pPr rtl="1" algn="r" marL="0" indent="0">
              <a:buNone/>
            </a:pPr>
            <a:r>
              <a:rPr sz="1200" lang="he-IL"/>
              <a:t>•  שורש: תאריכים נקראו הפוך, טווח, כפילויות.</a:t>
            </a:r>
          </a:p>
          <a:p>
            <a:pPr rtl="1" algn="r" marL="0" indent="0">
              <a:buNone/>
            </a:pPr>
            <a:r>
              <a:rPr sz="1200" lang="he-IL"/>
              <a:t>•  הסבירו שאם התיקון השלישי לא עובד, זה סימן לעצור ולא לנסות רביעי, כי נכנסים ללולאה.</a:t>
            </a:r>
          </a:p>
          <a:p>
            <a:pPr rtl="1" algn="r" marL="0" indent="0">
              <a:buNone/>
            </a:pPr>
            <a:r>
              <a:rPr b="1" sz="1200" lang="he-IL"/>
              <a:t>אנלוגיה</a:t>
            </a:r>
          </a:p>
          <a:p>
            <a:pPr rtl="1" algn="r" marL="0" indent="0">
              <a:buNone/>
            </a:pPr>
            <a:r>
              <a:rPr sz="1200" lang="he-IL"/>
              <a:t>•  טכנאי שמחליף רכיב רביעי באותה מכונה בלי להבין.</a:t>
            </a:r>
          </a:p>
          <a:p>
            <a:pPr rtl="1" algn="r" marL="0" indent="0">
              <a:buNone/>
            </a:pPr>
            <a:r>
              <a:rPr sz="1200" lang="he-IL"/>
              <a:t>•  בקשו מסטודנט אחד לנסח את הכלל במילים שלו.</a:t>
            </a:r>
          </a:p>
          <a:p>
            <a:pPr rtl="1" algn="r" marL="0" indent="0">
              <a:buNone/>
            </a:pPr>
            <a:r>
              <a:rPr sz="1200" lang="he-IL"/>
              <a:t>•  הכלל מתחבר לשיעורים 6 ו־8: נקודת חזרה ב־Git ובדיקה שמגנה.</a:t>
            </a:r>
          </a:p>
          <a:p>
            <a:pPr rtl="1" algn="r" marL="0" indent="0">
              <a:buNone/>
            </a:pPr>
            <a:r>
              <a:rPr sz="1200" lang="he-IL"/>
              <a:t>•  אם הוספתם שקפי העשרה, זה השקף העוגן של המפגש, וחוזרים אליו מהם.</a:t>
            </a:r>
          </a:p>
          <a:p>
            <a:pPr rtl="1" algn="r" marL="0" indent="0">
              <a:buNone/>
            </a:pPr>
            <a:r>
              <a:rPr b="1" sz="1200" lang="he-IL"/>
              <a:t>חיבור לשיעורים קודמים</a:t>
            </a:r>
          </a:p>
          <a:p>
            <a:pPr rtl="1" algn="r" marL="0" indent="0">
              <a:buNone/>
            </a:pPr>
            <a:r>
              <a:rPr sz="1200" lang="he-IL"/>
              <a:t>•  במפגש 2 למדנו שהמודל ממציא ולכן מאמתים; במפגש 8 קיבלנו בדיקה כדי לגלות שמשהו שגוי; היום מוסיפים שיטה למצוא סיבה ולמנוע חזרה; ובמפגש 10, אבטחה, אותו חשד יופנה לקלט, לסודות ולחבילות.</a:t>
            </a:r>
          </a:p>
          <a:p>
            <a:pPr rtl="1" algn="r" marL="0" indent="0">
              <a:buNone/>
            </a:pPr>
            <a:r>
              <a:rPr b="1" sz="1200" lang="he-IL"/>
              <a:t>שאלת היזכרות</a:t>
            </a:r>
          </a:p>
          <a:p>
            <a:pPr rtl="1" algn="r" marL="0" indent="0">
              <a:buNone/>
            </a:pPr>
            <a:r>
              <a:rPr sz="1200" lang="he-IL"/>
              <a:t>•  מה הכלל של מפגש 8?</a:t>
            </a:r>
          </a:p>
          <a:p>
            <a:pPr rtl="1" algn="r" marL="0" indent="0">
              <a:buNone/>
            </a:pPr>
            <a:r>
              <a:rPr b="1" sz="1200" lang="he-IL"/>
              <a:t>תשובה</a:t>
            </a:r>
          </a:p>
          <a:p>
            <a:pPr rtl="1" algn="r" marL="0" indent="0">
              <a:buNone/>
            </a:pPr>
            <a:r>
              <a:rPr sz="1200" lang="he-IL"/>
              <a:t>•  קוד בלי בדיקה הוא השערה.</a:t>
            </a:r>
          </a:p>
          <a:p>
            <a:pPr rtl="1" algn="r" marL="0" indent="0">
              <a:buNone/>
            </a:pPr>
            <a:r>
              <a:rPr sz="1200" lang="he-IL"/>
              <a:t>•  ומה הכלל של היום?</a:t>
            </a:r>
          </a:p>
          <a:p>
            <a:pPr rtl="1" algn="r" marL="0" indent="0">
              <a:buNone/>
            </a:pPr>
            <a:r>
              <a:rPr sz="1200" lang="he-IL"/>
              <a:t>•  משחזרים, מבודדים, מוצאים שורש ומוסיפים בדיקה.</a:t>
            </a:r>
          </a:p>
          <a:p>
            <a:pPr rtl="1" algn="r" marL="0" indent="0">
              <a:buNone/>
            </a:pPr>
            <a:r>
              <a:rPr sz="1200" lang="he-IL"/>
              <a:t>•  אם הכיתה לא זוכרת, כתבו את שני הכללים זה ליד זה ושאלו מה ההבדל.</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חידון סיום (כ־2 דקות לשלוש שאלות, ועוד דקה וחצי לתשובות).</a:t>
            </a:r>
          </a:p>
          <a:p>
            <a:pPr rtl="1" algn="r" marL="0" indent="0">
              <a:buNone/>
            </a:pPr>
            <a:r>
              <a:rPr b="1" sz="1200" lang="he-IL"/>
              <a:t>מה אומרים</a:t>
            </a:r>
          </a:p>
          <a:p>
            <a:pPr rtl="1" algn="r" marL="0" indent="0">
              <a:buNone/>
            </a:pPr>
            <a:r>
              <a:rPr sz="1200" lang="he-IL"/>
              <a:t>•  הציגו שאלה אחת, תנו חצי דקה, ואז גלו.</a:t>
            </a:r>
          </a:p>
          <a:p>
            <a:pPr rtl="1" algn="r" marL="0" indent="0">
              <a:buNone/>
            </a:pPr>
            <a:r>
              <a:rPr sz="1200" lang="he-IL"/>
              <a:t>•  השאלות בודקות את הליבה: צעד ראשון בדיבוג, מתי עוצרים לולאה, וכיצד מגלים באג שקט.</a:t>
            </a:r>
          </a:p>
          <a:p>
            <a:pPr rtl="1" algn="r" marL="0" indent="0">
              <a:buNone/>
            </a:pPr>
            <a:r>
              <a:rPr sz="1200" lang="he-IL"/>
              <a:t>•  אם הכיתה גדולה, אפשר הצבעה ביד או שאלה לזוגות.</a:t>
            </a:r>
          </a:p>
          <a:p>
            <a:pPr rtl="1" algn="r" marL="0" indent="0">
              <a:buNone/>
            </a:pPr>
            <a:r>
              <a:rPr sz="1200" lang="he-IL"/>
              <a:t>•  תשובות שגויות נפוצות: לשאול את ה־AI (במקום לשחזר), להמשיך לנסות (במקום לעצור), ולקרוא את הקוד (במקום לבדוק).</a:t>
            </a:r>
          </a:p>
          <a:p>
            <a:pPr rtl="1" algn="r" marL="0" indent="0">
              <a:buNone/>
            </a:pPr>
            <a:r>
              <a:rPr sz="1200" lang="he-IL"/>
              <a:t>•  אם נשאר זמן, הוסיפו שאלות מהבנק: מה ההבדל בין סימפטום לשורש?</a:t>
            </a:r>
          </a:p>
          <a:p>
            <a:pPr rtl="1" algn="r" marL="0" indent="0">
              <a:buNone/>
            </a:pPr>
            <a:r>
              <a:rPr sz="1200" lang="he-IL"/>
              <a:t>•  מה כוללת בקשת דיבוג טובה?</a:t>
            </a:r>
          </a:p>
          <a:p>
            <a:pPr rtl="1" algn="r" marL="0" indent="0">
              <a:buNone/>
            </a:pPr>
            <a:r>
              <a:rPr sz="1200" lang="he-IL"/>
              <a:t>•  איזו בדיקה תתפוס את הבאג בעתיד?</a:t>
            </a:r>
          </a:p>
          <a:p>
            <a:pPr rtl="1" algn="r" marL="0" indent="0">
              <a:buNone/>
            </a:pPr>
            <a:r>
              <a:rPr sz="1200" lang="he-IL"/>
              <a:t>•  שימו לב שאין צורך להשלים את כל השאלות אם אין זמן, כי הסיכום מכסה אותן.</a:t>
            </a:r>
          </a:p>
          <a:p>
            <a:pPr rtl="1" algn="r" marL="0" indent="0">
              <a:buNone/>
            </a:pPr>
            <a:r>
              <a:rPr sz="1200" lang="he-IL"/>
              <a:t>•  אפשר להשתמש בשאלות גם כשאלות חזרה בתחילת מפגש 10.</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תשובות (כ־1.5 דקות).</a:t>
            </a:r>
          </a:p>
          <a:p>
            <a:pPr rtl="1" algn="r" marL="0" indent="0">
              <a:buNone/>
            </a:pPr>
            <a:r>
              <a:rPr b="1" sz="1200" lang="he-IL"/>
              <a:t>מה אומרים</a:t>
            </a:r>
          </a:p>
          <a:p>
            <a:pPr rtl="1" algn="r" marL="0" indent="0">
              <a:buNone/>
            </a:pPr>
            <a:r>
              <a:rPr sz="1200" lang="he-IL"/>
              <a:t>•  1: לשחזר את הבאג באופן עקבי ובמינימום קוד, כי בלי שחזור אי אפשר לדעת אם תיקנו.</a:t>
            </a:r>
          </a:p>
          <a:p>
            <a:pPr rtl="1" algn="r" marL="0" indent="0">
              <a:buNone/>
            </a:pPr>
            <a:r>
              <a:rPr sz="1200" lang="he-IL"/>
              <a:t>•  2: אחרי שני ניסיונות כושלים, פותחים שיחה חדשה עם סיכום של מה צפוי, מה בפועל, ומה נבדק.</a:t>
            </a:r>
          </a:p>
          <a:p>
            <a:pPr rtl="1" algn="r" marL="0" indent="0">
              <a:buNone/>
            </a:pPr>
            <a:r>
              <a:rPr sz="1200" lang="he-IL"/>
              <a:t>•  3: בדיקות שפיות: סכום ביקורת מול מקור חיצוני, ספירות לפני ואחרי כל שלב, ייחודיות של מפתחות וטווחי ערכים.</a:t>
            </a:r>
          </a:p>
          <a:p>
            <a:pPr rtl="1" algn="r" marL="0" indent="0">
              <a:buNone/>
            </a:pPr>
            <a:r>
              <a:rPr sz="1200" lang="he-IL"/>
              <a:t>•  אם סטודנט ענה אחרת, שאלו איך זה היה מוכיח שהמספר נכון.</a:t>
            </a:r>
          </a:p>
          <a:p>
            <a:pPr rtl="1" algn="r" marL="0" indent="0">
              <a:buNone/>
            </a:pPr>
            <a:r>
              <a:rPr sz="1200" lang="he-IL"/>
              <a:t>•  חזרו לדוגמה: מה היה סכום הביקורת שלנו?</a:t>
            </a:r>
          </a:p>
          <a:p>
            <a:pPr rtl="1" algn="r" marL="0" indent="0">
              <a:buNone/>
            </a:pPr>
            <a:r>
              <a:rPr sz="1200" lang="he-IL"/>
              <a:t>•  177,597.89.</a:t>
            </a:r>
          </a:p>
          <a:p>
            <a:pPr rtl="1" algn="r" marL="0" indent="0">
              <a:buNone/>
            </a:pPr>
            <a:r>
              <a:rPr sz="1200" lang="he-IL"/>
              <a:t>•  כמה באגים היו?</a:t>
            </a:r>
          </a:p>
          <a:p>
            <a:pPr rtl="1" algn="r" marL="0" indent="0">
              <a:buNone/>
            </a:pPr>
            <a:r>
              <a:rPr sz="1200" lang="he-IL"/>
              <a:t>•  ארבעה.</a:t>
            </a:r>
          </a:p>
          <a:p>
            <a:pPr rtl="1" algn="r" marL="0" indent="0">
              <a:buNone/>
            </a:pPr>
            <a:r>
              <a:rPr sz="1200" lang="he-IL"/>
              <a:t>•  מה הסכום הראשון אחרי התיקון הראשון?</a:t>
            </a:r>
          </a:p>
          <a:p>
            <a:pPr rtl="1" algn="r" marL="0" indent="0">
              <a:buNone/>
            </a:pPr>
            <a:r>
              <a:rPr sz="1200" lang="he-IL"/>
              <a:t>•  221,849.03.</a:t>
            </a:r>
          </a:p>
          <a:p>
            <a:pPr rtl="1" algn="r" marL="0" indent="0">
              <a:buNone/>
            </a:pPr>
            <a:r>
              <a:rPr sz="1200" lang="he-IL"/>
              <a:t>•  הדגישו שלהשוות למספר חיצוני זה הדבר הכי חזק, ושאין תחליף לו.</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סיכום (כ־3 דקות בתוך 9 דקות הסיכום).</a:t>
            </a:r>
          </a:p>
          <a:p>
            <a:pPr rtl="1" algn="r" marL="0" indent="0">
              <a:buNone/>
            </a:pPr>
            <a:r>
              <a:rPr b="1" sz="1200" lang="he-IL"/>
              <a:t>מה אומרים</a:t>
            </a:r>
          </a:p>
          <a:p>
            <a:pPr rtl="1" algn="r" marL="0" indent="0">
              <a:buNone/>
            </a:pPr>
            <a:r>
              <a:rPr sz="1200" lang="he-IL"/>
              <a:t>•  ארבע נקודות, כל אחת תופסת בלוק מהמפגש.</a:t>
            </a:r>
          </a:p>
          <a:p>
            <a:pPr rtl="1" algn="r" marL="0" indent="0">
              <a:buNone/>
            </a:pPr>
            <a:r>
              <a:rPr sz="1200" lang="he-IL"/>
              <a:t>•  נקודה 1: שיטה של שבעה צעדים, שחזור, בידוד, השערה, ניסוי, תיקון, אימות ומניעה.</a:t>
            </a:r>
          </a:p>
          <a:p>
            <a:pPr rtl="1" algn="r" marL="0" indent="0">
              <a:buNone/>
            </a:pPr>
            <a:r>
              <a:rPr sz="1200" lang="he-IL"/>
              <a:t>•  נקודה 2: Traceback נקרא מלמטה למעלה, ושגיאות מתודה, חבילה או פרמטר הן סימן להזיה, ולכן בודקים קיום ב־PyPI או בתיעוד.</a:t>
            </a:r>
          </a:p>
          <a:p>
            <a:pPr rtl="1" algn="r" marL="0" indent="0">
              <a:buNone/>
            </a:pPr>
            <a:r>
              <a:rPr sz="1200" lang="he-IL"/>
              <a:t>•  נקודה 3: באג שקט נתפס בבדיקות שפיות: סכום ביקורת, ספירות, ייחודיות וטווחים.</a:t>
            </a:r>
          </a:p>
          <a:p>
            <a:pPr rtl="1" algn="r" marL="0" indent="0">
              <a:buNone/>
            </a:pPr>
            <a:r>
              <a:rPr sz="1200" lang="he-IL"/>
              <a:t>•  נקודה 4: בקשה טובה, ועם שורש בעיה ובדיקת רגרסיה לא חוזרים לאותה תקלה.</a:t>
            </a:r>
          </a:p>
          <a:p>
            <a:pPr rtl="1" algn="r" marL="0" indent="0">
              <a:buNone/>
            </a:pPr>
            <a:r>
              <a:rPr sz="1200" lang="he-IL"/>
              <a:t>•  חזרו למספרים: 88,527 מול 177,598, ארבעה באגים, 778 הזמנות.</a:t>
            </a:r>
          </a:p>
          <a:p>
            <a:pPr rtl="1" algn="r" marL="0" indent="0">
              <a:buNone/>
            </a:pPr>
            <a:r>
              <a:rPr sz="1200" lang="he-IL"/>
              <a:t>•  שאלו בכיתה: מה הדבר היחיד שתעשו אחרת מעכשיו בקוד של AI?</a:t>
            </a:r>
          </a:p>
          <a:p>
            <a:pPr rtl="1" algn="r" marL="0" indent="0">
              <a:buNone/>
            </a:pPr>
            <a:r>
              <a:rPr sz="1200" lang="he-IL"/>
              <a:t>•  קבלו כמה תשובות.</a:t>
            </a:r>
          </a:p>
          <a:p>
            <a:pPr rtl="1" algn="r" marL="0" indent="0">
              <a:buNone/>
            </a:pPr>
            <a:r>
              <a:rPr sz="1200" lang="he-IL"/>
              <a:t>•  הזכירו את הקשר: שיעור 6 גיט, שיעור 8 בדיקות, שיעור 10 אבטחה.</a:t>
            </a:r>
          </a:p>
          <a:p>
            <a:pPr rtl="1" algn="r" marL="0" indent="0">
              <a:buNone/>
            </a:pPr>
            <a:r>
              <a:rPr sz="1200" lang="he-IL"/>
              <a:t>•  להעמקה בבית: שקפי ההעשרה ושני שקפי המקורות.</a:t>
            </a:r>
          </a:p>
          <a:p>
            <a:pPr rtl="1" algn="r" marL="0" indent="0">
              <a:buNone/>
            </a:pPr>
            <a:r>
              <a:rPr sz="1200" lang="he-IL"/>
              <a:t>•  אפשר להציע לסטודנטים לבחור מאמר אחד ולקרוא את התקציר והאיורים בלבד.</a:t>
            </a:r>
          </a:p>
          <a:p>
            <a:pPr rtl="1" algn="r" marL="0" indent="0">
              <a:buNone/>
            </a:pPr>
            <a:r>
              <a:rPr sz="1200" lang="he-IL"/>
              <a:t>•  חזרה אחורה וקדימה: הכלל של היום נוסף לשרשרת, הזיה (מפגש 2), בדיקה (מפגש 8) ועכשיו דיבוג, ומי שמחבר ביניהם הוא סכום הביקורת מול מקור חיצוני.</a:t>
            </a:r>
          </a:p>
          <a:p>
            <a:pPr rtl="1" algn="r" marL="0" indent="0">
              <a:buNone/>
            </a:pPr>
            <a:r>
              <a:rPr sz="1200" lang="he-IL"/>
              <a:t>•  בנקודה 2 חוזרים להזיות ממפגש 2 ובנקודה 4 לבדיקת הרגרסיה ממפגש 8.</a:t>
            </a:r>
          </a:p>
          <a:p>
            <a:pPr rtl="1" algn="r" marL="0" indent="0">
              <a:buNone/>
            </a:pPr>
            <a:r>
              <a:rPr sz="1200" lang="he-IL"/>
              <a:t>•  קדימה: במפגש 10 אותו חשד מופנה לקלט, לסודות ולחבילות.</a:t>
            </a:r>
          </a:p>
          <a:p>
            <a:pPr rtl="1" algn="r" marL="0" indent="0">
              <a:buNone/>
            </a:pPr>
            <a:r>
              <a:rPr b="1" sz="1200" lang="he-IL"/>
              <a:t>שאלה לכיתה</a:t>
            </a:r>
          </a:p>
          <a:p>
            <a:pPr rtl="1" algn="r" marL="0" indent="0">
              <a:buNone/>
            </a:pPr>
            <a:r>
              <a:rPr sz="1200" lang="he-IL"/>
              <a:t>•  איזה מפגש קודם עוזר לכם הכי הרבה בדיבוג, ולמה?</a:t>
            </a:r>
          </a:p>
          <a:p>
            <a:pPr rtl="1" algn="r" marL="0" indent="0">
              <a:buNone/>
            </a:pPr>
            <a:r>
              <a:rPr sz="1200" lang="he-IL"/>
              <a:t>•  קבלו שתי תשובות.</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הכנה למפגש הבא (כ־1.5 דקות).</a:t>
            </a:r>
          </a:p>
          <a:p>
            <a:pPr rtl="1" algn="r" marL="0" indent="0">
              <a:buNone/>
            </a:pPr>
            <a:r>
              <a:rPr b="1" sz="1200" lang="he-IL"/>
              <a:t>מה אומרים</a:t>
            </a:r>
          </a:p>
          <a:p>
            <a:pPr rtl="1" algn="r" marL="0" indent="0">
              <a:buNone/>
            </a:pPr>
            <a:r>
              <a:rPr sz="1200" lang="he-IL"/>
              <a:t>•  שלוש משימות לפני מפגש 10: להשלים בבית את שלב 6 בחלק ג׳ של המחברת (תחקיר ו־commit), אם לא הספקתם בכיתה, וליצור יומן באגים לפרויקט הקבוצתי, קובץ שבו כל תחקיר הוא עמוד אחד לפי התבנית של היום</a:t>
            </a:r>
          </a:p>
          <a:p>
            <a:pPr rtl="1" algn="r" marL="0" indent="0">
              <a:buNone/>
            </a:pPr>
            <a:r>
              <a:rPr sz="1200" lang="he-IL"/>
              <a:t>•  להוסיף לפחות בדיקת רגרסיה אחת לפרויקט, בדומה ל־test_regression שבמחברת</a:t>
            </a:r>
          </a:p>
          <a:p>
            <a:pPr rtl="1" algn="r" marL="0" indent="0">
              <a:buNone/>
            </a:pPr>
            <a:r>
              <a:rPr sz="1200" lang="he-IL"/>
              <a:t>•  ולוודא ששום מפתח או סוד לא נמצא בקוד.</a:t>
            </a:r>
          </a:p>
          <a:p>
            <a:pPr rtl="1" algn="r" marL="0" indent="0">
              <a:buNone/>
            </a:pPr>
            <a:r>
              <a:rPr sz="1200" lang="he-IL"/>
              <a:t>•  המשימה השלישית מובילה לשיעור הבא על אבטחה: מפתחות API, קוד לא בטוח והזרקת פרומפט.</a:t>
            </a:r>
          </a:p>
          <a:p>
            <a:pPr rtl="1" algn="r" marL="0" indent="0">
              <a:buNone/>
            </a:pPr>
            <a:r>
              <a:rPr sz="1200" lang="he-IL"/>
              <a:t>•  הזכירו את הקשר לדיבוג: חבילה מומצאת היא גם סיכון אבטחתי, כי מישהו יכול לרשום חבילה בשם הזה ולהכניס קוד זדוני.</a:t>
            </a:r>
          </a:p>
          <a:p>
            <a:pPr rtl="1" algn="r" marL="0" indent="0">
              <a:buNone/>
            </a:pPr>
            <a:r>
              <a:rPr sz="1200" lang="he-IL"/>
              <a:t>•  הנחו: לפני המפגש חפשו בקבצי הפרויקט וודאו שלא נשארו מפתחות.</a:t>
            </a:r>
          </a:p>
          <a:p>
            <a:pPr rtl="1" algn="r" marL="0" indent="0">
              <a:buNone/>
            </a:pPr>
            <a:r>
              <a:rPr b="1" sz="1200" lang="he-IL"/>
              <a:t>שאלה לכיתה</a:t>
            </a:r>
          </a:p>
          <a:p>
            <a:pPr rtl="1" algn="r" marL="0" indent="0">
              <a:buNone/>
            </a:pPr>
            <a:r>
              <a:rPr sz="1200" lang="he-IL"/>
              <a:t>•  איפה סודות צריכים להיות שמורים?</a:t>
            </a:r>
          </a:p>
          <a:p>
            <a:pPr rtl="1" algn="r" marL="0" indent="0">
              <a:buNone/>
            </a:pPr>
            <a:r>
              <a:rPr sz="1200" lang="he-IL"/>
              <a:t>•  תנו לשמוע, ותפתחו את זה בשיעור הבא.</a:t>
            </a:r>
          </a:p>
          <a:p>
            <a:pPr rtl="1" algn="r" marL="0" indent="0">
              <a:buNone/>
            </a:pPr>
            <a:r>
              <a:rPr b="1" sz="1200" lang="he-IL"/>
              <a:t>חיבור לשיעורים קודמים</a:t>
            </a:r>
          </a:p>
          <a:p>
            <a:pPr rtl="1" algn="r" marL="0" indent="0">
              <a:buNone/>
            </a:pPr>
            <a:r>
              <a:rPr sz="1200" lang="he-IL"/>
              <a:t>•  יומן הבאגים משלים את יומן ה־AI ממפגש 5 (AI_LOG): ביומן ה־AI רושמים מה ביקשנו, מה קיבלנו ואיך אימתנו, וביומן הבאגים רושמים מה נשבר ולמה.</a:t>
            </a:r>
          </a:p>
          <a:p>
            <a:pPr rtl="1" algn="r" marL="0" indent="0">
              <a:buNone/>
            </a:pPr>
            <a:r>
              <a:rPr sz="1200" lang="he-IL"/>
              <a:t>•  בדיקת הרגרסיה היא המשך של בדיקות מפגש 8.</a:t>
            </a:r>
          </a:p>
          <a:p>
            <a:pPr rtl="1" algn="r" marL="0" indent="0">
              <a:buNone/>
            </a:pPr>
            <a:r>
              <a:rPr b="1" sz="1200" lang="he-IL"/>
              <a:t>שאלת היזכרות</a:t>
            </a:r>
          </a:p>
          <a:p>
            <a:pPr rtl="1" algn="r" marL="0" indent="0">
              <a:buNone/>
            </a:pPr>
            <a:r>
              <a:rPr sz="1200" lang="he-IL"/>
              <a:t>•  מה רושמים ביומן ה־AI ממפגש 5?</a:t>
            </a:r>
          </a:p>
          <a:p>
            <a:pPr rtl="1" algn="r" marL="0" indent="0">
              <a:buNone/>
            </a:pPr>
            <a:r>
              <a:rPr b="1" sz="1200" lang="he-IL"/>
              <a:t>תשובה</a:t>
            </a:r>
          </a:p>
          <a:p>
            <a:pPr rtl="1" algn="r" marL="0" indent="0">
              <a:buNone/>
            </a:pPr>
            <a:r>
              <a:rPr sz="1200" lang="he-IL"/>
              <a:t>•  כלי ופרומפט, מה קיבלתי, איך אימתתי והחלטה.</a:t>
            </a:r>
          </a:p>
          <a:p>
            <a:pPr rtl="1" algn="r" marL="0" indent="0">
              <a:buNone/>
            </a:pPr>
            <a:r>
              <a:rPr sz="1200" lang="he-IL"/>
              <a:t>•  אם הכיתה לא זוכרת, הפנו לקובץ AI_LOG.md שבפרויקט.</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איך עובדים עם המחברת, כחצי דקה מתוך 10 הדקות של מעבדה א׳ (השקף חוזר בכל מעבדה, ולכן אפשר לקצר).</a:t>
            </a:r>
          </a:p>
          <a:p>
            <a:pPr rtl="1" algn="r" marL="0" indent="0">
              <a:buNone/>
            </a:pPr>
            <a:r>
              <a:rPr b="1" sz="1200" lang="he-IL"/>
              <a:t>מה אומרים</a:t>
            </a:r>
          </a:p>
          <a:p>
            <a:pPr rtl="1" algn="r" marL="0" indent="0">
              <a:buNone/>
            </a:pPr>
            <a:r>
              <a:rPr sz="1200" lang="he-IL"/>
              <a:t>•  שלושה כללים שחוזרים בכל מחברת בקורס.</a:t>
            </a:r>
          </a:p>
          <a:p>
            <a:pPr rtl="1" algn="r" marL="0" indent="0">
              <a:buNone/>
            </a:pPr>
            <a:r>
              <a:rPr sz="1200" lang="he-IL"/>
              <a:t>•  אחד: ממלאים בעצמכם את הפונקציות המסומנות TODO, בלי כלי AI.</a:t>
            </a:r>
          </a:p>
          <a:p>
            <a:pPr rtl="1" algn="r" marL="0" indent="0">
              <a:buNone/>
            </a:pPr>
            <a:r>
              <a:rPr sz="1200" lang="he-IL"/>
              <a:t>•  כל פונקציה היא 2 עד 8 שורות, ובכל שלב יש הסבר, דוגמה ורמז.</a:t>
            </a:r>
          </a:p>
          <a:p>
            <a:pPr rtl="1" algn="r" marL="0" indent="0">
              <a:buNone/>
            </a:pPr>
            <a:r>
              <a:rPr sz="1200" lang="he-IL"/>
              <a:t>•  החריג היחיד הוא חלק ה׳, שבו עוזר ה־AI הוא נושא הניסוי.</a:t>
            </a:r>
          </a:p>
          <a:p>
            <a:pPr rtl="1" algn="r" marL="0" indent="0">
              <a:buNone/>
            </a:pPr>
            <a:r>
              <a:rPr sz="1200" lang="he-IL"/>
              <a:t>•  שניים: אחרי כל פונקציה יש תא בדיקה.</a:t>
            </a:r>
          </a:p>
          <a:p>
            <a:pPr rtl="1" algn="r" marL="0" indent="0">
              <a:buNone/>
            </a:pPr>
            <a:r>
              <a:rPr sz="1200" lang="he-IL"/>
              <a:t>•  כשהמימוש נכון מודפס ✓, וכשלא מודפסת הודעה שמסבירה מה נכשל.</a:t>
            </a:r>
          </a:p>
          <a:p>
            <a:pPr rtl="1" algn="r" marL="0" indent="0">
              <a:buNone/>
            </a:pPr>
            <a:r>
              <a:rPr sz="1200" lang="he-IL"/>
              <a:t>•  אם נשארה השורה raise NotImplementedError, ההודעה תהיה שהפונקציה עדיין לא מומשה.</a:t>
            </a:r>
          </a:p>
          <a:p>
            <a:pPr rtl="1" algn="r" marL="0" indent="0">
              <a:buNone/>
            </a:pPr>
            <a:r>
              <a:rPr sz="1200" lang="he-IL"/>
              <a:t>•  שלושה: לפני כל הרצה מפתיעה כותבים תחזית בתא המיועד, ואחרי כל חלק עונים על שאלות ניתוח במונחי ההרצאה.</a:t>
            </a:r>
          </a:p>
          <a:p>
            <a:pPr rtl="1" algn="r" marL="0" indent="0">
              <a:buNone/>
            </a:pPr>
            <a:r>
              <a:rPr sz="1200" lang="he-IL"/>
              <a:t>•  תחזית שגויה עם ניתוח טוב שווה יותר מתחזית נכונה בלי הסבר.</a:t>
            </a:r>
          </a:p>
          <a:p>
            <a:pPr rtl="1" algn="r" marL="0" indent="0">
              <a:buNone/>
            </a:pPr>
            <a:r>
              <a:rPr b="1" sz="1200" lang="he-IL"/>
              <a:t>הגשה</a:t>
            </a:r>
          </a:p>
          <a:p>
            <a:pPr rtl="1" algn="r" marL="0" indent="0">
              <a:buNone/>
            </a:pPr>
            <a:r>
              <a:rPr sz="1200" lang="he-IL"/>
              <a:t>•  Runtime ← Restart session and run all, לוודא שהבדיקה המסכמת בסוף מסומנת ✓, ואז File ← Download ← Download .ipynb.</a:t>
            </a:r>
          </a:p>
          <a:p>
            <a:pPr rtl="1" algn="r" marL="0" indent="0">
              <a:buNone/>
            </a:pPr>
            <a:r>
              <a:rPr sz="1200" lang="he-IL"/>
              <a:t>•  למי שחושש מקוד: כל פונקציה קצרה, ואם נתקעים קוראים שוב את ה־docstring (הטקסט בין שלוש המרכאות) ושואלים את בן הזוג.</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מה אמור לצאת במעבדה א׳, כדקה, לשימוש בזמן הסיור בין הזוגות.</a:t>
            </a:r>
          </a:p>
          <a:p>
            <a:pPr rtl="1" algn="r" marL="0" indent="0">
              <a:buNone/>
            </a:pPr>
            <a:r>
              <a:rPr b="1" sz="1200" lang="he-IL"/>
              <a:t>מה אומרים</a:t>
            </a:r>
          </a:p>
          <a:p>
            <a:pPr rtl="1" algn="r" marL="0" indent="0">
              <a:buNone/>
            </a:pPr>
            <a:r>
              <a:rPr sz="1200" lang="he-IL"/>
              <a:t>•  תא הבדיקה של שלב 1 מדפיס ✓, והתא שמריץ parse_traceback על חמש התוכניות מדפיס: e1 KeyError בשורה 3, e2 TypeError בשורה 3, e3 ModuleNotFoundError בשורה 1, e4 AttributeError בשורה 3, e5 FileNotFoundError בשורה 2.</a:t>
            </a:r>
          </a:p>
          <a:p>
            <a:pPr rtl="1" algn="r" marL="0" indent="0">
              <a:buNone/>
            </a:pPr>
            <a:r>
              <a:rPr sz="1200" lang="he-IL"/>
              <a:t>•  בשלב 2: ל־DataFrame יש to_excel, to_parquet ו־to_markdown, ואין to_excel_fast ו־to_sql_fast (הסימן המחשיד הוא הסיומת fast על שם אמיתי).</a:t>
            </a:r>
          </a:p>
          <a:p>
            <a:pPr rtl="1" algn="r" marL="0" indent="0">
              <a:buNone/>
            </a:pPr>
            <a:r>
              <a:rPr sz="1200" lang="he-IL"/>
              <a:t>•  החבילה pandas_excel_fast לא נמצאה, ושם הבדיקה הנכונה היא pypi.org.</a:t>
            </a:r>
          </a:p>
          <a:p>
            <a:pPr rtl="1" algn="r" marL="0" indent="0">
              <a:buNone/>
            </a:pPr>
            <a:r>
              <a:rPr sz="1200" lang="he-IL"/>
              <a:t>•  לפי הערות המרצה, openpyxl אמורה להיות מותקנת ב־Colab, אבל לא נבדק שם.</a:t>
            </a:r>
          </a:p>
          <a:p>
            <a:pPr rtl="1" algn="r" marL="0" indent="0">
              <a:buNone/>
            </a:pPr>
            <a:r>
              <a:rPr sz="1200" lang="he-IL"/>
              <a:t>•  הנתיבים בפלט תלויים בגרסה (dist-packages ב־Colab), והפונקציה is_library_path מטפלת בשניהם.</a:t>
            </a:r>
          </a:p>
          <a:p>
            <a:pPr rtl="1" algn="r" marL="0" indent="0">
              <a:buNone/>
            </a:pPr>
            <a:r>
              <a:rPr sz="1200" lang="he-IL"/>
              <a:t>•  תשובות לשאלות: קוראים מלמטה כי השורה האחרונה אומרת מה קרה והראשונה שלנו אומרת איפה; e3 ו־e4 הן הזיות, ו״תנסה שוב״ עלול להניב עוד שם מומצא.</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מה אמור לצאת במעבדה ב׳, כדקה, לשימוש בזמן הסיור.</a:t>
            </a:r>
          </a:p>
          <a:p>
            <a:pPr rtl="1" algn="r" marL="0" indent="0">
              <a:buNone/>
            </a:pPr>
            <a:r>
              <a:rPr b="1" sz="1200" lang="he-IL"/>
              <a:t>מה אומרים</a:t>
            </a:r>
          </a:p>
          <a:p>
            <a:pPr rtl="1" algn="r" marL="0" indent="0">
              <a:buNone/>
            </a:pPr>
            <a:r>
              <a:rPr sz="1200" lang="he-IL"/>
              <a:t>•  בשלב 1: סכום הדוח 88,526.81, סכום הביקורת 177,597.89, פער של 89,071.08, ו־278 שורות ברבעון לפני הצירוף מול 346 אחרי.</a:t>
            </a:r>
          </a:p>
          <a:p>
            <a:pPr rtl="1" algn="r" marL="0" indent="0">
              <a:buNone/>
            </a:pPr>
            <a:r>
              <a:rPr sz="1200" lang="he-IL"/>
              <a:t>•  בשלב 2: count_nat מחזירה 1,847 מתוך 3,040, ב־order_id יש 40 חזרות, ובטבלת הספקים 2 חזרות (10 שורות, 8 ספקים).</a:t>
            </a:r>
          </a:p>
          <a:p>
            <a:pPr rtl="1" algn="r" marL="0" indent="0">
              <a:buNone/>
            </a:pPr>
            <a:r>
              <a:rPr sz="1200" lang="he-IL"/>
              <a:t>•  בשלב 3: find_bad_rows מחזירה 1,847 שורות, ובכולן המספר הראשון בתאריך גדול מ־12 (הקטן ביותר 13, הגדול ביותר 31), ולכן pandas לא יכול לקרוא אותו כחודש, ו־errors coerce הופך אותו ל־NaT בלי הודעה.</a:t>
            </a:r>
          </a:p>
          <a:p>
            <a:pPr rtl="1" algn="r" marL="0" indent="0">
              <a:buNone/>
            </a:pPr>
            <a:r>
              <a:rPr sz="1200" lang="he-IL"/>
              <a:t>•  בשלב 4, בדוגמת הפתרון (חמש השורות הראשונות): 01/06/2025 נקרא כ־2025-01-06 במקום 1 ביוני, 03/04/2025 נקרא כ־4 במרץ, ושלוש שורות הופכות ל־NaT.</a:t>
            </a:r>
          </a:p>
          <a:p>
            <a:pPr rtl="1" algn="r" marL="0" indent="0">
              <a:buNone/>
            </a:pPr>
            <a:r>
              <a:rPr sz="1200" lang="he-IL"/>
              <a:t>•  אלה שני הכשלים: תאריך שנעלם, ותאריך שמתהפך בשקט.</a:t>
            </a:r>
          </a:p>
          <a:p>
            <a:pPr rtl="1" algn="r" marL="0" indent="0">
              <a:buNone/>
            </a:pPr>
            <a:r>
              <a:rPr sz="1200" lang="he-IL"/>
              <a:t>•  תשובות לשאלות: סכום הביקורת אומר שיש בעיה והספירות אומרות איפה, ומקרה מינימלי אפשר להבין בעין ולהדביק ל־AI בלי להציף את חלון ההקשר.</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מה אמור לצאת בתיקונים, כדקה, לשימוש בזמן הסיור.</a:t>
            </a:r>
          </a:p>
          <a:p>
            <a:pPr rtl="1" algn="r" marL="0" indent="0">
              <a:buNone/>
            </a:pPr>
            <a:r>
              <a:rPr b="1" sz="1200" lang="he-IL"/>
              <a:t>מה אומרים</a:t>
            </a:r>
          </a:p>
          <a:p>
            <a:pPr rtl="1" algn="r" marL="0" indent="0">
              <a:buNone/>
            </a:pPr>
            <a:r>
              <a:rPr sz="1200" lang="he-IL"/>
              <a:t>•  בפנקס של שלב 3 הסכומים הם 88,526.81, 221,849.03, 225,051.21, 222,175.27 ובסוף 177,597.89, והבדיקה check_c3 מוודאת גם שבדוח המתוקן יש 778 שורות.</a:t>
            </a:r>
          </a:p>
          <a:p>
            <a:pPr rtl="1" algn="r" marL="0" indent="0">
              <a:buNone/>
            </a:pPr>
            <a:r>
              <a:rPr sz="1200" lang="he-IL"/>
              <a:t>•  לפני שלב 1 הסטודנטים מנבאים כמה הזמנות נרשמו ב־1 ביולי: התשובה 10.</a:t>
            </a:r>
          </a:p>
          <a:p>
            <a:pPr rtl="1" algn="r" marL="0" indent="0">
              <a:buNone/>
            </a:pPr>
            <a:r>
              <a:rPr sz="1200" lang="he-IL"/>
              <a:t>•  בשלב 4 הטלאי של הוספת הפער 89,071.08 נותן בדיוק 177,597.89 על כל הנתונים, ולכן הוא נראה כמו תיקון.</a:t>
            </a:r>
          </a:p>
          <a:p>
            <a:pPr rtl="1" algn="r" marL="0" indent="0">
              <a:buNone/>
            </a:pPr>
            <a:r>
              <a:rPr sz="1200" lang="he-IL"/>
              <a:t>•  אבל על 1,500 השורות הראשונות הדוח המתוקן נותן 81,332.26, ואילו הדוח הפגום עם הטלאי נותן 134,482.85.</a:t>
            </a:r>
          </a:p>
          <a:p>
            <a:pPr rtl="1" algn="r" marL="0" indent="0">
              <a:buNone/>
            </a:pPr>
            <a:r>
              <a:rPr sz="1200" lang="he-IL"/>
              <a:t>•  בשלב 5 הבדיקה test_regression עוברת על הדוח עם ארבעת התיקונים, ונכשלת על הדוח הפגום ועל כל גרסה שחסר בה תיקון אחד.</a:t>
            </a:r>
          </a:p>
          <a:p>
            <a:pPr rtl="1" algn="r" marL="0" indent="0">
              <a:buNone/>
            </a:pPr>
            <a:r>
              <a:rPr sz="1200" lang="he-IL"/>
              <a:t>•  הסכום נכשל בלי תיקון התאריכים (71,845.52), בלי הטווח (174,544.49), בלי הסרת הזמנות כפולות (179,923.80) ובלי הסרת הספקים (222,175.27).</a:t>
            </a:r>
          </a:p>
          <a:p>
            <a:pPr rtl="1" algn="r" marL="0" indent="0">
              <a:buNone/>
            </a:pPr>
            <a:r>
              <a:rPr sz="1200" lang="he-IL"/>
              <a:t>•  הסבירו שבדיקה של assert total גדול מ־100000 הייתה עוברת גם על 221,849, ולכן לא מוכיחה כלום.</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חלקים ד׳ עד ו׳ של המחברת, חלק מבלוק מעבדה ג׳: ד׳ כ־2 דקות, ה׳ 5 דקות, ו׳ כדקה בכיתה והשאר בבית.</a:t>
            </a:r>
          </a:p>
          <a:p>
            <a:pPr rtl="1" algn="r" marL="0" indent="0">
              <a:buNone/>
            </a:pPr>
            <a:r>
              <a:rPr b="1" sz="1200" lang="he-IL"/>
              <a:t>מה אומרים</a:t>
            </a:r>
          </a:p>
          <a:p>
            <a:pPr rtl="1" algn="r" marL="0" indent="0">
              <a:buNone/>
            </a:pPr>
            <a:r>
              <a:rPr sz="1200" lang="he-IL"/>
              <a:t>•  בחלק ד׳ הסטודנטים מתייגים את תשעת הבאגים, חמש השגיאות מחלק א׳ וארבעת באגי הדוח, בשני מילונים: family (הזיה או הנחה) ו־is_silent (רועש או שקט).</a:t>
            </a:r>
          </a:p>
          <a:p>
            <a:pPr rtl="1" algn="r" marL="0" indent="0">
              <a:buNone/>
            </a:pPr>
            <a:r>
              <a:rPr sz="1200" lang="he-IL"/>
              <a:t>•  בחלק ה׳ זה הצעד האמיתי: בונים בקשת דיבוג עם build_debug_request, מדביקים אותה לעוזר ה־Gemini של Colab אם הכלי זמין בחשבון שלכם (בתיעוד של גוגל מופיע Explain error ב־Colab Enterprise</a:t>
            </a:r>
          </a:p>
          <a:p>
            <a:pPr rtl="1" algn="r" marL="0" indent="0">
              <a:buNone/>
            </a:pPr>
            <a:r>
              <a:rPr sz="1200" lang="he-IL"/>
              <a:t>•  בגרסה החינמית לא אימתנו, ולכן כל צ׳אט מתאים) או לכל צ׳אט, ובודקים את התשובה בקוד עם api_exists ו־patch_smells.</a:t>
            </a:r>
          </a:p>
          <a:p>
            <a:pPr rtl="1" algn="r" marL="0" indent="0">
              <a:buNone/>
            </a:pPr>
            <a:r>
              <a:rPr sz="1200" lang="he-IL"/>
              <a:t>•  מה לבדוק בזמן הסיור: שהסטודנטים לא מאמצים הצעה שנכשלה בבדיקות.</a:t>
            </a:r>
          </a:p>
          <a:p>
            <a:pPr rtl="1" algn="r" marL="0" indent="0">
              <a:buNone/>
            </a:pPr>
            <a:r>
              <a:rPr sz="1200" lang="he-IL"/>
              <a:t>•  הכלי עלול להציע גם שם מומצא אחר או try/except.</a:t>
            </a:r>
          </a:p>
          <a:p>
            <a:pPr rtl="1" algn="r" marL="0" indent="0">
              <a:buNone/>
            </a:pPr>
            <a:r>
              <a:rPr sz="1200" lang="he-IL"/>
              <a:t>•  גיבוי אם אין גישה לכלי: להשתמש בתשובה לדוגמה בגרסת הפתרון, בתא ai_diagnosis.</a:t>
            </a:r>
          </a:p>
          <a:p>
            <a:pPr rtl="1" algn="r" marL="0" indent="0">
              <a:buNone/>
            </a:pPr>
            <a:r>
              <a:rPr sz="1200" lang="he-IL"/>
              <a:t>•  בחלק ו׳ כל סטודנט כותב מסקנה של חמישה משפטים.</a:t>
            </a:r>
          </a:p>
          <a:p>
            <a:pPr rtl="1" algn="r" marL="0" indent="0">
              <a:buNone/>
            </a:pPr>
            <a:r>
              <a:rPr sz="1200" lang="he-IL"/>
              <a:t>•  מי שמסיים מוקדם עובר לבונוס, ואחרים עושים אותו בבית.</a:t>
            </a:r>
          </a:p>
          <a:p>
            <a:pPr rtl="1" algn="r" marL="0" indent="0">
              <a:buNone/>
            </a:pPr>
            <a:r>
              <a:rPr sz="1200" lang="he-IL"/>
              <a:t>•  מה בנוי על קודם: בחלק ד׳ משתמשים בטקסונומיה של מפגש 2 (חמשת סוגי ההזיות) ומוסיפים לה את משפחת ההנחות על הנתונים.</a:t>
            </a:r>
          </a:p>
          <a:p>
            <a:pPr rtl="1" algn="r" marL="0" indent="0">
              <a:buNone/>
            </a:pPr>
            <a:r>
              <a:rPr sz="1200" lang="he-IL"/>
              <a:t>•  בחלק ה׳ הבקשה נבנית לפי ארבעת החלקים: ניסוח בקשה (נושא מפגש 3 בסילבוס) והקשר רלוונטי בלבד (נושא מפגש 4 בסילבוס).</a:t>
            </a:r>
          </a:p>
          <a:p>
            <a:pPr rtl="1" algn="r" marL="0" indent="0">
              <a:buNone/>
            </a:pPr>
            <a:r>
              <a:rPr sz="1200" lang="he-IL"/>
              <a:t>•  הפונקציות patch_smells ו־api_exists מיישמות את מה שלמדנו במפגש 8, לא מאמצים תשובה של AI בלי בדיקה, וגם את בדיקת הקיום ממפגש 2.</a:t>
            </a:r>
          </a:p>
          <a:p>
            <a:pPr rtl="1" algn="r" marL="0" indent="0">
              <a:buNone/>
            </a:pPr>
            <a:r>
              <a:rPr b="1" sz="1200" lang="he-IL"/>
              <a:t>שאלת היזכרות</a:t>
            </a:r>
          </a:p>
          <a:p>
            <a:pPr rtl="1" algn="r" marL="0" indent="0">
              <a:buNone/>
            </a:pPr>
            <a:r>
              <a:rPr sz="1200" lang="he-IL"/>
              <a:t>•  מה בודקים בהצעה של AI לפני שמאמצים אותה?</a:t>
            </a:r>
          </a:p>
          <a:p>
            <a:pPr rtl="1" algn="r" marL="0" indent="0">
              <a:buNone/>
            </a:pPr>
            <a:r>
              <a:rPr b="1" sz="1200" lang="he-IL"/>
              <a:t>תשובה</a:t>
            </a:r>
          </a:p>
          <a:p>
            <a:pPr rtl="1" algn="r" marL="0" indent="0">
              <a:buNone/>
            </a:pPr>
            <a:r>
              <a:rPr sz="1200" lang="he-IL"/>
              <a:t>•  האם השם קיים (מפגש 2), והאם הוא מטלא (היום).</a:t>
            </a:r>
          </a:p>
          <a:p>
            <a:pPr rtl="1" algn="r" marL="0" indent="0">
              <a:buNone/>
            </a:pPr>
            <a:r>
              <a:rPr sz="1200" lang="he-IL"/>
              <a:t>•  אם הכיתה לא זוכרת, הפנו לשקף בדיקת קיום ה־API.</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מה אמור לצאת בחלקים ד׳ עד ו׳, כדקה, לשימוש בזמן הסיור.</a:t>
            </a:r>
          </a:p>
          <a:p>
            <a:pPr rtl="1" algn="r" marL="0" indent="0">
              <a:buNone/>
            </a:pPr>
            <a:r>
              <a:rPr b="1" sz="1200" lang="he-IL"/>
              <a:t>מה אומרים</a:t>
            </a:r>
          </a:p>
          <a:p>
            <a:pPr rtl="1" algn="r" marL="0" indent="0">
              <a:buNone/>
            </a:pPr>
            <a:r>
              <a:rPr sz="1200" lang="he-IL"/>
              <a:t>•  בחלק ד׳ הסיווג הנכון הוא: e3 ו־e4 הזיות (חבילה ומתודה), ושאר חמש השגיאות והבאגים של הדוח הם הנחות שגויות.</a:t>
            </a:r>
          </a:p>
          <a:p>
            <a:pPr rtl="1" algn="r" marL="0" indent="0">
              <a:buNone/>
            </a:pPr>
            <a:r>
              <a:rPr sz="1200" lang="he-IL"/>
              <a:t>•  חמש השגיאות רועשות וארבעת באגי הדוח שקטים.</a:t>
            </a:r>
          </a:p>
          <a:p>
            <a:pPr rtl="1" algn="r" marL="0" indent="0">
              <a:buNone/>
            </a:pPr>
            <a:r>
              <a:rPr sz="1200" lang="he-IL"/>
              <a:t>•  בחלק ה׳, בדוגמת הפתרון, הכלי הסביר שהמתודה to_excel_fast לא קיימת, הציע to_excel, ושתי הבדיקות של הסטודנט נתנו True: method_exists ו־no_patch.</a:t>
            </a:r>
          </a:p>
          <a:p>
            <a:pPr rtl="1" algn="r" marL="0" indent="0">
              <a:buNone/>
            </a:pPr>
            <a:r>
              <a:rPr sz="1200" lang="he-IL"/>
              <a:t>•  לכן ההחלטה adopted מותרת.</a:t>
            </a:r>
          </a:p>
          <a:p>
            <a:pPr rtl="1" algn="r" marL="0" indent="0">
              <a:buNone/>
            </a:pPr>
            <a:r>
              <a:rPr sz="1200" lang="he-IL"/>
              <a:t>•  הכלל במחברת: אסור לאמץ הצעה ש־api_exists לא אישרה או שיש בה סימני טלאי (try:, except, coerce, ignore).</a:t>
            </a:r>
          </a:p>
          <a:p>
            <a:pPr rtl="1" algn="r" marL="0" indent="0">
              <a:buNone/>
            </a:pPr>
            <a:r>
              <a:rPr sz="1200" lang="he-IL"/>
              <a:t>•  תוצאה של סטודנט אחר יכולה להיות שונה, וזה לגיטימי, כי הכלי לא תמיד עונה אותו דבר, ומה שנבדק הוא ההערכה בקוד.</a:t>
            </a:r>
          </a:p>
          <a:p>
            <a:pPr rtl="1" algn="r" marL="0" indent="0">
              <a:buNone/>
            </a:pPr>
            <a:r>
              <a:rPr sz="1200" lang="he-IL"/>
              <a:t>•  בחלק ו׳ המסקנה היא חמישה משפטים, אחד לכל חלק.</a:t>
            </a:r>
          </a:p>
          <a:p>
            <a:pPr rtl="1" algn="r" marL="0" indent="0">
              <a:buNone/>
            </a:pPr>
            <a:r>
              <a:rPr b="1" sz="1200" lang="he-IL"/>
              <a:t>שאלה לכיתה</a:t>
            </a:r>
          </a:p>
          <a:p>
            <a:pPr rtl="1" algn="r" marL="0" indent="0">
              <a:buNone/>
            </a:pPr>
            <a:r>
              <a:rPr sz="1200" lang="he-IL"/>
              <a:t>•  מה עושים אם הכלי הציע try/except?</a:t>
            </a:r>
          </a:p>
          <a:p>
            <a:pPr rtl="1" algn="r" marL="0" indent="0">
              <a:buNone/>
            </a:pPr>
            <a:r>
              <a:rPr b="1" sz="1200" lang="he-IL"/>
              <a:t>תשובה</a:t>
            </a:r>
          </a:p>
          <a:p>
            <a:pPr rtl="1" algn="r" marL="0" indent="0">
              <a:buNone/>
            </a:pPr>
            <a:r>
              <a:rPr sz="1200" lang="he-IL"/>
              <a:t>•  לא מאמצים, מבקשים תיקון של השורש.</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אופציונלי (כ־2 דקות), מתאים אחרי שקף התחקיר.</a:t>
            </a:r>
          </a:p>
          <a:p>
            <a:pPr rtl="1" algn="r" marL="0" indent="0">
              <a:buNone/>
            </a:pPr>
            <a:r>
              <a:rPr b="1" sz="1200" lang="he-IL"/>
              <a:t>מה אומרים</a:t>
            </a:r>
          </a:p>
          <a:p>
            <a:pPr rtl="1" algn="r" marL="0" indent="0">
              <a:buNone/>
            </a:pPr>
            <a:r>
              <a:rPr sz="1200" lang="he-IL"/>
              <a:t>•  שני חלקים.</a:t>
            </a:r>
          </a:p>
          <a:p>
            <a:pPr rtl="1" algn="r" marL="0" indent="0">
              <a:buNone/>
            </a:pPr>
            <a:r>
              <a:rPr sz="1200" lang="he-IL"/>
              <a:t>•  ימין, 5 Whys: הטכניקה מזוהה עם טאיצ׳י אוהנו ועם מערכת הייצור של טויוטה (Ohno, Toyota Production System, ההוצאה האנגלית 1988; במקור ביפנית 1978), והיא חלק מגישת Lean.</a:t>
            </a:r>
          </a:p>
          <a:p>
            <a:pPr rtl="1" algn="r" marL="0" indent="0">
              <a:buNone/>
            </a:pPr>
            <a:r>
              <a:rPr sz="1200" lang="he-IL"/>
              <a:t>•  המגבלות, לפי Card (BMJ Quality &amp; Safety, 2017): מספר ה־Why שרירותי (התשובה הנכונה יכולה להגיע אחרי שניים או שבעה), ההיסק נשען על ניחוש ולא על תצפית, ושרשרת אחת מפספסת גורמים מקבילים.</a:t>
            </a:r>
          </a:p>
          <a:p>
            <a:pPr rtl="1" algn="r" marL="0" indent="0">
              <a:buNone/>
            </a:pPr>
            <a:r>
              <a:rPr sz="1200" lang="he-IL"/>
              <a:t>•  Card כתב על מערכות בריאות מורכבות, ולכן ההכללה לדיבוג היא אנלוגיה שלנו; הוא ממליץ גם על כלים אחרים, כמו תרשים עצם דג או עץ סיבות.</a:t>
            </a:r>
          </a:p>
          <a:p>
            <a:pPr rtl="1" algn="r" marL="0" indent="0">
              <a:buNone/>
            </a:pPr>
            <a:r>
              <a:rPr sz="1200" lang="he-IL"/>
              <a:t>•  אצלנו: בדוח יש ארבעה באגים, כלומר עץ ולא שרשרת, והסולם שהצגנו עוקב אחרי הענף הגדול.</a:t>
            </a:r>
          </a:p>
          <a:p>
            <a:pPr rtl="1" algn="r" marL="0" indent="0">
              <a:buNone/>
            </a:pPr>
            <a:r>
              <a:rPr sz="1200" lang="he-IL"/>
              <a:t>•  שמאל, תחקיר בלי אשמה: בפרק 15 בספר ה־SRE של גוגל (Lunney ו־Lueder, בעריכת O'Connor) תחקיר מתואר כתיעוד כתוב של האירוע, ההשפעה, הפעולות לתיקון, שורש או שורשי הבעיה ופעולות המעקב, ונאמר שתחקירים בלי האשמה הם עיקרון בתרבות ה־SRE.</a:t>
            </a:r>
          </a:p>
          <a:p>
            <a:pPr rtl="1" algn="r" marL="0" indent="0">
              <a:buNone/>
            </a:pPr>
            <a:r>
              <a:rPr sz="1200" lang="he-IL"/>
              <a:t>•  הרעיון מתחבר גם למאמר של Allspaw ב־Etsy (2012, Blameless PostMortems and a Just Culture); דף הבלוג חסם גישה אוטומטית, ולכן קיומו אומת בחיפוש בלבד ואינו בשקף המקורות.</a:t>
            </a:r>
          </a:p>
          <a:p>
            <a:pPr rtl="1" algn="r" marL="0" indent="0">
              <a:buNone/>
            </a:pPr>
            <a:r>
              <a:rPr sz="1200" lang="he-IL"/>
              <a:t>•  לכיתה: למה לא מאשימים?</a:t>
            </a:r>
          </a:p>
          <a:p>
            <a:pPr rtl="1" algn="r" marL="0" indent="0">
              <a:buNone/>
            </a:pPr>
            <a:r>
              <a:rPr sz="1200" lang="he-IL"/>
              <a:t>•  כי אם מענישים, מסתירים באגים, והארגון לא לומד.</a:t>
            </a:r>
          </a:p>
          <a:p>
            <a:pPr rtl="1" algn="r" marL="0" indent="0">
              <a:buNone/>
            </a:pPr>
            <a:r>
              <a:rPr b="1" sz="1200" lang="he-IL"/>
              <a:t>שאלה לכיתה</a:t>
            </a:r>
          </a:p>
          <a:p>
            <a:pPr rtl="1" algn="r" marL="0" indent="0">
              <a:buNone/>
            </a:pPr>
            <a:r>
              <a:rPr sz="1200" lang="he-IL"/>
              <a:t>•  איזה כלי הייתם מוסיפים לתחקיר שלנו?</a:t>
            </a:r>
          </a:p>
          <a:p>
            <a:pPr rtl="1" algn="r" marL="0" indent="0">
              <a:buNone/>
            </a:pPr>
            <a:r>
              <a:rPr sz="1200" lang="he-IL"/>
              <a:t>•  (עץ סיבות).</a:t>
            </a:r>
          </a:p>
          <a:p>
            <a:pPr rtl="1" algn="r" marL="0" indent="0">
              <a:buNone/>
            </a:pPr>
            <a:r>
              <a:rPr b="1" sz="1200" lang="he-IL"/>
              <a:t>מתי לדלג</a:t>
            </a:r>
          </a:p>
          <a:p>
            <a:pPr rtl="1" algn="r" marL="0" indent="0">
              <a:buNone/>
            </a:pPr>
            <a:r>
              <a:rPr sz="1200" lang="he-IL"/>
              <a:t>•  אם כבר דנו בתחקיר מספיק.</a:t>
            </a:r>
          </a:p>
          <a:p>
            <a:pPr rtl="1" algn="r" marL="0" indent="0">
              <a:buNone/>
            </a:pPr>
            <a:r>
              <a:rPr b="1" sz="1200" lang="he-IL"/>
              <a:t>מקורות</a:t>
            </a:r>
          </a:p>
          <a:p>
            <a:pPr rtl="1" algn="r" marL="0" indent="0">
              <a:buNone/>
            </a:pPr>
            <a:r>
              <a:rPr sz="1200" lang="he-IL"/>
              <a:t>•  Card (2017); Lunney &amp; Lueder (SRE book, פרק 15, נפתח ב־22.10.2026); Ohno (1988, קיום הספר אומת בחיפוש).</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אופציונלי, כ־30 שניות או לדלג ולהשאיר לקריאה בבית.</a:t>
            </a:r>
          </a:p>
          <a:p>
            <a:pPr rtl="1" algn="r" marL="0" indent="0">
              <a:buNone/>
            </a:pPr>
            <a:r>
              <a:rPr b="1" sz="1200" lang="he-IL"/>
              <a:t>מה אומרים</a:t>
            </a:r>
          </a:p>
          <a:p>
            <a:pPr rtl="1" algn="r" marL="0" indent="0">
              <a:buNone/>
            </a:pPr>
            <a:r>
              <a:rPr sz="1200" lang="he-IL"/>
              <a:t>•  שבעה מקורות על שיטת הדיבוג, הבדיקות והתחקיר.</a:t>
            </a:r>
          </a:p>
          <a:p>
            <a:pPr rtl="1" algn="r" marL="0" indent="0">
              <a:buNone/>
            </a:pPr>
            <a:r>
              <a:rPr sz="1200" lang="he-IL"/>
              <a:t>•  נפתחו ונבדקו ב־22.10.2026: debuggingbook.org (Zeller), תיעוד git-bisect, release notes של pandas 2.0.0, פרק 15 בספר ה־SRE של גוגל.</a:t>
            </a:r>
          </a:p>
          <a:p>
            <a:pPr rtl="1" algn="r" marL="0" indent="0">
              <a:buNone/>
            </a:pPr>
            <a:r>
              <a:rPr sz="1200" lang="he-IL"/>
              <a:t>•  אומתו בחיפוש בלבד (כותרת, כתב עת, שנה ועמודים), ללא פתיחת הטקסט המלא: הספר של Zeller (המהדורה השנייה, Morgan Kaufmann, 2009), המאמר של Zeller ו־Hildebrandt ב־IEEE TSE 2002 (האתר שמארח את ה־PDF לא היה זמין), המאמר של Card ב־BMJ Quality &amp; Safety 2017, והסקר של Barr ועמיתים ב־IEEE TSE 2015.</a:t>
            </a:r>
          </a:p>
          <a:p>
            <a:pPr rtl="1" algn="r" marL="0" indent="0">
              <a:buNone/>
            </a:pPr>
            <a:r>
              <a:rPr sz="1200" lang="he-IL"/>
              <a:t>•  מקורות נוספים שהוזכרו בהערות ושאינם בשקף: Ohno (1988), Toyota Production System: Beyond Large-Scale Production, Productivity Press; Allspaw (2012), Blameless PostMortems and a Just Culture, בבלוג Code as Craft של Etsy (נחסם לגישה אוטומטית, אומת בחיפוש).</a:t>
            </a:r>
          </a:p>
          <a:p>
            <a:pPr rtl="1" algn="r" marL="0" indent="0">
              <a:buNone/>
            </a:pPr>
            <a:r>
              <a:rPr sz="1200" lang="he-IL"/>
              <a:t>•  המלצה לסטודנטים: להתחיל מפרק Introduction to Debugging ב־debuggingbook.org, ומפרק 15 בספר ה־SRE.</a:t>
            </a:r>
          </a:p>
          <a:p>
            <a:pPr rtl="1" algn="r" marL="0" indent="0">
              <a:buNone/>
            </a:pPr>
            <a:r>
              <a:rPr sz="1200" lang="he-IL"/>
              <a:t>•  אין צורך לקרוא הכול; תקציר ואיורים מספיקים.</a:t>
            </a:r>
          </a:p>
          <a:p>
            <a:pPr rtl="1" algn="r" marL="0" indent="0">
              <a:buNone/>
            </a:pPr>
            <a:r>
              <a:rPr b="1" sz="1200" lang="he-IL"/>
              <a:t>אנלוגיה</a:t>
            </a:r>
          </a:p>
          <a:p>
            <a:pPr rtl="1" algn="r" marL="0" indent="0">
              <a:buNone/>
            </a:pPr>
            <a:r>
              <a:rPr sz="1200" lang="he-IL"/>
              <a:t>•  כמו קריאה בתקן איכות, מתחילים בסקירה.</a:t>
            </a:r>
          </a:p>
          <a:p>
            <a:pPr rtl="1" algn="r" marL="0" indent="0">
              <a:buNone/>
            </a:pPr>
            <a:r>
              <a:rPr b="1" sz="1200" lang="he-IL"/>
              <a:t>שאלה לכיתה</a:t>
            </a:r>
          </a:p>
          <a:p>
            <a:pPr rtl="1" algn="r" marL="0" indent="0">
              <a:buNone/>
            </a:pPr>
            <a:r>
              <a:rPr sz="1200" lang="he-IL"/>
              <a:t>•  מי רוצה לקחת מאמר אחד ולהציג אותו בשתי דקות במפגש הבא?</a:t>
            </a:r>
          </a:p>
          <a:p>
            <a:pPr rtl="1" algn="r" marL="0" indent="0">
              <a:buNone/>
            </a:pPr>
            <a:r>
              <a:rPr sz="1200" lang="he-IL"/>
              <a:t>•  לשיקול המרצה.</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אופציונלי, כ־30 שניות או לדלג ולהשאיר לקריאה בבית.</a:t>
            </a:r>
          </a:p>
          <a:p>
            <a:pPr rtl="1" algn="r" marL="0" indent="0">
              <a:buNone/>
            </a:pPr>
            <a:r>
              <a:rPr b="1" sz="1200" lang="he-IL"/>
              <a:t>מה אומרים</a:t>
            </a:r>
          </a:p>
          <a:p>
            <a:pPr rtl="1" algn="r" marL="0" indent="0">
              <a:buNone/>
            </a:pPr>
            <a:r>
              <a:rPr sz="1200" lang="he-IL"/>
              <a:t>•  שבעה מקורות על באגים בקוד שנוצר ב־AI ועל כשלי נתונים.</a:t>
            </a:r>
          </a:p>
          <a:p>
            <a:pPr rtl="1" algn="r" marL="0" indent="0">
              <a:buNone/>
            </a:pPr>
            <a:r>
              <a:rPr sz="1200" lang="he-IL"/>
              <a:t>•  כל חמשת מאמרי ה־arXiv נפתחו ב־22.10.2026 ואומתו כותרת, מחברים ותקציר: Tambon (333 באגים, 10 דפוסים), Liu (EvalPlus, ירידה של עד 19.3 עד 28.9 אחוז ב־pass@k), Olausson (ICLR 2024), Adnan ו־Kuhn (2025</a:t>
            </a:r>
          </a:p>
          <a:p>
            <a:pPr rtl="1" algn="r" marL="0" indent="0">
              <a:buNone/>
            </a:pPr>
            <a:r>
              <a:rPr sz="1200" lang="he-IL"/>
              <a:t>•  בעמוד arXiv מצוין גם Scientific Reports), Spracklen (USENIX Security 2025).</a:t>
            </a:r>
          </a:p>
          <a:p>
            <a:pPr rtl="1" algn="r" marL="0" indent="0">
              <a:buNone/>
            </a:pPr>
            <a:r>
              <a:rPr sz="1200" lang="he-IL"/>
              <a:t>•  המאמר של Ziemann ועמיתים ב־Genome Biology 2016 אומת בחיפוש (כחמישית מהמאמרים עם רשימות גנים ב־Excel); הכתבה ב־The Register נפתחה, ובה אומתו 15,841 המקרים, התאריכים וגבול 65,536 השורות, כשהיא מציינת שהפרטים הטכניים הגיעו מדיווח BBC.</a:t>
            </a:r>
          </a:p>
          <a:p>
            <a:pPr rtl="1" algn="r" marL="0" indent="0">
              <a:buNone/>
            </a:pPr>
            <a:r>
              <a:rPr sz="1200" lang="he-IL"/>
              <a:t>•  הערת זהירות: שניים מהמאמרים הם פרסומים מקדימים ב־arXiv שלא עברו שיפוט שאנחנו יכולים לאשר.</a:t>
            </a:r>
          </a:p>
          <a:p>
            <a:pPr rtl="1" algn="r" marL="0" indent="0">
              <a:buNone/>
            </a:pPr>
            <a:r>
              <a:rPr sz="1200" lang="he-IL"/>
              <a:t>•  המלצה לסטודנטים: לקרוא את התקציר של Tambon ושל Spracklen, שהם הכי נגישים.</a:t>
            </a:r>
          </a:p>
          <a:p>
            <a:pPr rtl="1" algn="r" marL="0" indent="0">
              <a:buNone/>
            </a:pPr>
            <a:r>
              <a:rPr b="1" sz="1200" lang="he-IL"/>
              <a:t>אנלוגיה</a:t>
            </a:r>
          </a:p>
          <a:p>
            <a:pPr rtl="1" algn="r" marL="0" indent="0">
              <a:buNone/>
            </a:pPr>
            <a:r>
              <a:rPr sz="1200" lang="he-IL"/>
              <a:t>•  כמו קריאת דוח אירוע, מתחילים בתקציר ובטבלה.</a:t>
            </a:r>
          </a:p>
          <a:p>
            <a:pPr rtl="1" algn="r" marL="0" indent="0">
              <a:buNone/>
            </a:pPr>
            <a:r>
              <a:rPr b="1" sz="1200" lang="he-IL"/>
              <a:t>שאלה לכיתה</a:t>
            </a:r>
          </a:p>
          <a:p>
            <a:pPr rtl="1" algn="r" marL="0" indent="0">
              <a:buNone/>
            </a:pPr>
            <a:r>
              <a:rPr sz="1200" lang="he-IL"/>
              <a:t>•  איזה ממצא הפתיע אתכם?</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שרשרת המפגשים (כ־2 דקות).</a:t>
            </a:r>
          </a:p>
          <a:p>
            <a:pPr rtl="1" algn="r" marL="0" indent="0">
              <a:buNone/>
            </a:pPr>
            <a:r>
              <a:rPr b="1" sz="1200" lang="he-IL"/>
              <a:t>מטרה</a:t>
            </a:r>
          </a:p>
          <a:p>
            <a:pPr rtl="1" algn="r" marL="0" indent="0">
              <a:buNone/>
            </a:pPr>
            <a:r>
              <a:rPr sz="1200" lang="he-IL"/>
              <a:t>•  לחבר את מה שכבר נלמד לדיבוג, כדי שהיום יהיה המשך ולא נושא חדש.</a:t>
            </a:r>
          </a:p>
          <a:p>
            <a:pPr rtl="1" algn="r" marL="0" indent="0">
              <a:buNone/>
            </a:pPr>
            <a:r>
              <a:rPr sz="1200" lang="he-IL"/>
              <a:t>•  עברו על הטבלה מלמעלה למטה, ובכל שורה אמרו מה למדנו ואיפה זה חוזר היום.</a:t>
            </a:r>
          </a:p>
          <a:p>
            <a:pPr rtl="1" algn="r" marL="0" indent="0">
              <a:buNone/>
            </a:pPr>
            <a:r>
              <a:rPr sz="1200" lang="he-IL"/>
              <a:t>•  מפגש 2, הזיות: חמשת הסוגים (פונקציה, פרמטר, חבילה, גרסה והתנהגות) והכלל: לא ראיתם בתיעוד ולא הרצתם, לא סומכים.</a:t>
            </a:r>
          </a:p>
          <a:p>
            <a:pPr rtl="1" algn="r" marL="0" indent="0">
              <a:buNone/>
            </a:pPr>
            <a:r>
              <a:rPr sz="1200" lang="he-IL"/>
              <a:t>•  היום זה חוזר ב־e3 ו־e4 במעבדה א׳, ובשקף המשפחות של חלק ב׳ שמבחין בין הזיה (ה־AI המציא API) לבין הנחה שגויה על הנתונים.</a:t>
            </a:r>
          </a:p>
          <a:p>
            <a:pPr rtl="1" algn="r" marL="0" indent="0">
              <a:buNone/>
            </a:pPr>
            <a:r>
              <a:rPr sz="1200" lang="he-IL"/>
              <a:t>•  מפגש 6, Git: commit לפני שהסוכן פועל ו־diff אחרי.</a:t>
            </a:r>
          </a:p>
          <a:p>
            <a:pPr rtl="1" algn="r" marL="0" indent="0">
              <a:buNone/>
            </a:pPr>
            <a:r>
              <a:rPr sz="1200" lang="he-IL"/>
              <a:t>•  היום זה חוזר בכלל העצירה (אפשר לחזור ל־commit האחרון) ובהודעת ה־commit שבתחקיר.</a:t>
            </a:r>
          </a:p>
          <a:p>
            <a:pPr rtl="1" algn="r" marL="0" indent="0">
              <a:buNone/>
            </a:pPr>
            <a:r>
              <a:rPr sz="1200" lang="he-IL"/>
              <a:t>•  מפגש 7, JOIN שמכפיל שורות ושלוש בדיקות אימות לשאילתה: היום זה באג 4 בדוח, 778 הזמנות שהופכות ל־976 שורות.</a:t>
            </a:r>
          </a:p>
          <a:p>
            <a:pPr rtl="1" algn="r" marL="0" indent="0">
              <a:buNone/>
            </a:pPr>
            <a:r>
              <a:rPr sz="1200" lang="he-IL"/>
              <a:t>•  מפגש 8, בדיקות, המפגש הקודם: בדיקה שנכתבה ממפרט תפסה 17 במקום 20, והכלל שקוד בלי בדיקה הוא השערה.</a:t>
            </a:r>
          </a:p>
          <a:p>
            <a:pPr rtl="1" algn="r" marL="0" indent="0">
              <a:buNone/>
            </a:pPr>
            <a:r>
              <a:rPr sz="1200" lang="he-IL"/>
              <a:t>•  היום סכום הביקורת של הנהלת החשבונות הוא המקור החיצוני שמולו משווים את הדוח, ובצעד 7 מוסיפים בדיקת רגרסיה.</a:t>
            </a:r>
          </a:p>
          <a:p>
            <a:pPr rtl="1" algn="r" marL="0" indent="0">
              <a:buNone/>
            </a:pPr>
            <a:r>
              <a:rPr sz="1200" lang="he-IL"/>
              <a:t>•  שתי השורות הכתומות הן הציר של המפגש: הזיה היא סוג התקלה, בדיקה היא הכלי שמגלה אותה, ודיבוג הוא השיטה שמחברת ביניהם.</a:t>
            </a:r>
          </a:p>
          <a:p>
            <a:pPr rtl="1" algn="r" marL="0" indent="0">
              <a:buNone/>
            </a:pPr>
            <a:r>
              <a:rPr b="1" sz="1200" lang="he-IL"/>
              <a:t>שאלת היזכרות</a:t>
            </a:r>
          </a:p>
          <a:p>
            <a:pPr rtl="1" algn="r" marL="0" indent="0">
              <a:buNone/>
            </a:pPr>
            <a:r>
              <a:rPr sz="1200" lang="he-IL"/>
              <a:t>•  איזו שגיאה ראינו במפגש 2 בקוד ש־AI כתב?</a:t>
            </a:r>
          </a:p>
          <a:p>
            <a:pPr rtl="1" algn="r" marL="0" indent="0">
              <a:buNone/>
            </a:pPr>
            <a:r>
              <a:rPr b="1" sz="1200" lang="he-IL"/>
              <a:t>תשובה</a:t>
            </a:r>
          </a:p>
          <a:p>
            <a:pPr rtl="1" algn="r" marL="0" indent="0">
              <a:buNone/>
            </a:pPr>
            <a:r>
              <a:rPr sz="1200" lang="he-IL"/>
              <a:t>•  AttributeError על df.to_excel_fast, מתודה שלא קיימת, והנכונה היא to_excel.</a:t>
            </a:r>
          </a:p>
          <a:p>
            <a:pPr rtl="1" algn="r" marL="0" indent="0">
              <a:buNone/>
            </a:pPr>
            <a:r>
              <a:rPr sz="1200" lang="he-IL"/>
              <a:t>•  אם הכיתה לא זוכרת, כתבו את שני השמות על הלוח ושאלו איזה מהם נראה חשוד ולמה.</a:t>
            </a:r>
          </a:p>
          <a:p>
            <a:pPr rtl="1" algn="r" marL="0" indent="0">
              <a:buNone/>
            </a:pPr>
            <a:r>
              <a:rPr sz="1200" lang="he-IL"/>
              <a:t>•  שאלה שנייה: מה אמר הכלל של מפגש 8?</a:t>
            </a:r>
          </a:p>
          <a:p>
            <a:pPr rtl="1" algn="r" marL="0" indent="0">
              <a:buNone/>
            </a:pPr>
            <a:r>
              <a:rPr sz="1200" lang="he-IL"/>
              <a:t>•  קוד בלי בדיקה הוא השערה.</a:t>
            </a:r>
          </a:p>
          <a:p>
            <a:pPr rtl="1" algn="r" marL="0" indent="0">
              <a:buNone/>
            </a:pPr>
            <a:r>
              <a:rPr sz="1200" lang="he-IL"/>
              <a:t>•  מפגשים 3 ו־4 (לפי הסילבוס: הנדסת פרומפטים והנדסת הקשר) אינם בטבלה, והם יחזרו בחלק ג׳, בבקשת הדיבוג.</a:t>
            </a:r>
          </a:p>
          <a:p>
            <a:pPr rtl="1" algn="r" marL="0" indent="0">
              <a:buNone/>
            </a:pPr>
            <a:r>
              <a:rPr sz="1200" lang="he-IL"/>
              <a:t>•  אל תפרטו מה נלמד שם מעבר לנושא.</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השאלה של היום (כדקה).</a:t>
            </a:r>
          </a:p>
          <a:p>
            <a:pPr rtl="1" algn="r" marL="0" indent="0">
              <a:buNone/>
            </a:pPr>
            <a:r>
              <a:rPr b="1" sz="1200" lang="he-IL"/>
              <a:t>מה אומרים</a:t>
            </a:r>
          </a:p>
          <a:p>
            <a:pPr rtl="1" algn="r" marL="0" indent="0">
              <a:buNone/>
            </a:pPr>
            <a:r>
              <a:rPr sz="1200" lang="he-IL"/>
              <a:t>•  הבעיה שנשארה ממפגש 8 וההבטחה שלנו בסופו: התקלה שמאחורי ההזיה, איך מוצאים סיבה ולא רק סימפטום.</a:t>
            </a:r>
          </a:p>
          <a:p>
            <a:pPr rtl="1" algn="r" marL="0" indent="0">
              <a:buNone/>
            </a:pPr>
            <a:r>
              <a:rPr sz="1200" lang="he-IL"/>
              <a:t>•  התחילו בהיזכרות: מי זוכר מה הייתה התוצאה בפתיחה של מפגש 8?</a:t>
            </a:r>
          </a:p>
          <a:p>
            <a:pPr rtl="1" algn="r" marL="0" indent="0">
              <a:buNone/>
            </a:pPr>
            <a:r>
              <a:rPr b="1" sz="1200" lang="he-IL"/>
              <a:t>תשובה</a:t>
            </a:r>
          </a:p>
          <a:p>
            <a:pPr rtl="1" algn="r" marL="0" indent="0">
              <a:buNone/>
            </a:pPr>
            <a:r>
              <a:rPr sz="1200" lang="he-IL"/>
              <a:t>•  calc_reorder_point(2, 7, 3) החזירה 17 במקום 20, בלי שום שגיאה.</a:t>
            </a:r>
          </a:p>
          <a:p>
            <a:pPr rtl="1" algn="r" marL="0" indent="0">
              <a:buNone/>
            </a:pPr>
            <a:r>
              <a:rPr sz="1200" lang="he-IL"/>
              <a:t>•  אם הכיתה לא זוכרת, אמרו את המספרים בעצמכם.</a:t>
            </a:r>
          </a:p>
          <a:p>
            <a:pPr rtl="1" algn="r" marL="0" indent="0">
              <a:buNone/>
            </a:pPr>
            <a:r>
              <a:rPr sz="1200" lang="he-IL"/>
              <a:t>•  במפגש 8 בדיקה אחת שנכתבה ממפרט תפסה את הפער.</a:t>
            </a:r>
          </a:p>
          <a:p>
            <a:pPr rtl="1" algn="r" marL="0" indent="0">
              <a:buNone/>
            </a:pPr>
            <a:r>
              <a:rPr sz="1200" lang="he-IL"/>
              <a:t>•  אבל בדיקה אדומה אומרת רק שיש בעיה, איפה ומה ציפינו, ולא למה.</a:t>
            </a:r>
          </a:p>
          <a:p>
            <a:pPr rtl="1" algn="r" marL="0" indent="0">
              <a:buNone/>
            </a:pPr>
            <a:r>
              <a:rPr sz="1200" lang="he-IL"/>
              <a:t>•  היום המצב קשה יותר: בדוח שלנו אין בדיקה ואין Traceback, יש רק מספר חיצוני מהנהלת החשבונות להשוואה.</a:t>
            </a:r>
          </a:p>
          <a:p>
            <a:pPr rtl="1" algn="r" marL="0" indent="0">
              <a:buNone/>
            </a:pPr>
            <a:r>
              <a:rPr sz="1200" lang="he-IL"/>
              <a:t>•  הצביעו על שני הצדדים: משמאל מה שיש לנו היום, שיטה של שבעה צעדים מהשחזור ועד המניעה, ומימין מה שנשאר פתוח.</a:t>
            </a:r>
          </a:p>
          <a:p>
            <a:pPr rtl="1" algn="r" marL="0" indent="0">
              <a:buNone/>
            </a:pPr>
            <a:r>
              <a:rPr b="1" sz="1200" lang="he-IL"/>
              <a:t>שאלה לכיתה</a:t>
            </a:r>
          </a:p>
          <a:p>
            <a:pPr rtl="1" algn="r" marL="0" indent="0">
              <a:buNone/>
            </a:pPr>
            <a:r>
              <a:rPr sz="1200" lang="he-IL"/>
              <a:t>•  איך עוברים מ״משהו נכשל״ ל״זו הסיבה״?</a:t>
            </a:r>
          </a:p>
          <a:p>
            <a:pPr rtl="1" algn="r" marL="0" indent="0">
              <a:buNone/>
            </a:pPr>
            <a:r>
              <a:rPr sz="1200" lang="he-IL"/>
              <a:t>•  תנו לשניים לענות בקצרה, ואל תפתרו עכשיו.</a:t>
            </a:r>
          </a:p>
          <a:p>
            <a:pPr rtl="1" algn="r" marL="0" indent="0">
              <a:buNone/>
            </a:pPr>
            <a:r>
              <a:rPr sz="1200" lang="he-IL"/>
              <a:t>•  הבטיחו שבסוף המפגש כל אחד יוכל לענות בעצמו.</a:t>
            </a:r>
          </a:p>
          <a:p>
            <a:pPr rtl="1" algn="r" marL="0" indent="0">
              <a:buNone/>
            </a:pPr>
            <a:r>
              <a:rPr sz="1200" lang="he-IL"/>
              <a:t>•  קישור להזיות מפגש 2: חלק מהתקלות יתנהגו כמו e4 (שגיאה ברורה), וחלק לא יתנהגו כמו שגיאה בכלל, ולכן צריך שיטה ולא ניחוש.</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lang="he-IL"/>
              <a:t>📎 הקובץ הנדרש לתרגול, כדקה. 10 דקות</a:t>
            </a:r>
          </a:p>
          <a:p>
            <a:pPr rtl="1" algn="r" marL="0" indent="0">
              <a:buNone/>
            </a:pPr>
            <a:r>
              <a:rPr lang="he-IL"/>
              <a:t>מה אומרים</a:t>
            </a:r>
          </a:p>
          <a:p>
            <a:pPr rtl="1" algn="r" marL="0" indent="0">
              <a:buNone/>
            </a:pPr>
            <a:r>
              <a:rPr lang="he-IL"/>
              <a:t>• הקובץ לתרגול הזה: HM_09.ipynb. חלק א׳: Traceback.</a:t>
            </a:r>
          </a:p>
          <a:p>
            <a:pPr rtl="1" algn="r" marL="0" indent="0">
              <a:buNone/>
            </a:pPr>
            <a:r>
              <a:rPr lang="he-IL"/>
              <a:t>• כל המעבדות של המפגש נעשות באותו קובץ. כל מעבדה היא חלק אחר בתוכו.</a:t>
            </a:r>
          </a:p>
          <a:p>
            <a:pPr rtl="1" algn="r" marL="0" indent="0">
              <a:buNone/>
            </a:pPr>
            <a:r>
              <a:rPr lang="he-IL"/>
              <a:t>• הנתונים כבר בתוך המחברת, ולכן לא צריך להעלות קבצים.</a:t>
            </a:r>
          </a:p>
          <a:p>
            <a:pPr rtl="1" algn="r" marL="0" indent="0">
              <a:buNone/>
            </a:pPr>
            <a:r>
              <a:rPr lang="he-IL"/>
              <a:t>• פותחים בעזרת הקישור או קוד ה־QR, או מעלים את הקובץ ב־Colab (File → Upload notebook). כל הדרכים במדריך Google Colab, פרק 3.</a:t>
            </a:r>
          </a:p>
          <a:p>
            <a:pPr rtl="1" algn="r" marL="0" indent="0">
              <a:buNone/>
            </a:pPr>
            <a:r>
              <a:rPr lang="he-IL"/>
              <a:t>• בתחילת העבודה שומרים עותק ב־Drive (File → Save a copy in Drive) וכותבים את השם בתא הפתיחה.</a:t>
            </a:r>
          </a:p>
          <a:p>
            <a:pPr rtl="1" algn="r" marL="0" indent="0">
              <a:buNone/>
            </a:pPr>
            <a:r>
              <a:rPr lang="he-IL"/>
              <a:t>הכנה לפני השיעור</a:t>
            </a:r>
          </a:p>
          <a:p>
            <a:pPr rtl="1" algn="r" marL="0" indent="0">
              <a:buNone/>
            </a:pPr>
            <a:r>
              <a:rPr lang="he-IL"/>
              <a:t>• להעלות את HM_09.ipynb ל־Colab או ל־Drive, ולהחליף את ה־QR (מקום שמור) בקישור אמיתי.</a:t>
            </a:r>
          </a:p>
          <a:p>
            <a:pPr rtl="1" algn="r" marL="0" indent="0">
              <a:buNone/>
            </a:pPr>
            <a:r>
              <a:rPr lang="he-IL"/>
              <a:t>• להריץ Run all על HM_09_SOLUTION לפני השיעור, ולוודא שכל הבדיקות מסומנות ✓.</a:t>
            </a:r>
          </a:p>
          <a:p>
            <a:pPr rtl="1" algn="r" marL="0" indent="0">
              <a:buNone/>
            </a:pPr>
            <a:r>
              <a:rPr lang="he-IL"/>
              <a:t>• להפיץ לסטודנטים את הקובץ מדריך_Google_Colab.pdf (גם מי שמגיע בלי הכנה צריך אותו).</a:t>
            </a:r>
          </a:p>
          <a:p>
            <a:pPr rtl="1" algn="r" marL="0" indent="0">
              <a:buNone/>
            </a:pPr>
            <a:r>
              <a:rPr lang="he-IL"/>
              <a:t>שגיאות צפויות</a:t>
            </a:r>
          </a:p>
          <a:p>
            <a:pPr rtl="1" algn="r" marL="0" indent="0">
              <a:buNone/>
            </a:pPr>
            <a:r>
              <a:rPr lang="he-IL"/>
              <a:t>• סטודנט בלי חשבון Google או בלי מחשב עובד: עבודה בזוגות.</a:t>
            </a:r>
          </a:p>
          <a:p>
            <a:pPr rtl="1" algn="r" marL="0" indent="0">
              <a:buNone/>
            </a:pPr>
            <a:r>
              <a:rPr lang="he-IL"/>
              <a:t>• הקבצים נעלמו אחרי ניתוק: מריצים מההתחלה (Run all). תוצרים חשובים נשמרים ב־Drive (המדריך, פרק 5).</a:t>
            </a:r>
          </a:p>
          <a:p>
            <a:pPr rtl="1" algn="r" marL="0" indent="0">
              <a:buNone/>
            </a:pPr>
            <a:r>
              <a:rPr lang="he-IL"/>
              <a:t>• המחברת נפתחה לקריאה בלבד: צריך לשמור עותק ב־Drive לפני העבודה.</a:t>
            </a:r>
          </a:p>
        </p:txBody>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lang="he-IL"/>
              <a:t>📎 הקובץ הנדרש לתרגול, כדקה. 10 דקות</a:t>
            </a:r>
          </a:p>
          <a:p>
            <a:pPr rtl="1" algn="r" marL="0" indent="0">
              <a:buNone/>
            </a:pPr>
            <a:r>
              <a:rPr lang="he-IL"/>
              <a:t>מה אומרים</a:t>
            </a:r>
          </a:p>
          <a:p>
            <a:pPr rtl="1" algn="r" marL="0" indent="0">
              <a:buNone/>
            </a:pPr>
            <a:r>
              <a:rPr lang="he-IL"/>
              <a:t>• הקובץ לתרגול הזה: HM_09.ipynb. חלק ב׳: באג שקט.</a:t>
            </a:r>
          </a:p>
          <a:p>
            <a:pPr rtl="1" algn="r" marL="0" indent="0">
              <a:buNone/>
            </a:pPr>
            <a:r>
              <a:rPr lang="he-IL"/>
              <a:t>• זה אותו קובץ HM_09.ipynb שפתחתם במעבדה הקודמת. ממשיכים לחלק הבא בתוכו.</a:t>
            </a:r>
          </a:p>
          <a:p>
            <a:pPr rtl="1" algn="r" marL="0" indent="0">
              <a:buNone/>
            </a:pPr>
            <a:r>
              <a:rPr lang="he-IL"/>
              <a:t>• הנתונים כבר בתוך המחברת, ולכן לא צריך להעלות קבצים.</a:t>
            </a:r>
          </a:p>
          <a:p>
            <a:pPr rtl="1" algn="r" marL="0" indent="0">
              <a:buNone/>
            </a:pPr>
            <a:r>
              <a:rPr lang="he-IL"/>
              <a:t>• פותחים בעזרת הקישור או קוד ה־QR, או מעלים את הקובץ ב־Colab (File → Upload notebook). כל הדרכים במדריך Google Colab, פרק 3.</a:t>
            </a:r>
          </a:p>
          <a:p>
            <a:pPr rtl="1" algn="r" marL="0" indent="0">
              <a:buNone/>
            </a:pPr>
            <a:r>
              <a:rPr lang="he-IL"/>
              <a:t>• בסוף כל מעבדה שומרים את המחברת ב־Drive, כדי שלא תאבד כשהחיבור מתנתק.</a:t>
            </a:r>
          </a:p>
          <a:p>
            <a:pPr rtl="1" algn="r" marL="0" indent="0">
              <a:buNone/>
            </a:pPr>
            <a:r>
              <a:rPr lang="he-IL"/>
              <a:t>הכנה לפני השיעור</a:t>
            </a:r>
          </a:p>
          <a:p>
            <a:pPr rtl="1" algn="r" marL="0" indent="0">
              <a:buNone/>
            </a:pPr>
            <a:r>
              <a:rPr lang="he-IL"/>
              <a:t>• להעלות את HM_09.ipynb ל־Colab או ל־Drive, ולהחליף את ה־QR (מקום שמור) בקישור אמיתי.</a:t>
            </a:r>
          </a:p>
          <a:p>
            <a:pPr rtl="1" algn="r" marL="0" indent="0">
              <a:buNone/>
            </a:pPr>
            <a:r>
              <a:rPr lang="he-IL"/>
              <a:t>• להריץ Run all על HM_09_SOLUTION לפני השיעור, ולוודא שכל הבדיקות מסומנות ✓.</a:t>
            </a:r>
          </a:p>
          <a:p>
            <a:pPr rtl="1" algn="r" marL="0" indent="0">
              <a:buNone/>
            </a:pPr>
            <a:r>
              <a:rPr lang="he-IL"/>
              <a:t>• להפיץ לסטודנטים את הקובץ מדריך_Google_Colab.pdf (גם מי שמגיע בלי הכנה צריך אותו).</a:t>
            </a:r>
          </a:p>
          <a:p>
            <a:pPr rtl="1" algn="r" marL="0" indent="0">
              <a:buNone/>
            </a:pPr>
            <a:r>
              <a:rPr lang="he-IL"/>
              <a:t>שגיאות צפויות</a:t>
            </a:r>
          </a:p>
          <a:p>
            <a:pPr rtl="1" algn="r" marL="0" indent="0">
              <a:buNone/>
            </a:pPr>
            <a:r>
              <a:rPr lang="he-IL"/>
              <a:t>• סטודנט בלי חשבון Google או בלי מחשב עובד: עבודה בזוגות.</a:t>
            </a:r>
          </a:p>
          <a:p>
            <a:pPr rtl="1" algn="r" marL="0" indent="0">
              <a:buNone/>
            </a:pPr>
            <a:r>
              <a:rPr lang="he-IL"/>
              <a:t>• הקבצים נעלמו אחרי ניתוק: מריצים מההתחלה (Run all). תוצרים חשובים נשמרים ב־Drive (המדריך, פרק 5).</a:t>
            </a:r>
          </a:p>
          <a:p>
            <a:pPr rtl="1" algn="r" marL="0" indent="0">
              <a:buNone/>
            </a:pPr>
            <a:r>
              <a:rPr lang="he-IL"/>
              <a:t>• המחברת נפתחה לקריאה בלבד: צריך לשמור עותק ב־Drive לפני העבודה.</a:t>
            </a:r>
          </a:p>
        </p:txBody>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lang="he-IL"/>
              <a:t>📎 הקובץ הנדרש לתרגול, כדקה. 18 דקות</a:t>
            </a:r>
          </a:p>
          <a:p>
            <a:pPr rtl="1" algn="r" marL="0" indent="0">
              <a:buNone/>
            </a:pPr>
            <a:r>
              <a:rPr lang="he-IL"/>
              <a:t>מה אומרים</a:t>
            </a:r>
          </a:p>
          <a:p>
            <a:pPr rtl="1" algn="r" marL="0" indent="0">
              <a:buNone/>
            </a:pPr>
            <a:r>
              <a:rPr lang="he-IL"/>
              <a:t>• הקובץ לתרגול הזה: HM_09.ipynb. חלקים ג׳-ו׳: תיקון ובדיקה.</a:t>
            </a:r>
          </a:p>
          <a:p>
            <a:pPr rtl="1" algn="r" marL="0" indent="0">
              <a:buNone/>
            </a:pPr>
            <a:r>
              <a:rPr lang="he-IL"/>
              <a:t>• זה אותו קובץ HM_09.ipynb שפתחתם במעבדה הקודמת. ממשיכים לחלק הבא בתוכו.</a:t>
            </a:r>
          </a:p>
          <a:p>
            <a:pPr rtl="1" algn="r" marL="0" indent="0">
              <a:buNone/>
            </a:pPr>
            <a:r>
              <a:rPr lang="he-IL"/>
              <a:t>• הנתונים כבר בתוך המחברת, ולכן לא צריך להעלות קבצים.</a:t>
            </a:r>
          </a:p>
          <a:p>
            <a:pPr rtl="1" algn="r" marL="0" indent="0">
              <a:buNone/>
            </a:pPr>
            <a:r>
              <a:rPr lang="he-IL"/>
              <a:t>• פותחים בעזרת הקישור או קוד ה־QR, או מעלים את הקובץ ב־Colab (File → Upload notebook). כל הדרכים במדריך Google Colab, פרק 3.</a:t>
            </a:r>
          </a:p>
          <a:p>
            <a:pPr rtl="1" algn="r" marL="0" indent="0">
              <a:buNone/>
            </a:pPr>
            <a:r>
              <a:rPr lang="he-IL"/>
              <a:t>• בסוף כל מעבדה שומרים את המחברת ב־Drive, כדי שלא תאבד כשהחיבור מתנתק.</a:t>
            </a:r>
          </a:p>
          <a:p>
            <a:pPr rtl="1" algn="r" marL="0" indent="0">
              <a:buNone/>
            </a:pPr>
            <a:r>
              <a:rPr lang="he-IL"/>
              <a:t>הכנה לפני השיעור</a:t>
            </a:r>
          </a:p>
          <a:p>
            <a:pPr rtl="1" algn="r" marL="0" indent="0">
              <a:buNone/>
            </a:pPr>
            <a:r>
              <a:rPr lang="he-IL"/>
              <a:t>• להעלות את HM_09.ipynb ל־Colab או ל־Drive, ולהחליף את ה־QR (מקום שמור) בקישור אמיתי.</a:t>
            </a:r>
          </a:p>
          <a:p>
            <a:pPr rtl="1" algn="r" marL="0" indent="0">
              <a:buNone/>
            </a:pPr>
            <a:r>
              <a:rPr lang="he-IL"/>
              <a:t>• להריץ Run all על HM_09_SOLUTION לפני השיעור, ולוודא שכל הבדיקות מסומנות ✓.</a:t>
            </a:r>
          </a:p>
          <a:p>
            <a:pPr rtl="1" algn="r" marL="0" indent="0">
              <a:buNone/>
            </a:pPr>
            <a:r>
              <a:rPr lang="he-IL"/>
              <a:t>• להפיץ לסטודנטים את הקובץ מדריך_Google_Colab.pdf (גם מי שמגיע בלי הכנה צריך אותו).</a:t>
            </a:r>
          </a:p>
          <a:p>
            <a:pPr rtl="1" algn="r" marL="0" indent="0">
              <a:buNone/>
            </a:pPr>
            <a:r>
              <a:rPr lang="he-IL"/>
              <a:t>שגיאות צפויות</a:t>
            </a:r>
          </a:p>
          <a:p>
            <a:pPr rtl="1" algn="r" marL="0" indent="0">
              <a:buNone/>
            </a:pPr>
            <a:r>
              <a:rPr lang="he-IL"/>
              <a:t>• סטודנט בלי חשבון Google או בלי מחשב עובד: עבודה בזוגות.</a:t>
            </a:r>
          </a:p>
          <a:p>
            <a:pPr rtl="1" algn="r" marL="0" indent="0">
              <a:buNone/>
            </a:pPr>
            <a:r>
              <a:rPr lang="he-IL"/>
              <a:t>• הקבצים נעלמו אחרי ניתוק: מריצים מההתחלה (Run all). תוצרים חשובים נשמרים ב־Drive (המדריך, פרק 5).</a:t>
            </a:r>
          </a:p>
          <a:p>
            <a:pPr rtl="1" algn="r" marL="0" indent="0">
              <a:buNone/>
            </a:pPr>
            <a:r>
              <a:rPr lang="he-IL"/>
              <a:t>• המחברת נפתחה לקריאה בלבד: צריך לשמור עותק ב־Drive לפני העבודה.</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chart" Target="../charts/char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שיעור 9</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25880"/>
            <a:ext cx="8412480" cy="7315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1" i="0" lang="he-IL">
                <a:solidFill>
                  <a:srgbClr val="EA4335"/>
                </a:solidFill>
              </a:rPr>
              <a:t>"הדוח רץ, אבל הסכום לא נכון."</a:t>
            </a:r>
          </a:p>
        </p:txBody>
      </p:sp>
      <p:sp>
        <p:nvSpPr>
          <p:cNvPr id="6" name="Rounded Rectangle 5"/>
          <p:cNvSpPr/>
          <p:nvPr/>
        </p:nvSpPr>
        <p:spPr>
          <a:xfrm>
            <a:off x="4754880" y="2194560"/>
            <a:ext cx="4023360" cy="1554480"/>
          </a:xfrm>
          <a:prstGeom prst="roundRect">
            <a:avLst>
              <a:gd name="adj" fmla="val 12000"/>
            </a:avLst>
          </a:prstGeom>
          <a:solidFill>
            <a:srgbClr val="FDE3E0"/>
          </a:solidFill>
          <a:ln w="3810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0" i="0" lang="he-IL">
                <a:solidFill>
                  <a:srgbClr val="212121"/>
                </a:solidFill>
              </a:rPr>
              <a:t>הדוח שלנו</a:t>
            </a:r>
          </a:p>
          <a:p>
            <a:pPr rtl="1" algn="ctr" marL="0" indent="0">
              <a:lnSpc>
                <a:spcPct val="105000"/>
              </a:lnSpc>
              <a:spcBef>
                <a:spcPts val="0"/>
              </a:spcBef>
              <a:spcAft>
                <a:spcPts val="0"/>
              </a:spcAft>
              <a:buNone/>
            </a:pPr>
            <a:r>
              <a:rPr sz="3800" b="1" i="0" lang="he-IL">
                <a:solidFill>
                  <a:srgbClr val="EA4335"/>
                </a:solidFill>
              </a:rPr>
              <a:t>88,527</a:t>
            </a:r>
          </a:p>
        </p:txBody>
      </p:sp>
      <p:sp>
        <p:nvSpPr>
          <p:cNvPr id="7" name="Rounded Rectangle 6"/>
          <p:cNvSpPr/>
          <p:nvPr/>
        </p:nvSpPr>
        <p:spPr>
          <a:xfrm>
            <a:off x="365760" y="2194560"/>
            <a:ext cx="4023360" cy="1554480"/>
          </a:xfrm>
          <a:prstGeom prst="roundRect">
            <a:avLst>
              <a:gd name="adj" fmla="val 12000"/>
            </a:avLst>
          </a:prstGeom>
          <a:solidFill>
            <a:srgbClr val="E1F4E6"/>
          </a:solidFill>
          <a:ln w="3810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0" i="0" lang="he-IL">
                <a:solidFill>
                  <a:srgbClr val="212121"/>
                </a:solidFill>
              </a:rPr>
              <a:t>הנהלת החשבונות</a:t>
            </a:r>
          </a:p>
          <a:p>
            <a:pPr rtl="1" algn="ctr" marL="0" indent="0">
              <a:lnSpc>
                <a:spcPct val="105000"/>
              </a:lnSpc>
              <a:spcBef>
                <a:spcPts val="0"/>
              </a:spcBef>
              <a:spcAft>
                <a:spcPts val="0"/>
              </a:spcAft>
              <a:buNone/>
            </a:pPr>
            <a:r>
              <a:rPr sz="3800" b="1" i="0" lang="he-IL">
                <a:solidFill>
                  <a:srgbClr val="34A853"/>
                </a:solidFill>
              </a:rPr>
              <a:t>177,598</a:t>
            </a:r>
          </a:p>
        </p:txBody>
      </p:sp>
      <p:sp>
        <p:nvSpPr>
          <p:cNvPr id="8" name="TextBox 7"/>
          <p:cNvSpPr txBox="1"/>
          <p:nvPr/>
        </p:nvSpPr>
        <p:spPr>
          <a:xfrm>
            <a:off x="365760" y="4023360"/>
            <a:ext cx="841248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400" b="1" i="0" lang="he-IL">
                <a:solidFill>
                  <a:srgbClr val="212121"/>
                </a:solidFill>
              </a:rPr>
              <a:t>אין שגיאה, אין אזהרה. איפה לחפש?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a:t>
            </a:r>
            <a:r>
              <a:rPr sz="3000" b="1" i="0" lang="he-IL">
                <a:solidFill>
                  <a:srgbClr val="212121"/>
                </a:solidFill>
              </a:rPr>
              <a:t>מטרות המפגש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229600" y="146304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6" name="TextBox 5"/>
          <p:cNvSpPr txBox="1"/>
          <p:nvPr/>
        </p:nvSpPr>
        <p:spPr>
          <a:xfrm>
            <a:off x="365760" y="1371600"/>
            <a:ext cx="7726679"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להפעיל תהליך דיבוג בשבעה צעדים: משחזרים, מבודדים, משערים, בודקים, מתקנים, מאמתים וממנעים.</a:t>
            </a:r>
          </a:p>
        </p:txBody>
      </p:sp>
      <p:sp>
        <p:nvSpPr>
          <p:cNvPr id="7" name="Oval 6"/>
          <p:cNvSpPr/>
          <p:nvPr/>
        </p:nvSpPr>
        <p:spPr>
          <a:xfrm>
            <a:off x="8229600" y="219456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8" name="TextBox 7"/>
          <p:cNvSpPr txBox="1"/>
          <p:nvPr/>
        </p:nvSpPr>
        <p:spPr>
          <a:xfrm>
            <a:off x="365760" y="2103120"/>
            <a:ext cx="7726679"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לקרוא Traceback ולמצוא את השורות החשובות.</a:t>
            </a:r>
          </a:p>
        </p:txBody>
      </p:sp>
      <p:sp>
        <p:nvSpPr>
          <p:cNvPr id="9" name="Oval 8"/>
          <p:cNvSpPr/>
          <p:nvPr/>
        </p:nvSpPr>
        <p:spPr>
          <a:xfrm>
            <a:off x="8229600" y="292608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0" name="TextBox 9"/>
          <p:cNvSpPr txBox="1"/>
          <p:nvPr/>
        </p:nvSpPr>
        <p:spPr>
          <a:xfrm>
            <a:off x="365760" y="2834640"/>
            <a:ext cx="7726679"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לזהות משפחות של באגים בקוד שנוצר ב־AI, כולל באגים שקטים בנתונים.</a:t>
            </a:r>
          </a:p>
        </p:txBody>
      </p:sp>
      <p:sp>
        <p:nvSpPr>
          <p:cNvPr id="11" name="Oval 10"/>
          <p:cNvSpPr/>
          <p:nvPr/>
        </p:nvSpPr>
        <p:spPr>
          <a:xfrm>
            <a:off x="8229600" y="365760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4</a:t>
            </a:r>
          </a:p>
        </p:txBody>
      </p:sp>
      <p:sp>
        <p:nvSpPr>
          <p:cNvPr id="12" name="TextBox 11"/>
          <p:cNvSpPr txBox="1"/>
          <p:nvPr/>
        </p:nvSpPr>
        <p:spPr>
          <a:xfrm>
            <a:off x="365760" y="3566160"/>
            <a:ext cx="7726679"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לנסח בקשת דיבוג טובה, ולזהות לולאת תיקונים שמחמירה את המצב.</a:t>
            </a:r>
          </a:p>
        </p:txBody>
      </p:sp>
      <p:sp>
        <p:nvSpPr>
          <p:cNvPr id="13" name="Oval 12"/>
          <p:cNvSpPr/>
          <p:nvPr/>
        </p:nvSpPr>
        <p:spPr>
          <a:xfrm>
            <a:off x="8229600" y="438912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5</a:t>
            </a:r>
          </a:p>
        </p:txBody>
      </p:sp>
      <p:sp>
        <p:nvSpPr>
          <p:cNvPr id="14" name="TextBox 13"/>
          <p:cNvSpPr txBox="1"/>
          <p:nvPr/>
        </p:nvSpPr>
        <p:spPr>
          <a:xfrm>
            <a:off x="365760" y="4297680"/>
            <a:ext cx="7726679"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לבצע ניתוח שורש ולהוסיף בדיקת רגרסיה.</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a:t>
            </a:r>
            <a:r>
              <a:rPr sz="3000" b="1" i="0" lang="he-IL">
                <a:solidFill>
                  <a:srgbClr val="212121"/>
                </a:solidFill>
              </a:rPr>
              <a:t>מפת המפגש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8118000" y="2011680"/>
            <a:ext cx="630000" cy="1005840"/>
          </a:xfrm>
          <a:prstGeom prst="roundRect">
            <a:avLst>
              <a:gd name="adj" fmla="val 8000"/>
            </a:avLst>
          </a:prstGeom>
          <a:solidFill>
            <a:srgbClr val="78909C"/>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FFFFFF"/>
                </a:solidFill>
              </a:rPr>
              <a:t>פתיחה</a:t>
            </a:r>
          </a:p>
          <a:p>
            <a:pPr rtl="1" algn="ctr" marL="0" indent="0">
              <a:lnSpc>
                <a:spcPct val="105000"/>
              </a:lnSpc>
              <a:spcBef>
                <a:spcPts val="0"/>
              </a:spcBef>
              <a:spcAft>
                <a:spcPts val="0"/>
              </a:spcAft>
              <a:buNone/>
            </a:pPr>
            <a:r>
              <a:rPr sz="1300" b="0" i="0" lang="he-IL">
                <a:solidFill>
                  <a:srgbClr val="FFFFFF"/>
                </a:solidFill>
              </a:rPr>
              <a:t>8׳</a:t>
            </a:r>
          </a:p>
        </p:txBody>
      </p:sp>
      <p:sp>
        <p:nvSpPr>
          <p:cNvPr id="6" name="Rounded Rectangle 5"/>
          <p:cNvSpPr/>
          <p:nvPr/>
        </p:nvSpPr>
        <p:spPr>
          <a:xfrm>
            <a:off x="7002000" y="2011680"/>
            <a:ext cx="1080000" cy="1005840"/>
          </a:xfrm>
          <a:prstGeom prst="roundRect">
            <a:avLst>
              <a:gd name="adj" fmla="val 8000"/>
            </a:avLst>
          </a:prstGeom>
          <a:solidFill>
            <a:srgbClr val="4285F4"/>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FFFFFF"/>
                </a:solidFill>
              </a:rPr>
              <a:t>א׳</a:t>
            </a:r>
          </a:p>
          <a:p>
            <a:pPr rtl="1" algn="ctr" marL="0" indent="0">
              <a:lnSpc>
                <a:spcPct val="105000"/>
              </a:lnSpc>
              <a:spcBef>
                <a:spcPts val="0"/>
              </a:spcBef>
              <a:spcAft>
                <a:spcPts val="0"/>
              </a:spcAft>
              <a:buNone/>
            </a:pPr>
            <a:r>
              <a:rPr sz="1300" b="0" i="0" lang="he-IL">
                <a:solidFill>
                  <a:srgbClr val="FFFFFF"/>
                </a:solidFill>
              </a:rPr>
              <a:t>12׳</a:t>
            </a:r>
          </a:p>
        </p:txBody>
      </p:sp>
      <p:sp>
        <p:nvSpPr>
          <p:cNvPr id="7" name="Rounded Rectangle 6"/>
          <p:cNvSpPr/>
          <p:nvPr/>
        </p:nvSpPr>
        <p:spPr>
          <a:xfrm>
            <a:off x="6065999" y="2011680"/>
            <a:ext cx="900000" cy="1005840"/>
          </a:xfrm>
          <a:prstGeom prst="roundRect">
            <a:avLst>
              <a:gd name="adj" fmla="val 8000"/>
            </a:avLst>
          </a:prstGeom>
          <a:solidFill>
            <a:srgbClr val="FFAB40"/>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212121"/>
                </a:solidFill>
              </a:rPr>
              <a:t>מעבדה א׳</a:t>
            </a:r>
          </a:p>
          <a:p>
            <a:pPr rtl="1" algn="ctr" marL="0" indent="0">
              <a:lnSpc>
                <a:spcPct val="105000"/>
              </a:lnSpc>
              <a:spcBef>
                <a:spcPts val="0"/>
              </a:spcBef>
              <a:spcAft>
                <a:spcPts val="0"/>
              </a:spcAft>
              <a:buNone/>
            </a:pPr>
            <a:r>
              <a:rPr sz="1300" b="0" i="0" lang="he-IL">
                <a:solidFill>
                  <a:srgbClr val="212121"/>
                </a:solidFill>
              </a:rPr>
              <a:t>10׳</a:t>
            </a:r>
          </a:p>
        </p:txBody>
      </p:sp>
      <p:sp>
        <p:nvSpPr>
          <p:cNvPr id="8" name="Rounded Rectangle 7"/>
          <p:cNvSpPr/>
          <p:nvPr/>
        </p:nvSpPr>
        <p:spPr>
          <a:xfrm>
            <a:off x="5039999" y="2011680"/>
            <a:ext cx="990000" cy="1005840"/>
          </a:xfrm>
          <a:prstGeom prst="roundRect">
            <a:avLst>
              <a:gd name="adj" fmla="val 8000"/>
            </a:avLst>
          </a:prstGeom>
          <a:solidFill>
            <a:srgbClr val="4285F4"/>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FFFFFF"/>
                </a:solidFill>
              </a:rPr>
              <a:t>ב׳</a:t>
            </a:r>
          </a:p>
          <a:p>
            <a:pPr rtl="1" algn="ctr" marL="0" indent="0">
              <a:lnSpc>
                <a:spcPct val="105000"/>
              </a:lnSpc>
              <a:spcBef>
                <a:spcPts val="0"/>
              </a:spcBef>
              <a:spcAft>
                <a:spcPts val="0"/>
              </a:spcAft>
              <a:buNone/>
            </a:pPr>
            <a:r>
              <a:rPr sz="1300" b="0" i="0" lang="he-IL">
                <a:solidFill>
                  <a:srgbClr val="FFFFFF"/>
                </a:solidFill>
              </a:rPr>
              <a:t>11׳</a:t>
            </a:r>
          </a:p>
        </p:txBody>
      </p:sp>
      <p:sp>
        <p:nvSpPr>
          <p:cNvPr id="9" name="Rounded Rectangle 8"/>
          <p:cNvSpPr/>
          <p:nvPr/>
        </p:nvSpPr>
        <p:spPr>
          <a:xfrm>
            <a:off x="4103999" y="2011680"/>
            <a:ext cx="900000" cy="1005840"/>
          </a:xfrm>
          <a:prstGeom prst="roundRect">
            <a:avLst>
              <a:gd name="adj" fmla="val 8000"/>
            </a:avLst>
          </a:prstGeom>
          <a:solidFill>
            <a:srgbClr val="FFAB40"/>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212121"/>
                </a:solidFill>
              </a:rPr>
              <a:t>מעבדה ב׳</a:t>
            </a:r>
          </a:p>
          <a:p>
            <a:pPr rtl="1" algn="ctr" marL="0" indent="0">
              <a:lnSpc>
                <a:spcPct val="105000"/>
              </a:lnSpc>
              <a:spcBef>
                <a:spcPts val="0"/>
              </a:spcBef>
              <a:spcAft>
                <a:spcPts val="0"/>
              </a:spcAft>
              <a:buNone/>
            </a:pPr>
            <a:r>
              <a:rPr sz="1300" b="0" i="0" lang="he-IL">
                <a:solidFill>
                  <a:srgbClr val="212121"/>
                </a:solidFill>
              </a:rPr>
              <a:t>10׳</a:t>
            </a:r>
          </a:p>
        </p:txBody>
      </p:sp>
      <p:sp>
        <p:nvSpPr>
          <p:cNvPr id="10" name="Rounded Rectangle 9"/>
          <p:cNvSpPr/>
          <p:nvPr/>
        </p:nvSpPr>
        <p:spPr>
          <a:xfrm>
            <a:off x="2987999" y="2011680"/>
            <a:ext cx="1080000" cy="1005840"/>
          </a:xfrm>
          <a:prstGeom prst="roundRect">
            <a:avLst>
              <a:gd name="adj" fmla="val 8000"/>
            </a:avLst>
          </a:prstGeom>
          <a:solidFill>
            <a:srgbClr val="4285F4"/>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FFFFFF"/>
                </a:solidFill>
              </a:rPr>
              <a:t>ג׳</a:t>
            </a:r>
          </a:p>
          <a:p>
            <a:pPr rtl="1" algn="ctr" marL="0" indent="0">
              <a:lnSpc>
                <a:spcPct val="105000"/>
              </a:lnSpc>
              <a:spcBef>
                <a:spcPts val="0"/>
              </a:spcBef>
              <a:spcAft>
                <a:spcPts val="0"/>
              </a:spcAft>
              <a:buNone/>
            </a:pPr>
            <a:r>
              <a:rPr sz="1300" b="0" i="0" lang="he-IL">
                <a:solidFill>
                  <a:srgbClr val="FFFFFF"/>
                </a:solidFill>
              </a:rPr>
              <a:t>12׳</a:t>
            </a:r>
          </a:p>
        </p:txBody>
      </p:sp>
      <p:sp>
        <p:nvSpPr>
          <p:cNvPr id="11" name="Rounded Rectangle 10"/>
          <p:cNvSpPr/>
          <p:nvPr/>
        </p:nvSpPr>
        <p:spPr>
          <a:xfrm>
            <a:off x="1331999" y="2011680"/>
            <a:ext cx="1620000" cy="1005840"/>
          </a:xfrm>
          <a:prstGeom prst="roundRect">
            <a:avLst>
              <a:gd name="adj" fmla="val 8000"/>
            </a:avLst>
          </a:prstGeom>
          <a:solidFill>
            <a:srgbClr val="FFAB40"/>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212121"/>
                </a:solidFill>
              </a:rPr>
              <a:t>מעבדה ג׳</a:t>
            </a:r>
          </a:p>
          <a:p>
            <a:pPr rtl="1" algn="ctr" marL="0" indent="0">
              <a:lnSpc>
                <a:spcPct val="105000"/>
              </a:lnSpc>
              <a:spcBef>
                <a:spcPts val="0"/>
              </a:spcBef>
              <a:spcAft>
                <a:spcPts val="0"/>
              </a:spcAft>
              <a:buNone/>
            </a:pPr>
            <a:r>
              <a:rPr sz="1300" b="0" i="0" lang="he-IL">
                <a:solidFill>
                  <a:srgbClr val="212121"/>
                </a:solidFill>
              </a:rPr>
              <a:t>18׳</a:t>
            </a:r>
          </a:p>
        </p:txBody>
      </p:sp>
      <p:sp>
        <p:nvSpPr>
          <p:cNvPr id="12" name="Rounded Rectangle 11"/>
          <p:cNvSpPr/>
          <p:nvPr/>
        </p:nvSpPr>
        <p:spPr>
          <a:xfrm>
            <a:off x="395999" y="2011680"/>
            <a:ext cx="900000" cy="1005840"/>
          </a:xfrm>
          <a:prstGeom prst="roundRect">
            <a:avLst>
              <a:gd name="adj" fmla="val 8000"/>
            </a:avLst>
          </a:prstGeom>
          <a:solidFill>
            <a:srgbClr val="78909C"/>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FFFFFF"/>
                </a:solidFill>
              </a:rPr>
              <a:t>סיכום</a:t>
            </a:r>
          </a:p>
          <a:p>
            <a:pPr rtl="1" algn="ctr" marL="0" indent="0">
              <a:lnSpc>
                <a:spcPct val="105000"/>
              </a:lnSpc>
              <a:spcBef>
                <a:spcPts val="0"/>
              </a:spcBef>
              <a:spcAft>
                <a:spcPts val="0"/>
              </a:spcAft>
              <a:buNone/>
            </a:pPr>
            <a:r>
              <a:rPr sz="1300" b="0" i="0" lang="he-IL">
                <a:solidFill>
                  <a:srgbClr val="FFFFFF"/>
                </a:solidFill>
              </a:rPr>
              <a:t>9׳</a:t>
            </a:r>
          </a:p>
        </p:txBody>
      </p:sp>
      <p:cxnSp>
        <p:nvCxnSpPr>
          <p:cNvPr id="13" name="Connector 12"/>
          <p:cNvCxnSpPr/>
          <p:nvPr/>
        </p:nvCxnSpPr>
        <p:spPr>
          <a:xfrm flipH="1">
            <a:off x="365760" y="3337560"/>
            <a:ext cx="8412480" cy="0"/>
          </a:xfrm>
          <a:prstGeom prst="line">
            <a:avLst/>
          </a:prstGeom>
          <a:ln w="254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65760" y="338328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595959"/>
                </a:solidFill>
              </a:rPr>
              <a:t>90 דקות</a:t>
            </a:r>
          </a:p>
        </p:txBody>
      </p:sp>
      <p:sp>
        <p:nvSpPr>
          <p:cNvPr id="15" name="Rectangle 14"/>
          <p:cNvSpPr/>
          <p:nvPr/>
        </p:nvSpPr>
        <p:spPr>
          <a:xfrm>
            <a:off x="6126480" y="4023360"/>
            <a:ext cx="320040" cy="274320"/>
          </a:xfrm>
          <a:prstGeom prst="rect">
            <a:avLst/>
          </a:prstGeom>
          <a:solidFill>
            <a:srgbClr val="4285F4"/>
          </a:solidFill>
          <a:ln>
            <a:noFill/>
          </a:ln>
        </p:spPr>
        <p:txBody>
          <a:bodyPr rtlCol="0" anchor="ctr" wrap="square" lIns="73152" rIns="73152" tIns="73152" bIns="73152">
            <a:noAutofit/>
          </a:bodyPr>
          <a:lstStyle/>
          <a:p>
            <a:pPr algn="ctr"/>
          </a:p>
        </p:txBody>
      </p:sp>
      <p:sp>
        <p:nvSpPr>
          <p:cNvPr id="16" name="TextBox 15"/>
          <p:cNvSpPr txBox="1"/>
          <p:nvPr/>
        </p:nvSpPr>
        <p:spPr>
          <a:xfrm>
            <a:off x="3931920" y="3950208"/>
            <a:ext cx="2194560" cy="4114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600" b="0" i="0" lang="he-IL">
                <a:solidFill>
                  <a:srgbClr val="212121"/>
                </a:solidFill>
              </a:rPr>
              <a:t>הסבר קצר</a:t>
            </a:r>
          </a:p>
        </p:txBody>
      </p:sp>
      <p:sp>
        <p:nvSpPr>
          <p:cNvPr id="17" name="Rectangle 16"/>
          <p:cNvSpPr/>
          <p:nvPr/>
        </p:nvSpPr>
        <p:spPr>
          <a:xfrm>
            <a:off x="3566160" y="4023360"/>
            <a:ext cx="320040" cy="274320"/>
          </a:xfrm>
          <a:prstGeom prst="rect">
            <a:avLst/>
          </a:prstGeom>
          <a:solidFill>
            <a:srgbClr val="FFAB40"/>
          </a:solidFill>
          <a:ln>
            <a:noFill/>
          </a:ln>
        </p:spPr>
        <p:txBody>
          <a:bodyPr rtlCol="0" anchor="ctr" wrap="square" lIns="73152" rIns="73152" tIns="73152" bIns="73152">
            <a:noAutofit/>
          </a:bodyPr>
          <a:lstStyle/>
          <a:p>
            <a:pPr algn="ctr"/>
          </a:p>
        </p:txBody>
      </p:sp>
      <p:sp>
        <p:nvSpPr>
          <p:cNvPr id="18" name="TextBox 17"/>
          <p:cNvSpPr txBox="1"/>
          <p:nvPr/>
        </p:nvSpPr>
        <p:spPr>
          <a:xfrm>
            <a:off x="1463040" y="3950208"/>
            <a:ext cx="2103120" cy="4114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600" b="0" i="0" lang="he-IL">
                <a:solidFill>
                  <a:srgbClr val="212121"/>
                </a:solidFill>
              </a:rPr>
              <a:t>עבודה שלכם</a:t>
            </a:r>
          </a:p>
        </p:txBody>
      </p:sp>
      <p:sp>
        <p:nvSpPr>
          <p:cNvPr id="19" name="Enrich legend"/>
          <p:cNvSpPr txBox="1"/>
          <p:nvPr/>
        </p:nvSpPr>
        <p:spPr>
          <a:xfrm>
            <a:off x="365760" y="446400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0" i="0" lang="he-IL">
                <a:solidFill>
                  <a:srgbClr val="595959"/>
                </a:solidFill>
              </a:rPr>
              <a:t>שקפי העשרה אופציונליים (כ־2 דקות כל אחד) מופיעים לפני הסיכום</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a:t>
            </a:r>
            <a:r>
              <a:rPr sz="3000" b="1" i="0" lang="he-IL">
                <a:solidFill>
                  <a:srgbClr val="212121"/>
                </a:solidFill>
              </a:rPr>
              <a:t>במפגשים הקודמים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71600"/>
          <a:ext cx="8412480" cy="3060000"/>
        </p:xfrm>
        <a:graphic>
          <a:graphicData uri="http://schemas.openxmlformats.org/drawingml/2006/table">
            <a:tbl>
              <a:tblPr firstRow="0" bandRow="0">
                <a:tableStyleId>{2D5ABB26-0587-4C30-8999-92F81FD0307C}</a:tableStyleId>
              </a:tblPr>
              <a:tblGrid>
                <a:gridCol w="3350000"/>
                <a:gridCol w="3180000"/>
                <a:gridCol w="1882480"/>
              </a:tblGrid>
              <a:tr h="500000">
                <a:tc>
                  <a:txBody>
                    <a:bodyPr wrap="square"/>
                    <a:lstStyle/>
                    <a:p>
                      <a:pPr rtl="1" algn="ctr" marL="0" indent="0">
                        <a:lnSpc>
                          <a:spcPct val="100000"/>
                        </a:lnSpc>
                        <a:spcBef>
                          <a:spcPts val="0"/>
                        </a:spcBef>
                        <a:spcAft>
                          <a:spcPts val="0"/>
                        </a:spcAft>
                        <a:buNone/>
                      </a:pPr>
                      <a:r>
                        <a:rPr sz="1500" b="1" i="0" lang="he-IL">
                          <a:solidFill>
                            <a:srgbClr val="212121"/>
                          </a:solidFill>
                        </a:rPr>
                        <a:t>איפה זה חוזר היום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500" b="1" i="0" lang="he-IL">
                          <a:solidFill>
                            <a:srgbClr val="212121"/>
                          </a:solidFill>
                        </a:rPr>
                        <a:t>מה למדנו</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500" b="1" i="0" lang="he-IL">
                          <a:solidFill>
                            <a:srgbClr val="212121"/>
                          </a:solidFill>
                        </a:rPr>
                        <a:t>מפגש</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640000">
                <a:tc>
                  <a:txBody>
                    <a:bodyPr wrap="square"/>
                    <a:lstStyle/>
                    <a:p>
                      <a:pPr rtl="1" algn="r" marL="0" indent="0">
                        <a:lnSpc>
                          <a:spcPct val="100000"/>
                        </a:lnSpc>
                        <a:spcBef>
                          <a:spcPts val="0"/>
                        </a:spcBef>
                        <a:spcAft>
                          <a:spcPts val="0"/>
                        </a:spcAft>
                        <a:buNone/>
                      </a:pPr>
                      <a:r>
                        <a:rPr sz="1500" b="0" i="0" lang="he-IL">
                          <a:solidFill>
                            <a:srgbClr val="212121"/>
                          </a:solidFill>
                        </a:rPr>
                        <a:t>e3 ו־e4 במעבדה א׳. בחלק ב׳: הזיה או הנחה?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c>
                  <a:txBody>
                    <a:bodyPr wrap="square"/>
                    <a:lstStyle/>
                    <a:p>
                      <a:pPr rtl="1" algn="r" marL="0" indent="0">
                        <a:lnSpc>
                          <a:spcPct val="100000"/>
                        </a:lnSpc>
                        <a:spcBef>
                          <a:spcPts val="0"/>
                        </a:spcBef>
                        <a:spcAft>
                          <a:spcPts val="0"/>
                        </a:spcAft>
                        <a:buNone/>
                      </a:pPr>
                      <a:r>
                        <a:rPr sz="1500" b="0" i="0" lang="he-IL">
                          <a:solidFill>
                            <a:srgbClr val="212121"/>
                          </a:solidFill>
                        </a:rPr>
                        <a:t>חמישה סוגי הזיות. לא הרצתם? לא סומכים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c>
                  <a:txBody>
                    <a:bodyPr wrap="square"/>
                    <a:lstStyle/>
                    <a:p>
                      <a:pPr rtl="1" algn="r" marL="0" indent="0">
                        <a:lnSpc>
                          <a:spcPct val="100000"/>
                        </a:lnSpc>
                        <a:spcBef>
                          <a:spcPts val="0"/>
                        </a:spcBef>
                        <a:spcAft>
                          <a:spcPts val="0"/>
                        </a:spcAft>
                        <a:buNone/>
                      </a:pPr>
                      <a:r>
                        <a:rPr sz="1500" b="1" i="0" lang="he-IL">
                          <a:solidFill>
                            <a:srgbClr val="212121"/>
                          </a:solidFill>
                        </a:rPr>
                        <a:t>מפגש 2: הזיות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r>
              <a:tr h="640000">
                <a:tc>
                  <a:txBody>
                    <a:bodyPr wrap="square"/>
                    <a:lstStyle/>
                    <a:p>
                      <a:pPr rtl="1" algn="r" marL="0" indent="0">
                        <a:lnSpc>
                          <a:spcPct val="100000"/>
                        </a:lnSpc>
                        <a:spcBef>
                          <a:spcPts val="0"/>
                        </a:spcBef>
                        <a:spcAft>
                          <a:spcPts val="0"/>
                        </a:spcAft>
                        <a:buNone/>
                      </a:pPr>
                      <a:r>
                        <a:rPr sz="1500" b="0" i="0" lang="he-IL">
                          <a:solidFill>
                            <a:srgbClr val="212121"/>
                          </a:solidFill>
                        </a:rPr>
                        <a:t>כלל העצירה וחזרה ל־commit; הודעת commit בתחקיר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commit לפני הסוכן, diff אחרי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מפגש 6: Git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40000">
                <a:tc>
                  <a:txBody>
                    <a:bodyPr wrap="square"/>
                    <a:lstStyle/>
                    <a:p>
                      <a:pPr rtl="1" algn="r" marL="0" indent="0">
                        <a:lnSpc>
                          <a:spcPct val="100000"/>
                        </a:lnSpc>
                        <a:spcBef>
                          <a:spcPts val="0"/>
                        </a:spcBef>
                        <a:spcAft>
                          <a:spcPts val="0"/>
                        </a:spcAft>
                        <a:buNone/>
                      </a:pPr>
                      <a:r>
                        <a:rPr sz="1500" b="0" i="0" lang="he-IL">
                          <a:solidFill>
                            <a:srgbClr val="212121"/>
                          </a:solidFill>
                        </a:rPr>
                        <a:t>באג 4: 778 הזמנות הופכות ל־976 שורות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JOIN מכפיל שורות: סופרים לפני ואחרי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מפגש 7: JOIN</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40000">
                <a:tc>
                  <a:txBody>
                    <a:bodyPr wrap="square"/>
                    <a:lstStyle/>
                    <a:p>
                      <a:pPr rtl="1" algn="r" marL="0" indent="0">
                        <a:lnSpc>
                          <a:spcPct val="100000"/>
                        </a:lnSpc>
                        <a:spcBef>
                          <a:spcPts val="0"/>
                        </a:spcBef>
                        <a:spcAft>
                          <a:spcPts val="0"/>
                        </a:spcAft>
                        <a:buNone/>
                      </a:pPr>
                      <a:r>
                        <a:rPr sz="1500" b="0" i="0" lang="he-IL">
                          <a:solidFill>
                            <a:srgbClr val="212121"/>
                          </a:solidFill>
                        </a:rPr>
                        <a:t>סכום ביקורת מול הדוח. בצעד 7: בדיקת רגרסיה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c>
                  <a:txBody>
                    <a:bodyPr wrap="square"/>
                    <a:lstStyle/>
                    <a:p>
                      <a:pPr rtl="1" algn="r" marL="0" indent="0">
                        <a:lnSpc>
                          <a:spcPct val="100000"/>
                        </a:lnSpc>
                        <a:spcBef>
                          <a:spcPts val="0"/>
                        </a:spcBef>
                        <a:spcAft>
                          <a:spcPts val="0"/>
                        </a:spcAft>
                        <a:buNone/>
                      </a:pPr>
                      <a:r>
                        <a:rPr sz="1500" b="0" i="0" lang="he-IL">
                          <a:solidFill>
                            <a:srgbClr val="212121"/>
                          </a:solidFill>
                        </a:rPr>
                        <a:t>בדיקה ממפרט תפסה 17 במקום 20</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c>
                  <a:txBody>
                    <a:bodyPr wrap="square"/>
                    <a:lstStyle/>
                    <a:p>
                      <a:pPr rtl="1" algn="r" marL="0" indent="0">
                        <a:lnSpc>
                          <a:spcPct val="100000"/>
                        </a:lnSpc>
                        <a:spcBef>
                          <a:spcPts val="0"/>
                        </a:spcBef>
                        <a:spcAft>
                          <a:spcPts val="0"/>
                        </a:spcAft>
                        <a:buNone/>
                      </a:pPr>
                      <a:r>
                        <a:rPr sz="1500" b="1" i="0" lang="he-IL">
                          <a:solidFill>
                            <a:srgbClr val="212121"/>
                          </a:solidFill>
                        </a:rPr>
                        <a:t>מפגש 8: בדיקות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r>
            </a:tbl>
          </a:graphicData>
        </a:graphic>
      </p:graphicFrame>
      <p:sp>
        <p:nvSpPr>
          <p:cNvPr id="6" name="Chain footer"/>
          <p:cNvSpPr txBox="1"/>
          <p:nvPr/>
        </p:nvSpPr>
        <p:spPr>
          <a:xfrm>
            <a:off x="365760" y="4480000"/>
            <a:ext cx="8412480" cy="600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1" i="0" lang="he-IL">
                <a:solidFill>
                  <a:srgbClr val="212121"/>
                </a:solidFill>
              </a:rPr>
              <a:t>הציר של היום: הזיה היא סוג התקלה, בדיקה היא הכלי, ודיבוג הוא השיטה שמחברת ביניהם.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a:t>
            </a:r>
            <a:r>
              <a:rPr sz="3000" b="1" i="0" lang="he-IL">
                <a:solidFill>
                  <a:srgbClr val="212121"/>
                </a:solidFill>
              </a:rPr>
              <a:t>השאלה של היום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5486400" y="1554480"/>
            <a:ext cx="3291840" cy="2560320"/>
          </a:xfrm>
          <a:prstGeom prst="roundRect">
            <a:avLst>
              <a:gd name="adj" fmla="val 12000"/>
            </a:avLst>
          </a:prstGeom>
          <a:solidFill>
            <a:srgbClr val="FDE3E0"/>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נשאר פתוח במפגש 8</a:t>
            </a:r>
          </a:p>
          <a:p>
            <a:pPr rtl="1" algn="ctr" marL="0" indent="0">
              <a:lnSpc>
                <a:spcPct val="105000"/>
              </a:lnSpc>
              <a:spcBef>
                <a:spcPts val="0"/>
              </a:spcBef>
              <a:spcAft>
                <a:spcPts val="0"/>
              </a:spcAft>
              <a:buNone/>
            </a:pPr>
            <a:r>
              <a:rPr sz="1500" b="0" i="0" lang="he-IL">
                <a:solidFill>
                  <a:srgbClr val="212121"/>
                </a:solidFill>
              </a:rPr>
              <a:t>בדיקה אחת תפסה 17 במקום 20.</a:t>
            </a:r>
          </a:p>
          <a:p>
            <a:pPr rtl="1" algn="ctr" marL="0" indent="0">
              <a:lnSpc>
                <a:spcPct val="105000"/>
              </a:lnSpc>
              <a:spcBef>
                <a:spcPts val="0"/>
              </a:spcBef>
              <a:spcAft>
                <a:spcPts val="0"/>
              </a:spcAft>
              <a:buNone/>
            </a:pPr>
            <a:r>
              <a:rPr sz="1500" b="0" i="0" lang="he-IL">
                <a:solidFill>
                  <a:srgbClr val="212121"/>
                </a:solidFill>
              </a:rPr>
              <a:t>היא אמרה שיש בעיה, לא למה.</a:t>
            </a:r>
          </a:p>
          <a:p>
            <a:pPr rtl="1" algn="ctr" marL="0" indent="0">
              <a:lnSpc>
                <a:spcPct val="105000"/>
              </a:lnSpc>
              <a:spcBef>
                <a:spcPts val="0"/>
              </a:spcBef>
              <a:spcAft>
                <a:spcPts val="0"/>
              </a:spcAft>
              <a:buNone/>
            </a:pPr>
            <a:r>
              <a:rPr sz="1500" b="0" i="0" lang="he-IL">
                <a:solidFill>
                  <a:srgbClr val="212121"/>
                </a:solidFill>
              </a:rPr>
              <a:t>ובדוח שלנו אין בדיקה ואין שגיאה.</a:t>
            </a:r>
          </a:p>
        </p:txBody>
      </p:sp>
      <p:cxnSp>
        <p:nvCxnSpPr>
          <p:cNvPr id="6" name="Connector 5"/>
          <p:cNvCxnSpPr/>
          <p:nvPr/>
        </p:nvCxnSpPr>
        <p:spPr>
          <a:xfrm flipH="1">
            <a:off x="4069080" y="2834640"/>
            <a:ext cx="1371600" cy="0"/>
          </a:xfrm>
          <a:prstGeom prst="line">
            <a:avLst/>
          </a:prstGeom>
          <a:ln w="508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023360" y="2377440"/>
            <a:ext cx="146304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1" i="0" lang="he-IL">
                <a:solidFill>
                  <a:srgbClr val="4285F4"/>
                </a:solidFill>
              </a:rPr>
              <a:t>היום</a:t>
            </a:r>
          </a:p>
        </p:txBody>
      </p:sp>
      <p:sp>
        <p:nvSpPr>
          <p:cNvPr id="8" name="Rounded Rectangle 7"/>
          <p:cNvSpPr/>
          <p:nvPr/>
        </p:nvSpPr>
        <p:spPr>
          <a:xfrm>
            <a:off x="365760" y="1554480"/>
            <a:ext cx="3657600" cy="256032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המפגש היום</a:t>
            </a:r>
          </a:p>
          <a:p>
            <a:pPr rtl="1" algn="ctr" marL="0" indent="0">
              <a:lnSpc>
                <a:spcPct val="105000"/>
              </a:lnSpc>
              <a:spcBef>
                <a:spcPts val="0"/>
              </a:spcBef>
              <a:spcAft>
                <a:spcPts val="0"/>
              </a:spcAft>
              <a:buNone/>
            </a:pPr>
            <a:r>
              <a:rPr sz="1500" b="0" i="0" lang="he-IL">
                <a:solidFill>
                  <a:srgbClr val="212121"/>
                </a:solidFill>
              </a:rPr>
              <a:t>שיטה של שבעה צעדים, משחזור ועד מניעה.</a:t>
            </a:r>
          </a:p>
          <a:p>
            <a:pPr rtl="1" algn="ctr" marL="0" indent="0">
              <a:lnSpc>
                <a:spcPct val="105000"/>
              </a:lnSpc>
              <a:spcBef>
                <a:spcPts val="0"/>
              </a:spcBef>
              <a:spcAft>
                <a:spcPts val="0"/>
              </a:spcAft>
              <a:buNone/>
            </a:pPr>
            <a:r>
              <a:rPr sz="1500" b="0" i="0" lang="he-IL">
                <a:solidFill>
                  <a:srgbClr val="212121"/>
                </a:solidFill>
              </a:rPr>
              <a:t>מוצאים סיבה, לא רק סימפטום.</a:t>
            </a:r>
          </a:p>
        </p:txBody>
      </p:sp>
      <p:sp>
        <p:nvSpPr>
          <p:cNvPr id="9" name="TextBox 8"/>
          <p:cNvSpPr txBox="1"/>
          <p:nvPr/>
        </p:nvSpPr>
        <p:spPr>
          <a:xfrm>
            <a:off x="365760" y="4297680"/>
            <a:ext cx="8412480" cy="6400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1" i="0" lang="he-IL">
                <a:solidFill>
                  <a:srgbClr val="212121"/>
                </a:solidFill>
              </a:rPr>
              <a:t>איך עוברים מ״משהו נכשל״ ל״זו הסיבה״, גם כשאין שגיאה?</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חלק א׳ :</a:t>
            </a:r>
            <a:r>
              <a:rPr sz="3000" b="1" i="0" lang="he-IL">
                <a:solidFill>
                  <a:srgbClr val="212121"/>
                </a:solidFill>
              </a:rPr>
              <a:t>שבעה צעדי דיבוג</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766560" y="1463040"/>
            <a:ext cx="2011680" cy="1463040"/>
          </a:xfrm>
          <a:prstGeom prst="roundRect">
            <a:avLst>
              <a:gd name="adj" fmla="val 12000"/>
            </a:avLst>
          </a:prstGeom>
          <a:solidFill>
            <a:srgbClr val="FFFF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200" b="1" i="0" lang="he-IL">
                <a:solidFill>
                  <a:srgbClr val="4285F4"/>
                </a:solidFill>
              </a:rPr>
              <a:t>1</a:t>
            </a:r>
          </a:p>
          <a:p>
            <a:pPr rtl="1" algn="ctr" marL="0" indent="0">
              <a:lnSpc>
                <a:spcPct val="105000"/>
              </a:lnSpc>
              <a:spcBef>
                <a:spcPts val="0"/>
              </a:spcBef>
              <a:spcAft>
                <a:spcPts val="0"/>
              </a:spcAft>
              <a:buNone/>
            </a:pPr>
            <a:r>
              <a:rPr sz="1800" b="1" i="0" lang="he-IL">
                <a:solidFill>
                  <a:srgbClr val="212121"/>
                </a:solidFill>
              </a:rPr>
              <a:t>משחזרים</a:t>
            </a:r>
          </a:p>
          <a:p>
            <a:pPr rtl="1" algn="ctr" marL="0" indent="0">
              <a:lnSpc>
                <a:spcPct val="105000"/>
              </a:lnSpc>
              <a:spcBef>
                <a:spcPts val="0"/>
              </a:spcBef>
              <a:spcAft>
                <a:spcPts val="0"/>
              </a:spcAft>
              <a:buNone/>
            </a:pPr>
            <a:r>
              <a:rPr sz="1200" b="0" i="0" lang="he-IL">
                <a:solidFill>
                  <a:srgbClr val="595959"/>
                </a:solidFill>
              </a:rPr>
              <a:t>גורמים לבאג לקרות שוב ושוב</a:t>
            </a:r>
          </a:p>
        </p:txBody>
      </p:sp>
      <p:sp>
        <p:nvSpPr>
          <p:cNvPr id="6" name="Rounded Rectangle 5"/>
          <p:cNvSpPr/>
          <p:nvPr/>
        </p:nvSpPr>
        <p:spPr>
          <a:xfrm>
            <a:off x="4572000" y="1463040"/>
            <a:ext cx="2011680" cy="1463040"/>
          </a:xfrm>
          <a:prstGeom prst="roundRect">
            <a:avLst>
              <a:gd name="adj" fmla="val 12000"/>
            </a:avLst>
          </a:prstGeom>
          <a:solidFill>
            <a:srgbClr val="FFFF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200" b="1" i="0" lang="he-IL">
                <a:solidFill>
                  <a:srgbClr val="4285F4"/>
                </a:solidFill>
              </a:rPr>
              <a:t>2</a:t>
            </a:r>
          </a:p>
          <a:p>
            <a:pPr rtl="1" algn="ctr" marL="0" indent="0">
              <a:lnSpc>
                <a:spcPct val="105000"/>
              </a:lnSpc>
              <a:spcBef>
                <a:spcPts val="0"/>
              </a:spcBef>
              <a:spcAft>
                <a:spcPts val="0"/>
              </a:spcAft>
              <a:buNone/>
            </a:pPr>
            <a:r>
              <a:rPr sz="1800" b="1" i="0" lang="he-IL">
                <a:solidFill>
                  <a:srgbClr val="212121"/>
                </a:solidFill>
              </a:rPr>
              <a:t>מבודדים</a:t>
            </a:r>
          </a:p>
          <a:p>
            <a:pPr rtl="1" algn="ctr" marL="0" indent="0">
              <a:lnSpc>
                <a:spcPct val="105000"/>
              </a:lnSpc>
              <a:spcBef>
                <a:spcPts val="0"/>
              </a:spcBef>
              <a:spcAft>
                <a:spcPts val="0"/>
              </a:spcAft>
              <a:buNone/>
            </a:pPr>
            <a:r>
              <a:rPr sz="1200" b="0" i="0" lang="he-IL">
                <a:solidFill>
                  <a:srgbClr val="595959"/>
                </a:solidFill>
              </a:rPr>
              <a:t>מקטינים למקרה מינימלי</a:t>
            </a:r>
          </a:p>
        </p:txBody>
      </p:sp>
      <p:sp>
        <p:nvSpPr>
          <p:cNvPr id="7" name="Rounded Rectangle 6"/>
          <p:cNvSpPr/>
          <p:nvPr/>
        </p:nvSpPr>
        <p:spPr>
          <a:xfrm>
            <a:off x="2377440" y="1463040"/>
            <a:ext cx="2011680" cy="1463040"/>
          </a:xfrm>
          <a:prstGeom prst="roundRect">
            <a:avLst>
              <a:gd name="adj" fmla="val 12000"/>
            </a:avLst>
          </a:prstGeom>
          <a:solidFill>
            <a:srgbClr val="FFFFFF"/>
          </a:solidFill>
          <a:ln w="317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200" b="1" i="0" lang="he-IL">
                <a:solidFill>
                  <a:srgbClr val="0097A7"/>
                </a:solidFill>
              </a:rPr>
              <a:t>3</a:t>
            </a:r>
          </a:p>
          <a:p>
            <a:pPr rtl="1" algn="ctr" marL="0" indent="0">
              <a:lnSpc>
                <a:spcPct val="105000"/>
              </a:lnSpc>
              <a:spcBef>
                <a:spcPts val="0"/>
              </a:spcBef>
              <a:spcAft>
                <a:spcPts val="0"/>
              </a:spcAft>
              <a:buNone/>
            </a:pPr>
            <a:r>
              <a:rPr sz="1800" b="1" i="0" lang="he-IL">
                <a:solidFill>
                  <a:srgbClr val="212121"/>
                </a:solidFill>
              </a:rPr>
              <a:t>משערים</a:t>
            </a:r>
          </a:p>
          <a:p>
            <a:pPr rtl="1" algn="ctr" marL="0" indent="0">
              <a:lnSpc>
                <a:spcPct val="105000"/>
              </a:lnSpc>
              <a:spcBef>
                <a:spcPts val="0"/>
              </a:spcBef>
              <a:spcAft>
                <a:spcPts val="0"/>
              </a:spcAft>
              <a:buNone/>
            </a:pPr>
            <a:r>
              <a:rPr sz="1200" b="0" i="0" lang="he-IL">
                <a:solidFill>
                  <a:srgbClr val="595959"/>
                </a:solidFill>
              </a:rPr>
              <a:t>מה יכולה להיות הסיבה?</a:t>
            </a:r>
          </a:p>
        </p:txBody>
      </p:sp>
      <p:sp>
        <p:nvSpPr>
          <p:cNvPr id="8" name="Rounded Rectangle 7"/>
          <p:cNvSpPr/>
          <p:nvPr/>
        </p:nvSpPr>
        <p:spPr>
          <a:xfrm>
            <a:off x="182880" y="1463040"/>
            <a:ext cx="2011680" cy="1463040"/>
          </a:xfrm>
          <a:prstGeom prst="roundRect">
            <a:avLst>
              <a:gd name="adj" fmla="val 12000"/>
            </a:avLst>
          </a:prstGeom>
          <a:solidFill>
            <a:srgbClr val="FFFFFF"/>
          </a:solidFill>
          <a:ln w="317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200" b="1" i="0" lang="he-IL">
                <a:solidFill>
                  <a:srgbClr val="0097A7"/>
                </a:solidFill>
              </a:rPr>
              <a:t>4</a:t>
            </a:r>
          </a:p>
          <a:p>
            <a:pPr rtl="1" algn="ctr" marL="0" indent="0">
              <a:lnSpc>
                <a:spcPct val="105000"/>
              </a:lnSpc>
              <a:spcBef>
                <a:spcPts val="0"/>
              </a:spcBef>
              <a:spcAft>
                <a:spcPts val="0"/>
              </a:spcAft>
              <a:buNone/>
            </a:pPr>
            <a:r>
              <a:rPr sz="1800" b="1" i="0" lang="he-IL">
                <a:solidFill>
                  <a:srgbClr val="212121"/>
                </a:solidFill>
              </a:rPr>
              <a:t>בודקים</a:t>
            </a:r>
          </a:p>
          <a:p>
            <a:pPr rtl="1" algn="ctr" marL="0" indent="0">
              <a:lnSpc>
                <a:spcPct val="105000"/>
              </a:lnSpc>
              <a:spcBef>
                <a:spcPts val="0"/>
              </a:spcBef>
              <a:spcAft>
                <a:spcPts val="0"/>
              </a:spcAft>
              <a:buNone/>
            </a:pPr>
            <a:r>
              <a:rPr sz="1200" b="0" i="0" lang="he-IL">
                <a:solidFill>
                  <a:srgbClr val="595959"/>
                </a:solidFill>
              </a:rPr>
              <a:t>ניסוי שמאשש או שולל</a:t>
            </a:r>
          </a:p>
        </p:txBody>
      </p:sp>
      <p:sp>
        <p:nvSpPr>
          <p:cNvPr id="9" name="Rounded Rectangle 8"/>
          <p:cNvSpPr/>
          <p:nvPr/>
        </p:nvSpPr>
        <p:spPr>
          <a:xfrm>
            <a:off x="6766560" y="3200400"/>
            <a:ext cx="2011680" cy="1463040"/>
          </a:xfrm>
          <a:prstGeom prst="roundRect">
            <a:avLst>
              <a:gd name="adj" fmla="val 12000"/>
            </a:avLst>
          </a:prstGeom>
          <a:solidFill>
            <a:srgbClr val="FFFFFF"/>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200" b="1" i="0" lang="he-IL">
                <a:solidFill>
                  <a:srgbClr val="FFAB40"/>
                </a:solidFill>
              </a:rPr>
              <a:t>5</a:t>
            </a:r>
          </a:p>
          <a:p>
            <a:pPr rtl="1" algn="ctr" marL="0" indent="0">
              <a:lnSpc>
                <a:spcPct val="105000"/>
              </a:lnSpc>
              <a:spcBef>
                <a:spcPts val="0"/>
              </a:spcBef>
              <a:spcAft>
                <a:spcPts val="0"/>
              </a:spcAft>
              <a:buNone/>
            </a:pPr>
            <a:r>
              <a:rPr sz="1800" b="1" i="0" lang="he-IL">
                <a:solidFill>
                  <a:srgbClr val="212121"/>
                </a:solidFill>
              </a:rPr>
              <a:t>מתקנים</a:t>
            </a:r>
          </a:p>
          <a:p>
            <a:pPr rtl="1" algn="ctr" marL="0" indent="0">
              <a:lnSpc>
                <a:spcPct val="105000"/>
              </a:lnSpc>
              <a:spcBef>
                <a:spcPts val="0"/>
              </a:spcBef>
              <a:spcAft>
                <a:spcPts val="0"/>
              </a:spcAft>
              <a:buNone/>
            </a:pPr>
            <a:r>
              <a:rPr sz="1200" b="0" i="0" lang="he-IL">
                <a:solidFill>
                  <a:srgbClr val="595959"/>
                </a:solidFill>
              </a:rPr>
              <a:t>שינוי קטן אחד</a:t>
            </a:r>
          </a:p>
        </p:txBody>
      </p:sp>
      <p:sp>
        <p:nvSpPr>
          <p:cNvPr id="10" name="Rounded Rectangle 9"/>
          <p:cNvSpPr/>
          <p:nvPr/>
        </p:nvSpPr>
        <p:spPr>
          <a:xfrm>
            <a:off x="4572000" y="3200400"/>
            <a:ext cx="2011680" cy="1463040"/>
          </a:xfrm>
          <a:prstGeom prst="roundRect">
            <a:avLst>
              <a:gd name="adj" fmla="val 12000"/>
            </a:avLst>
          </a:prstGeom>
          <a:solidFill>
            <a:srgbClr val="FFFFFF"/>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200" b="1" i="0" lang="he-IL">
                <a:solidFill>
                  <a:srgbClr val="34A853"/>
                </a:solidFill>
              </a:rPr>
              <a:t>6</a:t>
            </a:r>
          </a:p>
          <a:p>
            <a:pPr rtl="1" algn="ctr" marL="0" indent="0">
              <a:lnSpc>
                <a:spcPct val="105000"/>
              </a:lnSpc>
              <a:spcBef>
                <a:spcPts val="0"/>
              </a:spcBef>
              <a:spcAft>
                <a:spcPts val="0"/>
              </a:spcAft>
              <a:buNone/>
            </a:pPr>
            <a:r>
              <a:rPr sz="1800" b="1" i="0" lang="he-IL">
                <a:solidFill>
                  <a:srgbClr val="212121"/>
                </a:solidFill>
              </a:rPr>
              <a:t>מאמתים</a:t>
            </a:r>
          </a:p>
          <a:p>
            <a:pPr rtl="1" algn="ctr" marL="0" indent="0">
              <a:lnSpc>
                <a:spcPct val="105000"/>
              </a:lnSpc>
              <a:spcBef>
                <a:spcPts val="0"/>
              </a:spcBef>
              <a:spcAft>
                <a:spcPts val="0"/>
              </a:spcAft>
              <a:buNone/>
            </a:pPr>
            <a:r>
              <a:rPr sz="1200" b="0" i="0" lang="he-IL">
                <a:solidFill>
                  <a:srgbClr val="595959"/>
                </a:solidFill>
              </a:rPr>
              <a:t>הבאג נעלם? שום דבר אחר נשבר?</a:t>
            </a:r>
          </a:p>
        </p:txBody>
      </p:sp>
      <p:sp>
        <p:nvSpPr>
          <p:cNvPr id="11" name="Rounded Rectangle 10"/>
          <p:cNvSpPr/>
          <p:nvPr/>
        </p:nvSpPr>
        <p:spPr>
          <a:xfrm>
            <a:off x="2377440" y="3200400"/>
            <a:ext cx="2011680" cy="1463040"/>
          </a:xfrm>
          <a:prstGeom prst="roundRect">
            <a:avLst>
              <a:gd name="adj" fmla="val 12000"/>
            </a:avLst>
          </a:prstGeom>
          <a:solidFill>
            <a:srgbClr val="FFFFFF"/>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200" b="1" i="0" lang="he-IL">
                <a:solidFill>
                  <a:srgbClr val="34A853"/>
                </a:solidFill>
              </a:rPr>
              <a:t>7</a:t>
            </a:r>
          </a:p>
          <a:p>
            <a:pPr rtl="1" algn="ctr" marL="0" indent="0">
              <a:lnSpc>
                <a:spcPct val="105000"/>
              </a:lnSpc>
              <a:spcBef>
                <a:spcPts val="0"/>
              </a:spcBef>
              <a:spcAft>
                <a:spcPts val="0"/>
              </a:spcAft>
              <a:buNone/>
            </a:pPr>
            <a:r>
              <a:rPr sz="1800" b="1" i="0" lang="he-IL">
                <a:solidFill>
                  <a:srgbClr val="212121"/>
                </a:solidFill>
              </a:rPr>
              <a:t>מונעים</a:t>
            </a:r>
          </a:p>
          <a:p>
            <a:pPr rtl="1" algn="ctr" marL="0" indent="0">
              <a:lnSpc>
                <a:spcPct val="105000"/>
              </a:lnSpc>
              <a:spcBef>
                <a:spcPts val="0"/>
              </a:spcBef>
              <a:spcAft>
                <a:spcPts val="0"/>
              </a:spcAft>
              <a:buNone/>
            </a:pPr>
            <a:r>
              <a:rPr sz="1200" b="0" i="0" lang="he-IL">
                <a:solidFill>
                  <a:srgbClr val="595959"/>
                </a:solidFill>
              </a:rPr>
              <a:t>בדיקה שתתפוס אותו בעתיד</a:t>
            </a:r>
          </a:p>
        </p:txBody>
      </p:sp>
      <p:sp>
        <p:nvSpPr>
          <p:cNvPr id="12" name="TextBox 11"/>
          <p:cNvSpPr txBox="1"/>
          <p:nvPr/>
        </p:nvSpPr>
        <p:spPr>
          <a:xfrm>
            <a:off x="365760" y="470916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595959"/>
                </a:solidFill>
              </a:rPr>
              <a:t>ה־AI יכול לעזור בכל צעד. את הניסוי ואת האימות עושים אתם.</a:t>
            </a:r>
          </a:p>
        </p:txBody>
      </p:sp>
      <p:sp>
        <p:nvSpPr>
          <p:cNvPr id="13" name="Recall tag"/>
          <p:cNvSpPr/>
          <p:nvPr/>
        </p:nvSpPr>
        <p:spPr>
          <a:xfrm>
            <a:off x="109728" y="91440"/>
            <a:ext cx="2300000" cy="384048"/>
          </a:xfrm>
          <a:prstGeom prst="roundRect">
            <a:avLst>
              <a:gd name="adj" fmla="val 40000"/>
            </a:avLst>
          </a:prstGeom>
          <a:solidFill>
            <a:srgbClr val="E3F2FD"/>
          </a:solidFill>
          <a:ln w="19050">
            <a:solidFill>
              <a:srgbClr val="42A5F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300" b="1" i="0" lang="he-IL">
                <a:solidFill>
                  <a:srgbClr val="212121"/>
                </a:solidFill>
              </a:rPr>
              <a:t>חזרה ממפגשים 2, 6,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חלק א׳ :</a:t>
            </a:r>
            <a:r>
              <a:rPr sz="3000" b="1" i="0" lang="he-IL">
                <a:solidFill>
                  <a:srgbClr val="212121"/>
                </a:solidFill>
              </a:rPr>
              <a:t>קוראים Traceback</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65760" y="1371600"/>
            <a:ext cx="5669280" cy="3383280"/>
          </a:xfrm>
          <a:prstGeom prst="roundRect">
            <a:avLst>
              <a:gd name="adj" fmla="val 3000"/>
            </a:avLst>
          </a:prstGeom>
          <a:solidFill>
            <a:srgbClr val="1E1E1E"/>
          </a:solidFill>
          <a:ln w="19050">
            <a:solidFill>
              <a:srgbClr val="1E1E1E"/>
            </a:solidFill>
          </a:ln>
        </p:spPr>
        <p:txBody>
          <a:bodyPr rtlCol="0" anchor="ctr" wrap="square" lIns="73152" rIns="73152" tIns="73152" bIns="73152">
            <a:noAutofit/>
          </a:bodyPr>
          <a:lstStyle/>
          <a:p>
            <a:pPr algn="ctr"/>
          </a:p>
        </p:txBody>
      </p:sp>
      <p:sp>
        <p:nvSpPr>
          <p:cNvPr id="6" name="Rectangle 5"/>
          <p:cNvSpPr/>
          <p:nvPr/>
        </p:nvSpPr>
        <p:spPr>
          <a:xfrm>
            <a:off x="365760" y="1371600"/>
            <a:ext cx="5669280" cy="310896"/>
          </a:xfrm>
          <a:prstGeom prst="rect">
            <a:avLst/>
          </a:prstGeom>
          <a:solidFill>
            <a:srgbClr val="333333"/>
          </a:solidFill>
          <a:ln w="19050">
            <a:solidFill>
              <a:srgbClr val="333333"/>
            </a:solidFill>
          </a:ln>
        </p:spPr>
        <p:txBody>
          <a:bodyPr rtlCol="0" anchor="ctr" wrap="square" lIns="73152" rIns="73152" tIns="73152" bIns="73152">
            <a:noAutofit/>
          </a:bodyPr>
          <a:lstStyle/>
          <a:p>
            <a:pPr rtl="1" algn="l" marL="0" indent="0">
              <a:lnSpc>
                <a:spcPct val="105000"/>
              </a:lnSpc>
              <a:spcBef>
                <a:spcPts val="0"/>
              </a:spcBef>
              <a:spcAft>
                <a:spcPts val="0"/>
              </a:spcAft>
              <a:buNone/>
            </a:pPr>
            <a:r>
              <a:rPr sz="1200" b="0" i="0" lang="he-IL">
                <a:solidFill>
                  <a:srgbClr val="BBBBBB"/>
                </a:solidFill>
              </a:rPr>
              <a:t>● ● ●   מסוף (Terminal)</a:t>
            </a:r>
          </a:p>
        </p:txBody>
      </p:sp>
      <p:sp>
        <p:nvSpPr>
          <p:cNvPr id="7" name="TextBox 6"/>
          <p:cNvSpPr txBox="1"/>
          <p:nvPr/>
        </p:nvSpPr>
        <p:spPr>
          <a:xfrm>
            <a:off x="457200" y="1755648"/>
            <a:ext cx="5486400" cy="2926080"/>
          </a:xfrm>
          <a:prstGeom prst="rect">
            <a:avLst/>
          </a:prstGeom>
          <a:noFill/>
        </p:spPr>
        <p:txBody>
          <a:bodyPr wrap="square" lIns="36576" rIns="36576" tIns="36576" bIns="36576" anchor="t">
            <a:noAutofit/>
          </a:bodyPr>
          <a:lstStyle/>
          <a:p>
            <a:pPr rtl="0" algn="l" marL="0" indent="0">
              <a:lnSpc>
                <a:spcPct val="114999"/>
              </a:lnSpc>
              <a:spcBef>
                <a:spcPts val="0"/>
              </a:spcBef>
              <a:spcAft>
                <a:spcPts val="0"/>
              </a:spcAft>
              <a:buNone/>
            </a:pPr>
            <a:r>
              <a:rPr sz="1200" b="0" i="0" lang="he-IL">
                <a:solidFill>
                  <a:srgbClr val="FF7B72"/>
                </a:solidFill>
                <a:latin typeface="Courier New"/>
                <a:ea typeface="Courier New"/>
                <a:cs typeface="Courier New"/>
              </a:rPr>
              <a:t>! Traceback (most recent call last):</a:t>
            </a:r>
          </a:p>
          <a:p>
            <a:pPr rtl="0" algn="l" marL="0" indent="0">
              <a:lnSpc>
                <a:spcPct val="114999"/>
              </a:lnSpc>
              <a:spcBef>
                <a:spcPts val="0"/>
              </a:spcBef>
              <a:spcAft>
                <a:spcPts val="0"/>
              </a:spcAft>
              <a:buNone/>
            </a:pPr>
            <a:r>
              <a:rPr sz="1200" b="0" i="0" lang="he-IL">
                <a:solidFill>
                  <a:srgbClr val="FF7B72"/>
                </a:solidFill>
                <a:latin typeface="Courier New"/>
                <a:ea typeface="Courier New"/>
                <a:cs typeface="Courier New"/>
              </a:rPr>
              <a:t>!   File "e1.py", line 3, in &lt;module&gt;</a:t>
            </a:r>
          </a:p>
          <a:p>
            <a:pPr rtl="0" algn="l" marL="0" indent="0">
              <a:lnSpc>
                <a:spcPct val="114999"/>
              </a:lnSpc>
              <a:spcBef>
                <a:spcPts val="0"/>
              </a:spcBef>
              <a:spcAft>
                <a:spcPts val="0"/>
              </a:spcAft>
              <a:buNone/>
            </a:pPr>
            <a:r>
              <a:rPr sz="1200" b="0" i="0" lang="he-IL">
                <a:solidFill>
                  <a:srgbClr val="FF7B72"/>
                </a:solidFill>
                <a:latin typeface="Courier New"/>
                <a:ea typeface="Courier New"/>
                <a:cs typeface="Courier New"/>
              </a:rPr>
              <a:t>!     print(df["Quantity"].sum())</a:t>
            </a:r>
          </a:p>
          <a:p>
            <a:pPr rtl="0" algn="l" marL="0" indent="0">
              <a:lnSpc>
                <a:spcPct val="114999"/>
              </a:lnSpc>
              <a:spcBef>
                <a:spcPts val="0"/>
              </a:spcBef>
              <a:spcAft>
                <a:spcPts val="0"/>
              </a:spcAft>
              <a:buNone/>
            </a:pPr>
            <a:r>
              <a:rPr sz="1200" b="0" i="0" lang="he-IL">
                <a:solidFill>
                  <a:srgbClr val="FF7B72"/>
                </a:solidFill>
                <a:latin typeface="Courier New"/>
                <a:ea typeface="Courier New"/>
                <a:cs typeface="Courier New"/>
              </a:rPr>
              <a:t>!   File ".../pandas/core/frame.py", line 4102</a:t>
            </a:r>
          </a:p>
          <a:p>
            <a:pPr rtl="0" algn="l" marL="0" indent="0">
              <a:lnSpc>
                <a:spcPct val="114999"/>
              </a:lnSpc>
              <a:spcBef>
                <a:spcPts val="0"/>
              </a:spcBef>
              <a:spcAft>
                <a:spcPts val="0"/>
              </a:spcAft>
              <a:buNone/>
            </a:pPr>
            <a:r>
              <a:rPr sz="1200" b="0" i="0" lang="he-IL">
                <a:solidFill>
                  <a:srgbClr val="FF7B72"/>
                </a:solidFill>
                <a:latin typeface="Courier New"/>
                <a:ea typeface="Courier New"/>
                <a:cs typeface="Courier New"/>
              </a:rPr>
              <a:t>!   File ".../pandas/core/indexes/base.py", line 3812</a:t>
            </a:r>
          </a:p>
          <a:p>
            <a:pPr rtl="0" algn="l" marL="0" indent="0">
              <a:lnSpc>
                <a:spcPct val="114999"/>
              </a:lnSpc>
              <a:spcBef>
                <a:spcPts val="0"/>
              </a:spcBef>
              <a:spcAft>
                <a:spcPts val="0"/>
              </a:spcAft>
              <a:buNone/>
            </a:pPr>
            <a:r>
              <a:rPr sz="1200" b="0" i="0" lang="he-IL">
                <a:solidFill>
                  <a:srgbClr val="FF7B72"/>
                </a:solidFill>
                <a:latin typeface="Courier New"/>
                <a:ea typeface="Courier New"/>
                <a:cs typeface="Courier New"/>
              </a:rPr>
              <a:t>!     raise KeyError(key) from err</a:t>
            </a:r>
          </a:p>
          <a:p>
            <a:pPr rtl="0" algn="l" marL="0" indent="0">
              <a:lnSpc>
                <a:spcPct val="114999"/>
              </a:lnSpc>
              <a:spcBef>
                <a:spcPts val="0"/>
              </a:spcBef>
              <a:spcAft>
                <a:spcPts val="0"/>
              </a:spcAft>
              <a:buNone/>
            </a:pPr>
            <a:r>
              <a:rPr sz="1200" b="0" i="0" lang="he-IL">
                <a:solidFill>
                  <a:srgbClr val="FF7B72"/>
                </a:solidFill>
                <a:latin typeface="Courier New"/>
                <a:ea typeface="Courier New"/>
                <a:cs typeface="Courier New"/>
              </a:rPr>
              <a:t>! KeyError: 'Quantity'</a:t>
            </a:r>
          </a:p>
        </p:txBody>
      </p:sp>
      <p:sp>
        <p:nvSpPr>
          <p:cNvPr id="8" name="Rounded Rectangle 7"/>
          <p:cNvSpPr/>
          <p:nvPr/>
        </p:nvSpPr>
        <p:spPr>
          <a:xfrm>
            <a:off x="6217920" y="1417320"/>
            <a:ext cx="2560320" cy="960120"/>
          </a:xfrm>
          <a:prstGeom prst="roundRect">
            <a:avLst>
              <a:gd name="adj" fmla="val 12000"/>
            </a:avLst>
          </a:prstGeom>
          <a:solidFill>
            <a:srgbClr val="FFFFFF"/>
          </a:solidFill>
          <a:ln w="2540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EA4335"/>
                </a:solidFill>
              </a:rPr>
              <a:t>שורה אחרונה</a:t>
            </a:r>
          </a:p>
          <a:p>
            <a:pPr rtl="1" algn="ctr" marL="0" indent="0">
              <a:lnSpc>
                <a:spcPct val="105000"/>
              </a:lnSpc>
              <a:spcBef>
                <a:spcPts val="0"/>
              </a:spcBef>
              <a:spcAft>
                <a:spcPts val="0"/>
              </a:spcAft>
              <a:buNone/>
            </a:pPr>
            <a:r>
              <a:rPr sz="1200" b="0" i="0" lang="he-IL">
                <a:solidFill>
                  <a:srgbClr val="212121"/>
                </a:solidFill>
              </a:rPr>
              <a:t>מה קרה: מפתח 'Quantity' לא קיים</a:t>
            </a:r>
          </a:p>
        </p:txBody>
      </p:sp>
      <p:sp>
        <p:nvSpPr>
          <p:cNvPr id="9" name="Rounded Rectangle 8"/>
          <p:cNvSpPr/>
          <p:nvPr/>
        </p:nvSpPr>
        <p:spPr>
          <a:xfrm>
            <a:off x="6217920" y="2514600"/>
            <a:ext cx="2560320" cy="960120"/>
          </a:xfrm>
          <a:prstGeom prst="roundRect">
            <a:avLst>
              <a:gd name="adj" fmla="val 12000"/>
            </a:avLst>
          </a:prstGeom>
          <a:solidFill>
            <a:srgbClr val="FFFFFF"/>
          </a:solidFill>
          <a:ln w="2540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FFAB40"/>
                </a:solidFill>
              </a:rPr>
              <a:t>שורה שהיא שלכם</a:t>
            </a:r>
          </a:p>
          <a:p>
            <a:pPr rtl="1" algn="ctr" marL="0" indent="0">
              <a:lnSpc>
                <a:spcPct val="105000"/>
              </a:lnSpc>
              <a:spcBef>
                <a:spcPts val="0"/>
              </a:spcBef>
              <a:spcAft>
                <a:spcPts val="0"/>
              </a:spcAft>
              <a:buNone/>
            </a:pPr>
            <a:r>
              <a:rPr sz="1200" b="0" i="0" lang="he-IL">
                <a:solidFill>
                  <a:srgbClr val="212121"/>
                </a:solidFill>
              </a:rPr>
              <a:t>איפה בקוד שלכם זה קרה: e1.py שורה 3</a:t>
            </a:r>
          </a:p>
        </p:txBody>
      </p:sp>
      <p:sp>
        <p:nvSpPr>
          <p:cNvPr id="10" name="Rounded Rectangle 9"/>
          <p:cNvSpPr/>
          <p:nvPr/>
        </p:nvSpPr>
        <p:spPr>
          <a:xfrm>
            <a:off x="6217920" y="3611880"/>
            <a:ext cx="2560320" cy="960120"/>
          </a:xfrm>
          <a:prstGeom prst="roundRect">
            <a:avLst>
              <a:gd name="adj" fmla="val 12000"/>
            </a:avLst>
          </a:prstGeom>
          <a:solidFill>
            <a:srgbClr val="FFFFFF"/>
          </a:solidFill>
          <a:ln w="25400">
            <a:solidFill>
              <a:srgbClr val="78909C"/>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78909C"/>
                </a:solidFill>
              </a:rPr>
              <a:t>שורות ספרייה</a:t>
            </a:r>
          </a:p>
          <a:p>
            <a:pPr rtl="1" algn="ctr" marL="0" indent="0">
              <a:lnSpc>
                <a:spcPct val="105000"/>
              </a:lnSpc>
              <a:spcBef>
                <a:spcPts val="0"/>
              </a:spcBef>
              <a:spcAft>
                <a:spcPts val="0"/>
              </a:spcAft>
              <a:buNone/>
            </a:pPr>
            <a:r>
              <a:rPr sz="1200" b="0" i="0" lang="he-IL">
                <a:solidFill>
                  <a:srgbClr val="212121"/>
                </a:solidFill>
              </a:rPr>
              <a:t>אפשר לדלג, זה בתוך pandas</a:t>
            </a:r>
          </a:p>
        </p:txBody>
      </p:sp>
      <p:sp>
        <p:nvSpPr>
          <p:cNvPr id="11" name="TextBox 10"/>
          <p:cNvSpPr txBox="1"/>
          <p:nvPr/>
        </p:nvSpPr>
        <p:spPr>
          <a:xfrm>
            <a:off x="6217920" y="4709160"/>
            <a:ext cx="256032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1" i="0" lang="he-IL">
                <a:solidFill>
                  <a:srgbClr val="4285F4"/>
                </a:solidFill>
              </a:rPr>
              <a:t>קוראים מלמטה למעלה</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חלק א׳ :</a:t>
            </a:r>
            <a:r>
              <a:rPr sz="3000" b="1" i="0" lang="he-IL">
                <a:solidFill>
                  <a:srgbClr val="212121"/>
                </a:solidFill>
              </a:rPr>
              <a:t>שגיאות נפוצות בקוד AI</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71600"/>
          <a:ext cx="8412480" cy="3401568"/>
        </p:xfrm>
        <a:graphic>
          <a:graphicData uri="http://schemas.openxmlformats.org/drawingml/2006/table">
            <a:tbl>
              <a:tblPr firstRow="0" bandRow="0">
                <a:tableStyleId>{2D5ABB26-0587-4C30-8999-92F81FD0307C}</a:tableStyleId>
              </a:tblPr>
              <a:tblGrid>
                <a:gridCol w="3108960"/>
                <a:gridCol w="2926080"/>
                <a:gridCol w="2377440"/>
              </a:tblGrid>
              <a:tr h="566928">
                <a:tc>
                  <a:txBody>
                    <a:bodyPr wrap="square"/>
                    <a:lstStyle/>
                    <a:p>
                      <a:pPr rtl="1" algn="ctr" marL="0" indent="0">
                        <a:lnSpc>
                          <a:spcPct val="100000"/>
                        </a:lnSpc>
                        <a:spcBef>
                          <a:spcPts val="0"/>
                        </a:spcBef>
                        <a:spcAft>
                          <a:spcPts val="0"/>
                        </a:spcAft>
                        <a:buNone/>
                      </a:pPr>
                      <a:r>
                        <a:rPr sz="1500" b="1" i="0" lang="he-IL">
                          <a:solidFill>
                            <a:srgbClr val="212121"/>
                          </a:solidFill>
                        </a:rPr>
                        <a:t>הסיבה הנפוצה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500" b="1" i="0" lang="he-IL">
                          <a:solidFill>
                            <a:srgbClr val="212121"/>
                          </a:solidFill>
                        </a:rPr>
                        <a:t>מה היא אומרת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500" b="1" i="0" lang="he-IL">
                          <a:solidFill>
                            <a:srgbClr val="212121"/>
                          </a:solidFill>
                        </a:rPr>
                        <a:t>שגיאה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566928">
                <a:tc>
                  <a:txBody>
                    <a:bodyPr wrap="square"/>
                    <a:lstStyle/>
                    <a:p>
                      <a:pPr rtl="1" algn="r" marL="0" indent="0">
                        <a:lnSpc>
                          <a:spcPct val="100000"/>
                        </a:lnSpc>
                        <a:spcBef>
                          <a:spcPts val="0"/>
                        </a:spcBef>
                        <a:spcAft>
                          <a:spcPts val="0"/>
                        </a:spcAft>
                        <a:buNone/>
                      </a:pPr>
                      <a:r>
                        <a:rPr sz="1500" b="0" i="0" lang="he-IL">
                          <a:solidFill>
                            <a:srgbClr val="212121"/>
                          </a:solidFill>
                        </a:rPr>
                        <a:t>שם שגוי, אות גדולה או קטנה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מפתח או עמודה לא קיימים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KeyError</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6928">
                <a:tc>
                  <a:txBody>
                    <a:bodyPr wrap="square"/>
                    <a:lstStyle/>
                    <a:p>
                      <a:pPr rtl="1" algn="r" marL="0" indent="0">
                        <a:lnSpc>
                          <a:spcPct val="100000"/>
                        </a:lnSpc>
                        <a:spcBef>
                          <a:spcPts val="0"/>
                        </a:spcBef>
                        <a:spcAft>
                          <a:spcPts val="0"/>
                        </a:spcAft>
                        <a:buNone/>
                      </a:pPr>
                      <a:r>
                        <a:rPr sz="1500" b="0" i="0" lang="he-IL">
                          <a:solidFill>
                            <a:srgbClr val="212121"/>
                          </a:solidFill>
                        </a:rPr>
                        <a:t>טקסט במקום מספר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פעולה על סוג לא מתאים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TypeError</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6928">
                <a:tc>
                  <a:txBody>
                    <a:bodyPr wrap="square"/>
                    <a:lstStyle/>
                    <a:p>
                      <a:pPr rtl="1" algn="r" marL="0" indent="0">
                        <a:lnSpc>
                          <a:spcPct val="100000"/>
                        </a:lnSpc>
                        <a:spcBef>
                          <a:spcPts val="0"/>
                        </a:spcBef>
                        <a:spcAft>
                          <a:spcPts val="0"/>
                        </a:spcAft>
                        <a:buNone/>
                      </a:pPr>
                      <a:r>
                        <a:rPr sz="1500" b="0" i="0" lang="he-IL">
                          <a:solidFill>
                            <a:srgbClr val="212121"/>
                          </a:solidFill>
                        </a:rPr>
                        <a:t>לא מותקנת, או הזיית חבילה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c>
                  <a:txBody>
                    <a:bodyPr wrap="square"/>
                    <a:lstStyle/>
                    <a:p>
                      <a:pPr rtl="1" algn="r" marL="0" indent="0">
                        <a:lnSpc>
                          <a:spcPct val="100000"/>
                        </a:lnSpc>
                        <a:spcBef>
                          <a:spcPts val="0"/>
                        </a:spcBef>
                        <a:spcAft>
                          <a:spcPts val="0"/>
                        </a:spcAft>
                        <a:buNone/>
                      </a:pPr>
                      <a:r>
                        <a:rPr sz="1500" b="0" i="0" lang="he-IL">
                          <a:solidFill>
                            <a:srgbClr val="212121"/>
                          </a:solidFill>
                        </a:rPr>
                        <a:t>ספרייה לא נמצאה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ModuleNotFoundError</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6928">
                <a:tc>
                  <a:txBody>
                    <a:bodyPr wrap="square"/>
                    <a:lstStyle/>
                    <a:p>
                      <a:pPr rtl="1" algn="r" marL="0" indent="0">
                        <a:lnSpc>
                          <a:spcPct val="100000"/>
                        </a:lnSpc>
                        <a:spcBef>
                          <a:spcPts val="0"/>
                        </a:spcBef>
                        <a:spcAft>
                          <a:spcPts val="0"/>
                        </a:spcAft>
                        <a:buNone/>
                      </a:pPr>
                      <a:r>
                        <a:rPr sz="1500" b="0" i="0" lang="he-IL">
                          <a:solidFill>
                            <a:srgbClr val="212121"/>
                          </a:solidFill>
                        </a:rPr>
                        <a:t>הזיית פונקציה או מתודה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c>
                  <a:txBody>
                    <a:bodyPr wrap="square"/>
                    <a:lstStyle/>
                    <a:p>
                      <a:pPr rtl="1" algn="r" marL="0" indent="0">
                        <a:lnSpc>
                          <a:spcPct val="100000"/>
                        </a:lnSpc>
                        <a:spcBef>
                          <a:spcPts val="0"/>
                        </a:spcBef>
                        <a:spcAft>
                          <a:spcPts val="0"/>
                        </a:spcAft>
                        <a:buNone/>
                      </a:pPr>
                      <a:r>
                        <a:rPr sz="1500" b="0" i="0" lang="he-IL">
                          <a:solidFill>
                            <a:srgbClr val="212121"/>
                          </a:solidFill>
                        </a:rPr>
                        <a:t>לאובייקט אין את התכונה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AttributeError</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6928">
                <a:tc>
                  <a:txBody>
                    <a:bodyPr wrap="square"/>
                    <a:lstStyle/>
                    <a:p>
                      <a:pPr rtl="1" algn="r" marL="0" indent="0">
                        <a:lnSpc>
                          <a:spcPct val="100000"/>
                        </a:lnSpc>
                        <a:spcBef>
                          <a:spcPts val="0"/>
                        </a:spcBef>
                        <a:spcAft>
                          <a:spcPts val="0"/>
                        </a:spcAft>
                        <a:buNone/>
                      </a:pPr>
                      <a:r>
                        <a:rPr sz="1500" b="0" i="0" lang="he-IL">
                          <a:solidFill>
                            <a:srgbClr val="212121"/>
                          </a:solidFill>
                        </a:rPr>
                        <a:t>נתיב שגוי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הקובץ לא נמצא</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FileNotFoundError</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חלק א׳ :</a:t>
            </a:r>
            <a:r>
              <a:rPr sz="3000" b="1" i="0" lang="he-IL">
                <a:solidFill>
                  <a:srgbClr val="212121"/>
                </a:solidFill>
              </a:rPr>
              <a:t>בודקים שה־API קיים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7406640" y="1417320"/>
            <a:ext cx="1371600" cy="502920"/>
          </a:xfrm>
          <a:prstGeom prst="roundRect">
            <a:avLst>
              <a:gd name="adj" fmla="val 40000"/>
            </a:avLst>
          </a:prstGeom>
          <a:solidFill>
            <a:srgbClr val="EA4335"/>
          </a:solidFill>
          <a:ln>
            <a:no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FFFFFF"/>
                </a:solidFill>
              </a:rPr>
              <a:t>חבילה</a:t>
            </a:r>
          </a:p>
        </p:txBody>
      </p:sp>
      <p:sp>
        <p:nvSpPr>
          <p:cNvPr id="6" name="Rounded Rectangle 5"/>
          <p:cNvSpPr/>
          <p:nvPr/>
        </p:nvSpPr>
        <p:spPr>
          <a:xfrm>
            <a:off x="365760" y="1417320"/>
            <a:ext cx="6949440" cy="502920"/>
          </a:xfrm>
          <a:prstGeom prst="roundRect">
            <a:avLst>
              <a:gd name="adj" fmla="val 12000"/>
            </a:avLst>
          </a:prstGeom>
          <a:solidFill>
            <a:srgbClr val="F4F4F4"/>
          </a:solidFill>
          <a:ln w="19050">
            <a:solidFill>
              <a:srgbClr val="EEEEEE"/>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מחפשים את השם ב־pypi.org. אין עמוד: אין חבילה.</a:t>
            </a:r>
          </a:p>
        </p:txBody>
      </p:sp>
      <p:sp>
        <p:nvSpPr>
          <p:cNvPr id="7" name="Rounded Rectangle 6"/>
          <p:cNvSpPr/>
          <p:nvPr/>
        </p:nvSpPr>
        <p:spPr>
          <a:xfrm>
            <a:off x="7406640" y="2057400"/>
            <a:ext cx="1371600" cy="502920"/>
          </a:xfrm>
          <a:prstGeom prst="roundRect">
            <a:avLst>
              <a:gd name="adj" fmla="val 40000"/>
            </a:avLst>
          </a:prstGeom>
          <a:solidFill>
            <a:srgbClr val="FFAB40"/>
          </a:solidFill>
          <a:ln>
            <a:no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מתודה</a:t>
            </a:r>
          </a:p>
        </p:txBody>
      </p:sp>
      <p:sp>
        <p:nvSpPr>
          <p:cNvPr id="8" name="Rounded Rectangle 7"/>
          <p:cNvSpPr/>
          <p:nvPr/>
        </p:nvSpPr>
        <p:spPr>
          <a:xfrm>
            <a:off x="365760" y="2057400"/>
            <a:ext cx="6949440" cy="502920"/>
          </a:xfrm>
          <a:prstGeom prst="roundRect">
            <a:avLst>
              <a:gd name="adj" fmla="val 12000"/>
            </a:avLst>
          </a:prstGeom>
          <a:solidFill>
            <a:srgbClr val="F4F4F4"/>
          </a:solidFill>
          <a:ln w="19050">
            <a:solidFill>
              <a:srgbClr val="EEEEEE"/>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מריצים hasattr או dir על האובייקט ורואים מה קיים.</a:t>
            </a:r>
          </a:p>
        </p:txBody>
      </p:sp>
      <p:sp>
        <p:nvSpPr>
          <p:cNvPr id="9" name="Rounded Rectangle 8"/>
          <p:cNvSpPr/>
          <p:nvPr/>
        </p:nvSpPr>
        <p:spPr>
          <a:xfrm>
            <a:off x="7406640" y="2697480"/>
            <a:ext cx="1371600" cy="502920"/>
          </a:xfrm>
          <a:prstGeom prst="roundRect">
            <a:avLst>
              <a:gd name="adj" fmla="val 40000"/>
            </a:avLst>
          </a:prstGeom>
          <a:solidFill>
            <a:srgbClr val="4285F4"/>
          </a:solidFill>
          <a:ln>
            <a:no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FFFFFF"/>
                </a:solidFill>
              </a:rPr>
              <a:t>פרמטר</a:t>
            </a:r>
          </a:p>
        </p:txBody>
      </p:sp>
      <p:sp>
        <p:nvSpPr>
          <p:cNvPr id="10" name="Rounded Rectangle 9"/>
          <p:cNvSpPr/>
          <p:nvPr/>
        </p:nvSpPr>
        <p:spPr>
          <a:xfrm>
            <a:off x="365760" y="2697480"/>
            <a:ext cx="6949440" cy="502920"/>
          </a:xfrm>
          <a:prstGeom prst="roundRect">
            <a:avLst>
              <a:gd name="adj" fmla="val 12000"/>
            </a:avLst>
          </a:prstGeom>
          <a:solidFill>
            <a:srgbClr val="F4F4F4"/>
          </a:solidFill>
          <a:ln w="19050">
            <a:solidFill>
              <a:srgbClr val="EEEEEE"/>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מריצים help על הפונקציה ורואים אילו פרמטרים קיימים.</a:t>
            </a:r>
          </a:p>
        </p:txBody>
      </p:sp>
      <p:sp>
        <p:nvSpPr>
          <p:cNvPr id="11" name="Rounded Rectangle 10"/>
          <p:cNvSpPr/>
          <p:nvPr/>
        </p:nvSpPr>
        <p:spPr>
          <a:xfrm>
            <a:off x="7406640" y="3337559"/>
            <a:ext cx="1371600" cy="502920"/>
          </a:xfrm>
          <a:prstGeom prst="roundRect">
            <a:avLst>
              <a:gd name="adj" fmla="val 40000"/>
            </a:avLst>
          </a:prstGeom>
          <a:solidFill>
            <a:srgbClr val="0097A7"/>
          </a:solidFill>
          <a:ln>
            <a:no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FFFFFF"/>
                </a:solidFill>
              </a:rPr>
              <a:t>גרסה</a:t>
            </a:r>
          </a:p>
        </p:txBody>
      </p:sp>
      <p:sp>
        <p:nvSpPr>
          <p:cNvPr id="12" name="Rounded Rectangle 11"/>
          <p:cNvSpPr/>
          <p:nvPr/>
        </p:nvSpPr>
        <p:spPr>
          <a:xfrm>
            <a:off x="365760" y="3337559"/>
            <a:ext cx="6949440" cy="502920"/>
          </a:xfrm>
          <a:prstGeom prst="roundRect">
            <a:avLst>
              <a:gd name="adj" fmla="val 12000"/>
            </a:avLst>
          </a:prstGeom>
          <a:solidFill>
            <a:srgbClr val="F4F4F4"/>
          </a:solidFill>
          <a:ln w="19050">
            <a:solidFill>
              <a:srgbClr val="EEEEEE"/>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מדפיסים את גרסת pandas ומשווים לתיעוד של אותה גרסה.</a:t>
            </a:r>
          </a:p>
        </p:txBody>
      </p:sp>
      <p:sp>
        <p:nvSpPr>
          <p:cNvPr id="13" name="Rounded Rectangle 12"/>
          <p:cNvSpPr/>
          <p:nvPr/>
        </p:nvSpPr>
        <p:spPr>
          <a:xfrm>
            <a:off x="7406640" y="3977639"/>
            <a:ext cx="1371600" cy="502920"/>
          </a:xfrm>
          <a:prstGeom prst="roundRect">
            <a:avLst>
              <a:gd name="adj" fmla="val 40000"/>
            </a:avLst>
          </a:prstGeom>
          <a:solidFill>
            <a:srgbClr val="34A853"/>
          </a:solidFill>
          <a:ln>
            <a:no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FFFFFF"/>
                </a:solidFill>
              </a:rPr>
              <a:t>התנהגות</a:t>
            </a:r>
          </a:p>
        </p:txBody>
      </p:sp>
      <p:sp>
        <p:nvSpPr>
          <p:cNvPr id="14" name="Rounded Rectangle 13"/>
          <p:cNvSpPr/>
          <p:nvPr/>
        </p:nvSpPr>
        <p:spPr>
          <a:xfrm>
            <a:off x="365760" y="3977639"/>
            <a:ext cx="6949440" cy="502920"/>
          </a:xfrm>
          <a:prstGeom prst="roundRect">
            <a:avLst>
              <a:gd name="adj" fmla="val 12000"/>
            </a:avLst>
          </a:prstGeom>
          <a:solidFill>
            <a:srgbClr val="F4F4F4"/>
          </a:solidFill>
          <a:ln w="19050">
            <a:solidFill>
              <a:srgbClr val="EEEEEE"/>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מריצים על חמש שורות ובודקים שהתוצאה כצפוי.</a:t>
            </a:r>
          </a:p>
        </p:txBody>
      </p:sp>
      <p:sp>
        <p:nvSpPr>
          <p:cNvPr id="15" name="TextBox 14"/>
          <p:cNvSpPr txBox="1"/>
          <p:nvPr/>
        </p:nvSpPr>
        <p:spPr>
          <a:xfrm>
            <a:off x="365760" y="466344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595959"/>
                </a:solidFill>
              </a:rPr>
              <a:t>ה־AI בטוח בעצמו גם כשהוא ממציא. הוכחה אחת: הרצה או תיעוד.</a:t>
            </a:r>
          </a:p>
        </p:txBody>
      </p:sp>
      <p:sp>
        <p:nvSpPr>
          <p:cNvPr id="16" name="Recall tag"/>
          <p:cNvSpPr/>
          <p:nvPr/>
        </p:nvSpPr>
        <p:spPr>
          <a:xfrm>
            <a:off x="109728" y="91440"/>
            <a:ext cx="2150000" cy="384048"/>
          </a:xfrm>
          <a:prstGeom prst="roundRect">
            <a:avLst>
              <a:gd name="adj" fmla="val 40000"/>
            </a:avLst>
          </a:prstGeom>
          <a:solidFill>
            <a:srgbClr val="E3F2FD"/>
          </a:solidFill>
          <a:ln w="19050">
            <a:solidFill>
              <a:srgbClr val="42A5F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300" b="1" i="0" lang="he-IL">
                <a:solidFill>
                  <a:srgbClr val="212121"/>
                </a:solidFill>
              </a:rPr>
              <a:t>חזרה ממפגש 2: הזיות</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חלק א׳ :</a:t>
            </a:r>
            <a:r>
              <a:rPr sz="3000" b="1" i="0" lang="he-IL">
                <a:solidFill>
                  <a:srgbClr val="212121"/>
                </a:solidFill>
              </a:rPr>
              <a:t>מקרה מינימלי</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5486400" y="1554480"/>
            <a:ext cx="3291840" cy="2560320"/>
          </a:xfrm>
          <a:prstGeom prst="roundRect">
            <a:avLst>
              <a:gd name="adj" fmla="val 12000"/>
            </a:avLst>
          </a:prstGeom>
          <a:solidFill>
            <a:srgbClr val="FDE3E0"/>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הבעיה המקורית</a:t>
            </a:r>
          </a:p>
          <a:p>
            <a:pPr rtl="1" algn="ctr" marL="0" indent="0">
              <a:lnSpc>
                <a:spcPct val="105000"/>
              </a:lnSpc>
              <a:spcBef>
                <a:spcPts val="0"/>
              </a:spcBef>
              <a:spcAft>
                <a:spcPts val="0"/>
              </a:spcAft>
              <a:buNone/>
            </a:pPr>
            <a:r>
              <a:rPr sz="1500" b="0" i="0" lang="he-IL">
                <a:solidFill>
                  <a:srgbClr val="212121"/>
                </a:solidFill>
              </a:rPr>
              <a:t>3,040 שורות נתונים
3 קבצי CSV
כ־15 שורות קוד</a:t>
            </a:r>
          </a:p>
        </p:txBody>
      </p:sp>
      <p:cxnSp>
        <p:nvCxnSpPr>
          <p:cNvPr id="6" name="Connector 5"/>
          <p:cNvCxnSpPr/>
          <p:nvPr/>
        </p:nvCxnSpPr>
        <p:spPr>
          <a:xfrm flipH="1">
            <a:off x="4069080" y="2834640"/>
            <a:ext cx="1371600" cy="0"/>
          </a:xfrm>
          <a:prstGeom prst="line">
            <a:avLst/>
          </a:prstGeom>
          <a:ln w="508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023360" y="2377440"/>
            <a:ext cx="146304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1" i="0" lang="he-IL">
                <a:solidFill>
                  <a:srgbClr val="4285F4"/>
                </a:solidFill>
              </a:rPr>
              <a:t>מקטינים</a:t>
            </a:r>
          </a:p>
        </p:txBody>
      </p:sp>
      <p:sp>
        <p:nvSpPr>
          <p:cNvPr id="8" name="Rounded Rectangle 7"/>
          <p:cNvSpPr/>
          <p:nvPr/>
        </p:nvSpPr>
        <p:spPr>
          <a:xfrm>
            <a:off x="365760" y="2103120"/>
            <a:ext cx="3657600" cy="146304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מקרה מינימלי</a:t>
            </a:r>
          </a:p>
          <a:p>
            <a:pPr rtl="1" algn="ctr" marL="0" indent="0">
              <a:lnSpc>
                <a:spcPct val="105000"/>
              </a:lnSpc>
              <a:spcBef>
                <a:spcPts val="0"/>
              </a:spcBef>
              <a:spcAft>
                <a:spcPts val="0"/>
              </a:spcAft>
              <a:buNone/>
            </a:pPr>
            <a:r>
              <a:rPr sz="1500" b="0" i="0" lang="he-IL">
                <a:solidFill>
                  <a:srgbClr val="212121"/>
                </a:solidFill>
              </a:rPr>
              <a:t>5 שורות נתונים
10 שורות קוד</a:t>
            </a:r>
          </a:p>
        </p:txBody>
      </p:sp>
      <p:sp>
        <p:nvSpPr>
          <p:cNvPr id="9" name="TextBox 8"/>
          <p:cNvSpPr txBox="1"/>
          <p:nvPr/>
        </p:nvSpPr>
        <p:spPr>
          <a:xfrm>
            <a:off x="365760" y="4297680"/>
            <a:ext cx="8412480" cy="6400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1" i="0" lang="he-IL">
                <a:solidFill>
                  <a:srgbClr val="212121"/>
                </a:solidFill>
              </a:rPr>
              <a:t>באג שנראה בחמש שורות הוא באג שאפשר להבין, לבדוק, ולשלוח ל־AI.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חלק א׳ :</a:t>
            </a:r>
            <a:r>
              <a:rPr sz="3000" b="1" i="0" lang="he-IL">
                <a:solidFill>
                  <a:srgbClr val="212121"/>
                </a:solidFill>
              </a:rPr>
              <a:t>טעות נפוצה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25880"/>
            <a:ext cx="8412480" cy="82296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500" b="1" i="0" lang="he-IL">
                <a:solidFill>
                  <a:srgbClr val="EA4335"/>
                </a:solidFill>
              </a:rPr>
              <a:t>"אדביק ל־AI את שורת השגיאה והוא יתקן."</a:t>
            </a:r>
          </a:p>
        </p:txBody>
      </p:sp>
      <p:sp>
        <p:nvSpPr>
          <p:cNvPr id="6" name="Rounded Rectangle 5"/>
          <p:cNvSpPr/>
          <p:nvPr/>
        </p:nvSpPr>
        <p:spPr>
          <a:xfrm>
            <a:off x="6172200" y="2194560"/>
            <a:ext cx="2697480" cy="246888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7" name="TextBox 6"/>
          <p:cNvSpPr txBox="1"/>
          <p:nvPr/>
        </p:nvSpPr>
        <p:spPr>
          <a:xfrm>
            <a:off x="6172200" y="228600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8" name="TextBox 7"/>
          <p:cNvSpPr txBox="1"/>
          <p:nvPr/>
        </p:nvSpPr>
        <p:spPr>
          <a:xfrm>
            <a:off x="6263640" y="310896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הקוד</a:t>
            </a:r>
          </a:p>
        </p:txBody>
      </p:sp>
      <p:sp>
        <p:nvSpPr>
          <p:cNvPr id="9" name="TextBox 8"/>
          <p:cNvSpPr txBox="1"/>
          <p:nvPr/>
        </p:nvSpPr>
        <p:spPr>
          <a:xfrm>
            <a:off x="6309360" y="3794760"/>
            <a:ext cx="242316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הקטע הרלוונטי בלבד</a:t>
            </a:r>
          </a:p>
        </p:txBody>
      </p:sp>
      <p:sp>
        <p:nvSpPr>
          <p:cNvPr id="10" name="Rounded Rectangle 9"/>
          <p:cNvSpPr/>
          <p:nvPr/>
        </p:nvSpPr>
        <p:spPr>
          <a:xfrm>
            <a:off x="3246120" y="2194560"/>
            <a:ext cx="2697480" cy="246888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1" name="TextBox 10"/>
          <p:cNvSpPr txBox="1"/>
          <p:nvPr/>
        </p:nvSpPr>
        <p:spPr>
          <a:xfrm>
            <a:off x="3246120" y="228600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12" name="TextBox 11"/>
          <p:cNvSpPr txBox="1"/>
          <p:nvPr/>
        </p:nvSpPr>
        <p:spPr>
          <a:xfrm>
            <a:off x="3337560" y="310896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הציפייה והמציאות</a:t>
            </a:r>
          </a:p>
        </p:txBody>
      </p:sp>
      <p:sp>
        <p:nvSpPr>
          <p:cNvPr id="13" name="TextBox 12"/>
          <p:cNvSpPr txBox="1"/>
          <p:nvPr/>
        </p:nvSpPr>
        <p:spPr>
          <a:xfrm>
            <a:off x="3383279" y="3794760"/>
            <a:ext cx="242316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מה רציתי, ומה קרה בפועל</a:t>
            </a:r>
          </a:p>
        </p:txBody>
      </p:sp>
      <p:sp>
        <p:nvSpPr>
          <p:cNvPr id="14" name="Rounded Rectangle 13"/>
          <p:cNvSpPr/>
          <p:nvPr/>
        </p:nvSpPr>
        <p:spPr>
          <a:xfrm>
            <a:off x="320039" y="2194560"/>
            <a:ext cx="2697480" cy="246888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5" name="TextBox 14"/>
          <p:cNvSpPr txBox="1"/>
          <p:nvPr/>
        </p:nvSpPr>
        <p:spPr>
          <a:xfrm>
            <a:off x="320039" y="228600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16" name="TextBox 15"/>
          <p:cNvSpPr txBox="1"/>
          <p:nvPr/>
        </p:nvSpPr>
        <p:spPr>
          <a:xfrm>
            <a:off x="411479" y="310896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מה כבר ניסיתי</a:t>
            </a:r>
          </a:p>
        </p:txBody>
      </p:sp>
      <p:sp>
        <p:nvSpPr>
          <p:cNvPr id="17" name="TextBox 16"/>
          <p:cNvSpPr txBox="1"/>
          <p:nvPr/>
        </p:nvSpPr>
        <p:spPr>
          <a:xfrm>
            <a:off x="457199" y="3794760"/>
            <a:ext cx="242316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כדי שלא יחזור על אותו דבר</a:t>
            </a:r>
          </a:p>
        </p:txBody>
      </p:sp>
      <p:sp>
        <p:nvSpPr>
          <p:cNvPr id="18" name="TextBox 17"/>
          <p:cNvSpPr txBox="1"/>
          <p:nvPr/>
        </p:nvSpPr>
        <p:spPr>
          <a:xfrm>
            <a:off x="365760" y="475488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1" i="0" lang="he-IL">
                <a:solidFill>
                  <a:srgbClr val="EA4335"/>
                </a:solidFill>
              </a:rPr>
              <a:t>בלי הקשר, ה־AI מנחש.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חלק א׳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463040"/>
            <a:ext cx="8412480" cy="2926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600" b="1" i="0" lang="he-IL">
                <a:solidFill>
                  <a:srgbClr val="4285F4"/>
                </a:solidFill>
              </a:rPr>
              <a:t>קיבלתם AttributeError על מתודה שה־AI כתב. מה הצעד הראשון?</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חלק א׳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9144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0" i="0" lang="he-IL">
                <a:solidFill>
                  <a:srgbClr val="595959"/>
                </a:solidFill>
              </a:rPr>
              <a:t>קיבלתם AttributeError על מתודה שה־AI כתב. מה הצעד הראשון?</a:t>
            </a:r>
          </a:p>
        </p:txBody>
      </p:sp>
      <p:sp>
        <p:nvSpPr>
          <p:cNvPr id="6" name="TextBox 5"/>
          <p:cNvSpPr txBox="1"/>
          <p:nvPr/>
        </p:nvSpPr>
        <p:spPr>
          <a:xfrm>
            <a:off x="365760" y="2423160"/>
            <a:ext cx="8412480" cy="2651760"/>
          </a:xfrm>
          <a:prstGeom prst="rect">
            <a:avLst/>
          </a:prstGeom>
          <a:noFill/>
        </p:spPr>
        <p:txBody>
          <a:bodyPr wrap="square" lIns="73152" rIns="73152" tIns="73152" bIns="73152" anchor="t">
            <a:noAutofit/>
          </a:bodyPr>
          <a:lstStyle/>
          <a:p>
            <a:pPr rtl="1" algn="r" marL="0" indent="0">
              <a:lnSpc>
                <a:spcPct val="110000"/>
              </a:lnSpc>
              <a:spcBef>
                <a:spcPts val="0"/>
              </a:spcBef>
              <a:spcAft>
                <a:spcPts val="400"/>
              </a:spcAft>
              <a:buNone/>
            </a:pPr>
            <a:r>
              <a:rPr sz="2200" b="1" i="0" lang="he-IL">
                <a:solidFill>
                  <a:srgbClr val="34A853"/>
                </a:solidFill>
              </a:rPr>
              <a:t>תשובה: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לבדוק בתיעוד אם המתודה קיימת: סביר שזו הזיה.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מחפשים בתיעוד את המתודה הנכונה, ולא מבקשים מה־AI "לנסות שוב".</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מעבדה א׳ : הקובץ הנדרש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10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הקובץ לתרגול: HM_09.ipynb. חלק א׳: Traceback.</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הקובץ</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HM_09.ipynb. חלק א׳: Traceback</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איך פותחים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קישור או QR מהמרצה, או Upload ל־Colab. כל הדרכים במדריך Google Colab</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מה שומרים</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בסוף: ✓ בכל הבדיקות, שמירה ב־Drive והורדת הקובץ</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הנתונים כבר בתוך המחברת. קבצי פרויקט משלכם: דרך Drive או GitHub (במדריך, פרקים 4 ו־5).</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ל־HM_09.ipynb</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מעבדה א׳ : קוראים Traceback</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10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מטרה: לקרוא Traceback מלמטה ולבדוק קיום (הזיות, מפגש 2).</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קוראים Traceback</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parse_traceback: סוג, קובץ ושורה, בלי שורות ספרייה</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בודקים קיום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api_exists, package_exists: האם זה קיים באמת?</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חמש תוכניות</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e1 עד e5: מריצים, קוראים ומזהים הזיות</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בזוגות. כותבים תחזית לפני כל הרצה, וקוראים את ה־Traceback מלמטה למעלה.</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HM_09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מעבדה א׳ : איך עובדים עם המחברת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10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כל מחברת בקורס בנויה באותו אופן.</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ממלאים TODO</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כל פונקציה: 2 עד 8 שורות. בלי AI, חוץ מחלק ה׳</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מריצים בדיקה</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תא הבדיקה מדפיס ✓, או הודעה שמסבירה מה נכשל</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תחזית ושאלות</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כותבים תחזית לפני הרצה, ועונים על שאלות הניתוח</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בסוף: Runtime ← Restart session and run all. ודאו שכל השורות בבדיקה המסכמת ✓, והורידו (Download .ipynb).</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HM_09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a:t>
            </a:r>
            <a:r>
              <a:rPr sz="3000" b="1" i="0" lang="he-IL">
                <a:solidFill>
                  <a:srgbClr val="212121"/>
                </a:solidFill>
              </a:rPr>
              <a:t>מעבדה א׳</a:t>
            </a:r>
            <a:r>
              <a:rPr sz="3000" b="0" i="0" lang="he-IL">
                <a:solidFill>
                  <a:srgbClr val="212121"/>
                </a:solidFill>
              </a:rPr>
              <a:t> : חמש שגיאות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10 דקות</a:t>
            </a:r>
          </a:p>
        </p:txBody>
      </p:sp>
      <p:sp>
        <p:nvSpPr>
          <p:cNvPr id="6" name="Rounded Rectangle 5"/>
          <p:cNvSpPr/>
          <p:nvPr/>
        </p:nvSpPr>
        <p:spPr>
          <a:xfrm>
            <a:off x="7589520" y="1371600"/>
            <a:ext cx="1188720" cy="548640"/>
          </a:xfrm>
          <a:prstGeom prst="roundRect">
            <a:avLst>
              <a:gd name="adj" fmla="val 30000"/>
            </a:avLst>
          </a:prstGeom>
          <a:solidFill>
            <a:srgbClr val="4285F4"/>
          </a:solidFill>
          <a:ln>
            <a:noFill/>
          </a:ln>
        </p:spPr>
        <p:txBody>
          <a:bodyPr rtlCol="0" anchor="ctr" wrap="square" lIns="73152" rIns="73152" tIns="73152" bIns="73152">
            <a:noAutofit/>
          </a:bodyPr>
          <a:lstStyle/>
          <a:p>
            <a:pPr rtl="0" algn="ctr" marL="0" indent="0">
              <a:lnSpc>
                <a:spcPct val="105000"/>
              </a:lnSpc>
              <a:spcBef>
                <a:spcPts val="0"/>
              </a:spcBef>
              <a:spcAft>
                <a:spcPts val="0"/>
              </a:spcAft>
              <a:buNone/>
            </a:pPr>
            <a:r>
              <a:rPr sz="1400" b="1" i="0" lang="he-IL">
                <a:solidFill>
                  <a:srgbClr val="FFFFFF"/>
                </a:solidFill>
              </a:rPr>
              <a:t>e1.py</a:t>
            </a:r>
          </a:p>
        </p:txBody>
      </p:sp>
      <p:sp>
        <p:nvSpPr>
          <p:cNvPr id="7" name="Rectangle 6"/>
          <p:cNvSpPr/>
          <p:nvPr/>
        </p:nvSpPr>
        <p:spPr>
          <a:xfrm>
            <a:off x="365760" y="1371600"/>
            <a:ext cx="7132320" cy="548640"/>
          </a:xfrm>
          <a:prstGeom prst="rect">
            <a:avLst/>
          </a:prstGeom>
          <a:solidFill>
            <a:srgbClr val="F4F4F4"/>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KeyError: 'Quantity'</a:t>
            </a:r>
          </a:p>
        </p:txBody>
      </p:sp>
      <p:sp>
        <p:nvSpPr>
          <p:cNvPr id="8" name="Rounded Rectangle 7"/>
          <p:cNvSpPr/>
          <p:nvPr/>
        </p:nvSpPr>
        <p:spPr>
          <a:xfrm>
            <a:off x="7589520" y="2057400"/>
            <a:ext cx="1188720" cy="548640"/>
          </a:xfrm>
          <a:prstGeom prst="roundRect">
            <a:avLst>
              <a:gd name="adj" fmla="val 30000"/>
            </a:avLst>
          </a:prstGeom>
          <a:solidFill>
            <a:srgbClr val="FFAB40"/>
          </a:solidFill>
          <a:ln>
            <a:noFill/>
          </a:ln>
        </p:spPr>
        <p:txBody>
          <a:bodyPr rtlCol="0" anchor="ctr" wrap="square" lIns="73152" rIns="73152" tIns="73152" bIns="73152">
            <a:noAutofit/>
          </a:bodyPr>
          <a:lstStyle/>
          <a:p>
            <a:pPr rtl="0" algn="ctr" marL="0" indent="0">
              <a:lnSpc>
                <a:spcPct val="105000"/>
              </a:lnSpc>
              <a:spcBef>
                <a:spcPts val="0"/>
              </a:spcBef>
              <a:spcAft>
                <a:spcPts val="0"/>
              </a:spcAft>
              <a:buNone/>
            </a:pPr>
            <a:r>
              <a:rPr sz="1400" b="1" i="0" lang="he-IL">
                <a:solidFill>
                  <a:srgbClr val="FFFFFF"/>
                </a:solidFill>
              </a:rPr>
              <a:t>e2.py</a:t>
            </a:r>
          </a:p>
        </p:txBody>
      </p:sp>
      <p:sp>
        <p:nvSpPr>
          <p:cNvPr id="9" name="Rectangle 8"/>
          <p:cNvSpPr/>
          <p:nvPr/>
        </p:nvSpPr>
        <p:spPr>
          <a:xfrm>
            <a:off x="365760" y="2057400"/>
            <a:ext cx="7132320" cy="548640"/>
          </a:xfrm>
          <a:prstGeom prst="rect">
            <a:avLst/>
          </a:prstGeom>
          <a:solidFill>
            <a:srgbClr val="F4F4F4"/>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TypeError: can only concatenate str (not "int") to str</a:t>
            </a:r>
          </a:p>
        </p:txBody>
      </p:sp>
      <p:sp>
        <p:nvSpPr>
          <p:cNvPr id="10" name="Rounded Rectangle 9"/>
          <p:cNvSpPr/>
          <p:nvPr/>
        </p:nvSpPr>
        <p:spPr>
          <a:xfrm>
            <a:off x="7589520" y="2743200"/>
            <a:ext cx="1188720" cy="548640"/>
          </a:xfrm>
          <a:prstGeom prst="roundRect">
            <a:avLst>
              <a:gd name="adj" fmla="val 30000"/>
            </a:avLst>
          </a:prstGeom>
          <a:solidFill>
            <a:srgbClr val="EA4335"/>
          </a:solidFill>
          <a:ln>
            <a:noFill/>
          </a:ln>
        </p:spPr>
        <p:txBody>
          <a:bodyPr rtlCol="0" anchor="ctr" wrap="square" lIns="73152" rIns="73152" tIns="73152" bIns="73152">
            <a:noAutofit/>
          </a:bodyPr>
          <a:lstStyle/>
          <a:p>
            <a:pPr rtl="0" algn="ctr" marL="0" indent="0">
              <a:lnSpc>
                <a:spcPct val="105000"/>
              </a:lnSpc>
              <a:spcBef>
                <a:spcPts val="0"/>
              </a:spcBef>
              <a:spcAft>
                <a:spcPts val="0"/>
              </a:spcAft>
              <a:buNone/>
            </a:pPr>
            <a:r>
              <a:rPr sz="1400" b="1" i="0" lang="he-IL">
                <a:solidFill>
                  <a:srgbClr val="FFFFFF"/>
                </a:solidFill>
              </a:rPr>
              <a:t>e3.py</a:t>
            </a:r>
          </a:p>
        </p:txBody>
      </p:sp>
      <p:sp>
        <p:nvSpPr>
          <p:cNvPr id="11" name="Rectangle 10"/>
          <p:cNvSpPr/>
          <p:nvPr/>
        </p:nvSpPr>
        <p:spPr>
          <a:xfrm>
            <a:off x="365760" y="2743200"/>
            <a:ext cx="7132320" cy="548640"/>
          </a:xfrm>
          <a:prstGeom prst="rect">
            <a:avLst/>
          </a:prstGeom>
          <a:solidFill>
            <a:srgbClr val="F4F4F4"/>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ModuleNotFoundError: No module named 'pandas_excel_fast'</a:t>
            </a:r>
          </a:p>
        </p:txBody>
      </p:sp>
      <p:sp>
        <p:nvSpPr>
          <p:cNvPr id="12" name="Rounded Rectangle 11"/>
          <p:cNvSpPr/>
          <p:nvPr/>
        </p:nvSpPr>
        <p:spPr>
          <a:xfrm>
            <a:off x="7589520" y="3429000"/>
            <a:ext cx="1188720" cy="548640"/>
          </a:xfrm>
          <a:prstGeom prst="roundRect">
            <a:avLst>
              <a:gd name="adj" fmla="val 30000"/>
            </a:avLst>
          </a:prstGeom>
          <a:solidFill>
            <a:srgbClr val="EA4335"/>
          </a:solidFill>
          <a:ln>
            <a:noFill/>
          </a:ln>
        </p:spPr>
        <p:txBody>
          <a:bodyPr rtlCol="0" anchor="ctr" wrap="square" lIns="73152" rIns="73152" tIns="73152" bIns="73152">
            <a:noAutofit/>
          </a:bodyPr>
          <a:lstStyle/>
          <a:p>
            <a:pPr rtl="0" algn="ctr" marL="0" indent="0">
              <a:lnSpc>
                <a:spcPct val="105000"/>
              </a:lnSpc>
              <a:spcBef>
                <a:spcPts val="0"/>
              </a:spcBef>
              <a:spcAft>
                <a:spcPts val="0"/>
              </a:spcAft>
              <a:buNone/>
            </a:pPr>
            <a:r>
              <a:rPr sz="1400" b="1" i="0" lang="he-IL">
                <a:solidFill>
                  <a:srgbClr val="FFFFFF"/>
                </a:solidFill>
              </a:rPr>
              <a:t>e4.py</a:t>
            </a:r>
          </a:p>
        </p:txBody>
      </p:sp>
      <p:sp>
        <p:nvSpPr>
          <p:cNvPr id="13" name="Rectangle 12"/>
          <p:cNvSpPr/>
          <p:nvPr/>
        </p:nvSpPr>
        <p:spPr>
          <a:xfrm>
            <a:off x="365760" y="3429000"/>
            <a:ext cx="7132320" cy="548640"/>
          </a:xfrm>
          <a:prstGeom prst="rect">
            <a:avLst/>
          </a:prstGeom>
          <a:solidFill>
            <a:srgbClr val="F4F4F4"/>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AttributeError: 'DataFrame' object has no attribute 'to_excel_fast'</a:t>
            </a:r>
          </a:p>
        </p:txBody>
      </p:sp>
      <p:sp>
        <p:nvSpPr>
          <p:cNvPr id="14" name="Rounded Rectangle 13"/>
          <p:cNvSpPr/>
          <p:nvPr/>
        </p:nvSpPr>
        <p:spPr>
          <a:xfrm>
            <a:off x="7589520" y="4114800"/>
            <a:ext cx="1188720" cy="548640"/>
          </a:xfrm>
          <a:prstGeom prst="roundRect">
            <a:avLst>
              <a:gd name="adj" fmla="val 30000"/>
            </a:avLst>
          </a:prstGeom>
          <a:solidFill>
            <a:srgbClr val="0097A7"/>
          </a:solidFill>
          <a:ln>
            <a:noFill/>
          </a:ln>
        </p:spPr>
        <p:txBody>
          <a:bodyPr rtlCol="0" anchor="ctr" wrap="square" lIns="73152" rIns="73152" tIns="73152" bIns="73152">
            <a:noAutofit/>
          </a:bodyPr>
          <a:lstStyle/>
          <a:p>
            <a:pPr rtl="0" algn="ctr" marL="0" indent="0">
              <a:lnSpc>
                <a:spcPct val="105000"/>
              </a:lnSpc>
              <a:spcBef>
                <a:spcPts val="0"/>
              </a:spcBef>
              <a:spcAft>
                <a:spcPts val="0"/>
              </a:spcAft>
              <a:buNone/>
            </a:pPr>
            <a:r>
              <a:rPr sz="1400" b="1" i="0" lang="he-IL">
                <a:solidFill>
                  <a:srgbClr val="FFFFFF"/>
                </a:solidFill>
              </a:rPr>
              <a:t>e5.py</a:t>
            </a:r>
          </a:p>
        </p:txBody>
      </p:sp>
      <p:sp>
        <p:nvSpPr>
          <p:cNvPr id="15" name="Rectangle 14"/>
          <p:cNvSpPr/>
          <p:nvPr/>
        </p:nvSpPr>
        <p:spPr>
          <a:xfrm>
            <a:off x="365760" y="4114800"/>
            <a:ext cx="7132320" cy="548640"/>
          </a:xfrm>
          <a:prstGeom prst="rect">
            <a:avLst/>
          </a:prstGeom>
          <a:solidFill>
            <a:srgbClr val="F4F4F4"/>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FileNotFoundError: [Errno 2] No such file or directory: 'data/orders.csv'</a:t>
            </a:r>
          </a:p>
        </p:txBody>
      </p:sp>
      <p:sp>
        <p:nvSpPr>
          <p:cNvPr id="16" name="TextBox 15"/>
          <p:cNvSpPr txBox="1"/>
          <p:nvPr/>
        </p:nvSpPr>
        <p:spPr>
          <a:xfrm>
            <a:off x="365760" y="4846320"/>
            <a:ext cx="8412480" cy="2743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הפלט שאתם רואים בהרצה: השורה האחרונה של ה־Traceback.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מעבדה א׳ : מה אמור לצאת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10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מה אמור לצאת: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חמש שגיאות</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סוג, קובץ ושורה לכל תוכנית. למשל e1: KeyError, שורה 3</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קיום API</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מומצאים: to_excel_fast, to_sql_fast, pandas_excel_fast</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הזיות</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e3 הזיית חבילה, e4 הזיית מתודה. מחפשים בתיעוד</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טעות נפוצה: לקחת את ה־File הראשון מלמעלה. צריך את הראשון מלמטה שאינו בספרייה.</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a:t>
            </a:r>
            <a:r>
              <a:rPr sz="3000" b="1" i="0" lang="he-IL">
                <a:solidFill>
                  <a:srgbClr val="212121"/>
                </a:solidFill>
              </a:rPr>
              <a:t>מעבדה א׳</a:t>
            </a:r>
            <a:r>
              <a:rPr sz="3000" b="0" i="0" lang="he-IL">
                <a:solidFill>
                  <a:srgbClr val="212121"/>
                </a:solidFill>
              </a:rPr>
              <a:t> : תשובות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10 דקות</a:t>
            </a:r>
          </a:p>
        </p:txBody>
      </p:sp>
      <p:graphicFrame>
        <p:nvGraphicFramePr>
          <p:cNvPr id="6" name="Table 5"/>
          <p:cNvGraphicFramePr>
            <a:graphicFrameLocks noGrp="1"/>
          </p:cNvGraphicFramePr>
          <p:nvPr/>
        </p:nvGraphicFramePr>
        <p:xfrm>
          <a:off x="365760" y="1371600"/>
          <a:ext cx="8412477" cy="3401568"/>
        </p:xfrm>
        <a:graphic>
          <a:graphicData uri="http://schemas.openxmlformats.org/drawingml/2006/table">
            <a:tbl>
              <a:tblPr firstRow="0" bandRow="0">
                <a:tableStyleId>{2D5ABB26-0587-4C30-8999-92F81FD0307C}</a:tableStyleId>
              </a:tblPr>
              <a:tblGrid>
                <a:gridCol w="3566159"/>
                <a:gridCol w="4023359"/>
                <a:gridCol w="822959"/>
              </a:tblGrid>
              <a:tr h="566928">
                <a:tc>
                  <a:txBody>
                    <a:bodyPr wrap="square"/>
                    <a:lstStyle/>
                    <a:p>
                      <a:pPr rtl="1" algn="ctr" marL="0" indent="0">
                        <a:lnSpc>
                          <a:spcPct val="100000"/>
                        </a:lnSpc>
                        <a:spcBef>
                          <a:spcPts val="0"/>
                        </a:spcBef>
                        <a:spcAft>
                          <a:spcPts val="0"/>
                        </a:spcAft>
                        <a:buNone/>
                      </a:pPr>
                      <a:r>
                        <a:rPr sz="1500" b="1" i="0" lang="he-IL">
                          <a:solidFill>
                            <a:srgbClr val="212121"/>
                          </a:solidFill>
                        </a:rPr>
                        <a:t>תיקון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500" b="1" i="0" lang="he-IL">
                          <a:solidFill>
                            <a:srgbClr val="212121"/>
                          </a:solidFill>
                        </a:rPr>
                        <a:t>סיבה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500" b="1" i="0" lang="he-IL">
                          <a:solidFill>
                            <a:srgbClr val="212121"/>
                          </a:solidFill>
                        </a:rPr>
                        <a:t>קובץ</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566928">
                <a:tc>
                  <a:txBody>
                    <a:bodyPr wrap="square"/>
                    <a:lstStyle/>
                    <a:p>
                      <a:pPr rtl="1" algn="r" marL="0" indent="0">
                        <a:lnSpc>
                          <a:spcPct val="100000"/>
                        </a:lnSpc>
                        <a:spcBef>
                          <a:spcPts val="0"/>
                        </a:spcBef>
                        <a:spcAft>
                          <a:spcPts val="0"/>
                        </a:spcAft>
                        <a:buNone/>
                      </a:pPr>
                      <a:r>
                        <a:rPr sz="1500" b="0" i="0" lang="he-IL">
                          <a:solidFill>
                            <a:srgbClr val="212121"/>
                          </a:solidFill>
                        </a:rPr>
                        <a:t>אתם: שם נכון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שם עמודה: Quantity במקום quantity</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e1</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6928">
                <a:tc>
                  <a:txBody>
                    <a:bodyPr wrap="square"/>
                    <a:lstStyle/>
                    <a:p>
                      <a:pPr rtl="1" algn="r" marL="0" indent="0">
                        <a:lnSpc>
                          <a:spcPct val="100000"/>
                        </a:lnSpc>
                        <a:spcBef>
                          <a:spcPts val="0"/>
                        </a:spcBef>
                        <a:spcAft>
                          <a:spcPts val="0"/>
                        </a:spcAft>
                        <a:buNone/>
                      </a:pPr>
                      <a:r>
                        <a:rPr sz="1500" b="0" i="0" lang="he-IL">
                          <a:solidFill>
                            <a:srgbClr val="212121"/>
                          </a:solidFill>
                        </a:rPr>
                        <a:t>המרה למספר (astype)</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העמודה נקראה כטקסט</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e2</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6928">
                <a:tc>
                  <a:txBody>
                    <a:bodyPr wrap="square"/>
                    <a:lstStyle/>
                    <a:p>
                      <a:pPr rtl="1" algn="r" marL="0" indent="0">
                        <a:lnSpc>
                          <a:spcPct val="100000"/>
                        </a:lnSpc>
                        <a:spcBef>
                          <a:spcPts val="0"/>
                        </a:spcBef>
                        <a:spcAft>
                          <a:spcPts val="0"/>
                        </a:spcAft>
                        <a:buNone/>
                      </a:pPr>
                      <a:r>
                        <a:rPr sz="1500" b="0" i="0" lang="he-IL">
                          <a:solidFill>
                            <a:srgbClr val="212121"/>
                          </a:solidFill>
                        </a:rPr>
                        <a:t>מוחקים, בודקים בתיעוד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הזיית חבילה: אין חבילה כזאת ב־PyPI</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c>
                  <a:txBody>
                    <a:bodyPr wrap="square"/>
                    <a:lstStyle/>
                    <a:p>
                      <a:pPr rtl="1" algn="r" marL="0" indent="0">
                        <a:lnSpc>
                          <a:spcPct val="100000"/>
                        </a:lnSpc>
                        <a:spcBef>
                          <a:spcPts val="0"/>
                        </a:spcBef>
                        <a:spcAft>
                          <a:spcPts val="0"/>
                        </a:spcAft>
                        <a:buNone/>
                      </a:pPr>
                      <a:r>
                        <a:rPr sz="1500" b="1" i="0" lang="he-IL">
                          <a:solidFill>
                            <a:srgbClr val="212121"/>
                          </a:solidFill>
                        </a:rPr>
                        <a:t>e3</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6928">
                <a:tc>
                  <a:txBody>
                    <a:bodyPr wrap="square"/>
                    <a:lstStyle/>
                    <a:p>
                      <a:pPr rtl="1" algn="r" marL="0" indent="0">
                        <a:lnSpc>
                          <a:spcPct val="100000"/>
                        </a:lnSpc>
                        <a:spcBef>
                          <a:spcPts val="0"/>
                        </a:spcBef>
                        <a:spcAft>
                          <a:spcPts val="0"/>
                        </a:spcAft>
                        <a:buNone/>
                      </a:pPr>
                      <a:r>
                        <a:rPr sz="1500" b="0" i="0" lang="he-IL">
                          <a:solidFill>
                            <a:srgbClr val="212121"/>
                          </a:solidFill>
                        </a:rPr>
                        <a:t>השתמשו ב־to_excel</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הזיית מתודה: to_excel_fast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c>
                  <a:txBody>
                    <a:bodyPr wrap="square"/>
                    <a:lstStyle/>
                    <a:p>
                      <a:pPr rtl="1" algn="r" marL="0" indent="0">
                        <a:lnSpc>
                          <a:spcPct val="100000"/>
                        </a:lnSpc>
                        <a:spcBef>
                          <a:spcPts val="0"/>
                        </a:spcBef>
                        <a:spcAft>
                          <a:spcPts val="0"/>
                        </a:spcAft>
                        <a:buNone/>
                      </a:pPr>
                      <a:r>
                        <a:rPr sz="1500" b="1" i="0" lang="he-IL">
                          <a:solidFill>
                            <a:srgbClr val="212121"/>
                          </a:solidFill>
                        </a:rPr>
                        <a:t>e4</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6928">
                <a:tc>
                  <a:txBody>
                    <a:bodyPr wrap="square"/>
                    <a:lstStyle/>
                    <a:p>
                      <a:pPr rtl="1" algn="r" marL="0" indent="0">
                        <a:lnSpc>
                          <a:spcPct val="100000"/>
                        </a:lnSpc>
                        <a:spcBef>
                          <a:spcPts val="0"/>
                        </a:spcBef>
                        <a:spcAft>
                          <a:spcPts val="0"/>
                        </a:spcAft>
                        <a:buNone/>
                      </a:pPr>
                      <a:r>
                        <a:rPr sz="1500" b="0" i="0" lang="he-IL">
                          <a:solidFill>
                            <a:srgbClr val="212121"/>
                          </a:solidFill>
                        </a:rPr>
                        <a:t>נתיב נכון: orders_il.csv בתיקייה הנוכחית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נתיב ושם קובץ שגויים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e5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חלק ב׳ :</a:t>
            </a:r>
            <a:r>
              <a:rPr sz="3000" b="1" i="0" lang="he-IL">
                <a:solidFill>
                  <a:srgbClr val="212121"/>
                </a:solidFill>
              </a:rPr>
              <a:t>באג שקט</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Chart 4"/>
          <p:cNvGraphicFramePr>
            <a:graphicFrameLocks noGrp="1"/>
          </p:cNvGraphicFramePr>
          <p:nvPr/>
        </p:nvGraphicFramePr>
        <p:xfrm>
          <a:off x="365760" y="1463040"/>
          <a:ext cx="4754880" cy="3291840"/>
        </p:xfrm>
        <a:graphic>
          <a:graphicData uri="http://schemas.openxmlformats.org/drawingml/2006/chart">
            <c:chart xmlns:c="http://schemas.openxmlformats.org/drawingml/2006/chart" r:id="rId3"/>
          </a:graphicData>
        </a:graphic>
      </p:graphicFrame>
      <p:sp>
        <p:nvSpPr>
          <p:cNvPr id="6" name="TextBox 5"/>
          <p:cNvSpPr txBox="1"/>
          <p:nvPr/>
        </p:nvSpPr>
        <p:spPr>
          <a:xfrm>
            <a:off x="5303520" y="1463040"/>
            <a:ext cx="3474720" cy="3291840"/>
          </a:xfrm>
          <a:prstGeom prst="rect">
            <a:avLst/>
          </a:prstGeom>
          <a:noFill/>
        </p:spPr>
        <p:txBody>
          <a:bodyPr wrap="square" lIns="73152" rIns="73152" tIns="73152" bIns="73152" anchor="t">
            <a:noAutofit/>
          </a:bodyPr>
          <a:lstStyle/>
          <a:p>
            <a:pPr rtl="1" algn="r" marL="0" indent="0">
              <a:lnSpc>
                <a:spcPct val="110000"/>
              </a:lnSpc>
              <a:spcBef>
                <a:spcPts val="0"/>
              </a:spcBef>
              <a:spcAft>
                <a:spcPts val="600"/>
              </a:spcAft>
              <a:buNone/>
            </a:pPr>
            <a:r>
              <a:rPr sz="2200" b="1" i="0" lang="he-IL">
                <a:solidFill>
                  <a:srgbClr val="212121"/>
                </a:solidFill>
              </a:rPr>
              <a:t>אין שגיאה.</a:t>
            </a:r>
          </a:p>
          <a:p>
            <a:pPr rtl="1" algn="r" marL="0" indent="0">
              <a:lnSpc>
                <a:spcPct val="110000"/>
              </a:lnSpc>
              <a:spcBef>
                <a:spcPts val="0"/>
              </a:spcBef>
              <a:spcAft>
                <a:spcPts val="1000"/>
              </a:spcAft>
              <a:buNone/>
            </a:pPr>
            <a:r>
              <a:rPr sz="2200" b="1" i="0" lang="he-IL">
                <a:solidFill>
                  <a:srgbClr val="EA4335"/>
                </a:solidFill>
              </a:rPr>
              <a:t>יש תוצאה: והיא שגויה ב־50%.</a:t>
            </a:r>
          </a:p>
          <a:p>
            <a:pPr rtl="1" algn="r" marL="0" indent="0">
              <a:lnSpc>
                <a:spcPct val="110000"/>
              </a:lnSpc>
              <a:spcBef>
                <a:spcPts val="0"/>
              </a:spcBef>
              <a:spcAft>
                <a:spcPts val="0"/>
              </a:spcAft>
              <a:buNone/>
            </a:pPr>
            <a:r>
              <a:rPr sz="1700" b="0" i="0" lang="he-IL">
                <a:solidFill>
                  <a:srgbClr val="595959"/>
                </a:solidFill>
              </a:rPr>
              <a:t>שגיאה מפילה את התוכנית ומודיעה לכם. באג שקט עובר לדוח, ללקוח ולהנהלה.</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חלק ב׳ :</a:t>
            </a:r>
            <a:r>
              <a:rPr sz="3000" b="1" i="0" lang="he-IL">
                <a:solidFill>
                  <a:srgbClr val="212121"/>
                </a:solidFill>
              </a:rPr>
              <a:t>בדיקות שפיות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417320"/>
            <a:ext cx="4114800" cy="1463040"/>
          </a:xfrm>
          <a:prstGeom prst="roundRect">
            <a:avLst>
              <a:gd name="adj" fmla="val 6000"/>
            </a:avLst>
          </a:prstGeom>
          <a:solidFill>
            <a:srgbClr val="E3EEFF"/>
          </a:solidFill>
          <a:ln w="2540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777240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7" name="TextBox 6"/>
          <p:cNvSpPr txBox="1"/>
          <p:nvPr/>
        </p:nvSpPr>
        <p:spPr>
          <a:xfrm>
            <a:off x="4754879"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סכום ביקורת</a:t>
            </a:r>
          </a:p>
        </p:txBody>
      </p:sp>
      <p:sp>
        <p:nvSpPr>
          <p:cNvPr id="8" name="TextBox 7"/>
          <p:cNvSpPr txBox="1"/>
          <p:nvPr/>
        </p:nvSpPr>
        <p:spPr>
          <a:xfrm>
            <a:off x="4754879"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האם הסכום תואם מקור חיצוני (הנהלת חשבונות)?</a:t>
            </a:r>
          </a:p>
        </p:txBody>
      </p:sp>
      <p:sp>
        <p:nvSpPr>
          <p:cNvPr id="9" name="Rounded Rectangle 8"/>
          <p:cNvSpPr/>
          <p:nvPr/>
        </p:nvSpPr>
        <p:spPr>
          <a:xfrm>
            <a:off x="365760" y="1417320"/>
            <a:ext cx="4114800" cy="1463040"/>
          </a:xfrm>
          <a:prstGeom prst="roundRect">
            <a:avLst>
              <a:gd name="adj" fmla="val 6000"/>
            </a:avLst>
          </a:prstGeom>
          <a:solidFill>
            <a:srgbClr val="DDF2F5"/>
          </a:solidFill>
          <a:ln w="25400">
            <a:solidFill>
              <a:srgbClr val="0097A7"/>
            </a:solidFill>
          </a:ln>
        </p:spPr>
        <p:txBody>
          <a:bodyPr rtlCol="0" anchor="ctr" wrap="square" lIns="73152" rIns="73152" tIns="73152" bIns="73152">
            <a:noAutofit/>
          </a:bodyPr>
          <a:lstStyle/>
          <a:p>
            <a:pPr algn="ctr"/>
          </a:p>
        </p:txBody>
      </p:sp>
      <p:sp>
        <p:nvSpPr>
          <p:cNvPr id="10" name="TextBox 9"/>
          <p:cNvSpPr txBox="1"/>
          <p:nvPr/>
        </p:nvSpPr>
        <p:spPr>
          <a:xfrm>
            <a:off x="347472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1" name="TextBox 10"/>
          <p:cNvSpPr txBox="1"/>
          <p:nvPr/>
        </p:nvSpPr>
        <p:spPr>
          <a:xfrm>
            <a:off x="457200"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ספירות</a:t>
            </a:r>
          </a:p>
        </p:txBody>
      </p:sp>
      <p:sp>
        <p:nvSpPr>
          <p:cNvPr id="12" name="TextBox 11"/>
          <p:cNvSpPr txBox="1"/>
          <p:nvPr/>
        </p:nvSpPr>
        <p:spPr>
          <a:xfrm>
            <a:off x="457200"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כמה שורות לפני ואחרי כל צירוף או סינון?</a:t>
            </a:r>
          </a:p>
        </p:txBody>
      </p:sp>
      <p:sp>
        <p:nvSpPr>
          <p:cNvPr id="13" name="Rounded Rectangle 12"/>
          <p:cNvSpPr/>
          <p:nvPr/>
        </p:nvSpPr>
        <p:spPr>
          <a:xfrm>
            <a:off x="4663440" y="3063240"/>
            <a:ext cx="4114800" cy="1463040"/>
          </a:xfrm>
          <a:prstGeom prst="roundRect">
            <a:avLst>
              <a:gd name="adj" fmla="val 6000"/>
            </a:avLst>
          </a:prstGeom>
          <a:solidFill>
            <a:srgbClr val="FFF0D9"/>
          </a:solidFill>
          <a:ln w="25400">
            <a:solidFill>
              <a:srgbClr val="FFAB40"/>
            </a:solidFill>
          </a:ln>
        </p:spPr>
        <p:txBody>
          <a:bodyPr rtlCol="0" anchor="ctr" wrap="square" lIns="73152" rIns="73152" tIns="73152" bIns="73152">
            <a:noAutofit/>
          </a:bodyPr>
          <a:lstStyle/>
          <a:p>
            <a:pPr algn="ctr"/>
          </a:p>
        </p:txBody>
      </p:sp>
      <p:sp>
        <p:nvSpPr>
          <p:cNvPr id="14" name="TextBox 13"/>
          <p:cNvSpPr txBox="1"/>
          <p:nvPr/>
        </p:nvSpPr>
        <p:spPr>
          <a:xfrm>
            <a:off x="777240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5" name="TextBox 14"/>
          <p:cNvSpPr txBox="1"/>
          <p:nvPr/>
        </p:nvSpPr>
        <p:spPr>
          <a:xfrm>
            <a:off x="4754879"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ייחודיות</a:t>
            </a:r>
          </a:p>
        </p:txBody>
      </p:sp>
      <p:sp>
        <p:nvSpPr>
          <p:cNvPr id="16" name="TextBox 15"/>
          <p:cNvSpPr txBox="1"/>
          <p:nvPr/>
        </p:nvSpPr>
        <p:spPr>
          <a:xfrm>
            <a:off x="4754879"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האם מזהים (order_id) מופיעים פעם אחת?</a:t>
            </a:r>
          </a:p>
        </p:txBody>
      </p:sp>
      <p:sp>
        <p:nvSpPr>
          <p:cNvPr id="17" name="Rounded Rectangle 16"/>
          <p:cNvSpPr/>
          <p:nvPr/>
        </p:nvSpPr>
        <p:spPr>
          <a:xfrm>
            <a:off x="365760" y="3063240"/>
            <a:ext cx="4114800" cy="1463040"/>
          </a:xfrm>
          <a:prstGeom prst="roundRect">
            <a:avLst>
              <a:gd name="adj" fmla="val 6000"/>
            </a:avLst>
          </a:prstGeom>
          <a:solidFill>
            <a:srgbClr val="E1F4E6"/>
          </a:solidFill>
          <a:ln w="25400">
            <a:solidFill>
              <a:srgbClr val="34A853"/>
            </a:solidFill>
          </a:ln>
        </p:spPr>
        <p:txBody>
          <a:bodyPr rtlCol="0" anchor="ctr" wrap="square" lIns="73152" rIns="73152" tIns="73152" bIns="73152">
            <a:noAutofit/>
          </a:bodyPr>
          <a:lstStyle/>
          <a:p>
            <a:pPr algn="ctr"/>
          </a:p>
        </p:txBody>
      </p:sp>
      <p:sp>
        <p:nvSpPr>
          <p:cNvPr id="18" name="TextBox 17"/>
          <p:cNvSpPr txBox="1"/>
          <p:nvPr/>
        </p:nvSpPr>
        <p:spPr>
          <a:xfrm>
            <a:off x="347472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9" name="TextBox 18"/>
          <p:cNvSpPr txBox="1"/>
          <p:nvPr/>
        </p:nvSpPr>
        <p:spPr>
          <a:xfrm>
            <a:off x="457200"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טווחים</a:t>
            </a:r>
          </a:p>
        </p:txBody>
      </p:sp>
      <p:sp>
        <p:nvSpPr>
          <p:cNvPr id="20" name="TextBox 19"/>
          <p:cNvSpPr txBox="1"/>
          <p:nvPr/>
        </p:nvSpPr>
        <p:spPr>
          <a:xfrm>
            <a:off x="457200"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אין ערכים שליליים, ותאריכים בטווח הצפוי</a:t>
            </a:r>
          </a:p>
        </p:txBody>
      </p:sp>
      <p:sp>
        <p:nvSpPr>
          <p:cNvPr id="21" name="Recall tag"/>
          <p:cNvSpPr/>
          <p:nvPr/>
        </p:nvSpPr>
        <p:spPr>
          <a:xfrm>
            <a:off x="109728" y="91440"/>
            <a:ext cx="2300000" cy="384048"/>
          </a:xfrm>
          <a:prstGeom prst="roundRect">
            <a:avLst>
              <a:gd name="adj" fmla="val 40000"/>
            </a:avLst>
          </a:prstGeom>
          <a:solidFill>
            <a:srgbClr val="E3F2FD"/>
          </a:solidFill>
          <a:ln w="19050">
            <a:solidFill>
              <a:srgbClr val="42A5F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300" b="1" i="0" lang="he-IL">
                <a:solidFill>
                  <a:srgbClr val="212121"/>
                </a:solidFill>
              </a:rPr>
              <a:t>חזרה ממפגשים 5 ו־7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חלק ב׳ :</a:t>
            </a:r>
            <a:r>
              <a:rPr sz="3000" b="1" i="0" lang="he-IL">
                <a:solidFill>
                  <a:srgbClr val="212121"/>
                </a:solidFill>
              </a:rPr>
              <a:t>משפחות של באגים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463040"/>
            <a:ext cx="4114800" cy="3200400"/>
          </a:xfrm>
          <a:prstGeom prst="roundRect">
            <a:avLst>
              <a:gd name="adj" fmla="val 5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6" name="TextBox 5"/>
          <p:cNvSpPr txBox="1"/>
          <p:nvPr/>
        </p:nvSpPr>
        <p:spPr>
          <a:xfrm>
            <a:off x="4663440" y="1508760"/>
            <a:ext cx="411480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FFAB40"/>
                </a:solidFill>
              </a:rPr>
              <a:t>הזיה: API שהומצא</a:t>
            </a:r>
          </a:p>
        </p:txBody>
      </p:sp>
      <p:sp>
        <p:nvSpPr>
          <p:cNvPr id="7" name="TextBox 6"/>
          <p:cNvSpPr txBox="1"/>
          <p:nvPr/>
        </p:nvSpPr>
        <p:spPr>
          <a:xfrm>
            <a:off x="4846320" y="2011680"/>
            <a:ext cx="3749039" cy="2560320"/>
          </a:xfrm>
          <a:prstGeom prst="rect">
            <a:avLst/>
          </a:prstGeom>
          <a:noFill/>
        </p:spPr>
        <p:txBody>
          <a:bodyPr wrap="square" lIns="73152" rIns="73152" tIns="73152" bIns="73152" anchor="t">
            <a:noAutofit/>
          </a:bodyPr>
          <a:lstStyle/>
          <a:p>
            <a:pPr rtl="1" algn="r" marL="347472" indent="-292608">
              <a:lnSpc>
                <a:spcPct val="110000"/>
              </a:lnSpc>
              <a:spcBef>
                <a:spcPts val="0"/>
              </a:spcBef>
              <a:spcAft>
                <a:spcPts val="400"/>
              </a:spcAft>
              <a:buClr>
                <a:srgbClr val="212121"/>
              </a:buClr>
              <a:buSzPts val="1280"/>
              <a:buChar char="●"/>
            </a:pPr>
            <a:r>
              <a:rPr sz="1600" b="0" i="0" lang="he-IL">
                <a:solidFill>
                  <a:srgbClr val="212121"/>
                </a:solidFill>
              </a:rPr>
              <a:t>פונקציה או מתודה</a:t>
            </a:r>
          </a:p>
          <a:p>
            <a:pPr rtl="1" algn="r" marL="347472" indent="-292608">
              <a:lnSpc>
                <a:spcPct val="110000"/>
              </a:lnSpc>
              <a:spcBef>
                <a:spcPts val="0"/>
              </a:spcBef>
              <a:spcAft>
                <a:spcPts val="400"/>
              </a:spcAft>
              <a:buClr>
                <a:srgbClr val="212121"/>
              </a:buClr>
              <a:buSzPts val="1280"/>
              <a:buChar char="●"/>
            </a:pPr>
            <a:r>
              <a:rPr sz="1600" b="0" i="0" lang="he-IL">
                <a:solidFill>
                  <a:srgbClr val="212121"/>
                </a:solidFill>
              </a:rPr>
              <a:t>פרמטר</a:t>
            </a:r>
          </a:p>
          <a:p>
            <a:pPr rtl="1" algn="r" marL="347472" indent="-292608">
              <a:lnSpc>
                <a:spcPct val="110000"/>
              </a:lnSpc>
              <a:spcBef>
                <a:spcPts val="0"/>
              </a:spcBef>
              <a:spcAft>
                <a:spcPts val="400"/>
              </a:spcAft>
              <a:buClr>
                <a:srgbClr val="212121"/>
              </a:buClr>
              <a:buSzPts val="1280"/>
              <a:buChar char="●"/>
            </a:pPr>
            <a:r>
              <a:rPr sz="1600" b="0" i="0" lang="he-IL">
                <a:solidFill>
                  <a:srgbClr val="212121"/>
                </a:solidFill>
              </a:rPr>
              <a:t>חבילה</a:t>
            </a:r>
          </a:p>
          <a:p>
            <a:pPr rtl="1" algn="r" marL="347472" indent="-292608">
              <a:lnSpc>
                <a:spcPct val="110000"/>
              </a:lnSpc>
              <a:spcBef>
                <a:spcPts val="0"/>
              </a:spcBef>
              <a:spcAft>
                <a:spcPts val="400"/>
              </a:spcAft>
              <a:buClr>
                <a:srgbClr val="212121"/>
              </a:buClr>
              <a:buSzPts val="1280"/>
              <a:buChar char="●"/>
            </a:pPr>
            <a:r>
              <a:rPr sz="1600" b="0" i="0" lang="he-IL">
                <a:solidFill>
                  <a:srgbClr val="212121"/>
                </a:solidFill>
              </a:rPr>
              <a:t>גרסה</a:t>
            </a:r>
          </a:p>
          <a:p>
            <a:pPr rtl="1" algn="r" marL="347472" indent="-292608">
              <a:lnSpc>
                <a:spcPct val="110000"/>
              </a:lnSpc>
              <a:spcBef>
                <a:spcPts val="0"/>
              </a:spcBef>
              <a:spcAft>
                <a:spcPts val="400"/>
              </a:spcAft>
              <a:buClr>
                <a:srgbClr val="212121"/>
              </a:buClr>
              <a:buSzPts val="1280"/>
              <a:buChar char="●"/>
            </a:pPr>
            <a:r>
              <a:rPr sz="1600" b="0" i="0" lang="he-IL">
                <a:solidFill>
                  <a:srgbClr val="212121"/>
                </a:solidFill>
              </a:rPr>
              <a:t>התנהגות (מפגש 2)</a:t>
            </a:r>
          </a:p>
        </p:txBody>
      </p:sp>
      <p:sp>
        <p:nvSpPr>
          <p:cNvPr id="8" name="Rounded Rectangle 7"/>
          <p:cNvSpPr/>
          <p:nvPr/>
        </p:nvSpPr>
        <p:spPr>
          <a:xfrm>
            <a:off x="365760" y="1463040"/>
            <a:ext cx="4114800" cy="3200400"/>
          </a:xfrm>
          <a:prstGeom prst="roundRect">
            <a:avLst>
              <a:gd name="adj" fmla="val 5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9" name="TextBox 8"/>
          <p:cNvSpPr txBox="1"/>
          <p:nvPr/>
        </p:nvSpPr>
        <p:spPr>
          <a:xfrm>
            <a:off x="365760" y="1508760"/>
            <a:ext cx="411480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4285F4"/>
                </a:solidFill>
              </a:rPr>
              <a:t>הנחה שגויה על הנתונים</a:t>
            </a:r>
          </a:p>
        </p:txBody>
      </p:sp>
      <p:sp>
        <p:nvSpPr>
          <p:cNvPr id="10" name="TextBox 9"/>
          <p:cNvSpPr txBox="1"/>
          <p:nvPr/>
        </p:nvSpPr>
        <p:spPr>
          <a:xfrm>
            <a:off x="548640" y="2011680"/>
            <a:ext cx="3749039" cy="2560320"/>
          </a:xfrm>
          <a:prstGeom prst="rect">
            <a:avLst/>
          </a:prstGeom>
          <a:noFill/>
        </p:spPr>
        <p:txBody>
          <a:bodyPr wrap="square" lIns="73152" rIns="73152" tIns="73152" bIns="73152" anchor="t">
            <a:noAutofit/>
          </a:bodyPr>
          <a:lstStyle/>
          <a:p>
            <a:pPr rtl="1" algn="r" marL="347472" indent="-292608">
              <a:lnSpc>
                <a:spcPct val="110000"/>
              </a:lnSpc>
              <a:spcBef>
                <a:spcPts val="0"/>
              </a:spcBef>
              <a:spcAft>
                <a:spcPts val="400"/>
              </a:spcAft>
              <a:buClr>
                <a:srgbClr val="212121"/>
              </a:buClr>
              <a:buSzPts val="1280"/>
              <a:buChar char="●"/>
            </a:pPr>
            <a:r>
              <a:rPr sz="1600" b="0" i="0" lang="he-IL">
                <a:solidFill>
                  <a:srgbClr val="212121"/>
                </a:solidFill>
              </a:rPr>
              <a:t>שם עמודה, טיפוס, נתיב</a:t>
            </a:r>
          </a:p>
          <a:p>
            <a:pPr rtl="1" algn="r" marL="347472" indent="-292608">
              <a:lnSpc>
                <a:spcPct val="110000"/>
              </a:lnSpc>
              <a:spcBef>
                <a:spcPts val="0"/>
              </a:spcBef>
              <a:spcAft>
                <a:spcPts val="400"/>
              </a:spcAft>
              <a:buClr>
                <a:srgbClr val="212121"/>
              </a:buClr>
              <a:buSzPts val="1280"/>
              <a:buChar char="●"/>
            </a:pPr>
            <a:r>
              <a:rPr sz="1600" b="0" i="0" lang="he-IL">
                <a:solidFill>
                  <a:srgbClr val="212121"/>
                </a:solidFill>
              </a:rPr>
              <a:t>פורמט תאריך (יום/חודש)</a:t>
            </a:r>
          </a:p>
          <a:p>
            <a:pPr rtl="1" algn="r" marL="347472" indent="-292608">
              <a:lnSpc>
                <a:spcPct val="110000"/>
              </a:lnSpc>
              <a:spcBef>
                <a:spcPts val="0"/>
              </a:spcBef>
              <a:spcAft>
                <a:spcPts val="400"/>
              </a:spcAft>
              <a:buClr>
                <a:srgbClr val="212121"/>
              </a:buClr>
              <a:buSzPts val="1280"/>
              <a:buChar char="●"/>
            </a:pPr>
            <a:r>
              <a:rPr sz="1600" b="0" i="0" lang="he-IL">
                <a:solidFill>
                  <a:srgbClr val="212121"/>
                </a:solidFill>
              </a:rPr>
              <a:t>שורות כפולות</a:t>
            </a:r>
          </a:p>
          <a:p>
            <a:pPr rtl="1" algn="r" marL="347472" indent="-292608">
              <a:lnSpc>
                <a:spcPct val="110000"/>
              </a:lnSpc>
              <a:spcBef>
                <a:spcPts val="0"/>
              </a:spcBef>
              <a:spcAft>
                <a:spcPts val="400"/>
              </a:spcAft>
              <a:buClr>
                <a:srgbClr val="212121"/>
              </a:buClr>
              <a:buSzPts val="1280"/>
              <a:buChar char="●"/>
            </a:pPr>
            <a:r>
              <a:rPr sz="1600" b="0" i="0" lang="he-IL">
                <a:solidFill>
                  <a:srgbClr val="212121"/>
                </a:solidFill>
              </a:rPr>
              <a:t>צירוף שמכפיל שורות</a:t>
            </a:r>
          </a:p>
          <a:p>
            <a:pPr rtl="1" algn="r" marL="347472" indent="-292608">
              <a:lnSpc>
                <a:spcPct val="110000"/>
              </a:lnSpc>
              <a:spcBef>
                <a:spcPts val="0"/>
              </a:spcBef>
              <a:spcAft>
                <a:spcPts val="400"/>
              </a:spcAft>
              <a:buClr>
                <a:srgbClr val="212121"/>
              </a:buClr>
              <a:buSzPts val="1280"/>
              <a:buChar char="●"/>
            </a:pPr>
            <a:r>
              <a:rPr sz="1600" b="0" i="0" lang="he-IL">
                <a:solidFill>
                  <a:srgbClr val="212121"/>
                </a:solidFill>
              </a:rPr>
              <a:t>טווח לא נכון (&gt; מול ≥)</a:t>
            </a:r>
          </a:p>
        </p:txBody>
      </p:sp>
      <p:sp>
        <p:nvSpPr>
          <p:cNvPr id="11" name="Axis caption"/>
          <p:cNvSpPr txBox="1"/>
          <p:nvPr/>
        </p:nvSpPr>
        <p:spPr>
          <a:xfrm>
            <a:off x="365760" y="471600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1" i="0" lang="he-IL">
                <a:solidFill>
                  <a:srgbClr val="EA4335"/>
                </a:solidFill>
              </a:rPr>
              <a:t>ובכל משפחה: רועש (יש Traceback) או שקט (אין שגיאה). ארבעת באגי הדוח: הנחות שקטות.</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חלק ב׳ :</a:t>
            </a:r>
            <a:r>
              <a:rPr sz="3000" b="1" i="0" lang="he-IL">
                <a:solidFill>
                  <a:srgbClr val="212121"/>
                </a:solidFill>
              </a:rPr>
              <a:t>מלכודת התאריך</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291840" y="1417320"/>
            <a:ext cx="2560320" cy="822960"/>
          </a:xfrm>
          <a:prstGeom prst="roundRect">
            <a:avLst>
              <a:gd name="adj" fmla="val 12000"/>
            </a:avLst>
          </a:prstGeom>
          <a:solidFill>
            <a:srgbClr val="FFFFFF"/>
          </a:solidFill>
          <a:ln w="38100">
            <a:solidFill>
              <a:srgbClr val="78909C"/>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2800" b="1" i="0" lang="he-IL">
                <a:solidFill>
                  <a:srgbClr val="212121"/>
                </a:solidFill>
              </a:rPr>
              <a:t>03/04/2025</a:t>
            </a:r>
          </a:p>
        </p:txBody>
      </p:sp>
      <p:sp>
        <p:nvSpPr>
          <p:cNvPr id="6" name="Rounded Rectangle 5"/>
          <p:cNvSpPr/>
          <p:nvPr/>
        </p:nvSpPr>
        <p:spPr>
          <a:xfrm>
            <a:off x="5120640" y="3017520"/>
            <a:ext cx="3657600" cy="100584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595959"/>
                </a:solidFill>
              </a:rPr>
              <a:t>יום/חודש (ישראל)</a:t>
            </a:r>
          </a:p>
          <a:p>
            <a:pPr rtl="1" algn="ctr" marL="0" indent="0">
              <a:lnSpc>
                <a:spcPct val="105000"/>
              </a:lnSpc>
              <a:spcBef>
                <a:spcPts val="0"/>
              </a:spcBef>
              <a:spcAft>
                <a:spcPts val="0"/>
              </a:spcAft>
              <a:buNone/>
            </a:pPr>
            <a:r>
              <a:rPr sz="2400" b="1" i="0" lang="he-IL">
                <a:solidFill>
                  <a:srgbClr val="34A853"/>
                </a:solidFill>
              </a:rPr>
              <a:t>3 באפריל</a:t>
            </a:r>
          </a:p>
        </p:txBody>
      </p:sp>
      <p:sp>
        <p:nvSpPr>
          <p:cNvPr id="7" name="Rounded Rectangle 6"/>
          <p:cNvSpPr/>
          <p:nvPr/>
        </p:nvSpPr>
        <p:spPr>
          <a:xfrm>
            <a:off x="365760" y="3017520"/>
            <a:ext cx="3657600" cy="1005840"/>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595959"/>
                </a:solidFill>
              </a:rPr>
              <a:t>חודש/יום (ברירת מחדל)</a:t>
            </a:r>
          </a:p>
          <a:p>
            <a:pPr rtl="1" algn="ctr" marL="0" indent="0">
              <a:lnSpc>
                <a:spcPct val="105000"/>
              </a:lnSpc>
              <a:spcBef>
                <a:spcPts val="0"/>
              </a:spcBef>
              <a:spcAft>
                <a:spcPts val="0"/>
              </a:spcAft>
              <a:buNone/>
            </a:pPr>
            <a:r>
              <a:rPr sz="2400" b="1" i="0" lang="he-IL">
                <a:solidFill>
                  <a:srgbClr val="EA4335"/>
                </a:solidFill>
              </a:rPr>
              <a:t>4 במרץ</a:t>
            </a:r>
          </a:p>
        </p:txBody>
      </p:sp>
      <p:cxnSp>
        <p:nvCxnSpPr>
          <p:cNvPr id="8" name="Connector 7"/>
          <p:cNvCxnSpPr/>
          <p:nvPr/>
        </p:nvCxnSpPr>
        <p:spPr>
          <a:xfrm>
            <a:off x="4572000" y="2286000"/>
            <a:ext cx="2194560" cy="68580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2194560" y="2286000"/>
            <a:ext cx="2377440" cy="68580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65760" y="4297680"/>
            <a:ext cx="8412480" cy="7315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800" b="1" i="0" lang="he-IL">
                <a:solidFill>
                  <a:srgbClr val="212121"/>
                </a:solidFill>
              </a:rPr>
              <a:t>היום גדול מ־12: מתקבל NaT. היום קטן מ־13: התאריך נקרא הפוך, בשקט.</a:t>
            </a:r>
          </a:p>
          <a:p>
            <a:pPr rtl="1" algn="ctr" marL="0" indent="0">
              <a:lnSpc>
                <a:spcPct val="110000"/>
              </a:lnSpc>
              <a:spcBef>
                <a:spcPts val="0"/>
              </a:spcBef>
              <a:spcAft>
                <a:spcPts val="0"/>
              </a:spcAft>
              <a:buNone/>
            </a:pPr>
            <a:r>
              <a:rPr sz="1600" b="0" i="0" lang="he-IL">
                <a:solidFill>
                  <a:srgbClr val="595959"/>
                </a:solidFill>
              </a:rPr>
              <a:t>תמיד מציינים פורמט במפורש: format="%d/%m/%Y".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חלק ב׳ :</a:t>
            </a:r>
            <a:r>
              <a:rPr sz="3000" b="1" i="0" lang="he-IL">
                <a:solidFill>
                  <a:srgbClr val="212121"/>
                </a:solidFill>
              </a:rPr>
              <a:t>טעות של אחד</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7315200" y="1828800"/>
            <a:ext cx="1280160" cy="822960"/>
          </a:xfrm>
          <a:prstGeom prst="roundRect">
            <a:avLst>
              <a:gd name="adj" fmla="val 12000"/>
            </a:avLst>
          </a:prstGeom>
          <a:solidFill>
            <a:srgbClr val="FFFFFF"/>
          </a:solidFill>
          <a:ln w="31750">
            <a:solidFill>
              <a:srgbClr val="78909C"/>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30.6</a:t>
            </a:r>
          </a:p>
        </p:txBody>
      </p:sp>
      <p:sp>
        <p:nvSpPr>
          <p:cNvPr id="6" name="Rounded Rectangle 5"/>
          <p:cNvSpPr/>
          <p:nvPr/>
        </p:nvSpPr>
        <p:spPr>
          <a:xfrm>
            <a:off x="5760720" y="1828800"/>
            <a:ext cx="1280160" cy="822960"/>
          </a:xfrm>
          <a:prstGeom prst="roundRect">
            <a:avLst>
              <a:gd name="adj" fmla="val 12000"/>
            </a:avLst>
          </a:prstGeom>
          <a:solidFill>
            <a:srgbClr val="FDE3E0"/>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1.7</a:t>
            </a:r>
          </a:p>
        </p:txBody>
      </p:sp>
      <p:sp>
        <p:nvSpPr>
          <p:cNvPr id="7" name="Rounded Rectangle 6"/>
          <p:cNvSpPr/>
          <p:nvPr/>
        </p:nvSpPr>
        <p:spPr>
          <a:xfrm>
            <a:off x="4206240" y="1828800"/>
            <a:ext cx="1280160" cy="822960"/>
          </a:xfrm>
          <a:prstGeom prst="roundRect">
            <a:avLst>
              <a:gd name="adj" fmla="val 12000"/>
            </a:avLst>
          </a:prstGeom>
          <a:solidFill>
            <a:srgbClr val="E3EE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2.7</a:t>
            </a:r>
          </a:p>
        </p:txBody>
      </p:sp>
      <p:sp>
        <p:nvSpPr>
          <p:cNvPr id="8" name="Rounded Rectangle 7"/>
          <p:cNvSpPr/>
          <p:nvPr/>
        </p:nvSpPr>
        <p:spPr>
          <a:xfrm>
            <a:off x="2651760" y="1828800"/>
            <a:ext cx="1280160" cy="822960"/>
          </a:xfrm>
          <a:prstGeom prst="roundRect">
            <a:avLst>
              <a:gd name="adj" fmla="val 12000"/>
            </a:avLst>
          </a:prstGeom>
          <a:solidFill>
            <a:srgbClr val="E3EE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a:t>
            </a:r>
          </a:p>
        </p:txBody>
      </p:sp>
      <p:sp>
        <p:nvSpPr>
          <p:cNvPr id="9" name="Rounded Rectangle 8"/>
          <p:cNvSpPr/>
          <p:nvPr/>
        </p:nvSpPr>
        <p:spPr>
          <a:xfrm>
            <a:off x="1097280" y="1828800"/>
            <a:ext cx="1280160" cy="822960"/>
          </a:xfrm>
          <a:prstGeom prst="roundRect">
            <a:avLst>
              <a:gd name="adj" fmla="val 12000"/>
            </a:avLst>
          </a:prstGeom>
          <a:solidFill>
            <a:srgbClr val="E3EE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30.9</a:t>
            </a:r>
          </a:p>
        </p:txBody>
      </p:sp>
      <p:sp>
        <p:nvSpPr>
          <p:cNvPr id="10" name="Rectangle 9"/>
          <p:cNvSpPr/>
          <p:nvPr/>
        </p:nvSpPr>
        <p:spPr>
          <a:xfrm>
            <a:off x="365760" y="3017520"/>
            <a:ext cx="4114800" cy="640080"/>
          </a:xfrm>
          <a:prstGeom prst="rect">
            <a:avLst/>
          </a:prstGeom>
          <a:solidFill>
            <a:srgbClr val="FDE3E0"/>
          </a:solidFill>
          <a:ln w="19050">
            <a:solidFill>
              <a:srgbClr val="EA4335"/>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700" b="0" i="0" lang="he-IL">
                <a:solidFill>
                  <a:srgbClr val="212121"/>
                </a:solidFill>
              </a:rPr>
              <a:t>date &gt; "2025‎-‎07‎-‎01"</a:t>
            </a:r>
          </a:p>
        </p:txBody>
      </p:sp>
      <p:sp>
        <p:nvSpPr>
          <p:cNvPr id="11" name="Rectangle 10"/>
          <p:cNvSpPr/>
          <p:nvPr/>
        </p:nvSpPr>
        <p:spPr>
          <a:xfrm>
            <a:off x="4663440" y="3017520"/>
            <a:ext cx="4114800" cy="640080"/>
          </a:xfrm>
          <a:prstGeom prst="rect">
            <a:avLst/>
          </a:prstGeom>
          <a:solidFill>
            <a:srgbClr val="E1F4E6"/>
          </a:solidFill>
          <a:ln w="19050">
            <a:solidFill>
              <a:srgbClr val="34A853"/>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700" b="0" i="0" lang="he-IL">
                <a:solidFill>
                  <a:srgbClr val="212121"/>
                </a:solidFill>
              </a:rPr>
              <a:t>date &gt;= "2025‎-‎07‎-‎01"</a:t>
            </a:r>
          </a:p>
        </p:txBody>
      </p:sp>
      <p:sp>
        <p:nvSpPr>
          <p:cNvPr id="12" name="TextBox 11"/>
          <p:cNvSpPr txBox="1"/>
          <p:nvPr/>
        </p:nvSpPr>
        <p:spPr>
          <a:xfrm>
            <a:off x="365760" y="3931920"/>
            <a:ext cx="411480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EA4335"/>
                </a:solidFill>
              </a:rPr>
              <a:t>1 ביולי לא נכלל: 10 הזמנות נעלמו.</a:t>
            </a:r>
          </a:p>
        </p:txBody>
      </p:sp>
      <p:sp>
        <p:nvSpPr>
          <p:cNvPr id="13" name="TextBox 12"/>
          <p:cNvSpPr txBox="1"/>
          <p:nvPr/>
        </p:nvSpPr>
        <p:spPr>
          <a:xfrm>
            <a:off x="4663440" y="3931920"/>
            <a:ext cx="411480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34A853"/>
                </a:solidFill>
              </a:rPr>
              <a:t>הטווח כולל את היום הראשון.</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חלק ב׳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463040"/>
            <a:ext cx="8412480" cy="2926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600" b="1" i="0" lang="he-IL">
                <a:solidFill>
                  <a:srgbClr val="4285F4"/>
                </a:solidFill>
              </a:rPr>
              <a:t>בטווח של רבעון 3 יש 778 הזמנות, אבל אחרי הצירוף לספקים יש 976 שורות. מה חשוד?</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חלק ב׳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9144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0" i="0" lang="he-IL">
                <a:solidFill>
                  <a:srgbClr val="595959"/>
                </a:solidFill>
              </a:rPr>
              <a:t>בטווח של רבעון 3 יש 778 הזמנות, אבל אחרי הצירוף לספקים יש 976 שורות. מה חשוד?</a:t>
            </a:r>
          </a:p>
        </p:txBody>
      </p:sp>
      <p:sp>
        <p:nvSpPr>
          <p:cNvPr id="6" name="TextBox 5"/>
          <p:cNvSpPr txBox="1"/>
          <p:nvPr/>
        </p:nvSpPr>
        <p:spPr>
          <a:xfrm>
            <a:off x="365760" y="2423160"/>
            <a:ext cx="8412480" cy="2651760"/>
          </a:xfrm>
          <a:prstGeom prst="rect">
            <a:avLst/>
          </a:prstGeom>
          <a:noFill/>
        </p:spPr>
        <p:txBody>
          <a:bodyPr wrap="square" lIns="73152" rIns="73152" tIns="73152" bIns="73152" anchor="t">
            <a:noAutofit/>
          </a:bodyPr>
          <a:lstStyle/>
          <a:p>
            <a:pPr rtl="1" algn="r" marL="0" indent="0">
              <a:lnSpc>
                <a:spcPct val="110000"/>
              </a:lnSpc>
              <a:spcBef>
                <a:spcPts val="0"/>
              </a:spcBef>
              <a:spcAft>
                <a:spcPts val="400"/>
              </a:spcAft>
              <a:buNone/>
            </a:pPr>
            <a:r>
              <a:rPr sz="2200" b="1" i="0" lang="he-IL">
                <a:solidFill>
                  <a:srgbClr val="34A853"/>
                </a:solidFill>
              </a:rPr>
              <a:t>תשובה: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הצירוף הכפיל שורות: כנראה שורות כפולות בטבלת הספקים.</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בודקים ייחודיות של המפתח (supplier_id) בטבלה השנייה.</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מעבדה ב׳ : הקובץ הנדרש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10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הקובץ לתרגול: HM_09.ipynb. חלק ב׳: באג שקט.</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הקובץ</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HM_09.ipynb. חלק ב׳: באג שקט</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איך פותחים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קישור או QR מהמרצה, או Upload ל־Colab. כל הדרכים במדריך Google Colab</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מה שומרים</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בסוף: ✓ בכל הבדיקות, שמירה ב־Drive והורדת הקובץ</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הנתונים כבר בתוך המחברת. קבצי פרויקט משלכם: דרך Drive או GitHub (במדריך, פרקים 4 ו־5).</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ל־HM_09.ipynb</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מעבדה ב׳ : ציד באג שקט</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10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מטרה: לשחזר באג שקט, למדוד בספירות (מפגש 7), ולבודד מקרה קטן.</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משחזרים</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buggy_report מחזיר 88,526.81 מול 177,597.89</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סופרים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count_nat, count_dup_ids: תאריכים שנעלמו ומזהים חוזרים</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מבודדים</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find_bad_rows, ומקרה מינימלי של עד 5 שורות</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לפני כל הרצה כותבים תחזית. שימו לב: אין Traceback, ולכן מודדים ולא קוראים קוד.</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HM_09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a:t>
            </a:r>
            <a:r>
              <a:rPr sz="3000" b="1" i="0" lang="he-IL">
                <a:solidFill>
                  <a:srgbClr val="212121"/>
                </a:solidFill>
              </a:rPr>
              <a:t>מעבדה ב׳</a:t>
            </a:r>
            <a:r>
              <a:rPr sz="3000" b="0" i="0" lang="he-IL">
                <a:solidFill>
                  <a:srgbClr val="212121"/>
                </a:solidFill>
              </a:rPr>
              <a:t> : רמזים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10 דקות</a:t>
            </a:r>
          </a:p>
        </p:txBody>
      </p:sp>
      <p:sp>
        <p:nvSpPr>
          <p:cNvPr id="6" name="Rounded Rectangle 5"/>
          <p:cNvSpPr/>
          <p:nvPr/>
        </p:nvSpPr>
        <p:spPr>
          <a:xfrm>
            <a:off x="365760" y="1417320"/>
            <a:ext cx="8412480" cy="731520"/>
          </a:xfrm>
          <a:prstGeom prst="roundRect">
            <a:avLst>
              <a:gd name="adj" fmla="val 12000"/>
            </a:avLst>
          </a:prstGeom>
          <a:solidFill>
            <a:srgbClr val="FFFFFF"/>
          </a:solidFill>
          <a:ln w="317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700" b="0" i="0" lang="he-IL">
                <a:solidFill>
                  <a:srgbClr val="212121"/>
                </a:solidFill>
              </a:rPr>
              <a:t>רמז 1: כמה תאריכים נקראו כ־NaT (לא תאריך)? מה המשמעות?</a:t>
            </a:r>
          </a:p>
        </p:txBody>
      </p:sp>
      <p:sp>
        <p:nvSpPr>
          <p:cNvPr id="7" name="Rounded Rectangle 6"/>
          <p:cNvSpPr/>
          <p:nvPr/>
        </p:nvSpPr>
        <p:spPr>
          <a:xfrm>
            <a:off x="365760" y="2286000"/>
            <a:ext cx="8412480" cy="731520"/>
          </a:xfrm>
          <a:prstGeom prst="roundRect">
            <a:avLst>
              <a:gd name="adj" fmla="val 12000"/>
            </a:avLst>
          </a:prstGeom>
          <a:solidFill>
            <a:srgbClr val="FFFFFF"/>
          </a:solidFill>
          <a:ln w="31750">
            <a:solidFill>
              <a:srgbClr val="0097A7"/>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700" b="0" i="0" lang="he-IL">
                <a:solidFill>
                  <a:srgbClr val="212121"/>
                </a:solidFill>
              </a:rPr>
              <a:t>רמז 2: האם order_id מופיע יותר מפעם אחת? ואיך זה משפיע על הסכום?</a:t>
            </a:r>
          </a:p>
        </p:txBody>
      </p:sp>
      <p:sp>
        <p:nvSpPr>
          <p:cNvPr id="8" name="Rounded Rectangle 7"/>
          <p:cNvSpPr/>
          <p:nvPr/>
        </p:nvSpPr>
        <p:spPr>
          <a:xfrm>
            <a:off x="365760" y="3154680"/>
            <a:ext cx="8412480" cy="731520"/>
          </a:xfrm>
          <a:prstGeom prst="roundRect">
            <a:avLst>
              <a:gd name="adj" fmla="val 12000"/>
            </a:avLst>
          </a:prstGeom>
          <a:solidFill>
            <a:srgbClr val="FFFFFF"/>
          </a:solidFill>
          <a:ln w="31750">
            <a:solidFill>
              <a:srgbClr val="FFAB40"/>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700" b="0" i="0" lang="he-IL">
                <a:solidFill>
                  <a:srgbClr val="212121"/>
                </a:solidFill>
              </a:rPr>
              <a:t>רמז 3: כמה שורות יש בטבלת הספקים, וכמה ספקים שונים?</a:t>
            </a:r>
          </a:p>
        </p:txBody>
      </p:sp>
      <p:sp>
        <p:nvSpPr>
          <p:cNvPr id="9" name="Rounded Rectangle 8"/>
          <p:cNvSpPr/>
          <p:nvPr/>
        </p:nvSpPr>
        <p:spPr>
          <a:xfrm>
            <a:off x="365760" y="4023359"/>
            <a:ext cx="8412480" cy="731520"/>
          </a:xfrm>
          <a:prstGeom prst="roundRect">
            <a:avLst>
              <a:gd name="adj" fmla="val 12000"/>
            </a:avLst>
          </a:prstGeom>
          <a:solidFill>
            <a:srgbClr val="FFFFFF"/>
          </a:solidFill>
          <a:ln w="3175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700" b="0" i="0" lang="he-IL">
                <a:solidFill>
                  <a:srgbClr val="212121"/>
                </a:solidFill>
              </a:rPr>
              <a:t>רמז 4: האם כל ההזמנות של 1 ביולי נכללו?</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מעבדה ב׳ : מה אמור לצאת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10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מה אמור לצאת: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השחזור</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פער של 89,071.08. ברבעון 278 שורות, ואחרי צירוף 346</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הספירות</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NaT: 1,847. order_id חוזרים: 40. supplier_id חוזרים: 2</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הבידוד</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בכל השורות הבעייתיות היום הוא 13 עד 31, ולכן אינו חודש</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pandas לומד את הפורמט מהשורה הראשונה. mini שמתחיל ביום מעל 12 מסתיר את הבאג.</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חלק ג׳ :</a:t>
            </a:r>
            <a:r>
              <a:rPr sz="3000" b="1" i="0" lang="he-IL">
                <a:solidFill>
                  <a:srgbClr val="212121"/>
                </a:solidFill>
              </a:rPr>
              <a:t>בקשת דיבוג טובה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412480" y="1508760"/>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1</a:t>
            </a:r>
          </a:p>
        </p:txBody>
      </p:sp>
      <p:sp>
        <p:nvSpPr>
          <p:cNvPr id="6" name="Rounded Rectangle 5"/>
          <p:cNvSpPr/>
          <p:nvPr/>
        </p:nvSpPr>
        <p:spPr>
          <a:xfrm>
            <a:off x="365760" y="1417320"/>
            <a:ext cx="7909560" cy="685800"/>
          </a:xfrm>
          <a:prstGeom prst="roundRect">
            <a:avLst>
              <a:gd name="adj" fmla="val 12000"/>
            </a:avLst>
          </a:prstGeom>
          <a:solidFill>
            <a:srgbClr val="FFFFFF"/>
          </a:solidFill>
          <a:ln w="2540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1" i="0" lang="he-IL">
                <a:solidFill>
                  <a:srgbClr val="212121"/>
                </a:solidFill>
              </a:rPr>
              <a:t>קוד</a:t>
            </a:r>
          </a:p>
          <a:p>
            <a:pPr rtl="1" algn="r" marL="0" indent="0">
              <a:lnSpc>
                <a:spcPct val="105000"/>
              </a:lnSpc>
              <a:spcBef>
                <a:spcPts val="0"/>
              </a:spcBef>
              <a:spcAft>
                <a:spcPts val="0"/>
              </a:spcAft>
              <a:buNone/>
            </a:pPr>
            <a:r>
              <a:rPr sz="1400" b="0" i="0" lang="he-IL">
                <a:solidFill>
                  <a:srgbClr val="595959"/>
                </a:solidFill>
              </a:rPr>
              <a:t>הקטע הרלוונטי בלבד</a:t>
            </a:r>
          </a:p>
        </p:txBody>
      </p:sp>
      <p:sp>
        <p:nvSpPr>
          <p:cNvPr id="7" name="Oval 6"/>
          <p:cNvSpPr/>
          <p:nvPr/>
        </p:nvSpPr>
        <p:spPr>
          <a:xfrm>
            <a:off x="8412480" y="2331720"/>
            <a:ext cx="457200" cy="457200"/>
          </a:xfrm>
          <a:prstGeom prst="ellipse">
            <a:avLst/>
          </a:prstGeom>
          <a:solidFill>
            <a:srgbClr val="EA4335"/>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2</a:t>
            </a:r>
          </a:p>
        </p:txBody>
      </p:sp>
      <p:sp>
        <p:nvSpPr>
          <p:cNvPr id="8" name="Rounded Rectangle 7"/>
          <p:cNvSpPr/>
          <p:nvPr/>
        </p:nvSpPr>
        <p:spPr>
          <a:xfrm>
            <a:off x="365760" y="2240280"/>
            <a:ext cx="7909560" cy="685800"/>
          </a:xfrm>
          <a:prstGeom prst="roundRect">
            <a:avLst>
              <a:gd name="adj" fmla="val 12000"/>
            </a:avLst>
          </a:prstGeom>
          <a:solidFill>
            <a:srgbClr val="FFFFFF"/>
          </a:solidFill>
          <a:ln w="25400">
            <a:solidFill>
              <a:srgbClr val="EA4335"/>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1" i="0" lang="he-IL">
                <a:solidFill>
                  <a:srgbClr val="212121"/>
                </a:solidFill>
              </a:rPr>
              <a:t>שגיאה או תוצאה</a:t>
            </a:r>
          </a:p>
          <a:p>
            <a:pPr rtl="1" algn="r" marL="0" indent="0">
              <a:lnSpc>
                <a:spcPct val="105000"/>
              </a:lnSpc>
              <a:spcBef>
                <a:spcPts val="0"/>
              </a:spcBef>
              <a:spcAft>
                <a:spcPts val="0"/>
              </a:spcAft>
              <a:buNone/>
            </a:pPr>
            <a:r>
              <a:rPr sz="1400" b="0" i="0" lang="he-IL">
                <a:solidFill>
                  <a:srgbClr val="595959"/>
                </a:solidFill>
              </a:rPr>
              <a:t>הטקסט המדויק</a:t>
            </a:r>
          </a:p>
        </p:txBody>
      </p:sp>
      <p:sp>
        <p:nvSpPr>
          <p:cNvPr id="9" name="Oval 8"/>
          <p:cNvSpPr/>
          <p:nvPr/>
        </p:nvSpPr>
        <p:spPr>
          <a:xfrm>
            <a:off x="8412480" y="3154680"/>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3</a:t>
            </a:r>
          </a:p>
        </p:txBody>
      </p:sp>
      <p:sp>
        <p:nvSpPr>
          <p:cNvPr id="10" name="Rounded Rectangle 9"/>
          <p:cNvSpPr/>
          <p:nvPr/>
        </p:nvSpPr>
        <p:spPr>
          <a:xfrm>
            <a:off x="365760" y="3063240"/>
            <a:ext cx="7909560" cy="685800"/>
          </a:xfrm>
          <a:prstGeom prst="roundRect">
            <a:avLst>
              <a:gd name="adj" fmla="val 12000"/>
            </a:avLst>
          </a:prstGeom>
          <a:solidFill>
            <a:srgbClr val="FFFFFF"/>
          </a:solidFill>
          <a:ln w="2540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1" i="0" lang="he-IL">
                <a:solidFill>
                  <a:srgbClr val="212121"/>
                </a:solidFill>
              </a:rPr>
              <a:t>ציפייה</a:t>
            </a:r>
          </a:p>
          <a:p>
            <a:pPr rtl="1" algn="r" marL="0" indent="0">
              <a:lnSpc>
                <a:spcPct val="105000"/>
              </a:lnSpc>
              <a:spcBef>
                <a:spcPts val="0"/>
              </a:spcBef>
              <a:spcAft>
                <a:spcPts val="0"/>
              </a:spcAft>
              <a:buNone/>
            </a:pPr>
            <a:r>
              <a:rPr sz="1400" b="0" i="0" lang="he-IL">
                <a:solidFill>
                  <a:srgbClr val="595959"/>
                </a:solidFill>
              </a:rPr>
              <a:t>מה אמור היה לקרות, עם מספר</a:t>
            </a:r>
          </a:p>
        </p:txBody>
      </p:sp>
      <p:sp>
        <p:nvSpPr>
          <p:cNvPr id="11" name="Oval 10"/>
          <p:cNvSpPr/>
          <p:nvPr/>
        </p:nvSpPr>
        <p:spPr>
          <a:xfrm>
            <a:off x="8412480" y="3977639"/>
            <a:ext cx="457200" cy="457200"/>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4</a:t>
            </a:r>
          </a:p>
        </p:txBody>
      </p:sp>
      <p:sp>
        <p:nvSpPr>
          <p:cNvPr id="12" name="Rounded Rectangle 11"/>
          <p:cNvSpPr/>
          <p:nvPr/>
        </p:nvSpPr>
        <p:spPr>
          <a:xfrm>
            <a:off x="365760" y="3886200"/>
            <a:ext cx="7909560" cy="685800"/>
          </a:xfrm>
          <a:prstGeom prst="roundRect">
            <a:avLst>
              <a:gd name="adj" fmla="val 12000"/>
            </a:avLst>
          </a:prstGeom>
          <a:solidFill>
            <a:srgbClr val="FFFFFF"/>
          </a:solidFill>
          <a:ln w="25400">
            <a:solidFill>
              <a:srgbClr val="FFAB40"/>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1" i="0" lang="he-IL">
                <a:solidFill>
                  <a:srgbClr val="212121"/>
                </a:solidFill>
              </a:rPr>
              <a:t>מה ניסיתי</a:t>
            </a:r>
          </a:p>
          <a:p>
            <a:pPr rtl="1" algn="r" marL="0" indent="0">
              <a:lnSpc>
                <a:spcPct val="105000"/>
              </a:lnSpc>
              <a:spcBef>
                <a:spcPts val="0"/>
              </a:spcBef>
              <a:spcAft>
                <a:spcPts val="0"/>
              </a:spcAft>
              <a:buNone/>
            </a:pPr>
            <a:r>
              <a:rPr sz="1400" b="0" i="0" lang="he-IL">
                <a:solidFill>
                  <a:srgbClr val="595959"/>
                </a:solidFill>
              </a:rPr>
              <a:t>ובקשה: הסבר סיבה לפני תיקון</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חלק ג׳ :</a:t>
            </a:r>
            <a:r>
              <a:rPr sz="3000" b="1" i="0" lang="he-IL">
                <a:solidFill>
                  <a:srgbClr val="212121"/>
                </a:solidFill>
              </a:rPr>
              <a:t>לולאת תיקונים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7223760" y="1371600"/>
            <a:ext cx="1554480" cy="566928"/>
          </a:xfrm>
          <a:prstGeom prst="roundRect">
            <a:avLst>
              <a:gd name="adj" fmla="val 40000"/>
            </a:avLst>
          </a:prstGeom>
          <a:solidFill>
            <a:srgbClr val="FFAB40"/>
          </a:solidFill>
          <a:ln>
            <a:no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טלאי 1</a:t>
            </a:r>
          </a:p>
        </p:txBody>
      </p:sp>
      <p:sp>
        <p:nvSpPr>
          <p:cNvPr id="6" name="Rounded Rectangle 5"/>
          <p:cNvSpPr/>
          <p:nvPr/>
        </p:nvSpPr>
        <p:spPr>
          <a:xfrm>
            <a:off x="3108960" y="1371600"/>
            <a:ext cx="4023360" cy="566928"/>
          </a:xfrm>
          <a:prstGeom prst="roundRect">
            <a:avLst>
              <a:gd name="adj" fmla="val 12000"/>
            </a:avLst>
          </a:prstGeom>
          <a:solidFill>
            <a:srgbClr val="FFF0D9"/>
          </a:solidFill>
          <a:ln>
            <a:no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מוסיף try/except כדי שלא יהיו שגיאות</a:t>
            </a:r>
          </a:p>
        </p:txBody>
      </p:sp>
      <p:sp>
        <p:nvSpPr>
          <p:cNvPr id="7" name="Rounded Rectangle 6"/>
          <p:cNvSpPr/>
          <p:nvPr/>
        </p:nvSpPr>
        <p:spPr>
          <a:xfrm>
            <a:off x="7223760" y="2084832"/>
            <a:ext cx="1554480" cy="566928"/>
          </a:xfrm>
          <a:prstGeom prst="roundRect">
            <a:avLst>
              <a:gd name="adj" fmla="val 40000"/>
            </a:avLst>
          </a:prstGeom>
          <a:solidFill>
            <a:srgbClr val="FFAB40"/>
          </a:solidFill>
          <a:ln>
            <a:no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טלאי 2</a:t>
            </a:r>
          </a:p>
        </p:txBody>
      </p:sp>
      <p:sp>
        <p:nvSpPr>
          <p:cNvPr id="8" name="Rounded Rectangle 7"/>
          <p:cNvSpPr/>
          <p:nvPr/>
        </p:nvSpPr>
        <p:spPr>
          <a:xfrm>
            <a:off x="3108960" y="2084832"/>
            <a:ext cx="4023360" cy="566928"/>
          </a:xfrm>
          <a:prstGeom prst="roundRect">
            <a:avLst>
              <a:gd name="adj" fmla="val 12000"/>
            </a:avLst>
          </a:prstGeom>
          <a:solidFill>
            <a:srgbClr val="FFF0D9"/>
          </a:solidFill>
          <a:ln>
            <a:no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מעגל מספרים</a:t>
            </a:r>
          </a:p>
        </p:txBody>
      </p:sp>
      <p:sp>
        <p:nvSpPr>
          <p:cNvPr id="9" name="Rounded Rectangle 8"/>
          <p:cNvSpPr/>
          <p:nvPr/>
        </p:nvSpPr>
        <p:spPr>
          <a:xfrm>
            <a:off x="7223760" y="2798064"/>
            <a:ext cx="1554480" cy="566928"/>
          </a:xfrm>
          <a:prstGeom prst="roundRect">
            <a:avLst>
              <a:gd name="adj" fmla="val 40000"/>
            </a:avLst>
          </a:prstGeom>
          <a:solidFill>
            <a:srgbClr val="FFAB40"/>
          </a:solidFill>
          <a:ln>
            <a:no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טלאי 3</a:t>
            </a:r>
          </a:p>
        </p:txBody>
      </p:sp>
      <p:sp>
        <p:nvSpPr>
          <p:cNvPr id="10" name="Rounded Rectangle 9"/>
          <p:cNvSpPr/>
          <p:nvPr/>
        </p:nvSpPr>
        <p:spPr>
          <a:xfrm>
            <a:off x="3108960" y="2798064"/>
            <a:ext cx="4023360" cy="566928"/>
          </a:xfrm>
          <a:prstGeom prst="roundRect">
            <a:avLst>
              <a:gd name="adj" fmla="val 12000"/>
            </a:avLst>
          </a:prstGeom>
          <a:solidFill>
            <a:srgbClr val="FFF0D9"/>
          </a:solidFill>
          <a:ln>
            <a:no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מסנן ערכים שליליים</a:t>
            </a:r>
          </a:p>
        </p:txBody>
      </p:sp>
      <p:sp>
        <p:nvSpPr>
          <p:cNvPr id="11" name="Rounded Rectangle 10"/>
          <p:cNvSpPr/>
          <p:nvPr/>
        </p:nvSpPr>
        <p:spPr>
          <a:xfrm>
            <a:off x="7223760" y="3511296"/>
            <a:ext cx="1554480" cy="566928"/>
          </a:xfrm>
          <a:prstGeom prst="roundRect">
            <a:avLst>
              <a:gd name="adj" fmla="val 40000"/>
            </a:avLst>
          </a:prstGeom>
          <a:solidFill>
            <a:srgbClr val="EA4335"/>
          </a:solidFill>
          <a:ln>
            <a:no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FFFFFF"/>
                </a:solidFill>
              </a:rPr>
              <a:t>טלאי 4</a:t>
            </a:r>
          </a:p>
        </p:txBody>
      </p:sp>
      <p:sp>
        <p:nvSpPr>
          <p:cNvPr id="12" name="Rounded Rectangle 11"/>
          <p:cNvSpPr/>
          <p:nvPr/>
        </p:nvSpPr>
        <p:spPr>
          <a:xfrm>
            <a:off x="3108960" y="3511296"/>
            <a:ext cx="4023360" cy="566928"/>
          </a:xfrm>
          <a:prstGeom prst="roundRect">
            <a:avLst>
              <a:gd name="adj" fmla="val 12000"/>
            </a:avLst>
          </a:prstGeom>
          <a:solidFill>
            <a:srgbClr val="FDE3E0"/>
          </a:solidFill>
          <a:ln>
            <a:no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מחסיר סכום קבוע כדי להתקרב</a:t>
            </a:r>
          </a:p>
        </p:txBody>
      </p:sp>
      <p:sp>
        <p:nvSpPr>
          <p:cNvPr id="13" name="Rounded Rectangle 12"/>
          <p:cNvSpPr/>
          <p:nvPr/>
        </p:nvSpPr>
        <p:spPr>
          <a:xfrm>
            <a:off x="274320" y="1371600"/>
            <a:ext cx="2651760" cy="2834640"/>
          </a:xfrm>
          <a:prstGeom prst="roundRect">
            <a:avLst>
              <a:gd name="adj" fmla="val 12000"/>
            </a:avLst>
          </a:prstGeom>
          <a:solidFill>
            <a:srgbClr val="FDE3E0"/>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EA4335"/>
                </a:solidFill>
              </a:rPr>
              <a:t>הבעיה האמיתית</a:t>
            </a:r>
          </a:p>
          <a:p>
            <a:pPr rtl="1" algn="ctr" marL="0" indent="0">
              <a:lnSpc>
                <a:spcPct val="105000"/>
              </a:lnSpc>
              <a:spcBef>
                <a:spcPts val="0"/>
              </a:spcBef>
              <a:spcAft>
                <a:spcPts val="0"/>
              </a:spcAft>
              <a:buNone/>
            </a:pPr>
            <a:r>
              <a:rPr sz="1500" b="0" i="0" lang="he-IL">
                <a:solidFill>
                  <a:srgbClr val="212121"/>
                </a:solidFill>
              </a:rPr>
              <a:t>תאריכים שנקראו הפוך ושורות כפולות</a:t>
            </a:r>
          </a:p>
          <a:p>
            <a:pPr rtl="1" algn="ctr" marL="0" indent="0">
              <a:lnSpc>
                <a:spcPct val="105000"/>
              </a:lnSpc>
              <a:spcBef>
                <a:spcPts val="0"/>
              </a:spcBef>
              <a:spcAft>
                <a:spcPts val="0"/>
              </a:spcAft>
              <a:buNone/>
            </a:pPr>
            <a:r>
              <a:rPr sz="1800" b="1" i="0" lang="he-IL">
                <a:solidFill>
                  <a:srgbClr val="EA4335"/>
                </a:solidFill>
              </a:rPr>
              <a:t>לא נגעו בה</a:t>
            </a:r>
          </a:p>
        </p:txBody>
      </p:sp>
      <p:sp>
        <p:nvSpPr>
          <p:cNvPr id="14" name="TextBox 13"/>
          <p:cNvSpPr txBox="1"/>
          <p:nvPr/>
        </p:nvSpPr>
        <p:spPr>
          <a:xfrm>
            <a:off x="365760" y="4389120"/>
            <a:ext cx="8412480" cy="6400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1" i="0" lang="he-IL">
                <a:solidFill>
                  <a:srgbClr val="212121"/>
                </a:solidFill>
              </a:rPr>
              <a:t>(תרחיש להמחשה) כל טלאי מוסיף קוד ולא פותר את הבעיה.</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חלק ג׳ :</a:t>
            </a:r>
            <a:r>
              <a:rPr sz="3000" b="1" i="0" lang="he-IL">
                <a:solidFill>
                  <a:srgbClr val="212121"/>
                </a:solidFill>
              </a:rPr>
              <a:t>כלל העצירה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949440" y="1645920"/>
            <a:ext cx="1828800" cy="128016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ניסיון 1</a:t>
            </a:r>
          </a:p>
          <a:p>
            <a:pPr rtl="1" algn="ctr" marL="0" indent="0">
              <a:lnSpc>
                <a:spcPct val="105000"/>
              </a:lnSpc>
              <a:spcBef>
                <a:spcPts val="0"/>
              </a:spcBef>
              <a:spcAft>
                <a:spcPts val="0"/>
              </a:spcAft>
              <a:buNone/>
            </a:pPr>
            <a:r>
              <a:rPr sz="1600" b="1" i="0" lang="he-IL">
                <a:solidFill>
                  <a:srgbClr val="212121"/>
                </a:solidFill>
              </a:rPr>
              <a:t>נכשל</a:t>
            </a:r>
          </a:p>
        </p:txBody>
      </p:sp>
      <p:cxnSp>
        <p:nvCxnSpPr>
          <p:cNvPr id="6" name="Connector 5"/>
          <p:cNvCxnSpPr/>
          <p:nvPr/>
        </p:nvCxnSpPr>
        <p:spPr>
          <a:xfrm flipH="1">
            <a:off x="6647688" y="2286000"/>
            <a:ext cx="28346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800600" y="1645920"/>
            <a:ext cx="1828800" cy="128016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ניסיון 2</a:t>
            </a:r>
          </a:p>
          <a:p>
            <a:pPr rtl="1" algn="ctr" marL="0" indent="0">
              <a:lnSpc>
                <a:spcPct val="105000"/>
              </a:lnSpc>
              <a:spcBef>
                <a:spcPts val="0"/>
              </a:spcBef>
              <a:spcAft>
                <a:spcPts val="0"/>
              </a:spcAft>
              <a:buNone/>
            </a:pPr>
            <a:r>
              <a:rPr sz="1600" b="1" i="0" lang="he-IL">
                <a:solidFill>
                  <a:srgbClr val="212121"/>
                </a:solidFill>
              </a:rPr>
              <a:t>נכשל</a:t>
            </a:r>
          </a:p>
        </p:txBody>
      </p:sp>
      <p:cxnSp>
        <p:nvCxnSpPr>
          <p:cNvPr id="8" name="Connector 7"/>
          <p:cNvCxnSpPr/>
          <p:nvPr/>
        </p:nvCxnSpPr>
        <p:spPr>
          <a:xfrm flipH="1">
            <a:off x="4498848" y="2286000"/>
            <a:ext cx="28346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651760" y="1645920"/>
            <a:ext cx="1828800" cy="1280160"/>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עוצרים</a:t>
            </a:r>
          </a:p>
        </p:txBody>
      </p:sp>
      <p:cxnSp>
        <p:nvCxnSpPr>
          <p:cNvPr id="10" name="Connector 9"/>
          <p:cNvCxnSpPr/>
          <p:nvPr/>
        </p:nvCxnSpPr>
        <p:spPr>
          <a:xfrm flipH="1">
            <a:off x="2350008" y="2286000"/>
            <a:ext cx="28346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19" y="1645920"/>
            <a:ext cx="1828800" cy="128016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שיחה חדשה</a:t>
            </a:r>
          </a:p>
          <a:p>
            <a:pPr rtl="1" algn="ctr" marL="0" indent="0">
              <a:lnSpc>
                <a:spcPct val="105000"/>
              </a:lnSpc>
              <a:spcBef>
                <a:spcPts val="0"/>
              </a:spcBef>
              <a:spcAft>
                <a:spcPts val="0"/>
              </a:spcAft>
              <a:buNone/>
            </a:pPr>
            <a:r>
              <a:rPr sz="1600" b="1" i="0" lang="he-IL">
                <a:solidFill>
                  <a:srgbClr val="212121"/>
                </a:solidFill>
              </a:rPr>
              <a:t>עם סיכום</a:t>
            </a:r>
          </a:p>
        </p:txBody>
      </p:sp>
      <p:sp>
        <p:nvSpPr>
          <p:cNvPr id="12" name="Rounded Rectangle 11"/>
          <p:cNvSpPr/>
          <p:nvPr/>
        </p:nvSpPr>
        <p:spPr>
          <a:xfrm>
            <a:off x="365760" y="3383280"/>
            <a:ext cx="8412480" cy="137160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212121"/>
                </a:solidFill>
              </a:rPr>
              <a:t>סיכום קצר לשיחה החדשה:</a:t>
            </a:r>
          </a:p>
          <a:p>
            <a:pPr rtl="1" algn="ctr" marL="0" indent="0">
              <a:lnSpc>
                <a:spcPct val="105000"/>
              </a:lnSpc>
              <a:spcBef>
                <a:spcPts val="0"/>
              </a:spcBef>
              <a:spcAft>
                <a:spcPts val="0"/>
              </a:spcAft>
              <a:buNone/>
            </a:pPr>
            <a:r>
              <a:rPr sz="1600" b="0" i="0" lang="he-IL">
                <a:solidFill>
                  <a:srgbClr val="595959"/>
                </a:solidFill>
              </a:rPr>
              <a:t>מה צפוי, מה בפועל, מה כבר נבדק, ומה ההשערה הנוכחית. ללא ההיסטוריה הארוכה.</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חלק ג׳ :</a:t>
            </a:r>
            <a:r>
              <a:rPr sz="3000" b="1" i="0" lang="he-IL">
                <a:solidFill>
                  <a:srgbClr val="212121"/>
                </a:solidFill>
              </a:rPr>
              <a:t>סולם 5 למה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548639" y="1417320"/>
            <a:ext cx="8229600" cy="566928"/>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הסכום נמוך בכ־50 אחוז</a:t>
            </a:r>
          </a:p>
        </p:txBody>
      </p:sp>
      <p:sp>
        <p:nvSpPr>
          <p:cNvPr id="6" name="Rounded Rectangle 5"/>
          <p:cNvSpPr/>
          <p:nvPr/>
        </p:nvSpPr>
        <p:spPr>
          <a:xfrm>
            <a:off x="1051560" y="2103120"/>
            <a:ext cx="7726679" cy="566928"/>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1. תאריכים רבים נקראו כ־NaT והוסרו</a:t>
            </a:r>
          </a:p>
        </p:txBody>
      </p:sp>
      <p:sp>
        <p:nvSpPr>
          <p:cNvPr id="7" name="Rounded Rectangle 6"/>
          <p:cNvSpPr/>
          <p:nvPr/>
        </p:nvSpPr>
        <p:spPr>
          <a:xfrm>
            <a:off x="1554479" y="2788920"/>
            <a:ext cx="7223760" cy="566928"/>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2. הקוד לא ציין פורמט תאריך</a:t>
            </a:r>
          </a:p>
        </p:txBody>
      </p:sp>
      <p:sp>
        <p:nvSpPr>
          <p:cNvPr id="8" name="Rounded Rectangle 7"/>
          <p:cNvSpPr/>
          <p:nvPr/>
        </p:nvSpPr>
        <p:spPr>
          <a:xfrm>
            <a:off x="2057400" y="3474720"/>
            <a:ext cx="6720840" cy="566928"/>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3. ה־AI הניח פורמט ברירת מחדל</a:t>
            </a:r>
          </a:p>
        </p:txBody>
      </p:sp>
      <p:sp>
        <p:nvSpPr>
          <p:cNvPr id="9" name="Rounded Rectangle 8"/>
          <p:cNvSpPr/>
          <p:nvPr/>
        </p:nvSpPr>
        <p:spPr>
          <a:xfrm>
            <a:off x="2560320" y="4160520"/>
            <a:ext cx="6217920" cy="566928"/>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4. בקשה לא כללה את דוגמת הנתונים</a:t>
            </a:r>
          </a:p>
        </p:txBody>
      </p:sp>
      <p:sp>
        <p:nvSpPr>
          <p:cNvPr id="10" name="TextBox 9"/>
          <p:cNvSpPr txBox="1"/>
          <p:nvPr/>
        </p:nvSpPr>
        <p:spPr>
          <a:xfrm>
            <a:off x="365760" y="4800600"/>
            <a:ext cx="8412480" cy="3200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1" i="0" lang="he-IL">
                <a:solidFill>
                  <a:srgbClr val="34A853"/>
                </a:solidFill>
              </a:rPr>
              <a:t>המניעה: להוסיף לבקשה דוגמת נתונים, ולציין פורמט במפורש.</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חלק ג׳ :תיקון אחד, מדידה אחת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25880"/>
            <a:ext cx="8412480" cy="82296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500" b="1" i="0" lang="he-IL">
                <a:solidFill>
                  <a:srgbClr val="EA4335"/>
                </a:solidFill>
              </a:rPr>
              <a:t>יעד: 100. אחרי תיקון 1 קיבלנו 140. אחרי תיקון 2: 100.</a:t>
            </a:r>
          </a:p>
        </p:txBody>
      </p:sp>
      <p:sp>
        <p:nvSpPr>
          <p:cNvPr id="6" name="Rounded Rectangle 5"/>
          <p:cNvSpPr/>
          <p:nvPr/>
        </p:nvSpPr>
        <p:spPr>
          <a:xfrm>
            <a:off x="6172200" y="2194560"/>
            <a:ext cx="2697480" cy="246888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7" name="TextBox 6"/>
          <p:cNvSpPr txBox="1"/>
          <p:nvPr/>
        </p:nvSpPr>
        <p:spPr>
          <a:xfrm>
            <a:off x="6172200" y="2232000"/>
            <a:ext cx="2697480" cy="576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8" name="TextBox 7"/>
          <p:cNvSpPr txBox="1"/>
          <p:nvPr/>
        </p:nvSpPr>
        <p:spPr>
          <a:xfrm>
            <a:off x="6263640" y="2844000"/>
            <a:ext cx="2514600" cy="503999"/>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שינוי אחד בכל צעד</a:t>
            </a:r>
          </a:p>
        </p:txBody>
      </p:sp>
      <p:sp>
        <p:nvSpPr>
          <p:cNvPr id="9" name="TextBox 8"/>
          <p:cNvSpPr txBox="1"/>
          <p:nvPr/>
        </p:nvSpPr>
        <p:spPr>
          <a:xfrm>
            <a:off x="6309360" y="3384000"/>
            <a:ext cx="2423160" cy="1224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0" i="0" lang="he-IL">
                <a:solidFill>
                  <a:srgbClr val="212121"/>
                </a:solidFill>
              </a:rPr>
              <a:t>כך יודעים איזה תיקון עזר, ואיזה הזיק</a:t>
            </a:r>
          </a:p>
        </p:txBody>
      </p:sp>
      <p:sp>
        <p:nvSpPr>
          <p:cNvPr id="10" name="Rounded Rectangle 9"/>
          <p:cNvSpPr/>
          <p:nvPr/>
        </p:nvSpPr>
        <p:spPr>
          <a:xfrm>
            <a:off x="3246120" y="2194560"/>
            <a:ext cx="2697480" cy="246888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1" name="TextBox 10"/>
          <p:cNvSpPr txBox="1"/>
          <p:nvPr/>
        </p:nvSpPr>
        <p:spPr>
          <a:xfrm>
            <a:off x="3246120" y="2232000"/>
            <a:ext cx="2697480" cy="576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12" name="TextBox 11"/>
          <p:cNvSpPr txBox="1"/>
          <p:nvPr/>
        </p:nvSpPr>
        <p:spPr>
          <a:xfrm>
            <a:off x="3337560" y="2844000"/>
            <a:ext cx="2514600" cy="503999"/>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מדידה אחרי כל שינוי</a:t>
            </a:r>
          </a:p>
        </p:txBody>
      </p:sp>
      <p:sp>
        <p:nvSpPr>
          <p:cNvPr id="13" name="TextBox 12"/>
          <p:cNvSpPr txBox="1"/>
          <p:nvPr/>
        </p:nvSpPr>
        <p:spPr>
          <a:xfrm>
            <a:off x="3383279" y="3384000"/>
            <a:ext cx="2423160" cy="1224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0" i="0" lang="he-IL">
                <a:solidFill>
                  <a:srgbClr val="212121"/>
                </a:solidFill>
              </a:rPr>
              <a:t>סכום וספירת שורות, מול מקור חיצוני</a:t>
            </a:r>
          </a:p>
        </p:txBody>
      </p:sp>
      <p:sp>
        <p:nvSpPr>
          <p:cNvPr id="14" name="Rounded Rectangle 13"/>
          <p:cNvSpPr/>
          <p:nvPr/>
        </p:nvSpPr>
        <p:spPr>
          <a:xfrm>
            <a:off x="320039" y="2194560"/>
            <a:ext cx="2697480" cy="246888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5" name="TextBox 14"/>
          <p:cNvSpPr txBox="1"/>
          <p:nvPr/>
        </p:nvSpPr>
        <p:spPr>
          <a:xfrm>
            <a:off x="320039" y="2232000"/>
            <a:ext cx="2697480" cy="576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16" name="TextBox 15"/>
          <p:cNvSpPr txBox="1"/>
          <p:nvPr/>
        </p:nvSpPr>
        <p:spPr>
          <a:xfrm>
            <a:off x="411479" y="2844000"/>
            <a:ext cx="2514600" cy="503999"/>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קרוב אינו נכון</a:t>
            </a:r>
          </a:p>
        </p:txBody>
      </p:sp>
      <p:sp>
        <p:nvSpPr>
          <p:cNvPr id="17" name="TextBox 16"/>
          <p:cNvSpPr txBox="1"/>
          <p:nvPr/>
        </p:nvSpPr>
        <p:spPr>
          <a:xfrm>
            <a:off x="457199" y="3384000"/>
            <a:ext cx="2423160" cy="1224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0" i="0" lang="he-IL">
                <a:solidFill>
                  <a:srgbClr val="212121"/>
                </a:solidFill>
              </a:rPr>
              <a:t>הסכום יכול לקפוץ מעבר ליעד ורק אז לחזור</a:t>
            </a:r>
          </a:p>
        </p:txBody>
      </p:sp>
      <p:sp>
        <p:nvSpPr>
          <p:cNvPr id="18" name="TextBox 17"/>
          <p:cNvSpPr txBox="1"/>
          <p:nvPr/>
        </p:nvSpPr>
        <p:spPr>
          <a:xfrm>
            <a:off x="365760" y="475488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1" i="0" lang="he-IL">
                <a:solidFill>
                  <a:srgbClr val="EA4335"/>
                </a:solidFill>
              </a:rPr>
              <a:t>בלי מדידה בין התיקונים אי אפשר לדעת איזה תיקון עזר.</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חלק ג׳ :</a:t>
            </a:r>
            <a:r>
              <a:rPr sz="3000" b="1" i="0" lang="he-IL">
                <a:solidFill>
                  <a:srgbClr val="212121"/>
                </a:solidFill>
              </a:rPr>
              <a:t>בדיקת רגרסיה והודעת commit</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1463040"/>
          </a:xfrm>
          <a:prstGeom prst="rect">
            <a:avLst/>
          </a:prstGeom>
          <a:solidFill>
            <a:srgbClr val="F4F4F4"/>
          </a:solidFill>
          <a:ln w="9525">
            <a:solidFill>
              <a:srgbClr val="DDDDDD"/>
            </a:solidFill>
          </a:ln>
        </p:spPr>
        <p:txBody>
          <a:bodyPr wrap="square" lIns="109728" rIns="109728" tIns="109728" bIns="109728" anchor="t">
            <a:noAutofit/>
          </a:bodyPr>
          <a:lstStyle/>
          <a:p>
            <a:pPr rtl="0" algn="l" marL="0" indent="0">
              <a:lnSpc>
                <a:spcPct val="110000"/>
              </a:lnSpc>
              <a:spcBef>
                <a:spcPts val="0"/>
              </a:spcBef>
              <a:spcAft>
                <a:spcPts val="0"/>
              </a:spcAft>
              <a:buNone/>
            </a:pPr>
            <a:r>
              <a:rPr sz="1400" b="0" i="0" lang="he-IL">
                <a:solidFill>
                  <a:srgbClr val="212121"/>
                </a:solidFill>
                <a:latin typeface="Courier New"/>
                <a:ea typeface="Courier New"/>
                <a:cs typeface="Courier New"/>
              </a:rPr>
              <a:t>def test_total_matches_accounting():</a:t>
            </a:r>
          </a:p>
          <a:p>
            <a:pPr rtl="0" algn="l" marL="0" indent="0">
              <a:lnSpc>
                <a:spcPct val="110000"/>
              </a:lnSpc>
              <a:spcBef>
                <a:spcPts val="0"/>
              </a:spcBef>
              <a:spcAft>
                <a:spcPts val="0"/>
              </a:spcAft>
              <a:buNone/>
            </a:pPr>
            <a:r>
              <a:rPr sz="1400" b="0" i="0" lang="he-IL">
                <a:solidFill>
                  <a:srgbClr val="212121"/>
                </a:solidFill>
                <a:latin typeface="Courier New"/>
                <a:ea typeface="Courier New"/>
                <a:cs typeface="Courier New"/>
              </a:rPr>
              <a:t>    df = q3_revenue()</a:t>
            </a:r>
          </a:p>
          <a:p>
            <a:pPr rtl="0" algn="l" marL="0" indent="0">
              <a:lnSpc>
                <a:spcPct val="110000"/>
              </a:lnSpc>
              <a:spcBef>
                <a:spcPts val="0"/>
              </a:spcBef>
              <a:spcAft>
                <a:spcPts val="0"/>
              </a:spcAft>
              <a:buNone/>
            </a:pPr>
            <a:r>
              <a:rPr sz="1400" b="0" i="0" lang="he-IL">
                <a:solidFill>
                  <a:srgbClr val="212121"/>
                </a:solidFill>
                <a:latin typeface="Courier New"/>
                <a:ea typeface="Courier New"/>
                <a:cs typeface="Courier New"/>
              </a:rPr>
              <a:t>    assert round(df['revenue'].sum(), 2) == 177597.89</a:t>
            </a:r>
          </a:p>
        </p:txBody>
      </p:sp>
      <p:sp>
        <p:nvSpPr>
          <p:cNvPr id="6" name="Rounded Rectangle 5"/>
          <p:cNvSpPr/>
          <p:nvPr/>
        </p:nvSpPr>
        <p:spPr>
          <a:xfrm>
            <a:off x="365760" y="3063240"/>
            <a:ext cx="8412480" cy="73152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500" b="0" i="0" lang="he-IL">
                <a:solidFill>
                  <a:srgbClr val="212121"/>
                </a:solidFill>
              </a:rPr>
              <a:t>Fix Q3 report: parse dd/mm/yyyy dates, include July 1,</a:t>
            </a:r>
          </a:p>
          <a:p>
            <a:pPr rtl="0" algn="l" marL="0" indent="0">
              <a:lnSpc>
                <a:spcPct val="105000"/>
              </a:lnSpc>
              <a:spcBef>
                <a:spcPts val="0"/>
              </a:spcBef>
              <a:spcAft>
                <a:spcPts val="0"/>
              </a:spcAft>
              <a:buNone/>
            </a:pPr>
            <a:r>
              <a:rPr sz="1500" b="0" i="0" lang="he-IL">
                <a:solidFill>
                  <a:srgbClr val="212121"/>
                </a:solidFill>
              </a:rPr>
              <a:t>drop duplicate orders and suppliers</a:t>
            </a:r>
          </a:p>
        </p:txBody>
      </p:sp>
      <p:sp>
        <p:nvSpPr>
          <p:cNvPr id="7" name="TextBox 6"/>
          <p:cNvSpPr txBox="1"/>
          <p:nvPr/>
        </p:nvSpPr>
        <p:spPr>
          <a:xfrm>
            <a:off x="365760" y="3977639"/>
            <a:ext cx="841248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800" b="1" i="0" lang="he-IL">
                <a:solidFill>
                  <a:srgbClr val="212121"/>
                </a:solidFill>
              </a:rPr>
              <a:t>הבדיקה תתפוס את הבאג אם יחזור. ההודעה תסביר למה הקוד השתנה.</a:t>
            </a:r>
          </a:p>
        </p:txBody>
      </p:sp>
      <p:sp>
        <p:nvSpPr>
          <p:cNvPr id="8" name="Recall tag"/>
          <p:cNvSpPr/>
          <p:nvPr/>
        </p:nvSpPr>
        <p:spPr>
          <a:xfrm>
            <a:off x="109728" y="91440"/>
            <a:ext cx="2300000" cy="384048"/>
          </a:xfrm>
          <a:prstGeom prst="roundRect">
            <a:avLst>
              <a:gd name="adj" fmla="val 40000"/>
            </a:avLst>
          </a:prstGeom>
          <a:solidFill>
            <a:srgbClr val="E3F2FD"/>
          </a:solidFill>
          <a:ln w="19050">
            <a:solidFill>
              <a:srgbClr val="42A5F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300" b="1" i="0" lang="he-IL">
                <a:solidFill>
                  <a:srgbClr val="212121"/>
                </a:solidFill>
              </a:rPr>
              <a:t>חזרה ממפגשים 6 ו־8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חלק ג׳ :</a:t>
            </a:r>
            <a:r>
              <a:rPr sz="3000" b="1" i="0" lang="he-IL">
                <a:solidFill>
                  <a:srgbClr val="212121"/>
                </a:solidFill>
              </a:rPr>
              <a:t>תחקיר באג</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417320"/>
          <a:ext cx="8412480" cy="3429000"/>
        </p:xfrm>
        <a:graphic>
          <a:graphicData uri="http://schemas.openxmlformats.org/drawingml/2006/table">
            <a:tbl>
              <a:tblPr firstRow="0" bandRow="0">
                <a:tableStyleId>{2D5ABB26-0587-4C30-8999-92F81FD0307C}</a:tableStyleId>
              </a:tblPr>
              <a:tblGrid>
                <a:gridCol w="6217920"/>
                <a:gridCol w="2194560"/>
              </a:tblGrid>
              <a:tr h="685800">
                <a:tc>
                  <a:txBody>
                    <a:bodyPr wrap="square"/>
                    <a:lstStyle/>
                    <a:p>
                      <a:pPr rtl="1" algn="r" marL="0" indent="0">
                        <a:lnSpc>
                          <a:spcPct val="100000"/>
                        </a:lnSpc>
                        <a:spcBef>
                          <a:spcPts val="0"/>
                        </a:spcBef>
                        <a:spcAft>
                          <a:spcPts val="0"/>
                        </a:spcAft>
                        <a:buNone/>
                      </a:pPr>
                      <a:r>
                        <a:rPr sz="1800" b="0" i="0" lang="he-IL">
                          <a:solidFill>
                            <a:srgbClr val="212121"/>
                          </a:solidFill>
                        </a:rPr>
                        <a:t>בשורה אחת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800" b="1" i="0" lang="he-IL">
                          <a:solidFill>
                            <a:srgbClr val="212121"/>
                          </a:solidFill>
                        </a:rPr>
                        <a:t>מה קרה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85800">
                <a:tc>
                  <a:txBody>
                    <a:bodyPr wrap="square"/>
                    <a:lstStyle/>
                    <a:p>
                      <a:pPr rtl="1" algn="r" marL="0" indent="0">
                        <a:lnSpc>
                          <a:spcPct val="100000"/>
                        </a:lnSpc>
                        <a:spcBef>
                          <a:spcPts val="0"/>
                        </a:spcBef>
                        <a:spcAft>
                          <a:spcPts val="0"/>
                        </a:spcAft>
                        <a:buNone/>
                      </a:pPr>
                      <a:r>
                        <a:rPr sz="1800" b="0" i="0" lang="he-IL">
                          <a:solidFill>
                            <a:srgbClr val="212121"/>
                          </a:solidFill>
                        </a:rPr>
                        <a:t>בדיקת שפיות או משתמש</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800" b="1" i="0" lang="he-IL">
                          <a:solidFill>
                            <a:srgbClr val="212121"/>
                          </a:solidFill>
                        </a:rPr>
                        <a:t>איך גילינו</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85800">
                <a:tc>
                  <a:txBody>
                    <a:bodyPr wrap="square"/>
                    <a:lstStyle/>
                    <a:p>
                      <a:pPr rtl="1" algn="r" marL="0" indent="0">
                        <a:lnSpc>
                          <a:spcPct val="100000"/>
                        </a:lnSpc>
                        <a:spcBef>
                          <a:spcPts val="0"/>
                        </a:spcBef>
                        <a:spcAft>
                          <a:spcPts val="0"/>
                        </a:spcAft>
                        <a:buNone/>
                      </a:pPr>
                      <a:r>
                        <a:rPr sz="1800" b="0" i="0" lang="he-IL">
                          <a:solidFill>
                            <a:srgbClr val="212121"/>
                          </a:solidFill>
                        </a:rPr>
                        <a:t>הסיבה, לא הסימפטום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800" b="1" i="0" lang="he-IL">
                          <a:solidFill>
                            <a:srgbClr val="212121"/>
                          </a:solidFill>
                        </a:rPr>
                        <a:t>שורש הבעיה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DE3E0"/>
                    </a:solidFill>
                  </a:tcPr>
                </a:tc>
              </a:tr>
              <a:tr h="685800">
                <a:tc>
                  <a:txBody>
                    <a:bodyPr wrap="square"/>
                    <a:lstStyle/>
                    <a:p>
                      <a:pPr rtl="1" algn="r" marL="0" indent="0">
                        <a:lnSpc>
                          <a:spcPct val="100000"/>
                        </a:lnSpc>
                        <a:spcBef>
                          <a:spcPts val="0"/>
                        </a:spcBef>
                        <a:spcAft>
                          <a:spcPts val="0"/>
                        </a:spcAft>
                        <a:buNone/>
                      </a:pPr>
                      <a:r>
                        <a:rPr sz="1800" b="0" i="0" lang="he-IL">
                          <a:solidFill>
                            <a:srgbClr val="212121"/>
                          </a:solidFill>
                        </a:rPr>
                        <a:t>מה שונה ולמה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800" b="1" i="0" lang="he-IL">
                          <a:solidFill>
                            <a:srgbClr val="212121"/>
                          </a:solidFill>
                        </a:rPr>
                        <a:t>התיקון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85800">
                <a:tc>
                  <a:txBody>
                    <a:bodyPr wrap="square"/>
                    <a:lstStyle/>
                    <a:p>
                      <a:pPr rtl="1" algn="r" marL="0" indent="0">
                        <a:lnSpc>
                          <a:spcPct val="100000"/>
                        </a:lnSpc>
                        <a:spcBef>
                          <a:spcPts val="0"/>
                        </a:spcBef>
                        <a:spcAft>
                          <a:spcPts val="0"/>
                        </a:spcAft>
                        <a:buNone/>
                      </a:pPr>
                      <a:r>
                        <a:rPr sz="1800" b="0" i="0" lang="he-IL">
                          <a:solidFill>
                            <a:srgbClr val="212121"/>
                          </a:solidFill>
                        </a:rPr>
                        <a:t>בדיקה או כלל חדש</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800" b="1" i="0" lang="he-IL">
                          <a:solidFill>
                            <a:srgbClr val="212121"/>
                          </a:solidFill>
                        </a:rPr>
                        <a:t>מניעה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חלק ג׳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463040"/>
            <a:ext cx="8412480" cy="2926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600" b="1" i="0" lang="he-IL">
                <a:solidFill>
                  <a:srgbClr val="4285F4"/>
                </a:solidFill>
              </a:rPr>
              <a:t>ה־AI תיקן את הבאג בשלישית, אבל הקוד גדל ב־40 שורות. מה אתם בודקים?</a:t>
            </a:r>
          </a:p>
        </p:txBody>
      </p:sp>
      <p:sp>
        <p:nvSpPr>
          <p:cNvPr id="6" name="Tag"/>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חלק ג׳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9144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0" i="0" lang="he-IL">
                <a:solidFill>
                  <a:srgbClr val="595959"/>
                </a:solidFill>
              </a:rPr>
              <a:t>ה־AI תיקן את הבאג בשלישית, אבל הקוד גדל ב־40 שורות. מה אתם בודקים?</a:t>
            </a:r>
          </a:p>
        </p:txBody>
      </p:sp>
      <p:sp>
        <p:nvSpPr>
          <p:cNvPr id="6" name="TextBox 5"/>
          <p:cNvSpPr txBox="1"/>
          <p:nvPr/>
        </p:nvSpPr>
        <p:spPr>
          <a:xfrm>
            <a:off x="365760" y="2423160"/>
            <a:ext cx="8412480" cy="2651760"/>
          </a:xfrm>
          <a:prstGeom prst="rect">
            <a:avLst/>
          </a:prstGeom>
          <a:noFill/>
        </p:spPr>
        <p:txBody>
          <a:bodyPr wrap="square" lIns="73152" rIns="73152" tIns="73152" bIns="73152" anchor="t">
            <a:noAutofit/>
          </a:bodyPr>
          <a:lstStyle/>
          <a:p>
            <a:pPr rtl="1" algn="r" marL="0" indent="0">
              <a:lnSpc>
                <a:spcPct val="110000"/>
              </a:lnSpc>
              <a:spcBef>
                <a:spcPts val="0"/>
              </a:spcBef>
              <a:spcAft>
                <a:spcPts val="400"/>
              </a:spcAft>
              <a:buNone/>
            </a:pPr>
            <a:r>
              <a:rPr sz="2200" b="1" i="0" lang="he-IL">
                <a:solidFill>
                  <a:srgbClr val="34A853"/>
                </a:solidFill>
              </a:rPr>
              <a:t>תשובה: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האם התיקון מטפל בשורש או בסימפטום (טלאים).</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קוראים את ה־diff, מוודאים שיש בדיקת רגרסיה, ושהטלאים מיותרים.</a:t>
            </a:r>
          </a:p>
        </p:txBody>
      </p:sp>
      <p:sp>
        <p:nvSpPr>
          <p:cNvPr id="7" name="Tag"/>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מעבדה ג׳ : הקובץ הנדרש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18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הקובץ לתרגול: HM_09.ipynb. חלקים ג׳-ו׳: תיקון ובדיקה.</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הקובץ</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HM_09.ipynb. חלקים ג׳-ו׳: תיקון ובדיקה</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איך פותחים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קישור או QR מהמרצה, או Upload ל־Colab. כל הדרכים במדריך Google Colab</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מה שומרים</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בסוף: ✓ בכל הבדיקות, שמירה ב־Drive והורדת הקובץ</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הנתונים כבר בתוך המחברת. קבצי פרויקט משלכם: דרך Drive או GitHub (במדריך, פרקים 4 ו־5).</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ל־HM_09.ipynb</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מעבדה ג׳ : מתקנים ובודקים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18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מטרה: לתקן ארבע סיבות, לאמת כל תיקון ולהוסיף בדיקת רגרסיה (מפגש 8).</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ארבעה תיקונים</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parse_dates, in_q3, drop_dup_orders, drop_dup_suppliers</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פנקס תיקונים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הסכום אחרי כל תיקון, מול סכום הביקורת 177,597.89</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בדיקת רגרסיה</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test_regression נכשלת על כל גרסה פגומה, ועוברת על המתוקנת</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שלב 6 בחלק ג׳ (תחקיר ו־commit) אפשר בבית. אחריו חלקים ד׳ עד ו׳: טקסונומיה, דיבוג משותף ומסקנה.</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HM_09</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מעבדה ג׳ : פנקס התיקונים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18 דקות</a:t>
            </a:r>
          </a:p>
        </p:txBody>
      </p:sp>
      <p:graphicFrame>
        <p:nvGraphicFramePr>
          <p:cNvPr id="6" name="Table 5"/>
          <p:cNvGraphicFramePr>
            <a:graphicFrameLocks noGrp="1"/>
          </p:cNvGraphicFramePr>
          <p:nvPr/>
        </p:nvGraphicFramePr>
        <p:xfrm>
          <a:off x="365760" y="1371600"/>
          <a:ext cx="8412480" cy="3401568"/>
        </p:xfrm>
        <a:graphic>
          <a:graphicData uri="http://schemas.openxmlformats.org/drawingml/2006/table">
            <a:tbl>
              <a:tblPr firstRow="0" bandRow="0">
                <a:tableStyleId>{2D5ABB26-0587-4C30-8999-92F81FD0307C}</a:tableStyleId>
              </a:tblPr>
              <a:tblGrid>
                <a:gridCol w="1828800"/>
                <a:gridCol w="2377440"/>
                <a:gridCol w="4206240"/>
              </a:tblGrid>
              <a:tr h="566928">
                <a:tc>
                  <a:txBody>
                    <a:bodyPr wrap="square"/>
                    <a:lstStyle/>
                    <a:p>
                      <a:pPr rtl="1" algn="ctr" marL="0" indent="0">
                        <a:lnSpc>
                          <a:spcPct val="100000"/>
                        </a:lnSpc>
                        <a:spcBef>
                          <a:spcPts val="0"/>
                        </a:spcBef>
                        <a:spcAft>
                          <a:spcPts val="0"/>
                        </a:spcAft>
                        <a:buNone/>
                      </a:pPr>
                      <a:r>
                        <a:rPr sz="1600" b="1" i="0" lang="he-IL">
                          <a:solidFill>
                            <a:srgbClr val="212121"/>
                          </a:solidFill>
                        </a:rPr>
                        <a:t>הזמנות ב־Q3</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600" b="1" i="0" lang="he-IL">
                          <a:solidFill>
                            <a:srgbClr val="212121"/>
                          </a:solidFill>
                        </a:rPr>
                        <a:t>סכום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600" b="1" i="0" lang="he-IL">
                          <a:solidFill>
                            <a:srgbClr val="212121"/>
                          </a:solidFill>
                        </a:rPr>
                        <a:t>אחרי תיקון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566928">
                <a:tc>
                  <a:txBody>
                    <a:bodyPr wrap="square"/>
                    <a:lstStyle/>
                    <a:p>
                      <a:pPr rtl="1" algn="r" marL="0" indent="0">
                        <a:lnSpc>
                          <a:spcPct val="100000"/>
                        </a:lnSpc>
                        <a:spcBef>
                          <a:spcPts val="0"/>
                        </a:spcBef>
                        <a:spcAft>
                          <a:spcPts val="0"/>
                        </a:spcAft>
                        <a:buNone/>
                      </a:pPr>
                      <a:r>
                        <a:rPr sz="1600" b="0" i="0" lang="he-IL">
                          <a:solidFill>
                            <a:srgbClr val="212121"/>
                          </a:solidFill>
                        </a:rPr>
                        <a:t>278</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0" i="0" lang="he-IL">
                          <a:solidFill>
                            <a:srgbClr val="212121"/>
                          </a:solidFill>
                        </a:rPr>
                        <a:t>88,526.81</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1" i="0" lang="he-IL">
                          <a:solidFill>
                            <a:srgbClr val="212121"/>
                          </a:solidFill>
                        </a:rPr>
                        <a:t>לפני תיקונים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6928">
                <a:tc>
                  <a:txBody>
                    <a:bodyPr wrap="square"/>
                    <a:lstStyle/>
                    <a:p>
                      <a:pPr rtl="1" algn="r" marL="0" indent="0">
                        <a:lnSpc>
                          <a:spcPct val="100000"/>
                        </a:lnSpc>
                        <a:spcBef>
                          <a:spcPts val="0"/>
                        </a:spcBef>
                        <a:spcAft>
                          <a:spcPts val="0"/>
                        </a:spcAft>
                        <a:buNone/>
                      </a:pPr>
                      <a:r>
                        <a:rPr sz="1600" b="0" i="0" lang="he-IL">
                          <a:solidFill>
                            <a:srgbClr val="212121"/>
                          </a:solidFill>
                        </a:rPr>
                        <a:t>779</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0" i="0" lang="he-IL">
                          <a:solidFill>
                            <a:srgbClr val="212121"/>
                          </a:solidFill>
                        </a:rPr>
                        <a:t>221,849.03</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1" i="0" lang="he-IL">
                          <a:solidFill>
                            <a:srgbClr val="212121"/>
                          </a:solidFill>
                        </a:rPr>
                        <a:t>1. פורמט תאריך (יום/חודש)</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6928">
                <a:tc>
                  <a:txBody>
                    <a:bodyPr wrap="square"/>
                    <a:lstStyle/>
                    <a:p>
                      <a:pPr rtl="1" algn="r" marL="0" indent="0">
                        <a:lnSpc>
                          <a:spcPct val="100000"/>
                        </a:lnSpc>
                        <a:spcBef>
                          <a:spcPts val="0"/>
                        </a:spcBef>
                        <a:spcAft>
                          <a:spcPts val="0"/>
                        </a:spcAft>
                        <a:buNone/>
                      </a:pPr>
                      <a:r>
                        <a:rPr sz="1600" b="0" i="0" lang="he-IL">
                          <a:solidFill>
                            <a:srgbClr val="212121"/>
                          </a:solidFill>
                        </a:rPr>
                        <a:t>789</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0" i="0" lang="he-IL">
                          <a:solidFill>
                            <a:srgbClr val="212121"/>
                          </a:solidFill>
                        </a:rPr>
                        <a:t>225,051.21</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1" i="0" lang="he-IL">
                          <a:solidFill>
                            <a:srgbClr val="212121"/>
                          </a:solidFill>
                        </a:rPr>
                        <a:t>2. טווח: כולל את 1 ביולי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6928">
                <a:tc>
                  <a:txBody>
                    <a:bodyPr wrap="square"/>
                    <a:lstStyle/>
                    <a:p>
                      <a:pPr rtl="1" algn="r" marL="0" indent="0">
                        <a:lnSpc>
                          <a:spcPct val="100000"/>
                        </a:lnSpc>
                        <a:spcBef>
                          <a:spcPts val="0"/>
                        </a:spcBef>
                        <a:spcAft>
                          <a:spcPts val="0"/>
                        </a:spcAft>
                        <a:buNone/>
                      </a:pPr>
                      <a:r>
                        <a:rPr sz="1600" b="0" i="0" lang="he-IL">
                          <a:solidFill>
                            <a:srgbClr val="212121"/>
                          </a:solidFill>
                        </a:rPr>
                        <a:t>778</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0" i="0" lang="he-IL">
                          <a:solidFill>
                            <a:srgbClr val="212121"/>
                          </a:solidFill>
                        </a:rPr>
                        <a:t>222,175.27</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1" i="0" lang="he-IL">
                          <a:solidFill>
                            <a:srgbClr val="212121"/>
                          </a:solidFill>
                        </a:rPr>
                        <a:t>3. הסרת הזמנות כפולות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6928">
                <a:tc>
                  <a:txBody>
                    <a:bodyPr wrap="square"/>
                    <a:lstStyle/>
                    <a:p>
                      <a:pPr rtl="1" algn="r" marL="0" indent="0">
                        <a:lnSpc>
                          <a:spcPct val="100000"/>
                        </a:lnSpc>
                        <a:spcBef>
                          <a:spcPts val="0"/>
                        </a:spcBef>
                        <a:spcAft>
                          <a:spcPts val="0"/>
                        </a:spcAft>
                        <a:buNone/>
                      </a:pPr>
                      <a:r>
                        <a:rPr sz="1600" b="0" i="0" lang="he-IL">
                          <a:solidFill>
                            <a:srgbClr val="212121"/>
                          </a:solidFill>
                        </a:rPr>
                        <a:t>778</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1F4E6"/>
                    </a:solidFill>
                  </a:tcPr>
                </a:tc>
                <a:tc>
                  <a:txBody>
                    <a:bodyPr wrap="square"/>
                    <a:lstStyle/>
                    <a:p>
                      <a:pPr rtl="1" algn="r" marL="0" indent="0">
                        <a:lnSpc>
                          <a:spcPct val="100000"/>
                        </a:lnSpc>
                        <a:spcBef>
                          <a:spcPts val="0"/>
                        </a:spcBef>
                        <a:spcAft>
                          <a:spcPts val="0"/>
                        </a:spcAft>
                        <a:buNone/>
                      </a:pPr>
                      <a:r>
                        <a:rPr sz="1600" b="0" i="0" lang="he-IL">
                          <a:solidFill>
                            <a:srgbClr val="212121"/>
                          </a:solidFill>
                        </a:rPr>
                        <a:t>177,597.89</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1F4E6"/>
                    </a:solidFill>
                  </a:tcPr>
                </a:tc>
                <a:tc>
                  <a:txBody>
                    <a:bodyPr wrap="square"/>
                    <a:lstStyle/>
                    <a:p>
                      <a:pPr rtl="1" algn="r" marL="0" indent="0">
                        <a:lnSpc>
                          <a:spcPct val="100000"/>
                        </a:lnSpc>
                        <a:spcBef>
                          <a:spcPts val="0"/>
                        </a:spcBef>
                        <a:spcAft>
                          <a:spcPts val="0"/>
                        </a:spcAft>
                        <a:buNone/>
                      </a:pPr>
                      <a:r>
                        <a:rPr sz="1600" b="1" i="0" lang="he-IL">
                          <a:solidFill>
                            <a:srgbClr val="212121"/>
                          </a:solidFill>
                        </a:rPr>
                        <a:t>4. הסרת ספקים כפולים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1F4E6"/>
                    </a:solidFill>
                  </a:tcPr>
                </a:tc>
              </a:tr>
            </a:tbl>
          </a:graphicData>
        </a:graphic>
      </p:graphicFrame>
      <p:sp>
        <p:nvSpPr>
          <p:cNvPr id="7" name="TextBox 6"/>
          <p:cNvSpPr txBox="1"/>
          <p:nvPr/>
        </p:nvSpPr>
        <p:spPr>
          <a:xfrm>
            <a:off x="365760" y="4846320"/>
            <a:ext cx="8412480" cy="3200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1" i="0" lang="he-IL">
                <a:solidFill>
                  <a:srgbClr val="34A853"/>
                </a:solidFill>
              </a:rPr>
              <a:t>הסכום הסופי תואם את הנהלת החשבונות. מספר ההזמנות: 778.</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מעבדה ג׳ : מה אמור לצאת בתיקונים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18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מה אמור לצאת: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פנקס תיקונים</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הסכום הסופי 177,597.89, וגם 778 שורות: שורה לכל הזמנה</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בדיקת רגרסיה</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עוברת על המתוקן, ונכשלת על חמש גרסאות פגומות</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הטלאי נכשל</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על חצי מהנתונים: 134,482.85 במקום 81,332.26</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ב־1 ביולי יש 10 הזמנות. הטלאי של הוספת 89,071.08 נכון רק על כל הנתונים.</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a:t>
            </a:r>
            <a:r>
              <a:rPr sz="3000" b="1" i="0" lang="he-IL">
                <a:solidFill>
                  <a:srgbClr val="212121"/>
                </a:solidFill>
              </a:rPr>
              <a:t>מעבדה ג׳</a:t>
            </a:r>
            <a:r>
              <a:rPr sz="3000" b="0" i="0" lang="he-IL">
                <a:solidFill>
                  <a:srgbClr val="212121"/>
                </a:solidFill>
              </a:rPr>
              <a:t> : מתעדים ומונעים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18 דקות</a:t>
            </a:r>
          </a:p>
        </p:txBody>
      </p:sp>
      <p:sp>
        <p:nvSpPr>
          <p:cNvPr id="6" name="Oval 5"/>
          <p:cNvSpPr/>
          <p:nvPr/>
        </p:nvSpPr>
        <p:spPr>
          <a:xfrm>
            <a:off x="8458200" y="1417320"/>
            <a:ext cx="411480" cy="41148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1</a:t>
            </a:r>
          </a:p>
        </p:txBody>
      </p:sp>
      <p:sp>
        <p:nvSpPr>
          <p:cNvPr id="7" name="TextBox 6"/>
          <p:cNvSpPr txBox="1"/>
          <p:nvPr/>
        </p:nvSpPr>
        <p:spPr>
          <a:xfrm>
            <a:off x="365760" y="1371600"/>
            <a:ext cx="8001000"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כתבו שורש בעיה אחד בשורה אחת (לא סימפטום).</a:t>
            </a:r>
          </a:p>
        </p:txBody>
      </p:sp>
      <p:sp>
        <p:nvSpPr>
          <p:cNvPr id="8" name="Oval 7"/>
          <p:cNvSpPr/>
          <p:nvPr/>
        </p:nvSpPr>
        <p:spPr>
          <a:xfrm>
            <a:off x="8458200" y="2194560"/>
            <a:ext cx="411480" cy="41148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2</a:t>
            </a:r>
          </a:p>
        </p:txBody>
      </p:sp>
      <p:sp>
        <p:nvSpPr>
          <p:cNvPr id="9" name="TextBox 8"/>
          <p:cNvSpPr txBox="1"/>
          <p:nvPr/>
        </p:nvSpPr>
        <p:spPr>
          <a:xfrm>
            <a:off x="365760" y="2148840"/>
            <a:ext cx="8001000"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בדיקת הרגרסיה test_regression: נכשלת על הישן, עוברת על החדש.</a:t>
            </a:r>
          </a:p>
        </p:txBody>
      </p:sp>
      <p:sp>
        <p:nvSpPr>
          <p:cNvPr id="10" name="Oval 9"/>
          <p:cNvSpPr/>
          <p:nvPr/>
        </p:nvSpPr>
        <p:spPr>
          <a:xfrm>
            <a:off x="8458200" y="2971800"/>
            <a:ext cx="411480" cy="41148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3</a:t>
            </a:r>
          </a:p>
        </p:txBody>
      </p:sp>
      <p:sp>
        <p:nvSpPr>
          <p:cNvPr id="11" name="TextBox 10"/>
          <p:cNvSpPr txBox="1"/>
          <p:nvPr/>
        </p:nvSpPr>
        <p:spPr>
          <a:xfrm>
            <a:off x="365760" y="2926080"/>
            <a:ext cx="8001000"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כתבו commit_message באנגלית: שורה על מה, ושורה על למה.</a:t>
            </a:r>
          </a:p>
        </p:txBody>
      </p:sp>
      <p:sp>
        <p:nvSpPr>
          <p:cNvPr id="12" name="Oval 11"/>
          <p:cNvSpPr/>
          <p:nvPr/>
        </p:nvSpPr>
        <p:spPr>
          <a:xfrm>
            <a:off x="8458200" y="3749039"/>
            <a:ext cx="411480" cy="41148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4</a:t>
            </a:r>
          </a:p>
        </p:txBody>
      </p:sp>
      <p:sp>
        <p:nvSpPr>
          <p:cNvPr id="13" name="TextBox 12"/>
          <p:cNvSpPr txBox="1"/>
          <p:nvPr/>
        </p:nvSpPr>
        <p:spPr>
          <a:xfrm>
            <a:off x="365760" y="3703320"/>
            <a:ext cx="8001000"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מלאו את התחקיר postmortem בחמש שורות, ושורש הבעיה הוא סיבה.</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a:t>
            </a:r>
            <a:r>
              <a:rPr sz="3000" b="1" i="0" lang="he-IL">
                <a:solidFill>
                  <a:srgbClr val="212121"/>
                </a:solidFill>
              </a:rPr>
              <a:t>מעבדה ג׳</a:t>
            </a:r>
            <a:r>
              <a:rPr sz="3000" b="0" i="0" lang="he-IL">
                <a:solidFill>
                  <a:srgbClr val="212121"/>
                </a:solidFill>
              </a:rPr>
              <a:t> : תחקיר באג</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18 דקות</a:t>
            </a:r>
          </a:p>
        </p:txBody>
      </p:sp>
      <p:graphicFrame>
        <p:nvGraphicFramePr>
          <p:cNvPr id="6" name="Table 5"/>
          <p:cNvGraphicFramePr>
            <a:graphicFrameLocks noGrp="1"/>
          </p:cNvGraphicFramePr>
          <p:nvPr/>
        </p:nvGraphicFramePr>
        <p:xfrm>
          <a:off x="365760" y="1417320"/>
          <a:ext cx="8412480" cy="3429000"/>
        </p:xfrm>
        <a:graphic>
          <a:graphicData uri="http://schemas.openxmlformats.org/drawingml/2006/table">
            <a:tbl>
              <a:tblPr firstRow="0" bandRow="0">
                <a:tableStyleId>{2D5ABB26-0587-4C30-8999-92F81FD0307C}</a:tableStyleId>
              </a:tblPr>
              <a:tblGrid>
                <a:gridCol w="6217920"/>
                <a:gridCol w="2194560"/>
              </a:tblGrid>
              <a:tr h="685800">
                <a:tc>
                  <a:txBody>
                    <a:bodyPr wrap="square"/>
                    <a:lstStyle/>
                    <a:p>
                      <a:pPr rtl="1" algn="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700" b="1" i="0" lang="he-IL">
                          <a:solidFill>
                            <a:srgbClr val="212121"/>
                          </a:solidFill>
                        </a:rPr>
                        <a:t>מה קרה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85800">
                <a:tc>
                  <a:txBody>
                    <a:bodyPr wrap="square"/>
                    <a:lstStyle/>
                    <a:p>
                      <a:pPr rtl="1" algn="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700" b="1" i="0" lang="he-IL">
                          <a:solidFill>
                            <a:srgbClr val="212121"/>
                          </a:solidFill>
                        </a:rPr>
                        <a:t>איך גילינו</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85800">
                <a:tc>
                  <a:txBody>
                    <a:bodyPr wrap="square"/>
                    <a:lstStyle/>
                    <a:p>
                      <a:pPr rtl="1" algn="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700" b="1" i="0" lang="he-IL">
                          <a:solidFill>
                            <a:srgbClr val="212121"/>
                          </a:solidFill>
                        </a:rPr>
                        <a:t>שורש הבעיה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85800">
                <a:tc>
                  <a:txBody>
                    <a:bodyPr wrap="square"/>
                    <a:lstStyle/>
                    <a:p>
                      <a:pPr rtl="1" algn="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700" b="1" i="0" lang="he-IL">
                          <a:solidFill>
                            <a:srgbClr val="212121"/>
                          </a:solidFill>
                        </a:rPr>
                        <a:t>התיקון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85800">
                <a:tc>
                  <a:txBody>
                    <a:bodyPr wrap="square"/>
                    <a:lstStyle/>
                    <a:p>
                      <a:pPr rtl="1" algn="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700" b="1" i="0" lang="he-IL">
                          <a:solidFill>
                            <a:srgbClr val="212121"/>
                          </a:solidFill>
                        </a:rPr>
                        <a:t>מניעה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מעבדה ג׳ : טקסונומיה ודיבוג משותף</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18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מטרה: לסווג את תשעת הבאגים, ולהעריך תשובת AI לפי כללים.</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מתייגים תשעה באגים</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family, is_silent: הזיה או הנחה, רועש או שקט</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בונים בקשה</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build_debug_request: קוד, שגיאה, ציפייה, מה ניסיתי</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בודקים תשובה</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patch_smells, api_exists: מטלאת? ממציאה שם?</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אפשר עוזר ה־AI של Colab, אם זמין, או כל צ׳אט חינמי. בסוף: מסקנה של חמישה משפטים. הבונוס לבית.</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מעבדה ג׳ : הבקשה שהמחברת בונה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18 דקות</a:t>
            </a:r>
          </a:p>
        </p:txBody>
      </p:sp>
      <p:sp>
        <p:nvSpPr>
          <p:cNvPr id="6" name="TextBox 5"/>
          <p:cNvSpPr txBox="1"/>
          <p:nvPr/>
        </p:nvSpPr>
        <p:spPr>
          <a:xfrm>
            <a:off x="365760" y="1371600"/>
            <a:ext cx="8412480" cy="2194560"/>
          </a:xfrm>
          <a:prstGeom prst="rect">
            <a:avLst/>
          </a:prstGeom>
          <a:solidFill>
            <a:srgbClr val="F4F4F4"/>
          </a:solidFill>
          <a:ln w="9525">
            <a:solidFill>
              <a:srgbClr val="DDDDDD"/>
            </a:solidFill>
          </a:ln>
        </p:spPr>
        <p:txBody>
          <a:bodyPr wrap="square" lIns="109728" rIns="109728" tIns="109728" bIns="109728" anchor="t">
            <a:noAutofit/>
          </a:bodyPr>
          <a:lstStyle/>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Code:    import pandas as pd</a:t>
            </a:r>
          </a:p>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         df = pd.read_csv('orders_il.csv')</a:t>
            </a:r>
          </a:p>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         df.to_excel_fast('out.xlsx')</a:t>
            </a:r>
          </a:p>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Error:   AttributeError: 'DataFrame' object has no attribute 'to_excel_fast'</a:t>
            </a:r>
          </a:p>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Expected: the DataFrame is saved to an Excel file called out.xlsx</a:t>
            </a:r>
          </a:p>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Tried:   nothing yet. First explain the cause, then fix.</a:t>
            </a:r>
          </a:p>
        </p:txBody>
      </p:sp>
      <p:sp>
        <p:nvSpPr>
          <p:cNvPr id="7" name="Rounded Rectangle 6"/>
          <p:cNvSpPr/>
          <p:nvPr/>
        </p:nvSpPr>
        <p:spPr>
          <a:xfrm>
            <a:off x="365760" y="3840480"/>
            <a:ext cx="8412480" cy="100584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ארבעה חלקים: קוד, שגיאה, ציפייה, מה ניסיתי.</a:t>
            </a:r>
          </a:p>
          <a:p>
            <a:pPr rtl="1" algn="ctr" marL="0" indent="0">
              <a:lnSpc>
                <a:spcPct val="105000"/>
              </a:lnSpc>
              <a:spcBef>
                <a:spcPts val="0"/>
              </a:spcBef>
              <a:spcAft>
                <a:spcPts val="0"/>
              </a:spcAft>
              <a:buNone/>
            </a:pPr>
            <a:r>
              <a:rPr sz="1600" b="0" i="0" lang="he-IL">
                <a:solidFill>
                  <a:srgbClr val="595959"/>
                </a:solidFill>
              </a:rPr>
              <a:t>זו הבקשה שהמחברת בונה עבור e4. מדביקים לעוזר ה־AI, ובודקים את התשובה בקוד.</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מעבדה ג׳ : מה אמור לצאת בדיבוג</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18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מה אמור לצאת: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תיוג</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הזיות: e3, e4. ארבעת באגי הדוח: הנחות שקטות</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הבקשה</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בקשה בארבעה חלקים על e4, עם הוראה להסביר קודם</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בדיקות שלכם</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בדוגמת הפתרון: to_excel קיימת, אין טלאי, ומותר לאמץ</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אם הכלי הציע שם מומצא או try/except: דוחים. אחרי שני כשלונות, שיחה חדשה עם סיכום.</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מעבדה ג׳ : בונוס, שתי בקשות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18 דקות</a:t>
            </a:r>
          </a:p>
        </p:txBody>
      </p:sp>
      <p:sp>
        <p:nvSpPr>
          <p:cNvPr id="6" name="Rounded Rectangle 5"/>
          <p:cNvSpPr/>
          <p:nvPr/>
        </p:nvSpPr>
        <p:spPr>
          <a:xfrm>
            <a:off x="4663440" y="1417320"/>
            <a:ext cx="4114800" cy="548640"/>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212121"/>
                </a:solidFill>
              </a:rPr>
              <a:t>בקשה א׳ (גרועה)</a:t>
            </a:r>
          </a:p>
        </p:txBody>
      </p:sp>
      <p:sp>
        <p:nvSpPr>
          <p:cNvPr id="7" name="TextBox 6"/>
          <p:cNvSpPr txBox="1"/>
          <p:nvPr/>
        </p:nvSpPr>
        <p:spPr>
          <a:xfrm>
            <a:off x="4663440" y="2011680"/>
            <a:ext cx="4114800" cy="1005840"/>
          </a:xfrm>
          <a:prstGeom prst="rect">
            <a:avLst/>
          </a:prstGeom>
          <a:solidFill>
            <a:srgbClr val="F4F4F4"/>
          </a:solidFill>
          <a:ln w="9525">
            <a:solidFill>
              <a:srgbClr val="DDDDDD"/>
            </a:solidFill>
          </a:ln>
        </p:spPr>
        <p:txBody>
          <a:bodyPr wrap="square" lIns="109728" rIns="109728" tIns="109728" bIns="109728" anchor="t">
            <a:noAutofit/>
          </a:bodyPr>
          <a:lstStyle/>
          <a:p>
            <a:pPr rtl="0" algn="l" marL="0" indent="0">
              <a:lnSpc>
                <a:spcPct val="110000"/>
              </a:lnSpc>
              <a:spcBef>
                <a:spcPts val="0"/>
              </a:spcBef>
              <a:spcAft>
                <a:spcPts val="0"/>
              </a:spcAft>
              <a:buNone/>
            </a:pPr>
            <a:r>
              <a:rPr sz="1400" b="0" i="0" lang="he-IL">
                <a:solidFill>
                  <a:srgbClr val="212121"/>
                </a:solidFill>
                <a:latin typeface="Courier New"/>
                <a:ea typeface="Courier New"/>
                <a:cs typeface="Courier New"/>
              </a:rPr>
              <a:t>My report total is wrong.</a:t>
            </a:r>
          </a:p>
          <a:p>
            <a:pPr rtl="0" algn="l" marL="0" indent="0">
              <a:lnSpc>
                <a:spcPct val="110000"/>
              </a:lnSpc>
              <a:spcBef>
                <a:spcPts val="0"/>
              </a:spcBef>
              <a:spcAft>
                <a:spcPts val="0"/>
              </a:spcAft>
              <a:buNone/>
            </a:pPr>
            <a:r>
              <a:rPr sz="1400" b="0" i="0" lang="he-IL">
                <a:solidFill>
                  <a:srgbClr val="212121"/>
                </a:solidFill>
                <a:latin typeface="Courier New"/>
                <a:ea typeface="Courier New"/>
                <a:cs typeface="Courier New"/>
              </a:rPr>
              <a:t>Fix it.</a:t>
            </a:r>
          </a:p>
        </p:txBody>
      </p:sp>
      <p:sp>
        <p:nvSpPr>
          <p:cNvPr id="8" name="Rounded Rectangle 7"/>
          <p:cNvSpPr/>
          <p:nvPr/>
        </p:nvSpPr>
        <p:spPr>
          <a:xfrm>
            <a:off x="365760" y="1417320"/>
            <a:ext cx="4114800" cy="54864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212121"/>
                </a:solidFill>
              </a:rPr>
              <a:t>בקשה ב׳ (טובה)</a:t>
            </a:r>
          </a:p>
        </p:txBody>
      </p:sp>
      <p:sp>
        <p:nvSpPr>
          <p:cNvPr id="9" name="TextBox 8"/>
          <p:cNvSpPr txBox="1"/>
          <p:nvPr/>
        </p:nvSpPr>
        <p:spPr>
          <a:xfrm>
            <a:off x="365760" y="2011680"/>
            <a:ext cx="4114800" cy="2011680"/>
          </a:xfrm>
          <a:prstGeom prst="rect">
            <a:avLst/>
          </a:prstGeom>
          <a:solidFill>
            <a:srgbClr val="F4F4F4"/>
          </a:solidFill>
          <a:ln w="9525">
            <a:solidFill>
              <a:srgbClr val="DDDDDD"/>
            </a:solidFill>
          </a:ln>
        </p:spPr>
        <p:txBody>
          <a:bodyPr wrap="square" lIns="109728" rIns="109728" tIns="109728" bIns="109728" anchor="t">
            <a:noAutofit/>
          </a:bodyPr>
          <a:lstStyle/>
          <a:p>
            <a:pPr rtl="0" algn="l" marL="0" indent="0">
              <a:lnSpc>
                <a:spcPct val="110000"/>
              </a:lnSpc>
              <a:spcBef>
                <a:spcPts val="0"/>
              </a:spcBef>
              <a:spcAft>
                <a:spcPts val="0"/>
              </a:spcAft>
              <a:buNone/>
            </a:pPr>
            <a:r>
              <a:rPr sz="1200" b="0" i="0" lang="he-IL">
                <a:solidFill>
                  <a:srgbClr val="212121"/>
                </a:solidFill>
                <a:latin typeface="Courier New"/>
                <a:ea typeface="Courier New"/>
                <a:cs typeface="Courier New"/>
              </a:rPr>
              <a:t>Code: [buggy_report]</a:t>
            </a:r>
          </a:p>
          <a:p>
            <a:pPr rtl="0" algn="l" marL="0" indent="0">
              <a:lnSpc>
                <a:spcPct val="110000"/>
              </a:lnSpc>
              <a:spcBef>
                <a:spcPts val="0"/>
              </a:spcBef>
              <a:spcAft>
                <a:spcPts val="0"/>
              </a:spcAft>
              <a:buNone/>
            </a:pPr>
            <a:r>
              <a:rPr sz="1200" b="0" i="0" lang="he-IL">
                <a:solidFill>
                  <a:srgbClr val="212121"/>
                </a:solidFill>
                <a:latin typeface="Courier New"/>
                <a:ea typeface="Courier New"/>
                <a:cs typeface="Courier New"/>
              </a:rPr>
              <a:t>Actual TOTAL: 88526.81</a:t>
            </a:r>
          </a:p>
          <a:p>
            <a:pPr rtl="0" algn="l" marL="0" indent="0">
              <a:lnSpc>
                <a:spcPct val="110000"/>
              </a:lnSpc>
              <a:spcBef>
                <a:spcPts val="0"/>
              </a:spcBef>
              <a:spcAft>
                <a:spcPts val="0"/>
              </a:spcAft>
              <a:buNone/>
            </a:pPr>
            <a:r>
              <a:rPr sz="1200" b="0" i="0" lang="he-IL">
                <a:solidFill>
                  <a:srgbClr val="212121"/>
                </a:solidFill>
                <a:latin typeface="Courier New"/>
                <a:ea typeface="Courier New"/>
                <a:cs typeface="Courier New"/>
              </a:rPr>
              <a:t>Expected: 177597.89</a:t>
            </a:r>
          </a:p>
          <a:p>
            <a:pPr rtl="0" algn="l" marL="0" indent="0">
              <a:lnSpc>
                <a:spcPct val="110000"/>
              </a:lnSpc>
              <a:spcBef>
                <a:spcPts val="0"/>
              </a:spcBef>
              <a:spcAft>
                <a:spcPts val="0"/>
              </a:spcAft>
              <a:buNone/>
            </a:pPr>
            <a:r>
              <a:rPr sz="1200" b="0" i="0" lang="he-IL">
                <a:solidFill>
                  <a:srgbClr val="212121"/>
                </a:solidFill>
                <a:latin typeface="Courier New"/>
                <a:ea typeface="Courier New"/>
                <a:cs typeface="Courier New"/>
              </a:rPr>
              <a:t>Tried: nothing.</a:t>
            </a:r>
          </a:p>
          <a:p>
            <a:pPr rtl="0" algn="l" marL="0" indent="0">
              <a:lnSpc>
                <a:spcPct val="110000"/>
              </a:lnSpc>
              <a:spcBef>
                <a:spcPts val="0"/>
              </a:spcBef>
              <a:spcAft>
                <a:spcPts val="0"/>
              </a:spcAft>
              <a:buNone/>
            </a:pPr>
            <a:r>
              <a:rPr sz="1200" b="0" i="0" lang="he-IL">
                <a:solidFill>
                  <a:srgbClr val="212121"/>
                </a:solidFill>
                <a:latin typeface="Courier New"/>
                <a:ea typeface="Courier New"/>
                <a:cs typeface="Courier New"/>
              </a:rPr>
              <a:t>First explain the likely</a:t>
            </a:r>
          </a:p>
          <a:p>
            <a:pPr rtl="0" algn="l" marL="0" indent="0">
              <a:lnSpc>
                <a:spcPct val="110000"/>
              </a:lnSpc>
              <a:spcBef>
                <a:spcPts val="0"/>
              </a:spcBef>
              <a:spcAft>
                <a:spcPts val="0"/>
              </a:spcAft>
              <a:buNone/>
            </a:pPr>
            <a:r>
              <a:rPr sz="1200" b="0" i="0" lang="he-IL">
                <a:solidFill>
                  <a:srgbClr val="212121"/>
                </a:solidFill>
                <a:latin typeface="Courier New"/>
                <a:ea typeface="Courier New"/>
                <a:cs typeface="Courier New"/>
              </a:rPr>
              <a:t>causes, then fix one.</a:t>
            </a:r>
          </a:p>
        </p:txBody>
      </p:sp>
      <p:sp>
        <p:nvSpPr>
          <p:cNvPr id="10" name="TextBox 9"/>
          <p:cNvSpPr txBox="1"/>
          <p:nvPr/>
        </p:nvSpPr>
        <p:spPr>
          <a:xfrm>
            <a:off x="4663440" y="3200400"/>
            <a:ext cx="4114800" cy="1645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1" i="0" lang="he-IL">
                <a:solidFill>
                  <a:srgbClr val="4285F4"/>
                </a:solidFill>
              </a:rPr>
              <a:t>סימנו: כמה שינויים הציע ה־AI? האם מצא את השורש?</a:t>
            </a:r>
          </a:p>
        </p:txBody>
      </p:sp>
      <p:sp>
        <p:nvSpPr>
          <p:cNvPr id="11" name="TextBox 10"/>
          <p:cNvSpPr txBox="1"/>
          <p:nvPr/>
        </p:nvSpPr>
        <p:spPr>
          <a:xfrm>
            <a:off x="365760" y="4297680"/>
            <a:ext cx="411480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כלל העצירה: אחרי שני כשלונות, שיחה חדשה.</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העשרה :מפגם לכשל</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949440" y="1645920"/>
            <a:ext cx="1828800" cy="12801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טעות</a:t>
            </a:r>
          </a:p>
          <a:p>
            <a:pPr rtl="1" algn="ctr" marL="0" indent="0">
              <a:lnSpc>
                <a:spcPct val="105000"/>
              </a:lnSpc>
              <a:spcBef>
                <a:spcPts val="0"/>
              </a:spcBef>
              <a:spcAft>
                <a:spcPts val="0"/>
              </a:spcAft>
              <a:buNone/>
            </a:pPr>
            <a:r>
              <a:rPr sz="1600" b="1" i="0" lang="he-IL">
                <a:solidFill>
                  <a:srgbClr val="212121"/>
                </a:solidFill>
              </a:rPr>
              <a:t>בקשה בלי דוגמת נתונים</a:t>
            </a:r>
          </a:p>
        </p:txBody>
      </p:sp>
      <p:cxnSp>
        <p:nvCxnSpPr>
          <p:cNvPr id="6" name="Connector 5"/>
          <p:cNvCxnSpPr/>
          <p:nvPr/>
        </p:nvCxnSpPr>
        <p:spPr>
          <a:xfrm flipH="1">
            <a:off x="6647688" y="2286000"/>
            <a:ext cx="28346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800600" y="1645920"/>
            <a:ext cx="1828800" cy="128016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פגם בקוד</a:t>
            </a:r>
          </a:p>
          <a:p>
            <a:pPr rtl="1" algn="ctr" marL="0" indent="0">
              <a:lnSpc>
                <a:spcPct val="105000"/>
              </a:lnSpc>
              <a:spcBef>
                <a:spcPts val="0"/>
              </a:spcBef>
              <a:spcAft>
                <a:spcPts val="0"/>
              </a:spcAft>
              <a:buNone/>
            </a:pPr>
            <a:r>
              <a:rPr sz="1600" b="1" i="0" lang="he-IL">
                <a:solidFill>
                  <a:srgbClr val="212121"/>
                </a:solidFill>
              </a:rPr>
              <a:t>to_datetime בלי format</a:t>
            </a:r>
          </a:p>
        </p:txBody>
      </p:sp>
      <p:cxnSp>
        <p:nvCxnSpPr>
          <p:cNvPr id="8" name="Connector 7"/>
          <p:cNvCxnSpPr/>
          <p:nvPr/>
        </p:nvCxnSpPr>
        <p:spPr>
          <a:xfrm flipH="1">
            <a:off x="4498848" y="2286000"/>
            <a:ext cx="28346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651760" y="1645920"/>
            <a:ext cx="1828800" cy="128016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הדבקה בנתונים</a:t>
            </a:r>
          </a:p>
          <a:p>
            <a:pPr rtl="1" algn="ctr" marL="0" indent="0">
              <a:lnSpc>
                <a:spcPct val="105000"/>
              </a:lnSpc>
              <a:spcBef>
                <a:spcPts val="0"/>
              </a:spcBef>
              <a:spcAft>
                <a:spcPts val="0"/>
              </a:spcAft>
              <a:buNone/>
            </a:pPr>
            <a:r>
              <a:rPr sz="1600" b="1" i="0" lang="he-IL">
                <a:solidFill>
                  <a:srgbClr val="212121"/>
                </a:solidFill>
              </a:rPr>
              <a:t>1,847 תאריכי NaT בטבלה</a:t>
            </a:r>
          </a:p>
        </p:txBody>
      </p:sp>
      <p:cxnSp>
        <p:nvCxnSpPr>
          <p:cNvPr id="10" name="Connector 9"/>
          <p:cNvCxnSpPr/>
          <p:nvPr/>
        </p:nvCxnSpPr>
        <p:spPr>
          <a:xfrm flipH="1">
            <a:off x="2350008" y="2286000"/>
            <a:ext cx="28346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19" y="1645920"/>
            <a:ext cx="1828800" cy="1280160"/>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כשל</a:t>
            </a:r>
          </a:p>
          <a:p>
            <a:pPr rtl="1" algn="ctr" marL="0" indent="0">
              <a:lnSpc>
                <a:spcPct val="105000"/>
              </a:lnSpc>
              <a:spcBef>
                <a:spcPts val="0"/>
              </a:spcBef>
              <a:spcAft>
                <a:spcPts val="0"/>
              </a:spcAft>
              <a:buNone/>
            </a:pPr>
            <a:r>
              <a:rPr sz="1600" b="1" i="0" lang="he-IL">
                <a:solidFill>
                  <a:srgbClr val="212121"/>
                </a:solidFill>
              </a:rPr>
              <a:t>הדוח: 88,527 במקום 177,598</a:t>
            </a:r>
          </a:p>
        </p:txBody>
      </p:sp>
      <p:sp>
        <p:nvSpPr>
          <p:cNvPr id="12" name="Rounded Rectangle 11"/>
          <p:cNvSpPr/>
          <p:nvPr/>
        </p:nvSpPr>
        <p:spPr>
          <a:xfrm>
            <a:off x="365760" y="3383280"/>
            <a:ext cx="8412480" cy="137160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212121"/>
                </a:solidFill>
              </a:rPr>
              <a:t>מתקנים את הפגם, ומודדים את ההדבקה:</a:t>
            </a:r>
          </a:p>
          <a:p>
            <a:pPr rtl="1" algn="ctr" marL="0" indent="0">
              <a:lnSpc>
                <a:spcPct val="105000"/>
              </a:lnSpc>
              <a:spcBef>
                <a:spcPts val="0"/>
              </a:spcBef>
              <a:spcAft>
                <a:spcPts val="0"/>
              </a:spcAft>
              <a:buNone/>
            </a:pPr>
            <a:r>
              <a:rPr sz="1600" b="0" i="0" lang="he-IL">
                <a:solidFill>
                  <a:srgbClr val="595959"/>
                </a:solidFill>
              </a:rPr>
              <a:t>ספירות ובדיקות שפיות בדרך, לא רק הכשל בסוף. השיטה המדעית: שאלה, השערה, תחזית, ניסוי, וחוזרים.</a:t>
            </a:r>
          </a:p>
        </p:txBody>
      </p:sp>
      <p:sp>
        <p:nvSpPr>
          <p:cNvPr id="13" name="Tag"/>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העשרה :חיפוש בינארי של הבאג</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463040"/>
            <a:ext cx="4114800" cy="3200400"/>
          </a:xfrm>
          <a:prstGeom prst="roundRect">
            <a:avLst>
              <a:gd name="adj" fmla="val 5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6" name="TextBox 5"/>
          <p:cNvSpPr txBox="1"/>
          <p:nvPr/>
        </p:nvSpPr>
        <p:spPr>
          <a:xfrm>
            <a:off x="4663440" y="1508760"/>
            <a:ext cx="411480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FFAB40"/>
                </a:solidFill>
              </a:rPr>
              <a:t>Delta debugging</a:t>
            </a:r>
          </a:p>
        </p:txBody>
      </p:sp>
      <p:sp>
        <p:nvSpPr>
          <p:cNvPr id="7" name="TextBox 6"/>
          <p:cNvSpPr txBox="1"/>
          <p:nvPr/>
        </p:nvSpPr>
        <p:spPr>
          <a:xfrm>
            <a:off x="4846320" y="2011680"/>
            <a:ext cx="3749039" cy="2560320"/>
          </a:xfrm>
          <a:prstGeom prst="rect">
            <a:avLst/>
          </a:prstGeom>
          <a:noFill/>
        </p:spPr>
        <p:txBody>
          <a:bodyPr wrap="square" lIns="73152" rIns="73152" tIns="73152" bIns="73152" anchor="t">
            <a:noAutofit/>
          </a:bodyPr>
          <a:lstStyle/>
          <a:p>
            <a:pPr rtl="1" algn="r" marL="347472" indent="-292608">
              <a:lnSpc>
                <a:spcPct val="110000"/>
              </a:lnSpc>
              <a:spcBef>
                <a:spcPts val="0"/>
              </a:spcBef>
              <a:spcAft>
                <a:spcPts val="400"/>
              </a:spcAft>
              <a:buClr>
                <a:srgbClr val="212121"/>
              </a:buClr>
              <a:buSzPts val="1280"/>
              <a:buChar char="●"/>
            </a:pPr>
            <a:r>
              <a:rPr sz="1600" b="0" i="0" lang="he-IL">
                <a:solidFill>
                  <a:srgbClr val="212121"/>
                </a:solidFill>
              </a:rPr>
              <a:t>מקטינים קלט שנכשל אוטומטית</a:t>
            </a:r>
          </a:p>
          <a:p>
            <a:pPr rtl="1" algn="r" marL="347472" indent="-292608">
              <a:lnSpc>
                <a:spcPct val="110000"/>
              </a:lnSpc>
              <a:spcBef>
                <a:spcPts val="0"/>
              </a:spcBef>
              <a:spcAft>
                <a:spcPts val="400"/>
              </a:spcAft>
              <a:buClr>
                <a:srgbClr val="212121"/>
              </a:buClr>
              <a:buSzPts val="1280"/>
              <a:buChar char="●"/>
            </a:pPr>
            <a:r>
              <a:rPr sz="1600" b="0" i="0" lang="he-IL">
                <a:solidFill>
                  <a:srgbClr val="212121"/>
                </a:solidFill>
              </a:rPr>
              <a:t>עד שכל הסרה מעלימה את הכשל</a:t>
            </a:r>
          </a:p>
          <a:p>
            <a:pPr rtl="1" algn="r" marL="347472" indent="-292608">
              <a:lnSpc>
                <a:spcPct val="110000"/>
              </a:lnSpc>
              <a:spcBef>
                <a:spcPts val="0"/>
              </a:spcBef>
              <a:spcAft>
                <a:spcPts val="400"/>
              </a:spcAft>
              <a:buClr>
                <a:srgbClr val="212121"/>
              </a:buClr>
              <a:buSzPts val="1280"/>
              <a:buChar char="●"/>
            </a:pPr>
            <a:r>
              <a:rPr sz="1600" b="0" i="0" lang="he-IL">
                <a:solidFill>
                  <a:srgbClr val="212121"/>
                </a:solidFill>
              </a:rPr>
              <a:t>מאמר של Zeller ועמיתו, 2002</a:t>
            </a:r>
          </a:p>
          <a:p>
            <a:pPr rtl="1" algn="r" marL="347472" indent="-292608">
              <a:lnSpc>
                <a:spcPct val="110000"/>
              </a:lnSpc>
              <a:spcBef>
                <a:spcPts val="0"/>
              </a:spcBef>
              <a:spcAft>
                <a:spcPts val="400"/>
              </a:spcAft>
              <a:buClr>
                <a:srgbClr val="212121"/>
              </a:buClr>
              <a:buSzPts val="1280"/>
              <a:buChar char="●"/>
            </a:pPr>
            <a:r>
              <a:rPr sz="1600" b="0" i="0" lang="he-IL">
                <a:solidFill>
                  <a:srgbClr val="212121"/>
                </a:solidFill>
              </a:rPr>
              <a:t>מסמך HTML ארוך הוצמצם לשורה אחת</a:t>
            </a:r>
          </a:p>
        </p:txBody>
      </p:sp>
      <p:sp>
        <p:nvSpPr>
          <p:cNvPr id="8" name="Rounded Rectangle 7"/>
          <p:cNvSpPr/>
          <p:nvPr/>
        </p:nvSpPr>
        <p:spPr>
          <a:xfrm>
            <a:off x="365760" y="1463040"/>
            <a:ext cx="4114800" cy="3200400"/>
          </a:xfrm>
          <a:prstGeom prst="roundRect">
            <a:avLst>
              <a:gd name="adj" fmla="val 5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9" name="TextBox 8"/>
          <p:cNvSpPr txBox="1"/>
          <p:nvPr/>
        </p:nvSpPr>
        <p:spPr>
          <a:xfrm>
            <a:off x="365760" y="1508760"/>
            <a:ext cx="411480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4285F4"/>
                </a:solidFill>
              </a:rPr>
              <a:t>git bisect</a:t>
            </a:r>
          </a:p>
        </p:txBody>
      </p:sp>
      <p:sp>
        <p:nvSpPr>
          <p:cNvPr id="10" name="TextBox 9"/>
          <p:cNvSpPr txBox="1"/>
          <p:nvPr/>
        </p:nvSpPr>
        <p:spPr>
          <a:xfrm>
            <a:off x="548640" y="2011680"/>
            <a:ext cx="3749039" cy="2560320"/>
          </a:xfrm>
          <a:prstGeom prst="rect">
            <a:avLst/>
          </a:prstGeom>
          <a:noFill/>
        </p:spPr>
        <p:txBody>
          <a:bodyPr wrap="square" lIns="73152" rIns="73152" tIns="73152" bIns="73152" anchor="t">
            <a:noAutofit/>
          </a:bodyPr>
          <a:lstStyle/>
          <a:p>
            <a:pPr rtl="1" algn="r" marL="347472" indent="-292608">
              <a:lnSpc>
                <a:spcPct val="110000"/>
              </a:lnSpc>
              <a:spcBef>
                <a:spcPts val="0"/>
              </a:spcBef>
              <a:spcAft>
                <a:spcPts val="400"/>
              </a:spcAft>
              <a:buClr>
                <a:srgbClr val="212121"/>
              </a:buClr>
              <a:buSzPts val="1280"/>
              <a:buChar char="●"/>
            </a:pPr>
            <a:r>
              <a:rPr sz="1600" b="0" i="0" lang="he-IL">
                <a:solidFill>
                  <a:srgbClr val="212121"/>
                </a:solidFill>
              </a:rPr>
              <a:t>מסמנים קומיט טוב וקומיט רע</a:t>
            </a:r>
          </a:p>
          <a:p>
            <a:pPr rtl="1" algn="r" marL="347472" indent="-292608">
              <a:lnSpc>
                <a:spcPct val="110000"/>
              </a:lnSpc>
              <a:spcBef>
                <a:spcPts val="0"/>
              </a:spcBef>
              <a:spcAft>
                <a:spcPts val="400"/>
              </a:spcAft>
              <a:buClr>
                <a:srgbClr val="212121"/>
              </a:buClr>
              <a:buSzPts val="1280"/>
              <a:buChar char="●"/>
            </a:pPr>
            <a:r>
              <a:rPr sz="1600" b="0" i="0" lang="he-IL">
                <a:solidFill>
                  <a:srgbClr val="212121"/>
                </a:solidFill>
              </a:rPr>
              <a:t>בכל צעד בודקים את האמצע</a:t>
            </a:r>
          </a:p>
          <a:p>
            <a:pPr rtl="1" algn="r" marL="347472" indent="-292608">
              <a:lnSpc>
                <a:spcPct val="110000"/>
              </a:lnSpc>
              <a:spcBef>
                <a:spcPts val="0"/>
              </a:spcBef>
              <a:spcAft>
                <a:spcPts val="400"/>
              </a:spcAft>
              <a:buClr>
                <a:srgbClr val="212121"/>
              </a:buClr>
              <a:buSzPts val="1280"/>
              <a:buChar char="●"/>
            </a:pPr>
            <a:r>
              <a:rPr sz="1600" b="0" i="0" lang="he-IL">
                <a:solidFill>
                  <a:srgbClr val="212121"/>
                </a:solidFill>
              </a:rPr>
              <a:t>675 קומיטים: כ־10 צעדים</a:t>
            </a:r>
          </a:p>
          <a:p>
            <a:pPr rtl="1" algn="r" marL="347472" indent="-292608">
              <a:lnSpc>
                <a:spcPct val="110000"/>
              </a:lnSpc>
              <a:spcBef>
                <a:spcPts val="0"/>
              </a:spcBef>
              <a:spcAft>
                <a:spcPts val="400"/>
              </a:spcAft>
              <a:buClr>
                <a:srgbClr val="212121"/>
              </a:buClr>
              <a:buSzPts val="1280"/>
              <a:buChar char="●"/>
            </a:pPr>
            <a:r>
              <a:rPr sz="1600" b="0" i="0" lang="he-IL">
                <a:solidFill>
                  <a:srgbClr val="212121"/>
                </a:solidFill>
              </a:rPr>
              <a:t>אפשר להריץ בדיקה אוטומטית</a:t>
            </a:r>
          </a:p>
        </p:txBody>
      </p:sp>
      <p:sp>
        <p:nvSpPr>
          <p:cNvPr id="11" name="Axis caption"/>
          <p:cNvSpPr txBox="1"/>
          <p:nvPr/>
        </p:nvSpPr>
        <p:spPr>
          <a:xfrm>
            <a:off x="365760" y="471600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1" i="0" lang="he-IL">
                <a:solidFill>
                  <a:srgbClr val="EA4335"/>
                </a:solidFill>
              </a:rPr>
              <a:t>אותו רעיון כמו מקרה מינימלי: חותכים חצי, ובודקים אם הבאג עדיין שם.</a:t>
            </a:r>
          </a:p>
        </p:txBody>
      </p:sp>
      <p:sp>
        <p:nvSpPr>
          <p:cNvPr id="12" name="Tag"/>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העשרה :באגים שקטים במקרים אמיתיים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25880"/>
            <a:ext cx="8412480" cy="82296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800" b="1" i="0" lang="he-IL">
                <a:solidFill>
                  <a:srgbClr val="EA4335"/>
                </a:solidFill>
              </a:rPr>
              <a:t>גם בארגונים גדולים הכשל היה שקט.</a:t>
            </a:r>
          </a:p>
        </p:txBody>
      </p:sp>
      <p:sp>
        <p:nvSpPr>
          <p:cNvPr id="6" name="Rounded Rectangle 5"/>
          <p:cNvSpPr/>
          <p:nvPr/>
        </p:nvSpPr>
        <p:spPr>
          <a:xfrm>
            <a:off x="6172200" y="2194560"/>
            <a:ext cx="2697480" cy="246888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7" name="TextBox 6"/>
          <p:cNvSpPr txBox="1"/>
          <p:nvPr/>
        </p:nvSpPr>
        <p:spPr>
          <a:xfrm>
            <a:off x="6172200" y="2232000"/>
            <a:ext cx="2697480" cy="576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8" name="TextBox 7"/>
          <p:cNvSpPr txBox="1"/>
          <p:nvPr/>
        </p:nvSpPr>
        <p:spPr>
          <a:xfrm>
            <a:off x="6263640" y="2844000"/>
            <a:ext cx="2514600" cy="503999"/>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אנגליה, 2020</a:t>
            </a:r>
          </a:p>
        </p:txBody>
      </p:sp>
      <p:sp>
        <p:nvSpPr>
          <p:cNvPr id="9" name="TextBox 8"/>
          <p:cNvSpPr txBox="1"/>
          <p:nvPr/>
        </p:nvSpPr>
        <p:spPr>
          <a:xfrm>
            <a:off x="6309360" y="3384000"/>
            <a:ext cx="2423160" cy="1224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0" i="0" lang="he-IL">
                <a:solidFill>
                  <a:srgbClr val="212121"/>
                </a:solidFill>
              </a:rPr>
              <a:t>15,841 מקרי קורונה לא נספרו: קובץ xls מוגבל ל־65,536 שורות</a:t>
            </a:r>
          </a:p>
        </p:txBody>
      </p:sp>
      <p:sp>
        <p:nvSpPr>
          <p:cNvPr id="10" name="Rounded Rectangle 9"/>
          <p:cNvSpPr/>
          <p:nvPr/>
        </p:nvSpPr>
        <p:spPr>
          <a:xfrm>
            <a:off x="3246120" y="2194560"/>
            <a:ext cx="2697480" cy="246888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1" name="TextBox 10"/>
          <p:cNvSpPr txBox="1"/>
          <p:nvPr/>
        </p:nvSpPr>
        <p:spPr>
          <a:xfrm>
            <a:off x="3246120" y="2232000"/>
            <a:ext cx="2697480" cy="576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12" name="TextBox 11"/>
          <p:cNvSpPr txBox="1"/>
          <p:nvPr/>
        </p:nvSpPr>
        <p:spPr>
          <a:xfrm>
            <a:off x="3337560" y="2844000"/>
            <a:ext cx="2514600" cy="503999"/>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גנטיקה, 2016</a:t>
            </a:r>
          </a:p>
        </p:txBody>
      </p:sp>
      <p:sp>
        <p:nvSpPr>
          <p:cNvPr id="13" name="TextBox 12"/>
          <p:cNvSpPr txBox="1"/>
          <p:nvPr/>
        </p:nvSpPr>
        <p:spPr>
          <a:xfrm>
            <a:off x="3383279" y="3384000"/>
            <a:ext cx="2423160" cy="1224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0" i="0" lang="he-IL">
                <a:solidFill>
                  <a:srgbClr val="212121"/>
                </a:solidFill>
              </a:rPr>
              <a:t>Excel הפך את SEPT2 לתאריך. כחמישית מהמאמרים עם רשימות גנים נפגעו</a:t>
            </a:r>
          </a:p>
        </p:txBody>
      </p:sp>
      <p:sp>
        <p:nvSpPr>
          <p:cNvPr id="14" name="Rounded Rectangle 13"/>
          <p:cNvSpPr/>
          <p:nvPr/>
        </p:nvSpPr>
        <p:spPr>
          <a:xfrm>
            <a:off x="320039" y="2194560"/>
            <a:ext cx="2697480" cy="246888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5" name="TextBox 14"/>
          <p:cNvSpPr txBox="1"/>
          <p:nvPr/>
        </p:nvSpPr>
        <p:spPr>
          <a:xfrm>
            <a:off x="320039" y="2232000"/>
            <a:ext cx="2697480" cy="576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16" name="TextBox 15"/>
          <p:cNvSpPr txBox="1"/>
          <p:nvPr/>
        </p:nvSpPr>
        <p:spPr>
          <a:xfrm>
            <a:off x="411479" y="2844000"/>
            <a:ext cx="2514600" cy="503999"/>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הדוח שלנו</a:t>
            </a:r>
          </a:p>
        </p:txBody>
      </p:sp>
      <p:sp>
        <p:nvSpPr>
          <p:cNvPr id="17" name="TextBox 16"/>
          <p:cNvSpPr txBox="1"/>
          <p:nvPr/>
        </p:nvSpPr>
        <p:spPr>
          <a:xfrm>
            <a:off x="457199" y="3384000"/>
            <a:ext cx="2423160" cy="1224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0" i="0" lang="he-IL">
                <a:solidFill>
                  <a:srgbClr val="212121"/>
                </a:solidFill>
              </a:rPr>
              <a:t>pandas ניחש פורמט תאריך: 1,847 שורות נעלמו</a:t>
            </a:r>
          </a:p>
        </p:txBody>
      </p:sp>
      <p:sp>
        <p:nvSpPr>
          <p:cNvPr id="18" name="TextBox 17"/>
          <p:cNvSpPr txBox="1"/>
          <p:nvPr/>
        </p:nvSpPr>
        <p:spPr>
          <a:xfrm>
            <a:off x="365760" y="475488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1" i="0" lang="he-IL">
                <a:solidFill>
                  <a:srgbClr val="EA4335"/>
                </a:solidFill>
              </a:rPr>
              <a:t>המשותף: המערכת עזרה בשקט, ואף אחד לא השווה למקור חיצוני.</a:t>
            </a:r>
          </a:p>
        </p:txBody>
      </p:sp>
      <p:sp>
        <p:nvSpPr>
          <p:cNvPr id="19" name="Tag"/>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העשרה :מה המחקר אומר על באגים ב־AI</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417320"/>
            <a:ext cx="4114800" cy="1463040"/>
          </a:xfrm>
          <a:prstGeom prst="roundRect">
            <a:avLst>
              <a:gd name="adj" fmla="val 6000"/>
            </a:avLst>
          </a:prstGeom>
          <a:solidFill>
            <a:srgbClr val="E3EEFF"/>
          </a:solidFill>
          <a:ln w="2540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777240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7" name="TextBox 6"/>
          <p:cNvSpPr txBox="1"/>
          <p:nvPr/>
        </p:nvSpPr>
        <p:spPr>
          <a:xfrm>
            <a:off x="4754879" y="1554480"/>
            <a:ext cx="3063240" cy="4320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טקסונומיה של באגים</a:t>
            </a:r>
          </a:p>
        </p:txBody>
      </p:sp>
      <p:sp>
        <p:nvSpPr>
          <p:cNvPr id="8" name="TextBox 7"/>
          <p:cNvSpPr txBox="1"/>
          <p:nvPr/>
        </p:nvSpPr>
        <p:spPr>
          <a:xfrm>
            <a:off x="4754879" y="2004479"/>
            <a:ext cx="3063240" cy="8640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400" b="0" i="0" lang="he-IL">
                <a:solidFill>
                  <a:srgbClr val="595959"/>
                </a:solidFill>
              </a:rPr>
              <a:t>333 באגים בקוד של 3 מודלים, 10 דפוסים, למשל מקרה קצה חסר וסוג קלט שגוי</a:t>
            </a:r>
          </a:p>
        </p:txBody>
      </p:sp>
      <p:sp>
        <p:nvSpPr>
          <p:cNvPr id="9" name="Rounded Rectangle 8"/>
          <p:cNvSpPr/>
          <p:nvPr/>
        </p:nvSpPr>
        <p:spPr>
          <a:xfrm>
            <a:off x="365760" y="1417320"/>
            <a:ext cx="4114800" cy="1463040"/>
          </a:xfrm>
          <a:prstGeom prst="roundRect">
            <a:avLst>
              <a:gd name="adj" fmla="val 6000"/>
            </a:avLst>
          </a:prstGeom>
          <a:solidFill>
            <a:srgbClr val="DDF2F5"/>
          </a:solidFill>
          <a:ln w="25400">
            <a:solidFill>
              <a:srgbClr val="0097A7"/>
            </a:solidFill>
          </a:ln>
        </p:spPr>
        <p:txBody>
          <a:bodyPr rtlCol="0" anchor="ctr" wrap="square" lIns="73152" rIns="73152" tIns="73152" bIns="73152">
            <a:noAutofit/>
          </a:bodyPr>
          <a:lstStyle/>
          <a:p>
            <a:pPr algn="ctr"/>
          </a:p>
        </p:txBody>
      </p:sp>
      <p:sp>
        <p:nvSpPr>
          <p:cNvPr id="10" name="TextBox 9"/>
          <p:cNvSpPr txBox="1"/>
          <p:nvPr/>
        </p:nvSpPr>
        <p:spPr>
          <a:xfrm>
            <a:off x="347472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1" name="TextBox 10"/>
          <p:cNvSpPr txBox="1"/>
          <p:nvPr/>
        </p:nvSpPr>
        <p:spPr>
          <a:xfrm>
            <a:off x="457200" y="1554480"/>
            <a:ext cx="3063240" cy="4320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בדיקות חלשות מסתירות</a:t>
            </a:r>
          </a:p>
        </p:txBody>
      </p:sp>
      <p:sp>
        <p:nvSpPr>
          <p:cNvPr id="12" name="TextBox 11"/>
          <p:cNvSpPr txBox="1"/>
          <p:nvPr/>
        </p:nvSpPr>
        <p:spPr>
          <a:xfrm>
            <a:off x="457200" y="2004479"/>
            <a:ext cx="3063240" cy="8640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400" b="0" i="0" lang="he-IL">
                <a:solidFill>
                  <a:srgbClr val="595959"/>
                </a:solidFill>
              </a:rPr>
              <a:t>EvalPlus: יותר בדיקות הורידו את pass@k בעד 19.3‎–‎28.9 אחוז</a:t>
            </a:r>
          </a:p>
        </p:txBody>
      </p:sp>
      <p:sp>
        <p:nvSpPr>
          <p:cNvPr id="13" name="Rounded Rectangle 12"/>
          <p:cNvSpPr/>
          <p:nvPr/>
        </p:nvSpPr>
        <p:spPr>
          <a:xfrm>
            <a:off x="4663440" y="3063240"/>
            <a:ext cx="4114800" cy="1463040"/>
          </a:xfrm>
          <a:prstGeom prst="roundRect">
            <a:avLst>
              <a:gd name="adj" fmla="val 6000"/>
            </a:avLst>
          </a:prstGeom>
          <a:solidFill>
            <a:srgbClr val="FFF0D9"/>
          </a:solidFill>
          <a:ln w="25400">
            <a:solidFill>
              <a:srgbClr val="FFAB40"/>
            </a:solidFill>
          </a:ln>
        </p:spPr>
        <p:txBody>
          <a:bodyPr rtlCol="0" anchor="ctr" wrap="square" lIns="73152" rIns="73152" tIns="73152" bIns="73152">
            <a:noAutofit/>
          </a:bodyPr>
          <a:lstStyle/>
          <a:p>
            <a:pPr algn="ctr"/>
          </a:p>
        </p:txBody>
      </p:sp>
      <p:sp>
        <p:nvSpPr>
          <p:cNvPr id="14" name="TextBox 13"/>
          <p:cNvSpPr txBox="1"/>
          <p:nvPr/>
        </p:nvSpPr>
        <p:spPr>
          <a:xfrm>
            <a:off x="777240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5" name="TextBox 14"/>
          <p:cNvSpPr txBox="1"/>
          <p:nvPr/>
        </p:nvSpPr>
        <p:spPr>
          <a:xfrm>
            <a:off x="4754879" y="3200400"/>
            <a:ext cx="3063240" cy="4320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חבילות שלא קיימות</a:t>
            </a:r>
          </a:p>
        </p:txBody>
      </p:sp>
      <p:sp>
        <p:nvSpPr>
          <p:cNvPr id="16" name="TextBox 15"/>
          <p:cNvSpPr txBox="1"/>
          <p:nvPr/>
        </p:nvSpPr>
        <p:spPr>
          <a:xfrm>
            <a:off x="4754879" y="3650400"/>
            <a:ext cx="3063240" cy="8640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400" b="0" i="0" lang="he-IL">
                <a:solidFill>
                  <a:srgbClr val="595959"/>
                </a:solidFill>
              </a:rPr>
              <a:t>לפחות 5.2 אחוז במודלים מסחריים, ו־21.7 אחוז בקוד פתוח</a:t>
            </a:r>
          </a:p>
        </p:txBody>
      </p:sp>
      <p:sp>
        <p:nvSpPr>
          <p:cNvPr id="17" name="Rounded Rectangle 16"/>
          <p:cNvSpPr/>
          <p:nvPr/>
        </p:nvSpPr>
        <p:spPr>
          <a:xfrm>
            <a:off x="365760" y="3063240"/>
            <a:ext cx="4114800" cy="1463040"/>
          </a:xfrm>
          <a:prstGeom prst="roundRect">
            <a:avLst>
              <a:gd name="adj" fmla="val 6000"/>
            </a:avLst>
          </a:prstGeom>
          <a:solidFill>
            <a:srgbClr val="E1F4E6"/>
          </a:solidFill>
          <a:ln w="25400">
            <a:solidFill>
              <a:srgbClr val="34A853"/>
            </a:solidFill>
          </a:ln>
        </p:spPr>
        <p:txBody>
          <a:bodyPr rtlCol="0" anchor="ctr" wrap="square" lIns="73152" rIns="73152" tIns="73152" bIns="73152">
            <a:noAutofit/>
          </a:bodyPr>
          <a:lstStyle/>
          <a:p>
            <a:pPr algn="ctr"/>
          </a:p>
        </p:txBody>
      </p:sp>
      <p:sp>
        <p:nvSpPr>
          <p:cNvPr id="18" name="TextBox 17"/>
          <p:cNvSpPr txBox="1"/>
          <p:nvPr/>
        </p:nvSpPr>
        <p:spPr>
          <a:xfrm>
            <a:off x="347472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9" name="TextBox 18"/>
          <p:cNvSpPr txBox="1"/>
          <p:nvPr/>
        </p:nvSpPr>
        <p:spPr>
          <a:xfrm>
            <a:off x="457200" y="3200400"/>
            <a:ext cx="3063240" cy="4320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המלצת פרקטיקה</a:t>
            </a:r>
          </a:p>
        </p:txBody>
      </p:sp>
      <p:sp>
        <p:nvSpPr>
          <p:cNvPr id="20" name="TextBox 19"/>
          <p:cNvSpPr txBox="1"/>
          <p:nvPr/>
        </p:nvSpPr>
        <p:spPr>
          <a:xfrm>
            <a:off x="457200" y="3650400"/>
            <a:ext cx="3063240" cy="8640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400" b="0" i="0" lang="he-IL">
                <a:solidFill>
                  <a:srgbClr val="595959"/>
                </a:solidFill>
              </a:rPr>
              <a:t>לא סומכים על קריאה: מריצים, ובודקים מול נתונים ובדיקות</a:t>
            </a:r>
          </a:p>
        </p:txBody>
      </p:sp>
      <p:sp>
        <p:nvSpPr>
          <p:cNvPr id="21" name="Tag"/>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העשרה :תיקון עצמי ולולאת תיקונים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25880"/>
            <a:ext cx="8412480" cy="82296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800" b="1" i="0" lang="he-IL">
                <a:solidFill>
                  <a:srgbClr val="EA4335"/>
                </a:solidFill>
              </a:rPr>
              <a:t>האם ה־AI יכול לתקן את עצמו? המחקר: חלקית.</a:t>
            </a:r>
          </a:p>
        </p:txBody>
      </p:sp>
      <p:sp>
        <p:nvSpPr>
          <p:cNvPr id="6" name="Rounded Rectangle 5"/>
          <p:cNvSpPr/>
          <p:nvPr/>
        </p:nvSpPr>
        <p:spPr>
          <a:xfrm>
            <a:off x="6172200" y="2194560"/>
            <a:ext cx="2697480" cy="246888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7" name="TextBox 6"/>
          <p:cNvSpPr txBox="1"/>
          <p:nvPr/>
        </p:nvSpPr>
        <p:spPr>
          <a:xfrm>
            <a:off x="6172200" y="2232000"/>
            <a:ext cx="2697480" cy="576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8" name="TextBox 7"/>
          <p:cNvSpPr txBox="1"/>
          <p:nvPr/>
        </p:nvSpPr>
        <p:spPr>
          <a:xfrm>
            <a:off x="6263640" y="2844000"/>
            <a:ext cx="2514600" cy="503999"/>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Olausson et al. (2024)</a:t>
            </a:r>
          </a:p>
        </p:txBody>
      </p:sp>
      <p:sp>
        <p:nvSpPr>
          <p:cNvPr id="9" name="TextBox 8"/>
          <p:cNvSpPr txBox="1"/>
          <p:nvPr/>
        </p:nvSpPr>
        <p:spPr>
          <a:xfrm>
            <a:off x="6309360" y="3384000"/>
            <a:ext cx="2423160" cy="1224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0" i="0" lang="he-IL">
                <a:solidFill>
                  <a:srgbClr val="212121"/>
                </a:solidFill>
              </a:rPr>
              <a:t>הרווח מתיקון עצמי צנוע, ותלוי באיכות המשוב על הקוד</a:t>
            </a:r>
          </a:p>
        </p:txBody>
      </p:sp>
      <p:sp>
        <p:nvSpPr>
          <p:cNvPr id="10" name="Rounded Rectangle 9"/>
          <p:cNvSpPr/>
          <p:nvPr/>
        </p:nvSpPr>
        <p:spPr>
          <a:xfrm>
            <a:off x="3246120" y="2194560"/>
            <a:ext cx="2697480" cy="246888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1" name="TextBox 10"/>
          <p:cNvSpPr txBox="1"/>
          <p:nvPr/>
        </p:nvSpPr>
        <p:spPr>
          <a:xfrm>
            <a:off x="3246120" y="2232000"/>
            <a:ext cx="2697480" cy="576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12" name="TextBox 11"/>
          <p:cNvSpPr txBox="1"/>
          <p:nvPr/>
        </p:nvSpPr>
        <p:spPr>
          <a:xfrm>
            <a:off x="3337560" y="2844000"/>
            <a:ext cx="2514600" cy="503999"/>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Adnan &amp; Kuhn (2025)</a:t>
            </a:r>
          </a:p>
        </p:txBody>
      </p:sp>
      <p:sp>
        <p:nvSpPr>
          <p:cNvPr id="13" name="TextBox 12"/>
          <p:cNvSpPr txBox="1"/>
          <p:nvPr/>
        </p:nvSpPr>
        <p:spPr>
          <a:xfrm>
            <a:off x="3383279" y="3384000"/>
            <a:ext cx="2423160" cy="1224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0" i="0" lang="he-IL">
                <a:solidFill>
                  <a:srgbClr val="212121"/>
                </a:solidFill>
              </a:rPr>
              <a:t>רוב המודלים איבדו 60‎–‎80 אחוז מיכולת הדיבוג תוך 2‎–‎3 ניסיונות</a:t>
            </a:r>
          </a:p>
        </p:txBody>
      </p:sp>
      <p:sp>
        <p:nvSpPr>
          <p:cNvPr id="14" name="Rounded Rectangle 13"/>
          <p:cNvSpPr/>
          <p:nvPr/>
        </p:nvSpPr>
        <p:spPr>
          <a:xfrm>
            <a:off x="320039" y="2194560"/>
            <a:ext cx="2697480" cy="246888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5" name="TextBox 14"/>
          <p:cNvSpPr txBox="1"/>
          <p:nvPr/>
        </p:nvSpPr>
        <p:spPr>
          <a:xfrm>
            <a:off x="320039" y="2232000"/>
            <a:ext cx="2697480" cy="576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16" name="TextBox 15"/>
          <p:cNvSpPr txBox="1"/>
          <p:nvPr/>
        </p:nvSpPr>
        <p:spPr>
          <a:xfrm>
            <a:off x="411479" y="2844000"/>
            <a:ext cx="2514600" cy="503999"/>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מה עושים בפועל</a:t>
            </a:r>
          </a:p>
        </p:txBody>
      </p:sp>
      <p:sp>
        <p:nvSpPr>
          <p:cNvPr id="17" name="TextBox 16"/>
          <p:cNvSpPr txBox="1"/>
          <p:nvPr/>
        </p:nvSpPr>
        <p:spPr>
          <a:xfrm>
            <a:off x="457199" y="3384000"/>
            <a:ext cx="2423160" cy="1224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0" i="0" lang="he-IL">
                <a:solidFill>
                  <a:srgbClr val="212121"/>
                </a:solidFill>
              </a:rPr>
              <a:t>שיחה חדשה אחרי 2‎–‎3 כשלונות, ומשוב אמיתי: הרצה, בדיקה ומספרים</a:t>
            </a:r>
          </a:p>
        </p:txBody>
      </p:sp>
      <p:sp>
        <p:nvSpPr>
          <p:cNvPr id="18" name="TextBox 17"/>
          <p:cNvSpPr txBox="1"/>
          <p:nvPr/>
        </p:nvSpPr>
        <p:spPr>
          <a:xfrm>
            <a:off x="365760" y="475488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1" i="0" lang="he-IL">
                <a:solidFill>
                  <a:srgbClr val="EA4335"/>
                </a:solidFill>
              </a:rPr>
              <a:t>כלל העצירה הוא יוריסטיקה פרקטית, לא חוק טבע.</a:t>
            </a:r>
          </a:p>
        </p:txBody>
      </p:sp>
      <p:sp>
        <p:nvSpPr>
          <p:cNvPr id="19" name="Tag"/>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העשרה :5 למה ותחקיר בלי אשמה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463040"/>
            <a:ext cx="4114800" cy="3200400"/>
          </a:xfrm>
          <a:prstGeom prst="roundRect">
            <a:avLst>
              <a:gd name="adj" fmla="val 5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6" name="TextBox 5"/>
          <p:cNvSpPr txBox="1"/>
          <p:nvPr/>
        </p:nvSpPr>
        <p:spPr>
          <a:xfrm>
            <a:off x="4663440" y="1508760"/>
            <a:ext cx="411480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FFAB40"/>
                </a:solidFill>
              </a:rPr>
              <a:t>5 למה: מגבלות</a:t>
            </a:r>
          </a:p>
        </p:txBody>
      </p:sp>
      <p:sp>
        <p:nvSpPr>
          <p:cNvPr id="7" name="TextBox 6"/>
          <p:cNvSpPr txBox="1"/>
          <p:nvPr/>
        </p:nvSpPr>
        <p:spPr>
          <a:xfrm>
            <a:off x="4846320" y="2011680"/>
            <a:ext cx="3749039" cy="2560320"/>
          </a:xfrm>
          <a:prstGeom prst="rect">
            <a:avLst/>
          </a:prstGeom>
          <a:noFill/>
        </p:spPr>
        <p:txBody>
          <a:bodyPr wrap="square" lIns="73152" rIns="73152" tIns="73152" bIns="73152" anchor="t">
            <a:noAutofit/>
          </a:bodyPr>
          <a:lstStyle/>
          <a:p>
            <a:pPr rtl="1" algn="r" marL="347472" indent="-292608">
              <a:lnSpc>
                <a:spcPct val="110000"/>
              </a:lnSpc>
              <a:spcBef>
                <a:spcPts val="0"/>
              </a:spcBef>
              <a:spcAft>
                <a:spcPts val="400"/>
              </a:spcAft>
              <a:buClr>
                <a:srgbClr val="212121"/>
              </a:buClr>
              <a:buSzPts val="1280"/>
              <a:buChar char="●"/>
            </a:pPr>
            <a:r>
              <a:rPr sz="1600" b="0" i="0" lang="he-IL">
                <a:solidFill>
                  <a:srgbClr val="212121"/>
                </a:solidFill>
              </a:rPr>
              <a:t>מקורו בטויוטה (Ohno)</a:t>
            </a:r>
          </a:p>
          <a:p>
            <a:pPr rtl="1" algn="r" marL="347472" indent="-292608">
              <a:lnSpc>
                <a:spcPct val="110000"/>
              </a:lnSpc>
              <a:spcBef>
                <a:spcPts val="0"/>
              </a:spcBef>
              <a:spcAft>
                <a:spcPts val="400"/>
              </a:spcAft>
              <a:buClr>
                <a:srgbClr val="212121"/>
              </a:buClr>
              <a:buSzPts val="1280"/>
              <a:buChar char="●"/>
            </a:pPr>
            <a:r>
              <a:rPr sz="1600" b="0" i="0" lang="he-IL">
                <a:solidFill>
                  <a:srgbClr val="212121"/>
                </a:solidFill>
              </a:rPr>
              <a:t>מספר ה־Why שרירותי</a:t>
            </a:r>
          </a:p>
          <a:p>
            <a:pPr rtl="1" algn="r" marL="347472" indent="-292608">
              <a:lnSpc>
                <a:spcPct val="110000"/>
              </a:lnSpc>
              <a:spcBef>
                <a:spcPts val="0"/>
              </a:spcBef>
              <a:spcAft>
                <a:spcPts val="400"/>
              </a:spcAft>
              <a:buClr>
                <a:srgbClr val="212121"/>
              </a:buClr>
              <a:buSzPts val="1280"/>
              <a:buChar char="●"/>
            </a:pPr>
            <a:r>
              <a:rPr sz="1600" b="0" i="0" lang="he-IL">
                <a:solidFill>
                  <a:srgbClr val="212121"/>
                </a:solidFill>
              </a:rPr>
              <a:t>נשען על היסק, לא תצפית</a:t>
            </a:r>
          </a:p>
          <a:p>
            <a:pPr rtl="1" algn="r" marL="347472" indent="-292608">
              <a:lnSpc>
                <a:spcPct val="110000"/>
              </a:lnSpc>
              <a:spcBef>
                <a:spcPts val="0"/>
              </a:spcBef>
              <a:spcAft>
                <a:spcPts val="400"/>
              </a:spcAft>
              <a:buClr>
                <a:srgbClr val="212121"/>
              </a:buClr>
              <a:buSzPts val="1280"/>
              <a:buChar char="●"/>
            </a:pPr>
            <a:r>
              <a:rPr sz="1600" b="0" i="0" lang="he-IL">
                <a:solidFill>
                  <a:srgbClr val="212121"/>
                </a:solidFill>
              </a:rPr>
              <a:t>שרשרת אחת מפספסת שורשים</a:t>
            </a:r>
          </a:p>
          <a:p>
            <a:pPr rtl="1" algn="r" marL="347472" indent="-292608">
              <a:lnSpc>
                <a:spcPct val="110000"/>
              </a:lnSpc>
              <a:spcBef>
                <a:spcPts val="0"/>
              </a:spcBef>
              <a:spcAft>
                <a:spcPts val="400"/>
              </a:spcAft>
              <a:buClr>
                <a:srgbClr val="212121"/>
              </a:buClr>
              <a:buSzPts val="1280"/>
              <a:buChar char="●"/>
            </a:pPr>
            <a:r>
              <a:rPr sz="1600" b="0" i="0" lang="he-IL">
                <a:solidFill>
                  <a:srgbClr val="212121"/>
                </a:solidFill>
              </a:rPr>
              <a:t>Card, 2017</a:t>
            </a:r>
          </a:p>
        </p:txBody>
      </p:sp>
      <p:sp>
        <p:nvSpPr>
          <p:cNvPr id="8" name="Rounded Rectangle 7"/>
          <p:cNvSpPr/>
          <p:nvPr/>
        </p:nvSpPr>
        <p:spPr>
          <a:xfrm>
            <a:off x="365760" y="1463040"/>
            <a:ext cx="4114800" cy="3200400"/>
          </a:xfrm>
          <a:prstGeom prst="roundRect">
            <a:avLst>
              <a:gd name="adj" fmla="val 5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9" name="TextBox 8"/>
          <p:cNvSpPr txBox="1"/>
          <p:nvPr/>
        </p:nvSpPr>
        <p:spPr>
          <a:xfrm>
            <a:off x="365760" y="1508760"/>
            <a:ext cx="411480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4285F4"/>
                </a:solidFill>
              </a:rPr>
              <a:t>תחקיר בלי אשמה</a:t>
            </a:r>
          </a:p>
        </p:txBody>
      </p:sp>
      <p:sp>
        <p:nvSpPr>
          <p:cNvPr id="10" name="TextBox 9"/>
          <p:cNvSpPr txBox="1"/>
          <p:nvPr/>
        </p:nvSpPr>
        <p:spPr>
          <a:xfrm>
            <a:off x="548640" y="2011680"/>
            <a:ext cx="3749039" cy="2560320"/>
          </a:xfrm>
          <a:prstGeom prst="rect">
            <a:avLst/>
          </a:prstGeom>
          <a:noFill/>
        </p:spPr>
        <p:txBody>
          <a:bodyPr wrap="square" lIns="73152" rIns="73152" tIns="73152" bIns="73152" anchor="t">
            <a:noAutofit/>
          </a:bodyPr>
          <a:lstStyle/>
          <a:p>
            <a:pPr rtl="1" algn="r" marL="347472" indent="-292608">
              <a:lnSpc>
                <a:spcPct val="110000"/>
              </a:lnSpc>
              <a:spcBef>
                <a:spcPts val="0"/>
              </a:spcBef>
              <a:spcAft>
                <a:spcPts val="400"/>
              </a:spcAft>
              <a:buClr>
                <a:srgbClr val="212121"/>
              </a:buClr>
              <a:buSzPts val="1280"/>
              <a:buChar char="●"/>
            </a:pPr>
            <a:r>
              <a:rPr sz="1600" b="0" i="0" lang="he-IL">
                <a:solidFill>
                  <a:srgbClr val="212121"/>
                </a:solidFill>
              </a:rPr>
              <a:t>מתעדים: אירוע, השפעה, תיקון</a:t>
            </a:r>
          </a:p>
          <a:p>
            <a:pPr rtl="1" algn="r" marL="347472" indent="-292608">
              <a:lnSpc>
                <a:spcPct val="110000"/>
              </a:lnSpc>
              <a:spcBef>
                <a:spcPts val="0"/>
              </a:spcBef>
              <a:spcAft>
                <a:spcPts val="400"/>
              </a:spcAft>
              <a:buClr>
                <a:srgbClr val="212121"/>
              </a:buClr>
              <a:buSzPts val="1280"/>
              <a:buChar char="●"/>
            </a:pPr>
            <a:r>
              <a:rPr sz="1600" b="0" i="0" lang="he-IL">
                <a:solidFill>
                  <a:srgbClr val="212121"/>
                </a:solidFill>
              </a:rPr>
              <a:t>שורש, ופעולות מעקב</a:t>
            </a:r>
          </a:p>
          <a:p>
            <a:pPr rtl="1" algn="r" marL="347472" indent="-292608">
              <a:lnSpc>
                <a:spcPct val="110000"/>
              </a:lnSpc>
              <a:spcBef>
                <a:spcPts val="0"/>
              </a:spcBef>
              <a:spcAft>
                <a:spcPts val="400"/>
              </a:spcAft>
              <a:buClr>
                <a:srgbClr val="212121"/>
              </a:buClr>
              <a:buSzPts val="1280"/>
              <a:buChar char="●"/>
            </a:pPr>
            <a:r>
              <a:rPr sz="1600" b="0" i="0" lang="he-IL">
                <a:solidFill>
                  <a:srgbClr val="212121"/>
                </a:solidFill>
              </a:rPr>
              <a:t>מתמקדים במערכת, לא באדם</a:t>
            </a:r>
          </a:p>
          <a:p>
            <a:pPr rtl="1" algn="r" marL="347472" indent="-292608">
              <a:lnSpc>
                <a:spcPct val="110000"/>
              </a:lnSpc>
              <a:spcBef>
                <a:spcPts val="0"/>
              </a:spcBef>
              <a:spcAft>
                <a:spcPts val="400"/>
              </a:spcAft>
              <a:buClr>
                <a:srgbClr val="212121"/>
              </a:buClr>
              <a:buSzPts val="1280"/>
              <a:buChar char="●"/>
            </a:pPr>
            <a:r>
              <a:rPr sz="1600" b="0" i="0" lang="he-IL">
                <a:solidFill>
                  <a:srgbClr val="212121"/>
                </a:solidFill>
              </a:rPr>
              <a:t>גוגל SRE: עיקרון בתרבות</a:t>
            </a:r>
          </a:p>
          <a:p>
            <a:pPr rtl="1" algn="r" marL="347472" indent="-292608">
              <a:lnSpc>
                <a:spcPct val="110000"/>
              </a:lnSpc>
              <a:spcBef>
                <a:spcPts val="0"/>
              </a:spcBef>
              <a:spcAft>
                <a:spcPts val="400"/>
              </a:spcAft>
              <a:buClr>
                <a:srgbClr val="212121"/>
              </a:buClr>
              <a:buSzPts val="1280"/>
              <a:buChar char="●"/>
            </a:pPr>
            <a:r>
              <a:rPr sz="1600" b="0" i="0" lang="he-IL">
                <a:solidFill>
                  <a:srgbClr val="212121"/>
                </a:solidFill>
              </a:rPr>
              <a:t>אם מענישים, מסתירים באגים</a:t>
            </a:r>
          </a:p>
        </p:txBody>
      </p:sp>
      <p:sp>
        <p:nvSpPr>
          <p:cNvPr id="11" name="Axis caption"/>
          <p:cNvSpPr txBox="1"/>
          <p:nvPr/>
        </p:nvSpPr>
        <p:spPr>
          <a:xfrm>
            <a:off x="365760" y="471600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1" i="0" lang="he-IL">
                <a:solidFill>
                  <a:srgbClr val="EA4335"/>
                </a:solidFill>
              </a:rPr>
              <a:t>אצלנו שני שורשים (תאריך וכפילויות): עץ סיבות, לא שרשרת.</a:t>
            </a:r>
          </a:p>
        </p:txBody>
      </p:sp>
      <p:sp>
        <p:nvSpPr>
          <p:cNvPr id="12" name="Tag"/>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העשרה :מקורות על שיטה ותחקיר</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ag"/>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
        <p:nvSpPr>
          <p:cNvPr id="6" name="Source 1"/>
          <p:cNvSpPr/>
          <p:nvPr/>
        </p:nvSpPr>
        <p:spPr>
          <a:xfrm>
            <a:off x="365760" y="1278000"/>
            <a:ext cx="8412480" cy="496799"/>
          </a:xfrm>
          <a:prstGeom prst="rect">
            <a:avLst/>
          </a:prstGeom>
          <a:solidFill>
            <a:srgbClr val="E3EEFF"/>
          </a:solidFill>
          <a:ln w="19050">
            <a:solidFill>
              <a:srgbClr val="EEEEEE"/>
            </a:solidFill>
          </a:ln>
        </p:spPr>
        <p:txBody>
          <a:bodyPr rtlCol="0" anchor="ctr" wrap="square" lIns="73152" rIns="73152" tIns="36000" bIns="36000">
            <a:noAutofit/>
          </a:bodyPr>
          <a:lstStyle/>
          <a:p>
            <a:pPr rtl="0" algn="l" marL="0" indent="0">
              <a:lnSpc>
                <a:spcPct val="100000"/>
              </a:lnSpc>
              <a:spcBef>
                <a:spcPts val="0"/>
              </a:spcBef>
              <a:spcAft>
                <a:spcPts val="0"/>
              </a:spcAft>
              <a:buNone/>
            </a:pPr>
            <a:r>
              <a:rPr sz="1300" b="0" i="0" lang="en-US">
                <a:solidFill>
                  <a:srgbClr val="212121"/>
                </a:solidFill>
              </a:rPr>
              <a:t>Zeller, A. (2009). Why Programs Fail: A Guide to Systematic Debugging (2nd ed.). Morgan Kaufmann. Also: debuggingbook.org</a:t>
            </a:r>
          </a:p>
        </p:txBody>
      </p:sp>
      <p:sp>
        <p:nvSpPr>
          <p:cNvPr id="7" name="Source 2"/>
          <p:cNvSpPr/>
          <p:nvPr/>
        </p:nvSpPr>
        <p:spPr>
          <a:xfrm>
            <a:off x="365760" y="1818000"/>
            <a:ext cx="8412480" cy="496799"/>
          </a:xfrm>
          <a:prstGeom prst="rect">
            <a:avLst/>
          </a:prstGeom>
          <a:solidFill>
            <a:srgbClr val="E3EEFF"/>
          </a:solidFill>
          <a:ln w="19050">
            <a:solidFill>
              <a:srgbClr val="EEEEEE"/>
            </a:solidFill>
          </a:ln>
        </p:spPr>
        <p:txBody>
          <a:bodyPr rtlCol="0" anchor="ctr" wrap="square" lIns="73152" rIns="73152" tIns="36000" bIns="36000">
            <a:noAutofit/>
          </a:bodyPr>
          <a:lstStyle/>
          <a:p>
            <a:pPr rtl="0" algn="l" marL="0" indent="0">
              <a:lnSpc>
                <a:spcPct val="100000"/>
              </a:lnSpc>
              <a:spcBef>
                <a:spcPts val="0"/>
              </a:spcBef>
              <a:spcAft>
                <a:spcPts val="0"/>
              </a:spcAft>
              <a:buNone/>
            </a:pPr>
            <a:r>
              <a:rPr sz="1300" b="0" i="0" lang="en-US">
                <a:solidFill>
                  <a:srgbClr val="212121"/>
                </a:solidFill>
              </a:rPr>
              <a:t>Zeller, A., &amp; Hildebrandt, R. (2002). Simplifying and Isolating Failure-Inducing Input. IEEE Transactions on Software Engineering, 28(2), 183–200.</a:t>
            </a:r>
          </a:p>
        </p:txBody>
      </p:sp>
      <p:sp>
        <p:nvSpPr>
          <p:cNvPr id="8" name="Source 3"/>
          <p:cNvSpPr/>
          <p:nvPr/>
        </p:nvSpPr>
        <p:spPr>
          <a:xfrm>
            <a:off x="365760" y="2358000"/>
            <a:ext cx="8412480" cy="496799"/>
          </a:xfrm>
          <a:prstGeom prst="rect">
            <a:avLst/>
          </a:prstGeom>
          <a:solidFill>
            <a:srgbClr val="E3EEFF"/>
          </a:solidFill>
          <a:ln w="19050">
            <a:solidFill>
              <a:srgbClr val="EEEEEE"/>
            </a:solidFill>
          </a:ln>
        </p:spPr>
        <p:txBody>
          <a:bodyPr rtlCol="0" anchor="ctr" wrap="square" lIns="73152" rIns="73152" tIns="36000" bIns="36000">
            <a:noAutofit/>
          </a:bodyPr>
          <a:lstStyle/>
          <a:p>
            <a:pPr rtl="0" algn="l" marL="0" indent="0">
              <a:lnSpc>
                <a:spcPct val="100000"/>
              </a:lnSpc>
              <a:spcBef>
                <a:spcPts val="0"/>
              </a:spcBef>
              <a:spcAft>
                <a:spcPts val="0"/>
              </a:spcAft>
              <a:buNone/>
            </a:pPr>
            <a:r>
              <a:rPr sz="1300" b="0" i="0" lang="en-US">
                <a:solidFill>
                  <a:srgbClr val="212121"/>
                </a:solidFill>
              </a:rPr>
              <a:t>Git documentation. git-bisect. git-scm.com/docs/git-bisect</a:t>
            </a:r>
          </a:p>
        </p:txBody>
      </p:sp>
      <p:sp>
        <p:nvSpPr>
          <p:cNvPr id="9" name="Source 4"/>
          <p:cNvSpPr/>
          <p:nvPr/>
        </p:nvSpPr>
        <p:spPr>
          <a:xfrm>
            <a:off x="365760" y="2898000"/>
            <a:ext cx="8412480" cy="496799"/>
          </a:xfrm>
          <a:prstGeom prst="rect">
            <a:avLst/>
          </a:prstGeom>
          <a:solidFill>
            <a:srgbClr val="E3EEFF"/>
          </a:solidFill>
          <a:ln w="19050">
            <a:solidFill>
              <a:srgbClr val="EEEEEE"/>
            </a:solidFill>
          </a:ln>
        </p:spPr>
        <p:txBody>
          <a:bodyPr rtlCol="0" anchor="ctr" wrap="square" lIns="73152" rIns="73152" tIns="36000" bIns="36000">
            <a:noAutofit/>
          </a:bodyPr>
          <a:lstStyle/>
          <a:p>
            <a:pPr rtl="0" algn="l" marL="0" indent="0">
              <a:lnSpc>
                <a:spcPct val="100000"/>
              </a:lnSpc>
              <a:spcBef>
                <a:spcPts val="0"/>
              </a:spcBef>
              <a:spcAft>
                <a:spcPts val="0"/>
              </a:spcAft>
              <a:buNone/>
            </a:pPr>
            <a:r>
              <a:rPr sz="1300" b="0" i="0" lang="en-US">
                <a:solidFill>
                  <a:srgbClr val="212121"/>
                </a:solidFill>
              </a:rPr>
              <a:t>pandas 2.0.0 release notes: Datetimes are now parsed with a consistent format. pandas.pydata.org/docs/whatsnew/v2.0.0.html</a:t>
            </a:r>
          </a:p>
        </p:txBody>
      </p:sp>
      <p:sp>
        <p:nvSpPr>
          <p:cNvPr id="10" name="Source 5"/>
          <p:cNvSpPr/>
          <p:nvPr/>
        </p:nvSpPr>
        <p:spPr>
          <a:xfrm>
            <a:off x="365760" y="3438000"/>
            <a:ext cx="8412480" cy="496799"/>
          </a:xfrm>
          <a:prstGeom prst="rect">
            <a:avLst/>
          </a:prstGeom>
          <a:solidFill>
            <a:srgbClr val="E3EEFF"/>
          </a:solidFill>
          <a:ln w="19050">
            <a:solidFill>
              <a:srgbClr val="EEEEEE"/>
            </a:solidFill>
          </a:ln>
        </p:spPr>
        <p:txBody>
          <a:bodyPr rtlCol="0" anchor="ctr" wrap="square" lIns="73152" rIns="73152" tIns="36000" bIns="36000">
            <a:noAutofit/>
          </a:bodyPr>
          <a:lstStyle/>
          <a:p>
            <a:pPr rtl="0" algn="l" marL="0" indent="0">
              <a:lnSpc>
                <a:spcPct val="100000"/>
              </a:lnSpc>
              <a:spcBef>
                <a:spcPts val="0"/>
              </a:spcBef>
              <a:spcAft>
                <a:spcPts val="0"/>
              </a:spcAft>
              <a:buNone/>
            </a:pPr>
            <a:r>
              <a:rPr sz="1300" b="0" i="0" lang="en-US">
                <a:solidFill>
                  <a:srgbClr val="212121"/>
                </a:solidFill>
              </a:rPr>
              <a:t>Lunney, J., &amp; Lueder, S. Postmortem Culture: Learning from Failure. In Beyer et al. (eds.) (2016), Site Reliability Engineering, ch. 15. sre.google/sre-book/postmortem-culture</a:t>
            </a:r>
          </a:p>
        </p:txBody>
      </p:sp>
      <p:sp>
        <p:nvSpPr>
          <p:cNvPr id="11" name="Source 6"/>
          <p:cNvSpPr/>
          <p:nvPr/>
        </p:nvSpPr>
        <p:spPr>
          <a:xfrm>
            <a:off x="365760" y="3978000"/>
            <a:ext cx="8412480" cy="496799"/>
          </a:xfrm>
          <a:prstGeom prst="rect">
            <a:avLst/>
          </a:prstGeom>
          <a:solidFill>
            <a:srgbClr val="E3EEFF"/>
          </a:solidFill>
          <a:ln w="19050">
            <a:solidFill>
              <a:srgbClr val="EEEEEE"/>
            </a:solidFill>
          </a:ln>
        </p:spPr>
        <p:txBody>
          <a:bodyPr rtlCol="0" anchor="ctr" wrap="square" lIns="73152" rIns="73152" tIns="36000" bIns="36000">
            <a:noAutofit/>
          </a:bodyPr>
          <a:lstStyle/>
          <a:p>
            <a:pPr rtl="0" algn="l" marL="0" indent="0">
              <a:lnSpc>
                <a:spcPct val="100000"/>
              </a:lnSpc>
              <a:spcBef>
                <a:spcPts val="0"/>
              </a:spcBef>
              <a:spcAft>
                <a:spcPts val="0"/>
              </a:spcAft>
              <a:buNone/>
            </a:pPr>
            <a:r>
              <a:rPr sz="1300" b="0" i="0" lang="en-US">
                <a:solidFill>
                  <a:srgbClr val="212121"/>
                </a:solidFill>
              </a:rPr>
              <a:t>Card, A. J. (2017). The problem with ‘5 whys’. BMJ Quality &amp; Safety, 26(8), 671–677.</a:t>
            </a:r>
          </a:p>
        </p:txBody>
      </p:sp>
      <p:sp>
        <p:nvSpPr>
          <p:cNvPr id="12" name="Source 7"/>
          <p:cNvSpPr/>
          <p:nvPr/>
        </p:nvSpPr>
        <p:spPr>
          <a:xfrm>
            <a:off x="365760" y="4518000"/>
            <a:ext cx="8412480" cy="496799"/>
          </a:xfrm>
          <a:prstGeom prst="rect">
            <a:avLst/>
          </a:prstGeom>
          <a:solidFill>
            <a:srgbClr val="E3EEFF"/>
          </a:solidFill>
          <a:ln w="19050">
            <a:solidFill>
              <a:srgbClr val="EEEEEE"/>
            </a:solidFill>
          </a:ln>
        </p:spPr>
        <p:txBody>
          <a:bodyPr rtlCol="0" anchor="ctr" wrap="square" lIns="73152" rIns="73152" tIns="36000" bIns="36000">
            <a:noAutofit/>
          </a:bodyPr>
          <a:lstStyle/>
          <a:p>
            <a:pPr rtl="0" algn="l" marL="0" indent="0">
              <a:lnSpc>
                <a:spcPct val="100000"/>
              </a:lnSpc>
              <a:spcBef>
                <a:spcPts val="0"/>
              </a:spcBef>
              <a:spcAft>
                <a:spcPts val="0"/>
              </a:spcAft>
              <a:buNone/>
            </a:pPr>
            <a:r>
              <a:rPr sz="1300" b="0" i="0" lang="en-US">
                <a:solidFill>
                  <a:srgbClr val="212121"/>
                </a:solidFill>
              </a:rPr>
              <a:t>Barr, E. T., Harman, M., McMinn, P., Shahbaz, M., &amp; Yoo, S. (2015). The Oracle Problem in Software Testing: A Survey. IEEE TSE, 41(5), 507–525.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 העשרה :מקורות על קוד AI ונתונים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ag"/>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
        <p:nvSpPr>
          <p:cNvPr id="6" name="Source 1"/>
          <p:cNvSpPr/>
          <p:nvPr/>
        </p:nvSpPr>
        <p:spPr>
          <a:xfrm>
            <a:off x="365760" y="1278000"/>
            <a:ext cx="8412480" cy="496799"/>
          </a:xfrm>
          <a:prstGeom prst="rect">
            <a:avLst/>
          </a:prstGeom>
          <a:solidFill>
            <a:srgbClr val="E3EEFF"/>
          </a:solidFill>
          <a:ln w="19050">
            <a:solidFill>
              <a:srgbClr val="EEEEEE"/>
            </a:solidFill>
          </a:ln>
        </p:spPr>
        <p:txBody>
          <a:bodyPr rtlCol="0" anchor="ctr" wrap="square" lIns="73152" rIns="73152" tIns="36000" bIns="36000">
            <a:noAutofit/>
          </a:bodyPr>
          <a:lstStyle/>
          <a:p>
            <a:pPr rtl="0" algn="l" marL="0" indent="0">
              <a:lnSpc>
                <a:spcPct val="100000"/>
              </a:lnSpc>
              <a:spcBef>
                <a:spcPts val="0"/>
              </a:spcBef>
              <a:spcAft>
                <a:spcPts val="0"/>
              </a:spcAft>
              <a:buNone/>
            </a:pPr>
            <a:r>
              <a:rPr sz="1300" b="0" i="0" lang="en-US">
                <a:solidFill>
                  <a:srgbClr val="212121"/>
                </a:solidFill>
              </a:rPr>
              <a:t>Tambon, F., et al. (2024). Bugs in Large Language Models Generated Code: An Empirical Study. arXiv:2403.08937.</a:t>
            </a:r>
          </a:p>
        </p:txBody>
      </p:sp>
      <p:sp>
        <p:nvSpPr>
          <p:cNvPr id="7" name="Source 2"/>
          <p:cNvSpPr/>
          <p:nvPr/>
        </p:nvSpPr>
        <p:spPr>
          <a:xfrm>
            <a:off x="365760" y="1818000"/>
            <a:ext cx="8412480" cy="496799"/>
          </a:xfrm>
          <a:prstGeom prst="rect">
            <a:avLst/>
          </a:prstGeom>
          <a:solidFill>
            <a:srgbClr val="E3EEFF"/>
          </a:solidFill>
          <a:ln w="19050">
            <a:solidFill>
              <a:srgbClr val="EEEEEE"/>
            </a:solidFill>
          </a:ln>
        </p:spPr>
        <p:txBody>
          <a:bodyPr rtlCol="0" anchor="ctr" wrap="square" lIns="73152" rIns="73152" tIns="36000" bIns="36000">
            <a:noAutofit/>
          </a:bodyPr>
          <a:lstStyle/>
          <a:p>
            <a:pPr rtl="0" algn="l" marL="0" indent="0">
              <a:lnSpc>
                <a:spcPct val="100000"/>
              </a:lnSpc>
              <a:spcBef>
                <a:spcPts val="0"/>
              </a:spcBef>
              <a:spcAft>
                <a:spcPts val="0"/>
              </a:spcAft>
              <a:buNone/>
            </a:pPr>
            <a:r>
              <a:rPr sz="1300" b="0" i="0" lang="en-US">
                <a:solidFill>
                  <a:srgbClr val="212121"/>
                </a:solidFill>
              </a:rPr>
              <a:t>Liu, J., Xia, C. S., Wang, Y., &amp; Zhang, L. (2023). Is Your Code Generated by ChatGPT Really Correct? Rigorous Evaluation of LLMs for Code Generation. arXiv:2305.01210.</a:t>
            </a:r>
          </a:p>
        </p:txBody>
      </p:sp>
      <p:sp>
        <p:nvSpPr>
          <p:cNvPr id="8" name="Source 3"/>
          <p:cNvSpPr/>
          <p:nvPr/>
        </p:nvSpPr>
        <p:spPr>
          <a:xfrm>
            <a:off x="365760" y="2358000"/>
            <a:ext cx="8412480" cy="496799"/>
          </a:xfrm>
          <a:prstGeom prst="rect">
            <a:avLst/>
          </a:prstGeom>
          <a:solidFill>
            <a:srgbClr val="E3EEFF"/>
          </a:solidFill>
          <a:ln w="19050">
            <a:solidFill>
              <a:srgbClr val="EEEEEE"/>
            </a:solidFill>
          </a:ln>
        </p:spPr>
        <p:txBody>
          <a:bodyPr rtlCol="0" anchor="ctr" wrap="square" lIns="73152" rIns="73152" tIns="36000" bIns="36000">
            <a:noAutofit/>
          </a:bodyPr>
          <a:lstStyle/>
          <a:p>
            <a:pPr rtl="0" algn="l" marL="0" indent="0">
              <a:lnSpc>
                <a:spcPct val="100000"/>
              </a:lnSpc>
              <a:spcBef>
                <a:spcPts val="0"/>
              </a:spcBef>
              <a:spcAft>
                <a:spcPts val="0"/>
              </a:spcAft>
              <a:buNone/>
            </a:pPr>
            <a:r>
              <a:rPr sz="1300" b="0" i="0" lang="en-US">
                <a:solidFill>
                  <a:srgbClr val="212121"/>
                </a:solidFill>
              </a:rPr>
              <a:t>Olausson, T. X., et al. (2024). Is Self-Repair a Silver Bullet for Code Generation? ICLR 2024. arXiv:2306.09896.</a:t>
            </a:r>
          </a:p>
        </p:txBody>
      </p:sp>
      <p:sp>
        <p:nvSpPr>
          <p:cNvPr id="9" name="Source 4"/>
          <p:cNvSpPr/>
          <p:nvPr/>
        </p:nvSpPr>
        <p:spPr>
          <a:xfrm>
            <a:off x="365760" y="2898000"/>
            <a:ext cx="8412480" cy="496799"/>
          </a:xfrm>
          <a:prstGeom prst="rect">
            <a:avLst/>
          </a:prstGeom>
          <a:solidFill>
            <a:srgbClr val="E3EEFF"/>
          </a:solidFill>
          <a:ln w="19050">
            <a:solidFill>
              <a:srgbClr val="EEEEEE"/>
            </a:solidFill>
          </a:ln>
        </p:spPr>
        <p:txBody>
          <a:bodyPr rtlCol="0" anchor="ctr" wrap="square" lIns="73152" rIns="73152" tIns="36000" bIns="36000">
            <a:noAutofit/>
          </a:bodyPr>
          <a:lstStyle/>
          <a:p>
            <a:pPr rtl="0" algn="l" marL="0" indent="0">
              <a:lnSpc>
                <a:spcPct val="100000"/>
              </a:lnSpc>
              <a:spcBef>
                <a:spcPts val="0"/>
              </a:spcBef>
              <a:spcAft>
                <a:spcPts val="0"/>
              </a:spcAft>
              <a:buNone/>
            </a:pPr>
            <a:r>
              <a:rPr sz="1300" b="0" i="0" lang="en-US">
                <a:solidFill>
                  <a:srgbClr val="212121"/>
                </a:solidFill>
              </a:rPr>
              <a:t>Adnan, M., &amp; Kuhn, C. C. N. (2025). The Debugging Decay Index: Rethinking Debugging Strategies for Code LLMs. arXiv:2506.18403.</a:t>
            </a:r>
          </a:p>
        </p:txBody>
      </p:sp>
      <p:sp>
        <p:nvSpPr>
          <p:cNvPr id="10" name="Source 5"/>
          <p:cNvSpPr/>
          <p:nvPr/>
        </p:nvSpPr>
        <p:spPr>
          <a:xfrm>
            <a:off x="365760" y="3438000"/>
            <a:ext cx="8412480" cy="496799"/>
          </a:xfrm>
          <a:prstGeom prst="rect">
            <a:avLst/>
          </a:prstGeom>
          <a:solidFill>
            <a:srgbClr val="E3EEFF"/>
          </a:solidFill>
          <a:ln w="19050">
            <a:solidFill>
              <a:srgbClr val="EEEEEE"/>
            </a:solidFill>
          </a:ln>
        </p:spPr>
        <p:txBody>
          <a:bodyPr rtlCol="0" anchor="ctr" wrap="square" lIns="73152" rIns="73152" tIns="36000" bIns="36000">
            <a:noAutofit/>
          </a:bodyPr>
          <a:lstStyle/>
          <a:p>
            <a:pPr rtl="0" algn="l" marL="0" indent="0">
              <a:lnSpc>
                <a:spcPct val="100000"/>
              </a:lnSpc>
              <a:spcBef>
                <a:spcPts val="0"/>
              </a:spcBef>
              <a:spcAft>
                <a:spcPts val="0"/>
              </a:spcAft>
              <a:buNone/>
            </a:pPr>
            <a:r>
              <a:rPr sz="1300" b="0" i="0" lang="en-US">
                <a:solidFill>
                  <a:srgbClr val="212121"/>
                </a:solidFill>
              </a:rPr>
              <a:t>Spracklen, J., et al. (2025). We Have a Package for You! A Comprehensive Analysis of Package Hallucinations by Code Generating LLMs. USENIX Security 2025. arXiv:2406.10279.</a:t>
            </a:r>
          </a:p>
        </p:txBody>
      </p:sp>
      <p:sp>
        <p:nvSpPr>
          <p:cNvPr id="11" name="Source 6"/>
          <p:cNvSpPr/>
          <p:nvPr/>
        </p:nvSpPr>
        <p:spPr>
          <a:xfrm>
            <a:off x="365760" y="3978000"/>
            <a:ext cx="8412480" cy="496799"/>
          </a:xfrm>
          <a:prstGeom prst="rect">
            <a:avLst/>
          </a:prstGeom>
          <a:solidFill>
            <a:srgbClr val="E3EEFF"/>
          </a:solidFill>
          <a:ln w="19050">
            <a:solidFill>
              <a:srgbClr val="EEEEEE"/>
            </a:solidFill>
          </a:ln>
        </p:spPr>
        <p:txBody>
          <a:bodyPr rtlCol="0" anchor="ctr" wrap="square" lIns="73152" rIns="73152" tIns="36000" bIns="36000">
            <a:noAutofit/>
          </a:bodyPr>
          <a:lstStyle/>
          <a:p>
            <a:pPr rtl="0" algn="l" marL="0" indent="0">
              <a:lnSpc>
                <a:spcPct val="100000"/>
              </a:lnSpc>
              <a:spcBef>
                <a:spcPts val="0"/>
              </a:spcBef>
              <a:spcAft>
                <a:spcPts val="0"/>
              </a:spcAft>
              <a:buNone/>
            </a:pPr>
            <a:r>
              <a:rPr sz="1300" b="0" i="0" lang="en-US">
                <a:solidFill>
                  <a:srgbClr val="212121"/>
                </a:solidFill>
              </a:rPr>
              <a:t>Ziemann, M., Eren, Y., &amp; El-Osta, A. (2016). Gene name errors are widespread in the scientific literature. Genome Biology, 17, 177.</a:t>
            </a:r>
          </a:p>
        </p:txBody>
      </p:sp>
      <p:sp>
        <p:nvSpPr>
          <p:cNvPr id="12" name="Source 7"/>
          <p:cNvSpPr/>
          <p:nvPr/>
        </p:nvSpPr>
        <p:spPr>
          <a:xfrm>
            <a:off x="365760" y="4518000"/>
            <a:ext cx="8412480" cy="496799"/>
          </a:xfrm>
          <a:prstGeom prst="rect">
            <a:avLst/>
          </a:prstGeom>
          <a:solidFill>
            <a:srgbClr val="E3EEFF"/>
          </a:solidFill>
          <a:ln w="19050">
            <a:solidFill>
              <a:srgbClr val="EEEEEE"/>
            </a:solidFill>
          </a:ln>
        </p:spPr>
        <p:txBody>
          <a:bodyPr rtlCol="0" anchor="ctr" wrap="square" lIns="73152" rIns="73152" tIns="36000" bIns="36000">
            <a:noAutofit/>
          </a:bodyPr>
          <a:lstStyle/>
          <a:p>
            <a:pPr rtl="0" algn="l" marL="0" indent="0">
              <a:lnSpc>
                <a:spcPct val="100000"/>
              </a:lnSpc>
              <a:spcBef>
                <a:spcPts val="0"/>
              </a:spcBef>
              <a:spcAft>
                <a:spcPts val="0"/>
              </a:spcAft>
              <a:buNone/>
            </a:pPr>
            <a:r>
              <a:rPr sz="1300" b="0" i="0" lang="en-US">
                <a:solidFill>
                  <a:srgbClr val="212121"/>
                </a:solidFill>
              </a:rPr>
              <a:t>Karabus, J. (2020, Oct 5). What a Hancock-up: Excel spreadsheet blunder blamed after England under-reports 16,000 COVID-19 cases. The Register.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a:t>
            </a:r>
            <a:r>
              <a:rPr sz="3000" b="1" i="0" lang="he-IL">
                <a:solidFill>
                  <a:srgbClr val="212121"/>
                </a:solidFill>
              </a:rPr>
              <a:t>הכלל של השיעור</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731520" y="1645920"/>
            <a:ext cx="7680960" cy="2286000"/>
          </a:xfrm>
          <a:prstGeom prst="roundRect">
            <a:avLst>
              <a:gd name="adj" fmla="val 6000"/>
            </a:avLst>
          </a:prstGeom>
          <a:solidFill>
            <a:srgbClr val="E1F4E6"/>
          </a:solidFill>
          <a:ln w="3810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3000" b="1" i="0" lang="he-IL">
                <a:solidFill>
                  <a:srgbClr val="212121"/>
                </a:solidFill>
              </a:rPr>
              <a:t>לא מתקנים סימפטום.</a:t>
            </a:r>
          </a:p>
          <a:p>
            <a:pPr rtl="1" algn="ctr" marL="0" indent="0">
              <a:lnSpc>
                <a:spcPct val="105000"/>
              </a:lnSpc>
              <a:spcBef>
                <a:spcPts val="0"/>
              </a:spcBef>
              <a:spcAft>
                <a:spcPts val="0"/>
              </a:spcAft>
              <a:buNone/>
            </a:pPr>
            <a:r>
              <a:rPr sz="3000" b="1" i="0" lang="he-IL">
                <a:solidFill>
                  <a:srgbClr val="212121"/>
                </a:solidFill>
              </a:rPr>
              <a:t>משחזרים, מבודדים, מוצאים שורש, ומוסיפים בדיקה.</a:t>
            </a:r>
          </a:p>
        </p:txBody>
      </p:sp>
      <p:sp>
        <p:nvSpPr>
          <p:cNvPr id="6" name="TextBox 5"/>
          <p:cNvSpPr txBox="1"/>
          <p:nvPr/>
        </p:nvSpPr>
        <p:spPr>
          <a:xfrm>
            <a:off x="731520" y="4114800"/>
            <a:ext cx="7680960" cy="7315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0" i="0" lang="he-IL">
                <a:solidFill>
                  <a:srgbClr val="595959"/>
                </a:solidFill>
              </a:rPr>
              <a:t>ואם התיקון השלישי לא עובד: שיחה חדשה.</a:t>
            </a:r>
          </a:p>
        </p:txBody>
      </p:sp>
      <p:sp>
        <p:nvSpPr>
          <p:cNvPr id="7" name="Chain footer"/>
          <p:cNvSpPr txBox="1"/>
          <p:nvPr/>
        </p:nvSpPr>
        <p:spPr>
          <a:xfrm>
            <a:off x="365760" y="4662000"/>
            <a:ext cx="8412480" cy="324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0" i="0" lang="he-IL">
                <a:solidFill>
                  <a:srgbClr val="212121"/>
                </a:solidFill>
              </a:rPr>
              <a:t>בשרשרת הקורס: הזיה (2), בדיקה (8), דיבוג (9), אבטחה (10)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a:t>
            </a:r>
            <a:r>
              <a:rPr sz="3000" b="1" i="0" lang="he-IL">
                <a:solidFill>
                  <a:srgbClr val="212121"/>
                </a:solidFill>
              </a:rPr>
              <a:t>שאלות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412480" y="1527048"/>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1</a:t>
            </a:r>
          </a:p>
        </p:txBody>
      </p:sp>
      <p:sp>
        <p:nvSpPr>
          <p:cNvPr id="6" name="TextBox 5"/>
          <p:cNvSpPr txBox="1"/>
          <p:nvPr/>
        </p:nvSpPr>
        <p:spPr>
          <a:xfrm>
            <a:off x="365760" y="1371600"/>
            <a:ext cx="7909560" cy="768096"/>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200" b="0" i="0" lang="he-IL">
                <a:solidFill>
                  <a:srgbClr val="212121"/>
                </a:solidFill>
              </a:rPr>
              <a:t>מה הצעד הראשון בדיבוג?</a:t>
            </a:r>
          </a:p>
        </p:txBody>
      </p:sp>
      <p:sp>
        <p:nvSpPr>
          <p:cNvPr id="7" name="Oval 6"/>
          <p:cNvSpPr/>
          <p:nvPr/>
        </p:nvSpPr>
        <p:spPr>
          <a:xfrm>
            <a:off x="8412480" y="2368296"/>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2</a:t>
            </a:r>
          </a:p>
        </p:txBody>
      </p:sp>
      <p:sp>
        <p:nvSpPr>
          <p:cNvPr id="8" name="TextBox 7"/>
          <p:cNvSpPr txBox="1"/>
          <p:nvPr/>
        </p:nvSpPr>
        <p:spPr>
          <a:xfrm>
            <a:off x="365760" y="2212848"/>
            <a:ext cx="7909560" cy="768096"/>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200" b="0" i="0" lang="he-IL">
                <a:solidFill>
                  <a:srgbClr val="212121"/>
                </a:solidFill>
              </a:rPr>
              <a:t>מתי עוצרים לולאת תיקונים עם AI?</a:t>
            </a:r>
          </a:p>
        </p:txBody>
      </p:sp>
      <p:sp>
        <p:nvSpPr>
          <p:cNvPr id="9" name="Oval 8"/>
          <p:cNvSpPr/>
          <p:nvPr/>
        </p:nvSpPr>
        <p:spPr>
          <a:xfrm>
            <a:off x="8412480" y="3209544"/>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3</a:t>
            </a:r>
          </a:p>
        </p:txBody>
      </p:sp>
      <p:sp>
        <p:nvSpPr>
          <p:cNvPr id="10" name="TextBox 9"/>
          <p:cNvSpPr txBox="1"/>
          <p:nvPr/>
        </p:nvSpPr>
        <p:spPr>
          <a:xfrm>
            <a:off x="365760" y="3054096"/>
            <a:ext cx="7909560" cy="768096"/>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200" b="0" i="0" lang="he-IL">
                <a:solidFill>
                  <a:srgbClr val="212121"/>
                </a:solidFill>
              </a:rPr>
              <a:t>איך מגלים באג שקט?</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a:t>
            </a:r>
            <a:r>
              <a:rPr sz="3000" b="1" i="0" lang="he-IL">
                <a:solidFill>
                  <a:srgbClr val="212121"/>
                </a:solidFill>
              </a:rPr>
              <a:t>תשובות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412480" y="1545336"/>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1</a:t>
            </a:r>
          </a:p>
        </p:txBody>
      </p:sp>
      <p:sp>
        <p:nvSpPr>
          <p:cNvPr id="6" name="TextBox 5"/>
          <p:cNvSpPr txBox="1"/>
          <p:nvPr/>
        </p:nvSpPr>
        <p:spPr>
          <a:xfrm>
            <a:off x="365760" y="1371600"/>
            <a:ext cx="790956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0" i="0" lang="he-IL">
                <a:solidFill>
                  <a:srgbClr val="212121"/>
                </a:solidFill>
              </a:rPr>
              <a:t>לשחזר את הבאג באופן עקבי ובמינימום קוד.</a:t>
            </a:r>
          </a:p>
        </p:txBody>
      </p:sp>
      <p:sp>
        <p:nvSpPr>
          <p:cNvPr id="7" name="Oval 6"/>
          <p:cNvSpPr/>
          <p:nvPr/>
        </p:nvSpPr>
        <p:spPr>
          <a:xfrm>
            <a:off x="8412480" y="2386584"/>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2</a:t>
            </a:r>
          </a:p>
        </p:txBody>
      </p:sp>
      <p:sp>
        <p:nvSpPr>
          <p:cNvPr id="8" name="TextBox 7"/>
          <p:cNvSpPr txBox="1"/>
          <p:nvPr/>
        </p:nvSpPr>
        <p:spPr>
          <a:xfrm>
            <a:off x="365760" y="2212848"/>
            <a:ext cx="790956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0" i="0" lang="he-IL">
                <a:solidFill>
                  <a:srgbClr val="212121"/>
                </a:solidFill>
              </a:rPr>
              <a:t>אחרי שני ניסיונות כושלים: שיחה חדשה עם סיכום (צפוי, בפועל, מה נבדק).</a:t>
            </a:r>
          </a:p>
        </p:txBody>
      </p:sp>
      <p:sp>
        <p:nvSpPr>
          <p:cNvPr id="9" name="Oval 8"/>
          <p:cNvSpPr/>
          <p:nvPr/>
        </p:nvSpPr>
        <p:spPr>
          <a:xfrm>
            <a:off x="8412480" y="3227832"/>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3</a:t>
            </a:r>
          </a:p>
        </p:txBody>
      </p:sp>
      <p:sp>
        <p:nvSpPr>
          <p:cNvPr id="10" name="TextBox 9"/>
          <p:cNvSpPr txBox="1"/>
          <p:nvPr/>
        </p:nvSpPr>
        <p:spPr>
          <a:xfrm>
            <a:off x="365760" y="3054096"/>
            <a:ext cx="790956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0" i="0" lang="he-IL">
                <a:solidFill>
                  <a:srgbClr val="212121"/>
                </a:solidFill>
              </a:rPr>
              <a:t>בדיקות שפיות: סכום ביקורת, ספירות, ייחודיות וטווחים.</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a:t>
            </a:r>
            <a:r>
              <a:rPr sz="3000" b="1" i="0" lang="he-IL">
                <a:solidFill>
                  <a:srgbClr val="212121"/>
                </a:solidFill>
              </a:rPr>
              <a:t>סיכום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3657600"/>
          </a:xfrm>
          <a:prstGeom prst="rect">
            <a:avLst/>
          </a:prstGeom>
          <a:noFill/>
        </p:spPr>
        <p:txBody>
          <a:bodyPr wrap="square" lIns="73152" rIns="73152" tIns="73152" bIns="73152" anchor="t">
            <a:noAutofit/>
          </a:bodyPr>
          <a:lstStyle/>
          <a:p>
            <a:pPr rtl="1" algn="r" marL="347472" indent="-292608">
              <a:lnSpc>
                <a:spcPct val="114999"/>
              </a:lnSpc>
              <a:spcBef>
                <a:spcPts val="0"/>
              </a:spcBef>
              <a:spcAft>
                <a:spcPts val="800"/>
              </a:spcAft>
              <a:buClr>
                <a:srgbClr val="212121"/>
              </a:buClr>
              <a:buSzPts val="1680"/>
              <a:buChar char="●"/>
            </a:pPr>
            <a:r>
              <a:rPr sz="2100" b="0" i="0" lang="he-IL">
                <a:solidFill>
                  <a:srgbClr val="212121"/>
                </a:solidFill>
              </a:rPr>
              <a:t>דיבוג הוא שיטה: שחזור, בידוד, השערה, ניסוי, תיקון, אימות ומניעה.</a:t>
            </a:r>
          </a:p>
          <a:p>
            <a:pPr rtl="1" algn="r" marL="347472" indent="-292608">
              <a:lnSpc>
                <a:spcPct val="114999"/>
              </a:lnSpc>
              <a:spcBef>
                <a:spcPts val="0"/>
              </a:spcBef>
              <a:spcAft>
                <a:spcPts val="800"/>
              </a:spcAft>
              <a:buClr>
                <a:srgbClr val="212121"/>
              </a:buClr>
              <a:buSzPts val="1680"/>
              <a:buChar char="●"/>
            </a:pPr>
            <a:r>
              <a:rPr sz="2100" b="0" i="0" lang="he-IL">
                <a:solidFill>
                  <a:srgbClr val="212121"/>
                </a:solidFill>
              </a:rPr>
              <a:t>קוראים Traceback מלמטה למעלה. הזיות נראות כשגיאות מתודה, חבילה או פרמטר.</a:t>
            </a:r>
          </a:p>
          <a:p>
            <a:pPr rtl="1" algn="r" marL="347472" indent="-292608">
              <a:lnSpc>
                <a:spcPct val="114999"/>
              </a:lnSpc>
              <a:spcBef>
                <a:spcPts val="0"/>
              </a:spcBef>
              <a:spcAft>
                <a:spcPts val="800"/>
              </a:spcAft>
              <a:buClr>
                <a:srgbClr val="212121"/>
              </a:buClr>
              <a:buSzPts val="1680"/>
              <a:buChar char="●"/>
            </a:pPr>
            <a:r>
              <a:rPr sz="2100" b="0" i="0" lang="he-IL">
                <a:solidFill>
                  <a:srgbClr val="212121"/>
                </a:solidFill>
              </a:rPr>
              <a:t>באגים שקטים נתפסים בבדיקות שפיות ובסכום ביקורת.</a:t>
            </a:r>
          </a:p>
          <a:p>
            <a:pPr rtl="1" algn="r" marL="347472" indent="-292608">
              <a:lnSpc>
                <a:spcPct val="114999"/>
              </a:lnSpc>
              <a:spcBef>
                <a:spcPts val="0"/>
              </a:spcBef>
              <a:spcAft>
                <a:spcPts val="800"/>
              </a:spcAft>
              <a:buClr>
                <a:srgbClr val="212121"/>
              </a:buClr>
              <a:buSzPts val="1680"/>
              <a:buChar char="●"/>
            </a:pPr>
            <a:r>
              <a:rPr sz="2100" b="0" i="0" lang="he-IL">
                <a:solidFill>
                  <a:srgbClr val="212121"/>
                </a:solidFill>
              </a:rPr>
              <a:t>בקשה טובה לוקחת קוד, שגיאה, ציפייה ומה ניסיתי. שורש בעיה ובדיקת רגרסיה מונעים חזרה.</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9 :</a:t>
            </a:r>
            <a:r>
              <a:rPr sz="3000" b="1" i="0" lang="he-IL">
                <a:solidFill>
                  <a:srgbClr val="212121"/>
                </a:solidFill>
              </a:rPr>
              <a:t>הכנה למפגש הבא</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65760" y="1417320"/>
            <a:ext cx="8412480" cy="640080"/>
          </a:xfrm>
          <a:prstGeom prst="roundRect">
            <a:avLst>
              <a:gd name="adj" fmla="val 10000"/>
            </a:avLst>
          </a:prstGeom>
          <a:solidFill>
            <a:srgbClr val="E1F4E6"/>
          </a:solidFill>
          <a:ln w="19050">
            <a:solidFill>
              <a:srgbClr val="34A853"/>
            </a:solidFill>
          </a:ln>
        </p:spPr>
        <p:txBody>
          <a:bodyPr rtlCol="0" anchor="ctr" wrap="square" lIns="73152" rIns="73152" tIns="73152" bIns="73152">
            <a:noAutofit/>
          </a:bodyPr>
          <a:lstStyle/>
          <a:p>
            <a:pPr algn="ctr"/>
          </a:p>
        </p:txBody>
      </p:sp>
      <p:sp>
        <p:nvSpPr>
          <p:cNvPr id="6" name="TextBox 5"/>
          <p:cNvSpPr txBox="1"/>
          <p:nvPr/>
        </p:nvSpPr>
        <p:spPr>
          <a:xfrm>
            <a:off x="7772400" y="1417320"/>
            <a:ext cx="9144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400" b="0" i="0" lang="he-IL">
                <a:solidFill>
                  <a:srgbClr val="212121"/>
                </a:solidFill>
              </a:rPr>
              <a:t>🐞</a:t>
            </a:r>
          </a:p>
        </p:txBody>
      </p:sp>
      <p:sp>
        <p:nvSpPr>
          <p:cNvPr id="7" name="TextBox 6"/>
          <p:cNvSpPr txBox="1"/>
          <p:nvPr/>
        </p:nvSpPr>
        <p:spPr>
          <a:xfrm>
            <a:off x="457200" y="1417320"/>
            <a:ext cx="731520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לסיים תחקיר ו־commit במחברת, ולפתוח יומן באגים לקבוצה</a:t>
            </a:r>
          </a:p>
        </p:txBody>
      </p:sp>
      <p:sp>
        <p:nvSpPr>
          <p:cNvPr id="8" name="Rounded Rectangle 7"/>
          <p:cNvSpPr/>
          <p:nvPr/>
        </p:nvSpPr>
        <p:spPr>
          <a:xfrm>
            <a:off x="365760" y="2194560"/>
            <a:ext cx="8412480" cy="640080"/>
          </a:xfrm>
          <a:prstGeom prst="roundRect">
            <a:avLst>
              <a:gd name="adj" fmla="val 10000"/>
            </a:avLst>
          </a:prstGeom>
          <a:solidFill>
            <a:srgbClr val="E1F4E6"/>
          </a:solidFill>
          <a:ln w="19050">
            <a:solidFill>
              <a:srgbClr val="34A853"/>
            </a:solidFill>
          </a:ln>
        </p:spPr>
        <p:txBody>
          <a:bodyPr rtlCol="0" anchor="ctr" wrap="square" lIns="73152" rIns="73152" tIns="73152" bIns="73152">
            <a:noAutofit/>
          </a:bodyPr>
          <a:lstStyle/>
          <a:p>
            <a:pPr algn="ctr"/>
          </a:p>
        </p:txBody>
      </p:sp>
      <p:sp>
        <p:nvSpPr>
          <p:cNvPr id="9" name="TextBox 8"/>
          <p:cNvSpPr txBox="1"/>
          <p:nvPr/>
        </p:nvSpPr>
        <p:spPr>
          <a:xfrm>
            <a:off x="7772400" y="2194560"/>
            <a:ext cx="9144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400" b="0" i="0" lang="he-IL">
                <a:solidFill>
                  <a:srgbClr val="212121"/>
                </a:solidFill>
              </a:rPr>
              <a:t>🧪</a:t>
            </a:r>
          </a:p>
        </p:txBody>
      </p:sp>
      <p:sp>
        <p:nvSpPr>
          <p:cNvPr id="10" name="TextBox 9"/>
          <p:cNvSpPr txBox="1"/>
          <p:nvPr/>
        </p:nvSpPr>
        <p:spPr>
          <a:xfrm>
            <a:off x="457200" y="2194560"/>
            <a:ext cx="731520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להוסיף לפחות בדיקת רגרסיה אחת</a:t>
            </a:r>
          </a:p>
        </p:txBody>
      </p:sp>
      <p:sp>
        <p:nvSpPr>
          <p:cNvPr id="11" name="Rounded Rectangle 10"/>
          <p:cNvSpPr/>
          <p:nvPr/>
        </p:nvSpPr>
        <p:spPr>
          <a:xfrm>
            <a:off x="365760" y="2971800"/>
            <a:ext cx="8412480" cy="640080"/>
          </a:xfrm>
          <a:prstGeom prst="roundRect">
            <a:avLst>
              <a:gd name="adj" fmla="val 10000"/>
            </a:avLst>
          </a:prstGeom>
          <a:solidFill>
            <a:srgbClr val="E1F4E6"/>
          </a:solidFill>
          <a:ln w="19050">
            <a:solidFill>
              <a:srgbClr val="34A853"/>
            </a:solidFill>
          </a:ln>
        </p:spPr>
        <p:txBody>
          <a:bodyPr rtlCol="0" anchor="ctr" wrap="square" lIns="73152" rIns="73152" tIns="73152" bIns="73152">
            <a:noAutofit/>
          </a:bodyPr>
          <a:lstStyle/>
          <a:p>
            <a:pPr algn="ctr"/>
          </a:p>
        </p:txBody>
      </p:sp>
      <p:sp>
        <p:nvSpPr>
          <p:cNvPr id="12" name="TextBox 11"/>
          <p:cNvSpPr txBox="1"/>
          <p:nvPr/>
        </p:nvSpPr>
        <p:spPr>
          <a:xfrm>
            <a:off x="7772400" y="2971800"/>
            <a:ext cx="9144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400" b="0" i="0" lang="he-IL">
                <a:solidFill>
                  <a:srgbClr val="212121"/>
                </a:solidFill>
              </a:rPr>
              <a:t>🔐</a:t>
            </a:r>
          </a:p>
        </p:txBody>
      </p:sp>
      <p:sp>
        <p:nvSpPr>
          <p:cNvPr id="13" name="TextBox 12"/>
          <p:cNvSpPr txBox="1"/>
          <p:nvPr/>
        </p:nvSpPr>
        <p:spPr>
          <a:xfrm>
            <a:off x="457200" y="2971800"/>
            <a:ext cx="731520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לוודא ששום מפתח או סוד לא נמצא בקוד</a:t>
            </a:r>
          </a:p>
        </p:txBody>
      </p:sp>
      <p:sp>
        <p:nvSpPr>
          <p:cNvPr id="14" name="Rounded Rectangle 13"/>
          <p:cNvSpPr/>
          <p:nvPr/>
        </p:nvSpPr>
        <p:spPr>
          <a:xfrm>
            <a:off x="365760" y="3840480"/>
            <a:ext cx="8412480" cy="109728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בשיעור הבא: אבטחת מידע</a:t>
            </a:r>
          </a:p>
          <a:p>
            <a:pPr rtl="1" algn="ctr" marL="0" indent="0">
              <a:lnSpc>
                <a:spcPct val="105000"/>
              </a:lnSpc>
              <a:spcBef>
                <a:spcPts val="0"/>
              </a:spcBef>
              <a:spcAft>
                <a:spcPts val="0"/>
              </a:spcAft>
              <a:buNone/>
            </a:pPr>
            <a:r>
              <a:rPr sz="1600" b="0" i="0" lang="he-IL">
                <a:solidFill>
                  <a:srgbClr val="595959"/>
                </a:solidFill>
              </a:rPr>
              <a:t>מתי לא לסמוך על ה־AI: סודות, קוד לא בטוח והזרקת פרומפט.</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