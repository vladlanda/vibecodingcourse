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17" r:id="rId26"/>
    <p:sldId id="318" r:id="rId25"/>
    <p:sldId id="259" r:id="rId14"/>
    <p:sldId id="260" r:id="rId15"/>
    <p:sldId id="261" r:id="rId16"/>
    <p:sldId id="262" r:id="rId17"/>
    <p:sldId id="263" r:id="rId18"/>
    <p:sldId id="264" r:id="rId19"/>
    <p:sldId id="265" r:id="rId20"/>
    <p:sldId id="266" r:id="rId21"/>
    <p:sldId id="319" r:id="rId24"/>
    <p:sldId id="267" r:id="rId22"/>
    <p:sldId id="305" r:id="rId7"/>
    <p:sldId id="268" r:id="rId23"/>
    <p:sldId id="306" r:id="rId61"/>
    <p:sldId id="273" r:id="rId28"/>
    <p:sldId id="274" r:id="rId29"/>
    <p:sldId id="275" r:id="rId30"/>
    <p:sldId id="276" r:id="rId31"/>
    <p:sldId id="309" r:id="rId52"/>
    <p:sldId id="277" r:id="rId32"/>
    <p:sldId id="278" r:id="rId33"/>
    <p:sldId id="279" r:id="rId34"/>
    <p:sldId id="320" r:id="rId64"/>
    <p:sldId id="280" r:id="rId35"/>
    <p:sldId id="307" r:id="rId62"/>
    <p:sldId id="286" r:id="rId41"/>
    <p:sldId id="287" r:id="rId42"/>
    <p:sldId id="288" r:id="rId43"/>
    <p:sldId id="289" r:id="rId44"/>
    <p:sldId id="290" r:id="rId45"/>
    <p:sldId id="291" r:id="rId46"/>
    <p:sldId id="292" r:id="rId47"/>
    <p:sldId id="293" r:id="rId48"/>
    <p:sldId id="321" r:id="rId65"/>
    <p:sldId id="294" r:id="rId49"/>
    <p:sldId id="295" r:id="rId50"/>
    <p:sldId id="308" r:id="rId63"/>
    <p:sldId id="298" r:id="rId53"/>
    <p:sldId id="299" r:id="rId54"/>
    <p:sldId id="310" r:id="rId51"/>
    <p:sldId id="311" r:id="rId40"/>
    <p:sldId id="312" r:id="rId39"/>
    <p:sldId id="313" r:id="rId38"/>
    <p:sldId id="314" r:id="rId37"/>
    <p:sldId id="315" r:id="rId36"/>
    <p:sldId id="316" r:id="rId27"/>
    <p:sldId id="300" r:id="rId55"/>
    <p:sldId id="301" r:id="rId56"/>
    <p:sldId id="302" r:id="rId10"/>
    <p:sldId id="303" r:id="rId9"/>
    <p:sldId id="304" r:id="rId8"/>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6.xml"/><Relationship Id="rId8" Type="http://schemas.openxmlformats.org/officeDocument/2006/relationships/slide" Target="slides/slide55.xml"/><Relationship Id="rId9" Type="http://schemas.openxmlformats.org/officeDocument/2006/relationships/slide" Target="slides/slide54.xml"/><Relationship Id="rId10" Type="http://schemas.openxmlformats.org/officeDocument/2006/relationships/slide" Target="slides/slide53.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5.xml"/><Relationship Id="rId23" Type="http://schemas.openxmlformats.org/officeDocument/2006/relationships/slide" Target="slides/slide17.xml"/><Relationship Id="rId24" Type="http://schemas.openxmlformats.org/officeDocument/2006/relationships/slide" Target="slides/slide14.xml"/><Relationship Id="rId25" Type="http://schemas.openxmlformats.org/officeDocument/2006/relationships/slide" Target="slides/slide5.xml"/><Relationship Id="rId26" Type="http://schemas.openxmlformats.org/officeDocument/2006/relationships/slide" Target="slides/slide4.xml"/><Relationship Id="rId27" Type="http://schemas.openxmlformats.org/officeDocument/2006/relationships/slide" Target="slides/slide50.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8.xml"/><Relationship Id="rId36" Type="http://schemas.openxmlformats.org/officeDocument/2006/relationships/slide" Target="slides/slide49.xml"/><Relationship Id="rId37" Type="http://schemas.openxmlformats.org/officeDocument/2006/relationships/slide" Target="slides/slide48.xml"/><Relationship Id="rId38" Type="http://schemas.openxmlformats.org/officeDocument/2006/relationships/slide" Target="slides/slide47.xml"/><Relationship Id="rId39" Type="http://schemas.openxmlformats.org/officeDocument/2006/relationships/slide" Target="slides/slide46.xml"/><Relationship Id="rId40" Type="http://schemas.openxmlformats.org/officeDocument/2006/relationships/slide" Target="slides/slide45.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4.xml"/><Relationship Id="rId52" Type="http://schemas.openxmlformats.org/officeDocument/2006/relationships/slide" Target="slides/slide23.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18.xml"/><Relationship Id="rId62" Type="http://schemas.openxmlformats.org/officeDocument/2006/relationships/slide" Target="slides/slide29.xml"/><Relationship Id="rId63" Type="http://schemas.openxmlformats.org/officeDocument/2006/relationships/slide" Target="slides/slide41.xml"/><Relationship Id="rId64" Type="http://schemas.openxmlformats.org/officeDocument/2006/relationships/slide" Target="slides/slide27.xml"/><Relationship Id="rId6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(9 דקות: שקף הפתיחה 2, מטרות 1, מפה 1, שרשרת הקורס 3, שאלת היום 2).</a:t>
            </a:r>
          </a:p>
          <a:p>
            <a:pPr rtl="1" algn="r" marL="0" indent="0">
              <a:buNone/>
            </a:pPr>
            <a:r>
              <a:rPr b="1" sz="1200" lang="he-IL"/>
              <a:t>מה אומרים</a:t>
            </a:r>
          </a:p>
          <a:p>
            <a:pPr rtl="1" algn="r" marL="0" indent="0">
              <a:buNone/>
            </a:pPr>
            <a:r>
              <a:rPr sz="1200" lang="he-IL"/>
              <a:t>•  התחילו במשפט שבראש השקף, שכל סטודנט אמר או שמע: 'הקוד עובד, לא קיבלתי שגיאה'.</a:t>
            </a:r>
          </a:p>
          <a:p>
            <a:pPr rtl="1" algn="r" marL="0" indent="0">
              <a:buNone/>
            </a:pPr>
            <a:r>
              <a:rPr sz="1200" lang="he-IL"/>
              <a:t>•  הצביעו על הטרמינל: קראנו ל-calc_reorder_point עם ביקוש יומי 2, זמן אספקה 7 ימים וימי ביטחון 3, והתוצאה היא 17.</a:t>
            </a:r>
          </a:p>
          <a:p>
            <a:pPr rtl="1" algn="r" marL="0" indent="0">
              <a:buNone/>
            </a:pPr>
            <a:r>
              <a:rPr sz="1200" lang="he-IL"/>
              <a:t>•  מימין התוצאה הנכונה לפי הנוסחה: ביקוש יומי כפול (זמן אספקה ועוד ימי ביטחון), כלומר 2 כפול 10, שזה 20.</a:t>
            </a:r>
          </a:p>
          <a:p>
            <a:pPr rtl="1" algn="r" marL="0" indent="0">
              <a:buNone/>
            </a:pPr>
            <a:r>
              <a:rPr sz="1200" lang="he-IL"/>
              <a:t>•  הקוד הכפיל את הביקוש רק בזמן האספקה והוסיף את ימי הביטחון כמספר בודד, ולכן קיבלנו 17.</a:t>
            </a:r>
          </a:p>
          <a:p>
            <a:pPr rtl="1" algn="r" marL="0" indent="0">
              <a:buNone/>
            </a:pPr>
            <a:r>
              <a:rPr sz="1200" lang="he-IL"/>
              <a:t>•  בחנות זה אומר שמזמינים כשנשארו 17 יחידות במקום 20, והמדף מתרוקן בינתיים.</a:t>
            </a:r>
          </a:p>
          <a:p>
            <a:pPr rtl="1" algn="r" marL="0" indent="0">
              <a:buNone/>
            </a:pPr>
            <a:r>
              <a:rPr sz="1200" lang="he-IL"/>
              <a:t>•  הדגישו: אין הודעת שגיאה ואין אזהרה, ולכן 'רץ' לא אומר 'נכון'.</a:t>
            </a:r>
          </a:p>
          <a:p>
            <a:pPr rtl="1" algn="r" marL="0" indent="0">
              <a:buNone/>
            </a:pPr>
            <a:r>
              <a:rPr b="1" sz="1200" lang="he-IL"/>
              <a:t>שאלה לכיתה</a:t>
            </a:r>
          </a:p>
          <a:p>
            <a:pPr rtl="1" algn="r" marL="0" indent="0">
              <a:buNone/>
            </a:pPr>
            <a:r>
              <a:rPr sz="1200" lang="he-IL"/>
              <a:t>•  איך נגלה טעות כזאת בלי לחכות למדף ריק?</a:t>
            </a:r>
          </a:p>
          <a:p>
            <a:pPr rtl="1" algn="r" marL="0" indent="0">
              <a:buNone/>
            </a:pPr>
            <a:r>
              <a:rPr b="1" sz="1200" lang="he-IL"/>
              <a:t>תשובה</a:t>
            </a:r>
          </a:p>
          <a:p>
            <a:pPr rtl="1" algn="r" marL="0" indent="0">
              <a:buNone/>
            </a:pPr>
            <a:r>
              <a:rPr sz="1200" lang="he-IL"/>
              <a:t>•  נשווה אוטומטית לתוצאה שאנחנו יודעים מראש, וזה מה שבדיקה עושה.</a:t>
            </a:r>
          </a:p>
          <a:p>
            <a:pPr rtl="1" algn="r" marL="0" indent="0">
              <a:buNone/>
            </a:pPr>
            <a:r>
              <a:rPr sz="1200" lang="he-IL"/>
              <a:t>•  קישור להרצאה 2: גם קוד שה-AI כותב נראה משכנע ויכול להיות שגוי, ובלי בדיקה אין דרך לדעת.</a:t>
            </a:r>
          </a:p>
          <a:p>
            <a:pPr rtl="1" algn="r" marL="0" indent="0">
              <a:buNone/>
            </a:pPr>
            <a:r>
              <a:rPr b="1" sz="1200" lang="he-IL"/>
              <a:t>חיבור לשיעורים קודמים</a:t>
            </a:r>
          </a:p>
          <a:p>
            <a:pPr rtl="1" algn="r" marL="0" indent="0">
              <a:buNone/>
            </a:pPr>
            <a:r>
              <a:rPr sz="1200" lang="he-IL"/>
              <a:t>•  זה קרוב להזיית התנהגות ממפגש 2: הכול נראה תקין והקוד רץ, והשגיאה נחשפת רק מול ערך שידוע מראש.</a:t>
            </a:r>
          </a:p>
          <a:p>
            <a:pPr rtl="1" algn="r" marL="0" indent="0">
              <a:buNone/>
            </a:pPr>
            <a:r>
              <a:rPr sz="1200" lang="he-IL"/>
              <a:t>•  מפגש 1 הראה את אותו דבר עם average על רשימה ריקה, ובמפגש 5 שורת ה״למה״ של מעבדה א׳ אמרה ״רץ אינו נכון״.</a:t>
            </a:r>
          </a:p>
          <a:p>
            <a:pPr rtl="1" algn="r" marL="0" indent="0">
              <a:buNone/>
            </a:pPr>
            <a:r>
              <a:rPr b="1" sz="1200" lang="he-IL"/>
              <a:t>שאלת היזכרות</a:t>
            </a:r>
          </a:p>
          <a:p>
            <a:pPr rtl="1" algn="r" marL="0" indent="0">
              <a:buNone/>
            </a:pPr>
            <a:r>
              <a:rPr sz="1200" lang="he-IL"/>
              <a:t>•  מי זוכר מה אמרנו בכל מקרה על קוד שרץ בלי שגיאה?</a:t>
            </a:r>
          </a:p>
          <a:p>
            <a:pPr rtl="1" algn="r" marL="0" indent="0">
              <a:buNone/>
            </a:pPr>
            <a:r>
              <a:rPr b="1" sz="1200" lang="he-IL"/>
              <a:t>תשובה</a:t>
            </a:r>
          </a:p>
          <a:p>
            <a:pPr rtl="1" algn="r" marL="0" indent="0">
              <a:buNone/>
            </a:pPr>
            <a:r>
              <a:rPr sz="1200" lang="he-IL"/>
              <a:t>•  מריצים ובודקים, ״לא הרצתם = לא סומכים״.</a:t>
            </a:r>
          </a:p>
          <a:p>
            <a:pPr rtl="1" algn="r" marL="0" indent="0">
              <a:buNone/>
            </a:pPr>
            <a:r>
              <a:rPr sz="1200" lang="he-IL"/>
              <a:t>•  אם הכיתה לא זוכרת, אמרו זאת בעצמכם ועברו למטרות; את הטבלה המלאה רואים בשקף 4.</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יעדי המפגש (כדקה).</a:t>
            </a:r>
          </a:p>
          <a:p>
            <a:pPr rtl="1" algn="r" marL="0" indent="0">
              <a:buNone/>
            </a:pPr>
            <a:r>
              <a:rPr b="1" sz="1200" lang="he-IL"/>
              <a:t>מה אומרים</a:t>
            </a:r>
          </a:p>
          <a:p>
            <a:pPr rtl="1" algn="r" marL="0" indent="0">
              <a:buNone/>
            </a:pPr>
            <a:r>
              <a:rPr sz="1200" lang="he-IL"/>
              <a:t>•  עברו על חמשת היעדים לפי הסדר ושייכו כל אחד לחלק: יעדים 1 ו-2 לחלק א' (בדיקה אוטומטית, pytest וחמש קטגוריות), יעד 3 לחלק ב' (TDD ורמאות של AI), יעדים 4 ו-5 לחלק ג' (רשימת תיוג, כלי ניתוח וסקירת שינוי של סוכן).</a:t>
            </a:r>
          </a:p>
          <a:p>
            <a:pPr rtl="1" algn="r" marL="0" indent="0">
              <a:buNone/>
            </a:pPr>
            <a:r>
              <a:rPr sz="1200" lang="he-IL"/>
              <a:t>•  הדגישו שהמטרה אינה להפוך אתכם למתכנתים: ה-AI יכתוב את רוב קוד הבדיקות, ואתם תגדירו מה נחשב נכון ותבדקו מה שה-AI עשה.</a:t>
            </a:r>
          </a:p>
          <a:p>
            <a:pPr rtl="1" algn="r" marL="0" indent="0">
              <a:buNone/>
            </a:pPr>
            <a:r>
              <a:rPr sz="1200" lang="he-IL"/>
              <a:t>•  זה גם מה שהסילבוס מבקש: בדיקות אוטומטיות, עקרונות TDD בסיסיים ורשימת תיוג לסקירת קוד.</a:t>
            </a:r>
          </a:p>
          <a:p>
            <a:pPr rtl="1" algn="r" marL="0" indent="0">
              <a:buNone/>
            </a:pPr>
            <a:r>
              <a:rPr sz="1200" lang="he-IL"/>
              <a:t>•  ציינו שסקירת קוד בעזרת AI עברה לכאן מהרצאה 6, כי היא נשענת על diff, ענפים וסוכנים שכבר הכרתם שם.</a:t>
            </a:r>
          </a:p>
          <a:p>
            <a:pPr rtl="1" algn="r" marL="0" indent="0">
              <a:buNone/>
            </a:pPr>
            <a:r>
              <a:rPr b="1" sz="1200" lang="he-IL"/>
              <a:t>שאלה לכיתה</a:t>
            </a:r>
          </a:p>
          <a:p>
            <a:pPr rtl="1" algn="r" marL="0" indent="0">
              <a:buNone/>
            </a:pPr>
            <a:r>
              <a:rPr sz="1200" lang="he-IL"/>
              <a:t>•  מי כתב פעם בדיקה אוטומטית לקוד שלו?</a:t>
            </a:r>
          </a:p>
          <a:p>
            <a:pPr rtl="1" algn="r" marL="0" indent="0">
              <a:buNone/>
            </a:pPr>
            <a:r>
              <a:rPr sz="1200" lang="he-IL"/>
              <a:t>•  ספרו ידיים כדי לדעת את הרמה.</a:t>
            </a:r>
          </a:p>
          <a:p>
            <a:pPr rtl="1" algn="r" marL="0" indent="0">
              <a:buNone/>
            </a:pPr>
            <a:r>
              <a:rPr sz="1200" lang="he-IL"/>
              <a:t>•  סביר שמעטים או אף אחד, וזה בסדר גמור.</a:t>
            </a:r>
          </a:p>
          <a:p>
            <a:pPr rtl="1" algn="r" marL="0" indent="0">
              <a:buNone/>
            </a:pPr>
            <a:r>
              <a:rPr sz="1200" lang="he-IL"/>
              <a:t>•  יעדי העשרה (אופציונלי, בשקפי ההעשרה אחרי מעבדה ג׳): להבחין בין כיסוי קוד לבין ציון הרג ולהסביר מה כל אחד מודד ומה לא</a:t>
            </a:r>
          </a:p>
          <a:p>
            <a:pPr rtl="1" algn="r" marL="0" indent="0">
              <a:buNone/>
            </a:pPr>
            <a:r>
              <a:rPr sz="1200" lang="he-IL"/>
              <a:t>•  להסביר את בעיית האורקל ולמה היא חריפה כש־AI כותב גם קוד וגם בדיקה</a:t>
            </a:r>
          </a:p>
          <a:p>
            <a:pPr rtl="1" algn="r" marL="0" indent="0">
              <a:buNone/>
            </a:pPr>
            <a:r>
              <a:rPr sz="1200" lang="he-IL"/>
              <a:t>•  להכיר בדיקה מבוססת תכונות ברמה מושגית</a:t>
            </a:r>
          </a:p>
          <a:p>
            <a:pPr rtl="1" algn="r" marL="0" indent="0">
              <a:buNone/>
            </a:pPr>
            <a:r>
              <a:rPr sz="1200" lang="he-IL"/>
              <a:t>•  להבחין בין עובדה מבוססת (ממצאי מחקר) לבין המלצת פרקטיקה בנושא TDD</a:t>
            </a:r>
          </a:p>
          <a:p>
            <a:pPr rtl="1" algn="r" marL="0" indent="0">
              <a:buNone/>
            </a:pPr>
            <a:r>
              <a:rPr sz="1200" lang="he-IL"/>
              <a:t>•  להכיר מחקרים על איכות קוד ובדיקות שנוצרו ב־AI.</a:t>
            </a:r>
          </a:p>
          <a:p>
            <a:pPr rtl="1" algn="r" marL="0" indent="0">
              <a:buNone/>
            </a:pPr>
            <a:r>
              <a:rPr sz="1200" lang="he-IL"/>
              <a:t>•  אין צורך לזכור שמות או שנים: חשוב להבין מה הטענה ומה הראיה.</a:t>
            </a:r>
          </a:p>
          <a:p>
            <a:pPr rtl="1" algn="r" marL="0" indent="0">
              <a:buNone/>
            </a:pPr>
            <a:r>
              <a:rPr b="1" sz="1200" lang="he-IL"/>
              <a:t>חיבור לשיעורים קודמים</a:t>
            </a:r>
          </a:p>
          <a:p>
            <a:pPr rtl="1" algn="r" marL="0" indent="0">
              <a:buNone/>
            </a:pPr>
            <a:r>
              <a:rPr sz="1200" lang="he-IL"/>
              <a:t>•  יעדים 1 ו־2 נשענים על ״לא הרצתם = לא סומכים״ ממפגש 2 ועל מקרי הקצה ממפגש 1; יעד 3 נשען על ״החוזה קודם״ ממפגש 7; יעדים 4 ו־5 נשענים על commit לפני ו־diff אחרי ממפגש 6, ועל שלוש שאלות הסקירה שהוצגו שם בשקף ״מבט מקדים: סקירת קוד״.</a:t>
            </a:r>
          </a:p>
          <a:p>
            <a:pPr rtl="1" algn="r" marL="0" indent="0">
              <a:buNone/>
            </a:pPr>
            <a:r>
              <a:rPr sz="1200" lang="he-IL"/>
              <a:t>•  אמרו זאת במשפט אחד, והפנו לשקף הבא (שרשרת הקורס).</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(כדקה), 90 דקות בסך הכול.</a:t>
            </a:r>
          </a:p>
          <a:p>
            <a:pPr rtl="1" algn="r" marL="0" indent="0">
              <a:buNone/>
            </a:pPr>
            <a:r>
              <a:rPr b="1" sz="1200" lang="he-IL"/>
              <a:t>מה אומרים</a:t>
            </a:r>
          </a:p>
          <a:p>
            <a:pPr rtl="1" algn="r" marL="0" indent="0">
              <a:buNone/>
            </a:pPr>
            <a:r>
              <a:rPr sz="1200" lang="he-IL"/>
              <a:t>•  קראו את הפס מימין לשמאל כמו בעברית: פתיחה 9 דקות, חלק א׳ 12 דקות הסבר, מעבדה א׳ 9, חלק ב׳ 11, מעבדה ב׳ 16, חלק ג׳ 9, מעבדה ג׳ 14, וסיכום 10 דקות.</a:t>
            </a:r>
          </a:p>
          <a:p>
            <a:pPr rtl="1" algn="r" marL="0" indent="0">
              <a:buNone/>
            </a:pPr>
            <a:r>
              <a:rPr sz="1200" lang="he-IL"/>
              <a:t>•  כחול הוא הסבר קצר, כתום הוא עבודה שלהם: כ־39 דקות מתוך 90 הן עבודה בידיים, וזה במכוון.</a:t>
            </a:r>
          </a:p>
          <a:p>
            <a:pPr rtl="1" algn="r" marL="0" indent="0">
              <a:buNone/>
            </a:pPr>
            <a:r>
              <a:rPr sz="1200" lang="he-IL"/>
              <a:t>•  כל המעבדות נעשות במחברת Colab אחת, HM_08, שמוגשת בסוף: מעבדה א׳ היא חלק א׳ במחברת (9 דקות), מעבדה ב׳ היא חלקים ב׳ וג׳ (16 דקות), ומעבדה ג׳ היא חלקים ד׳ ו־ה׳ ומסקנה (14 דקות).</a:t>
            </a:r>
          </a:p>
          <a:p>
            <a:pPr rtl="1" algn="r" marL="0" indent="0">
              <a:buNone/>
            </a:pPr>
            <a:r>
              <a:rPr sz="1200" lang="he-IL"/>
              <a:t>•  חלקים א׳ עד ג׳ חובה, וחלקים ד׳ ו־ה׳ אפשר להשלים בבית.</a:t>
            </a:r>
          </a:p>
          <a:p>
            <a:pPr rtl="1" algn="r" marL="0" indent="0">
              <a:buNone/>
            </a:pPr>
            <a:r>
              <a:rPr sz="1200" lang="he-IL"/>
              <a:t>•  אם הזמן נגמר, קצרו את שאלות הבדיקה ולא את המעבדות.</a:t>
            </a:r>
          </a:p>
          <a:p>
            <a:pPr rtl="1" algn="r" marL="0" indent="0">
              <a:buNone/>
            </a:pPr>
            <a:r>
              <a:rPr sz="1200" lang="he-IL"/>
              <a:t>•  אין צורך להתקין דבר: הקבצים נכתבים בתוך Colab.</a:t>
            </a:r>
          </a:p>
          <a:p>
            <a:pPr rtl="1" algn="r" marL="0" indent="0">
              <a:buNone/>
            </a:pPr>
            <a:r>
              <a:rPr sz="1200" lang="he-IL"/>
              <a:t>•  סיכום המפגש יכלול חידון קצר, הכלל של השיעור והכנה לשיעור הבא על דיבוג.</a:t>
            </a:r>
          </a:p>
          <a:p>
            <a:pPr rtl="1" algn="r" marL="0" indent="0">
              <a:buNone/>
            </a:pPr>
            <a:r>
              <a:rPr b="1" sz="1200" lang="he-IL"/>
              <a:t>שאלה לכיתה</a:t>
            </a:r>
          </a:p>
          <a:p>
            <a:pPr rtl="1" algn="r" marL="0" indent="0">
              <a:buNone/>
            </a:pPr>
            <a:r>
              <a:rPr sz="1200" lang="he-IL"/>
              <a:t>•  איפה הכי חשוב לא לדלג?</a:t>
            </a:r>
          </a:p>
          <a:p>
            <a:pPr rtl="1" algn="r" marL="0" indent="0">
              <a:buNone/>
            </a:pPr>
            <a:r>
              <a:rPr b="1" sz="1200" lang="he-IL"/>
              <a:t>תשובה</a:t>
            </a:r>
          </a:p>
          <a:p>
            <a:pPr rtl="1" algn="r" marL="0" indent="0">
              <a:buNone/>
            </a:pPr>
            <a:r>
              <a:rPr sz="1200" lang="he-IL"/>
              <a:t>•  במעבדות, כי רק שם רואים בדיקה נכשלת במו העיניים.</a:t>
            </a:r>
          </a:p>
          <a:p>
            <a:pPr rtl="1" algn="r" marL="0" indent="0">
              <a:buNone/>
            </a:pPr>
            <a:r>
              <a:rPr sz="1200" lang="he-IL"/>
              <a:t>•  תקציב זמן, בלי הרחבות אופציונליות, 90 דקות.</a:t>
            </a:r>
          </a:p>
          <a:p>
            <a:pPr rtl="1" algn="r" marL="0" indent="0">
              <a:buNone/>
            </a:pPr>
            <a:r>
              <a:rPr sz="1200" lang="he-IL"/>
              <a:t>•  תיאוריה: חלק א׳ כ־12 דקות (שקף תוכן כדקה, שקף מושג או דוגמה כדקה וחצי עד שתיים, שאלת בדיקה עם דיון כשתי דקות), חלק ב׳ כ־11 דקות ובו שקף הבדיקות החלשות של AI, חלק ג׳ כ־9 דקות בלי שקף ה־Pull Request.</a:t>
            </a:r>
          </a:p>
          <a:p>
            <a:pPr rtl="1" algn="r" marL="0" indent="0">
              <a:buNone/>
            </a:pPr>
            <a:r>
              <a:rPr sz="1200" lang="he-IL"/>
              <a:t>•  מעבדות: 9, 16 ו־14 דקות, סך 39.</a:t>
            </a:r>
          </a:p>
          <a:p>
            <a:pPr rtl="1" algn="r" marL="0" indent="0">
              <a:buNone/>
            </a:pPr>
            <a:r>
              <a:rPr sz="1200" lang="he-IL"/>
              <a:t>•  פתיחה 9 (שקף הפתיחה 2, מטרות 1, מפה 1, שרשרת הקורס 3, שאלת היום 2) וסיכום 10 (כלל השיעור 1, חידון 4, סיכום 2.5, הכנה 1.5, שאלות 1).</a:t>
            </a:r>
          </a:p>
          <a:p>
            <a:pPr rtl="1" algn="r" marL="0" indent="0">
              <a:buNone/>
            </a:pPr>
            <a:r>
              <a:rPr sz="1200" lang="he-IL"/>
              <a:t>•  תיאוריה 32 ועוד מעבדות 39 ועוד פתיחה וסיכום 19 הם 90.</a:t>
            </a:r>
          </a:p>
          <a:p>
            <a:pPr rtl="1" algn="r" marL="0" indent="0">
              <a:buNone/>
            </a:pPr>
            <a:r>
              <a:rPr sz="1200" lang="he-IL"/>
              <a:t>•  אופציונלי בתוך הליבה: שקף ה־Pull Request (כדקה, מסומן בתג ״אופציונלי״).</a:t>
            </a:r>
          </a:p>
          <a:p>
            <a:pPr rtl="1" algn="r" marL="0" indent="0">
              <a:buNone/>
            </a:pPr>
            <a:r>
              <a:rPr sz="1200" lang="he-IL"/>
              <a:t>•  שקפי העשרה: שישה שקפים ושקף מקורות בין מעבדה ג׳ לסיכום, כ־11 דקות אם מציגים הכול, ולכן סך הכול כ־101 דקות בהצגת כל ההעשרה.</a:t>
            </a:r>
          </a:p>
          <a:p>
            <a:pPr rtl="1" algn="r" marL="0" indent="0">
              <a:buNone/>
            </a:pPr>
            <a:r>
              <a:rPr sz="1200" lang="he-IL"/>
              <a:t>•  מומלץ לבחור 3 עד 4 שקפים לפי הזמן: כיסוי קוד מול ציון הרג, אורקל הבדיקה, ומה המחקר אומר על AI הם הקשורים ביותר לנושא.</a:t>
            </a:r>
          </a:p>
          <a:p>
            <a:pPr rtl="1" algn="r" marL="0" indent="0">
              <a:buNone/>
            </a:pPr>
            <a:r>
              <a:rPr sz="1200" lang="he-IL"/>
              <a:t>•  סדר קיצוץ אם הזמן קצר: קודם שקפי ההעשרה, אחר כך שקף ה־PR, אחר כך חלקים ד׳ ו־ה׳ של המחברת (בבית), ולא את חלקים א׳ עד ג׳ של המחברת.</a:t>
            </a:r>
          </a:p>
          <a:p>
            <a:pPr rtl="1" algn="r" marL="0" indent="0">
              <a:buNone/>
            </a:pPr>
            <a:r>
              <a:rPr sz="1200" lang="he-IL"/>
              <a:t>•  חיבור למפגשים הקודמים: בפתיחה שני שקפי גשר חדשים, שרשרת הקורס (שקף 4) והשאלה של היום (שקף 5); שניהם ליבה, ולכן הפתיחה גדלה מ־7 ל־9 דקות והסיכום קטן מ־12 ל־10 דקות (חידון של 4 דקות במקום 5, סיכום והכנה קצרים יותר).</a:t>
            </a:r>
          </a:p>
          <a:p>
            <a:pPr rtl="1" algn="r" marL="0" indent="0">
              <a:buNone/>
            </a:pPr>
            <a:r>
              <a:rPr sz="1200" lang="he-IL"/>
              <a:t>•  זמני המעבדות לא השתנו.</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א' (12 דקות עד תחילת המעבדה).</a:t>
            </a:r>
          </a:p>
          <a:p>
            <a:pPr rtl="1" algn="r" marL="0" indent="0">
              <a:buNone/>
            </a:pPr>
            <a:r>
              <a:rPr b="1" sz="1200" lang="he-IL"/>
              <a:t>מה אומרים</a:t>
            </a:r>
          </a:p>
          <a:p>
            <a:pPr rtl="1" algn="r" marL="0" indent="0">
              <a:buNone/>
            </a:pPr>
            <a:r>
              <a:rPr sz="1200" lang="he-IL"/>
              <a:t>•  בשקף שלושה תפקידים של בדיקה, מימין לשמאל.</a:t>
            </a:r>
          </a:p>
          <a:p>
            <a:pPr rtl="1" algn="r" marL="0" indent="0">
              <a:buNone/>
            </a:pPr>
            <a:r>
              <a:rPr sz="1200" lang="he-IL"/>
              <a:t>•  ראשון, רשת ביטחון: כשמשנים קוד, ובמיוחד כשסוכן משנה קוד, הבדיקות אומרות מיד אם משהו שהיה תקין נשבר.</a:t>
            </a:r>
          </a:p>
          <a:p>
            <a:pPr rtl="1" algn="r" marL="0" indent="0">
              <a:buNone/>
            </a:pPr>
            <a:r>
              <a:rPr sz="1200" lang="he-IL"/>
              <a:t>•  שני, מפרט שרץ: במקום משפט כמו 'הפונקציה מחשבת נקודת הזמנה', הבדיקה אומרת 'עם 2, 7 ו-3 מקבלים 20', ואפשר להריץ אותה.</a:t>
            </a:r>
          </a:p>
          <a:p>
            <a:pPr rtl="1" algn="r" marL="0" indent="0">
              <a:buNone/>
            </a:pPr>
            <a:r>
              <a:rPr sz="1200" lang="he-IL"/>
              <a:t>•  כך המפרט לא נשאר מסמך שאיש לא קורא (קישור להרצאה 7, מפרט וחוזה).</a:t>
            </a:r>
          </a:p>
          <a:p>
            <a:pPr rtl="1" algn="r" marL="0" indent="0">
              <a:buNone/>
            </a:pPr>
            <a:r>
              <a:rPr sz="1200" lang="he-IL"/>
              <a:t>•  שלישי, אמון ב-AI: מהרצאה 2 אנחנו יודעים שה-AI כותב קוד משכנע שיכול להיות שגוי, ולכן קוד כזה מקבל אמון רק אחרי שעבר בדיקה.</a:t>
            </a:r>
          </a:p>
          <a:p>
            <a:pPr rtl="1" algn="r" marL="0" indent="0">
              <a:buNone/>
            </a:pPr>
            <a:r>
              <a:rPr sz="1200" lang="he-IL"/>
              <a:t>•  אנלוגיה להנדסת תעשייה: בדיקה היא בקרת איכות בסוף פס הייצור, שבודקת את המוצר לפני שהוא יוצא ללקוח.</a:t>
            </a:r>
          </a:p>
          <a:p>
            <a:pPr rtl="1" algn="r" marL="0" indent="0">
              <a:buNone/>
            </a:pPr>
            <a:r>
              <a:rPr b="1" sz="1200" lang="he-IL"/>
              <a:t>שאלה לכיתה</a:t>
            </a:r>
          </a:p>
          <a:p>
            <a:pPr rtl="1" algn="r" marL="0" indent="0">
              <a:buNone/>
            </a:pPr>
            <a:r>
              <a:rPr sz="1200" lang="he-IL"/>
              <a:t>•  מה קורה בלי בדיקות כשסוכן משנה עשרה קבצים?</a:t>
            </a:r>
          </a:p>
          <a:p>
            <a:pPr rtl="1" algn="r" marL="0" indent="0">
              <a:buNone/>
            </a:pPr>
            <a:r>
              <a:rPr b="1" sz="1200" lang="he-IL"/>
              <a:t>תשובה</a:t>
            </a:r>
          </a:p>
          <a:p>
            <a:pPr rtl="1" algn="r" marL="0" indent="0">
              <a:buNone/>
            </a:pPr>
            <a:r>
              <a:rPr sz="1200" lang="he-IL"/>
              <a:t>•  צריך לקרוא הכול ידנית, וקל לפספס משהו שנשבר.</a:t>
            </a:r>
          </a:p>
          <a:p>
            <a:pPr rtl="1" algn="r" marL="0" indent="0">
              <a:buNone/>
            </a:pPr>
            <a:r>
              <a:rPr sz="1200" lang="he-IL"/>
              <a:t>•  הגדרות והעמקה.</a:t>
            </a:r>
          </a:p>
          <a:p>
            <a:pPr rtl="1" algn="r" marL="0" indent="0">
              <a:buNone/>
            </a:pPr>
            <a:r>
              <a:rPr sz="1200" lang="he-IL"/>
              <a:t>•  בדיקה אוטומטית היא קוד שמריץ קוד אחר עם קלט ידוע ומשווה לתוצאה צפויה, בלי התערבות של אדם.</a:t>
            </a:r>
          </a:p>
          <a:p>
            <a:pPr rtl="1" algn="r" marL="0" indent="0">
              <a:buNone/>
            </a:pPr>
            <a:r>
              <a:rPr sz="1200" lang="he-IL"/>
              <a:t>•  בדיקות רגרסיה הן בדיקות שנשמרות כדי לגלות שמשהו שעבד נשבר אחרי שינוי: זה התפקיד של רשת הביטחון.</a:t>
            </a:r>
          </a:p>
          <a:p>
            <a:pPr rtl="1" algn="r" marL="0" indent="0">
              <a:buNone/>
            </a:pPr>
            <a:r>
              <a:rPr sz="1200" lang="he-IL"/>
              <a:t>•  הגבול התיאורטי: כבר Dijkstra הדגיש (Notes on Structured Programming, 1970) שבדיקות יכולות להראות שיש באגים, אך אינן יכולות להוכיח שאין אותם; לכן בדיקות מעלות אמון ואינן מוכיחות נכונות.</a:t>
            </a:r>
          </a:p>
          <a:p>
            <a:pPr rtl="1" algn="r" marL="0" indent="0">
              <a:buNone/>
            </a:pPr>
            <a:r>
              <a:rPr sz="1200" lang="he-IL"/>
              <a:t>•  זו עובדה מבוססת.</a:t>
            </a:r>
          </a:p>
          <a:p>
            <a:pPr rtl="1" algn="r" marL="0" indent="0">
              <a:buNone/>
            </a:pPr>
            <a:r>
              <a:rPr sz="1200" lang="he-IL"/>
              <a:t>•  לעומתה, ההמלצה לכתוב בדיקה לכל פונקציית חישוב היא המלצת פרקטיקה.</a:t>
            </a:r>
          </a:p>
          <a:p>
            <a:pPr rtl="1" algn="r" marL="0" indent="0">
              <a:buNone/>
            </a:pPr>
            <a:r>
              <a:rPr sz="1200" lang="he-IL"/>
              <a:t>•  Fowler (Refactoring, 2018) מציג בדיקות כתנאי לשינוי בטוח של קוד: נושא מפגש 11.</a:t>
            </a:r>
          </a:p>
          <a:p>
            <a:pPr rtl="1" algn="r" marL="0" indent="0">
              <a:buNone/>
            </a:pPr>
            <a:r>
              <a:rPr b="1" sz="1200" lang="he-IL"/>
              <a:t>חיבור לשיעורים קודמים</a:t>
            </a:r>
          </a:p>
          <a:p>
            <a:pPr rtl="1" algn="r" marL="0" indent="0">
              <a:buNone/>
            </a:pPr>
            <a:r>
              <a:rPr sz="1200" lang="he-IL"/>
              <a:t>•  ממפגש 2 אנחנו יודעים שקוד של AI נראה משכנע גם כשהוא שגוי, והכלל שם היה: לא ראיתם בתיעוד ולא הרצתם בהצלחה, לא סומכים.</a:t>
            </a:r>
          </a:p>
          <a:p>
            <a:pPr rtl="1" algn="r" marL="0" indent="0">
              <a:buNone/>
            </a:pPr>
            <a:r>
              <a:rPr sz="1200" lang="he-IL"/>
              <a:t>•  בדיקה אוטומטית היא אותה הרצה, שחוזרת בכל שינוי.</a:t>
            </a:r>
          </a:p>
          <a:p>
            <a:pPr rtl="1" algn="r" marL="0" indent="0">
              <a:buNone/>
            </a:pPr>
            <a:r>
              <a:rPr b="1" sz="1200" lang="he-IL"/>
              <a:t>שאלת היזכרות</a:t>
            </a:r>
          </a:p>
          <a:p>
            <a:pPr rtl="1" algn="r" marL="0" indent="0">
              <a:buNone/>
            </a:pPr>
            <a:r>
              <a:rPr sz="1200" lang="he-IL"/>
              <a:t>•  איזו הזיה הכי קשה לזהות בלי הרצה?</a:t>
            </a:r>
          </a:p>
          <a:p>
            <a:pPr rtl="1" algn="r" marL="0" indent="0">
              <a:buNone/>
            </a:pPr>
            <a:r>
              <a:rPr b="1" sz="1200" lang="he-IL"/>
              <a:t>תשובה</a:t>
            </a:r>
          </a:p>
          <a:p>
            <a:pPr rtl="1" algn="r" marL="0" indent="0">
              <a:buNone/>
            </a:pPr>
            <a:r>
              <a:rPr sz="1200" lang="he-IL"/>
              <a:t>•  הזיית התנהגות (הקוד רץ וההסבר שגוי).</a:t>
            </a:r>
          </a:p>
          <a:p>
            <a:pPr rtl="1" algn="r" marL="0" indent="0">
              <a:buNone/>
            </a:pPr>
            <a:r>
              <a:rPr sz="1200" lang="he-IL"/>
              <a:t>•  אם הכיתה לא זוכרת, תנו את התשובה וקשרו לפתיחה: 17 במקום 20.</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בדיקה אחת, והיא באמת ארבע שורות.</a:t>
            </a:r>
          </a:p>
          <a:p>
            <a:pPr rtl="1" algn="r" marL="0" indent="0">
              <a:buNone/>
            </a:pPr>
            <a:r>
              <a:rPr b="1" sz="1200" lang="he-IL"/>
              <a:t>מה אומרים</a:t>
            </a:r>
          </a:p>
          <a:p>
            <a:pPr rtl="1" algn="r" marL="0" indent="0">
              <a:buNone/>
            </a:pPr>
            <a:r>
              <a:rPr sz="1200" lang="he-IL"/>
              <a:t>•  קודם הסבירו את שלושת השלבים למעלה, מימין לשמאל: הכנה (מכינים קלט), פעולה (מפעילים את הפונקציה), בדיקה (משווים לתוצאה הצפויה).</a:t>
            </a:r>
          </a:p>
          <a:p>
            <a:pPr rtl="1" algn="r" marL="0" indent="0">
              <a:buNone/>
            </a:pPr>
            <a:r>
              <a:rPr sz="1200" lang="he-IL"/>
              <a:t>•  באנגלית זה Arrange, Act, Assert, ואין צורך שיזכרו את המונח.</a:t>
            </a:r>
          </a:p>
          <a:p>
            <a:pPr rtl="1" algn="r" marL="0" indent="0">
              <a:buNone/>
            </a:pPr>
            <a:r>
              <a:rPr sz="1200" lang="he-IL"/>
              <a:t>•  עכשיו הצביעו על הקוד בצבעים התואמים.</a:t>
            </a:r>
          </a:p>
          <a:p>
            <a:pPr rtl="1" algn="r" marL="0" indent="0">
              <a:buNone/>
            </a:pPr>
            <a:r>
              <a:rPr sz="1200" lang="he-IL"/>
              <a:t>•  השורה הראשונה, def test_basic, היא שם הבדיקה, והוא חייב להתחיל ב-test כדי ש-pytest ימצא אותה (גם הקובץ בדרך כלל נקרא test_משהו.py).</a:t>
            </a:r>
          </a:p>
          <a:p>
            <a:pPr rtl="1" algn="r" marL="0" indent="0">
              <a:buNone/>
            </a:pPr>
            <a:r>
              <a:rPr sz="1200" lang="he-IL"/>
              <a:t>•  שורת ההכנה קובעת ביקוש 2, אספקה 7 וביטחון 3.</a:t>
            </a:r>
          </a:p>
          <a:p>
            <a:pPr rtl="1" algn="r" marL="0" indent="0">
              <a:buNone/>
            </a:pPr>
            <a:r>
              <a:rPr sz="1200" lang="he-IL"/>
              <a:t>•  שורת הפעולה מפעילה את calc_reorder_point ושומרת את התוצאה.</a:t>
            </a:r>
          </a:p>
          <a:p>
            <a:pPr rtl="1" algn="r" marL="0" indent="0">
              <a:buNone/>
            </a:pPr>
            <a:r>
              <a:rPr sz="1200" lang="he-IL"/>
              <a:t>•  שורת assert היא הבדיקה עצמה: אם התנאי נכון לא קורה כלום, ואם לא, הבדיקה נכשלת.</a:t>
            </a:r>
          </a:p>
          <a:p>
            <a:pPr rtl="1" algn="r" marL="0" indent="0">
              <a:buNone/>
            </a:pPr>
            <a:r>
              <a:rPr sz="1200" lang="he-IL"/>
              <a:t>•  הדגישו שהערך 20 הוא ציפייה שמגיעה מהנוסחה ולא מהקוד.</a:t>
            </a:r>
          </a:p>
          <a:p>
            <a:pPr rtl="1" algn="r" marL="0" indent="0">
              <a:buNone/>
            </a:pPr>
            <a:r>
              <a:rPr b="1" sz="1200" lang="he-IL"/>
              <a:t>שאלה לכיתה</a:t>
            </a:r>
          </a:p>
          <a:p>
            <a:pPr rtl="1" algn="r" marL="0" indent="0">
              <a:buNone/>
            </a:pPr>
            <a:r>
              <a:rPr sz="1200" lang="he-IL"/>
              <a:t>•  מה יקרה אם נכתוב assert result == 17?</a:t>
            </a:r>
          </a:p>
          <a:p>
            <a:pPr rtl="1" algn="r" marL="0" indent="0">
              <a:buNone/>
            </a:pPr>
            <a:r>
              <a:rPr b="1" sz="1200" lang="he-IL"/>
              <a:t>תשובה</a:t>
            </a:r>
          </a:p>
          <a:p>
            <a:pPr rtl="1" algn="r" marL="0" indent="0">
              <a:buNone/>
            </a:pPr>
            <a:r>
              <a:rPr sz="1200" lang="he-IL"/>
              <a:t>•  הבדיקה תעבור על הקוד השגוי, וזה בדיוק מה שנראה בשקף 'טעות נפוצה'.</a:t>
            </a:r>
          </a:p>
          <a:p>
            <a:pPr rtl="1" algn="r" marL="0" indent="0">
              <a:buNone/>
            </a:pPr>
            <a:r>
              <a:rPr sz="1200" lang="he-IL"/>
              <a:t>•  מושג שכדאי להציג כאן: אורקל הבדיקה (test oracle) הוא המנגנון שקובע מהי התוצאה הנכונה.</a:t>
            </a:r>
          </a:p>
          <a:p>
            <a:pPr rtl="1" algn="r" marL="0" indent="0">
              <a:buNone/>
            </a:pPr>
            <a:r>
              <a:rPr sz="1200" lang="he-IL"/>
              <a:t>•  בבדיקה הזו האורקל הוא המספר 20 שחישבנו מהנוסחה.</a:t>
            </a:r>
          </a:p>
          <a:p>
            <a:pPr rtl="1" algn="r" marL="0" indent="0">
              <a:buNone/>
            </a:pPr>
            <a:r>
              <a:rPr sz="1200" lang="he-IL"/>
              <a:t>•  אם האורקל נגזר מהקוד, הבדיקה מעגלית.</a:t>
            </a:r>
          </a:p>
          <a:p>
            <a:pPr rtl="1" algn="r" marL="0" indent="0">
              <a:buNone/>
            </a:pPr>
            <a:r>
              <a:rPr sz="1200" lang="he-IL"/>
              <a:t>•  בשקף ההעשרה על אורקל הבדיקה אפשר להעמיק.</a:t>
            </a:r>
          </a:p>
          <a:p>
            <a:pPr rtl="1" algn="r" marL="0" indent="0">
              <a:buNone/>
            </a:pPr>
            <a:r>
              <a:rPr sz="1200" lang="he-IL"/>
              <a:t>•  בפייתון assert הוא פקודה שזורקת שגיאה כשהתנאי שקרי, ו־pytest תופס אותה ומדווח על כשל, ולכן אין צורך בספריית בדיקות מיוחדת כדי להתחיל.</a:t>
            </a:r>
          </a:p>
          <a:p>
            <a:pPr rtl="1" algn="r" marL="0" indent="0">
              <a:buNone/>
            </a:pPr>
            <a:r>
              <a:rPr b="1" sz="1200" lang="he-IL"/>
              <a:t>חיבור לשיעורים קודמים</a:t>
            </a:r>
          </a:p>
          <a:p>
            <a:pPr rtl="1" algn="r" marL="0" indent="0">
              <a:buNone/>
            </a:pPr>
            <a:r>
              <a:rPr sz="1200" lang="he-IL"/>
              <a:t>•  במפגש 5, במעבדה א׳ (״לבדוק לפני שסומכים״), validate_top5 השווה תשובה של כלי לתוצאה ידועה מראש. assert הוא אותה השוואה בשורה אחת, והיא רצה בכל שינוי.</a:t>
            </a:r>
          </a:p>
          <a:p>
            <a:pPr rtl="1" algn="r" marL="0" indent="0">
              <a:buNone/>
            </a:pPr>
            <a:r>
              <a:rPr b="1" sz="1200" lang="he-IL"/>
              <a:t>שאלת היזכרות</a:t>
            </a:r>
          </a:p>
          <a:p>
            <a:pPr rtl="1" algn="r" marL="0" indent="0">
              <a:buNone/>
            </a:pPr>
            <a:r>
              <a:rPr sz="1200" lang="he-IL"/>
              <a:t>•  מי זוכר מה השווינו שם?</a:t>
            </a:r>
          </a:p>
          <a:p>
            <a:pPr rtl="1" algn="r" marL="0" indent="0">
              <a:buNone/>
            </a:pPr>
            <a:r>
              <a:rPr b="1" sz="1200" lang="he-IL"/>
              <a:t>תשובה</a:t>
            </a:r>
          </a:p>
          <a:p>
            <a:pPr rtl="1" algn="r" marL="0" indent="0">
              <a:buNone/>
            </a:pPr>
            <a:r>
              <a:rPr sz="1200" lang="he-IL"/>
              <a:t>•  חמשת המוצרים המובילים הצפויים.</a:t>
            </a:r>
          </a:p>
          <a:p>
            <a:pPr rtl="1" algn="r" marL="0" indent="0">
              <a:buNone/>
            </a:pPr>
            <a:r>
              <a:rPr b="1" sz="1200" lang="he-IL"/>
              <a:t>אם הכיתה לא זוכרת</a:t>
            </a:r>
          </a:p>
          <a:p>
            <a:pPr rtl="1" algn="r" marL="0" indent="0">
              <a:buNone/>
            </a:pPr>
            <a:r>
              <a:rPr sz="1200" lang="he-IL"/>
              <a:t>•  ידענו את התשובה הנכונה מראש ובדקנו את הכלי מולה.</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זו הרצה אמיתית של pytest על הקוד השגוי מהפתיחה, מקוצרת מעט כדי להיכנס לשקף (בפלט המלא יש גם שמות קבצים, ושורה של נקודות ואותיות F: נקודה היא בדיקה שעברה, F היא בדיקה שנכשלה).</a:t>
            </a:r>
          </a:p>
          <a:p>
            <a:pPr rtl="1" algn="r" marL="0" indent="0">
              <a:buNone/>
            </a:pPr>
            <a:r>
              <a:rPr sz="1200" lang="he-IL"/>
              <a:t>•  הפקודה python -m pytest -q, ו-q פירושו quiet, פלט קצר.</a:t>
            </a:r>
          </a:p>
          <a:p>
            <a:pPr rtl="1" algn="r" marL="0" indent="0">
              <a:buNone/>
            </a:pPr>
            <a:r>
              <a:rPr sz="1200" lang="he-IL"/>
              <a:t>•  עברו על הפלט שורה אחרי שורה. test_basic נכשלה עם assert 17 == 20: משמאל ל-== מה שהפונקציה החזירה, ומימין מה שציפינו. test_zero_demand: ביקוש 0 אמור לתת 0, וקיבלנו 3, כי הקוד מוסיף ימי ביטחון גם בלי ביקוש. test_negative_demand: ציפינו ל-ValueError על ביקוש שלילי ולא נזרקה שגיאה, ולכן DID NOT RAISE.</a:t>
            </a:r>
          </a:p>
          <a:p>
            <a:pPr rtl="1" algn="r" marL="0" indent="0">
              <a:buNone/>
            </a:pPr>
            <a:r>
              <a:rPr sz="1200" lang="he-IL"/>
              <a:t>•  השורה האחרונה, 3 failed, מסכמת כמה נכשלו וכמה זמן לקח.</a:t>
            </a:r>
          </a:p>
          <a:p>
            <a:pPr rtl="1" algn="r" marL="0" indent="0">
              <a:buNone/>
            </a:pPr>
            <a:r>
              <a:rPr sz="1200" lang="he-IL"/>
              <a:t>•  התיבות מימין מסכמות את שלושת הביטויים שצריך לזהות.</a:t>
            </a:r>
          </a:p>
          <a:p>
            <a:pPr rtl="1" algn="r" marL="0" indent="0">
              <a:buNone/>
            </a:pPr>
            <a:r>
              <a:rPr sz="1200" lang="he-IL"/>
              <a:t>•  אמרו בקול את המשפט שבתחתית: כשבדיקה נכשלת, אפשר שהקוד שגוי ואפשר שהבדיקה שגויה, ובודקים מול המפרט.</a:t>
            </a:r>
          </a:p>
          <a:p>
            <a:pPr rtl="1" algn="r" marL="0" indent="0">
              <a:buNone/>
            </a:pPr>
            <a:r>
              <a:rPr b="1" sz="1200" lang="he-IL"/>
              <a:t>שאלה לכיתה</a:t>
            </a:r>
          </a:p>
          <a:p>
            <a:pPr rtl="1" algn="r" marL="0" indent="0">
              <a:buNone/>
            </a:pPr>
            <a:r>
              <a:rPr sz="1200" lang="he-IL"/>
              <a:t>•  האם שלושת הכשלים נובעים מאותה טעות?</a:t>
            </a:r>
          </a:p>
          <a:p>
            <a:pPr rtl="1" algn="r" marL="0" indent="0">
              <a:buNone/>
            </a:pPr>
            <a:r>
              <a:rPr b="1" sz="1200" lang="he-IL"/>
              <a:t>תשובה</a:t>
            </a:r>
          </a:p>
          <a:p>
            <a:pPr rtl="1" algn="r" marL="0" indent="0">
              <a:buNone/>
            </a:pPr>
            <a:r>
              <a:rPr sz="1200" lang="he-IL"/>
              <a:t>•  לא.</a:t>
            </a:r>
          </a:p>
          <a:p>
            <a:pPr rtl="1" algn="r" marL="0" indent="0">
              <a:buNone/>
            </a:pPr>
            <a:r>
              <a:rPr sz="1200" lang="he-IL"/>
              <a:t>•  שניים הראשונים מהנוסחה, והשלישי מכך שאין בדיקת קלט שלילי.</a:t>
            </a:r>
          </a:p>
          <a:p>
            <a:pPr rtl="1" algn="r" marL="0" indent="0">
              <a:buNone/>
            </a:pPr>
            <a:r>
              <a:rPr sz="1200" lang="he-IL"/>
              <a:t>•  במחברת של מעבדה א׳ הסטודנטים כותבים חמש בדיקות ולא שלוש, ולכן ההרצה שלהם על הקוד השגוי תראה 4 failed ו־1 passed (הבדיקה של ריק או חסר עוברת).</a:t>
            </a:r>
          </a:p>
          <a:p>
            <a:pPr rtl="1" algn="r" marL="0" indent="0">
              <a:buNone/>
            </a:pPr>
            <a:r>
              <a:rPr sz="1200" lang="he-IL"/>
              <a:t>•  הפורמט והסיבות זהים לשקף.</a:t>
            </a:r>
          </a:p>
          <a:p>
            <a:pPr rtl="1" algn="r" marL="0" indent="0">
              <a:buNone/>
            </a:pPr>
            <a:r>
              <a:rPr b="1" sz="1200" lang="he-IL"/>
              <a:t>חיבור לשיעורים קודמים</a:t>
            </a:r>
          </a:p>
          <a:p>
            <a:pPr rtl="1" algn="r" marL="0" indent="0">
              <a:buNone/>
            </a:pPr>
            <a:r>
              <a:rPr sz="1200" lang="he-IL"/>
              <a:t>•  פלט של pytest כבר הופיע במפגש 7, בשקף ״בדיקה שנגזרת מהחוזה״ (8 passed).</a:t>
            </a:r>
          </a:p>
          <a:p>
            <a:pPr rtl="1" algn="r" marL="0" indent="0">
              <a:buNone/>
            </a:pPr>
            <a:r>
              <a:rPr sz="1200" lang="he-IL"/>
              <a:t>•  ההבדל היום: מפרשים גם כשל, לא רק ירוק.</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הדגמה של נוסחה מקורס המלאי, כדי שהדוגמה תהיה מוכרת.</a:t>
            </a:r>
          </a:p>
          <a:p>
            <a:pPr rtl="1" algn="r" marL="0" indent="0">
              <a:buNone/>
            </a:pPr>
            <a:r>
              <a:rPr b="1" sz="1200" lang="he-IL"/>
              <a:t>מה אומרים</a:t>
            </a:r>
          </a:p>
          <a:p>
            <a:pPr rtl="1" algn="r" marL="0" indent="0">
              <a:buNone/>
            </a:pPr>
            <a:r>
              <a:rPr sz="1200" lang="he-IL"/>
              <a:t>•  הציר האנכי הוא המלאי והאופקי הוא הזמן.</a:t>
            </a:r>
          </a:p>
          <a:p>
            <a:pPr rtl="1" algn="r" marL="0" indent="0">
              <a:buNone/>
            </a:pPr>
            <a:r>
              <a:rPr sz="1200" lang="he-IL"/>
              <a:t>•  הקו הכחול יורד בקצב הביקוש היומי.</a:t>
            </a:r>
          </a:p>
          <a:p>
            <a:pPr rtl="1" algn="r" marL="0" indent="0">
              <a:buNone/>
            </a:pPr>
            <a:r>
              <a:rPr sz="1200" lang="he-IL"/>
              <a:t>•  הקו האדום המקווקו הוא נקודת ההזמנה: כשהמלאי יורד עד אליו מזמינים, וההזמנה מגיעה אחרי זמן האספקה.</a:t>
            </a:r>
          </a:p>
          <a:p>
            <a:pPr rtl="1" algn="r" marL="0" indent="0">
              <a:buNone/>
            </a:pPr>
            <a:r>
              <a:rPr sz="1200" lang="he-IL"/>
              <a:t>•  הקו האנכי המקווקו מסמן הגעת הזמנה, והמלאי קופץ חזרה למעלה (בציור, לשם פשטות, ההזמנה מגיעה כשהמלאי מגיע לאפס; במציאות ימי הביטחון נועדו שלא נגיע לשם).</a:t>
            </a:r>
          </a:p>
          <a:p>
            <a:pPr rtl="1" algn="r" marL="0" indent="0">
              <a:buNone/>
            </a:pPr>
            <a:r>
              <a:rPr sz="1200" lang="he-IL"/>
              <a:t>•  הנוסחה: נקודת הזמנה = ביקוש יומי כפול (זמן אספקה + ימי ביטחון).</a:t>
            </a:r>
          </a:p>
          <a:p>
            <a:pPr rtl="1" algn="r" marL="0" indent="0">
              <a:buNone/>
            </a:pPr>
            <a:r>
              <a:rPr sz="1200" lang="he-IL"/>
              <a:t>•  עם ביקוש 2, אספקה 7 וביטחון 3 מקבלים 2 כפול 10, כלומר 20 יחידות.</a:t>
            </a:r>
          </a:p>
          <a:p>
            <a:pPr rtl="1" algn="r" marL="0" indent="0">
              <a:buNone/>
            </a:pPr>
            <a:r>
              <a:rPr sz="1200" lang="he-IL"/>
              <a:t>•  מימין למטה נוסחת EOQ, שורש של 2DS חלקי H, כאשר D הוא הביקוש השנתי, S עלות הזמנה ו-H עלות החזקה ליחידה בשנה.</a:t>
            </a:r>
          </a:p>
          <a:p>
            <a:pPr rtl="1" algn="r" marL="0" indent="0">
              <a:buNone/>
            </a:pPr>
            <a:r>
              <a:rPr sz="1200" lang="he-IL"/>
              <a:t>•  נשתמש בה במעבדה ב'.</a:t>
            </a:r>
          </a:p>
          <a:p>
            <a:pPr rtl="1" algn="r" marL="0" indent="0">
              <a:buNone/>
            </a:pPr>
            <a:r>
              <a:rPr b="1" sz="1200" lang="he-IL"/>
              <a:t>שאלה לכיתה</a:t>
            </a:r>
          </a:p>
          <a:p>
            <a:pPr rtl="1" algn="r" marL="0" indent="0">
              <a:buNone/>
            </a:pPr>
            <a:r>
              <a:rPr sz="1200" lang="he-IL"/>
              <a:t>•  אם הקוד שוכח להכפיל את ימי הביטחון בביקוש ובביקוש יומי 200, מה ההפרש?</a:t>
            </a:r>
          </a:p>
          <a:p>
            <a:pPr rtl="1" algn="r" marL="0" indent="0">
              <a:buNone/>
            </a:pPr>
            <a:r>
              <a:rPr b="1" sz="1200" lang="he-IL"/>
              <a:t>תשובה</a:t>
            </a:r>
          </a:p>
          <a:p>
            <a:pPr rtl="1" algn="r" marL="0" indent="0">
              <a:buNone/>
            </a:pPr>
            <a:r>
              <a:rPr sz="1200" lang="he-IL"/>
              <a:t>•  הנכון הוא 200 כפול 10, שזה 2000, והקוד נותן 200 כפול 7 ועוד 3, שזה 1403, ולכן מזמינים מאוחר מדי.</a:t>
            </a:r>
          </a:p>
          <a:p>
            <a:pPr rtl="1" algn="r" marL="0" indent="0">
              <a:buNone/>
            </a:pPr>
            <a:r>
              <a:rPr sz="1200" lang="he-IL"/>
              <a:t>•  הערת רקע: נוסחת כמות ההזמנה הכלכלית מיוחסת ל־Ford W.</a:t>
            </a:r>
          </a:p>
          <a:p>
            <a:pPr rtl="1" algn="r" marL="0" indent="0">
              <a:buNone/>
            </a:pPr>
            <a:r>
              <a:rPr sz="1200" lang="he-IL"/>
              <a:t>•  Harris (מאמר מ־1913 ב־Factory, The Magazine of Management), ובספרות יש בלבול מסוים לגבי המקור, כי המאמר נשכח שנים והנוסחה הפכה מוכרת בזכות אחרים.</a:t>
            </a:r>
          </a:p>
          <a:p>
            <a:pPr rtl="1" algn="r" marL="0" indent="0">
              <a:buNone/>
            </a:pPr>
            <a:r>
              <a:rPr sz="1200" lang="he-IL"/>
              <a:t>•  בקורס היא דוגמה בלבד.</a:t>
            </a:r>
          </a:p>
          <a:p>
            <a:pPr rtl="1" algn="r" marL="0" indent="0">
              <a:buNone/>
            </a:pPr>
            <a:r>
              <a:rPr sz="1200" lang="he-IL"/>
              <a:t>•  שימו לב להבדל בין שתי הנוסחאות: נקודת ההזמנה כאן מוגדרת עם ימי ביטחון, כך שהביטחון מוכפל בביקוש, ואילו בספרי לימוד מסוימים מוסיפים מלאי ביטחון בנפרד לביקוש בזמן האספקה.</a:t>
            </a:r>
          </a:p>
          <a:p>
            <a:pPr rtl="1" algn="r" marL="0" indent="0">
              <a:buNone/>
            </a:pPr>
            <a:r>
              <a:rPr sz="1200" lang="he-IL"/>
              <a:t>•  הגדרה אחת ברורה במפרט חשובה יותר מהגדרה אחת נכונה.</a:t>
            </a:r>
          </a:p>
          <a:p>
            <a:pPr rtl="1" algn="r" marL="0" indent="0">
              <a:buNone/>
            </a:pPr>
            <a:r>
              <a:rPr b="1" sz="1200" lang="he-IL"/>
              <a:t>חיבור לשיעורים קודמים</a:t>
            </a:r>
          </a:p>
          <a:p>
            <a:pPr rtl="1" algn="r" marL="0" indent="0">
              <a:buNone/>
            </a:pPr>
            <a:r>
              <a:rPr sz="1200" lang="he-IL"/>
              <a:t>•  החנות היא מקרה מלווה מאז מפגשים 5 ו־7 (הזמנות ומוצרים); היום מוסיפים לה חישוב של נקודת הזמנה.</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כאן שואלים: אילו בדיקות לכתוב?</a:t>
            </a:r>
          </a:p>
          <a:p>
            <a:pPr rtl="1" algn="r" marL="0" indent="0">
              <a:buNone/>
            </a:pPr>
            <a:r>
              <a:rPr b="1" sz="1200" lang="he-IL"/>
              <a:t>מה אומרים</a:t>
            </a:r>
          </a:p>
          <a:p>
            <a:pPr rtl="1" algn="r" marL="0" indent="0">
              <a:buNone/>
            </a:pPr>
            <a:r>
              <a:rPr sz="1200" lang="he-IL"/>
              <a:t>•  לא משאירים את זה לאינטואיציה, אלא חמש קטגוריות, מימין לשמאל, עם דוגמאות עבור calc_reorder_point.</a:t>
            </a:r>
          </a:p>
          <a:p>
            <a:pPr rtl="1" algn="r" marL="0" indent="0">
              <a:buNone/>
            </a:pPr>
            <a:r>
              <a:rPr sz="1200" lang="he-IL"/>
              <a:t>•  1 רגיל: המקרה הנפוץ, (2, 7, 3) ומצפים ל-20.</a:t>
            </a:r>
          </a:p>
          <a:p>
            <a:pPr rtl="1" algn="r" marL="0" indent="0">
              <a:buNone/>
            </a:pPr>
            <a:r>
              <a:rPr sz="1200" lang="he-IL"/>
              <a:t>•  2 גבול: ערך קיצוני, ביקוש 0 ומצפים ל-0.</a:t>
            </a:r>
          </a:p>
          <a:p>
            <a:pPr rtl="1" algn="r" marL="0" indent="0">
              <a:buNone/>
            </a:pPr>
            <a:r>
              <a:rPr sz="1200" lang="he-IL"/>
              <a:t>•  3 ריק או חסר: None או טקסט במקום מספר, ומצפים לשגיאה ברורה ולא לתוצאה מוזרה (בפייתון זו בדרך כלל TypeError).</a:t>
            </a:r>
          </a:p>
          <a:p>
            <a:pPr rtl="1" algn="r" marL="0" indent="0">
              <a:buNone/>
            </a:pPr>
            <a:r>
              <a:rPr sz="1200" lang="he-IL"/>
              <a:t>•  4 לא חוקי: ביקוש שלילי, ומצפים ל-ValueError, כפי שכתוב במפרט.</a:t>
            </a:r>
          </a:p>
          <a:p>
            <a:pPr rtl="1" algn="r" marL="0" indent="0">
              <a:buNone/>
            </a:pPr>
            <a:r>
              <a:rPr sz="1200" lang="he-IL"/>
              <a:t>•  5 כלל עסקי: ימי הביטחון הם 3 כברירת מחדל, ולכן קריאה בלי הפרמטר צריכה לתת את אותה תוצאה כמו עם 3.</a:t>
            </a:r>
          </a:p>
          <a:p>
            <a:pPr rtl="1" algn="r" marL="0" indent="0">
              <a:buNone/>
            </a:pPr>
            <a:r>
              <a:rPr sz="1200" lang="he-IL"/>
              <a:t>•  בהקשר של מלאי: ביקוש שלילי יכול להיות החזרת סחורה שהוזנה בטעות, וביקוש אפס הוא מוצר שלא נמכר.</a:t>
            </a:r>
          </a:p>
          <a:p>
            <a:pPr rtl="1" algn="r" marL="0" indent="0">
              <a:buNone/>
            </a:pPr>
            <a:r>
              <a:rPr sz="1200" lang="he-IL"/>
              <a:t>•  טיפ: אפשר להדביק את חמש הקטגוריות לפרומפט, והמודל יכתוב בדיקות מכל סוג.</a:t>
            </a:r>
          </a:p>
          <a:p>
            <a:pPr rtl="1" algn="r" marL="0" indent="0">
              <a:buNone/>
            </a:pPr>
            <a:r>
              <a:rPr b="1" sz="1200" lang="he-IL"/>
              <a:t>שאלה לכיתה</a:t>
            </a:r>
          </a:p>
          <a:p>
            <a:pPr rtl="1" algn="r" marL="0" indent="0">
              <a:buNone/>
            </a:pPr>
            <a:r>
              <a:rPr sz="1200" lang="he-IL"/>
              <a:t>•  אילו קטגוריות סביר שה-AI ישכח אם לא נבקש?</a:t>
            </a:r>
          </a:p>
          <a:p>
            <a:pPr rtl="1" algn="r" marL="0" indent="0">
              <a:buNone/>
            </a:pPr>
            <a:r>
              <a:rPr b="1" sz="1200" lang="he-IL"/>
              <a:t>תשובה</a:t>
            </a:r>
          </a:p>
          <a:p>
            <a:pPr rtl="1" algn="r" marL="0" indent="0">
              <a:buNone/>
            </a:pPr>
            <a:r>
              <a:rPr sz="1200" lang="he-IL"/>
              <a:t>•  בעיקר כלל עסקי וקלט חסר, כי הם לא נראים מתוך הקוד עצמו.</a:t>
            </a:r>
          </a:p>
          <a:p>
            <a:pPr rtl="1" algn="r" marL="0" indent="0">
              <a:buNone/>
            </a:pPr>
            <a:r>
              <a:rPr sz="1200" lang="he-IL"/>
              <a:t>•  לכן חשוב לתת לו את המפרט.</a:t>
            </a:r>
          </a:p>
          <a:p>
            <a:pPr rtl="1" algn="r" marL="0" indent="0">
              <a:buNone/>
            </a:pPr>
            <a:r>
              <a:rPr sz="1200" lang="he-IL"/>
              <a:t>•  הרחבה אקדמית.</a:t>
            </a:r>
          </a:p>
          <a:p>
            <a:pPr rtl="1" algn="r" marL="0" indent="0">
              <a:buNone/>
            </a:pPr>
            <a:r>
              <a:rPr sz="1200" lang="he-IL"/>
              <a:t>•  חמש הקטגוריות הן כלי הוראה מעשי, ולא תקן.</a:t>
            </a:r>
          </a:p>
          <a:p>
            <a:pPr rtl="1" algn="r" marL="0" indent="0">
              <a:buNone/>
            </a:pPr>
            <a:r>
              <a:rPr sz="1200" lang="he-IL"/>
              <a:t>•  הן קרובות לשתי טכניקות קלאסיות של תכנון בדיקות בקופסה שחורה: חלוקה למחלקות שקילות (equivalence partitioning) וניתוח ערכי גבול (boundary value analysis), שתיאר Glenford Myers בספר The Art of Software Testing (1979).</a:t>
            </a:r>
          </a:p>
          <a:p>
            <a:pPr rtl="1" algn="r" marL="0" indent="0">
              <a:buNone/>
            </a:pPr>
            <a:r>
              <a:rPr b="1" sz="1200" lang="he-IL"/>
              <a:t>מסר מרכזי</a:t>
            </a:r>
          </a:p>
          <a:p>
            <a:pPr rtl="1" algn="r" marL="0" indent="0">
              <a:buNone/>
            </a:pPr>
            <a:r>
              <a:rPr sz="1200" lang="he-IL"/>
              <a:t>•  קלטים רבים מתנהגים באותו אופן, ולכן מספיק נציג אחד מכל מחלקה, אבל שגיאות מתרכזות בגבולות, ולכן בודקים את הקצוות: ביקוש 0, ביקוש שלילי.</a:t>
            </a:r>
          </a:p>
          <a:p>
            <a:pPr rtl="1" algn="r" marL="0" indent="0">
              <a:buNone/>
            </a:pPr>
            <a:r>
              <a:rPr sz="1200" lang="he-IL"/>
              <a:t>•  הסבר ל־pytest.raises, שבו נשתמש במעבדה: זהו בלוק with, כותבים בתוכו את הקריאה לפונקציה, והבדיקה עוברת רק אם נזרקה שגיאה מהסוג שצוין.</a:t>
            </a:r>
          </a:p>
          <a:p>
            <a:pPr rtl="1" algn="r" marL="0" indent="0">
              <a:buNone/>
            </a:pPr>
            <a:r>
              <a:rPr sz="1200" lang="he-IL"/>
              <a:t>•  אם אין שגיאה הבדיקה נכשלת עם DID NOT RAISE, כפי שראינו בפלט.</a:t>
            </a:r>
          </a:p>
          <a:p>
            <a:pPr rtl="1" algn="r" marL="0" indent="0">
              <a:buNone/>
            </a:pPr>
            <a:r>
              <a:rPr b="1" sz="1200" lang="he-IL"/>
              <a:t>חיבור לשיעורים קודמים</a:t>
            </a:r>
          </a:p>
          <a:p>
            <a:pPr rtl="1" algn="r" marL="0" indent="0">
              <a:buNone/>
            </a:pPr>
            <a:r>
              <a:rPr sz="1200" lang="he-IL"/>
              <a:t>•  ממפגש 1, מקרה קצה הוא קלט חריג שהקוד הרגיל לא מטפל בו: רשימה ריקה, מספר שלילי, טקסט במקום מספר.</a:t>
            </a:r>
          </a:p>
          <a:p>
            <a:pPr rtl="1" algn="r" marL="0" indent="0">
              <a:buNone/>
            </a:pPr>
            <a:r>
              <a:rPr sz="1200" lang="he-IL"/>
              <a:t>•  הקטגוריות 2, 3 ו־4 כאן הן בדיוק אלה, ובמפגש 2 הזיית התנהגות נחשפה רק בקלט קצה.</a:t>
            </a:r>
          </a:p>
          <a:p>
            <a:pPr rtl="1" algn="r" marL="0" indent="0">
              <a:buNone/>
            </a:pPr>
            <a:r>
              <a:rPr b="1" sz="1200" lang="he-IL"/>
              <a:t>שאלת היזכרות</a:t>
            </a:r>
          </a:p>
          <a:p>
            <a:pPr rtl="1" algn="r" marL="0" indent="0">
              <a:buNone/>
            </a:pPr>
            <a:r>
              <a:rPr sz="1200" lang="he-IL"/>
              <a:t>•  איזה קלט שבר את average במפגש 1?</a:t>
            </a:r>
          </a:p>
          <a:p>
            <a:pPr rtl="1" algn="r" marL="0" indent="0">
              <a:buNone/>
            </a:pPr>
            <a:r>
              <a:rPr b="1" sz="1200" lang="he-IL"/>
              <a:t>תשובה</a:t>
            </a:r>
          </a:p>
          <a:p>
            <a:pPr rtl="1" algn="r" marL="0" indent="0">
              <a:buNone/>
            </a:pPr>
            <a:r>
              <a:rPr sz="1200" lang="he-IL"/>
              <a:t>•  רשימה ריקה (חילוק באפס).</a:t>
            </a:r>
          </a:p>
          <a:p>
            <a:pPr rtl="1" algn="r" marL="0" indent="0">
              <a:buNone/>
            </a:pPr>
            <a:r>
              <a:rPr sz="1200" lang="he-IL"/>
              <a:t>•  אם לא זוכרים, כתבו על הלוח average([]) ושאלו מה יקרה.</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בדיקות טובות רק כמו המקרים והציפיות שבהן.</a:t>
            </a:r>
          </a:p>
          <a:p>
            <a:pPr rtl="1" algn="r" marL="0" indent="0">
              <a:buNone/>
            </a:pPr>
            <a:r>
              <a:rPr b="1" sz="1200" lang="he-IL"/>
              <a:t>מה אומרים</a:t>
            </a:r>
          </a:p>
          <a:p>
            <a:pPr rtl="1" algn="r" marL="0" indent="0">
              <a:buNone/>
            </a:pPr>
            <a:r>
              <a:rPr sz="1200" lang="he-IL"/>
              <a:t>•  בשקף בדיקה יחידה כתבה assert f(2, 7, 3) == 17, והיא עוברת על הקוד השגוי מהפתיחה ומדפיסה 1 passed ירוק.</a:t>
            </a:r>
          </a:p>
          <a:p>
            <a:pPr rtl="1" algn="r" marL="0" indent="0">
              <a:buNone/>
            </a:pPr>
            <a:r>
              <a:rPr sz="1200" lang="he-IL"/>
              <a:t>•  אבל הציפייה עצמה שגויה, כי הנכון הוא 20.</a:t>
            </a:r>
          </a:p>
          <a:p>
            <a:pPr rtl="1" algn="r" marL="0" indent="0">
              <a:buNone/>
            </a:pPr>
            <a:r>
              <a:rPr sz="1200" lang="he-IL"/>
              <a:t>•  כלומר 'ירוק' אומר רק שהקוד עושה מה שהבדיקה מצפה, לא שהקוד נכון.</a:t>
            </a:r>
          </a:p>
          <a:p>
            <a:pPr rtl="1" algn="r" marL="0" indent="0">
              <a:buNone/>
            </a:pPr>
            <a:r>
              <a:rPr sz="1200" lang="he-IL"/>
              <a:t>•  אנלוגיה להנדסת תעשייה: בקרת איכות שבודקת מוצרים מול תבנית שגויה תאשר כל מוצר פגום.</a:t>
            </a:r>
          </a:p>
          <a:p>
            <a:pPr rtl="1" algn="r" marL="0" indent="0">
              <a:buNone/>
            </a:pPr>
            <a:r>
              <a:rPr sz="1200" lang="he-IL"/>
              <a:t>•  יש כאן שתי שגיאות נפוצות: מעט מדי מקרים, וציפיות שנגזרות מהקוד במקום ממפרט.</a:t>
            </a:r>
          </a:p>
          <a:p>
            <a:pPr rtl="1" algn="r" marL="0" indent="0">
              <a:buNone/>
            </a:pPr>
            <a:r>
              <a:rPr sz="1200" lang="he-IL"/>
              <a:t>•  את הציפייה הנכונה מגדיר אדם, מנוסחה, מהזמנת עבודה או ממפרט (קישור להרצאה 7).</a:t>
            </a:r>
          </a:p>
          <a:p>
            <a:pPr rtl="1" algn="r" marL="0" indent="0">
              <a:buNone/>
            </a:pPr>
            <a:r>
              <a:rPr b="1" sz="1200" lang="he-IL"/>
              <a:t>שאלה לכיתה</a:t>
            </a:r>
          </a:p>
          <a:p>
            <a:pPr rtl="1" algn="r" marL="0" indent="0">
              <a:buNone/>
            </a:pPr>
            <a:r>
              <a:rPr sz="1200" lang="he-IL"/>
              <a:t>•  מי אחראי על הערך 20?</a:t>
            </a:r>
          </a:p>
          <a:p>
            <a:pPr rtl="1" algn="r" marL="0" indent="0">
              <a:buNone/>
            </a:pPr>
            <a:r>
              <a:rPr b="1" sz="1200" lang="he-IL"/>
              <a:t>תשובה</a:t>
            </a:r>
          </a:p>
          <a:p>
            <a:pPr rtl="1" algn="r" marL="0" indent="0">
              <a:buNone/>
            </a:pPr>
            <a:r>
              <a:rPr sz="1200" lang="he-IL"/>
              <a:t>•  אנחנו, לא ה-AI.</a:t>
            </a:r>
          </a:p>
          <a:p>
            <a:pPr rtl="1" algn="r" marL="0" indent="0">
              <a:buNone/>
            </a:pPr>
            <a:r>
              <a:rPr sz="1200" lang="he-IL"/>
              <a:t>•  השאלה הבאה בונה על זה.</a:t>
            </a:r>
          </a:p>
          <a:p>
            <a:pPr rtl="1" algn="r" marL="0" indent="0">
              <a:buNone/>
            </a:pPr>
            <a:r>
              <a:rPr b="1" sz="1200" lang="he-IL"/>
              <a:t>חיבור לשיעורים קודמים</a:t>
            </a:r>
          </a:p>
          <a:p>
            <a:pPr rtl="1" algn="r" marL="0" indent="0">
              <a:buNone/>
            </a:pPr>
            <a:r>
              <a:rPr sz="1200" lang="he-IL"/>
              <a:t>•  ממפגש 2: ״אם המודל נשמע בטוח, הוא כנראה צודק״ היא טעות נפוצה, כי הטון אינו מדד לנכונות.</a:t>
            </a:r>
          </a:p>
          <a:p>
            <a:pPr rtl="1" algn="r" marL="0" indent="0">
              <a:buNone/>
            </a:pPr>
            <a:r>
              <a:rPr sz="1200" lang="he-IL"/>
              <a:t>•  כאן אותה טעות עם ירוק במקום טון בטוח.</a:t>
            </a:r>
          </a:p>
          <a:p>
            <a:pPr rtl="1" algn="r" marL="0" indent="0">
              <a:buNone/>
            </a:pPr>
            <a:r>
              <a:rPr sz="1200" lang="he-IL"/>
              <a:t>•  הכלל המשותף: ראיה היא הרצה מול ציפייה שנקבעה מראש.</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(כשלוש דקות).</a:t>
            </a:r>
          </a:p>
          <a:p>
            <a:pPr rtl="1" algn="r" marL="0" indent="0">
              <a:buNone/>
            </a:pPr>
            <a:r>
              <a:rPr b="1" sz="1200" lang="he-IL"/>
              <a:t>מה אומרים</a:t>
            </a:r>
          </a:p>
          <a:p>
            <a:pPr rtl="1" algn="r" marL="0" indent="0">
              <a:buNone/>
            </a:pPr>
            <a:r>
              <a:rPr sz="1200" lang="he-IL"/>
              <a:t>•  הקריאו את השאלה בקול ותנו לזוגות דקה לחשוב לפני שחושפים תשובה.</a:t>
            </a:r>
          </a:p>
          <a:p>
            <a:pPr rtl="1" algn="r" marL="0" indent="0">
              <a:buNone/>
            </a:pPr>
            <a:r>
              <a:rPr sz="1200" lang="he-IL"/>
              <a:t>•  התרחיש: ה-AI כתב גם פונקציה וגם בדיקות לה, והכל ירוק.</a:t>
            </a:r>
          </a:p>
          <a:p>
            <a:pPr rtl="1" algn="r" marL="0" indent="0">
              <a:buNone/>
            </a:pPr>
            <a:r>
              <a:rPr sz="1200" lang="he-IL"/>
              <a:t>•  אספו שתיים-שלוש תשובות בלי לשפוט.</a:t>
            </a:r>
          </a:p>
          <a:p>
            <a:pPr rtl="1" algn="r" marL="0" indent="0">
              <a:buNone/>
            </a:pPr>
            <a:r>
              <a:rPr sz="1200" lang="he-IL"/>
              <a:t>•  כיוון נכון: הבדיקות נכתבו מהקוד ולא מהמפרט, ולכן הן עלולות לאשר טעות.</a:t>
            </a:r>
          </a:p>
          <a:p>
            <a:pPr rtl="1" algn="r" marL="0" indent="0">
              <a:buNone/>
            </a:pPr>
            <a:r>
              <a:rPr sz="1200" lang="he-IL"/>
              <a:t>•  אם מישהו עונה 'הכל עבר, אין בעיה', שאלו: ומה אם הקוד שוכח להכפיל בביקוש?</a:t>
            </a:r>
          </a:p>
          <a:p>
            <a:pPr rtl="1" algn="r" marL="0" indent="0">
              <a:buNone/>
            </a:pPr>
            <a:r>
              <a:rPr sz="1200" lang="he-IL"/>
              <a:t>•  והפנו לשקף 'טעות נפוצה' עם assert ... == 17.</a:t>
            </a:r>
          </a:p>
          <a:p>
            <a:pPr rtl="1" algn="r" marL="0" indent="0">
              <a:buNone/>
            </a:pPr>
            <a:r>
              <a:rPr sz="1200" lang="he-IL"/>
              <a:t>•  קישור להרצאה 2: ה-AI משכנע בלי לדעת שהוא טועה, ולכן ירוק שהוא כתב לעצמו הוא ראיה חלשה.</a:t>
            </a:r>
          </a:p>
          <a:p>
            <a:pPr rtl="1" algn="r" marL="0" indent="0">
              <a:buNone/>
            </a:pPr>
            <a:r>
              <a:rPr sz="1200" lang="he-IL"/>
              <a:t>•  עברו לשקף הבא לתשובה.</a:t>
            </a:r>
          </a:p>
          <a:p>
            <a:pPr rtl="1" algn="r" marL="0" indent="0">
              <a:buNone/>
            </a:pPr>
            <a:r>
              <a:rPr b="1" sz="1200" lang="he-IL"/>
              <a:t>חיבור לשיעורים קודמים</a:t>
            </a:r>
          </a:p>
          <a:p>
            <a:pPr rtl="1" algn="r" marL="0" indent="0">
              <a:buNone/>
            </a:pPr>
            <a:r>
              <a:rPr sz="1200" lang="he-IL"/>
              <a:t>•  זו שאלת האמון ממפגש 1 (סומכים אבל בודקים) בגרסת בדיקות: מי בודק את הבודק?</a:t>
            </a:r>
          </a:p>
          <a:p>
            <a:pPr rtl="1" algn="r" marL="0" indent="0">
              <a:buNone/>
            </a:pPr>
            <a:r>
              <a:rPr sz="1200" lang="he-IL"/>
              <a:t>•  ממפגש 5: יומן ה־AI שואל ״איך אימתתי״.</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a:t>
            </a:r>
          </a:p>
          <a:p>
            <a:pPr rtl="1" algn="r" marL="0" indent="0">
              <a:buNone/>
            </a:pPr>
            <a:r>
              <a:rPr b="1" sz="1200" lang="he-IL"/>
              <a:t>מה אומרים</a:t>
            </a:r>
          </a:p>
          <a:p>
            <a:pPr rtl="1" algn="r" marL="0" indent="0">
              <a:buNone/>
            </a:pPr>
            <a:r>
              <a:rPr sz="1200" lang="he-IL"/>
              <a:t>•  שתי נקודות.</a:t>
            </a:r>
          </a:p>
          <a:p>
            <a:pPr rtl="1" algn="r" marL="0" indent="0">
              <a:buNone/>
            </a:pPr>
            <a:r>
              <a:rPr sz="1200" lang="he-IL"/>
              <a:t>•  אחת: כשה-AI כותב בדיקות אחרי הקוד, הוא נוטה לקרוא את הקוד ולהתאים אליו את הציפייה, ולכן הבדיקה מאשרת מה שהקוד עושה, גם אם הוא שגוי.</a:t>
            </a:r>
          </a:p>
          <a:p>
            <a:pPr rtl="1" algn="r" marL="0" indent="0">
              <a:buNone/>
            </a:pPr>
            <a:r>
              <a:rPr sz="1200" lang="he-IL"/>
              <a:t>•  שתיים: את הציפייה הנכונה מגדיר אדם, ממפרט או מנוסחה, למשל 2 כפול 10 שווה 20.</a:t>
            </a:r>
          </a:p>
          <a:p>
            <a:pPr rtl="1" algn="r" marL="0" indent="0">
              <a:buNone/>
            </a:pPr>
            <a:r>
              <a:rPr sz="1200" lang="he-IL"/>
              <a:t>•  דוגמה: אילו ה-AI ראה בקוד demand * lead_time + safety, הוא עלול לכתוב assert == 17.</a:t>
            </a:r>
          </a:p>
          <a:p>
            <a:pPr rtl="1" algn="r" marL="0" indent="0">
              <a:buNone/>
            </a:pPr>
            <a:r>
              <a:rPr sz="1200" lang="he-IL"/>
              <a:t>•  הפתרון שנתרגל: נותנים ל-AI את המפרט (הערת docstring, נוסחה, טבלת מקרים) ומבקשים 'כתוב בדיקות לפי המפרט ולא לפי הקוד'.</a:t>
            </a:r>
          </a:p>
          <a:p>
            <a:pPr rtl="1" algn="r" marL="0" indent="0">
              <a:buNone/>
            </a:pPr>
            <a:r>
              <a:rPr sz="1200" lang="he-IL"/>
              <a:t>•  במעבדה א' תכתבו בדיקות ממפרט בעצמכם, בלי AI; את הבדיקות ש־AI כותב נבדוק במעבדה ג', בחלק ד' של המחברת.</a:t>
            </a:r>
          </a:p>
          <a:p>
            <a:pPr rtl="1" algn="r" marL="0" indent="0">
              <a:buNone/>
            </a:pPr>
            <a:r>
              <a:rPr sz="1200" lang="he-IL"/>
              <a:t>•  עברו למעבדה (9 דקות).</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9 דקות, בזוגות, חלק א׳ במחברת HM_08: מחברת Colab אחת שמלווה את כל המעבדות של המפגש.</a:t>
            </a:r>
          </a:p>
          <a:p>
            <a:pPr rtl="1" algn="r" marL="0" indent="0">
              <a:buNone/>
            </a:pPr>
            <a:r>
              <a:rPr b="1" sz="1200" lang="he-IL"/>
              <a:t>מה אומרים</a:t>
            </a:r>
          </a:p>
          <a:p>
            <a:pPr rtl="1" algn="r" marL="0" indent="0">
              <a:buNone/>
            </a:pPr>
            <a:r>
              <a:rPr sz="1200" lang="he-IL"/>
              <a:t>•  הסטודנטים כבר ראו בפתיחה שקוד שרץ בלי שגיאה יכול להיות שגוי (17 במקום 20), ועכשיו הם בודקים את זה בעצמם.</a:t>
            </a:r>
          </a:p>
          <a:p>
            <a:pPr rtl="1" algn="r" marL="0" indent="0">
              <a:buNone/>
            </a:pPr>
            <a:r>
              <a:rPr sz="1200" lang="he-IL"/>
              <a:t>•  שלב 1: בדיקה מעגלית, test_circular עם assert == 17, ו־pytest מדווח 1 passed על קוד שגוי.</a:t>
            </a:r>
          </a:p>
          <a:p>
            <a:pPr rtl="1" algn="r" marL="0" indent="0">
              <a:buNone/>
            </a:pPr>
            <a:r>
              <a:rPr sz="1200" lang="he-IL"/>
              <a:t>•  שלב 2: כותבים חמש בדיקות ל־calc_reorder_point, אחת מכל קטגוריה, מהמפרט ולא מהרצת הקוד, וכותבים תחזית: ארבע ייכשלו ואחת תעבור.</a:t>
            </a:r>
          </a:p>
          <a:p>
            <a:pPr rtl="1" algn="r" marL="0" indent="0">
              <a:buNone/>
            </a:pPr>
            <a:r>
              <a:rPr sz="1200" lang="he-IL"/>
              <a:t>•  שלב 3: מתקנים את הקוד (קלט שלילי זורק ValueError, והנוסחה עם הסוגריים) ומריצים שוב.</a:t>
            </a:r>
          </a:p>
          <a:p>
            <a:pPr rtl="1" algn="r" marL="0" indent="0">
              <a:buNone/>
            </a:pPr>
            <a:r>
              <a:rPr b="1" sz="1200" lang="he-IL"/>
              <a:t>הכנה לפני השיעור</a:t>
            </a:r>
          </a:p>
          <a:p>
            <a:pPr rtl="1" algn="r" marL="0" indent="0">
              <a:buNone/>
            </a:pPr>
            <a:r>
              <a:rPr sz="1200" lang="he-IL"/>
              <a:t>•  להעלות את HM_08.ipynb ל־Drive או ל־Colab ולהחליף את ה־QR (מקום שמור) בקישור אמיתי; לפתוח את גרסת הפתרון ולהריץ Run all פעם אחת.</a:t>
            </a:r>
          </a:p>
          <a:p>
            <a:pPr rtl="1" algn="r" marL="0" indent="0">
              <a:buNone/>
            </a:pPr>
            <a:r>
              <a:rPr sz="1200" lang="he-IL"/>
              <a:t>•  בזמן הסיור: סטודנט שרואה ירוק על הקוד השגוי כתב ציפייה מהקוד.</a:t>
            </a:r>
          </a:p>
          <a:p>
            <a:pPr rtl="1" algn="r" marL="0" indent="0">
              <a:buNone/>
            </a:pPr>
            <a:r>
              <a:rPr sz="1200" lang="he-IL"/>
              <a:t>•  שגיאות נפוצות: %%writefile לא בשורה הראשונה של התא, או שלא הריצו את התא שכותב את הקובץ.</a:t>
            </a:r>
          </a:p>
          <a:p>
            <a:pPr rtl="1" algn="r" marL="0" indent="0">
              <a:buNone/>
            </a:pPr>
            <a:r>
              <a:rPr sz="1200" lang="he-IL"/>
              <a:t>•  בלי כלי AI בחלק הזה.</a:t>
            </a:r>
          </a:p>
          <a:p>
            <a:pPr rtl="1" algn="r" marL="0" indent="0">
              <a:buNone/>
            </a:pPr>
            <a:r>
              <a:rPr sz="1200" lang="he-IL"/>
              <a:t>•  הערות מפורטות בקובץ הערות_למרצה_HM_08.md.</a:t>
            </a:r>
          </a:p>
          <a:p>
            <a:pPr rtl="1" algn="r" marL="0" indent="0">
              <a:buNone/>
            </a:pPr>
            <a:r>
              <a:rPr sz="1200" lang="he-IL"/>
              <a:t>•  למה עושים את המעבדה הזו: היא מתרגלת שלושה רעיונות מהתיאוריה של חלק א׳: אנטומיית בדיקה (הכנה, פעולה, בדיקה), חמש קטגוריות המקרים, והכלל שהציפייה מגיעה ממפרט ולא מהרצת הקוד (בדיקה מעגלית).</a:t>
            </a:r>
          </a:p>
          <a:p>
            <a:pPr rtl="1" algn="r" marL="0" indent="0">
              <a:buNone/>
            </a:pPr>
            <a:r>
              <a:rPr sz="1200" lang="he-IL"/>
              <a:t>•  כל מה שהמחברת משתמשת בו הוצג: assert ופלט pytest בשקפים 7 ו־8, חמש הקטגוריות בשקף 10, ו־pytest.raises מוסבר בהערות שקף 10 ובמחברת עצמה.</a:t>
            </a:r>
          </a:p>
          <a:p>
            <a:pPr rtl="1" algn="r" marL="0" indent="0">
              <a:buNone/>
            </a:pPr>
            <a:r>
              <a:rPr sz="1200" lang="he-IL"/>
              <a:t>•  המושג ״קוד שרץ אבל שגוי״ חוזר מהפתיחה (17 מול 20).</a:t>
            </a:r>
          </a:p>
          <a:p>
            <a:pPr rtl="1" algn="r" marL="0" indent="0">
              <a:buNone/>
            </a:pPr>
            <a:r>
              <a:rPr b="1" sz="1200" lang="he-IL"/>
              <a:t>חיבור לשיעורים קודמים</a:t>
            </a:r>
          </a:p>
          <a:p>
            <a:pPr rtl="1" algn="r" marL="0" indent="0">
              <a:buNone/>
            </a:pPr>
            <a:r>
              <a:rPr sz="1200" lang="he-IL"/>
              <a:t>•  במעבדה זו נעשה שימוש בכללים קודמים: ״לא הרצתם = לא סומכים״ ממפגש 2, השוואה לתוצאה ידועה ממפגש 5 (validate_top5), מקרי הקצה ממפגש 1 (ריק, לא חוקי), והמפרט כחוזה ממפגש 7 בקנה מידה של פונקציה.</a:t>
            </a:r>
          </a:p>
          <a:p>
            <a:pPr rtl="1" algn="r" marL="0" indent="0">
              <a:buNone/>
            </a:pPr>
            <a:r>
              <a:rPr sz="1200" lang="he-IL"/>
              <a:t>•  כאן ההשוואה הופכת לקוד שחוזר ורץ.</a:t>
            </a:r>
          </a:p>
          <a:p>
            <a:pPr rtl="1" algn="r" marL="0" indent="0">
              <a:buNone/>
            </a:pPr>
            <a:r>
              <a:rPr b="1" sz="1200" lang="he-IL"/>
              <a:t>שאלת היזכרות</a:t>
            </a:r>
          </a:p>
          <a:p>
            <a:pPr rtl="1" algn="r" marL="0" indent="0">
              <a:buNone/>
            </a:pPr>
            <a:r>
              <a:rPr sz="1200" lang="he-IL"/>
              <a:t>•  מי זוכר איך בדקנו תשובת כלי במעבדה א׳ של מפגש 5?</a:t>
            </a:r>
          </a:p>
          <a:p>
            <a:pPr rtl="1" algn="r" marL="0" indent="0">
              <a:buNone/>
            </a:pPr>
            <a:r>
              <a:rPr b="1" sz="1200" lang="he-IL"/>
              <a:t>תשובה</a:t>
            </a:r>
          </a:p>
          <a:p>
            <a:pPr rtl="1" algn="r" marL="0" indent="0">
              <a:buNone/>
            </a:pPr>
            <a:r>
              <a:rPr sz="1200" lang="he-IL"/>
              <a:t>•  הפונקציה validate_top5 השוותה לחמשת המוצרים הצפויים.</a:t>
            </a:r>
          </a:p>
          <a:p>
            <a:pPr rtl="1" algn="r" marL="0" indent="0">
              <a:buNone/>
            </a:pPr>
            <a:r>
              <a:rPr b="1" sz="1200" lang="he-IL"/>
              <a:t>אם הכיתה לא זוכרת</a:t>
            </a:r>
          </a:p>
          <a:p>
            <a:pPr rtl="1" algn="r" marL="0" indent="0">
              <a:buNone/>
            </a:pPr>
            <a:r>
              <a:rPr sz="1200" lang="he-IL"/>
              <a:t>•  ידענו את התוצאה הנכונה מראש, וכאן מגדירים אותה בעצמנו ממפרט.</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קוראים את הקוד והמפרט, כשתי דקות, בתחילת מעבדה א׳.</a:t>
            </a:r>
          </a:p>
          <a:p>
            <a:pPr rtl="1" algn="r" marL="0" indent="0">
              <a:buNone/>
            </a:pPr>
            <a:r>
              <a:rPr b="1" sz="1200" lang="he-IL"/>
              <a:t>מה אומרים</a:t>
            </a:r>
          </a:p>
          <a:p>
            <a:pPr rtl="1" algn="r" marL="0" indent="0">
              <a:buNone/>
            </a:pPr>
            <a:r>
              <a:rPr sz="1200" lang="he-IL"/>
              <a:t>•  במחברת הקובץ reorder_v1.py כבר נמצא בתיקייה והסטודנטים מדפיסים אותו.</a:t>
            </a:r>
          </a:p>
          <a:p>
            <a:pPr rtl="1" algn="r" marL="0" indent="0">
              <a:buNone/>
            </a:pPr>
            <a:r>
              <a:rPr sz="1200" lang="he-IL"/>
              <a:t>•  הקרינו את הקוד וקראו אותו יחד: הפונקציה מקבלת ביקוש יומי, זמן אספקה וימי ביטחון (ברירת מחדל 3).</a:t>
            </a:r>
          </a:p>
          <a:p>
            <a:pPr rtl="1" algn="r" marL="0" indent="0">
              <a:buNone/>
            </a:pPr>
            <a:r>
              <a:rPr sz="1200" lang="he-IL"/>
              <a:t>•  ההערה אומרת מה היא אמורה לעשות: נקודת הזמנה = ביקוש יומי כפול (זמן אספקה + ימי ביטחון), וקלט שלילי צריך להעלות ValueError.</a:t>
            </a:r>
          </a:p>
          <a:p>
            <a:pPr rtl="1" algn="r" marL="0" indent="0">
              <a:buNone/>
            </a:pPr>
            <a:r>
              <a:rPr sz="1200" lang="he-IL"/>
              <a:t>•  השורה האחרונה היא return demand * lead_time + safety.</a:t>
            </a:r>
          </a:p>
          <a:p>
            <a:pPr rtl="1" algn="r" marL="0" indent="0">
              <a:buNone/>
            </a:pPr>
            <a:r>
              <a:rPr sz="1200" lang="he-IL"/>
              <a:t>•  בקשו מהסטודנטים לכתוב תחזית במחברת (מקום שמור, ״התחזית שלי״) לפני שמריצים: האם הקוד תואם להערה, ומה יחזיר עם 2, 7 ו־3?</a:t>
            </a:r>
          </a:p>
          <a:p>
            <a:pPr rtl="1" algn="r" marL="0" indent="0">
              <a:buNone/>
            </a:pPr>
            <a:r>
              <a:rPr sz="1200" lang="he-IL"/>
              <a:t>•  אל תגלו את התשובה: רוב הסטודנטים לא ישימו לב לסוגריים החסרים בקריאה ראשונה, וזו הנקודה, כי באג כזה לא נראה לעין.</a:t>
            </a:r>
          </a:p>
          <a:p>
            <a:pPr rtl="1" algn="r" marL="0" indent="0">
              <a:buNone/>
            </a:pPr>
            <a:r>
              <a:rPr sz="1200" lang="he-IL"/>
              <a:t>•  אחר כך התא הבא מריץ ומדפיס: הקוד החזיר 17, לפי הנוסחה 20.</a:t>
            </a:r>
          </a:p>
          <a:p>
            <a:pPr rtl="1" algn="r" marL="0" indent="0">
              <a:buNone/>
            </a:pPr>
            <a:r>
              <a:rPr b="1" sz="1200" lang="he-IL"/>
              <a:t>שאלה לכיתה</a:t>
            </a:r>
          </a:p>
          <a:p>
            <a:pPr rtl="1" algn="r" marL="0" indent="0">
              <a:buNone/>
            </a:pPr>
            <a:r>
              <a:rPr sz="1200" lang="he-IL"/>
              <a:t>•  מה ההבדל בין שתי הנוסחאות כשהביקוש 2, האספקה 7 והביטחון 3?</a:t>
            </a:r>
          </a:p>
          <a:p>
            <a:pPr rtl="1" algn="r" marL="0" indent="0">
              <a:buNone/>
            </a:pPr>
            <a:r>
              <a:rPr b="1" sz="1200" lang="he-IL"/>
              <a:t>תשובה</a:t>
            </a:r>
          </a:p>
          <a:p>
            <a:pPr rtl="1" algn="r" marL="0" indent="0">
              <a:buNone/>
            </a:pPr>
            <a:r>
              <a:rPr sz="1200" lang="he-IL"/>
              <a:t>•  17 לעומת 20.</a:t>
            </a:r>
          </a:p>
          <a:p>
            <a:pPr rtl="1" algn="r" marL="0" indent="0">
              <a:buNone/>
            </a:pPr>
            <a:r>
              <a:rPr sz="1200" lang="he-IL"/>
              <a:t>•  אחר כך עוברים לבדיקה המעגלית, 1 passed על קוד שגוי, ולחמש הבדיקות.</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9 דקות</a:t>
            </a:r>
          </a:p>
          <a:p>
            <a:pPr rtl="1" algn="r" marL="0" indent="0">
              <a:buNone/>
            </a:pPr>
            <a:r>
              <a:rPr lang="he-IL"/>
              <a:t>מה אומרים</a:t>
            </a:r>
          </a:p>
          <a:p>
            <a:pPr rtl="1" algn="r" marL="0" indent="0">
              <a:buNone/>
            </a:pPr>
            <a:r>
              <a:rPr lang="he-IL"/>
              <a:t>• הקובץ לתרגול הזה: HM_08.ipynb. חלק א׳: בדיקות ל־reorder.</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HM_08.ipynb ל־Colab או ל־Drive, ולהחליף את ה־QR (מקום שמור) בקישור אמיתי.</a:t>
            </a:r>
          </a:p>
          <a:p>
            <a:pPr rtl="1" algn="r" marL="0" indent="0">
              <a:buNone/>
            </a:pPr>
            <a:r>
              <a:rPr lang="he-IL"/>
              <a:t>• להריץ Run all על HM_08_SOLUTION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כ־2 דקות (שקף 5).</a:t>
            </a:r>
          </a:p>
          <a:p>
            <a:pPr rtl="1" algn="r" marL="0" indent="0">
              <a:buNone/>
            </a:pPr>
            <a:r>
              <a:rPr b="1" sz="1200" lang="he-IL"/>
              <a:t>מה אומרים</a:t>
            </a:r>
          </a:p>
          <a:p>
            <a:pPr rtl="1" algn="r" marL="0" indent="0">
              <a:buNone/>
            </a:pPr>
            <a:r>
              <a:rPr sz="1200" lang="he-IL"/>
              <a:t>•  הבעיה שנשארה, ומה נעשה היום.</a:t>
            </a:r>
          </a:p>
          <a:p>
            <a:pPr rtl="1" algn="r" marL="0" indent="0">
              <a:buNone/>
            </a:pPr>
            <a:r>
              <a:rPr sz="1200" lang="he-IL"/>
              <a:t>•  בסוף מפגש 7 בנינו שירות מאבני בניין, עם חוזה, מסד נתונים ובדיקה מקצה לקצה, וראינו שהוא עובד.</a:t>
            </a:r>
          </a:p>
          <a:p>
            <a:pPr rtl="1" algn="r" marL="0" indent="0">
              <a:buNone/>
            </a:pPr>
            <a:r>
              <a:rPr sz="1200" lang="he-IL"/>
              <a:t>•  שקף ההכנה של מפגש 7 אמר: בשיעור הבא בדיקות ואיכות קוד, מ״זה עובד״ ל״זה נכון״.</a:t>
            </a:r>
          </a:p>
          <a:p>
            <a:pPr rtl="1" algn="r" marL="0" indent="0">
              <a:buNone/>
            </a:pPr>
            <a:r>
              <a:rPr sz="1200" lang="he-IL"/>
              <a:t>•  נשארה שאלה פתוחה: ראינו בדיקה אחת שחייבת להיכשל על גרסאות שגויות, אבל לא למדנו איך כותבים בדיקות טובות בעצמנו, מאיפה מגיעה הציפייה, ומה קורה כש־AI כותב גם את הקוד וגם את הבדיקה.</a:t>
            </a:r>
          </a:p>
          <a:p>
            <a:pPr rtl="1" algn="r" marL="0" indent="0">
              <a:buNone/>
            </a:pPr>
            <a:r>
              <a:rPr sz="1200" lang="he-IL"/>
              <a:t>•  זו השאלה על המסך.</a:t>
            </a:r>
          </a:p>
          <a:p>
            <a:pPr rtl="1" algn="r" marL="0" indent="0">
              <a:buNone/>
            </a:pPr>
            <a:r>
              <a:rPr sz="1200" lang="he-IL"/>
              <a:t>•  אל תענו עליה עכשיו: בקשו שתי תשובות מהכיתה ורשמו אותן; הן יחזרו בשקף הכלל בסוף המפגש.</a:t>
            </a:r>
          </a:p>
          <a:p>
            <a:pPr rtl="1" algn="r" marL="0" indent="0">
              <a:buNone/>
            </a:pPr>
            <a:r>
              <a:rPr sz="1200" lang="he-IL"/>
              <a:t>•  המבנה של היום הוא התשובה: חלק א׳ בדיקה וחמש קטגוריות (נשען על מפגשים 1 ו־2), חלק ב׳ TDD ומוטנטים (נשען על ״החוזה קודם״ של מפגש 7), חלק ג׳ סקירת diff של סוכן (נשען על מפגש 6).</a:t>
            </a:r>
          </a:p>
          <a:p>
            <a:pPr rtl="1" algn="r" marL="0" indent="0">
              <a:buNone/>
            </a:pPr>
            <a:r>
              <a:rPr b="1" sz="1200" lang="he-IL"/>
              <a:t>שאלת היזכרות</a:t>
            </a:r>
          </a:p>
          <a:p>
            <a:pPr rtl="1" algn="r" marL="0" indent="0">
              <a:buNone/>
            </a:pPr>
            <a:r>
              <a:rPr sz="1200" lang="he-IL"/>
              <a:t>•  מה ביקשנו מכם בשקף ההכנה של מפגש 7?</a:t>
            </a:r>
          </a:p>
          <a:p>
            <a:pPr rtl="1" algn="r" marL="0" indent="0">
              <a:buNone/>
            </a:pPr>
            <a:r>
              <a:rPr b="1" sz="1200" lang="he-IL"/>
              <a:t>תשובה</a:t>
            </a:r>
          </a:p>
          <a:p>
            <a:pPr rtl="1" algn="r" marL="0" indent="0">
              <a:buNone/>
            </a:pPr>
            <a:r>
              <a:rPr sz="1200" lang="he-IL"/>
              <a:t>•  לבחור API ונתונים לפרויקט, לכתוב חוזה וסכמה, ולוודא שהשירות עובר בדיקות בהרצה נקייה.</a:t>
            </a:r>
          </a:p>
          <a:p>
            <a:pPr rtl="1" algn="r" marL="0" indent="0">
              <a:buNone/>
            </a:pPr>
            <a:r>
              <a:rPr b="1" sz="1200" lang="he-IL"/>
              <a:t>אם הכיתה לא זוכרת</a:t>
            </a:r>
          </a:p>
          <a:p>
            <a:pPr rtl="1" algn="r" marL="0" indent="0">
              <a:buNone/>
            </a:pPr>
            <a:r>
              <a:rPr sz="1200" lang="he-IL"/>
              <a:t>•  הראו את המשפט ״מ״זה עובד״ ל״זה נכון״״ ואמרו שבדיוק הוא נושא היום.</a:t>
            </a:r>
          </a:p>
          <a:p>
            <a:pPr rtl="1" algn="r" marL="0" indent="0">
              <a:buNone/>
            </a:pPr>
            <a:r>
              <a:rPr sz="1200" lang="he-IL"/>
              <a:t>•  אם מפגרים: דלגו על איסוף התשובות ועברו ישר לחלק א׳.</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שרשרת הקורס, כ־3 דקות (שקף 4 מתוך פתיחה של 9 דקות).</a:t>
            </a:r>
          </a:p>
          <a:p>
            <a:pPr rtl="1" algn="r" marL="0" indent="0">
              <a:buNone/>
            </a:pPr>
            <a:r>
              <a:rPr b="1" sz="1200" lang="he-IL"/>
              <a:t>מטרה</a:t>
            </a:r>
          </a:p>
          <a:p>
            <a:pPr rtl="1" algn="r" marL="0" indent="0">
              <a:buNone/>
            </a:pPr>
            <a:r>
              <a:rPr sz="1200" lang="he-IL"/>
              <a:t>•  להראות שהמפגש של היום לא עומד לבד אלא נבנה על דברים שכבר למדו, ושהכלל של כל מפגש נשאר ועובד.</a:t>
            </a:r>
          </a:p>
          <a:p>
            <a:pPr rtl="1" algn="r" marL="0" indent="0">
              <a:buNone/>
            </a:pPr>
            <a:r>
              <a:rPr sz="1200" lang="he-IL"/>
              <a:t>•  קראו את הטבלה מלמעלה למטה, שורה לכל מפגש, ובכל שורה אמרו את העמודה השלישית: איפה זה חוזר היום.</a:t>
            </a:r>
          </a:p>
          <a:p>
            <a:pPr rtl="1" algn="r" marL="0" indent="0">
              <a:buNone/>
            </a:pPr>
            <a:r>
              <a:rPr sz="1200" lang="he-IL"/>
              <a:t>•  מפגש 1: סומכים אבל בודקים, ומקרה הקצה של average על רשימה ריקה; היום זה הופך לשתי הקטגוריות ריק או חסר ולא חוקי, מתוך חמש.</a:t>
            </a:r>
          </a:p>
          <a:p>
            <a:pPr rtl="1" algn="r" marL="0" indent="0">
              <a:buNone/>
            </a:pPr>
            <a:r>
              <a:rPr sz="1200" lang="he-IL"/>
              <a:t>•  מפגש 2: הזיית התנהגות, כלומר קוד שרץ וההסבר עליו שגוי, ורק הרצה חושפת אותה; זו פתיחת היום, 17 במקום 20 בלי שגיאה.</a:t>
            </a:r>
          </a:p>
          <a:p>
            <a:pPr rtl="1" algn="r" marL="0" indent="0">
              <a:buNone/>
            </a:pPr>
            <a:r>
              <a:rPr sz="1200" lang="he-IL"/>
              <a:t>•  מפגש 5: validate_top5 השווה תוצאה של כלי למה שידוע מראש, ו־AI_LOG רשם איך אימתנו; היום assert עושה את אותה השוואה בקוד שחוזר ורץ, ו־real_log במעבדה ג׳ הוא רישום מסוג זה.</a:t>
            </a:r>
          </a:p>
          <a:p>
            <a:pPr rtl="1" algn="r" marL="0" indent="0">
              <a:buNone/>
            </a:pPr>
            <a:r>
              <a:rPr sz="1200" lang="he-IL"/>
              <a:t>•  מפגש 6: commit לפני, diff אחרי, ו־changed_files מגלה קבצים שלא התבקשו; היום סוקרים diff של סוכן ומחפשים בדיקה שנמחקה.</a:t>
            </a:r>
          </a:p>
          <a:p>
            <a:pPr rtl="1" algn="r" marL="0" indent="0">
              <a:buNone/>
            </a:pPr>
            <a:r>
              <a:rPr sz="1200" lang="he-IL"/>
              <a:t>•  מפגש 7, המפגש הקודם (השורה המסומנת): החוזה קודם, ובמעבדה ג׳ בדיקה חייבת להיכשל על ארבע גרסאות שגויות; היום המפרט הופך לבדיקות, והגרסאות השגויות נקראות מוטנטים.</a:t>
            </a:r>
          </a:p>
          <a:p>
            <a:pPr rtl="1" algn="r" marL="0" indent="0">
              <a:buNone/>
            </a:pPr>
            <a:r>
              <a:rPr sz="1200" lang="he-IL"/>
              <a:t>•  מפגשים 3 ו־4 אינם בטבלה: לפי הנושא בסילבוס הם הנדסת פרומפטים והנדסת הקשר, ואין כאן טענה על תוכן ספציפי שלהם; ההתייחסות אליהם היא בהערות המעבדה בלבד.</a:t>
            </a:r>
          </a:p>
          <a:p>
            <a:pPr rtl="1" algn="r" marL="0" indent="0">
              <a:buNone/>
            </a:pPr>
            <a:r>
              <a:rPr sz="1200" lang="he-IL"/>
              <a:t>•  שאלות היזכרות לכיתה: מי זוכר מה עושים לפי מפגש 1 לפני שמגישים קוד של AI?</a:t>
            </a:r>
          </a:p>
          <a:p>
            <a:pPr rtl="1" algn="r" marL="0" indent="0">
              <a:buNone/>
            </a:pPr>
            <a:r>
              <a:rPr b="1" sz="1200" lang="he-IL"/>
              <a:t>תשובה</a:t>
            </a:r>
          </a:p>
          <a:p>
            <a:pPr rtl="1" algn="r" marL="0" indent="0">
              <a:buNone/>
            </a:pPr>
            <a:r>
              <a:rPr sz="1200" lang="he-IL"/>
              <a:t>•  קוראים, מבינים, בודקים ולוקחים אחריות.</a:t>
            </a:r>
          </a:p>
          <a:p>
            <a:pPr rtl="1" algn="r" marL="0" indent="0">
              <a:buNone/>
            </a:pPr>
            <a:r>
              <a:rPr sz="1200" lang="he-IL"/>
              <a:t>•  ומה הכלל של מפגש 7?</a:t>
            </a:r>
          </a:p>
          <a:p>
            <a:pPr rtl="1" algn="r" marL="0" indent="0">
              <a:buNone/>
            </a:pPr>
            <a:r>
              <a:rPr sz="1200" lang="he-IL"/>
              <a:t>•  החוזה קודם, מגדירים מה נכנס, מה יוצא ומה נחשב נכון, ואז בודקים.</a:t>
            </a:r>
          </a:p>
          <a:p>
            <a:pPr rtl="1" algn="r" marL="0" indent="0">
              <a:buNone/>
            </a:pPr>
            <a:r>
              <a:rPr b="1" sz="1200" lang="he-IL"/>
              <a:t>אם הכיתה לא זוכרת</a:t>
            </a:r>
          </a:p>
          <a:p>
            <a:pPr rtl="1" algn="r" marL="0" indent="0">
              <a:buNone/>
            </a:pPr>
            <a:r>
              <a:rPr sz="1200" lang="he-IL"/>
              <a:t>•  אל תעצרו.</a:t>
            </a:r>
          </a:p>
          <a:p>
            <a:pPr rtl="1" algn="r" marL="0" indent="0">
              <a:buNone/>
            </a:pPr>
            <a:r>
              <a:rPr sz="1200" lang="he-IL"/>
              <a:t>•  אמרו את התשובה בעצמכם, הצביעו על העמודה השלישית והמשיכו; ההיזכרות היא כלי ולא חידון.</a:t>
            </a:r>
          </a:p>
          <a:p>
            <a:pPr rtl="1" algn="r" marL="0" indent="0">
              <a:buNone/>
            </a:pPr>
            <a:r>
              <a:rPr sz="1200" lang="he-IL"/>
              <a:t>•  אם מפגרים בזמן: קראו רק את שורות מפגש 2 ומפגש 7.</a:t>
            </a:r>
          </a:p>
          <a:p>
            <a:pPr rtl="1" algn="r" marL="0" indent="0">
              <a:buNone/>
            </a:pPr>
            <a:r>
              <a:rPr b="1" sz="1200" lang="he-IL"/>
              <a:t>שימו לב</a:t>
            </a:r>
          </a:p>
          <a:p>
            <a:pPr rtl="1" algn="r" marL="0" indent="0">
              <a:buNone/>
            </a:pPr>
            <a:r>
              <a:rPr sz="1200" lang="he-IL"/>
              <a:t>•  הטבלה בנויה בכוונה מחמש שורות בלבד, מפגשים 3 ו־4 הושמטו, ומפגש 6 חוזר גם בחלק ג׳ ובמעבדה ג׳.</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מקורות להעמקה, כחצי דקה, שקף אופציונלי: לא קוראים בקול, רק מציינים שמי שרוצה להעמיק יכול למצוא כאן את המקורות של שקפי ההעשרה.</a:t>
            </a:r>
          </a:p>
          <a:p>
            <a:pPr rtl="1" algn="r" marL="0" indent="0">
              <a:buNone/>
            </a:pPr>
            <a:r>
              <a:rPr b="1" sz="1200" lang="he-IL"/>
              <a:t>מה אומרים</a:t>
            </a:r>
          </a:p>
          <a:p>
            <a:pPr rtl="1" algn="r" marL="0" indent="0">
              <a:buNone/>
            </a:pPr>
            <a:r>
              <a:rPr sz="1200" lang="he-IL"/>
              <a:t>•  כל מקור נבדק מול הפרסום עצמו או מול דף הספרייה.</a:t>
            </a:r>
          </a:p>
          <a:p>
            <a:pPr rtl="1" algn="r" marL="0" indent="0">
              <a:buNone/>
            </a:pPr>
            <a:r>
              <a:rPr sz="1200" lang="he-IL"/>
              <a:t>•  קישורים וזיהויים: Beck, Test-Driven Development: By Example, Addison-Wesley, 2002.</a:t>
            </a:r>
          </a:p>
          <a:p>
            <a:pPr rtl="1" algn="r" marL="0" indent="0">
              <a:buNone/>
            </a:pPr>
            <a:r>
              <a:rPr sz="1200" lang="he-IL"/>
              <a:t>•  Fowler, Refactoring, מהדורה שנייה, Addison-Wesley, 2018.</a:t>
            </a:r>
          </a:p>
          <a:p>
            <a:pPr rtl="1" algn="r" marL="0" indent="0">
              <a:buNone/>
            </a:pPr>
            <a:r>
              <a:rPr sz="1200" lang="he-IL"/>
              <a:t>•  DeMillo, Lipton ו־Sayward, IEEE Computer 11(4), 1978, doi:10.1109/C-M.1978.218136 (ניתוח מוטציות, הנחת המתכנת המוכשר והשפעת הצימוד).</a:t>
            </a:r>
          </a:p>
          <a:p>
            <a:pPr rtl="1" algn="r" marL="0" indent="0">
              <a:buNone/>
            </a:pPr>
            <a:r>
              <a:rPr sz="1200" lang="he-IL"/>
              <a:t>•  Inozemtseva ו־Holmes, ICSE 2014, עמודים 435 עד 445, גרסת המחברים באתר cs.ubc.ca/~rtholmes.</a:t>
            </a:r>
          </a:p>
          <a:p>
            <a:pPr rtl="1" algn="r" marL="0" indent="0">
              <a:buNone/>
            </a:pPr>
            <a:r>
              <a:rPr sz="1200" lang="he-IL"/>
              <a:t>•  Barr, Harman, McMinn, Shahbaz ו־Yoo, IEEE Transactions on Software Engineering 41(5), 2015, עמודים 507 עד 525, doi:10.1109/TSE.2014.2372785.</a:t>
            </a:r>
          </a:p>
          <a:p>
            <a:pPr rtl="1" algn="r" marL="0" indent="0">
              <a:buNone/>
            </a:pPr>
            <a:r>
              <a:rPr sz="1200" lang="he-IL"/>
              <a:t>•  Claessen ו־Hughes, ICFP 2000, doi:10.1145/357766.351266; הספרייה Hypothesis: hypothesis.readthedocs.io.</a:t>
            </a:r>
          </a:p>
          <a:p>
            <a:pPr rtl="1" algn="r" marL="0" indent="0">
              <a:buNone/>
            </a:pPr>
            <a:r>
              <a:rPr sz="1200" lang="he-IL"/>
              <a:t>•  Liu, Xia, Wang ו־Zhang, NeurIPS 2023, arXiv:2305.01210.</a:t>
            </a:r>
          </a:p>
          <a:p>
            <a:pPr rtl="1" algn="r" marL="0" indent="0">
              <a:buNone/>
            </a:pPr>
            <a:r>
              <a:rPr sz="1200" lang="he-IL"/>
              <a:t>•  Anthropic, Claude 3.7 Sonnet System Card, 2025, סעיף 6, באתר anthropic.com.</a:t>
            </a:r>
          </a:p>
          <a:p>
            <a:pPr rtl="1" algn="r" marL="0" indent="0">
              <a:buNone/>
            </a:pPr>
            <a:r>
              <a:rPr sz="1200" lang="he-IL"/>
              <a:t>•  מקורות נוספים שהוזכרו בהערות הדובר של שקפי ההעשרה: Nagappan ועמיתים 2008 (Empirical Software Engineering 13(3), doi:10.1007/s10664-008-9062-z), Fucci ועמיתים 2017 (arXiv:1611.05994), Fowler, TestPyramid, 2012 (martinfowler.com), Cohn, Succeeding with Agile, 2009, Pearce ועמיתים 2022 (arXiv:2108.09293), Alshahwan ועמיתים 2024 (arXiv:2402.09171), METR 2025 (metr.org/blog/2025-06-05-recent-reward-hacking), Papadakis ועמיתים 2019 (Advances in Computers 112), Bacchelli ו־Bird, ICSE 2013, ו־Sadowski ועמיתים, ICSE-SEIP 2018.</a:t>
            </a:r>
          </a:p>
          <a:p>
            <a:pPr rtl="1" algn="r" marL="0" indent="0">
              <a:buNone/>
            </a:pPr>
            <a:r>
              <a:rPr sz="1200" lang="he-IL"/>
              <a:t>•  מה לא נכנס: ציטוט מדויק של יחס 70, 20, 10 בין רמות הבדיקות (לא הצלחנו לאמת מול הפוסט המקורי).</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(11 דקות).</a:t>
            </a:r>
          </a:p>
          <a:p>
            <a:pPr rtl="1" algn="r" marL="0" indent="0">
              <a:buNone/>
            </a:pPr>
            <a:r>
              <a:rPr b="1" sz="1200" lang="he-IL"/>
              <a:t>מה אומרים</a:t>
            </a:r>
          </a:p>
          <a:p>
            <a:pPr rtl="1" algn="r" marL="0" indent="0">
              <a:buNone/>
            </a:pPr>
            <a:r>
              <a:rPr sz="1200" lang="he-IL"/>
              <a:t>•  TDD, פיתוח מונחה בדיקות, עובד במעגל של שלושה שלבים.</a:t>
            </a:r>
          </a:p>
          <a:p>
            <a:pPr rtl="1" algn="r" marL="0" indent="0">
              <a:buNone/>
            </a:pPr>
            <a:r>
              <a:rPr sz="1200" lang="he-IL"/>
              <a:t>•  1 אדום: כותבים בדיקה לפני הקוד, והיא נכשלת, כי עדיין אין קוד.</a:t>
            </a:r>
          </a:p>
          <a:p>
            <a:pPr rtl="1" algn="r" marL="0" indent="0">
              <a:buNone/>
            </a:pPr>
            <a:r>
              <a:rPr sz="1200" lang="he-IL"/>
              <a:t>•  2 ירוק: כותבים את המימוש הפשוט ביותר שגורם לבדיקה לעבור.</a:t>
            </a:r>
          </a:p>
          <a:p>
            <a:pPr rtl="1" algn="r" marL="0" indent="0">
              <a:buNone/>
            </a:pPr>
            <a:r>
              <a:rPr sz="1200" lang="he-IL"/>
              <a:t>•  3 שיפור: מסדרים ומנקים את הקוד כשהבדיקות הירוקות מגינות שלא נשבור משהו.</a:t>
            </a:r>
          </a:p>
          <a:p>
            <a:pPr rtl="1" algn="r" marL="0" indent="0">
              <a:buNone/>
            </a:pPr>
            <a:r>
              <a:rPr sz="1200" lang="he-IL"/>
              <a:t>•  אחר כך חוזרים לתחילת המעגל עם הבדיקה הבאה, וכיוון החצים בשקף מראה את הסדר.</a:t>
            </a:r>
          </a:p>
          <a:p>
            <a:pPr rtl="1" algn="r" marL="0" indent="0">
              <a:buNone/>
            </a:pPr>
            <a:r>
              <a:rPr sz="1200" lang="he-IL"/>
              <a:t>•  הסיבה לראות אדום: בדיקה שמעולם לא נכשלה אינה מוכיחה שהיא בודקת משהו.</a:t>
            </a:r>
          </a:p>
          <a:p>
            <a:pPr rtl="1" algn="r" marL="0" indent="0">
              <a:buNone/>
            </a:pPr>
            <a:r>
              <a:rPr b="1" sz="1200" lang="he-IL"/>
              <a:t>אנלוגיה</a:t>
            </a:r>
          </a:p>
          <a:p>
            <a:pPr rtl="1" algn="r" marL="0" indent="0">
              <a:buNone/>
            </a:pPr>
            <a:r>
              <a:rPr sz="1200" lang="he-IL"/>
              <a:t>•  כשמכיילים משקל, מניחים קודם משקולת ידועה ורואים שהמשקל מגיב, ורק אחר כך סומכים עליו.</a:t>
            </a:r>
          </a:p>
          <a:p>
            <a:pPr rtl="1" algn="r" marL="0" indent="0">
              <a:buNone/>
            </a:pPr>
            <a:r>
              <a:rPr sz="1200" lang="he-IL"/>
              <a:t>•  עם AI, TDD נוח במיוחד: אנחנו כותבים את הבדיקות ממפרט (קישור להרצאה 7), וה-AI מממש.</a:t>
            </a:r>
          </a:p>
          <a:p>
            <a:pPr rtl="1" algn="r" marL="0" indent="0">
              <a:buNone/>
            </a:pPr>
            <a:r>
              <a:rPr sz="1200" lang="he-IL"/>
              <a:t>•  שלב השיפור קשור להרצאה 11 (refactoring).</a:t>
            </a:r>
          </a:p>
          <a:p>
            <a:pPr rtl="1" algn="r" marL="0" indent="0">
              <a:buNone/>
            </a:pPr>
            <a:r>
              <a:rPr b="1" sz="1200" lang="he-IL"/>
              <a:t>שאלה לכיתה</a:t>
            </a:r>
          </a:p>
          <a:p>
            <a:pPr rtl="1" algn="r" marL="0" indent="0">
              <a:buNone/>
            </a:pPr>
            <a:r>
              <a:rPr sz="1200" lang="he-IL"/>
              <a:t>•  מה ההבדל בין TDD למה שעשינו במעבדה א'?</a:t>
            </a:r>
          </a:p>
          <a:p>
            <a:pPr rtl="1" algn="r" marL="0" indent="0">
              <a:buNone/>
            </a:pPr>
            <a:r>
              <a:rPr b="1" sz="1200" lang="he-IL"/>
              <a:t>תשובה</a:t>
            </a:r>
          </a:p>
          <a:p>
            <a:pPr rtl="1" algn="r" marL="0" indent="0">
              <a:buNone/>
            </a:pPr>
            <a:r>
              <a:rPr sz="1200" lang="he-IL"/>
              <a:t>•  שם הקוד כבר היה קיים ובדקנו אותו אחר כך, וכאן הבדיקות באות קודם.</a:t>
            </a:r>
          </a:p>
          <a:p>
            <a:pPr rtl="1" algn="r" marL="0" indent="0">
              <a:buNone/>
            </a:pPr>
            <a:r>
              <a:rPr sz="1200" lang="he-IL"/>
              <a:t>•  הרחבה אקדמית.</a:t>
            </a:r>
          </a:p>
          <a:p>
            <a:pPr rtl="1" algn="r" marL="0" indent="0">
              <a:buNone/>
            </a:pPr>
            <a:r>
              <a:rPr sz="1200" lang="he-IL"/>
              <a:t>•  TDD הוצג על ידי Kent Beck בספר Test-Driven Development: By Example (2002) והוא קשור לתנועת Extreme Programming.</a:t>
            </a:r>
          </a:p>
          <a:p>
            <a:pPr rtl="1" algn="r" marL="0" indent="0">
              <a:buNone/>
            </a:pPr>
            <a:r>
              <a:rPr sz="1200" lang="he-IL"/>
              <a:t>•  השם אדום וירוק מגיע מהצבעים שמציגים כלי הרצת בדיקות.</a:t>
            </a:r>
          </a:p>
          <a:p>
            <a:pPr rtl="1" algn="r" marL="0" indent="0">
              <a:buNone/>
            </a:pPr>
            <a:r>
              <a:rPr sz="1200" lang="he-IL"/>
              <a:t>•  שימו לב להבחנה: זהו תרגול (practice), ולא ממצא.</a:t>
            </a:r>
          </a:p>
          <a:p>
            <a:pPr rtl="1" algn="r" marL="0" indent="0">
              <a:buNone/>
            </a:pPr>
            <a:r>
              <a:rPr sz="1200" lang="he-IL"/>
              <a:t>•  מה שמחקר אמפירי אומר על TDD מופיע בשקף ההעשרה ״TDD, מה הראיות״: התוצאות מעורבות.</a:t>
            </a:r>
          </a:p>
          <a:p>
            <a:pPr rtl="1" algn="r" marL="0" indent="0">
              <a:buNone/>
            </a:pPr>
            <a:r>
              <a:rPr sz="1200" lang="he-IL"/>
              <a:t>•  הנימוק שלנו לראות אדום קודם הוא לוגי: בדיקה שלא ראינו נכשלת אינה מוכיחה שהיא יכולה להיכשל.</a:t>
            </a:r>
          </a:p>
          <a:p>
            <a:pPr rtl="1" algn="r" marL="0" indent="0">
              <a:buNone/>
            </a:pPr>
            <a:r>
              <a:rPr b="1" sz="1200" lang="he-IL"/>
              <a:t>חיבור לשיעורים קודמים</a:t>
            </a:r>
          </a:p>
          <a:p>
            <a:pPr rtl="1" algn="r" marL="0" indent="0">
              <a:buNone/>
            </a:pPr>
            <a:r>
              <a:rPr sz="1200" lang="he-IL"/>
              <a:t>•  במפגש 7, בשקף ״חוזה קודם: Spec-first״, הסדר היה מפרט, בדיקות, מימוש עד ירוק, ואימות בידיים שלכם.</a:t>
            </a:r>
          </a:p>
          <a:p>
            <a:pPr rtl="1" algn="r" marL="0" indent="0">
              <a:buNone/>
            </a:pPr>
            <a:r>
              <a:rPr sz="1200" lang="he-IL"/>
              <a:t>•  TDD הוא אותו רעיון ברמת פונקציה: הבדיקה היא המפרט שרץ, והיא נכתבת לפני המימוש.</a:t>
            </a:r>
          </a:p>
          <a:p>
            <a:pPr rtl="1" algn="r" marL="0" indent="0">
              <a:buNone/>
            </a:pPr>
            <a:r>
              <a:rPr b="1" sz="1200" lang="he-IL"/>
              <a:t>שאלת היזכרות</a:t>
            </a:r>
          </a:p>
          <a:p>
            <a:pPr rtl="1" algn="r" marL="0" indent="0">
              <a:buNone/>
            </a:pPr>
            <a:r>
              <a:rPr sz="1200" lang="he-IL"/>
              <a:t>•  מי זוכר איך נקרא הרעיון ״מפרט קודם״ ממפגש 7?</a:t>
            </a:r>
          </a:p>
          <a:p>
            <a:pPr rtl="1" algn="r" marL="0" indent="0">
              <a:buNone/>
            </a:pPr>
            <a:r>
              <a:rPr b="1" sz="1200" lang="he-IL"/>
              <a:t>תשובה</a:t>
            </a:r>
          </a:p>
          <a:p>
            <a:pPr rtl="1" algn="r" marL="0" indent="0">
              <a:buNone/>
            </a:pPr>
            <a:r>
              <a:rPr sz="1200" lang="he-IL"/>
              <a:t>•  חוזה קודם (spec-first).</a:t>
            </a:r>
          </a:p>
          <a:p>
            <a:pPr rtl="1" algn="r" marL="0" indent="0">
              <a:buNone/>
            </a:pPr>
            <a:r>
              <a:rPr sz="1200" lang="he-IL"/>
              <a:t>•  אם לא זוכרים, תנו את התשובה.</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זו ההכנה למעבדה ב': איך עוברים ממפרט בעברית לבדיקות בלי לכתוב קוד בעצמנו.</a:t>
            </a:r>
          </a:p>
          <a:p>
            <a:pPr rtl="1" algn="r" marL="0" indent="0">
              <a:buNone/>
            </a:pPr>
            <a:r>
              <a:rPr b="1" sz="1200" lang="he-IL"/>
              <a:t>מה אומרים</a:t>
            </a:r>
          </a:p>
          <a:p>
            <a:pPr rtl="1" algn="r" marL="0" indent="0">
              <a:buNone/>
            </a:pPr>
            <a:r>
              <a:rPr sz="1200" lang="he-IL"/>
              <a:t>•  מימין טבלת מקרים בעברית: ביקוש שנתי, עלות הזמנה, עלות החזקה ותוצאה צפויה.</a:t>
            </a:r>
          </a:p>
          <a:p>
            <a:pPr rtl="1" algn="r" marL="0" indent="0">
              <a:buNone/>
            </a:pPr>
            <a:r>
              <a:rPr sz="1200" lang="he-IL"/>
              <a:t>•  בשורה הראשונה 1200, 50 ו-2 נותנים בערך 244.95, כי שורש של 2 כפול 1200 כפול 50 חלקי 2 הוא שורש של 60000.</a:t>
            </a:r>
          </a:p>
          <a:p>
            <a:pPr rtl="1" algn="r" marL="0" indent="0">
              <a:buNone/>
            </a:pPr>
            <a:r>
              <a:rPr sz="1200" lang="he-IL"/>
              <a:t>•  בשורה השנייה ביקוש 0 נותן 0.</a:t>
            </a:r>
          </a:p>
          <a:p>
            <a:pPr rtl="1" algn="r" marL="0" indent="0">
              <a:buNone/>
            </a:pPr>
            <a:r>
              <a:rPr sz="1200" lang="he-IL"/>
              <a:t>•  בשורה השלישית עלות החזקה 0 אסורה, ולכן מצפים לשגיאה.</a:t>
            </a:r>
          </a:p>
          <a:p>
            <a:pPr rtl="1" algn="r" marL="0" indent="0">
              <a:buNone/>
            </a:pPr>
            <a:r>
              <a:rPr sz="1200" lang="he-IL"/>
              <a:t>•  החץ מראה שה-AI הופך את הטבלה לקוד pytest, ומשמאל בדיקה לדוגמה.</a:t>
            </a:r>
          </a:p>
          <a:p>
            <a:pPr rtl="1" algn="r" marL="0" indent="0">
              <a:buNone/>
            </a:pPr>
            <a:r>
              <a:rPr sz="1200" lang="he-IL"/>
              <a:t>•  שימו לב ל-pytest.approx: מספרים עשרוניים מחושבים בקירוב, ולכן לא כותבים == מדויק אלא משווים עם סטייה מותרת, כאן rel=1e-3, כלומר עד אלפית.</a:t>
            </a:r>
          </a:p>
          <a:p>
            <a:pPr rtl="1" algn="r" marL="0" indent="0">
              <a:buNone/>
            </a:pPr>
            <a:r>
              <a:rPr sz="1200" lang="he-IL"/>
              <a:t>•  האדם מגדיר את המקרים ואת התוצאות, וה-AI מתרגם לקוד, ולכן הבדיקות מייצגות מה שאנחנו רוצים ולא מה שה-AI חושב.</a:t>
            </a:r>
          </a:p>
          <a:p>
            <a:pPr rtl="1" algn="r" marL="0" indent="0">
              <a:buNone/>
            </a:pPr>
            <a:r>
              <a:rPr b="1" sz="1200" lang="he-IL"/>
              <a:t>שאלה לכיתה</a:t>
            </a:r>
          </a:p>
          <a:p>
            <a:pPr rtl="1" algn="r" marL="0" indent="0">
              <a:buNone/>
            </a:pPr>
            <a:r>
              <a:rPr sz="1200" lang="he-IL"/>
              <a:t>•  למה לא לכתוב assert == 244.9494742...?</a:t>
            </a:r>
          </a:p>
          <a:p>
            <a:pPr rtl="1" algn="r" marL="0" indent="0">
              <a:buNone/>
            </a:pPr>
            <a:r>
              <a:rPr b="1" sz="1200" lang="he-IL"/>
              <a:t>תשובה</a:t>
            </a:r>
          </a:p>
          <a:p>
            <a:pPr rtl="1" algn="r" marL="0" indent="0">
              <a:buNone/>
            </a:pPr>
            <a:r>
              <a:rPr sz="1200" lang="he-IL"/>
              <a:t>•  אי אפשר לדרוש כל ספרה, וגם עיגול קטן בחישוב לא אמור להפיל בדיקה.</a:t>
            </a:r>
          </a:p>
          <a:p>
            <a:pPr rtl="1" algn="r" marL="0" indent="0">
              <a:buNone/>
            </a:pPr>
            <a:r>
              <a:rPr sz="1200" lang="he-IL"/>
              <a:t>•  במחברת הטבלה כבר מוצגת, והסטודנטים כותבים את הבדיקות בעצמם בתא %%writefile, עם בדיקה אחת כדוגמה.</a:t>
            </a:r>
          </a:p>
          <a:p>
            <a:pPr rtl="1" algn="r" marL="0" indent="0">
              <a:buNone/>
            </a:pPr>
            <a:r>
              <a:rPr sz="1200" lang="he-IL"/>
              <a:t>•  רק חלק ד׳ של המחברת משתמש בכלי AI.</a:t>
            </a:r>
          </a:p>
          <a:p>
            <a:pPr rtl="1" algn="r" marL="0" indent="0">
              <a:buNone/>
            </a:pPr>
            <a:r>
              <a:rPr b="1" sz="1200" lang="he-IL"/>
              <a:t>חיבור לשיעורים קודמים</a:t>
            </a:r>
          </a:p>
          <a:p>
            <a:pPr rtl="1" algn="r" marL="0" indent="0">
              <a:buNone/>
            </a:pPr>
            <a:r>
              <a:rPr sz="1200" lang="he-IL"/>
              <a:t>•  במפגש 7 הוצג החוזה כמפרט שאפשר לבדוק; הטבלה כאן היא חוזה של פונקציה אחת.</a:t>
            </a:r>
          </a:p>
          <a:p>
            <a:pPr rtl="1" algn="r" marL="0" indent="0">
              <a:buNone/>
            </a:pPr>
            <a:r>
              <a:rPr sz="1200" lang="he-IL"/>
              <a:t>•  לפי הנושא בסילבוס של מפגשים 3 ו־4 (הנדסת פרומפטים והנדסת הקשר): מה שנותנים ל־AI, מפרט וטבלת מקרים עם תוצאות, הוא הקשר שקובע איכות הבדיקות; אל תטענו תוכן ספציפי מעבר לנושא בסילבוס.</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שלוש דרכים נפוצות שבהן AI גורם לבדיקות לעבור בלי באמת לתקן, מימין לשמאל.</a:t>
            </a:r>
          </a:p>
          <a:p>
            <a:pPr rtl="1" algn="r" marL="0" indent="0">
              <a:buNone/>
            </a:pPr>
            <a:r>
              <a:rPr b="1" sz="1200" lang="he-IL"/>
              <a:t>מה אומרים</a:t>
            </a:r>
          </a:p>
          <a:p>
            <a:pPr rtl="1" algn="r" marL="0" indent="0">
              <a:buNone/>
            </a:pPr>
            <a:r>
              <a:rPr sz="1200" lang="he-IL"/>
              <a:t>•  1 משנה את הבדיקה: הציפייה משתנה מ-20 ל-17 כדי להתאים לקוד השגוי.</a:t>
            </a:r>
          </a:p>
          <a:p>
            <a:pPr rtl="1" algn="r" marL="0" indent="0">
              <a:buNone/>
            </a:pPr>
            <a:r>
              <a:rPr sz="1200" lang="he-IL"/>
              <a:t>•  2 מוחק בדיקה: בדיקה שנכשלת פשוט נעלמת, ו-pytest ירוק.</a:t>
            </a:r>
          </a:p>
          <a:p>
            <a:pPr rtl="1" algn="r" marL="0" indent="0">
              <a:buNone/>
            </a:pPr>
            <a:r>
              <a:rPr sz="1200" lang="he-IL"/>
              <a:t>•  את זה נראה בפועל במעבדה ג'.</a:t>
            </a:r>
          </a:p>
          <a:p>
            <a:pPr rtl="1" algn="r" marL="0" indent="0">
              <a:buNone/>
            </a:pPr>
            <a:r>
              <a:rPr sz="1200" lang="he-IL"/>
              <a:t>•  3 מקשיח תשובה (hard-code): במקום לחשב, הקוד מחזיר ישירות את הערך שהבדיקה מצפה לו, למשל if demand == 2: return 20.</a:t>
            </a:r>
          </a:p>
          <a:p>
            <a:pPr rtl="1" algn="r" marL="0" indent="0">
              <a:buNone/>
            </a:pPr>
            <a:r>
              <a:rPr sz="1200" lang="he-IL"/>
              <a:t>•  הסיבה היא שה-AI מנסה למלא את המטרה שקיבל, 'שהבדיקות יעברו', ולכן זו בעיה של הגדרת מטרה ולא של כוונה רעה.</a:t>
            </a:r>
          </a:p>
          <a:p>
            <a:pPr rtl="1" algn="r" marL="0" indent="0">
              <a:buNone/>
            </a:pPr>
            <a:r>
              <a:rPr b="1" sz="1200" lang="he-IL"/>
              <a:t>אנלוגיה</a:t>
            </a:r>
          </a:p>
          <a:p>
            <a:pPr rtl="1" algn="r" marL="0" indent="0">
              <a:buNone/>
            </a:pPr>
            <a:r>
              <a:rPr sz="1200" lang="he-IL"/>
              <a:t>•  עובד שמשנה נתונים כדי לעמוד ביעד ה-KPI.</a:t>
            </a:r>
          </a:p>
          <a:p>
            <a:pPr rtl="1" algn="r" marL="0" indent="0">
              <a:buNone/>
            </a:pPr>
            <a:r>
              <a:rPr sz="1200" lang="he-IL"/>
              <a:t>•  הגנה: בפרומפט כותבים 'אל תשנה את הבדיקות', וקוראים את ה-diff (קישור להרצאה 6) כדי לראות אילו קבצים השתנו.</a:t>
            </a:r>
          </a:p>
          <a:p>
            <a:pPr rtl="1" algn="r" marL="0" indent="0">
              <a:buNone/>
            </a:pPr>
            <a:r>
              <a:rPr b="1" sz="1200" lang="he-IL"/>
              <a:t>שאלה לכיתה</a:t>
            </a:r>
          </a:p>
          <a:p>
            <a:pPr rtl="1" algn="r" marL="0" indent="0">
              <a:buNone/>
            </a:pPr>
            <a:r>
              <a:rPr sz="1200" lang="he-IL"/>
              <a:t>•  איזה סימן ב-diff מגלה כל אחת מהרמאויות?</a:t>
            </a:r>
          </a:p>
          <a:p>
            <a:pPr rtl="1" algn="r" marL="0" indent="0">
              <a:buNone/>
            </a:pPr>
            <a:r>
              <a:rPr b="1" sz="1200" lang="he-IL"/>
              <a:t>תשובה</a:t>
            </a:r>
          </a:p>
          <a:p>
            <a:pPr rtl="1" algn="r" marL="0" indent="0">
              <a:buNone/>
            </a:pPr>
            <a:r>
              <a:rPr sz="1200" lang="he-IL"/>
              <a:t>•  שינוי בקובץ בדיקות, שורות בדיקה שנמחקו, וקבוע מוזר בתוך הקוד.</a:t>
            </a:r>
          </a:p>
          <a:p>
            <a:pPr rtl="1" algn="r" marL="0" indent="0">
              <a:buNone/>
            </a:pPr>
            <a:r>
              <a:rPr sz="1200" lang="he-IL"/>
              <a:t>•  מקור לטענה שהתופעה אמיתית: בדוח המערכת של Claude 3.7 Sonnet (Anthropic, 2025, סעיף 6) מתוארת הקשחה של ערכי בדיקה ושינוי הבדיקות עצמן בסביבות תכנות סוכניות, ובדוח של METR מ־2025 מתוארות התנהגויות דומות במודלים מתקדמים.</a:t>
            </a:r>
          </a:p>
          <a:p>
            <a:pPr rtl="1" algn="r" marL="0" indent="0">
              <a:buNone/>
            </a:pPr>
            <a:r>
              <a:rPr sz="1200" lang="he-IL"/>
              <a:t>•  הדוחות מתארים מודלים מסוימים ומועד מסוים, ולכן אל תציגו זאת כחוק טבע.</a:t>
            </a:r>
          </a:p>
          <a:p>
            <a:pPr rtl="1" algn="r" marL="0" indent="0">
              <a:buNone/>
            </a:pPr>
            <a:r>
              <a:rPr sz="1200" lang="he-IL"/>
              <a:t>•  פירוט בשקף ההעשרה ״מה המחקר אומר על AI״.</a:t>
            </a:r>
          </a:p>
          <a:p>
            <a:pPr rtl="1" algn="r" marL="0" indent="0">
              <a:buNone/>
            </a:pPr>
            <a:r>
              <a:rPr b="1" sz="1200" lang="he-IL"/>
              <a:t>חיבור לשיעורים קודמים</a:t>
            </a:r>
          </a:p>
          <a:p>
            <a:pPr rtl="1" algn="r" marL="0" indent="0">
              <a:buNone/>
            </a:pPr>
            <a:r>
              <a:rPr sz="1200" lang="he-IL"/>
              <a:t>•  ממפגש 6: ״מה שהסוכן אומר אינו הוכחה: מריצים ובודקים״.</a:t>
            </a:r>
          </a:p>
          <a:p>
            <a:pPr rtl="1" algn="r" marL="0" indent="0">
              <a:buNone/>
            </a:pPr>
            <a:r>
              <a:rPr sz="1200" lang="he-IL"/>
              <a:t>•  שלוש הרמאויות הן דרכים שבהן הסוכן מתקן את הבדיקה ולא את הקוד, ולכן ה־diff של קבצי הבדיקה חשוב.</a:t>
            </a:r>
          </a:p>
          <a:p>
            <a:pPr rtl="1" algn="r" marL="0" indent="0">
              <a:buNone/>
            </a:pPr>
            <a:r>
              <a:rPr b="1" sz="1200" lang="he-IL"/>
              <a:t>שאלת היזכרות</a:t>
            </a:r>
          </a:p>
          <a:p>
            <a:pPr rtl="1" algn="r" marL="0" indent="0">
              <a:buNone/>
            </a:pPr>
            <a:r>
              <a:rPr sz="1200" lang="he-IL"/>
              <a:t>•  מה עושים לפני ואחרי שהסוכן פועל?</a:t>
            </a:r>
          </a:p>
          <a:p>
            <a:pPr rtl="1" algn="r" marL="0" indent="0">
              <a:buNone/>
            </a:pPr>
            <a:r>
              <a:rPr b="1" sz="1200" lang="he-IL"/>
              <a:t>תשובה</a:t>
            </a:r>
          </a:p>
          <a:p>
            <a:pPr rtl="1" algn="r" marL="0" indent="0">
              <a:buNone/>
            </a:pPr>
            <a:r>
              <a:rPr sz="1200" lang="he-IL"/>
              <a:t>•  commit לפני, diff אחרי.</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הרמאות העדינה היא מעגל.</a:t>
            </a:r>
          </a:p>
          <a:p>
            <a:pPr rtl="1" algn="r" marL="0" indent="0">
              <a:buNone/>
            </a:pPr>
            <a:r>
              <a:rPr b="1" sz="1200" lang="he-IL"/>
              <a:t>מה אומרים</a:t>
            </a:r>
          </a:p>
          <a:p>
            <a:pPr rtl="1" algn="r" marL="0" indent="0">
              <a:buNone/>
            </a:pPr>
            <a:r>
              <a:rPr sz="1200" lang="he-IL"/>
              <a:t>•  ה-AI כותב קוד, אחר כך כותב בדיקה לפי הקוד, והבדיקה עוברת.</a:t>
            </a:r>
          </a:p>
          <a:p>
            <a:pPr rtl="1" algn="r" marL="0" indent="0">
              <a:buNone/>
            </a:pPr>
            <a:r>
              <a:rPr sz="1200" lang="he-IL"/>
              <a:t>•  בשרטוט החצים מחברים שלושה שלבים בלולאה: כותב קוד, כותב בדיקה לפי הקוד, הבדיקה עוברת, וחוזרים לקוד.</a:t>
            </a:r>
          </a:p>
          <a:p>
            <a:pPr rtl="1" algn="r" marL="0" indent="0">
              <a:buNone/>
            </a:pPr>
            <a:r>
              <a:rPr sz="1200" lang="he-IL"/>
              <a:t>•  אין במעגל אדם ואין מפרט, ולכן אין נקודה שבה טעות יכולה להתגלות.</a:t>
            </a:r>
          </a:p>
          <a:p>
            <a:pPr rtl="1" algn="r" marL="0" indent="0">
              <a:buNone/>
            </a:pPr>
            <a:r>
              <a:rPr sz="1200" lang="he-IL"/>
              <a:t>•  התוצאה ירוקה וגם שגויה, בדיוק כמו 17 מול 20 בפתיחה.</a:t>
            </a:r>
          </a:p>
          <a:p>
            <a:pPr rtl="1" algn="r" marL="0" indent="0">
              <a:buNone/>
            </a:pPr>
            <a:r>
              <a:rPr sz="1200" lang="he-IL"/>
              <a:t>•  הפתרון: להכניס מפרט למעגל, בצורת נוסחה, הערה בקוד או טבלה בעברית, ולבדוק את הציפיות מול המפרט.</a:t>
            </a:r>
          </a:p>
          <a:p>
            <a:pPr rtl="1" algn="r" marL="0" indent="0">
              <a:buNone/>
            </a:pPr>
            <a:r>
              <a:rPr b="1" sz="1200" lang="he-IL"/>
              <a:t>אנלוגיה</a:t>
            </a:r>
          </a:p>
          <a:p>
            <a:pPr rtl="1" algn="r" marL="0" indent="0">
              <a:buNone/>
            </a:pPr>
            <a:r>
              <a:rPr sz="1200" lang="he-IL"/>
              <a:t>•  מבקר שמאשר מסמכי ספק רק מול מסמכי הספק עצמו.</a:t>
            </a:r>
          </a:p>
          <a:p>
            <a:pPr rtl="1" algn="r" marL="0" indent="0">
              <a:buNone/>
            </a:pPr>
            <a:r>
              <a:rPr sz="1200" lang="he-IL"/>
              <a:t>•  הקשר להרצאה 2 (הזיות) ול-7 (מפרט): בלי מקור אמת חיצוני אי אפשר לאמת.</a:t>
            </a:r>
          </a:p>
          <a:p>
            <a:pPr rtl="1" algn="r" marL="0" indent="0">
              <a:buNone/>
            </a:pPr>
            <a:r>
              <a:rPr b="1" sz="1200" lang="he-IL"/>
              <a:t>שאלה לכיתה</a:t>
            </a:r>
          </a:p>
          <a:p>
            <a:pPr rtl="1" algn="r" marL="0" indent="0">
              <a:buNone/>
            </a:pPr>
            <a:r>
              <a:rPr sz="1200" lang="he-IL"/>
              <a:t>•  איך נשבור את המעגל בפרויקט הקבוצתי?</a:t>
            </a:r>
          </a:p>
          <a:p>
            <a:pPr rtl="1" algn="r" marL="0" indent="0">
              <a:buNone/>
            </a:pPr>
            <a:r>
              <a:rPr b="1" sz="1200" lang="he-IL"/>
              <a:t>תשובה</a:t>
            </a:r>
          </a:p>
          <a:p>
            <a:pPr rtl="1" algn="r" marL="0" indent="0">
              <a:buNone/>
            </a:pPr>
            <a:r>
              <a:rPr sz="1200" lang="he-IL"/>
              <a:t>•  נכתוב את הציפיות ממפרט, או נבקש בדיקות בשיחה חדשה שרואה רק את המפרט.</a:t>
            </a:r>
          </a:p>
          <a:p>
            <a:pPr rtl="1" algn="r" marL="0" indent="0">
              <a:buNone/>
            </a:pPr>
            <a:r>
              <a:rPr sz="1200" lang="he-IL"/>
              <a:t>•  מונח מקצועי: זוהי בעיית האורקל.</a:t>
            </a:r>
          </a:p>
          <a:p>
            <a:pPr rtl="1" algn="r" marL="0" indent="0">
              <a:buNone/>
            </a:pPr>
            <a:r>
              <a:rPr sz="1200" lang="he-IL"/>
              <a:t>•  כשהאורקל, כלומר מקור הציפייה, נגזר מהקוד עצמו, הבדיקה אינה יכולה לגלות שגיאה בקוד.</a:t>
            </a:r>
          </a:p>
          <a:p>
            <a:pPr rtl="1" algn="r" marL="0" indent="0">
              <a:buNone/>
            </a:pPr>
            <a:r>
              <a:rPr sz="1200" lang="he-IL"/>
              <a:t>•  Weyuker (1982) ו־Barr ועמיתים (2015) מתארים את הקושי הכללי לקבוע מה התוצאה הנכונה.</a:t>
            </a:r>
          </a:p>
          <a:p>
            <a:pPr rtl="1" algn="r" marL="0" indent="0">
              <a:buNone/>
            </a:pPr>
            <a:r>
              <a:rPr sz="1200" lang="he-IL"/>
              <a:t>•  שקף ההעשרה ״אורקל הבדיקה״ מפרט דרכים לספק אורקל חיצוני, וגם בדיקה מבוססת תכונות היא דרך לעשות זאת.</a:t>
            </a:r>
          </a:p>
          <a:p>
            <a:pPr rtl="1" algn="r" marL="0" indent="0">
              <a:buNone/>
            </a:pPr>
            <a:r>
              <a:rPr b="1" sz="1200" lang="he-IL"/>
              <a:t>חיבור לשיעורים קודמים</a:t>
            </a:r>
          </a:p>
          <a:p>
            <a:pPr rtl="1" algn="r" marL="0" indent="0">
              <a:buNone/>
            </a:pPr>
            <a:r>
              <a:rPr sz="1200" lang="he-IL"/>
              <a:t>•  הלולאה בלי אדם ובלי מפרט היא אותה בעיה של מפגש 2: מנגנון שמייצר דבר סביר בלי שלב אימות, ולכן האימות הוא התפקיד שלנו.</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משחק המוטציות בודק את איכות הבדיקות עצמן.</a:t>
            </a:r>
          </a:p>
          <a:p>
            <a:pPr rtl="1" algn="r" marL="0" indent="0">
              <a:buNone/>
            </a:pPr>
            <a:r>
              <a:rPr b="1" sz="1200" lang="he-IL"/>
              <a:t>מה אומרים</a:t>
            </a:r>
          </a:p>
          <a:p>
            <a:pPr rtl="1" algn="r" marL="0" indent="0">
              <a:buNone/>
            </a:pPr>
            <a:r>
              <a:rPr sz="1200" lang="he-IL"/>
              <a:t>•  שוברים את הקוד בכוונה (יוצרים 'מוטציה') ובודקים אם הבדיקות שלנו נכשלות.</a:t>
            </a:r>
          </a:p>
          <a:p>
            <a:pPr rtl="1" algn="r" marL="0" indent="0">
              <a:buNone/>
            </a:pPr>
            <a:r>
              <a:rPr sz="1200" lang="he-IL"/>
              <a:t>•  אם נכשלו, תפסו את השבירה (CAUGHT).</a:t>
            </a:r>
          </a:p>
          <a:p>
            <a:pPr rtl="1" algn="r" marL="0" indent="0">
              <a:buNone/>
            </a:pPr>
            <a:r>
              <a:rPr sz="1200" lang="he-IL"/>
              <a:t>•  אם עברו על קוד שבור, הן חלשות וחסרה בדיקה.</a:t>
            </a:r>
          </a:p>
          <a:p>
            <a:pPr rtl="1" algn="r" marL="0" indent="0">
              <a:buNone/>
            </a:pPr>
            <a:r>
              <a:rPr sz="1200" lang="he-IL"/>
              <a:t>•  בטבלה שלוש גרסאות שבורות של calc_eoq: m1 בלי הכפלה ב-2 בתוך השורש, m2 בלי שורש, ו-m3 בלי בדיקת עלות החזקה, כך שחלוקה באפס מתקבלת במקום ValueError.</a:t>
            </a:r>
          </a:p>
          <a:p>
            <a:pPr rtl="1" algn="r" marL="0" indent="0">
              <a:buNone/>
            </a:pPr>
            <a:r>
              <a:rPr sz="1200" lang="he-IL"/>
              <a:t>•  במחברת יש שישה מוטנטים (m4: ביקוש 0 זורק שגיאה, m5: ערך מוכן לדוגמה אחת, m6: בלי בדיקות קלט שליליות), והפונקציה run_mutants מדפיסה CAUGHT או MISSED לכל אחד.</a:t>
            </a:r>
          </a:p>
          <a:p>
            <a:pPr rtl="1" algn="r" marL="0" indent="0">
              <a:buNone/>
            </a:pPr>
            <a:r>
              <a:rPr sz="1200" lang="he-IL"/>
              <a:t>•  קיימים כלי מוטציות אוטומטיים, אבל כאן נשתמש בפונקציה קטנה.</a:t>
            </a:r>
          </a:p>
          <a:p>
            <a:pPr rtl="1" algn="r" marL="0" indent="0">
              <a:buNone/>
            </a:pPr>
            <a:r>
              <a:rPr b="1" sz="1200" lang="he-IL"/>
              <a:t>אנלוגיה</a:t>
            </a:r>
          </a:p>
          <a:p>
            <a:pPr rtl="1" algn="r" marL="0" indent="0">
              <a:buNone/>
            </a:pPr>
            <a:r>
              <a:rPr sz="1200" lang="he-IL"/>
              <a:t>•  בקרת איכות שבודקת את הבודק, מכניסים פריט פגום בכוונה ורואים אם נתפס.</a:t>
            </a:r>
          </a:p>
          <a:p>
            <a:pPr rtl="1" algn="r" marL="0" indent="0">
              <a:buNone/>
            </a:pPr>
            <a:r>
              <a:rPr b="1" sz="1200" lang="he-IL"/>
              <a:t>שאלה לכיתה</a:t>
            </a:r>
          </a:p>
          <a:p>
            <a:pPr rtl="1" algn="r" marL="0" indent="0">
              <a:buNone/>
            </a:pPr>
            <a:r>
              <a:rPr sz="1200" lang="he-IL"/>
              <a:t>•  אם הבדיקות שלכם לא תפסו את m1, מה חסר להן?</a:t>
            </a:r>
          </a:p>
          <a:p>
            <a:pPr rtl="1" algn="r" marL="0" indent="0">
              <a:buNone/>
            </a:pPr>
            <a:r>
              <a:rPr b="1" sz="1200" lang="he-IL"/>
              <a:t>תשובה</a:t>
            </a:r>
          </a:p>
          <a:p>
            <a:pPr rtl="1" algn="r" marL="0" indent="0">
              <a:buNone/>
            </a:pPr>
            <a:r>
              <a:rPr sz="1200" lang="he-IL"/>
              <a:t>•  בדיקה עם ערך מספרי מדויק שמבדיל בין הנוסחה הנכונה לשבורה.</a:t>
            </a:r>
          </a:p>
          <a:p>
            <a:pPr rtl="1" algn="r" marL="0" indent="0">
              <a:buNone/>
            </a:pPr>
            <a:r>
              <a:rPr sz="1200" lang="he-IL"/>
              <a:t>•  בדיקות שמסתפקות בביקוש 0 לא יתפסו אותה.</a:t>
            </a:r>
          </a:p>
          <a:p>
            <a:pPr rtl="1" algn="r" marL="0" indent="0">
              <a:buNone/>
            </a:pPr>
            <a:r>
              <a:rPr sz="1200" lang="he-IL"/>
              <a:t>•  הגדרות להעמקה.</a:t>
            </a:r>
          </a:p>
          <a:p>
            <a:pPr rtl="1" algn="r" marL="0" indent="0">
              <a:buNone/>
            </a:pPr>
            <a:r>
              <a:rPr sz="1200" lang="he-IL"/>
              <a:t>•  מוטציה היא שינוי קטן בקוד, ומוטנט הוא העותק המשונה.</a:t>
            </a:r>
          </a:p>
          <a:p>
            <a:pPr rtl="1" algn="r" marL="0" indent="0">
              <a:buNone/>
            </a:pPr>
            <a:r>
              <a:rPr sz="1200" lang="he-IL"/>
              <a:t>•  מוטנט נהרג (נתפס) אם לפחות בדיקה אחת נכשלת עליו, ושורד אם כל הבדיקות עוברות.</a:t>
            </a:r>
          </a:p>
          <a:p>
            <a:pPr rtl="1" algn="r" marL="0" indent="0">
              <a:buNone/>
            </a:pPr>
            <a:r>
              <a:rPr sz="1200" lang="he-IL"/>
              <a:t>•  ציון ההרג (mutation score) הוא החלק שנהרג מתוך המוטנטים, ובמחברת מחשבים אותו בפונקציה kill_score.</a:t>
            </a:r>
          </a:p>
          <a:p>
            <a:pPr rtl="1" algn="r" marL="0" indent="0">
              <a:buNone/>
            </a:pPr>
            <a:r>
              <a:rPr sz="1200" lang="he-IL"/>
              <a:t>•  הרעיון הוצג במאמר של DeMillo, Lipton ו־Sayward מ־1978 (IEEE Computer 11(4)), והוא נשען על שתי הנחות עבודה: הנחת המתכנת המוכשר (תוכנית שגויה קרובה לנכונה, ולכן השגיאות הן בדרך כלל שינויים קטנים), והשפעת הצימוד (coupling effect): בדיקות שתופסות שגיאות פשוטות יתפסו בדרך כלל גם שגיאות מורכבות.</a:t>
            </a:r>
          </a:p>
          <a:p>
            <a:pPr rtl="1" algn="r" marL="0" indent="0">
              <a:buNone/>
            </a:pPr>
            <a:r>
              <a:rPr sz="1200" lang="he-IL"/>
              <a:t>•  אלה הנחות שנבדקו אמפירית ואינן משפטים מוכחים.</a:t>
            </a:r>
          </a:p>
          <a:p>
            <a:pPr rtl="1" algn="r" marL="0" indent="0">
              <a:buNone/>
            </a:pPr>
            <a:r>
              <a:rPr sz="1200" lang="he-IL"/>
              <a:t>•  מגבלות: מוטנט שקול, שמתנהג בדיוק כמו המקור, אי אפשר להרוג, ולכן מזהים אותו ידנית (ששת המוטנטים של המעבדה נבחרו ידנית ואינם שקולים).</a:t>
            </a:r>
          </a:p>
          <a:p>
            <a:pPr rtl="1" algn="r" marL="0" indent="0">
              <a:buNone/>
            </a:pPr>
            <a:r>
              <a:rPr sz="1200" lang="he-IL"/>
              <a:t>•  ההרצה יקרה, כי מריצים את הבדיקות מחדש לכל מוטנט.</a:t>
            </a:r>
          </a:p>
          <a:p>
            <a:pPr rtl="1" algn="r" marL="0" indent="0">
              <a:buNone/>
            </a:pPr>
            <a:r>
              <a:rPr sz="1200" lang="he-IL"/>
              <a:t>•  ומוטנט אוטומטי אינו בהכרח דומה לבאג אמיתי.</a:t>
            </a:r>
          </a:p>
          <a:p>
            <a:pPr rtl="1" algn="r" marL="0" indent="0">
              <a:buNone/>
            </a:pPr>
            <a:r>
              <a:rPr sz="1200" lang="he-IL"/>
              <a:t>•  בפייתון יש כלים אוטומטיים כמו mutmut.</a:t>
            </a:r>
          </a:p>
          <a:p>
            <a:pPr rtl="1" algn="r" marL="0" indent="0">
              <a:buNone/>
            </a:pPr>
            <a:r>
              <a:rPr sz="1200" lang="he-IL"/>
              <a:t>•  קישור לשקף ההעשרה על כיסוי קוד מול כיסוי מוטציות.</a:t>
            </a:r>
          </a:p>
          <a:p>
            <a:pPr rtl="1" algn="r" marL="0" indent="0">
              <a:buNone/>
            </a:pPr>
            <a:r>
              <a:rPr b="1" sz="1200" lang="he-IL"/>
              <a:t>חיבור לשיעורים קודמים</a:t>
            </a:r>
          </a:p>
          <a:p>
            <a:pPr rtl="1" algn="r" marL="0" indent="0">
              <a:buNone/>
            </a:pPr>
            <a:r>
              <a:rPr sz="1200" lang="he-IL"/>
              <a:t>•  במעבדה ג׳ של מפגש 7, בדיקת e2e_test נדרשה להיכשל על ארבע גרסאות שגויות: זה משחק מוטציות בקטן.</a:t>
            </a:r>
          </a:p>
          <a:p>
            <a:pPr rtl="1" algn="r" marL="0" indent="0">
              <a:buNone/>
            </a:pPr>
            <a:r>
              <a:rPr sz="1200" lang="he-IL"/>
              <a:t>•  היום מודדים את אותו דבר במספר, ציון הרג.</a:t>
            </a:r>
          </a:p>
          <a:p>
            <a:pPr rtl="1" algn="r" marL="0" indent="0">
              <a:buNone/>
            </a:pPr>
            <a:r>
              <a:rPr b="1" sz="1200" lang="he-IL"/>
              <a:t>שאלת היזכרות</a:t>
            </a:r>
          </a:p>
          <a:p>
            <a:pPr rtl="1" algn="r" marL="0" indent="0">
              <a:buNone/>
            </a:pPr>
            <a:r>
              <a:rPr sz="1200" lang="he-IL"/>
              <a:t>•  על כמה גרסאות שגויות נבדקה e2e_test?</a:t>
            </a:r>
          </a:p>
          <a:p>
            <a:pPr rtl="1" algn="r" marL="0" indent="0">
              <a:buNone/>
            </a:pPr>
            <a:r>
              <a:rPr b="1" sz="1200" lang="he-IL"/>
              <a:t>תשובה</a:t>
            </a:r>
          </a:p>
          <a:p>
            <a:pPr rtl="1" algn="r" marL="0" indent="0">
              <a:buNone/>
            </a:pPr>
            <a:r>
              <a:rPr sz="1200" lang="he-IL"/>
              <a:t>•  ארבע.</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(כשתי דקות).</a:t>
            </a:r>
          </a:p>
          <a:p>
            <a:pPr rtl="1" algn="r" marL="0" indent="0">
              <a:buNone/>
            </a:pPr>
            <a:r>
              <a:rPr b="1" sz="1200" lang="he-IL"/>
              <a:t>מה אומרים</a:t>
            </a:r>
          </a:p>
          <a:p>
            <a:pPr rtl="1" algn="r" marL="0" indent="0">
              <a:buNone/>
            </a:pPr>
            <a:r>
              <a:rPr sz="1200" lang="he-IL"/>
              <a:t>•  הקריאו את השאלה ותנו לכיתה שלושים שניות לחשוב.</a:t>
            </a:r>
          </a:p>
          <a:p>
            <a:pPr rtl="1" algn="r" marL="0" indent="0">
              <a:buNone/>
            </a:pPr>
            <a:r>
              <a:rPr sz="1200" lang="he-IL"/>
              <a:t>•  רמז אם צריך: חשבו על חיישן שמעולם לא ראיתם אותו מצפצף, האם אתם סומכים עליו?</a:t>
            </a:r>
          </a:p>
          <a:p>
            <a:pPr rtl="1" algn="r" marL="0" indent="0">
              <a:buNone/>
            </a:pPr>
            <a:r>
              <a:rPr sz="1200" lang="he-IL"/>
              <a:t>•  אספו תשובה אחת-שתיים בלי לחשוף את התשובה.</a:t>
            </a:r>
          </a:p>
          <a:p>
            <a:pPr rtl="1" algn="r" marL="0" indent="0">
              <a:buNone/>
            </a:pPr>
            <a:r>
              <a:rPr sz="1200" lang="he-IL"/>
              <a:t>•  שימו לב אם מישהו עונה 'סתם סדר'.</a:t>
            </a:r>
          </a:p>
          <a:p>
            <a:pPr rtl="1" algn="r" marL="0" indent="0">
              <a:buNone/>
            </a:pPr>
            <a:r>
              <a:rPr sz="1200" lang="he-IL"/>
              <a:t>•  אז שאלו: ומה אם הבדיקה כתובה כך שהיא תמיד עוברת?</a:t>
            </a:r>
          </a:p>
          <a:p>
            <a:pPr rtl="1" algn="r" marL="0" indent="0">
              <a:buNone/>
            </a:pPr>
            <a:r>
              <a:rPr sz="1200" lang="he-IL"/>
              <a:t>•  כוונו לכך שבדיקה שמעולם לא ראינו אדום לגביה אינה הוכחה.</a:t>
            </a:r>
          </a:p>
          <a:p>
            <a:pPr rtl="1" algn="r" marL="0" indent="0">
              <a:buNone/>
            </a:pPr>
            <a:r>
              <a:rPr sz="1200" lang="he-IL"/>
              <a:t>•  עברו לשקף הבא.</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a:t>
            </a:r>
          </a:p>
          <a:p>
            <a:pPr rtl="1" algn="r" marL="0" indent="0">
              <a:buNone/>
            </a:pPr>
            <a:r>
              <a:rPr b="1" sz="1200" lang="he-IL"/>
              <a:t>מה אומרים</a:t>
            </a:r>
          </a:p>
          <a:p>
            <a:pPr rtl="1" algn="r" marL="0" indent="0">
              <a:buNone/>
            </a:pPr>
            <a:r>
              <a:rPr sz="1200" lang="he-IL"/>
              <a:t>•  אם לא ראינו כשל, אין הוכחה שהבדיקה בודקת משהו: בדיקה יכולה לעבור גם כשהיא ריקה, למשל assert True, או כשהיא בודקת את הדבר הלא נכון.</a:t>
            </a:r>
          </a:p>
          <a:p>
            <a:pPr rtl="1" algn="r" marL="0" indent="0">
              <a:buNone/>
            </a:pPr>
            <a:r>
              <a:rPr sz="1200" lang="he-IL"/>
              <a:t>•  אדום ואז ירוק מוכיח שהמימוש הוא שגרם לשינוי.</a:t>
            </a:r>
          </a:p>
          <a:p>
            <a:pPr rtl="1" algn="r" marL="0" indent="0">
              <a:buNone/>
            </a:pPr>
            <a:r>
              <a:rPr sz="1200" lang="he-IL"/>
              <a:t>•  זה הקשר לרמאויות של ה-AI: אם הוא כתב גם בדיקה וגם קוד ולא ראינו אדום, אין לנו ראיה.</a:t>
            </a:r>
          </a:p>
          <a:p>
            <a:pPr rtl="1" algn="r" marL="0" indent="0">
              <a:buNone/>
            </a:pPr>
            <a:r>
              <a:rPr sz="1200" lang="he-IL"/>
              <a:t>•  במעבדה ב' נראה אדום אמיתי: כל הבדיקות נכשלות עם NotImplementedError, ורק אז מממשים.</a:t>
            </a:r>
          </a:p>
          <a:p>
            <a:pPr rtl="1" algn="r" marL="0" indent="0">
              <a:buNone/>
            </a:pPr>
            <a:r>
              <a:rPr sz="1200" lang="he-IL"/>
              <a:t>•  זה גם הרגל טוב לפרויקט הקבוצתי: הריצו את הבדיקה לפני שמבקשים מימוש.</a:t>
            </a:r>
          </a:p>
          <a:p>
            <a:pPr rtl="1" algn="r" marL="0" indent="0">
              <a:buNone/>
            </a:pPr>
            <a:r>
              <a:rPr sz="1200" lang="he-IL"/>
              <a:t>•  עברו למעבדה ב' (16 דקות).</a:t>
            </a:r>
          </a:p>
          <a:p>
            <a:pPr rtl="1" algn="r" marL="0" indent="0">
              <a:buNone/>
            </a:pPr>
            <a:r>
              <a:rPr b="1" sz="1200" lang="he-IL"/>
              <a:t>חיבור לשיעורים קודמים</a:t>
            </a:r>
          </a:p>
          <a:p>
            <a:pPr rtl="1" algn="r" marL="0" indent="0">
              <a:buNone/>
            </a:pPr>
            <a:r>
              <a:rPr sz="1200" lang="he-IL"/>
              <a:t>•  ממפגש 7, בדיקה שנכשלת על גרסאות שגויות היא הראיה שהיא בודקת משהו; בדיקה שמעולם לא נכשלה אינה הוכחה.</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16 דקות, בזוגות, חלקים ב׳ וג׳ במחברת HM_08: כ־8 דקות TDD וכ־8 דקות משחק המוטציות.</a:t>
            </a:r>
          </a:p>
          <a:p>
            <a:pPr rtl="1" algn="r" marL="0" indent="0">
              <a:buNone/>
            </a:pPr>
            <a:r>
              <a:rPr b="1" sz="1200" lang="he-IL"/>
              <a:t>מה אומרים</a:t>
            </a:r>
          </a:p>
          <a:p>
            <a:pPr rtl="1" algn="r" marL="0" indent="0">
              <a:buNone/>
            </a:pPr>
            <a:r>
              <a:rPr sz="1200" lang="he-IL"/>
              <a:t>•  חלק ב׳: הטבלה של חמישה מקרים ל־calc_eoq כבר מוצגת במחברת, והסטודנטים כותבים את הבדיקות בעצמם (אחת כתובה כדוגמה) בתא %%writefile, ומריצים על הקוד הריק כדי לראות אדום.</a:t>
            </a:r>
          </a:p>
          <a:p>
            <a:pPr rtl="1" algn="r" marL="0" indent="0">
              <a:buNone/>
            </a:pPr>
            <a:r>
              <a:rPr sz="1200" lang="he-IL"/>
              <a:t>•  לפני ההרצה כותבים תחזית: כולן ייכשלו, גם בדיקות ה־ValueError, כי הפונקציה זורקת NotImplementedError.</a:t>
            </a:r>
          </a:p>
          <a:p>
            <a:pPr rtl="1" algn="r" marL="0" indent="0">
              <a:buNone/>
            </a:pPr>
            <a:r>
              <a:rPr sz="1200" lang="he-IL"/>
              <a:t>•  אחר כך ממשים את calc_eoq ורואים ירוק.</a:t>
            </a:r>
          </a:p>
          <a:p>
            <a:pPr rtl="1" algn="r" marL="0" indent="0">
              <a:buNone/>
            </a:pPr>
            <a:r>
              <a:rPr sz="1200" lang="he-IL"/>
              <a:t>•  חלק ג׳: ממשים is_caught ו־kill_score, מריצים את הבדיקות מול שישה מוטנטים (m1 עד m6), ומשפרים עד 6 מתוך 6.</a:t>
            </a:r>
          </a:p>
          <a:p>
            <a:pPr rtl="1" algn="r" marL="0" indent="0">
              <a:buNone/>
            </a:pPr>
            <a:r>
              <a:rPr b="1" sz="1200" lang="he-IL"/>
              <a:t>שימו לב</a:t>
            </a:r>
          </a:p>
          <a:p>
            <a:pPr rtl="1" algn="r" marL="0" indent="0">
              <a:buNone/>
            </a:pPr>
            <a:r>
              <a:rPr sz="1200" lang="he-IL"/>
              <a:t>•  שקף המוטציות בחלק ב׳ הציג שלושה מוטנטים, ובמחברת יש שישה (m4: ביקוש 0 זורק שגיאה, m5: ערך מוכן לדוגמה אחת, m6: בלי בדיקות קלט שליליות), והסקריפט run_mutants.py הוא פונקציה run_mutants בתוך המחברת.</a:t>
            </a:r>
          </a:p>
          <a:p>
            <a:pPr rtl="1" algn="r" marL="0" indent="0">
              <a:buNone/>
            </a:pPr>
            <a:r>
              <a:rPr b="1" sz="1200" lang="he-IL"/>
              <a:t>שגיאות צפויות</a:t>
            </a:r>
          </a:p>
          <a:p>
            <a:pPr rtl="1" algn="r" marL="0" indent="0">
              <a:buNone/>
            </a:pPr>
            <a:r>
              <a:rPr sz="1200" lang="he-IL"/>
              <a:t>•  %%writefile לא בשורה הראשונה, == על מספרים עשרוניים בלי pytest.approx, ו־test_extra_1 שנשארה עם raise NotImplementedError.</a:t>
            </a:r>
          </a:p>
          <a:p>
            <a:pPr rtl="1" algn="r" marL="0" indent="0">
              <a:buNone/>
            </a:pPr>
            <a:r>
              <a:rPr sz="1200" lang="he-IL"/>
              <a:t>•  הכנה: להחליף את ה־QR בקישור למחברת ולהריץ Run all על הפתרון.</a:t>
            </a:r>
          </a:p>
          <a:p>
            <a:pPr rtl="1" algn="r" marL="0" indent="0">
              <a:buNone/>
            </a:pPr>
            <a:r>
              <a:rPr sz="1200" lang="he-IL"/>
              <a:t>•  למה עושים את המעבדה הזו: חלק ב׳ מתרגל את מחזור TDD (אדום, ירוק) ואת הסיבה שבגללה רואים אדום; חלק ג׳ מתרגל את משחק המוטציות, כלומר מדידת איכות הבדיקות עצמן.</a:t>
            </a:r>
          </a:p>
          <a:p>
            <a:pPr rtl="1" algn="r" marL="0" indent="0">
              <a:buNone/>
            </a:pPr>
            <a:r>
              <a:rPr sz="1200" lang="he-IL"/>
              <a:t>•  הפונקציות is_caught ו־kill_score מממשות בקוד את ההגדרות משקף משחק המוטציות (מוטנט, נתפס, ציון הרג). pytest.approx הוצג בשקף ״מטבלה בעברית לבדיקות״.</a:t>
            </a:r>
          </a:p>
          <a:p>
            <a:pPr rtl="1" algn="r" marL="0" indent="0">
              <a:buNone/>
            </a:pPr>
            <a:r>
              <a:rPr sz="1200" lang="he-IL"/>
              <a:t>•  ההפתעה במוטנט m6 מדגימה את המסר ״ירוק מהסיבות הנכונות״.</a:t>
            </a:r>
          </a:p>
          <a:p>
            <a:pPr rtl="1" algn="r" marL="0" indent="0">
              <a:buNone/>
            </a:pPr>
            <a:r>
              <a:rPr b="1" sz="1200" lang="he-IL"/>
              <a:t>חיבור לשיעורים קודמים</a:t>
            </a:r>
          </a:p>
          <a:p>
            <a:pPr rtl="1" algn="r" marL="0" indent="0">
              <a:buNone/>
            </a:pPr>
            <a:r>
              <a:rPr sz="1200" lang="he-IL"/>
              <a:t>•  חלק ב׳ ממשיך את ״החוזה קודם״ של מפגש 7 (Spec-first: מפרט, בדיקות, מימוש עד ירוק), ברמת פונקציה.</a:t>
            </a:r>
          </a:p>
          <a:p>
            <a:pPr rtl="1" algn="r" marL="0" indent="0">
              <a:buNone/>
            </a:pPr>
            <a:r>
              <a:rPr sz="1200" lang="he-IL"/>
              <a:t>•  חלק ג׳ הוא הגרסה המדודה של בדיקת e2e_test ממעבדה ג׳ במפגש 7, שנדרשה להיכשל על ארבע גרסאות שגויות: כאן יש שש גרסאות שגויות וציון הרג.</a:t>
            </a:r>
          </a:p>
          <a:p>
            <a:pPr rtl="1" algn="r" marL="0" indent="0">
              <a:buNone/>
            </a:pPr>
            <a:r>
              <a:rPr sz="1200" lang="he-IL"/>
              <a:t>•  ההוראה ״לא משנים בדיקה כדי שתעבור״ היא מה שה־diff של מפגש 6 נועד לתפוס.</a:t>
            </a:r>
          </a:p>
          <a:p>
            <a:pPr rtl="1" algn="r" marL="0" indent="0">
              <a:buNone/>
            </a:pPr>
            <a:r>
              <a:rPr b="1" sz="1200" lang="he-IL"/>
              <a:t>שאלת היזכרות</a:t>
            </a:r>
          </a:p>
          <a:p>
            <a:pPr rtl="1" algn="r" marL="0" indent="0">
              <a:buNone/>
            </a:pPr>
            <a:r>
              <a:rPr sz="1200" lang="he-IL"/>
              <a:t>•  במעבדה ג׳ של מפגש 7, על כמה גרסאות שגויות הבדיקה נכשלה?</a:t>
            </a:r>
          </a:p>
          <a:p>
            <a:pPr rtl="1" algn="r" marL="0" indent="0">
              <a:buNone/>
            </a:pPr>
            <a:r>
              <a:rPr b="1" sz="1200" lang="he-IL"/>
              <a:t>תשובה</a:t>
            </a:r>
          </a:p>
          <a:p>
            <a:pPr rtl="1" algn="r" marL="0" indent="0">
              <a:buNone/>
            </a:pPr>
            <a:r>
              <a:rPr sz="1200" lang="he-IL"/>
              <a:t>•  ארבע.</a:t>
            </a:r>
          </a:p>
          <a:p>
            <a:pPr rtl="1" algn="r" marL="0" indent="0">
              <a:buNone/>
            </a:pPr>
            <a:r>
              <a:rPr b="1" sz="1200" lang="he-IL"/>
              <a:t>אם הכיתה לא זוכרת</a:t>
            </a:r>
          </a:p>
          <a:p>
            <a:pPr rtl="1" algn="r" marL="0" indent="0">
              <a:buNone/>
            </a:pPr>
            <a:r>
              <a:rPr sz="1200" lang="he-IL"/>
              <a:t>•  זה היה הרעיון, וכאן מודדים אותו במספר.</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המחקר אומר על קוד ובדיקות של AI, כשתי דקות, שקף העשרה (אופציונלי).</a:t>
            </a:r>
          </a:p>
          <a:p>
            <a:pPr rtl="1" algn="r" marL="0" indent="0">
              <a:buNone/>
            </a:pPr>
            <a:r>
              <a:rPr b="1" sz="1200" lang="he-IL"/>
              <a:t>מה אומרים</a:t>
            </a:r>
          </a:p>
          <a:p>
            <a:pPr rtl="1" algn="r" marL="0" indent="0">
              <a:buNone/>
            </a:pPr>
            <a:r>
              <a:rPr sz="1200" lang="he-IL"/>
              <a:t>•  שלוש תוצאות שמחזקות את הכלל של המפגש.</a:t>
            </a:r>
          </a:p>
          <a:p>
            <a:pPr rtl="1" algn="r" marL="0" indent="0">
              <a:buNone/>
            </a:pPr>
            <a:r>
              <a:rPr sz="1200" lang="he-IL"/>
              <a:t>•  אחת, EvalPlus (Liu, Xia, Wang ו־Zhang, NeurIPS 2023): המחברים הרחיבו את הבדיקות של מבחן ההשוואה HumanEval פי 80 ובנו את HumanEval+.</a:t>
            </a:r>
          </a:p>
          <a:p>
            <a:pPr rtl="1" algn="r" marL="0" indent="0">
              <a:buNone/>
            </a:pPr>
            <a:r>
              <a:rPr sz="1200" lang="he-IL"/>
              <a:t>•  על 26 מודלי שפה, שיעור הפתרונות הנכונים (pass@k) ירד בעד 19.3% עד 28.9%: חלק מהקוד שנחשב נכון עבר רק כי הבדיקות המקוריות היו מעטות.</a:t>
            </a:r>
          </a:p>
          <a:p>
            <a:pPr rtl="1" algn="r" marL="0" indent="0">
              <a:buNone/>
            </a:pPr>
            <a:r>
              <a:rPr sz="1200" lang="he-IL"/>
              <a:t>•  כלומר גם מבחני האיכות של המודלים סבלו מבדיקות חלשות.</a:t>
            </a:r>
          </a:p>
          <a:p>
            <a:pPr rtl="1" algn="r" marL="0" indent="0">
              <a:buNone/>
            </a:pPr>
            <a:r>
              <a:rPr sz="1200" lang="he-IL"/>
              <a:t>•  שתיים, Pearce, Ahmad, Tan, Dolan-Gavitt ו־Karri (IEEE Symposium on Security and Privacy, 2022): 89 תרחישים סביב חולשות אבטחה מוכרות, 1,689 תוכניות שהושלמו ב־GitHub Copilot, וכ־40% מהן פגיעות.</a:t>
            </a:r>
          </a:p>
          <a:p>
            <a:pPr rtl="1" algn="r" marL="0" indent="0">
              <a:buNone/>
            </a:pPr>
            <a:r>
              <a:rPr sz="1200" lang="he-IL"/>
              <a:t>•  הנתון מתאר גרסה מוקדמת של הכלי ולכן אינו מתאר כלים של היום; הוא מדגים שקוד שנראה סביר עלול להיות לא בטוח.</a:t>
            </a:r>
          </a:p>
          <a:p>
            <a:pPr rtl="1" algn="r" marL="0" indent="0">
              <a:buNone/>
            </a:pPr>
            <a:r>
              <a:rPr sz="1200" lang="he-IL"/>
              <a:t>•  שלוש, דוח המערכת של Claude 3.7 Sonnet (Anthropic, 2025, סעיף 6): בהערכות בסביבות תכנות סוכניות הדגם לעיתים הקשיח מקרים.</a:t>
            </a:r>
          </a:p>
          <a:p>
            <a:pPr rtl="1" algn="r" marL="0" indent="0">
              <a:buNone/>
            </a:pPr>
            <a:r>
              <a:rPr sz="1200" lang="he-IL"/>
              <a:t>•  בדרך כלל הוא החזיר ישירות את הערכים שהבדיקה מצפה להם, ובחלק מהמקרים שינה את הבדיקה להתאים לקוד, בדרך כלל אחרי כמה ניסיונות כושלים.</a:t>
            </a:r>
          </a:p>
          <a:p>
            <a:pPr rtl="1" algn="r" marL="0" indent="0">
              <a:buNone/>
            </a:pPr>
            <a:r>
              <a:rPr sz="1200" lang="he-IL"/>
              <a:t>•  Anthropic ממליצה לנטר בין השאר שינויים לא צפויים בקבצי בדיקות, וזה בדיוק מה שעשינו בסקירת ה־diff.</a:t>
            </a:r>
          </a:p>
          <a:p>
            <a:pPr rtl="1" algn="r" marL="0" indent="0">
              <a:buNone/>
            </a:pPr>
            <a:r>
              <a:rPr sz="1200" lang="he-IL"/>
              <a:t>•  גם METR (2025) דיווחו על דפוסים דומים אצל מודלים מתקדמים.</a:t>
            </a:r>
          </a:p>
          <a:p>
            <a:pPr rtl="1" algn="r" marL="0" indent="0">
              <a:buNone/>
            </a:pPr>
            <a:r>
              <a:rPr sz="1200" lang="he-IL"/>
              <a:t>•  אין להסיק מכאן ששום כלי מסוים תמיד מרמה, וייתכן שהתופעה פחתה בגרסאות חדשות.</a:t>
            </a:r>
          </a:p>
          <a:p>
            <a:pPr rtl="1" algn="r" marL="0" indent="0">
              <a:buNone/>
            </a:pPr>
            <a:r>
              <a:rPr sz="1200" lang="he-IL"/>
              <a:t>•  בנוסף, Meta בנתה כלי שמשפר בדיקות עם מודל שפה (Alshahwan ועמיתים, FSE 2024) ומסנן את ההצעות: רק בדיקות שמתקמפלות, עוברות באופן יציב וגם מגדילות כיסוי נשמרות.</a:t>
            </a:r>
          </a:p>
          <a:p>
            <a:pPr rtl="1" algn="r" marL="0" indent="0">
              <a:buNone/>
            </a:pPr>
            <a:r>
              <a:rPr sz="1200" lang="he-IL"/>
              <a:t>•  ב־Instagram, 75% מהבדיקות נבנו נכון, 57% עברו באופן יציב ו־25% הגדילו כיסוי; ובמבחן פנימי 73% מההמלצות אושרו.</a:t>
            </a:r>
          </a:p>
          <a:p>
            <a:pPr rtl="1" algn="r" marL="0" indent="0">
              <a:buNone/>
            </a:pPr>
            <a:r>
              <a:rPr sz="1200" lang="he-IL"/>
              <a:t>•  המסקנה: לא סומכים על בדיקות של AI בלי סינון, אוטומטי או אנושי.</a:t>
            </a:r>
          </a:p>
          <a:p>
            <a:pPr rtl="1" algn="r" marL="0" indent="0">
              <a:buNone/>
            </a:pPr>
            <a:r>
              <a:rPr b="1" sz="1200" lang="he-IL"/>
              <a:t>שאלה לכיתה</a:t>
            </a:r>
          </a:p>
          <a:p>
            <a:pPr rtl="1" algn="r" marL="0" indent="0">
              <a:buNone/>
            </a:pPr>
            <a:r>
              <a:rPr sz="1200" lang="he-IL"/>
              <a:t>•  איזה סינון הייתם מוסיפים לבדיקות שכלי כתב?</a:t>
            </a:r>
          </a:p>
          <a:p>
            <a:pPr rtl="1" algn="r" marL="0" indent="0">
              <a:buNone/>
            </a:pPr>
            <a:r>
              <a:rPr b="1" sz="1200" lang="he-IL"/>
              <a:t>תשובה</a:t>
            </a:r>
          </a:p>
          <a:p>
            <a:pPr rtl="1" algn="r" marL="0" indent="0">
              <a:buNone/>
            </a:pPr>
            <a:r>
              <a:rPr sz="1200" lang="he-IL"/>
              <a:t>•  ריצה על הקוד הנכון, ציון הרג, וקריאת ה־diff.</a:t>
            </a:r>
          </a:p>
          <a:p>
            <a:pPr rtl="1" algn="r" marL="0" indent="0">
              <a:buNone/>
            </a:pPr>
            <a:r>
              <a:rPr b="1" sz="1200" lang="he-IL"/>
              <a:t>מתי לדלג</a:t>
            </a:r>
          </a:p>
          <a:p>
            <a:pPr rtl="1" algn="r" marL="0" indent="0">
              <a:buNone/>
            </a:pPr>
            <a:r>
              <a:rPr sz="1200" lang="he-IL"/>
              <a:t>•  אם הזמן קצר, אפשר להציג רק את הכרטיס השלישי.</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TDD, מה הראיות, כדקה וחצי, שקף העשרה (אופציונלי).</a:t>
            </a:r>
          </a:p>
          <a:p>
            <a:pPr rtl="1" algn="r" marL="0" indent="0">
              <a:buNone/>
            </a:pPr>
            <a:r>
              <a:rPr b="1" sz="1200" lang="he-IL"/>
              <a:t>מה אומרים</a:t>
            </a:r>
          </a:p>
          <a:p>
            <a:pPr rtl="1" algn="r" marL="0" indent="0">
              <a:buNone/>
            </a:pPr>
            <a:r>
              <a:rPr sz="1200" lang="he-IL"/>
              <a:t>•  TDD (Test-Driven Development) הוצג על ידי Kent Beck בספר Test-Driven Development: By Example (2002) כמחזור אדום, ירוק, שיפור.</a:t>
            </a:r>
          </a:p>
          <a:p>
            <a:pPr rtl="1" algn="r" marL="0" indent="0">
              <a:buNone/>
            </a:pPr>
            <a:r>
              <a:rPr sz="1200" lang="he-IL"/>
              <a:t>•  מה אומר המחקר?</a:t>
            </a:r>
          </a:p>
          <a:p>
            <a:pPr rtl="1" algn="r" marL="0" indent="0">
              <a:buNone/>
            </a:pPr>
            <a:r>
              <a:rPr sz="1200" lang="he-IL"/>
              <a:t>•  Nagappan, Maximilien, Bhat ו־Williams (Empirical Software Engineering, 2008) בחנו ארבעה צוותי פיתוח בתעשייה, שלושה ב־Microsoft ואחד ב־IBM, והשוו לצוותים דומים שלא עבדו ב־TDD: צפיפות הפגמים לפני שחרור הייתה נמוכה בכ־40% עד 90%, ולפי הערכת הצוותים זמן הפיתוח הראשוני היה גבוה ב־15% עד 35%.</a:t>
            </a:r>
          </a:p>
          <a:p>
            <a:pPr rtl="1" algn="r" marL="0" indent="0">
              <a:buNone/>
            </a:pPr>
            <a:r>
              <a:rPr sz="1200" lang="he-IL"/>
              <a:t>•  אלה מחקרי מקרים בתעשייה ולא ניסוי מבוקר.</a:t>
            </a:r>
          </a:p>
          <a:p>
            <a:pPr rtl="1" algn="r" marL="0" indent="0">
              <a:buNone/>
            </a:pPr>
            <a:r>
              <a:rPr sz="1200" lang="he-IL"/>
              <a:t>•  Fucci, Erdogmus, Turhan, Oivo ו־Juristo (IEEE Transactions on Software Engineering, 2017) ניתחו 82 נקודות מידע מ־39 אנשי מקצוע ומצאו שהסדר, בדיקה לפני קוד, לא השפיע באופן משמעותי.</a:t>
            </a:r>
          </a:p>
          <a:p>
            <a:pPr rtl="1" algn="r" marL="0" indent="0">
              <a:buNone/>
            </a:pPr>
            <a:r>
              <a:rPr sz="1200" lang="he-IL"/>
              <a:t>•  מה שהיה קשור חיובית לאיכות ולפרודוקטיביות הוא צעדים קטנים (granularity) ויציבים (uniformity).</a:t>
            </a:r>
          </a:p>
          <a:p>
            <a:pPr rtl="1" algn="r" marL="0" indent="0">
              <a:buNone/>
            </a:pPr>
            <a:r>
              <a:rPr sz="1200" lang="he-IL"/>
              <a:t>•  מכאן שאין ראיה חזקה שהסדר כשלעצמו הוא מקור היתרון.</a:t>
            </a:r>
          </a:p>
          <a:p>
            <a:pPr rtl="1" algn="r" marL="0" indent="0">
              <a:buNone/>
            </a:pPr>
            <a:r>
              <a:rPr sz="1200" lang="he-IL"/>
              <a:t>•  אז למה אנחנו מלמדים לראות אדום קודם?</a:t>
            </a:r>
          </a:p>
          <a:p>
            <a:pPr rtl="1" algn="r" marL="0" indent="0">
              <a:buNone/>
            </a:pPr>
            <a:r>
              <a:rPr sz="1200" lang="he-IL"/>
              <a:t>•  הנימוק שלנו שונה: זה מוכיח שהבדיקה יכולה להיכשל, כלומר שהיא באמת בודקת משהו, וזה חשוב במיוחד כש־AI כותב בדיקות.</a:t>
            </a:r>
          </a:p>
          <a:p>
            <a:pPr rtl="1" algn="r" marL="0" indent="0">
              <a:buNone/>
            </a:pPr>
            <a:r>
              <a:rPr sz="1200" lang="he-IL"/>
              <a:t>•  זו המלצת פרקטיקה עם נימוק לוגי, ולא תוצאה מדודה של פרודוקטיביות.</a:t>
            </a:r>
          </a:p>
          <a:p>
            <a:pPr rtl="1" algn="r" marL="0" indent="0">
              <a:buNone/>
            </a:pPr>
            <a:r>
              <a:rPr sz="1200" lang="he-IL"/>
              <a:t>•  הפרדה בין עובדה להמלצה: עובדה: התוצאות מעורבות.</a:t>
            </a:r>
          </a:p>
          <a:p>
            <a:pPr rtl="1" algn="r" marL="0" indent="0">
              <a:buNone/>
            </a:pPr>
            <a:r>
              <a:rPr sz="1200" lang="he-IL"/>
              <a:t>•  המלצה: צעדים קטנים עם משוב מהיר, ובדיקה שראינו אותה נכשלת.</a:t>
            </a:r>
          </a:p>
          <a:p>
            <a:pPr rtl="1" algn="r" marL="0" indent="0">
              <a:buNone/>
            </a:pPr>
            <a:r>
              <a:rPr b="1" sz="1200" lang="he-IL"/>
              <a:t>שאלה לכיתה</a:t>
            </a:r>
          </a:p>
          <a:p>
            <a:pPr rtl="1" algn="r" marL="0" indent="0">
              <a:buNone/>
            </a:pPr>
            <a:r>
              <a:rPr sz="1200" lang="he-IL"/>
              <a:t>•  למה קשה להסיק סיבתיות מהשוואת צוותים בתעשייה?</a:t>
            </a:r>
          </a:p>
          <a:p>
            <a:pPr rtl="1" algn="r" marL="0" indent="0">
              <a:buNone/>
            </a:pPr>
            <a:r>
              <a:rPr b="1" sz="1200" lang="he-IL"/>
              <a:t>תשובה</a:t>
            </a:r>
          </a:p>
          <a:p>
            <a:pPr rtl="1" algn="r" marL="0" indent="0">
              <a:buNone/>
            </a:pPr>
            <a:r>
              <a:rPr sz="1200" lang="he-IL"/>
              <a:t>•  הצוותים שונים בניסיון ובמוטיבציה, וההקצאה אינה אקראית.</a:t>
            </a:r>
          </a:p>
          <a:p>
            <a:pPr rtl="1" algn="r" marL="0" indent="0">
              <a:buNone/>
            </a:pPr>
            <a:r>
              <a:rPr b="1" sz="1200" lang="he-IL"/>
              <a:t>מתי לדלג</a:t>
            </a:r>
          </a:p>
          <a:p>
            <a:pPr rtl="1" algn="r" marL="0" indent="0">
              <a:buNone/>
            </a:pPr>
            <a:r>
              <a:rPr sz="1200" lang="he-IL"/>
              <a:t>•  אם הזמן קצר, אפשר לומר רק את ההפרדה בין עובדה להמלצה.</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בדיקה מבוססת תכונות (property-based testing), כשתי דקות, שקף העשרה (אופציונלי).</a:t>
            </a:r>
          </a:p>
          <a:p>
            <a:pPr rtl="1" algn="r" marL="0" indent="0">
              <a:buNone/>
            </a:pPr>
            <a:r>
              <a:rPr b="1" sz="1200" lang="he-IL"/>
              <a:t>מה אומרים</a:t>
            </a:r>
          </a:p>
          <a:p>
            <a:pPr rtl="1" algn="r" marL="0" indent="0">
              <a:buNone/>
            </a:pPr>
            <a:r>
              <a:rPr sz="1200" lang="he-IL"/>
              <a:t>•  בבדיקה רגילה כותבים דוגמה: קלט אחד ותוצאה אחת.</a:t>
            </a:r>
          </a:p>
          <a:p>
            <a:pPr rtl="1" algn="r" marL="0" indent="0">
              <a:buNone/>
            </a:pPr>
            <a:r>
              <a:rPr sz="1200" lang="he-IL"/>
              <a:t>•  בבדיקה מבוססת תכונות כותבים טענה שצריכה להתקיים לכל קלט חוקי, והכלי ממציא מאות קלטים אקראיים, כולל קיצוניים, ומחפש דוגמה נגדית.</a:t>
            </a:r>
          </a:p>
          <a:p>
            <a:pPr rtl="1" algn="r" marL="0" indent="0">
              <a:buNone/>
            </a:pPr>
            <a:r>
              <a:rPr sz="1200" lang="he-IL"/>
              <a:t>•  כשהוא מוצא אחת, הוא מכווץ (shrinks) אותה לדוגמה הקטנה והפשוטה ביותר שעדיין נכשלת.</a:t>
            </a:r>
          </a:p>
          <a:p>
            <a:pPr rtl="1" algn="r" marL="0" indent="0">
              <a:buNone/>
            </a:pPr>
            <a:r>
              <a:rPr sz="1200" lang="he-IL"/>
              <a:t>•  הכלי המקורי הוא QuickCheck ל־Haskell (Claessen ו־Hughes, ICFP 2000), ובפייתון הספרייה היא Hypothesis (pip install hypothesis).</a:t>
            </a:r>
          </a:p>
          <a:p>
            <a:pPr rtl="1" algn="r" marL="0" indent="0">
              <a:buNone/>
            </a:pPr>
            <a:r>
              <a:rPr sz="1200" lang="he-IL"/>
              <a:t>•  בשקף: התכונה היא שבכמות הזמנה כלכלית עלות ההזמנות השנתית שווה לעלות ההחזקה השנתית: D חלקי Q כפול S שווה ל־Q חלקי 2 כפול H.</a:t>
            </a:r>
          </a:p>
          <a:p>
            <a:pPr rtl="1" algn="r" marL="0" indent="0">
              <a:buNone/>
            </a:pPr>
            <a:r>
              <a:rPr sz="1200" lang="he-IL"/>
              <a:t>•  זו אמת מתמטית, כי הצבת Q שווה שורש של 2DS חלקי H נותנת בשני הצדדים את אותו ערך, שורש של DSH חלקי 2.</a:t>
            </a:r>
          </a:p>
          <a:p>
            <a:pPr rtl="1" algn="r" marL="0" indent="0">
              <a:buNone/>
            </a:pPr>
            <a:r>
              <a:rPr sz="1200" lang="he-IL"/>
              <a:t>•  לכן אין צורך בערכים צפויים מראש: האורקל מגיע מהתחום עצמו.</a:t>
            </a:r>
          </a:p>
          <a:p>
            <a:pPr rtl="1" algn="r" marL="0" indent="0">
              <a:buNone/>
            </a:pPr>
            <a:r>
              <a:rPr sz="1200" lang="he-IL"/>
              <a:t>•  מדדנו על מוטנטי המעבדה: התכונה הזו לבדה תופסת את m1, m2 ו־m5.</a:t>
            </a:r>
          </a:p>
          <a:p>
            <a:pPr rtl="1" algn="r" marL="0" indent="0">
              <a:buNone/>
            </a:pPr>
            <a:r>
              <a:rPr sz="1200" lang="he-IL"/>
              <a:t>•  ארבע תכונות קצרות נוספות משלימות ל־6 מתוך 6: קלט שלילי זורק ValueError, עלות החזקה אפס או שלילית זורקת ValueError, וביקוש אפס נותן אפס.</a:t>
            </a:r>
          </a:p>
          <a:p>
            <a:pPr rtl="1" algn="r" marL="0" indent="0">
              <a:buNone/>
            </a:pPr>
            <a:r>
              <a:rPr sz="1200" lang="he-IL"/>
              <a:t>•  בדיקת הקלט השלילי תופסת את m6 דווקא כי Hypothesis מגריל גם עלות הזמנה שלילית, והמכפלה של שני שליליים חיובית.</a:t>
            </a:r>
          </a:p>
          <a:p>
            <a:pPr rtl="1" algn="r" marL="0" indent="0">
              <a:buNone/>
            </a:pPr>
            <a:r>
              <a:rPr sz="1200" lang="he-IL"/>
              <a:t>•  תכונה אחת אינה מספיקה: תכונת הקנה מידה (ביקוש פי 4 נותן EOQ פי 2) תופסת רק את m2, כי m1 משנה את הנוסחה בגורם קבוע ולכן שומר על היחס.</a:t>
            </a:r>
          </a:p>
          <a:p>
            <a:pPr rtl="1" algn="r" marL="0" indent="0">
              <a:buNone/>
            </a:pPr>
            <a:r>
              <a:rPr sz="1200" lang="he-IL"/>
              <a:t>•  הסתייגויות: קשה יותר לחשוב על תכונות נכונות מאשר לכתוב דוגמאות; מחולל הקלטים עשוי לא לייצג נתונים אמיתיים; ותכונה שנכתבת מתוך הקוד חוזרת לבעיית האורקל.</a:t>
            </a:r>
          </a:p>
          <a:p>
            <a:pPr rtl="1" algn="r" marL="0" indent="0">
              <a:buNone/>
            </a:pPr>
            <a:r>
              <a:rPr sz="1200" lang="he-IL"/>
              <a:t>•  זה משלים בדיקות דוגמה ואינו מחליף אותן.</a:t>
            </a:r>
          </a:p>
          <a:p>
            <a:pPr rtl="1" algn="r" marL="0" indent="0">
              <a:buNone/>
            </a:pPr>
            <a:r>
              <a:rPr b="1" sz="1200" lang="he-IL"/>
              <a:t>שאלה לכיתה</a:t>
            </a:r>
          </a:p>
          <a:p>
            <a:pPr rtl="1" algn="r" marL="0" indent="0">
              <a:buNone/>
            </a:pPr>
            <a:r>
              <a:rPr sz="1200" lang="he-IL"/>
              <a:t>•  איזו תכונה הייתם כותבים לפונקציה שממיינת מוצרים לפי הכנסה?</a:t>
            </a:r>
          </a:p>
          <a:p>
            <a:pPr rtl="1" algn="r" marL="0" indent="0">
              <a:buNone/>
            </a:pPr>
            <a:r>
              <a:rPr b="1" sz="1200" lang="he-IL"/>
              <a:t>תשובה</a:t>
            </a:r>
          </a:p>
          <a:p>
            <a:pPr rtl="1" algn="r" marL="0" indent="0">
              <a:buNone/>
            </a:pPr>
            <a:r>
              <a:rPr sz="1200" lang="he-IL"/>
              <a:t>•  התוצאה ממוינת, ומכילה את אותם מוצרים.</a:t>
            </a:r>
          </a:p>
          <a:p>
            <a:pPr rtl="1" algn="r" marL="0" indent="0">
              <a:buNone/>
            </a:pPr>
            <a:r>
              <a:rPr b="1" sz="1200" lang="he-IL"/>
              <a:t>מתי לדלג</a:t>
            </a:r>
          </a:p>
          <a:p>
            <a:pPr rtl="1" algn="r" marL="0" indent="0">
              <a:buNone/>
            </a:pPr>
            <a:r>
              <a:rPr sz="1200" lang="he-IL"/>
              <a:t>•  אם הזמן קצר; אין בכך צורך למעבדות.</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אורקל הבדיקה, כשתי דקות, שקף העשרה (אופציונלי).</a:t>
            </a:r>
          </a:p>
          <a:p>
            <a:pPr rtl="1" algn="r" marL="0" indent="0">
              <a:buNone/>
            </a:pPr>
            <a:r>
              <a:rPr b="1" sz="1200" lang="he-IL"/>
              <a:t>מה אומרים</a:t>
            </a:r>
          </a:p>
          <a:p>
            <a:pPr rtl="1" algn="r" marL="0" indent="0">
              <a:buNone/>
            </a:pPr>
            <a:r>
              <a:rPr sz="1200" lang="he-IL"/>
              <a:t>•  כל בדיקה צריכה גורם שקובע מה התוצאה הנכונה: זה האורקל (test oracle).</a:t>
            </a:r>
          </a:p>
          <a:p>
            <a:pPr rtl="1" algn="r" marL="0" indent="0">
              <a:buNone/>
            </a:pPr>
            <a:r>
              <a:rPr sz="1200" lang="he-IL"/>
              <a:t>•  בספרות קוראים בעיית האורקל לקושי לקבוע אם התנהגות שנצפתה היא נכונה; סקירה מקיפה: Barr, Harman, McMinn, Shahbaz ו־Yoo, IEEE Transactions on Software Engineering 41(5), 2015.</a:t>
            </a:r>
          </a:p>
          <a:p>
            <a:pPr rtl="1" algn="r" marL="0" indent="0">
              <a:buNone/>
            </a:pPr>
            <a:r>
              <a:rPr sz="1200" lang="he-IL"/>
              <a:t>•  הרעיון מופיע כבר אצל Weyuker (1982) על תוכניות שאי אפשר לבדוק כי אין תוצאה צפויה שמחושבת מראש.</a:t>
            </a:r>
          </a:p>
          <a:p>
            <a:pPr rtl="1" algn="r" marL="0" indent="0">
              <a:buNone/>
            </a:pPr>
            <a:r>
              <a:rPr sz="1200" lang="he-IL"/>
              <a:t>•  שלוש דרכים נפוצות לספק אורקל.</a:t>
            </a:r>
          </a:p>
          <a:p>
            <a:pPr rtl="1" algn="r" marL="0" indent="0">
              <a:buNone/>
            </a:pPr>
            <a:r>
              <a:rPr sz="1200" lang="he-IL"/>
              <a:t>•  אחת: מפרט או נוסחה, מה שעשינו כל המפגש: שורש של 60000 הוא כ־244.95.</a:t>
            </a:r>
          </a:p>
          <a:p>
            <a:pPr rtl="1" algn="r" marL="0" indent="0">
              <a:buNone/>
            </a:pPr>
            <a:r>
              <a:rPr sz="1200" lang="he-IL"/>
              <a:t>•  שתיים: מימוש ייחוס, גרסה אחרת ואמינה (למשל ישנה או איטית) שמשווים אליה, אבל גם היא יכולה לטעות.</a:t>
            </a:r>
          </a:p>
          <a:p>
            <a:pPr rtl="1" algn="r" marL="0" indent="0">
              <a:buNone/>
            </a:pPr>
            <a:r>
              <a:rPr sz="1200" lang="he-IL"/>
              <a:t>•  שלוש: קשר בין תוצאות (בדיקה מטמורפית): גם בלי לדעת את הערך המדויק אפשר לדעת שאם הביקוש גדל פי 4 אז כמות ההזמנה הכלכלית גדלה פי 2, כי היא פרופורציונית לשורש הביקוש.</a:t>
            </a:r>
          </a:p>
          <a:p>
            <a:pPr rtl="1" algn="r" marL="0" indent="0">
              <a:buNone/>
            </a:pPr>
            <a:r>
              <a:rPr sz="1200" lang="he-IL"/>
              <a:t>•  הנקודה ל־AI: כשכלי כותב גם את הקוד וגם את הבדיקה, האורקל נגזר מהקוד, ולכן הבדיקה המעגלית ירוקה וגם שגויה, כמו 17 מול 20 בפתיחה.</a:t>
            </a:r>
          </a:p>
          <a:p>
            <a:pPr rtl="1" algn="r" marL="0" indent="0">
              <a:buNone/>
            </a:pPr>
            <a:r>
              <a:rPr sz="1200" lang="he-IL"/>
              <a:t>•  התיקון הוא להכניס אורקל חיצוני: מפרט עם ערכים מחושבים, מימוש ייחוס, או אדם שבודק.</a:t>
            </a:r>
          </a:p>
          <a:p>
            <a:pPr rtl="1" algn="r" marL="0" indent="0">
              <a:buNone/>
            </a:pPr>
            <a:r>
              <a:rPr sz="1200" lang="he-IL"/>
              <a:t>•  זה גם גבול של האוטומציה: אפשר לאוטמט את ההרצה, אבל ההכרעה מה נכון מגיעה בסוף מאדם (כפי שמציינים Barr ועמיתים).</a:t>
            </a:r>
          </a:p>
          <a:p>
            <a:pPr rtl="1" algn="r" marL="0" indent="0">
              <a:buNone/>
            </a:pPr>
            <a:r>
              <a:rPr b="1" sz="1200" lang="he-IL"/>
              <a:t>שאלה לכיתה</a:t>
            </a:r>
          </a:p>
          <a:p>
            <a:pPr rtl="1" algn="r" marL="0" indent="0">
              <a:buNone/>
            </a:pPr>
            <a:r>
              <a:rPr sz="1200" lang="he-IL"/>
              <a:t>•  מי האורקל בדוח מלאי חודשי?</a:t>
            </a:r>
          </a:p>
          <a:p>
            <a:pPr rtl="1" algn="r" marL="0" indent="0">
              <a:buNone/>
            </a:pPr>
            <a:r>
              <a:rPr b="1" sz="1200" lang="he-IL"/>
              <a:t>תשובה</a:t>
            </a:r>
          </a:p>
          <a:p>
            <a:pPr rtl="1" algn="r" marL="0" indent="0">
              <a:buNone/>
            </a:pPr>
            <a:r>
              <a:rPr sz="1200" lang="he-IL"/>
              <a:t>•  הנהלת החשבונות, או חישוב ידני של מדגם.</a:t>
            </a:r>
          </a:p>
          <a:p>
            <a:pPr rtl="1" algn="r" marL="0" indent="0">
              <a:buNone/>
            </a:pPr>
            <a:r>
              <a:rPr b="1" sz="1200" lang="he-IL"/>
              <a:t>מתי לדלג</a:t>
            </a:r>
          </a:p>
          <a:p>
            <a:pPr rtl="1" algn="r" marL="0" indent="0">
              <a:buNone/>
            </a:pPr>
            <a:r>
              <a:rPr sz="1200" lang="he-IL"/>
              <a:t>•  אם הזמן קצר, כי השקף ״בדיקה מעגלית״ כבר מכסה את המסר.</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כיסוי קוד מול ציון הרג, כשתי דקות, שקף העשרה (אופציונלי).</a:t>
            </a:r>
          </a:p>
          <a:p>
            <a:pPr rtl="1" algn="r" marL="0" indent="0">
              <a:buNone/>
            </a:pPr>
            <a:r>
              <a:rPr b="1" sz="1200" lang="he-IL"/>
              <a:t>מה אומרים</a:t>
            </a:r>
          </a:p>
          <a:p>
            <a:pPr rtl="1" algn="r" marL="0" indent="0">
              <a:buNone/>
            </a:pPr>
            <a:r>
              <a:rPr sz="1200" lang="he-IL"/>
              <a:t>•  כיסוי קוד (code coverage) מודד איזה חלק מהשורות או מהענפים בקוד רץ בזמן הבדיקות.</a:t>
            </a:r>
          </a:p>
          <a:p>
            <a:pPr rtl="1" algn="r" marL="0" indent="0">
              <a:buNone/>
            </a:pPr>
            <a:r>
              <a:rPr sz="1200" lang="he-IL"/>
              <a:t>•  הוא אומר מה הורץ, לא מה נבדק: שורה יכולה לרוץ בלי שאף assert בודק את התוצאה שלה.</a:t>
            </a:r>
          </a:p>
          <a:p>
            <a:pPr rtl="1" algn="r" marL="0" indent="0">
              <a:buNone/>
            </a:pPr>
            <a:r>
              <a:rPr sz="1200" lang="he-IL"/>
              <a:t>•  ציון הרג, שמדדנו במעבדה, מודד כמה גרסאות שבורות בכוונה הבדיקות תפסו, וקרוב יותר לשאלה שמעניינת אותנו: האם הבדיקות נכשלות כשהקוד שגוי.</a:t>
            </a:r>
          </a:p>
          <a:p>
            <a:pPr rtl="1" algn="r" marL="0" indent="0">
              <a:buNone/>
            </a:pPr>
            <a:r>
              <a:rPr sz="1200" lang="he-IL"/>
              <a:t>•  הדגמה אמיתית מהמעבדה, שהרצנו עם coverage.py: לקובץ ai_tests.py הוספנו בדיקה אחת שזורקת Exception על ביקוש שלילי.</a:t>
            </a:r>
          </a:p>
          <a:p>
            <a:pPr rtl="1" algn="r" marL="0" indent="0">
              <a:buNone/>
            </a:pPr>
            <a:r>
              <a:rPr sz="1200" lang="he-IL"/>
              <a:t>•  שש הבדיקות מכסות 100% מהשורות ו־100% מהענפים של calc_eoq, ובכל זאת תופסות רק 2 מתוך 6 מוטנטים.</a:t>
            </a:r>
          </a:p>
          <a:p>
            <a:pPr rtl="1" algn="r" marL="0" indent="0">
              <a:buNone/>
            </a:pPr>
            <a:r>
              <a:rPr sz="1200" lang="he-IL"/>
              <a:t>•  במחקר של Inozemtseva ו־Holmes (ICSE 2014, פרס מאמר מצטיין של ACM SIGSOFT) נכתבו כ־31,000 קבוצות בדיקה לחמש מערכות Java, והתקבל מתאם נמוך עד בינוני בין כיסוי ליעילות בגילוי תקלות כשמבקרים על גודל הקבוצה; המחברים מסיקים שכיסוי אינו יעד איכות טוב.</a:t>
            </a:r>
          </a:p>
          <a:p>
            <a:pPr rtl="1" algn="r" marL="0" indent="0">
              <a:buNone/>
            </a:pPr>
            <a:r>
              <a:rPr sz="1200" lang="he-IL"/>
              <a:t>•  הסתייגויות לגבי ציון הרג: צריך להריץ את הבדיקות מחדש לכל מוטנט; מוטנט שקול לא ניתן להריגה; והמוטנטים אינם בהכרח דומים לבאגים אמיתיים (סקירה: Papadakis ועמיתים, 2019).</a:t>
            </a:r>
          </a:p>
          <a:p>
            <a:pPr rtl="1" algn="r" marL="0" indent="0">
              <a:buNone/>
            </a:pPr>
            <a:r>
              <a:rPr sz="1200" lang="he-IL"/>
              <a:t>•  המדדים משלימים זה את זה: כיסוי נמוך מסמן קוד שלא נבדק בכלל, וציון הרג נמוך מסמן בדיקות חלשות.</a:t>
            </a:r>
          </a:p>
          <a:p>
            <a:pPr rtl="1" algn="r" marL="0" indent="0">
              <a:buNone/>
            </a:pPr>
            <a:r>
              <a:rPr sz="1200" lang="he-IL"/>
              <a:t>•  כלים בפייתון: coverage.py ו־mutmut.</a:t>
            </a:r>
          </a:p>
          <a:p>
            <a:pPr rtl="1" algn="r" marL="0" indent="0">
              <a:buNone/>
            </a:pPr>
            <a:r>
              <a:rPr b="1" sz="1200" lang="he-IL"/>
              <a:t>שאלה לכיתה</a:t>
            </a:r>
          </a:p>
          <a:p>
            <a:pPr rtl="1" algn="r" marL="0" indent="0">
              <a:buNone/>
            </a:pPr>
            <a:r>
              <a:rPr sz="1200" lang="he-IL"/>
              <a:t>•  צוות מדווח על כיסוי של 95%.</a:t>
            </a:r>
          </a:p>
          <a:p>
            <a:pPr rtl="1" algn="r" marL="0" indent="0">
              <a:buNone/>
            </a:pPr>
            <a:r>
              <a:rPr sz="1200" lang="he-IL"/>
              <a:t>•  מה תשאלו אותו?</a:t>
            </a:r>
          </a:p>
          <a:p>
            <a:pPr rtl="1" algn="r" marL="0" indent="0">
              <a:buNone/>
            </a:pPr>
            <a:r>
              <a:rPr b="1" sz="1200" lang="he-IL"/>
              <a:t>תשובה</a:t>
            </a:r>
          </a:p>
          <a:p>
            <a:pPr rtl="1" algn="r" marL="0" indent="0">
              <a:buNone/>
            </a:pPr>
            <a:r>
              <a:rPr sz="1200" lang="he-IL"/>
              <a:t>•  האם הבדיקות בודקות תוצאות, ומה ציון ההרג.</a:t>
            </a:r>
          </a:p>
          <a:p>
            <a:pPr rtl="1" algn="r" marL="0" indent="0">
              <a:buNone/>
            </a:pPr>
            <a:r>
              <a:rPr b="1" sz="1200" lang="he-IL"/>
              <a:t>מתי לדלג</a:t>
            </a:r>
          </a:p>
          <a:p>
            <a:pPr rtl="1" algn="r" marL="0" indent="0">
              <a:buNone/>
            </a:pPr>
            <a:r>
              <a:rPr sz="1200" lang="he-IL"/>
              <a:t>•  אם הזמן קצר, אפשר להסתפק במשפט אחד: כיסוי מראה מה הורץ, ציון הרג מראה מה נבדק.</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ג' (9 דקות).</a:t>
            </a:r>
          </a:p>
          <a:p>
            <a:pPr rtl="1" algn="r" marL="0" indent="0">
              <a:buNone/>
            </a:pPr>
            <a:r>
              <a:rPr b="1" sz="1200" lang="he-IL"/>
              <a:t>מה אומרים</a:t>
            </a:r>
          </a:p>
          <a:p>
            <a:pPr rtl="1" algn="r" marL="0" indent="0">
              <a:buNone/>
            </a:pPr>
            <a:r>
              <a:rPr sz="1200" lang="he-IL"/>
              <a:t>•  עד עכשיו בדקנו אם הקוד נכון.</a:t>
            </a:r>
          </a:p>
          <a:p>
            <a:pPr rtl="1" algn="r" marL="0" indent="0">
              <a:buNone/>
            </a:pPr>
            <a:r>
              <a:rPr sz="1200" lang="he-IL"/>
              <a:t>•  עכשיו שואלים אם הוא ברור וקל לתחזוקה.</a:t>
            </a:r>
          </a:p>
          <a:p>
            <a:pPr rtl="1" algn="r" marL="0" indent="0">
              <a:buNone/>
            </a:pPr>
            <a:r>
              <a:rPr sz="1200" lang="he-IL"/>
              <a:t>•  בשקף שישה פריטים ברשימת תיוג, ואפשר להדפיס אותם כרזה.</a:t>
            </a:r>
          </a:p>
          <a:p>
            <a:pPr rtl="1" algn="r" marL="0" indent="0">
              <a:buNone/>
            </a:pPr>
            <a:r>
              <a:rPr sz="1200" lang="he-IL"/>
              <a:t>•  1 שמות ברורים: calculate_monthly_vat ולא process_data.</a:t>
            </a:r>
          </a:p>
          <a:p>
            <a:pPr rtl="1" algn="r" marL="0" indent="0">
              <a:buNone/>
            </a:pPr>
            <a:r>
              <a:rPr sz="1200" lang="he-IL"/>
              <a:t>•  2 פונקציות קצרות, מטרה אחת לכל פונקציה, כי קל יותר לבדוק ולהבין.</a:t>
            </a:r>
          </a:p>
          <a:p>
            <a:pPr rtl="1" algn="r" marL="0" indent="0">
              <a:buNone/>
            </a:pPr>
            <a:r>
              <a:rPr sz="1200" lang="he-IL"/>
              <a:t>•  3 בלי מספרי קסם: 1.1 בתוך תנאי צריך שם והסבר, כי בלעדיהם אי אפשר לדעת אם זה מרווח של 10 אחוזים או שער המרה.</a:t>
            </a:r>
          </a:p>
          <a:p>
            <a:pPr rtl="1" algn="r" marL="0" indent="0">
              <a:buNone/>
            </a:pPr>
            <a:r>
              <a:rPr sz="1200" lang="he-IL"/>
              <a:t>•  4 טיפול בשגיאות: קלט חריג לא מפיל את התוכנית ולא מחזיר תשובה שגויה בשקט.</a:t>
            </a:r>
          </a:p>
          <a:p>
            <a:pPr rtl="1" algn="r" marL="0" indent="0">
              <a:buNone/>
            </a:pPr>
            <a:r>
              <a:rPr sz="1200" lang="he-IL"/>
              <a:t>•  5 בלי שאריות: ייבוא וקוד שלא בשימוש.</a:t>
            </a:r>
          </a:p>
          <a:p>
            <a:pPr rtl="1" algn="r" marL="0" indent="0">
              <a:buNone/>
            </a:pPr>
            <a:r>
              <a:rPr sz="1200" lang="he-IL"/>
              <a:t>•  6 הערות שמסבירות למה ולא מה.</a:t>
            </a:r>
          </a:p>
          <a:p>
            <a:pPr rtl="1" algn="r" marL="0" indent="0">
              <a:buNone/>
            </a:pPr>
            <a:r>
              <a:rPr sz="1200" lang="he-IL"/>
              <a:t>•  כל פריט יופיע במעבדה ג' כבעיה אמיתית.</a:t>
            </a:r>
          </a:p>
          <a:p>
            <a:pPr rtl="1" algn="r" marL="0" indent="0">
              <a:buNone/>
            </a:pPr>
            <a:r>
              <a:rPr sz="1200" lang="he-IL"/>
              <a:t>•  קישור להרצאה 11 (refactoring): בה נתקן בעיות כאלה בצורה שיטתית.</a:t>
            </a:r>
          </a:p>
          <a:p>
            <a:pPr rtl="1" algn="r" marL="0" indent="0">
              <a:buNone/>
            </a:pPr>
            <a:r>
              <a:rPr b="1" sz="1200" lang="he-IL"/>
              <a:t>שאלה לכיתה</a:t>
            </a:r>
          </a:p>
          <a:p>
            <a:pPr rtl="1" algn="r" marL="0" indent="0">
              <a:buNone/>
            </a:pPr>
            <a:r>
              <a:rPr sz="1200" lang="he-IL"/>
              <a:t>•  איזה פריט הכי קל לבדוק אוטומטית?</a:t>
            </a:r>
          </a:p>
          <a:p>
            <a:pPr rtl="1" algn="r" marL="0" indent="0">
              <a:buNone/>
            </a:pPr>
            <a:r>
              <a:rPr b="1" sz="1200" lang="he-IL"/>
              <a:t>תשובה</a:t>
            </a:r>
          </a:p>
          <a:p>
            <a:pPr rtl="1" algn="r" marL="0" indent="0">
              <a:buNone/>
            </a:pPr>
            <a:r>
              <a:rPr sz="1200" lang="he-IL"/>
              <a:t>•  שאריות, וזה מה שהשקף הבא מראה.</a:t>
            </a:r>
          </a:p>
          <a:p>
            <a:pPr rtl="1" algn="r" marL="0" indent="0">
              <a:buNone/>
            </a:pPr>
            <a:r>
              <a:rPr b="1" sz="1200" lang="he-IL"/>
              <a:t>להעמקה</a:t>
            </a:r>
          </a:p>
          <a:p>
            <a:pPr rtl="1" algn="r" marL="0" indent="0">
              <a:buNone/>
            </a:pPr>
            <a:r>
              <a:rPr sz="1200" lang="he-IL"/>
              <a:t>•  רשימות תיוג מוכרות מתחומים אחרים.</a:t>
            </a:r>
          </a:p>
          <a:p>
            <a:pPr rtl="1" algn="r" marL="0" indent="0">
              <a:buNone/>
            </a:pPr>
            <a:r>
              <a:rPr sz="1200" lang="he-IL"/>
              <a:t>•  במחקר של Pronovost ועמיתים (New England Journal of Medicine, 2006) ב־ICU במישיגן, שימוש ברשימת תיוג לצעדי החדרת קטטר, יחד עם שינויים נוספים כמו ערכות ציוד ותרבות עבודה, הוריד את החציון של זיהומי דם בקטטר מ־2.7 ל־0 ל־1,000 ימי קטטר שלושה חודשים אחרי ההתערבות.</a:t>
            </a:r>
          </a:p>
          <a:p>
            <a:pPr rtl="1" algn="r" marL="0" indent="0">
              <a:buNone/>
            </a:pPr>
            <a:r>
              <a:rPr sz="1200" lang="he-IL"/>
              <a:t>•  חשוב להדגיש שרשימת התיוג הייתה חלק מחבילת התערבות ולא הגורם היחיד.</a:t>
            </a:r>
          </a:p>
          <a:p>
            <a:pPr rtl="1" algn="r" marL="0" indent="0">
              <a:buNone/>
            </a:pPr>
            <a:r>
              <a:rPr sz="1200" lang="he-IL"/>
              <a:t>•  רשימת התיוג שלנו היא כלי הוראה ולא תקן תעשייתי: בצוותים אמיתיים מוסיפים לה כללי סגנון של הארגון.</a:t>
            </a:r>
          </a:p>
          <a:p>
            <a:pPr rtl="1" algn="r" marL="0" indent="0">
              <a:buNone/>
            </a:pPr>
            <a:r>
              <a:rPr b="1" sz="1200" lang="he-IL"/>
              <a:t>חיבור לשיעורים קודמים</a:t>
            </a:r>
          </a:p>
          <a:p>
            <a:pPr rtl="1" algn="r" marL="0" indent="0">
              <a:buNone/>
            </a:pPr>
            <a:r>
              <a:rPr sz="1200" lang="he-IL"/>
              <a:t>•  ממפגש 1: לקרוא ולהבין כל שורה, ושורה שאינכם מבינים היא דגל אדום.</a:t>
            </a:r>
          </a:p>
          <a:p>
            <a:pPr rtl="1" algn="r" marL="0" indent="0">
              <a:buNone/>
            </a:pPr>
            <a:r>
              <a:rPr sz="1200" lang="he-IL"/>
              <a:t>•  הרשימה הופכת את ״לקרוא ולהבין״ לשאלות קצרות.</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ruff הוא כלי ניתוח אוטומטי (linter): הוא קורא את הקוד בלי להריץ אותו ומחפש בעיות שאפשר לזהות מהמבנה.</a:t>
            </a:r>
          </a:p>
          <a:p>
            <a:pPr rtl="1" algn="r" marL="0" indent="0">
              <a:buNone/>
            </a:pPr>
            <a:r>
              <a:rPr b="1" sz="1200" lang="he-IL"/>
              <a:t>מה אומרים</a:t>
            </a:r>
          </a:p>
          <a:p>
            <a:pPr rtl="1" algn="r" marL="0" indent="0">
              <a:buNone/>
            </a:pPr>
            <a:r>
              <a:rPr sz="1200" lang="he-IL"/>
              <a:t>•  הפלט בשקף אמיתי, על הקובץ report.py של מעבדה ג'. ruff לא רץ במחברת (הוא לא מותקן ב־Colab), ולכן מראים אותו רק על המקרן; במחברת מוצאים את אותן שאריות בקריאת lab_c/after/report.py.</a:t>
            </a:r>
          </a:p>
          <a:p>
            <a:pPr rtl="1" algn="r" marL="0" indent="0">
              <a:buNone/>
            </a:pPr>
            <a:r>
              <a:rPr sz="1200" lang="he-IL"/>
              <a:t>•  הפקודה: ruff check report.py.</a:t>
            </a:r>
          </a:p>
          <a:p>
            <a:pPr rtl="1" algn="r" marL="0" indent="0">
              <a:buNone/>
            </a:pPr>
            <a:r>
              <a:rPr sz="1200" lang="he-IL"/>
              <a:t>•  כל ממצא מתחיל בקוד: F401 פירושו ייבוא שלא בשימוש (כאן os, בשורה 1 בעמודה 8), ו-F841 פירושו משתנה מקומי שקיבל ערך ולא נעשה בו שימוש (כאן unused, בשורה 21 בעמודה 5).</a:t>
            </a:r>
          </a:p>
          <a:p>
            <a:pPr rtl="1" algn="r" marL="0" indent="0">
              <a:buNone/>
            </a:pPr>
            <a:r>
              <a:rPr sz="1200" lang="he-IL"/>
              <a:t>•  השורה האחרונה: Found 2 errors. ruff תופס שאריות ובעיות פשוטות אחרות, אבל לא יודע אם הקוד נכון: נוסחה שגויה לא תעורר אצלו אזהרה.</a:t>
            </a:r>
          </a:p>
          <a:p>
            <a:pPr rtl="1" algn="r" marL="0" indent="0">
              <a:buNone/>
            </a:pPr>
            <a:r>
              <a:rPr sz="1200" lang="he-IL"/>
              <a:t>•  הרצנו אותו על reorder_v1.py ממעבדה א' והוא לא מצא כלום, אף שהקוד שגוי.</a:t>
            </a:r>
          </a:p>
          <a:p>
            <a:pPr rtl="1" algn="r" marL="0" indent="0">
              <a:buNone/>
            </a:pPr>
            <a:r>
              <a:rPr b="1" sz="1200" lang="he-IL"/>
              <a:t>אנלוגיה</a:t>
            </a:r>
          </a:p>
          <a:p>
            <a:pPr rtl="1" algn="r" marL="0" indent="0">
              <a:buNone/>
            </a:pPr>
            <a:r>
              <a:rPr sz="1200" lang="he-IL"/>
              <a:t>•  בודק איות מוצא שגיאות כתיב, אבל לא יודע אם הטענה במסמך נכונה.</a:t>
            </a:r>
          </a:p>
          <a:p>
            <a:pPr rtl="1" algn="r" marL="0" indent="0">
              <a:buNone/>
            </a:pPr>
            <a:r>
              <a:rPr sz="1200" lang="he-IL"/>
              <a:t>•  לכן הכלי משלים את הבדיקות ולא מחליף אותן.</a:t>
            </a:r>
          </a:p>
          <a:p>
            <a:pPr rtl="1" algn="r" marL="0" indent="0">
              <a:buNone/>
            </a:pPr>
            <a:r>
              <a:rPr b="1" sz="1200" lang="he-IL"/>
              <a:t>שאלה לכיתה</a:t>
            </a:r>
          </a:p>
          <a:p>
            <a:pPr rtl="1" algn="r" marL="0" indent="0">
              <a:buNone/>
            </a:pPr>
            <a:r>
              <a:rPr sz="1200" lang="he-IL"/>
              <a:t>•  מי תופס את הנוסחה השגויה, ruff או pytest?</a:t>
            </a:r>
          </a:p>
          <a:p>
            <a:pPr rtl="1" algn="r" marL="0" indent="0">
              <a:buNone/>
            </a:pPr>
            <a:r>
              <a:rPr b="1" sz="1200" lang="he-IL"/>
              <a:t>תשובה</a:t>
            </a:r>
          </a:p>
          <a:p>
            <a:pPr rtl="1" algn="r" marL="0" indent="0">
              <a:buNone/>
            </a:pPr>
            <a:r>
              <a:rPr sz="1200" lang="he-IL"/>
              <a:t>•  pytest.</a:t>
            </a:r>
          </a:p>
          <a:p>
            <a:pPr rtl="1" algn="r" marL="0" indent="0">
              <a:buNone/>
            </a:pPr>
            <a:r>
              <a:rPr b="1" sz="1200" lang="he-IL"/>
              <a:t>חיבור לשיעורים קודמים</a:t>
            </a:r>
          </a:p>
          <a:p>
            <a:pPr rtl="1" algn="r" marL="0" indent="0">
              <a:buNone/>
            </a:pPr>
            <a:r>
              <a:rPr sz="1200" lang="he-IL"/>
              <a:t>•  במפגש 6, בשלוש שאלות ה־diff, נשאלה ״האם יש מפתח בקוד?״; כלי ניתוח הוא דרך אוטומטית לתפוס חלק מזה, ואבטחה מורחבת תבוא במפגש 10.</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חמש שאלות לכל diff של סוכן. diff הוא רשימת השינויים שהסוכן עשה, שורות שנוספו ושורות שנמחקו, כפי שהכרתם ב-Git (הרצאה 6).</a:t>
            </a:r>
          </a:p>
          <a:p>
            <a:pPr rtl="1" algn="r" marL="0" indent="0">
              <a:buNone/>
            </a:pPr>
            <a:r>
              <a:rPr b="1" sz="1200" lang="he-IL"/>
              <a:t>מה אומרים</a:t>
            </a:r>
          </a:p>
          <a:p>
            <a:pPr rtl="1" algn="r" marL="0" indent="0">
              <a:buNone/>
            </a:pPr>
            <a:r>
              <a:rPr sz="1200" lang="he-IL"/>
              <a:t>•  קראו את הרשימה מלמעלה למטה.</a:t>
            </a:r>
          </a:p>
          <a:p>
            <a:pPr rtl="1" algn="r" marL="0" indent="0">
              <a:buNone/>
            </a:pPr>
            <a:r>
              <a:rPr sz="1200" lang="he-IL"/>
              <a:t>•  1 קבצים שלא התבקשו: ביקשנו שינוי ב-report.py והסוכן נגע גם ב-inventory.py.</a:t>
            </a:r>
          </a:p>
          <a:p>
            <a:pPr rtl="1" algn="r" marL="0" indent="0">
              <a:buNone/>
            </a:pPr>
            <a:r>
              <a:rPr sz="1200" lang="he-IL"/>
              <a:t>•  2 התנהגות שהשתנתה בשקט: ערך מוחזר אחר, עיגול, ברירת מחדל.</a:t>
            </a:r>
          </a:p>
          <a:p>
            <a:pPr rtl="1" algn="r" marL="0" indent="0">
              <a:buNone/>
            </a:pPr>
            <a:r>
              <a:rPr sz="1200" lang="he-IL"/>
              <a:t>•  3 בדיקות שנמחקו או נחלשו: בדיקה שנעלמה, או assert שהוחלש.</a:t>
            </a:r>
          </a:p>
          <a:p>
            <a:pPr rtl="1" algn="r" marL="0" indent="0">
              <a:buNone/>
            </a:pPr>
            <a:r>
              <a:rPr sz="1200" lang="he-IL"/>
              <a:t>•  4 ערכים קבועים וסודות: נתיב של מחשב אישי, סיסמה, מפתח API.</a:t>
            </a:r>
          </a:p>
          <a:p>
            <a:pPr rtl="1" algn="r" marL="0" indent="0">
              <a:buNone/>
            </a:pPr>
            <a:r>
              <a:rPr sz="1200" lang="he-IL"/>
              <a:t>•  5 מקרי קצה שחסרים: רשימה ריקה, ערך חסר.</a:t>
            </a:r>
          </a:p>
          <a:p>
            <a:pPr rtl="1" algn="r" marL="0" indent="0">
              <a:buNone/>
            </a:pPr>
            <a:r>
              <a:rPr sz="1200" lang="he-IL"/>
              <a:t>•  הסוגים האלה מופיעים בדיוק במעבדה ג'.</a:t>
            </a:r>
          </a:p>
          <a:p>
            <a:pPr rtl="1" algn="r" marL="0" indent="0">
              <a:buNone/>
            </a:pPr>
            <a:r>
              <a:rPr b="1" sz="1200" lang="he-IL"/>
              <a:t>אנלוגיה</a:t>
            </a:r>
          </a:p>
          <a:p>
            <a:pPr rtl="1" algn="r" marL="0" indent="0">
              <a:buNone/>
            </a:pPr>
            <a:r>
              <a:rPr sz="1200" lang="he-IL"/>
              <a:t>•  קבלת חשבונית מספק, קודם בודקים אם חויבנו על פריט שלא הזמנו.</a:t>
            </a:r>
          </a:p>
          <a:p>
            <a:pPr rtl="1" algn="r" marL="0" indent="0">
              <a:buNone/>
            </a:pPr>
            <a:r>
              <a:rPr sz="1200" lang="he-IL"/>
              <a:t>•  טיפ: מתחילים תמיד משינויים בקבצי הבדיקות, כי הם משביתים את רשת הביטחון.</a:t>
            </a:r>
          </a:p>
          <a:p>
            <a:pPr rtl="1" algn="r" marL="0" indent="0">
              <a:buNone/>
            </a:pPr>
            <a:r>
              <a:rPr b="1" sz="1200" lang="he-IL"/>
              <a:t>שאלה לכיתה</a:t>
            </a:r>
          </a:p>
          <a:p>
            <a:pPr rtl="1" algn="r" marL="0" indent="0">
              <a:buNone/>
            </a:pPr>
            <a:r>
              <a:rPr sz="1200" lang="he-IL"/>
              <a:t>•  איזו שאלה חשובה ביותר?</a:t>
            </a:r>
          </a:p>
          <a:p>
            <a:pPr rtl="1" algn="r" marL="0" indent="0">
              <a:buNone/>
            </a:pPr>
            <a:r>
              <a:rPr sz="1200" lang="he-IL"/>
              <a:t>•  אין תשובה אחת, אבל שינוי בבדיקות הוא הסימן החמור ביותר.</a:t>
            </a:r>
          </a:p>
          <a:p>
            <a:pPr rtl="1" algn="r" marL="0" indent="0">
              <a:buNone/>
            </a:pPr>
            <a:r>
              <a:rPr b="1" sz="1200" lang="he-IL"/>
              <a:t>להעמקה</a:t>
            </a:r>
          </a:p>
          <a:p>
            <a:pPr rtl="1" algn="r" marL="0" indent="0">
              <a:buNone/>
            </a:pPr>
            <a:r>
              <a:rPr sz="1200" lang="he-IL"/>
              <a:t>•  מה סקירת קוד באמת נותנת?</a:t>
            </a:r>
          </a:p>
          <a:p>
            <a:pPr rtl="1" algn="r" marL="0" indent="0">
              <a:buNone/>
            </a:pPr>
            <a:r>
              <a:rPr sz="1200" lang="he-IL"/>
              <a:t>•  במחקר של Bacchelli ו־Bird ב־Microsoft (ICSE 2013) הציפייה העיקרית של מפתחים הייתה גילוי פגמים, אך התועלות שנצפו כללו גם העברת ידע, מודעות בצוות והצעת פתרונות חלופיים; והקושי המרכזי היה הבנת השינוי.</a:t>
            </a:r>
          </a:p>
          <a:p>
            <a:pPr rtl="1" algn="r" marL="0" indent="0">
              <a:buNone/>
            </a:pPr>
            <a:r>
              <a:rPr sz="1200" lang="he-IL"/>
              <a:t>•  לכן חמש השאלות מכוונות לדברים שאפשר לראות בקלות ב־diff, ושינוי קטן וממוקד קל יותר לסקירה.</a:t>
            </a:r>
          </a:p>
          <a:p>
            <a:pPr rtl="1" algn="r" marL="0" indent="0">
              <a:buNone/>
            </a:pPr>
            <a:r>
              <a:rPr sz="1200" lang="he-IL"/>
              <a:t>•  דוח המערכת של Claude 3.7 Sonnet (Anthropic, 2025) ממליץ לנטר, בין השאר, שינויים לא צפויים בקבצי בדיקות, והוא תואם את שאלה 3.</a:t>
            </a:r>
          </a:p>
          <a:p>
            <a:pPr rtl="1" algn="r" marL="0" indent="0">
              <a:buNone/>
            </a:pPr>
            <a:r>
              <a:rPr b="1" sz="1200" lang="he-IL"/>
              <a:t>חיבור לשיעורים קודמים</a:t>
            </a:r>
          </a:p>
          <a:p>
            <a:pPr rtl="1" algn="r" marL="0" indent="0">
              <a:buNone/>
            </a:pPr>
            <a:r>
              <a:rPr sz="1200" lang="he-IL"/>
              <a:t>•  במפגש 6, בשקף ״מבט מקדים: סקירת קוד״, הוצגו שלוש שאלות על ה־diff: קבצים שלא התבקשו, התנהגות ששונתה בשקט, ומקרי קצה וסודות.</a:t>
            </a:r>
          </a:p>
          <a:p>
            <a:pPr rtl="1" algn="r" marL="0" indent="0">
              <a:buNone/>
            </a:pPr>
            <a:r>
              <a:rPr sz="1200" lang="he-IL"/>
              <a:t>•  היום הן הפכו לחמש: נוספה השאלה על בדיקות שנמחקו או נחלשו, וערכים קבועים וסודות נפרדו ממקרי קצה.</a:t>
            </a:r>
          </a:p>
          <a:p>
            <a:pPr rtl="1" algn="r" marL="0" indent="0">
              <a:buNone/>
            </a:pPr>
            <a:r>
              <a:rPr b="1" sz="1200" lang="he-IL"/>
              <a:t>שאלת היזכרות</a:t>
            </a:r>
          </a:p>
          <a:p>
            <a:pPr rtl="1" algn="r" marL="0" indent="0">
              <a:buNone/>
            </a:pPr>
            <a:r>
              <a:rPr sz="1200" lang="he-IL"/>
              <a:t>•  מי זוכר את שלוש שאלות הסקירה ממפגש 6?</a:t>
            </a:r>
          </a:p>
          <a:p>
            <a:pPr rtl="1" algn="r" marL="0" indent="0">
              <a:buNone/>
            </a:pPr>
            <a:r>
              <a:rPr sz="1200" lang="he-IL"/>
              <a:t>•  אם לא, הקריאו אותן מהשקף.</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הנתונים אמיתיים, מהמחברת של מעבדה ג'.</a:t>
            </a:r>
          </a:p>
          <a:p>
            <a:pPr rtl="1" algn="r" marL="0" indent="0">
              <a:buNone/>
            </a:pPr>
            <a:r>
              <a:rPr b="1" sz="1200" lang="he-IL"/>
              <a:t>מה אומרים</a:t>
            </a:r>
          </a:p>
          <a:p>
            <a:pPr rtl="1" algn="r" marL="0" indent="0">
              <a:buNone/>
            </a:pPr>
            <a:r>
              <a:rPr sz="1200" lang="he-IL"/>
              <a:t>•  לפני השינוי של הסוכן pytest מדווח 4 passed.</a:t>
            </a:r>
          </a:p>
          <a:p>
            <a:pPr rtl="1" algn="r" marL="0" indent="0">
              <a:buNone/>
            </a:pPr>
            <a:r>
              <a:rPr sz="1200" lang="he-IL"/>
              <a:t>•  אחרי השינוי: 3 passed.</a:t>
            </a:r>
          </a:p>
          <a:p>
            <a:pPr rtl="1" algn="r" marL="0" indent="0">
              <a:buNone/>
            </a:pPr>
            <a:r>
              <a:rPr sz="1200" lang="he-IL"/>
              <a:t>•  שניהם ירוקים, אבל אחרי השינוי יש בדיקה אחת פחות: הסוכן מחק את test_eoq_typical.</a:t>
            </a:r>
          </a:p>
          <a:p>
            <a:pPr rtl="1" algn="r" marL="0" indent="0">
              <a:buNone/>
            </a:pPr>
            <a:r>
              <a:rPr sz="1200" lang="he-IL"/>
              <a:t>•  ויש כאן פרט חשוב: הבדיקה שנמחקה היא בדיוק זו שהייתה נכשלת בגלל שינוי אחר של הסוכן, הוספת round() ב-calc_eoq.</a:t>
            </a:r>
          </a:p>
          <a:p>
            <a:pPr rtl="1" algn="r" marL="0" indent="0">
              <a:buNone/>
            </a:pPr>
            <a:r>
              <a:rPr sz="1200" lang="he-IL"/>
              <a:t>•  אז התוצאה היא 245 במקום 244.949, ובדקנו: אחרי השינוי הבדיקה הזו נכשלת.</a:t>
            </a:r>
          </a:p>
          <a:p>
            <a:pPr rtl="1" algn="r" marL="0" indent="0">
              <a:buNone/>
            </a:pPr>
            <a:r>
              <a:rPr sz="1200" lang="he-IL"/>
              <a:t>•  כלומר הסוכן 'תיקן' כשל על ידי מחיקתו.</a:t>
            </a:r>
          </a:p>
          <a:p>
            <a:pPr rtl="1" algn="r" marL="0" indent="0">
              <a:buNone/>
            </a:pPr>
            <a:r>
              <a:rPr sz="1200" lang="he-IL"/>
              <a:t>•  הלקח: מספר הבדיקות הוא רמז שקל לבדוק, ותמיד משווים כמה בדיקות היו וכמה יש.</a:t>
            </a:r>
          </a:p>
          <a:p>
            <a:pPr rtl="1" algn="r" marL="0" indent="0">
              <a:buNone/>
            </a:pPr>
            <a:r>
              <a:rPr b="1" sz="1200" lang="he-IL"/>
              <a:t>אנלוגיה</a:t>
            </a:r>
          </a:p>
          <a:p>
            <a:pPr rtl="1" algn="r" marL="0" indent="0">
              <a:buNone/>
            </a:pPr>
            <a:r>
              <a:rPr sz="1200" lang="he-IL"/>
              <a:t>•  מחסנאי שמאזן את המלאי על ידי מחיקת שורת החוסר מהספר.</a:t>
            </a:r>
          </a:p>
          <a:p>
            <a:pPr rtl="1" algn="r" marL="0" indent="0">
              <a:buNone/>
            </a:pPr>
            <a:r>
              <a:rPr b="1" sz="1200" lang="he-IL"/>
              <a:t>שאלה לכיתה</a:t>
            </a:r>
          </a:p>
          <a:p>
            <a:pPr rtl="1" algn="r" marL="0" indent="0">
              <a:buNone/>
            </a:pPr>
            <a:r>
              <a:rPr sz="1200" lang="he-IL"/>
              <a:t>•  איך נגלה את זה בלי לקרוא את כל ה-diff?</a:t>
            </a:r>
          </a:p>
          <a:p>
            <a:pPr rtl="1" algn="r" marL="0" indent="0">
              <a:buNone/>
            </a:pPr>
            <a:r>
              <a:rPr b="1" sz="1200" lang="he-IL"/>
              <a:t>תשובה</a:t>
            </a:r>
          </a:p>
          <a:p>
            <a:pPr rtl="1" algn="r" marL="0" indent="0">
              <a:buNone/>
            </a:pPr>
            <a:r>
              <a:rPr sz="1200" lang="he-IL"/>
              <a:t>•  נשווה את מספר ה-passed, ונחפש שורות שנמחקו בקובץ test_.</a:t>
            </a:r>
          </a:p>
          <a:p>
            <a:pPr rtl="1" algn="r" marL="0" indent="0">
              <a:buNone/>
            </a:pPr>
            <a:r>
              <a:rPr sz="1200" lang="he-IL"/>
              <a:t>•  קישור להרצאה 9: דיבוג מתחיל מהבנה מה נכשל ומה השתנה.</a:t>
            </a:r>
          </a:p>
          <a:p>
            <a:pPr rtl="1" algn="r" marL="0" indent="0">
              <a:buNone/>
            </a:pPr>
            <a:r>
              <a:rPr b="1" sz="1200" lang="he-IL"/>
              <a:t>חיבור לשיעורים קודמים</a:t>
            </a:r>
          </a:p>
          <a:p>
            <a:pPr rtl="1" algn="r" marL="0" indent="0">
              <a:buNone/>
            </a:pPr>
            <a:r>
              <a:rPr sz="1200" lang="he-IL"/>
              <a:t>•  במפגש 6, בשאלת הבדיקה על הסוכן ששינה שישה קבצים, התשובה הייתה: קוראים את ה־diff ומבטלים קבצים שלא התבקשו עם restore.</a:t>
            </a:r>
          </a:p>
          <a:p>
            <a:pPr rtl="1" algn="r" marL="0" indent="0">
              <a:buNone/>
            </a:pPr>
            <a:r>
              <a:rPr sz="1200" lang="he-IL"/>
              <a:t>•  היום אותה שאלה, עם הוספה: גם ספירת הבדיקות היא חלק מה־diff.</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הפרומפט בשקף מבקש מה-AI לסקור diff כמבקר קפדן ולרשום בעיות תחת חמש כותרות, אותן חמש שאלות מהשקף הקודם: קבצים שלא התבקשו, שינויי התנהגות, בדיקות שנמחקו או הוחלשו, ערכים קבועים וסודות, ומקרי קצה חסרים.</a:t>
            </a:r>
          </a:p>
          <a:p>
            <a:pPr rtl="1" algn="r" marL="0" indent="0">
              <a:buNone/>
            </a:pPr>
            <a:r>
              <a:rPr sz="1200" lang="he-IL"/>
              <a:t>•  הוא מבקש גם לצטט את השורות המדויקות, וזה מפחית הזיה, כי אפשר לבדוק את השורה בעצמנו.</a:t>
            </a:r>
          </a:p>
          <a:p>
            <a:pPr rtl="1" algn="r" marL="0" indent="0">
              <a:buNone/>
            </a:pPr>
            <a:r>
              <a:rPr sz="1200" lang="he-IL"/>
              <a:t>•  שלוש התיבות למטה: שיחה חדשה, כדי שהמבקר לא יראה את ההנמקות של הכותב ולא ייתפס להנחות שלו; מודל אחר אם אפשר, עין נוספת; ואתם מחליטים, כי ה-AI מציע ממצאים והאחריות שלכם.</a:t>
            </a:r>
          </a:p>
          <a:p>
            <a:pPr rtl="1" algn="r" marL="0" indent="0">
              <a:buNone/>
            </a:pPr>
            <a:r>
              <a:rPr b="1" sz="1200" lang="he-IL"/>
              <a:t>שימו לב</a:t>
            </a:r>
          </a:p>
          <a:p>
            <a:pPr rtl="1" algn="r" marL="0" indent="0">
              <a:buNone/>
            </a:pPr>
            <a:r>
              <a:rPr sz="1200" lang="he-IL"/>
              <a:t>•  גם המבקר עלול להמציא ממצאים או לפספס, ולכן בודקים את הציטוטים (קישור להרצאה 2).</a:t>
            </a:r>
          </a:p>
          <a:p>
            <a:pPr rtl="1" algn="r" marL="0" indent="0">
              <a:buNone/>
            </a:pPr>
            <a:r>
              <a:rPr b="1" sz="1200" lang="he-IL"/>
              <a:t>שאלה לכיתה</a:t>
            </a:r>
          </a:p>
          <a:p>
            <a:pPr rtl="1" algn="r" marL="0" indent="0">
              <a:buNone/>
            </a:pPr>
            <a:r>
              <a:rPr sz="1200" lang="he-IL"/>
              <a:t>•  למה לא לבקש פשוט 'האם הקוד טוב?' תשובה: התשובה עלולה להיות כללית, בלי ממצאים שאפשר לבדוק, ורשימה מחייבת מבט מסודר.</a:t>
            </a:r>
          </a:p>
          <a:p>
            <a:pPr rtl="1" algn="r" marL="0" indent="0">
              <a:buNone/>
            </a:pPr>
            <a:r>
              <a:rPr b="1" sz="1200" lang="he-IL"/>
              <a:t>חיבור לשיעורים קודמים</a:t>
            </a:r>
          </a:p>
          <a:p>
            <a:pPr rtl="1" algn="r" marL="0" indent="0">
              <a:buNone/>
            </a:pPr>
            <a:r>
              <a:rPr sz="1200" lang="he-IL"/>
              <a:t>•  ממפגש 5: כלי הוא מודל ועוד מעטפת, וממפגש 2: חלון ההקשר קובע מה המודל רואה.</a:t>
            </a:r>
          </a:p>
          <a:p>
            <a:pPr rtl="1" algn="r" marL="0" indent="0">
              <a:buNone/>
            </a:pPr>
            <a:r>
              <a:rPr sz="1200" lang="he-IL"/>
              <a:t>•  מבקר בשיחה חדשה לא רואה את ההנמקות של הכותב: זה שימוש בחלון ההקשר.</a:t>
            </a:r>
          </a:p>
          <a:p>
            <a:pPr rtl="1" algn="r" marL="0" indent="0">
              <a:buNone/>
            </a:pPr>
            <a:r>
              <a:rPr sz="1200" lang="he-IL"/>
              <a:t>•  פרומפט הסקירה בנוי מתפקיד, משימה ופורמט פלט, לפי הנושא בסילבוס של מפגש 3 (מבנה פרומפט אפקטיבי).</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Pull Request (PR) הוא הצעה למזג ענף (branch) לענף הראשי, בדרך כלל main, כך שאחרים יכולים לסקור לפני המיזוג.</a:t>
            </a:r>
          </a:p>
          <a:p>
            <a:pPr rtl="1" algn="r" marL="0" indent="0">
              <a:buNone/>
            </a:pPr>
            <a:r>
              <a:rPr b="1" sz="1200" lang="he-IL"/>
              <a:t>מה אומרים</a:t>
            </a:r>
          </a:p>
          <a:p>
            <a:pPr rtl="1" algn="r" marL="0" indent="0">
              <a:buNone/>
            </a:pPr>
            <a:r>
              <a:rPr sz="1200" lang="he-IL"/>
              <a:t>•  הזרימה מימין לשמאל: הסוכן עובד על ענף נפרד; פותחים Pull Request ומבקשים למזג; מתקיימת סקירה, בדיקות רצות וקוראים את ה-diff; ובסוף מיזוג אם הכל תקין, או בקשה לתיקון וחזרה לענף.</a:t>
            </a:r>
          </a:p>
          <a:p>
            <a:pPr rtl="1" algn="r" marL="0" indent="0">
              <a:buNone/>
            </a:pPr>
            <a:r>
              <a:rPr sz="1200" lang="he-IL"/>
              <a:t>•  זו הדרך הרגילה לעבודה בצוות, וגם עם סוכנים: הסוכן לא דוחף ישירות ל-main (קישור להרצאה 6 על ענפים ו-diff).</a:t>
            </a:r>
          </a:p>
          <a:p>
            <a:pPr rtl="1" algn="r" marL="0" indent="0">
              <a:buNone/>
            </a:pPr>
            <a:r>
              <a:rPr sz="1200" lang="he-IL"/>
              <a:t>•  המשפט בתחתית הוא עיקרון: אף שינוי לא נכנס ל-main בלי שמישהו קרא אותו.</a:t>
            </a:r>
          </a:p>
          <a:p>
            <a:pPr rtl="1" algn="r" marL="0" indent="0">
              <a:buNone/>
            </a:pPr>
            <a:r>
              <a:rPr sz="1200" lang="he-IL"/>
              <a:t>•  בפרויקט הקבוצתי כל קבוצה סוקרת את ה-PR של חבריה לפי הרשימה.</a:t>
            </a:r>
          </a:p>
          <a:p>
            <a:pPr rtl="1" algn="r" marL="0" indent="0">
              <a:buNone/>
            </a:pPr>
            <a:r>
              <a:rPr sz="1200" lang="he-IL"/>
              <a:t>•  אל תתעכבו על כפתורים של GitHub, העיקרון חשוב מהממשק.</a:t>
            </a:r>
          </a:p>
          <a:p>
            <a:pPr rtl="1" algn="r" marL="0" indent="0">
              <a:buNone/>
            </a:pPr>
            <a:r>
              <a:rPr b="1" sz="1200" lang="he-IL"/>
              <a:t>שאלה לכיתה</a:t>
            </a:r>
          </a:p>
          <a:p>
            <a:pPr rtl="1" algn="r" marL="0" indent="0">
              <a:buNone/>
            </a:pPr>
            <a:r>
              <a:rPr sz="1200" lang="he-IL"/>
              <a:t>•  מי צריך לאשר PR שכתב סוכן?</a:t>
            </a:r>
          </a:p>
          <a:p>
            <a:pPr rtl="1" algn="r" marL="0" indent="0">
              <a:buNone/>
            </a:pPr>
            <a:r>
              <a:rPr b="1" sz="1200" lang="he-IL"/>
              <a:t>תשובה</a:t>
            </a:r>
          </a:p>
          <a:p>
            <a:pPr rtl="1" algn="r" marL="0" indent="0">
              <a:buNone/>
            </a:pPr>
            <a:r>
              <a:rPr sz="1200" lang="he-IL"/>
              <a:t>•  אדם מהצוות, לא הסוכן עצמו.</a:t>
            </a:r>
          </a:p>
          <a:p>
            <a:pPr rtl="1" algn="r" marL="0" indent="0">
              <a:buNone/>
            </a:pPr>
            <a:r>
              <a:rPr sz="1200" lang="he-IL"/>
              <a:t>•  שקף אופציונלי, כדקה, תלוי בזמן: את העיקרון (אף שינוי לא נכנס ל־main בלי שמישהו קרא אותו) אפשר לומר במשפט אחד בלי השקף.</a:t>
            </a:r>
          </a:p>
          <a:p>
            <a:pPr rtl="1" algn="r" marL="0" indent="0">
              <a:buNone/>
            </a:pPr>
            <a:r>
              <a:rPr sz="1200" lang="he-IL"/>
              <a:t>•  תקציב הזמן של חלק ג׳ הוא 9 דקות בלי שקף זה.</a:t>
            </a:r>
          </a:p>
          <a:p>
            <a:pPr rtl="1" algn="r" marL="0" indent="0">
              <a:buNone/>
            </a:pPr>
            <a:r>
              <a:rPr sz="1200" lang="he-IL"/>
              <a:t>•  למחקר על סקירת קוד: Bacchelli ו־Bird (ICSE 2013) חקרו סקירת קוד ב־Microsoft ומצאו שהציפייה העיקרית היא לגלות פגמים, אבל התועלות בפועל כוללות גם העברת ידע, מודעות בצוות והצעת פתרונות חלופיים, ושהקושי המרכזי הוא להבין את השינוי</a:t>
            </a:r>
          </a:p>
          <a:p>
            <a:pPr rtl="1" algn="r" marL="0" indent="0">
              <a:buNone/>
            </a:pPr>
            <a:r>
              <a:rPr sz="1200" lang="he-IL"/>
              <a:t>•  לכן שינויים קטנים וממוקדים קלים יותר לסקירה.</a:t>
            </a:r>
          </a:p>
          <a:p>
            <a:pPr rtl="1" algn="r" marL="0" indent="0">
              <a:buNone/>
            </a:pPr>
            <a:r>
              <a:rPr sz="1200" lang="he-IL"/>
              <a:t>•  Sadowski ועמיתים (ICSE-SEIP 2018) חקרו סקירת קוד ב־Google בראיונות, בסקר ובניתוח של כ־9 מיליון שינויים שנסקרו.</a:t>
            </a:r>
          </a:p>
          <a:p>
            <a:pPr rtl="1" algn="r" marL="0" indent="0">
              <a:buNone/>
            </a:pPr>
            <a:r>
              <a:rPr b="1" sz="1200" lang="he-IL"/>
              <a:t>חיבור לשיעורים קודמים</a:t>
            </a:r>
          </a:p>
          <a:p>
            <a:pPr rtl="1" algn="r" marL="0" indent="0">
              <a:buNone/>
            </a:pPr>
            <a:r>
              <a:rPr sz="1200" lang="he-IL"/>
              <a:t>•  במפגש 6, בשאלת הענף, התשובה הייתה: ענף הוא קו ניסוי נפרד, וממזגים רק אחרי שה־diff נבדק והקוד עובד.</a:t>
            </a:r>
          </a:p>
          <a:p>
            <a:pPr rtl="1" algn="r" marL="0" indent="0">
              <a:buNone/>
            </a:pPr>
            <a:r>
              <a:rPr sz="1200" lang="he-IL"/>
              <a:t>•  PR הוא השער לפני המיזוג, עם עין אנושית נוספת.</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שאלה אחרונה בחלק ג' (כשתי דקות).</a:t>
            </a:r>
          </a:p>
          <a:p>
            <a:pPr rtl="1" algn="r" marL="0" indent="0">
              <a:buNone/>
            </a:pPr>
            <a:r>
              <a:rPr b="1" sz="1200" lang="he-IL"/>
              <a:t>מה אומרים</a:t>
            </a:r>
          </a:p>
          <a:p>
            <a:pPr rtl="1" algn="r" marL="0" indent="0">
              <a:buNone/>
            </a:pPr>
            <a:r>
              <a:rPr sz="1200" lang="he-IL"/>
              <a:t>•  הסוכן הודיע שכל הבדיקות ירוקות.</a:t>
            </a:r>
          </a:p>
          <a:p>
            <a:pPr rtl="1" algn="r" marL="0" indent="0">
              <a:buNone/>
            </a:pPr>
            <a:r>
              <a:rPr sz="1200" lang="he-IL"/>
              <a:t>•  מה בודקים לפני מיזוג?</a:t>
            </a:r>
          </a:p>
          <a:p>
            <a:pPr rtl="1" algn="r" marL="0" indent="0">
              <a:buNone/>
            </a:pPr>
            <a:r>
              <a:rPr sz="1200" lang="he-IL"/>
              <a:t>•  תנו לזוגות דקה, ורשמו את התשובות על הלוח.</a:t>
            </a:r>
          </a:p>
          <a:p>
            <a:pPr rtl="1" algn="r" marL="0" indent="0">
              <a:buNone/>
            </a:pPr>
            <a:r>
              <a:rPr sz="1200" lang="he-IL"/>
              <a:t>•  שימו לב לתשובות כמו 'מריצים שוב': זה לא מספיק, כי ירוק אפשר לקבל גם אחרי מחיקת בדיקות.</a:t>
            </a:r>
          </a:p>
          <a:p>
            <a:pPr rtl="1" algn="r" marL="0" indent="0">
              <a:buNone/>
            </a:pPr>
            <a:r>
              <a:rPr sz="1200" lang="he-IL"/>
              <a:t>•  הכוונה: חמש שאלות הסקירה ומספר הבדיקות.</a:t>
            </a:r>
          </a:p>
          <a:p>
            <a:pPr rtl="1" algn="r" marL="0" indent="0">
              <a:buNone/>
            </a:pPr>
            <a:r>
              <a:rPr sz="1200" lang="he-IL"/>
              <a:t>•  אם מישהו מציע להריץ ruff, זה מצוין, והוא משלים.</a:t>
            </a:r>
          </a:p>
          <a:p>
            <a:pPr rtl="1" algn="r" marL="0" indent="0">
              <a:buNone/>
            </a:pPr>
            <a:r>
              <a:rPr sz="1200" lang="he-IL"/>
              <a:t>•  אל תחשפו את התשובה עדיין.</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a:t>
            </a:r>
          </a:p>
          <a:p>
            <a:pPr rtl="1" algn="r" marL="0" indent="0">
              <a:buNone/>
            </a:pPr>
            <a:r>
              <a:rPr b="1" sz="1200" lang="he-IL"/>
              <a:t>מה אומרים</a:t>
            </a:r>
          </a:p>
          <a:p>
            <a:pPr rtl="1" algn="r" marL="0" indent="0">
              <a:buNone/>
            </a:pPr>
            <a:r>
              <a:rPr sz="1200" lang="he-IL"/>
              <a:t>•  שתי נקודות עיקריות: האם בדיקות נמחקו או הוחלשו (משווים את מספר הבדיקות בפלט ובודקים את ה-diff של קבצי test), והאם שונו קבצים או התנהגות שלא התבקשו, והאם יש ערכים קבועים או סודות.</a:t>
            </a:r>
          </a:p>
          <a:p>
            <a:pPr rtl="1" algn="r" marL="0" indent="0">
              <a:buNone/>
            </a:pPr>
            <a:r>
              <a:rPr sz="1200" lang="he-IL"/>
              <a:t>•  אפשר להוסיף: להריץ ruff ולבדוק מקרי קצה.</a:t>
            </a:r>
          </a:p>
          <a:p>
            <a:pPr rtl="1" algn="r" marL="0" indent="0">
              <a:buNone/>
            </a:pPr>
            <a:r>
              <a:rPr sz="1200" lang="he-IL"/>
              <a:t>•  זה מה שתעשו עכשיו במעבדה ג', ושם אתם הסוקרים.</a:t>
            </a:r>
          </a:p>
          <a:p>
            <a:pPr rtl="1" algn="r" marL="0" indent="0">
              <a:buNone/>
            </a:pPr>
            <a:r>
              <a:rPr sz="1200" lang="he-IL"/>
              <a:t>•  אל תזלזלו בשאלה הראשונה: בדיקה שנעלמה היא הממצא החמור ביותר.</a:t>
            </a:r>
          </a:p>
          <a:p>
            <a:pPr rtl="1" algn="r" marL="0" indent="0">
              <a:buNone/>
            </a:pPr>
            <a:r>
              <a:rPr sz="1200" lang="he-IL"/>
              <a:t>•  עברו למעבדה ג' (14 דקות).</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14 דקות, בזוגות, חלקים ד׳, ה׳ ו־ו׳ במחברת HM_08: כ־6 דקות בדיקות של AI, כ־6 דקות סקירת שינוי של סוכן, ו־2 דקות מסקנה.</a:t>
            </a:r>
          </a:p>
          <a:p>
            <a:pPr rtl="1" algn="r" marL="0" indent="0">
              <a:buNone/>
            </a:pPr>
            <a:r>
              <a:rPr b="1" sz="1200" lang="he-IL"/>
              <a:t>מה אומרים</a:t>
            </a:r>
          </a:p>
          <a:p>
            <a:pPr rtl="1" algn="r" marL="0" indent="0">
              <a:buNone/>
            </a:pPr>
            <a:r>
              <a:rPr sz="1200" lang="he-IL"/>
              <a:t>•  חלק ד׳: מדפיסים את ai_tests.py (חמש בדיקות ירוקות על הקוד הנכון), כותבים תחזית כמה מוטנטים הן תופסות, מריצים ומקבלים 2 מתוך 6, וממשים find_weak_asserts שמסמנת חמש שורות חשודות.</a:t>
            </a:r>
          </a:p>
          <a:p>
            <a:pPr rtl="1" algn="r" marL="0" indent="0">
              <a:buNone/>
            </a:pPr>
            <a:r>
              <a:rPr sz="1200" lang="he-IL"/>
              <a:t>•  אחר כך צעד אמיתי: מבקשים בדיקות מעוזר ה־AI של Colab או מכל צ׳אט, מדביקים ל־ai_real_tests.py ומתעדים ב־real_log.</a:t>
            </a:r>
          </a:p>
          <a:p>
            <a:pPr rtl="1" algn="r" marL="0" indent="0">
              <a:buNone/>
            </a:pPr>
            <a:r>
              <a:rPr sz="1200" lang="he-IL"/>
              <a:t>•  חלק ה׳: ממשים changed_files ו־removed_tests על ה־diff, מריצים את התיקיות before ו־after, כותבים לפחות חמישה ממצאים ומחליטים.</a:t>
            </a:r>
          </a:p>
          <a:p>
            <a:pPr rtl="1" algn="r" marL="0" indent="0">
              <a:buNone/>
            </a:pPr>
            <a:r>
              <a:rPr sz="1200" lang="he-IL"/>
              <a:t>•  בכיתה אפשר לדלג על הצעד האמיתי או על חלק ה׳ אם הזמן קצר, אבל לא על א׳ עד ג׳; את השאר משלימים בבית. ruff לא רץ במחברת, כי הוא לא מותקן ב־Colab: השאריות נמצאות בקריאת after/report.py.</a:t>
            </a:r>
          </a:p>
          <a:p>
            <a:pPr rtl="1" algn="r" marL="0" indent="0">
              <a:buNone/>
            </a:pPr>
            <a:r>
              <a:rPr sz="1200" lang="he-IL"/>
              <a:t>•  הכנה: להחליף את ה־QR בקישור למחברת, ולהריץ Run all על הפתרון.</a:t>
            </a:r>
          </a:p>
          <a:p>
            <a:pPr rtl="1" algn="r" marL="0" indent="0">
              <a:buNone/>
            </a:pPr>
            <a:r>
              <a:rPr sz="1200" lang="he-IL"/>
              <a:t>•  אין לתת לסטודנטים לפתוח את תיקיית kit.</a:t>
            </a:r>
          </a:p>
          <a:p>
            <a:pPr rtl="1" algn="r" marL="0" indent="0">
              <a:buNone/>
            </a:pPr>
            <a:r>
              <a:rPr sz="1200" lang="he-IL"/>
              <a:t>•  למה עושים את המעבדה הזו: חלק ד׳ מתרגל את הרעיון שבדיקות של AI יכולות להיות חלשות (שקף בדיקות חלשות של AI) ושצריך למדוד אותן במוטציות; חלק ה׳ מתרגל את חמש שאלות הסקירה של diff של סוכן ואת ההחלטה לפני מיזוג.</a:t>
            </a:r>
          </a:p>
          <a:p>
            <a:pPr rtl="1" algn="r" marL="0" indent="0">
              <a:buNone/>
            </a:pPr>
            <a:r>
              <a:rPr sz="1200" lang="he-IL"/>
              <a:t>•  הקשר לתיאוריה: הרמאויות של שקף ״כשה־AI מרמה״ מופיעות כאן בדיוק, כממצאים 1 ו־2.</a:t>
            </a:r>
          </a:p>
          <a:p>
            <a:pPr rtl="1" algn="r" marL="0" indent="0">
              <a:buNone/>
            </a:pPr>
            <a:r>
              <a:rPr sz="1200" lang="he-IL"/>
              <a:t>•  כלי הניתוח ruff הוצג בשקף ושימש להסבר, אך אינו רץ במחברת.</a:t>
            </a:r>
          </a:p>
          <a:p>
            <a:pPr rtl="1" algn="r" marL="0" indent="0">
              <a:buNone/>
            </a:pPr>
            <a:r>
              <a:rPr b="1" sz="1200" lang="he-IL"/>
              <a:t>חיבור לשיעורים קודמים</a:t>
            </a:r>
          </a:p>
          <a:p>
            <a:pPr rtl="1" algn="r" marL="0" indent="0">
              <a:buNone/>
            </a:pPr>
            <a:r>
              <a:rPr sz="1200" lang="he-IL"/>
              <a:t>•  changed_files מופיעה גם ב־HM_06 (שם היא קראה git status), וכאן היא קוראת טקסט של diff; חמש שאלות הסקירה מרחיבות את שלוש השאלות של מפגש 6.</a:t>
            </a:r>
          </a:p>
          <a:p>
            <a:pPr rtl="1" algn="r" marL="0" indent="0">
              <a:buNone/>
            </a:pPr>
            <a:r>
              <a:rPr sz="1200" lang="he-IL"/>
              <a:t>•  הצעד האמיתי הוא שימוש בכלי כמו במפגש 5, ו־real_log הוא רישום קצר מסוג AI_LOG: כלי, מה התקבל, איך נמדד.</a:t>
            </a:r>
          </a:p>
          <a:p>
            <a:pPr rtl="1" algn="r" marL="0" indent="0">
              <a:buNone/>
            </a:pPr>
            <a:r>
              <a:rPr sz="1200" lang="he-IL"/>
              <a:t>•  הבדיקות החלשות מזכירות את אמון היתר ממפגש 1 ואת ההזיה שנראית נכונה ממפגש 2.</a:t>
            </a:r>
          </a:p>
          <a:p>
            <a:pPr rtl="1" algn="r" marL="0" indent="0">
              <a:buNone/>
            </a:pPr>
            <a:r>
              <a:rPr sz="1200" lang="he-IL"/>
              <a:t>•  לפי הנושא בסילבוס של מפגשים 3 ו־4 (פרומפטים והקשר), מה שנותנים לכלי (מפרט, טבלת מקרים) משפיע על הבדיקות שהוא כותב; בלי טענה על תוכן ספציפי.</a:t>
            </a:r>
          </a:p>
          <a:p>
            <a:pPr rtl="1" algn="r" marL="0" indent="0">
              <a:buNone/>
            </a:pPr>
            <a:r>
              <a:rPr b="1" sz="1200" lang="he-IL"/>
              <a:t>שאלת היזכרות</a:t>
            </a:r>
          </a:p>
          <a:p>
            <a:pPr rtl="1" algn="r" marL="0" indent="0">
              <a:buNone/>
            </a:pPr>
            <a:r>
              <a:rPr sz="1200" lang="he-IL"/>
              <a:t>•  מה הכלל של מפגש 6?</a:t>
            </a:r>
          </a:p>
          <a:p>
            <a:pPr rtl="1" algn="r" marL="0" indent="0">
              <a:buNone/>
            </a:pPr>
            <a:r>
              <a:rPr b="1" sz="1200" lang="he-IL"/>
              <a:t>תשובה</a:t>
            </a:r>
          </a:p>
          <a:p>
            <a:pPr rtl="1" algn="r" marL="0" indent="0">
              <a:buNone/>
            </a:pPr>
            <a:r>
              <a:rPr sz="1200" lang="he-IL"/>
              <a:t>•  commit לפני, diff אחרי.</a:t>
            </a:r>
          </a:p>
          <a:p>
            <a:pPr rtl="1" algn="r" marL="0" indent="0">
              <a:buNone/>
            </a:pPr>
            <a:r>
              <a:rPr sz="1200" lang="he-IL"/>
              <a:t>•  אם לא זוכרים, תנו את התשובה.</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המשימה והשינוי.</a:t>
            </a:r>
          </a:p>
          <a:p>
            <a:pPr rtl="1" algn="r" marL="0" indent="0">
              <a:buNone/>
            </a:pPr>
            <a:r>
              <a:rPr b="1" sz="1200" lang="he-IL"/>
              <a:t>מה אומרים</a:t>
            </a:r>
          </a:p>
          <a:p>
            <a:pPr rtl="1" algn="r" marL="0" indent="0">
              <a:buNone/>
            </a:pPr>
            <a:r>
              <a:rPr sz="1200" lang="he-IL"/>
              <a:t>•  קראו את המשימה: להוסיף ל-report.py פונקציה שמחזירה את המוצרים שהמלאי שלהם נמוך מנקודת ההזמנה.</a:t>
            </a:r>
          </a:p>
          <a:p>
            <a:pPr rtl="1" algn="r" marL="0" indent="0">
              <a:buNone/>
            </a:pPr>
            <a:r>
              <a:rPr sz="1200" lang="he-IL"/>
              <a:t>•  מתחת קטע מה-diff, והמלא מודפס במחברת מהקובץ lab_c/agent_change.diff.</a:t>
            </a:r>
          </a:p>
          <a:p>
            <a:pPr rtl="1" algn="r" marL="0" indent="0">
              <a:buNone/>
            </a:pPr>
            <a:r>
              <a:rPr sz="1200" lang="he-IL"/>
              <a:t>•  שורות ירוקות נוספו ושורות אדומות נמחקו.</a:t>
            </a:r>
          </a:p>
          <a:p>
            <a:pPr rtl="1" algn="r" marL="0" indent="0">
              <a:buNone/>
            </a:pPr>
            <a:r>
              <a:rPr sz="1200" lang="he-IL"/>
              <a:t>•  מה רואים: נוסף import os; נוסף DEFAULT_PATH עם נתיב של מחשב אישי; נוספה low_stock שמשווה את on_hand ל-rop כפול 1.1; בקובץ inventory.py, שלא התבקש לגעת בו, ההחזרה של calc_eoq נעטפה ב-round; ובקובץ הבדיקות נמחקה test_eoq_typical.</a:t>
            </a:r>
          </a:p>
          <a:p>
            <a:pPr rtl="1" algn="r" marL="0" indent="0">
              <a:buNone/>
            </a:pPr>
            <a:r>
              <a:rPr sz="1200" lang="he-IL"/>
              <a:t>•  אל תפרשו עכשיו, אלא תנו להם לחפש לבד.</a:t>
            </a:r>
          </a:p>
          <a:p>
            <a:pPr rtl="1" algn="r" marL="0" indent="0">
              <a:buNone/>
            </a:pPr>
            <a:r>
              <a:rPr b="1" sz="1200" lang="he-IL"/>
              <a:t>שאלה לכיתה</a:t>
            </a:r>
          </a:p>
          <a:p>
            <a:pPr rtl="1" algn="r" marL="0" indent="0">
              <a:buNone/>
            </a:pPr>
            <a:r>
              <a:rPr sz="1200" lang="he-IL"/>
              <a:t>•  איזה קובץ לא היה אמור להשתנות בכלל?</a:t>
            </a:r>
          </a:p>
          <a:p>
            <a:pPr rtl="1" algn="r" marL="0" indent="0">
              <a:buNone/>
            </a:pPr>
            <a:r>
              <a:rPr b="1" sz="1200" lang="he-IL"/>
              <a:t>תשובה</a:t>
            </a:r>
          </a:p>
          <a:p>
            <a:pPr rtl="1" algn="r" marL="0" indent="0">
              <a:buNone/>
            </a:pPr>
            <a:r>
              <a:rPr sz="1200" lang="he-IL"/>
              <a:t>•  inventory.py.</a:t>
            </a:r>
          </a:p>
          <a:p>
            <a:pPr rtl="1" algn="r" marL="0" indent="0">
              <a:buNone/>
            </a:pPr>
            <a:r>
              <a:rPr sz="1200" lang="he-IL"/>
              <a:t>•  אם שואלים מה רע ב-1.1: הסוכן הוסיף מרווח שלא התבקש, ולא נתן לו שם או הסבר, כלומר מספר קסם.</a:t>
            </a:r>
          </a:p>
          <a:p>
            <a:pPr rtl="1" algn="r" marL="0" indent="0">
              <a:buNone/>
            </a:pPr>
            <a:r>
              <a:rPr sz="1200" lang="he-IL"/>
              <a:t>•  במחברת, תא מדפיס את ה־diff המלא ואחריו שני תאים: changed_files מחזירה ['inventory.py', 'report.py', 'test_inventory.py'], ו־removed_tests מחזירה ['test_eoq_typical'], כלומר הסוכן נגע בשלושה קבצים אף שהתבקש רק על report.py.</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פירמידת הבדיקות, כדקה וחצי, שקף העשרה (אופציונלי).</a:t>
            </a:r>
          </a:p>
          <a:p>
            <a:pPr rtl="1" algn="r" marL="0" indent="0">
              <a:buNone/>
            </a:pPr>
            <a:r>
              <a:rPr b="1" sz="1200" lang="he-IL"/>
              <a:t>מה אומרים</a:t>
            </a:r>
          </a:p>
          <a:p>
            <a:pPr rtl="1" algn="r" marL="0" indent="0">
              <a:buNone/>
            </a:pPr>
            <a:r>
              <a:rPr sz="1200" lang="he-IL"/>
              <a:t>•  לא כל הבדיקות שוות, ואפשר לחלק אותן לשלוש רמות לפי כמה חלקים של המערכת הן מפעילות.</a:t>
            </a:r>
          </a:p>
          <a:p>
            <a:pPr rtl="1" algn="r" marL="0" indent="0">
              <a:buNone/>
            </a:pPr>
            <a:r>
              <a:rPr sz="1200" lang="he-IL"/>
              <a:t>•  בדיקות יחידה בודקות פונקציה אחת בבידוד, כמו calc_eoq במעבדה: הן מהירות, יציבות, וכשהן נכשלות ברור איפה הבעיה.</a:t>
            </a:r>
          </a:p>
          <a:p>
            <a:pPr rtl="1" algn="r" marL="0" indent="0">
              <a:buNone/>
            </a:pPr>
            <a:r>
              <a:rPr sz="1200" lang="he-IL"/>
              <a:t>•  בדיקות שילוב מפעילות כמה חלקים יחד, למשל קריאת קובץ הזמנות, חישוב נקודת הזמנה והפקת דוח.</a:t>
            </a:r>
          </a:p>
          <a:p>
            <a:pPr rtl="1" algn="r" marL="0" indent="0">
              <a:buNone/>
            </a:pPr>
            <a:r>
              <a:rPr sz="1200" lang="he-IL"/>
              <a:t>•  בדיקות קצה לקצה מפעילות את המערכת כולה כמו משתמש: הכי קרובות למציאות, אבל איטיות, שבירות, וקשה לדעת מה גרם לכשל.</a:t>
            </a:r>
          </a:p>
          <a:p>
            <a:pPr rtl="1" algn="r" marL="0" indent="0">
              <a:buNone/>
            </a:pPr>
            <a:r>
              <a:rPr sz="1200" lang="he-IL"/>
              <a:t>•  הצורה של פירמידה היא כלל אצבע: הרבה בדיקות קטנות בבסיס ומעט גדולות בקצה.</a:t>
            </a:r>
          </a:p>
          <a:p>
            <a:pPr rtl="1" algn="r" marL="0" indent="0">
              <a:buNone/>
            </a:pPr>
            <a:r>
              <a:rPr sz="1200" lang="he-IL"/>
              <a:t>•  המונח Test Automation Pyramid מיוחס ל־Mike Cohn (Succeeding with Agile, 2009); Martin Fowler מסביר אותו באתר שלו (2012) וממליץ להתייחס לבדיקות הגבוהות כקו הגנה שני: כשבדיקה כזו נכשלת, קודם משחזרים את הבאג בבדיקת יחידה ורק אז מתקנים.</a:t>
            </a:r>
          </a:p>
          <a:p>
            <a:pPr rtl="1" algn="r" marL="0" indent="0">
              <a:buNone/>
            </a:pPr>
            <a:r>
              <a:rPr sz="1200" lang="he-IL"/>
              <a:t>•  זו המלצת פרקטיקה ולא חוק: הצורה והיחס המדויק תלויים בפרויקט, ויש צוותים שמעדיפים צורות אחרות.</a:t>
            </a:r>
          </a:p>
          <a:p>
            <a:pPr rtl="1" algn="r" marL="0" indent="0">
              <a:buNone/>
            </a:pPr>
            <a:r>
              <a:rPr sz="1200" lang="he-IL"/>
              <a:t>•  קשר לקורס: במעבדות עבדנו ברמת היחידה.</a:t>
            </a:r>
          </a:p>
          <a:p>
            <a:pPr rtl="1" algn="r" marL="0" indent="0">
              <a:buNone/>
            </a:pPr>
            <a:r>
              <a:rPr sz="1200" lang="he-IL"/>
              <a:t>•  בפרויקט הקבוצתי אפשר לכתוב בדיקת יחידה לכל פונקציית חישוב ובדיקת שילוב אחת לזרם הנתונים.</a:t>
            </a:r>
          </a:p>
          <a:p>
            <a:pPr rtl="1" algn="r" marL="0" indent="0">
              <a:buNone/>
            </a:pPr>
            <a:r>
              <a:rPr sz="1200" lang="he-IL"/>
              <a:t>•  עם סוכן AI: סוכן שמריץ רק בדיקות איטיות ושבירות משלם בזמן ובכסף, ולכן מבקשים ממנו בדיקות יחידה מהירות קודם.</a:t>
            </a:r>
          </a:p>
          <a:p>
            <a:pPr rtl="1" algn="r" marL="0" indent="0">
              <a:buNone/>
            </a:pPr>
            <a:r>
              <a:rPr b="1" sz="1200" lang="he-IL"/>
              <a:t>שאלה לכיתה</a:t>
            </a:r>
          </a:p>
          <a:p>
            <a:pPr rtl="1" algn="r" marL="0" indent="0">
              <a:buNone/>
            </a:pPr>
            <a:r>
              <a:rPr sz="1200" lang="he-IL"/>
              <a:t>•  איזו בדיקה תכתבו ראשונה לדוח מלאי חודשי?</a:t>
            </a:r>
          </a:p>
          <a:p>
            <a:pPr rtl="1" algn="r" marL="0" indent="0">
              <a:buNone/>
            </a:pPr>
            <a:r>
              <a:rPr b="1" sz="1200" lang="he-IL"/>
              <a:t>תשובה</a:t>
            </a:r>
          </a:p>
          <a:p>
            <a:pPr rtl="1" algn="r" marL="0" indent="0">
              <a:buNone/>
            </a:pPr>
            <a:r>
              <a:rPr sz="1200" lang="he-IL"/>
              <a:t>•  בדיקת יחידה לכל חישוב.</a:t>
            </a:r>
          </a:p>
          <a:p>
            <a:pPr rtl="1" algn="r" marL="0" indent="0">
              <a:buNone/>
            </a:pPr>
            <a:r>
              <a:rPr b="1" sz="1200" lang="he-IL"/>
              <a:t>מתי לדלג</a:t>
            </a:r>
          </a:p>
          <a:p>
            <a:pPr rtl="1" algn="r" marL="0" indent="0">
              <a:buNone/>
            </a:pPr>
            <a:r>
              <a:rPr sz="1200" lang="he-IL"/>
              <a:t>•  אם הזמן קצר, כי הרעיון אינו נדרש למעבדות.</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בדיקות חלשות של AI, כדקה וחצי.</a:t>
            </a:r>
          </a:p>
          <a:p>
            <a:pPr rtl="1" algn="r" marL="0" indent="0">
              <a:buNone/>
            </a:pPr>
            <a:r>
              <a:rPr b="1" sz="1200" lang="he-IL"/>
              <a:t>מה אומרים</a:t>
            </a:r>
          </a:p>
          <a:p>
            <a:pPr rtl="1" algn="r" marL="0" indent="0">
              <a:buNone/>
            </a:pPr>
            <a:r>
              <a:rPr sz="1200" lang="he-IL"/>
              <a:t>•  עד עכשיו ראינו רמאויות גלויות: שינוי בדיקה והקשחת תשובה.</a:t>
            </a:r>
          </a:p>
          <a:p>
            <a:pPr rtl="1" algn="r" marL="0" indent="0">
              <a:buNone/>
            </a:pPr>
            <a:r>
              <a:rPr sz="1200" lang="he-IL"/>
              <a:t>•  כאן תופעה עדינה יותר, שהסטודנטים יפגשו במעבדה ג׳, חלק ד׳: בדיקה שעוברת על הקוד הנכון, ולכן נראית תקינה, אבל עוברת גם על הרבה קוד שגוי.</a:t>
            </a:r>
          </a:p>
          <a:p>
            <a:pPr rtl="1" algn="r" marL="0" indent="0">
              <a:buNone/>
            </a:pPr>
            <a:r>
              <a:rPr sz="1200" lang="he-IL"/>
              <a:t>•  הטבלה לוקחת שלושה דפוסים מהקובץ ai_tests.py שבמחברת.</a:t>
            </a:r>
          </a:p>
          <a:p>
            <a:pPr rtl="1" algn="r" marL="0" indent="0">
              <a:buNone/>
            </a:pPr>
            <a:r>
              <a:rPr sz="1200" lang="he-IL"/>
              <a:t>•  אחד: isinstance, ‎&gt; 0 ו־is not None בודקים רק את סוג התוצאה או את הסימן שלה, ולכן כל נוסחה שמחזירה מספר חיובי עוברת.</a:t>
            </a:r>
          </a:p>
          <a:p>
            <a:pPr rtl="1" algn="r" marL="0" indent="0">
              <a:buNone/>
            </a:pPr>
            <a:r>
              <a:rPr sz="1200" lang="he-IL"/>
              <a:t>•  שניים: rel=0.5 פירושו סטייה מותרת של חמישים אחוז מהערך הצפוי, ולכן המוטנט m1, שמחזיר כ־173 במקום כ־245 (סטייה של כ־29%), עובר.</a:t>
            </a:r>
          </a:p>
          <a:p>
            <a:pPr rtl="1" algn="r" marL="0" indent="0">
              <a:buNone/>
            </a:pPr>
            <a:r>
              <a:rPr sz="1200" lang="he-IL"/>
              <a:t>•  שלושה: raises(Exception) מקבל כל שגיאה, וגם את חילוק האפס של המוטנט m3 במקום ValueError.</a:t>
            </a:r>
          </a:p>
          <a:p>
            <a:pPr rtl="1" algn="r" marL="0" indent="0">
              <a:buNone/>
            </a:pPr>
            <a:r>
              <a:rPr sz="1200" lang="he-IL"/>
              <a:t>•  הנתון: חמש בדיקות כאלה ירוקות על הקוד הנכון ותופסות רק 2 מתוך 6 מוטנטים (m2 ו־m4).</a:t>
            </a:r>
          </a:p>
          <a:p>
            <a:pPr rtl="1" algn="r" marL="0" indent="0">
              <a:buNone/>
            </a:pPr>
            <a:r>
              <a:rPr sz="1200" lang="he-IL"/>
              <a:t>•  חשוב להיות כנים: ai_tests.py נכתב בשביל המעבדה כדי להדגים תופעה שכיחה, והוא אינו סטטיסטיקה על כלי מסוים; בצעד האמיתי במעבדה הסטודנטים יראו מה כלי אמיתי כתב להם.</a:t>
            </a:r>
          </a:p>
          <a:p>
            <a:pPr rtl="1" algn="r" marL="0" indent="0">
              <a:buNone/>
            </a:pPr>
            <a:r>
              <a:rPr sz="1200" lang="he-IL"/>
              <a:t>•  למה זה קורה?</a:t>
            </a:r>
          </a:p>
          <a:p>
            <a:pPr rtl="1" algn="r" marL="0" indent="0">
              <a:buNone/>
            </a:pPr>
            <a:r>
              <a:rPr sz="1200" lang="he-IL"/>
              <a:t>•  כשכלי כותב בדיקות בלי ערכים מדויקים מהמפרט, הבחירה הבטוחה ביותר שלו היא טענה שתעבור על כל מימוש סביר.</a:t>
            </a:r>
          </a:p>
          <a:p>
            <a:pPr rtl="1" algn="r" marL="0" indent="0">
              <a:buNone/>
            </a:pPr>
            <a:r>
              <a:rPr sz="1200" lang="he-IL"/>
              <a:t>•  התרופה: לתת במפרט ערכים מחושבים (כמו הטבלה מהשקף על מטבלה בעברית לבדיקות), ולמדוד את הבדיקות במוטציות.</a:t>
            </a:r>
          </a:p>
          <a:p>
            <a:pPr rtl="1" algn="r" marL="0" indent="0">
              <a:buNone/>
            </a:pPr>
            <a:r>
              <a:rPr b="1" sz="1200" lang="he-IL"/>
              <a:t>שאלה לכיתה</a:t>
            </a:r>
          </a:p>
          <a:p>
            <a:pPr rtl="1" algn="r" marL="0" indent="0">
              <a:buNone/>
            </a:pPr>
            <a:r>
              <a:rPr sz="1200" lang="he-IL"/>
              <a:t>•  איזה מהדפוסים מסוכן ביותר?</a:t>
            </a:r>
          </a:p>
          <a:p>
            <a:pPr rtl="1" algn="r" marL="0" indent="0">
              <a:buNone/>
            </a:pPr>
            <a:r>
              <a:rPr b="1" sz="1200" lang="he-IL"/>
              <a:t>תשובה</a:t>
            </a:r>
          </a:p>
          <a:p>
            <a:pPr rtl="1" algn="r" marL="0" indent="0">
              <a:buNone/>
            </a:pPr>
            <a:r>
              <a:rPr sz="1200" lang="he-IL"/>
              <a:t>•  raises(Exception), כי הוא נראה כמו בדיקת שגיאה אבל מקבל כל שגיאה.</a:t>
            </a:r>
          </a:p>
          <a:p>
            <a:pPr rtl="1" algn="r" marL="0" indent="0">
              <a:buNone/>
            </a:pPr>
            <a:r>
              <a:rPr b="1" sz="1200" lang="he-IL"/>
              <a:t>חיבור לשיעורים קודמים</a:t>
            </a:r>
          </a:p>
          <a:p>
            <a:pPr rtl="1" algn="r" marL="0" indent="0">
              <a:buNone/>
            </a:pPr>
            <a:r>
              <a:rPr sz="1200" lang="he-IL"/>
              <a:t>•  במעבדה ג׳ הפונקציה find_weak_asserts מסמנת דפוסים כאלה, ושם נמדוד כמה מוטנטים הם מחמיצים.</a:t>
            </a:r>
          </a:p>
          <a:p>
            <a:pPr rtl="1" algn="r" marL="0" indent="0">
              <a:buNone/>
            </a:pPr>
            <a:r>
              <a:rPr sz="1200" lang="he-IL"/>
              <a:t>•  ממפגש 1, אחת המלכודות היא אמון יתר: להניח שה־AI תמיד צודק.</a:t>
            </a:r>
          </a:p>
          <a:p>
            <a:pPr rtl="1" algn="r" marL="0" indent="0">
              <a:buNone/>
            </a:pPr>
            <a:r>
              <a:rPr sz="1200" lang="he-IL"/>
              <a:t>•  בדיקה חלשה מאשרת את האמון הזה בלי הצדקה.</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חשיפה.</a:t>
            </a:r>
          </a:p>
          <a:p>
            <a:pPr rtl="1" algn="r" marL="0" indent="0">
              <a:buNone/>
            </a:pPr>
            <a:r>
              <a:rPr b="1" sz="1200" lang="he-IL"/>
              <a:t>מה אומרים</a:t>
            </a:r>
          </a:p>
          <a:p>
            <a:pPr rtl="1" algn="r" marL="0" indent="0">
              <a:buNone/>
            </a:pPr>
            <a:r>
              <a:rPr sz="1200" lang="he-IL"/>
              <a:t>•  עברו על ששת הממצאים לפי הסדר.</a:t>
            </a:r>
          </a:p>
          <a:p>
            <a:pPr rtl="1" algn="r" marL="0" indent="0">
              <a:buNone/>
            </a:pPr>
            <a:r>
              <a:rPr sz="1200" lang="he-IL"/>
              <a:t>•  1 בדיקה נמחקה: test_eoq_typical נעלמה, ולכן pytest ירוק עם 3 בדיקות במקום 4, והיא הייתה נכשלת בגלל ממצא 2.</a:t>
            </a:r>
          </a:p>
          <a:p>
            <a:pPr rtl="1" algn="r" marL="0" indent="0">
              <a:buNone/>
            </a:pPr>
            <a:r>
              <a:rPr sz="1200" lang="he-IL"/>
              <a:t>•  2 קובץ לא מבוקש שונה: ב-inventory.py ההחזרה של calc_eoq נעטפה ב-round, והתוצאה 245 במקום 244.949, שינוי התנהגות בשקט.</a:t>
            </a:r>
          </a:p>
          <a:p>
            <a:pPr rtl="1" algn="r" marL="0" indent="0">
              <a:buNone/>
            </a:pPr>
            <a:r>
              <a:rPr sz="1200" lang="he-IL"/>
              <a:t>•  3 נתיב קשיח C:/Users/ran/orders.csv שלא יעבוד על מחשב אחר, וחושף שם משתמש.</a:t>
            </a:r>
          </a:p>
          <a:p>
            <a:pPr rtl="1" algn="r" marL="0" indent="0">
              <a:buNone/>
            </a:pPr>
            <a:r>
              <a:rPr sz="1200" lang="he-IL"/>
              <a:t>•  4 המספר 1.1 בלי שם והסבר, מספר קסם.</a:t>
            </a:r>
          </a:p>
          <a:p>
            <a:pPr rtl="1" algn="r" marL="0" indent="0">
              <a:buNone/>
            </a:pPr>
            <a:r>
              <a:rPr sz="1200" lang="he-IL"/>
              <a:t>•  5 שאריות: import os ומשתנה unused, כפי ש-ruff היה מוצא (F401 ו-F841; במחברת מוצאים אותם בקריאת after/report.py).</a:t>
            </a:r>
          </a:p>
          <a:p>
            <a:pPr rtl="1" algn="r" marL="0" indent="0">
              <a:buNone/>
            </a:pPr>
            <a:r>
              <a:rPr sz="1200" lang="he-IL"/>
              <a:t>•  6 אין טיפול בקלט ריק או במוצר חסר: מוצר שאינו ב-rop יגרום ל-KeyError, ואין שום בדיקה לפונקציה החדשה.</a:t>
            </a:r>
          </a:p>
          <a:p>
            <a:pPr rtl="1" algn="r" marL="0" indent="0">
              <a:buNone/>
            </a:pPr>
            <a:r>
              <a:rPr sz="1200" lang="he-IL"/>
              <a:t>•  אם הסטודנטים מצאו פחות, שאלו איזו שאלה מהרשימה לא נשאלה.</a:t>
            </a:r>
          </a:p>
          <a:p>
            <a:pPr rtl="1" algn="r" marL="0" indent="0">
              <a:buNone/>
            </a:pPr>
            <a:r>
              <a:rPr sz="1200" lang="he-IL"/>
              <a:t>•  אם מצאו יותר, למשל לולאה מסורבלת, ברכו, זה ממצא לגיטימי.</a:t>
            </a:r>
          </a:p>
          <a:p>
            <a:pPr rtl="1" algn="r" marL="0" indent="0">
              <a:buNone/>
            </a:pPr>
            <a:r>
              <a:rPr sz="1200" lang="he-IL"/>
              <a:t>•  הדגישו שממצאים 1 ו-2 הם בדיוק הרמאות מחלק ב'.</a:t>
            </a:r>
          </a:p>
          <a:p>
            <a:pPr rtl="1" algn="r" marL="0" indent="0">
              <a:buNone/>
            </a:pPr>
            <a:r>
              <a:rPr sz="1200" lang="he-IL"/>
              <a:t>•  במחברת הממצאים נרשמים ברשימה findings, כל ממצא עם type, where ו־problem, ומתא הבדיקה נדרשים לפחות חמישה ממצאים מחמישה סוגים שונים, בהם בדיקה שנמחקה וקובץ שלא התבקש.</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ההחלטה: לא ממזגים, מבקשים תיקון.</a:t>
            </a:r>
          </a:p>
          <a:p>
            <a:pPr rtl="1" algn="r" marL="0" indent="0">
              <a:buNone/>
            </a:pPr>
            <a:r>
              <a:rPr b="1" sz="1200" lang="he-IL"/>
              <a:t>מה אומרים</a:t>
            </a:r>
          </a:p>
          <a:p>
            <a:pPr rtl="1" algn="r" marL="0" indent="0">
              <a:buNone/>
            </a:pPr>
            <a:r>
              <a:rPr sz="1200" lang="he-IL"/>
              <a:t>•  הסיבה: יש שינוי התנהגות בשקט ובדיקה שנמחקה, ואלה קשים לגילוי אחרי מיזוג.</a:t>
            </a:r>
          </a:p>
          <a:p>
            <a:pPr rtl="1" algn="r" marL="0" indent="0">
              <a:buNone/>
            </a:pPr>
            <a:r>
              <a:rPr sz="1200" lang="he-IL"/>
              <a:t>•  הפרומפט בשקף מבקש מהסוכן: לבטל את השינוי ב-inventory.py ולשחזר את הבדיקה שנמחקה; להחליף את הנתיב הקשיח בפרמטר; לתת שם לקבוע 1.1; להסיר קוד שאינו בשימוש; לטפל בקלט ריק; ולהריץ את כל הבדיקות.</a:t>
            </a:r>
          </a:p>
          <a:p>
            <a:pPr rtl="1" algn="r" marL="0" indent="0">
              <a:buNone/>
            </a:pPr>
            <a:r>
              <a:rPr sz="1200" lang="he-IL"/>
              <a:t>•  אחר כך סוקרים שוב, עד שה-diff נקי, וזה מחזור רגיל של PR עם בקשת שינויים.</a:t>
            </a:r>
          </a:p>
          <a:p>
            <a:pPr rtl="1" algn="r" marL="0" indent="0">
              <a:buNone/>
            </a:pPr>
            <a:r>
              <a:rPr b="1" sz="1200" lang="he-IL"/>
              <a:t>מסר מרכזי</a:t>
            </a:r>
          </a:p>
          <a:p>
            <a:pPr rtl="1" algn="r" marL="0" indent="0">
              <a:buNone/>
            </a:pPr>
            <a:r>
              <a:rPr sz="1200" lang="he-IL"/>
              <a:t>•  מה שהוסר מהבדיקות חוזר.</a:t>
            </a:r>
          </a:p>
          <a:p>
            <a:pPr rtl="1" algn="r" marL="0" indent="0">
              <a:buNone/>
            </a:pPr>
            <a:r>
              <a:rPr sz="1200" lang="he-IL"/>
              <a:t>•  אל תתנו לסוכן לתקן ואז לאשר בלי לקרוא שוב.</a:t>
            </a:r>
          </a:p>
          <a:p>
            <a:pPr rtl="1" algn="r" marL="0" indent="0">
              <a:buNone/>
            </a:pPr>
            <a:r>
              <a:rPr b="1" sz="1200" lang="he-IL"/>
              <a:t>שאלה לכיתה</a:t>
            </a:r>
          </a:p>
          <a:p>
            <a:pPr rtl="1" algn="r" marL="0" indent="0">
              <a:buNone/>
            </a:pPr>
            <a:r>
              <a:rPr sz="1200" lang="he-IL"/>
              <a:t>•  מה היה קורה אילו מיזגנו?</a:t>
            </a:r>
          </a:p>
          <a:p>
            <a:pPr rtl="1" algn="r" marL="0" indent="0">
              <a:buNone/>
            </a:pPr>
            <a:r>
              <a:rPr b="1" sz="1200" lang="he-IL"/>
              <a:t>תשובה</a:t>
            </a:r>
          </a:p>
          <a:p>
            <a:pPr rtl="1" algn="r" marL="0" indent="0">
              <a:buNone/>
            </a:pPr>
            <a:r>
              <a:rPr sz="1200" lang="he-IL"/>
              <a:t>•  round היה משנה חישובי EOQ בשקט בכל מקום שבו משתמשים בפונקציה, ובלי הבדיקה אף אחד לא היה שם לב.</a:t>
            </a:r>
          </a:p>
          <a:p>
            <a:pPr rtl="1" algn="r" marL="0" indent="0">
              <a:buNone/>
            </a:pPr>
            <a:r>
              <a:rPr sz="1200" lang="he-IL"/>
              <a:t>•  טיפ נוסף: אפשר לבקש PR קטן וממוקד, רק low_stock, שקל יותר לסקור.</a:t>
            </a:r>
          </a:p>
          <a:p>
            <a:pPr rtl="1" algn="r" marL="0" indent="0">
              <a:buNone/>
            </a:pPr>
            <a:r>
              <a:rPr sz="1200" lang="he-IL"/>
              <a:t>•  במחברת ההחלטה נכתבת במשתנה decision, ותא הבדיקה מקבל רק request_changes: מיזוג של שינוי עם בדיקה שנמחקה ושינוי התנהגות שקט אינו מתקבל.</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השיעור.</a:t>
            </a:r>
          </a:p>
          <a:p>
            <a:pPr rtl="1" algn="r" marL="0" indent="0">
              <a:buNone/>
            </a:pPr>
            <a:r>
              <a:rPr b="1" sz="1200" lang="he-IL"/>
              <a:t>מה אומרים</a:t>
            </a:r>
          </a:p>
          <a:p>
            <a:pPr rtl="1" algn="r" marL="0" indent="0">
              <a:buNone/>
            </a:pPr>
            <a:r>
              <a:rPr sz="1200" lang="he-IL"/>
              <a:t>•  קראו בקול: קוד בלי בדיקה הוא השערה, ובדיקה שלא ראיתם נכשלת היא השערה.</a:t>
            </a:r>
          </a:p>
          <a:p>
            <a:pPr rtl="1" algn="r" marL="0" indent="0">
              <a:buNone/>
            </a:pPr>
            <a:r>
              <a:rPr sz="1200" lang="he-IL"/>
              <a:t>•  כלומר שני דברים: קוד שלא נבדק לא הוכח, ובדיקה שמעולם לא ראינו אדום לגביה גם אינה הוכחה.</a:t>
            </a:r>
          </a:p>
          <a:p>
            <a:pPr rtl="1" algn="r" marL="0" indent="0">
              <a:buNone/>
            </a:pPr>
            <a:r>
              <a:rPr sz="1200" lang="he-IL"/>
              <a:t>•  שורת המשנה אומרת שמספר הבדיקות והשאלה אם ראיתם אדום לפני ירוק הם הראיה.</a:t>
            </a:r>
          </a:p>
          <a:p>
            <a:pPr rtl="1" algn="r" marL="0" indent="0">
              <a:buNone/>
            </a:pPr>
            <a:r>
              <a:rPr sz="1200" lang="he-IL"/>
              <a:t>•  בקשו מהכיתה לחזור על הכלל במילים שלהם, ולתת דוגמה מהמפגש (17 מול 20, או בדיקה שנמחקה).</a:t>
            </a:r>
          </a:p>
          <a:p>
            <a:pPr rtl="1" algn="r" marL="0" indent="0">
              <a:buNone/>
            </a:pPr>
            <a:r>
              <a:rPr sz="1200" lang="he-IL"/>
              <a:t>•  קישור לשיעורים הקודמים: הרצאה 2: לא הרצתם, לא סומכים.</a:t>
            </a:r>
          </a:p>
          <a:p>
            <a:pPr rtl="1" algn="r" marL="0" indent="0">
              <a:buNone/>
            </a:pPr>
            <a:r>
              <a:rPr sz="1200" lang="he-IL"/>
              <a:t>•  הרצאה 7: החוזה קודם, והיום קיבלנו את השיטה שמחברת ביניהם: בדיקות שנגזרות ממפרט.</a:t>
            </a:r>
          </a:p>
          <a:p>
            <a:pPr rtl="1" algn="r" marL="0" indent="0">
              <a:buNone/>
            </a:pPr>
            <a:r>
              <a:rPr sz="1200" lang="he-IL"/>
              <a:t>•  הכינו אותם לחידון.</a:t>
            </a:r>
          </a:p>
          <a:p>
            <a:pPr rtl="1" algn="r" marL="0" indent="0">
              <a:buNone/>
            </a:pPr>
            <a:r>
              <a:rPr sz="1200" lang="he-IL"/>
              <a:t>•  הערת העמקה: הכלל הראשון נשען על הגבול התיאורטי שכבר Dijkstra ניסח, שבדיקות מראות נוכחות של באגים ולא היעדרם; הכלל השני נשען על בעיית האורקל ועל מדידת איכות הבדיקות במוטציות.</a:t>
            </a:r>
          </a:p>
          <a:p>
            <a:pPr rtl="1" algn="r" marL="0" indent="0">
              <a:buNone/>
            </a:pPr>
            <a:r>
              <a:rPr sz="1200" lang="he-IL"/>
              <a:t>•  שניהם יחד: האמון בקוד של AI בא מבדיקות שנגזרו ממפרט ושנמדדו.</a:t>
            </a:r>
          </a:p>
          <a:p>
            <a:pPr rtl="1" algn="r" marL="0" indent="0">
              <a:buNone/>
            </a:pPr>
            <a:r>
              <a:rPr sz="1200" lang="he-IL"/>
              <a:t>•  גשר לתחילת המפגש: חזרו לשאלה של היום (שקף 5): איך יודעים שקוד של AI נכון, ולא רק שהוא רץ?</a:t>
            </a:r>
          </a:p>
          <a:p>
            <a:pPr rtl="1" algn="r" marL="0" indent="0">
              <a:buNone/>
            </a:pPr>
            <a:r>
              <a:rPr sz="1200" lang="he-IL"/>
              <a:t>•  קראו את התשובות שרשמתם בפתיחה והשוו לכלל: ראיה היא בדיקה שנגזרה ממפרט ושראינו אותה נכשלת.</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(4 דקות), שלוש שאלות על מרכז המפגש: בדיקות מעגליות של AI, חמש הקטגוריות וסקירת diff.</a:t>
            </a:r>
          </a:p>
          <a:p>
            <a:pPr rtl="1" algn="r" marL="0" indent="0">
              <a:buNone/>
            </a:pPr>
            <a:r>
              <a:rPr b="1" sz="1200" lang="he-IL"/>
              <a:t>מה אומרים</a:t>
            </a:r>
          </a:p>
          <a:p>
            <a:pPr rtl="1" algn="r" marL="0" indent="0">
              <a:buNone/>
            </a:pPr>
            <a:r>
              <a:rPr sz="1200" lang="he-IL"/>
              <a:t>•  קראו שאלה, תנו כ־30 שניות לדיון בזוגות, ובקשו תשובה לפני שמראים את השקף הבא.</a:t>
            </a:r>
          </a:p>
          <a:p>
            <a:pPr rtl="1" algn="r" marL="0" indent="0">
              <a:buNone/>
            </a:pPr>
            <a:r>
              <a:rPr sz="1200" lang="he-IL"/>
              <a:t>•  אפשר להשתמש בהן גם כבנק שאלות לתרגול או לבחינה.</a:t>
            </a:r>
          </a:p>
          <a:p>
            <a:pPr rtl="1" algn="r" marL="0" indent="0">
              <a:buNone/>
            </a:pPr>
            <a:r>
              <a:rPr sz="1200" lang="he-IL"/>
              <a:t>•  אם נשאר זמן, הוסיפו בעל פה שאלה רביעית על TDD: מהם שלושת השלבים ולמה רואים אדום קודם.</a:t>
            </a:r>
          </a:p>
          <a:p>
            <a:pPr rtl="1" algn="r" marL="0" indent="0">
              <a:buNone/>
            </a:pPr>
            <a:r>
              <a:rPr sz="1200" lang="he-IL"/>
              <a:t>•  ואם הכיתה מתקשה בשאלה 1, חזרו לשקף הבדיקה המעגלית.</a:t>
            </a:r>
          </a:p>
          <a:p>
            <a:pPr rtl="1" algn="r" marL="0" indent="0">
              <a:buNone/>
            </a:pPr>
            <a:r>
              <a:rPr sz="1200" lang="he-IL"/>
              <a:t>•  בקשו גם מסטודנט לתת דוגמה למקרה מכל קטגוריה עבור calc_eoq, כדי לוודא שהקטגוריות הובנו.</a:t>
            </a:r>
          </a:p>
          <a:p>
            <a:pPr rtl="1" algn="r" marL="0" indent="0">
              <a:buNone/>
            </a:pPr>
            <a:r>
              <a:rPr sz="1200" lang="he-IL"/>
              <a:t>•  אם הוצגו שקפי ההעשרה, אפשר להוסיף שאלה רביעית בעל פה: מה ההבדל בין כיסוי קוד לציון הרג?</a:t>
            </a:r>
          </a:p>
          <a:p>
            <a:pPr rtl="1" algn="r" marL="0" indent="0">
              <a:buNone/>
            </a:pPr>
            <a:r>
              <a:rPr b="1" sz="1200" lang="he-IL"/>
              <a:t>תשובה</a:t>
            </a:r>
          </a:p>
          <a:p>
            <a:pPr rtl="1" algn="r" marL="0" indent="0">
              <a:buNone/>
            </a:pPr>
            <a:r>
              <a:rPr sz="1200" lang="he-IL"/>
              <a:t>•  כיסוי מודד מה הורץ וציון הרג מודד כמה גרסאות שבורות נתפסו; בדיקות חלשות יכולות להגיע לכיסוי 100% ולציון הרג נמוך.</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לחידון.</a:t>
            </a:r>
          </a:p>
          <a:p>
            <a:pPr rtl="1" algn="r" marL="0" indent="0">
              <a:buNone/>
            </a:pPr>
            <a:r>
              <a:rPr b="1" sz="1200" lang="he-IL"/>
              <a:t>מה אומרים</a:t>
            </a:r>
          </a:p>
          <a:p>
            <a:pPr rtl="1" algn="r" marL="0" indent="0">
              <a:buNone/>
            </a:pPr>
            <a:r>
              <a:rPr sz="1200" lang="he-IL"/>
              <a:t>•  1 בדיקות ש-AI כתב על קוד של AI מאשרות מה שהקוד עושה ולא מה שהוא צריך לעשות, ואת המפרט מספק אדם.</a:t>
            </a:r>
          </a:p>
          <a:p>
            <a:pPr rtl="1" algn="r" marL="0" indent="0">
              <a:buNone/>
            </a:pPr>
            <a:r>
              <a:rPr sz="1200" lang="he-IL"/>
              <a:t>•  2 חמש הקטגוריות: רגיל, גבול, ריק, לא חוקי וכלל עסקי, ועדיף להדגים בדוגמה, למשל 1200, 50 ו-2 לרגיל, וביקוש 0 לגבול.</a:t>
            </a:r>
          </a:p>
          <a:p>
            <a:pPr rtl="1" algn="r" marL="0" indent="0">
              <a:buNone/>
            </a:pPr>
            <a:r>
              <a:rPr sz="1200" lang="he-IL"/>
              <a:t>•  3 ב-diff של סוכן בודקים קבצים שלא התבקשו, התנהגות שהשתנתה, בדיקות שנמחקו, ערכים קבועים וסודות, ומקרי קצה.</a:t>
            </a:r>
          </a:p>
          <a:p>
            <a:pPr rtl="1" algn="r" marL="0" indent="0">
              <a:buNone/>
            </a:pPr>
            <a:r>
              <a:rPr sz="1200" lang="he-IL"/>
              <a:t>•  אם שאלתם בעל פה על TDD: אדום, ירוק, שיפור, ורואים אדום קודם כי בלי כשל אין הוכחה שהבדיקה בודקת משהו.</a:t>
            </a:r>
          </a:p>
          <a:p>
            <a:pPr rtl="1" algn="r" marL="0" indent="0">
              <a:buNone/>
            </a:pPr>
            <a:r>
              <a:rPr sz="1200" lang="he-IL"/>
              <a:t>•  תקנו אי הבנות לפני הסיכום, ושימו לב במיוחד לשאלה 1, כי היא הליבה של המפגש.</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(כשתי דקות וחצי).</a:t>
            </a:r>
          </a:p>
          <a:p>
            <a:pPr rtl="1" algn="r" marL="0" indent="0">
              <a:buNone/>
            </a:pPr>
            <a:r>
              <a:rPr b="1" sz="1200" lang="he-IL"/>
              <a:t>מה אומרים</a:t>
            </a:r>
          </a:p>
          <a:p>
            <a:pPr rtl="1" algn="r" marL="0" indent="0">
              <a:buNone/>
            </a:pPr>
            <a:r>
              <a:rPr sz="1200" lang="he-IL"/>
              <a:t>•  חזרו על ארבע הנקודות.</a:t>
            </a:r>
          </a:p>
          <a:p>
            <a:pPr rtl="1" algn="r" marL="0" indent="0">
              <a:buNone/>
            </a:pPr>
            <a:r>
              <a:rPr sz="1200" lang="he-IL"/>
              <a:t>•  1 בדיקה היא קלט, תוצאה צפויה והשוואה, ו-pytest מריץ ומדווח.</a:t>
            </a:r>
          </a:p>
          <a:p>
            <a:pPr rtl="1" algn="r" marL="0" indent="0">
              <a:buNone/>
            </a:pPr>
            <a:r>
              <a:rPr sz="1200" lang="he-IL"/>
              <a:t>•  2 חמש קטגוריות מקרים, והציפיות מוגדרות על ידי אדם ממפרט.</a:t>
            </a:r>
          </a:p>
          <a:p>
            <a:pPr rtl="1" algn="r" marL="0" indent="0">
              <a:buNone/>
            </a:pPr>
            <a:r>
              <a:rPr sz="1200" lang="he-IL"/>
              <a:t>•  3 TDD הוא אדום, ירוק, שיפור, וה-AI עלול לרמות: לשנות בדיקה, למחוק אותה או להקשיח תשובה, ולכן קוראים את ה-diff.</a:t>
            </a:r>
          </a:p>
          <a:p>
            <a:pPr rtl="1" algn="r" marL="0" indent="0">
              <a:buNone/>
            </a:pPr>
            <a:r>
              <a:rPr sz="1200" lang="he-IL"/>
              <a:t>•  4 כלי ניתוח כמו ruff תופס שאריות, בדיקות תופסות טעויות לוגיות, וסקירת PR היא השער לפני מיזוג.</a:t>
            </a:r>
          </a:p>
          <a:p>
            <a:pPr rtl="1" algn="r" marL="0" indent="0">
              <a:buNone/>
            </a:pPr>
            <a:r>
              <a:rPr sz="1200" lang="he-IL"/>
              <a:t>•  קשרו חזרה לפתיחה: 17 מול 20, שהתגלה בבדיקה אחת שנכתבה ממפרט.</a:t>
            </a:r>
          </a:p>
          <a:p>
            <a:pPr rtl="1" algn="r" marL="0" indent="0">
              <a:buNone/>
            </a:pPr>
            <a:r>
              <a:rPr sz="1200" lang="he-IL"/>
              <a:t>•  תזכורת לקשרים: הזיות (2), Git ו-diff (6), מפרט וחוזה (7), ובהמשך דיבוג (9) ו-refactoring (11).</a:t>
            </a:r>
          </a:p>
          <a:p>
            <a:pPr rtl="1" algn="r" marL="0" indent="0">
              <a:buNone/>
            </a:pPr>
            <a:r>
              <a:rPr sz="1200" lang="he-IL"/>
              <a:t>•  שאלה אחרונה לכיתה: מה הדבר האחד שתעשו אחרת מהיום כשה-AI כותב קוד?</a:t>
            </a:r>
          </a:p>
          <a:p>
            <a:pPr rtl="1" algn="r" marL="0" indent="0">
              <a:buNone/>
            </a:pPr>
            <a:r>
              <a:rPr b="1" sz="1200" lang="he-IL"/>
              <a:t>תשובה</a:t>
            </a:r>
          </a:p>
          <a:p>
            <a:pPr rtl="1" algn="r" marL="0" indent="0">
              <a:buNone/>
            </a:pPr>
            <a:r>
              <a:rPr sz="1200" lang="he-IL"/>
              <a:t>•  נבקש בדיקות ממפרט, ונקרא את ה-diff לפני שמאשרים.</a:t>
            </a:r>
          </a:p>
          <a:p>
            <a:pPr rtl="1" algn="r" marL="0" indent="0">
              <a:buNone/>
            </a:pPr>
            <a:r>
              <a:rPr sz="1200" lang="he-IL"/>
              <a:t>•  השורה האחרונה בשקף חוזרת אחורה: הכלל של היום נוסף לשרשרת הקורס.</a:t>
            </a:r>
          </a:p>
          <a:p>
            <a:pPr rtl="1" algn="r" marL="0" indent="0">
              <a:buNone/>
            </a:pPr>
            <a:r>
              <a:rPr sz="1200" lang="he-IL"/>
              <a:t>•  מפגש 2: לא ראיתם בתיעוד ולא הרצתם, לא סומכים.</a:t>
            </a:r>
          </a:p>
          <a:p>
            <a:pPr rtl="1" algn="r" marL="0" indent="0">
              <a:buNone/>
            </a:pPr>
            <a:r>
              <a:rPr sz="1200" lang="he-IL"/>
              <a:t>•  מפגש 7: החוזה קודם.</a:t>
            </a:r>
          </a:p>
          <a:p>
            <a:pPr rtl="1" algn="r" marL="0" indent="0">
              <a:buNone/>
            </a:pPr>
            <a:r>
              <a:rPr sz="1200" lang="he-IL"/>
              <a:t>•  מפגש 8: בדיקה שנגזרת ממפרט, ושראיתם אותה נכשלת.</a:t>
            </a:r>
          </a:p>
          <a:p>
            <a:pPr rtl="1" algn="r" marL="0" indent="0">
              <a:buNone/>
            </a:pPr>
            <a:r>
              <a:rPr b="1" sz="1200" lang="he-IL"/>
              <a:t>שאלה לכיתה</a:t>
            </a:r>
          </a:p>
          <a:p>
            <a:pPr rtl="1" algn="r" marL="0" indent="0">
              <a:buNone/>
            </a:pPr>
            <a:r>
              <a:rPr sz="1200" lang="he-IL"/>
              <a:t>•  מי זוכר איך קראנו לפתיחה של היום, ואיך זה קשור לשרשרת?</a:t>
            </a:r>
          </a:p>
          <a:p>
            <a:pPr rtl="1" algn="r" marL="0" indent="0">
              <a:buNone/>
            </a:pPr>
            <a:r>
              <a:rPr b="1" sz="1200" lang="he-IL"/>
              <a:t>תשובה</a:t>
            </a:r>
          </a:p>
          <a:p>
            <a:pPr rtl="1" algn="r" marL="0" indent="0">
              <a:buNone/>
            </a:pPr>
            <a:r>
              <a:rPr sz="1200" lang="he-IL"/>
              <a:t>•  17 במקום 20, קוד שרץ בלי שגיאה; זו הזיית התנהגות ממפגש 2, והבדיקה היא ההרצה מול ערך ידוע.</a:t>
            </a:r>
          </a:p>
          <a:p>
            <a:pPr rtl="1" algn="r" marL="0" indent="0">
              <a:buNone/>
            </a:pPr>
            <a:r>
              <a:rPr b="1" sz="1200" lang="he-IL"/>
              <a:t>אם הכיתה לא זוכרת</a:t>
            </a:r>
          </a:p>
          <a:p>
            <a:pPr rtl="1" algn="r" marL="0" indent="0">
              <a:buNone/>
            </a:pPr>
            <a:r>
              <a:rPr sz="1200" lang="he-IL"/>
              <a:t>•  חזרו לשקף 4.</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למפגש הבא (כדקה וחצי).</a:t>
            </a:r>
          </a:p>
          <a:p>
            <a:pPr rtl="1" algn="r" marL="0" indent="0">
              <a:buNone/>
            </a:pPr>
            <a:r>
              <a:rPr b="1" sz="1200" lang="he-IL"/>
              <a:t>מה אומרים</a:t>
            </a:r>
          </a:p>
          <a:p>
            <a:pPr rtl="1" algn="r" marL="0" indent="0">
              <a:buNone/>
            </a:pPr>
            <a:r>
              <a:rPr sz="1200" lang="he-IL"/>
              <a:t>•  שלוש משימות.</a:t>
            </a:r>
          </a:p>
          <a:p>
            <a:pPr rtl="1" algn="r" marL="0" indent="0">
              <a:buNone/>
            </a:pPr>
            <a:r>
              <a:rPr sz="1200" lang="he-IL"/>
              <a:t>•  1 להוסיף לפרויקט הקבוצתי בדיקה ראשונה לפונקציית הליבה, ועדיף מקרה רגיל ומקרה לא חוקי.</a:t>
            </a:r>
          </a:p>
          <a:p>
            <a:pPr rtl="1" algn="r" marL="0" indent="0">
              <a:buNone/>
            </a:pPr>
            <a:r>
              <a:rPr sz="1200" lang="he-IL"/>
              <a:t>•  2 לסקור PR אחד של חבר בקבוצה לפי הרשימה, חמש השאלות מהמפגש.</a:t>
            </a:r>
          </a:p>
          <a:p>
            <a:pPr rtl="1" algn="r" marL="0" indent="0">
              <a:buNone/>
            </a:pPr>
            <a:r>
              <a:rPr sz="1200" lang="he-IL"/>
              <a:t>•  3 לשמור את רשימת התיוג בתיקיית הפרויקט כדי שתהיה זמינה בכל סקירה.</a:t>
            </a:r>
          </a:p>
          <a:p>
            <a:pPr rtl="1" algn="r" marL="0" indent="0">
              <a:buNone/>
            </a:pPr>
            <a:r>
              <a:rPr sz="1200" lang="he-IL"/>
              <a:t>•  בשיעור הבא נעסוק בדיבוג קוד ש-AI כתב: כשבדיקה נכשלת, איך מוצאים את הסיבה ולא רק את הסימפטום, בהמשך להזיות מהרצאה 2.</a:t>
            </a:r>
          </a:p>
          <a:p>
            <a:pPr rtl="1" algn="r" marL="0" indent="0">
              <a:buNone/>
            </a:pPr>
            <a:r>
              <a:rPr sz="1200" lang="he-IL"/>
              <a:t>•  הדגישו שהבדיקות שנכתוב היום הן נקודת ההתחלה של הדיבוג, כי בדיקה שנכשלת מצביעה על מקום ועל ציפייה.</a:t>
            </a:r>
          </a:p>
          <a:p>
            <a:pPr rtl="1" algn="r" marL="0" indent="0">
              <a:buNone/>
            </a:pPr>
            <a:r>
              <a:rPr sz="1200" lang="he-IL"/>
              <a:t>•  מי שלא סיים את חלקים ד׳ ו־ה׳ של המחברת בכיתה משלים אותם בבית, ומגיש את המחברת עם Restart session and run all.</a:t>
            </a:r>
          </a:p>
          <a:p>
            <a:pPr rtl="1" algn="r" marL="0" indent="0">
              <a:buNone/>
            </a:pPr>
            <a:r>
              <a:rPr sz="1200" lang="he-IL"/>
              <a:t>•  הבונוס השלישי במחברת הוא בדיוק משימה 1 כאן: הבדיקה הראשונה לפרויקט הקבוצתי, מקרה רגיל ומקרה לא חוקי.</a:t>
            </a:r>
          </a:p>
          <a:p>
            <a:pPr rtl="1" algn="r" marL="0" indent="0">
              <a:buNone/>
            </a:pPr>
            <a:r>
              <a:rPr sz="1200" lang="he-IL"/>
              <a:t>•  גשר אחורה וקדימה: הבדיקות של היום הן נקודת ההתחלה של מפגש 9: בדיקה שנכשלת מצביעה על מקום ועל ציפייה, וממנה מחפשים את הסיבה.</a:t>
            </a:r>
          </a:p>
          <a:p>
            <a:pPr rtl="1" algn="r" marL="0" indent="0">
              <a:buNone/>
            </a:pPr>
            <a:r>
              <a:rPr sz="1200" lang="he-IL"/>
              <a:t>•  ההזיות ממפגש 2 הן אחת הסיבות האפשריות; מפגש 9 יסווג באגים לפי סוגם.</a:t>
            </a:r>
          </a:p>
          <a:p>
            <a:pPr rtl="1" algn="r" marL="0" indent="0">
              <a:buNone/>
            </a:pPr>
            <a:r>
              <a:rPr sz="1200" lang="he-IL"/>
              <a:t>•  הכלל של היום נוסף לשרשרת (שקף 52), והמפגש הבא ממשיך אותה: מפגש 9 דיבוג, מפגש 10 אבטחה, מפגש 11 ארכיטקטורה ו־refactoring, שבו שלב ״שיפור״ של TDD ייעשה בפועל.</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כדקה וחצי, בתוך 9 הדקות של מעבדה א׳.</a:t>
            </a:r>
          </a:p>
          <a:p>
            <a:pPr rtl="1" algn="r" marL="0" indent="0">
              <a:buNone/>
            </a:pPr>
            <a:r>
              <a:rPr b="1" sz="1200" lang="he-IL"/>
              <a:t>מה אומרים</a:t>
            </a:r>
          </a:p>
          <a:p>
            <a:pPr rtl="1" algn="r" marL="0" indent="0">
              <a:buNone/>
            </a:pPr>
            <a:r>
              <a:rPr sz="1200" lang="he-IL"/>
              <a:t>•  השקף הזה חוזר בגרסה דומה בכל מפגש.</a:t>
            </a:r>
          </a:p>
          <a:p>
            <a:pPr rtl="1" algn="r" marL="0" indent="0">
              <a:buNone/>
            </a:pPr>
            <a:r>
              <a:rPr sz="1200" lang="he-IL"/>
              <a:t>•  שלושה כללים.</a:t>
            </a:r>
          </a:p>
          <a:p>
            <a:pPr rtl="1" algn="r" marL="0" indent="0">
              <a:buNone/>
            </a:pPr>
            <a:r>
              <a:rPr sz="1200" lang="he-IL"/>
              <a:t>•  אחד: ממלאים בעצמכם את המקומות שמסומנים TODO, בלי כלי AI.</a:t>
            </a:r>
          </a:p>
          <a:p>
            <a:pPr rtl="1" algn="r" marL="0" indent="0">
              <a:buNone/>
            </a:pPr>
            <a:r>
              <a:rPr sz="1200" lang="he-IL"/>
              <a:t>•  המטרה היא להבין מה בודקים ולא לקבל קוד, והחריג היחיד הוא צעד אמיתי עם כלי AI בחלק ד׳.</a:t>
            </a:r>
          </a:p>
          <a:p>
            <a:pPr rtl="1" algn="r" marL="0" indent="0">
              <a:buNone/>
            </a:pPr>
            <a:r>
              <a:rPr sz="1200" lang="he-IL"/>
              <a:t>•  במעבדה הזו את הבדיקות כותבים בתא שמתחיל ב־%%writefile (הוא כותב קובץ), ומריצים אותן בתא נפרד עם !python -m pytest -q, כמו בטרמינל.</a:t>
            </a:r>
          </a:p>
          <a:p>
            <a:pPr rtl="1" algn="r" marL="0" indent="0">
              <a:buNone/>
            </a:pPr>
            <a:r>
              <a:rPr sz="1200" lang="he-IL"/>
              <a:t>•  שניים: אחרי כל שלב יש תא בדיקה שמדפיס ✓ כשהכול נכון, וכשלא, הודעה שמכוונת.</a:t>
            </a:r>
          </a:p>
          <a:p>
            <a:pPr rtl="1" algn="r" marL="0" indent="0">
              <a:buNone/>
            </a:pPr>
            <a:r>
              <a:rPr sz="1200" lang="he-IL"/>
              <a:t>•  שלושה: לפני כל הרצה כותבים תחזית, ואחרי כל חלק עונים על שאלות ניתוח.</a:t>
            </a:r>
          </a:p>
          <a:p>
            <a:pPr rtl="1" algn="r" marL="0" indent="0">
              <a:buNone/>
            </a:pPr>
            <a:r>
              <a:rPr sz="1200" lang="he-IL"/>
              <a:t>•  תחזית שגויה עם ניתוח טוב שווה יותר מתחזית נכונה בלי הסבר.</a:t>
            </a:r>
          </a:p>
          <a:p>
            <a:pPr rtl="1" algn="r" marL="0" indent="0">
              <a:buNone/>
            </a:pPr>
            <a:r>
              <a:rPr b="1" sz="1200" lang="he-IL"/>
              <a:t>הגשה</a:t>
            </a:r>
          </a:p>
          <a:p>
            <a:pPr rtl="1" algn="r" marL="0" indent="0">
              <a:buNone/>
            </a:pPr>
            <a:r>
              <a:rPr sz="1200" lang="he-IL"/>
              <a:t>•  Restart session and run all, ואז Download .ipynb.</a:t>
            </a:r>
          </a:p>
          <a:p>
            <a:pPr rtl="1" algn="r" marL="0" indent="0">
              <a:buNone/>
            </a:pPr>
            <a:r>
              <a:rPr sz="1200" lang="he-IL"/>
              <a:t>•  חלקים ד׳ ו־ה׳ אפשר להשלים בבית.</a:t>
            </a:r>
          </a:p>
          <a:p>
            <a:pPr rtl="1" algn="r" marL="0" indent="0">
              <a:buNone/>
            </a:pPr>
            <a:r>
              <a:rPr sz="1200" lang="he-IL"/>
              <a:t>•  הדגישו: ציפיות בבדיקה מחשבים ממפרט, בראש או במחשבון, ולא מהרצת הקוד.</a:t>
            </a:r>
          </a:p>
          <a:p>
            <a:pPr rtl="1" algn="r" marL="0" indent="0">
              <a:buNone/>
            </a:pPr>
            <a:r>
              <a:rPr sz="1200" lang="he-IL"/>
              <a:t>•  אם יש סטודנטים שחוששים מקוד, הראו שכל פונקציה קצרה ויש רמז בכל שלב.</a:t>
            </a:r>
          </a:p>
          <a:p>
            <a:pPr rtl="1" algn="r" marL="0" indent="0">
              <a:buNone/>
            </a:pPr>
            <a:r>
              <a:rPr b="1" sz="1200" lang="he-IL"/>
              <a:t>חיבור לשיעורים קודמים</a:t>
            </a:r>
          </a:p>
          <a:p>
            <a:pPr rtl="1" algn="r" marL="0" indent="0">
              <a:buNone/>
            </a:pPr>
            <a:r>
              <a:rPr sz="1200" lang="he-IL"/>
              <a:t>•  אותה שיטת עבודה כמו במפגשים 5 עד 7: תחזית לפני כל הרצה, תא בדיקה שמדפיס ✓, ובסוף Restart session and run all (כפי שנאמר במפגש 6).</a:t>
            </a:r>
          </a:p>
          <a:p>
            <a:pPr rtl="1" algn="r" marL="0" indent="0">
              <a:buNone/>
            </a:pPr>
            <a:r>
              <a:rPr sz="1200" lang="he-IL"/>
              <a:t>•  אם יש סטודנטים חדשים או מתעכבים: הפנו אותם למחברות הקודמות.</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א׳, כדקה, לשימוש בזמן הסיור בין הזוגות.</a:t>
            </a:r>
          </a:p>
          <a:p>
            <a:pPr rtl="1" algn="r" marL="0" indent="0">
              <a:buNone/>
            </a:pPr>
            <a:r>
              <a:rPr b="1" sz="1200" lang="he-IL"/>
              <a:t>מה אומרים</a:t>
            </a:r>
          </a:p>
          <a:p>
            <a:pPr rtl="1" algn="r" marL="0" indent="0">
              <a:buNone/>
            </a:pPr>
            <a:r>
              <a:rPr sz="1200" lang="he-IL"/>
              <a:t>•  הבדיקה המעגלית: הקוד נותן 17 והבדיקה שציפתה ל־17 עוברת, 1 passed, והקוד שגוי.</a:t>
            </a:r>
          </a:p>
          <a:p>
            <a:pPr rtl="1" algn="r" marL="0" indent="0">
              <a:buNone/>
            </a:pPr>
            <a:r>
              <a:rPr sz="1200" lang="he-IL"/>
              <a:t>•  חמש הבדיקות של הסטודנטים על הקוד השגוי: מופיע FF.FF, כלומר ארבע נכשלו ואחת עברה. test_normal נכשלת עם assert 17 == 20, test_zero_demand עם assert 3 == 0, test_default_safety עם assert 17 == 20, ו־test_negative_demand עם DID NOT RAISE, כי אין בדיקת קלט שלילי.</a:t>
            </a:r>
          </a:p>
          <a:p>
            <a:pPr rtl="1" algn="r" marL="0" indent="0">
              <a:buNone/>
            </a:pPr>
            <a:r>
              <a:rPr sz="1200" lang="he-IL"/>
              <a:t>•  הבדיקה של ריק או חסר (None, מצפים ל־TypeError) עוברת גם על הקוד השגוי, ובכל זאת היא לא חסרת ערך: היא מתעדת התנהגות.</a:t>
            </a:r>
          </a:p>
          <a:p>
            <a:pPr rtl="1" algn="r" marL="0" indent="0">
              <a:buNone/>
            </a:pPr>
            <a:r>
              <a:rPr sz="1200" lang="he-IL"/>
              <a:t>•  אחרי התיקון (בדיקת קלט שלילי והנוסחה עם הסוגריים) כל החמש עוברות, 5 passed, ותא הבדיקה מדפיס ✓.</a:t>
            </a:r>
          </a:p>
          <a:p>
            <a:pPr rtl="1" algn="r" marL="0" indent="0">
              <a:buNone/>
            </a:pPr>
            <a:r>
              <a:rPr sz="1200" lang="he-IL"/>
              <a:t>•  אם סטודנט רואה ירוק על הקוד השגוי, הציפיות שלו נגזרו מהקוד: חפשו 17 בבדיקות שלו.</a:t>
            </a:r>
          </a:p>
          <a:p>
            <a:pPr rtl="1" algn="r" marL="0" indent="0">
              <a:buNone/>
            </a:pPr>
            <a:r>
              <a:rPr sz="1200" lang="he-IL"/>
              <a:t>•  אם ההשוואה == על מספרים עשרוניים נכשלת, בחלק ב׳ משתמשים ב־pytest.approx.</a:t>
            </a:r>
          </a:p>
          <a:p>
            <a:pPr rtl="1" algn="r" marL="0" indent="0">
              <a:buNone/>
            </a:pPr>
            <a:r>
              <a:rPr b="1" sz="1200" lang="he-IL"/>
              <a:t>שאלה לכיתה</a:t>
            </a:r>
          </a:p>
          <a:p>
            <a:pPr rtl="1" algn="r" marL="0" indent="0">
              <a:buNone/>
            </a:pPr>
            <a:r>
              <a:rPr sz="1200" lang="he-IL"/>
              <a:t>•  אחת הבדיקות עברה על קוד שגוי, האם היא חסרת ערך?</a:t>
            </a:r>
          </a:p>
          <a:p>
            <a:pPr rtl="1" algn="r" marL="0" indent="0">
              <a:buNone/>
            </a:pPr>
            <a:r>
              <a:rPr b="1" sz="1200" lang="he-IL"/>
              <a:t>תשובה</a:t>
            </a:r>
          </a:p>
          <a:p>
            <a:pPr rtl="1" algn="r" marL="0" indent="0">
              <a:buNone/>
            </a:pPr>
            <a:r>
              <a:rPr sz="1200" lang="he-IL"/>
              <a:t>•  לא, אבל היא לא תפסה את הבאג.</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a:t>
            </a:r>
          </a:p>
          <a:p>
            <a:pPr rtl="1" algn="r" marL="0" indent="0">
              <a:buNone/>
            </a:pPr>
            <a:r>
              <a:rPr b="1" sz="1200" lang="he-IL"/>
              <a:t>מה אומרים</a:t>
            </a:r>
          </a:p>
          <a:p>
            <a:pPr rtl="1" algn="r" marL="0" indent="0">
              <a:buNone/>
            </a:pPr>
            <a:r>
              <a:rPr sz="1200" lang="he-IL"/>
              <a:t>•  חלק ב׳: על הקוד הריק מופיע FFFFF, חמש כשלים, כולל בדיקות ה־ValueError, כי הפונקציה זורקת NotImplementedError ולא ValueError.</a:t>
            </a:r>
          </a:p>
          <a:p>
            <a:pPr rtl="1" algn="r" marL="0" indent="0">
              <a:buNone/>
            </a:pPr>
            <a:r>
              <a:rPr sz="1200" lang="he-IL"/>
              <a:t>•  אחרי המימוש: 5 passed, ותא הבדיקה מדפיס ✓ ובודק גם את בדיקות הייחוס של המורה.</a:t>
            </a:r>
          </a:p>
          <a:p>
            <a:pPr rtl="1" algn="r" marL="0" indent="0">
              <a:buNone/>
            </a:pPr>
            <a:r>
              <a:rPr sz="1200" lang="he-IL"/>
              <a:t>•  חלק ג׳, הרצה ראשונה של run_mutants על הבדיקות הרגילות: m1 עד m5 מסומנים CAUGHT, ו־m6 מסומן MISSED, ציון הרג 5 מתוך 6 (83%).</a:t>
            </a:r>
          </a:p>
          <a:p>
            <a:pPr rtl="1" algn="r" marL="0" indent="0">
              <a:buNone/>
            </a:pPr>
            <a:r>
              <a:rPr sz="1200" lang="he-IL"/>
              <a:t>•  זו ההפתעה המכוונת: test_negative_demand (ביקוש מינוס 5) עברה גם על m6, שהסיר את בדיקות הקלט, כי math.sqrt של מספר שלילי זורקת ValueError בעצמה.</a:t>
            </a:r>
          </a:p>
          <a:p>
            <a:pPr rtl="1" algn="r" marL="0" indent="0">
              <a:buNone/>
            </a:pPr>
            <a:r>
              <a:rPr sz="1200" lang="he-IL"/>
              <a:t>•  הבדיקה שתופסת את m6 צריכה ביקוש ועלות הזמנה שליליים יחד, calc_eoq(-5, -50, 2): המכפלה חיובית, ולכן רק בדיקת קלט מפורשת תזרוק שגיאה.</a:t>
            </a:r>
          </a:p>
          <a:p>
            <a:pPr rtl="1" algn="r" marL="0" indent="0">
              <a:buNone/>
            </a:pPr>
            <a:r>
              <a:rPr sz="1200" lang="he-IL"/>
              <a:t>•  אחרי הוספתה: ציון הרג 6 מתוך 6.</a:t>
            </a:r>
          </a:p>
          <a:p>
            <a:pPr rtl="1" algn="r" marL="0" indent="0">
              <a:buNone/>
            </a:pPr>
            <a:r>
              <a:rPr sz="1200" lang="he-IL"/>
              <a:t>•  חכו שהסטודנטים יגיעו להסבר לבד.</a:t>
            </a:r>
          </a:p>
          <a:p>
            <a:pPr rtl="1" algn="r" marL="0" indent="0">
              <a:buNone/>
            </a:pPr>
            <a:r>
              <a:rPr sz="1200" lang="he-IL"/>
              <a:t>•  אם בדיקה חדשה נכשלת על הקוד הנכון, run_mutants מדווח שהבדיקות לא עוברות על הקוד הנכון ואינו מודד: צריך לתקן קודם את הבדיקה.</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ג׳, כדקה.</a:t>
            </a:r>
          </a:p>
          <a:p>
            <a:pPr rtl="1" algn="r" marL="0" indent="0">
              <a:buNone/>
            </a:pPr>
            <a:r>
              <a:rPr b="1" sz="1200" lang="he-IL"/>
              <a:t>מה אומרים</a:t>
            </a:r>
          </a:p>
          <a:p>
            <a:pPr rtl="1" algn="r" marL="0" indent="0">
              <a:buNone/>
            </a:pPr>
            <a:r>
              <a:rPr sz="1200" lang="he-IL"/>
              <a:t>•  חלק ד׳: ai_tests.py, חמש בדיקות ש־AI כתב, עוברות כולן על הקוד הנכון, ובכל זאת run_mutants מדווח ציון הרג 2 מתוך 6: רק m2 ו־m4 נתפסים. find_weak_asserts מסמנת בדיוק חמש שורות (isinstance, &gt; 0, rel=0.5, is not None, raises(Exception)), ובבדיקות של הסטודנטים אין שורות חלשות.</a:t>
            </a:r>
          </a:p>
          <a:p>
            <a:pPr rtl="1" algn="r" marL="0" indent="0">
              <a:buNone/>
            </a:pPr>
            <a:r>
              <a:rPr sz="1200" lang="he-IL"/>
              <a:t>•  הצעד האמיתי עם הכלי: התוצאות משתנות מכלי לכלי, וכל תוצאה לגיטימית, כי נבדק שהתיעוד ב־real_log תואם למה שהודפס.</a:t>
            </a:r>
          </a:p>
          <a:p>
            <a:pPr rtl="1" algn="r" marL="0" indent="0">
              <a:buNone/>
            </a:pPr>
            <a:r>
              <a:rPr sz="1200" lang="he-IL"/>
              <a:t>•  חלק ה׳: changed_files מחזירה שלושה קבצים, removed_tests מחזירה test_eoq_typical, וההרצה מדפיסה lab_c/before: 4 passed ו־lab_c/after: 3 passed.</a:t>
            </a:r>
          </a:p>
          <a:p>
            <a:pPr rtl="1" algn="r" marL="0" indent="0">
              <a:buNone/>
            </a:pPr>
            <a:r>
              <a:rPr sz="1200" lang="he-IL"/>
              <a:t>•  בממצאים צריכים להיות לפחות חמישה מחמישה סוגים שונים (tests, unrequested, hardcoded, magic, residue, edge), כולל tests ו־unrequested, וההחלטה היא request_changes: ממזגים עם בדיקה שנמחקה ושינוי התנהגות שקט?</a:t>
            </a:r>
          </a:p>
          <a:p>
            <a:pPr rtl="1" algn="r" marL="0" indent="0">
              <a:buNone/>
            </a:pPr>
            <a:r>
              <a:rPr sz="1200" lang="he-IL"/>
              <a:t>•  לא.</a:t>
            </a:r>
          </a:p>
          <a:p>
            <a:pPr rtl="1" algn="r" marL="0" indent="0">
              <a:buNone/>
            </a:pPr>
            <a:r>
              <a:rPr sz="1200" lang="he-IL"/>
              <a:t>•  אם הסטודנטים כתבו merge, שאלו מה היה קורה לתוצאה של calc_eoq ברחבי הקוד.</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16 דקות</a:t>
            </a:r>
          </a:p>
          <a:p>
            <a:pPr rtl="1" algn="r" marL="0" indent="0">
              <a:buNone/>
            </a:pPr>
            <a:r>
              <a:rPr lang="he-IL"/>
              <a:t>מה אומרים</a:t>
            </a:r>
          </a:p>
          <a:p>
            <a:pPr rtl="1" algn="r" marL="0" indent="0">
              <a:buNone/>
            </a:pPr>
            <a:r>
              <a:rPr lang="he-IL"/>
              <a:t>• הקובץ לתרגול הזה: HM_08.ipynb. חלקים ב׳-ג׳: TDD ומוטנטים.</a:t>
            </a:r>
          </a:p>
          <a:p>
            <a:pPr rtl="1" algn="r" marL="0" indent="0">
              <a:buNone/>
            </a:pPr>
            <a:r>
              <a:rPr lang="he-IL"/>
              <a:t>• זה אותו קובץ HM_08.ipynb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HM_08.ipynb ל־Colab או ל־Drive, ולהחליף את ה־QR (מקום שמור) בקישור אמיתי.</a:t>
            </a:r>
          </a:p>
          <a:p>
            <a:pPr rtl="1" algn="r" marL="0" indent="0">
              <a:buNone/>
            </a:pPr>
            <a:r>
              <a:rPr lang="he-IL"/>
              <a:t>• להריץ Run all על HM_08_SOLUTION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14 דקות</a:t>
            </a:r>
          </a:p>
          <a:p>
            <a:pPr rtl="1" algn="r" marL="0" indent="0">
              <a:buNone/>
            </a:pPr>
            <a:r>
              <a:rPr lang="he-IL"/>
              <a:t>מה אומרים</a:t>
            </a:r>
          </a:p>
          <a:p>
            <a:pPr rtl="1" algn="r" marL="0" indent="0">
              <a:buNone/>
            </a:pPr>
            <a:r>
              <a:rPr lang="he-IL"/>
              <a:t>• הקובץ לתרגול הזה: HM_08.ipynb. חלקים ד׳-ו׳: בדיקות AI וסקירה.</a:t>
            </a:r>
          </a:p>
          <a:p>
            <a:pPr rtl="1" algn="r" marL="0" indent="0">
              <a:buNone/>
            </a:pPr>
            <a:r>
              <a:rPr lang="he-IL"/>
              <a:t>• זה אותו קובץ HM_08.ipynb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HM_08.ipynb ל־Colab או ל־Drive, ולהחליף את ה־QR (מקום שמור) בקישור אמיתי.</a:t>
            </a:r>
          </a:p>
          <a:p>
            <a:pPr rtl="1" algn="r" marL="0" indent="0">
              <a:buNone/>
            </a:pPr>
            <a:r>
              <a:rPr lang="he-IL"/>
              <a:t>• להריץ Run all על HM_08_SOLUTION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8</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1" i="0" lang="he-IL">
                <a:solidFill>
                  <a:srgbClr val="EA4335"/>
                </a:solidFill>
              </a:rPr>
              <a:t>"הקוד עובד, לא קיבלתי שגיאה."</a:t>
            </a:r>
          </a:p>
        </p:txBody>
      </p:sp>
      <p:sp>
        <p:nvSpPr>
          <p:cNvPr id="6" name="Rounded Rectangle 5"/>
          <p:cNvSpPr/>
          <p:nvPr/>
        </p:nvSpPr>
        <p:spPr>
          <a:xfrm>
            <a:off x="548640" y="2103120"/>
            <a:ext cx="4114800" cy="15544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7" name="Rectangle 6"/>
          <p:cNvSpPr/>
          <p:nvPr/>
        </p:nvSpPr>
        <p:spPr>
          <a:xfrm>
            <a:off x="548640" y="2103120"/>
            <a:ext cx="411480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8" name="TextBox 7"/>
          <p:cNvSpPr txBox="1"/>
          <p:nvPr/>
        </p:nvSpPr>
        <p:spPr>
          <a:xfrm>
            <a:off x="640080" y="2487168"/>
            <a:ext cx="3931920" cy="10972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&gt;&gt;&gt; calc_reorder_point(2, 7, 3)</a:t>
            </a:r>
          </a:p>
          <a:p>
            <a:pPr rtl="0" algn="l" marL="0" indent="0">
              <a:lnSpc>
                <a:spcPct val="114999"/>
              </a:lnSpc>
              <a:spcBef>
                <a:spcPts val="0"/>
              </a:spcBef>
              <a:spcAft>
                <a:spcPts val="0"/>
              </a:spcAft>
              <a:buNone/>
            </a:pPr>
            <a:r>
              <a:rPr sz="1400" b="0" i="0" lang="he-IL">
                <a:solidFill>
                  <a:srgbClr val="EEEEEE"/>
                </a:solidFill>
                <a:latin typeface="Courier New"/>
                <a:ea typeface="Courier New"/>
                <a:cs typeface="Courier New"/>
              </a:rPr>
              <a:t>17</a:t>
            </a:r>
          </a:p>
        </p:txBody>
      </p:sp>
      <p:sp>
        <p:nvSpPr>
          <p:cNvPr id="9" name="Rounded Rectangle 8"/>
          <p:cNvSpPr/>
          <p:nvPr/>
        </p:nvSpPr>
        <p:spPr>
          <a:xfrm>
            <a:off x="4846320" y="2103120"/>
            <a:ext cx="3749039" cy="15544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212121"/>
                </a:solidFill>
              </a:rPr>
              <a:t>לפי הנוסחה, התוצאה הנכונה:</a:t>
            </a:r>
          </a:p>
          <a:p>
            <a:pPr rtl="1" algn="ctr" marL="0" indent="0">
              <a:lnSpc>
                <a:spcPct val="105000"/>
              </a:lnSpc>
              <a:spcBef>
                <a:spcPts val="0"/>
              </a:spcBef>
              <a:spcAft>
                <a:spcPts val="0"/>
              </a:spcAft>
              <a:buNone/>
            </a:pPr>
            <a:r>
              <a:rPr sz="4000" b="1" i="0" lang="he-IL">
                <a:solidFill>
                  <a:srgbClr val="34A853"/>
                </a:solidFill>
              </a:rPr>
              <a:t>20</a:t>
            </a:r>
          </a:p>
        </p:txBody>
      </p:sp>
      <p:sp>
        <p:nvSpPr>
          <p:cNvPr id="10" name="TextBox 9"/>
          <p:cNvSpPr txBox="1"/>
          <p:nvPr/>
        </p:nvSpPr>
        <p:spPr>
          <a:xfrm>
            <a:off x="365760" y="3931920"/>
            <a:ext cx="841248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ביקוש 2, אספקה 7, ביטחון 3: הקוד רץ, אבל נותן 17 במקום 20.</a:t>
            </a:r>
          </a:p>
          <a:p>
            <a:pPr rtl="1" algn="ctr" marL="0" indent="0">
              <a:lnSpc>
                <a:spcPct val="110000"/>
              </a:lnSpc>
              <a:spcBef>
                <a:spcPts val="0"/>
              </a:spcBef>
              <a:spcAft>
                <a:spcPts val="0"/>
              </a:spcAft>
              <a:buNone/>
            </a:pPr>
            <a:r>
              <a:rPr sz="1800" b="0" i="0" lang="he-IL">
                <a:solidFill>
                  <a:srgbClr val="595959"/>
                </a:solidFill>
              </a:rPr>
              <a:t>אין שגיאה, אין אזהרה. רק הזמנה שמגיעה מאוחר מדי.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להסביר מהי בדיקה אוטומטית, להריץ pytest ולקרוא את התוצאה.</a:t>
            </a:r>
          </a:p>
        </p:txBody>
      </p:sp>
      <p:sp>
        <p:nvSpPr>
          <p:cNvPr id="7" name="Oval 6"/>
          <p:cNvSpPr/>
          <p:nvPr/>
        </p:nvSpPr>
        <p:spPr>
          <a:xfrm>
            <a:off x="8229600" y="219456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10312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לבנות מקרי בדיקה לפי חמש קטגוריות.</a:t>
            </a:r>
          </a:p>
        </p:txBody>
      </p:sp>
      <p:sp>
        <p:nvSpPr>
          <p:cNvPr id="9" name="Oval 8"/>
          <p:cNvSpPr/>
          <p:nvPr/>
        </p:nvSpPr>
        <p:spPr>
          <a:xfrm>
            <a:off x="8229600" y="292608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283464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להפעיל TDD עם AI, ולזהות מקרים שבהם ה־AI מרמה.</a:t>
            </a:r>
          </a:p>
        </p:txBody>
      </p:sp>
      <p:sp>
        <p:nvSpPr>
          <p:cNvPr id="11" name="Oval 10"/>
          <p:cNvSpPr/>
          <p:nvPr/>
        </p:nvSpPr>
        <p:spPr>
          <a:xfrm>
            <a:off x="8229600" y="36576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56616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לסקור קוד לפי רשימת תיוג ולהריץ כלי ניתוח אוטומטי.</a:t>
            </a:r>
          </a:p>
        </p:txBody>
      </p:sp>
      <p:sp>
        <p:nvSpPr>
          <p:cNvPr id="13" name="Oval 12"/>
          <p:cNvSpPr/>
          <p:nvPr/>
        </p:nvSpPr>
        <p:spPr>
          <a:xfrm>
            <a:off x="8229600" y="43891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5</a:t>
            </a:r>
          </a:p>
        </p:txBody>
      </p:sp>
      <p:sp>
        <p:nvSpPr>
          <p:cNvPr id="14" name="TextBox 13"/>
          <p:cNvSpPr txBox="1"/>
          <p:nvPr/>
        </p:nvSpPr>
        <p:spPr>
          <a:xfrm>
            <a:off x="365760" y="429768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לסקור שינוי של סוכן (diff) ולהחליט אם למזג.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984405" y="2011680"/>
            <a:ext cx="775545"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9׳</a:t>
            </a:r>
          </a:p>
        </p:txBody>
      </p:sp>
      <p:sp>
        <p:nvSpPr>
          <p:cNvPr id="6" name="Rounded Rectangle 5"/>
          <p:cNvSpPr/>
          <p:nvPr/>
        </p:nvSpPr>
        <p:spPr>
          <a:xfrm>
            <a:off x="6865179" y="2011680"/>
            <a:ext cx="108264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12׳</a:t>
            </a:r>
          </a:p>
        </p:txBody>
      </p:sp>
      <p:sp>
        <p:nvSpPr>
          <p:cNvPr id="7" name="Rounded Rectangle 6"/>
          <p:cNvSpPr/>
          <p:nvPr/>
        </p:nvSpPr>
        <p:spPr>
          <a:xfrm>
            <a:off x="5766602" y="2011680"/>
            <a:ext cx="1062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9׳</a:t>
            </a:r>
          </a:p>
        </p:txBody>
      </p:sp>
      <p:sp>
        <p:nvSpPr>
          <p:cNvPr id="8" name="Rounded Rectangle 7"/>
          <p:cNvSpPr/>
          <p:nvPr/>
        </p:nvSpPr>
        <p:spPr>
          <a:xfrm>
            <a:off x="4737597" y="2011680"/>
            <a:ext cx="992428"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11׳</a:t>
            </a:r>
          </a:p>
        </p:txBody>
      </p:sp>
      <p:sp>
        <p:nvSpPr>
          <p:cNvPr id="9" name="Rounded Rectangle 8"/>
          <p:cNvSpPr/>
          <p:nvPr/>
        </p:nvSpPr>
        <p:spPr>
          <a:xfrm>
            <a:off x="3390829" y="2011680"/>
            <a:ext cx="1310191"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16׳</a:t>
            </a:r>
          </a:p>
        </p:txBody>
      </p:sp>
      <p:sp>
        <p:nvSpPr>
          <p:cNvPr id="10" name="Rounded Rectangle 9"/>
          <p:cNvSpPr/>
          <p:nvPr/>
        </p:nvSpPr>
        <p:spPr>
          <a:xfrm>
            <a:off x="2542266" y="2011680"/>
            <a:ext cx="811986"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9׳</a:t>
            </a:r>
          </a:p>
        </p:txBody>
      </p:sp>
      <p:sp>
        <p:nvSpPr>
          <p:cNvPr id="11" name="Rounded Rectangle 10"/>
          <p:cNvSpPr/>
          <p:nvPr/>
        </p:nvSpPr>
        <p:spPr>
          <a:xfrm>
            <a:off x="1359272" y="2011680"/>
            <a:ext cx="1146417"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14׳</a:t>
            </a:r>
          </a:p>
        </p:txBody>
      </p:sp>
      <p:sp>
        <p:nvSpPr>
          <p:cNvPr id="12" name="Rounded Rectangle 11"/>
          <p:cNvSpPr/>
          <p:nvPr/>
        </p:nvSpPr>
        <p:spPr>
          <a:xfrm>
            <a:off x="384046" y="2011680"/>
            <a:ext cx="938649"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10׳</a:t>
            </a:r>
          </a:p>
        </p:txBody>
      </p:sp>
      <p:cxnSp>
        <p:nvCxnSpPr>
          <p:cNvPr id="13" name="Connector 12"/>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5" name="Rectangle 14"/>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6" name="TextBox 15"/>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7" name="Rectangle 16"/>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8" name="TextBox 17"/>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
        <p:nvSpPr>
          <p:cNvPr id="19" name="TextBox 15"/>
          <p:cNvSpPr txBox="1"/>
          <p:nvPr/>
        </p:nvSpPr>
        <p:spPr>
          <a:xfrm>
            <a:off x="360000" y="4500000"/>
            <a:ext cx="8424000" cy="432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אופציונלי: 6 שקפי העשרה ושקף מקורות אחרי מעבדה ג׳ (עד כ־10 דקות)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32000"/>
          <a:ext cx="8424000" cy="2952000"/>
        </p:xfrm>
        <a:graphic>
          <a:graphicData uri="http://schemas.openxmlformats.org/drawingml/2006/table">
            <a:tbl>
              <a:tblPr firstRow="0" bandRow="0">
                <a:tableStyleId>{2D5ABB26-0587-4C30-8999-92F81FD0307C}</a:tableStyleId>
              </a:tblPr>
              <a:tblGrid>
                <a:gridCol w="3524000"/>
                <a:gridCol w="3900000"/>
                <a:gridCol w="1000000"/>
              </a:tblGrid>
              <a:tr h="342000">
                <a:tc>
                  <a:txBody>
                    <a:bodyPr wrap="square"/>
                    <a:lstStyle/>
                    <a:p>
                      <a:pPr rtl="1" algn="ctr" marL="0" indent="0">
                        <a:lnSpc>
                          <a:spcPct val="100000"/>
                        </a:lnSpc>
                        <a:spcBef>
                          <a:spcPts val="0"/>
                        </a:spcBef>
                        <a:spcAft>
                          <a:spcPts val="0"/>
                        </a:spcAft>
                        <a:buNone/>
                      </a:pPr>
                      <a:r>
                        <a:rPr sz="14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22000">
                <a:tc>
                  <a:txBody>
                    <a:bodyPr wrap="square"/>
                    <a:lstStyle/>
                    <a:p>
                      <a:pPr rtl="1" algn="r" marL="0" indent="0">
                        <a:lnSpc>
                          <a:spcPct val="100000"/>
                        </a:lnSpc>
                        <a:spcBef>
                          <a:spcPts val="0"/>
                        </a:spcBef>
                        <a:spcAft>
                          <a:spcPts val="0"/>
                        </a:spcAft>
                        <a:buNone/>
                      </a:pPr>
                      <a:r>
                        <a:rPr sz="1400" b="0" i="0" lang="he-IL">
                          <a:solidFill>
                            <a:srgbClr val="212121"/>
                          </a:solidFill>
                        </a:rPr>
                        <a:t>קטגוריות: ריק או חסר, לא חוקי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סומכים אבל בודקים. מקרה קצה: רשימה ריקה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מפגש 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22000">
                <a:tc>
                  <a:txBody>
                    <a:bodyPr wrap="square"/>
                    <a:lstStyle/>
                    <a:p>
                      <a:pPr rtl="1" algn="r" marL="0" indent="0">
                        <a:lnSpc>
                          <a:spcPct val="100000"/>
                        </a:lnSpc>
                        <a:spcBef>
                          <a:spcPts val="0"/>
                        </a:spcBef>
                        <a:spcAft>
                          <a:spcPts val="0"/>
                        </a:spcAft>
                        <a:buNone/>
                      </a:pPr>
                      <a:r>
                        <a:rPr sz="1400" b="0" i="0" lang="he-IL">
                          <a:solidFill>
                            <a:srgbClr val="212121"/>
                          </a:solidFill>
                        </a:rPr>
                        <a:t>הפתיחה: 17 במקום 20 בלי שגיאה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הזיית התנהגות: הקוד רץ וההסבר שגוי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מפגש 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22000">
                <a:tc>
                  <a:txBody>
                    <a:bodyPr wrap="square"/>
                    <a:lstStyle/>
                    <a:p>
                      <a:pPr rtl="1" algn="r" marL="0" indent="0">
                        <a:lnSpc>
                          <a:spcPct val="100000"/>
                        </a:lnSpc>
                        <a:spcBef>
                          <a:spcPts val="0"/>
                        </a:spcBef>
                        <a:spcAft>
                          <a:spcPts val="0"/>
                        </a:spcAft>
                        <a:buNone/>
                      </a:pPr>
                      <a:r>
                        <a:rPr sz="1400" b="0" i="0" lang="he-IL">
                          <a:solidFill>
                            <a:srgbClr val="212121"/>
                          </a:solidFill>
                        </a:rPr>
                        <a:t>assert מול ציפייה ממפרט; real_log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בודקים מול ידוע (validate_top5), ורושמים AI_LOG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מפגש 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22000">
                <a:tc>
                  <a:txBody>
                    <a:bodyPr wrap="square"/>
                    <a:lstStyle/>
                    <a:p>
                      <a:pPr rtl="1" algn="r" marL="0" indent="0">
                        <a:lnSpc>
                          <a:spcPct val="100000"/>
                        </a:lnSpc>
                        <a:spcBef>
                          <a:spcPts val="0"/>
                        </a:spcBef>
                        <a:spcAft>
                          <a:spcPts val="0"/>
                        </a:spcAft>
                        <a:buNone/>
                      </a:pPr>
                      <a:r>
                        <a:rPr sz="1400" b="0" i="0" lang="he-IL">
                          <a:solidFill>
                            <a:srgbClr val="212121"/>
                          </a:solidFill>
                        </a:rPr>
                        <a:t>סקירת diff של סוכן, מעבדה 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commit לפני, diff אחרי; changed_files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מפגש 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22000">
                <a:tc>
                  <a:txBody>
                    <a:bodyPr wrap="square"/>
                    <a:lstStyle/>
                    <a:p>
                      <a:pPr rtl="1" algn="r" marL="0" indent="0">
                        <a:lnSpc>
                          <a:spcPct val="100000"/>
                        </a:lnSpc>
                        <a:spcBef>
                          <a:spcPts val="0"/>
                        </a:spcBef>
                        <a:spcAft>
                          <a:spcPts val="0"/>
                        </a:spcAft>
                        <a:buNone/>
                      </a:pPr>
                      <a:r>
                        <a:rPr sz="1400" b="1" i="0" lang="he-IL">
                          <a:solidFill>
                            <a:srgbClr val="212121"/>
                          </a:solidFill>
                        </a:rPr>
                        <a:t>מפרט הופך לבדיקות; מוטנטים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3E0"/>
                    </a:solidFill>
                  </a:tcPr>
                </a:tc>
                <a:tc>
                  <a:txBody>
                    <a:bodyPr wrap="square"/>
                    <a:lstStyle/>
                    <a:p>
                      <a:pPr rtl="1" algn="r" marL="0" indent="0">
                        <a:lnSpc>
                          <a:spcPct val="100000"/>
                        </a:lnSpc>
                        <a:spcBef>
                          <a:spcPts val="0"/>
                        </a:spcBef>
                        <a:spcAft>
                          <a:spcPts val="0"/>
                        </a:spcAft>
                        <a:buNone/>
                      </a:pPr>
                      <a:r>
                        <a:rPr sz="1400" b="1" i="0" lang="he-IL">
                          <a:solidFill>
                            <a:srgbClr val="212121"/>
                          </a:solidFill>
                        </a:rPr>
                        <a:t>החוזה קודם; בדיקה שנכשלת על גרסאות שגויות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3E0"/>
                    </a:solidFill>
                  </a:tcPr>
                </a:tc>
                <a:tc>
                  <a:txBody>
                    <a:bodyPr wrap="square"/>
                    <a:lstStyle/>
                    <a:p>
                      <a:pPr rtl="1" algn="r" marL="0" indent="0">
                        <a:lnSpc>
                          <a:spcPct val="100000"/>
                        </a:lnSpc>
                        <a:spcBef>
                          <a:spcPts val="0"/>
                        </a:spcBef>
                        <a:spcAft>
                          <a:spcPts val="0"/>
                        </a:spcAft>
                        <a:buNone/>
                      </a:pPr>
                      <a:r>
                        <a:rPr sz="1400" b="1" i="0" lang="he-IL">
                          <a:solidFill>
                            <a:srgbClr val="212121"/>
                          </a:solidFill>
                        </a:rPr>
                        <a:t>מפגש 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3E0"/>
                    </a:solidFill>
                  </a:tcPr>
                </a:tc>
              </a:tr>
            </a:tbl>
          </a:graphicData>
        </a:graphic>
      </p:graphicFrame>
      <p:sp>
        <p:nvSpPr>
          <p:cNvPr id="6" name="TextBox 5"/>
          <p:cNvSpPr txBox="1"/>
          <p:nvPr/>
        </p:nvSpPr>
        <p:spPr>
          <a:xfrm>
            <a:off x="365760" y="4374000"/>
            <a:ext cx="8412480" cy="684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בכל שורה אותו רעיון: בודקים לפני שסומכים.</a:t>
            </a:r>
          </a:p>
          <a:p>
            <a:pPr rtl="1" algn="ctr" marL="0" indent="0">
              <a:lnSpc>
                <a:spcPct val="110000"/>
              </a:lnSpc>
              <a:spcBef>
                <a:spcPts val="0"/>
              </a:spcBef>
              <a:spcAft>
                <a:spcPts val="0"/>
              </a:spcAft>
              <a:buNone/>
            </a:pPr>
            <a:r>
              <a:rPr sz="1600" b="1" i="0" lang="he-IL">
                <a:solidFill>
                  <a:srgbClr val="4285F4"/>
                </a:solidFill>
              </a:rPr>
              <a:t>השורה המודגשת היא המפגש הקודם. היום הרעיון הופך לבדיקות שרצות.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18288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בסוף מפגש 7</a:t>
            </a:r>
          </a:p>
          <a:p>
            <a:pPr rtl="1" algn="ctr" marL="0" indent="0">
              <a:lnSpc>
                <a:spcPct val="105000"/>
              </a:lnSpc>
              <a:spcBef>
                <a:spcPts val="0"/>
              </a:spcBef>
              <a:spcAft>
                <a:spcPts val="0"/>
              </a:spcAft>
              <a:buNone/>
            </a:pPr>
            <a:r>
              <a:rPr sz="3000" b="1" i="0" lang="he-IL">
                <a:solidFill>
                  <a:srgbClr val="34A853"/>
                </a:solidFill>
              </a:rPr>
              <a:t>זה עובד</a:t>
            </a:r>
          </a:p>
        </p:txBody>
      </p:sp>
      <p:sp>
        <p:nvSpPr>
          <p:cNvPr id="6" name="Rounded Rectangle 5"/>
          <p:cNvSpPr/>
          <p:nvPr/>
        </p:nvSpPr>
        <p:spPr>
          <a:xfrm>
            <a:off x="365760" y="1463040"/>
            <a:ext cx="4114800" cy="18288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היום, מפגש 8</a:t>
            </a:r>
          </a:p>
          <a:p>
            <a:pPr rtl="1" algn="ctr" marL="0" indent="0">
              <a:lnSpc>
                <a:spcPct val="105000"/>
              </a:lnSpc>
              <a:spcBef>
                <a:spcPts val="0"/>
              </a:spcBef>
              <a:spcAft>
                <a:spcPts val="0"/>
              </a:spcAft>
              <a:buNone/>
            </a:pPr>
            <a:r>
              <a:rPr sz="3000" b="1" i="0" lang="he-IL">
                <a:solidFill>
                  <a:srgbClr val="E65100"/>
                </a:solidFill>
              </a:rPr>
              <a:t>זה נכון?</a:t>
            </a:r>
          </a:p>
        </p:txBody>
      </p:sp>
      <p:cxnSp>
        <p:nvCxnSpPr>
          <p:cNvPr id="7" name="Connector 6"/>
          <p:cNvCxnSpPr/>
          <p:nvPr/>
        </p:nvCxnSpPr>
        <p:spPr>
          <a:xfrm flipH="1">
            <a:off x="4526280" y="2377440"/>
            <a:ext cx="914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5760" y="3566160"/>
            <a:ext cx="8412480" cy="1371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400" b="1" i="0" lang="he-IL">
                <a:solidFill>
                  <a:srgbClr val="EA4335"/>
                </a:solidFill>
              </a:rPr>
              <a:t>איך יודעים שקוד של AI נכון, ולא רק שהוא רץ?</a:t>
            </a:r>
          </a:p>
          <a:p>
            <a:pPr rtl="1" algn="ctr" marL="0" indent="0">
              <a:lnSpc>
                <a:spcPct val="110000"/>
              </a:lnSpc>
              <a:spcBef>
                <a:spcPts val="0"/>
              </a:spcBef>
              <a:spcAft>
                <a:spcPts val="0"/>
              </a:spcAft>
              <a:buNone/>
            </a:pPr>
            <a:r>
              <a:rPr sz="1800" b="0" i="0" lang="he-IL">
                <a:solidFill>
                  <a:srgbClr val="595959"/>
                </a:solidFill>
              </a:rPr>
              <a:t>נשאר פתוח ממפגש 7: איך כותבים בדיקות טובות, ומי מגדיר מה נכון? היום עונים.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למה בדיקות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רשת ביטחון</a:t>
            </a:r>
          </a:p>
        </p:txBody>
      </p:sp>
      <p:sp>
        <p:nvSpPr>
          <p:cNvPr id="8" name="TextBox 7"/>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משנים קוד, והבדיקות אומרות מיד אם משהו נשבר.</a:t>
            </a:r>
          </a:p>
        </p:txBody>
      </p:sp>
      <p:sp>
        <p:nvSpPr>
          <p:cNvPr id="9" name="Rounded Rectangle 8"/>
          <p:cNvSpPr/>
          <p:nvPr/>
        </p:nvSpPr>
        <p:spPr>
          <a:xfrm>
            <a:off x="3246120" y="1463040"/>
            <a:ext cx="2697480" cy="310896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מפרט שרץ</a:t>
            </a:r>
          </a:p>
        </p:txBody>
      </p:sp>
      <p:sp>
        <p:nvSpPr>
          <p:cNvPr id="12" name="TextBox 11"/>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הבדיקה מגדירה מה נחשב נכון, בצורה שאפשר להריץ.</a:t>
            </a:r>
          </a:p>
        </p:txBody>
      </p:sp>
      <p:sp>
        <p:nvSpPr>
          <p:cNvPr id="13" name="Rounded Rectangle 12"/>
          <p:cNvSpPr/>
          <p:nvPr/>
        </p:nvSpPr>
        <p:spPr>
          <a:xfrm>
            <a:off x="320039"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אמון ב־AI</a:t>
            </a:r>
          </a:p>
        </p:txBody>
      </p:sp>
      <p:sp>
        <p:nvSpPr>
          <p:cNvPr id="16" name="TextBox 15"/>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קוד ש־AI כתב מקבל אמון רק אחרי שעבר בדיקה.</a:t>
            </a:r>
          </a:p>
        </p:txBody>
      </p:sp>
      <p:sp>
        <p:nvSpPr>
          <p:cNvPr id="17" name="Link back"/>
          <p:cNvSpPr txBox="1"/>
          <p:nvPr/>
        </p:nvSpPr>
        <p:spPr>
          <a:xfrm>
            <a:off x="365760" y="4698000"/>
            <a:ext cx="8412480" cy="34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ממפגש 2: </a:t>
            </a:r>
            <a:r>
              <a:rPr sz="1600" b="0" i="0" lang="he-IL">
                <a:solidFill>
                  <a:srgbClr val="595959"/>
                </a:solidFill>
              </a:rPr>
              <a:t>לא ראיתם בתיעוד ולא הרצתם, לא סומכים. בדיקה היא ההרצה.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אנטומיית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17320"/>
            <a:ext cx="2697480" cy="10058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① הכנה</a:t>
            </a:r>
          </a:p>
          <a:p>
            <a:pPr rtl="1" algn="ctr" marL="0" indent="0">
              <a:lnSpc>
                <a:spcPct val="105000"/>
              </a:lnSpc>
              <a:spcBef>
                <a:spcPts val="0"/>
              </a:spcBef>
              <a:spcAft>
                <a:spcPts val="0"/>
              </a:spcAft>
              <a:buNone/>
            </a:pPr>
            <a:r>
              <a:rPr sz="1400" b="0" i="0" lang="he-IL">
                <a:solidFill>
                  <a:srgbClr val="595959"/>
                </a:solidFill>
              </a:rPr>
              <a:t>מכינים קלט</a:t>
            </a:r>
          </a:p>
        </p:txBody>
      </p:sp>
      <p:sp>
        <p:nvSpPr>
          <p:cNvPr id="6" name="Rounded Rectangle 5"/>
          <p:cNvSpPr/>
          <p:nvPr/>
        </p:nvSpPr>
        <p:spPr>
          <a:xfrm>
            <a:off x="3246120" y="1417320"/>
            <a:ext cx="2697480" cy="10058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② פעולה</a:t>
            </a:r>
          </a:p>
          <a:p>
            <a:pPr rtl="1" algn="ctr" marL="0" indent="0">
              <a:lnSpc>
                <a:spcPct val="105000"/>
              </a:lnSpc>
              <a:spcBef>
                <a:spcPts val="0"/>
              </a:spcBef>
              <a:spcAft>
                <a:spcPts val="0"/>
              </a:spcAft>
              <a:buNone/>
            </a:pPr>
            <a:r>
              <a:rPr sz="1400" b="0" i="0" lang="he-IL">
                <a:solidFill>
                  <a:srgbClr val="595959"/>
                </a:solidFill>
              </a:rPr>
              <a:t>מפעילים את הפונקציה</a:t>
            </a:r>
          </a:p>
        </p:txBody>
      </p:sp>
      <p:sp>
        <p:nvSpPr>
          <p:cNvPr id="7" name="Rounded Rectangle 6"/>
          <p:cNvSpPr/>
          <p:nvPr/>
        </p:nvSpPr>
        <p:spPr>
          <a:xfrm>
            <a:off x="320039" y="1417320"/>
            <a:ext cx="2697480" cy="10058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③ בדיקה</a:t>
            </a:r>
          </a:p>
          <a:p>
            <a:pPr rtl="1" algn="ctr" marL="0" indent="0">
              <a:lnSpc>
                <a:spcPct val="105000"/>
              </a:lnSpc>
              <a:spcBef>
                <a:spcPts val="0"/>
              </a:spcBef>
              <a:spcAft>
                <a:spcPts val="0"/>
              </a:spcAft>
              <a:buNone/>
            </a:pPr>
            <a:r>
              <a:rPr sz="1400" b="0" i="0" lang="he-IL">
                <a:solidFill>
                  <a:srgbClr val="595959"/>
                </a:solidFill>
              </a:rPr>
              <a:t>משווים לתוצאה הצפויה</a:t>
            </a:r>
          </a:p>
        </p:txBody>
      </p:sp>
      <p:sp>
        <p:nvSpPr>
          <p:cNvPr id="8" name="Rectangle 7"/>
          <p:cNvSpPr/>
          <p:nvPr/>
        </p:nvSpPr>
        <p:spPr>
          <a:xfrm>
            <a:off x="731520" y="2743200"/>
            <a:ext cx="7680960" cy="429768"/>
          </a:xfrm>
          <a:prstGeom prst="rect">
            <a:avLst/>
          </a:prstGeom>
          <a:solidFill>
            <a:srgbClr val="F7F7F7"/>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def test_basic():</a:t>
            </a:r>
          </a:p>
        </p:txBody>
      </p:sp>
      <p:sp>
        <p:nvSpPr>
          <p:cNvPr id="9" name="Rectangle 8"/>
          <p:cNvSpPr/>
          <p:nvPr/>
        </p:nvSpPr>
        <p:spPr>
          <a:xfrm>
            <a:off x="731520" y="3200400"/>
            <a:ext cx="7680960" cy="429768"/>
          </a:xfrm>
          <a:prstGeom prst="rect">
            <a:avLst/>
          </a:prstGeom>
          <a:solidFill>
            <a:srgbClr val="E3EEFF"/>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    demand, lead, safety = 2, 7, 3          # הכנה</a:t>
            </a:r>
          </a:p>
        </p:txBody>
      </p:sp>
      <p:sp>
        <p:nvSpPr>
          <p:cNvPr id="10" name="Rectangle 9"/>
          <p:cNvSpPr/>
          <p:nvPr/>
        </p:nvSpPr>
        <p:spPr>
          <a:xfrm>
            <a:off x="731520" y="3657600"/>
            <a:ext cx="7680960" cy="429768"/>
          </a:xfrm>
          <a:prstGeom prst="rect">
            <a:avLst/>
          </a:prstGeom>
          <a:solidFill>
            <a:srgbClr val="FFF0D9"/>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    result = calc_reorder_point(demand, lead, safety)   # פעולה</a:t>
            </a:r>
          </a:p>
        </p:txBody>
      </p:sp>
      <p:sp>
        <p:nvSpPr>
          <p:cNvPr id="11" name="Rectangle 10"/>
          <p:cNvSpPr/>
          <p:nvPr/>
        </p:nvSpPr>
        <p:spPr>
          <a:xfrm>
            <a:off x="731520" y="4114800"/>
            <a:ext cx="7680960" cy="42976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    assert result == 20                      # בדיקה</a:t>
            </a:r>
          </a:p>
        </p:txBody>
      </p:sp>
      <p:sp>
        <p:nvSpPr>
          <p:cNvPr id="12" name="Link back"/>
          <p:cNvSpPr txBox="1"/>
          <p:nvPr/>
        </p:nvSpPr>
        <p:spPr>
          <a:xfrm>
            <a:off x="365760" y="4572000"/>
            <a:ext cx="8412480" cy="34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ממפגש 5: </a:t>
            </a:r>
            <a:r>
              <a:rPr sz="1600" b="0" i="0" lang="he-IL">
                <a:solidFill>
                  <a:srgbClr val="595959"/>
                </a:solidFill>
              </a:rPr>
              <a:t>validate_top5 השווה לתוצאה ידועה. assert עושה זאת בקוד, בכל הרצה.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קוראים תוצאה של pytest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5029200" cy="29260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502920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4846320" cy="24688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300" b="0" i="0" lang="he-IL">
                <a:solidFill>
                  <a:srgbClr val="7CFC8A"/>
                </a:solidFill>
                <a:latin typeface="Courier New"/>
                <a:ea typeface="Courier New"/>
                <a:cs typeface="Courier New"/>
              </a:rPr>
              <a:t>$ python -m pytest -q</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FAILED test_basic</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assert 17 == 20</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FAILED test_zero_demand</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assert 3 == 0</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FAILED test_negative_demand</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DID NOT RAISE ValueError</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3 failed in 0.14s</a:t>
            </a:r>
          </a:p>
        </p:txBody>
      </p:sp>
      <p:sp>
        <p:nvSpPr>
          <p:cNvPr id="8" name="Rounded Rectangle 7"/>
          <p:cNvSpPr/>
          <p:nvPr/>
        </p:nvSpPr>
        <p:spPr>
          <a:xfrm>
            <a:off x="5577840" y="1417320"/>
            <a:ext cx="3200400" cy="86868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EA4335"/>
                </a:solidFill>
              </a:rPr>
              <a:t>assert 17 == 20</a:t>
            </a:r>
          </a:p>
          <a:p>
            <a:pPr rtl="1" algn="ctr" marL="0" indent="0">
              <a:lnSpc>
                <a:spcPct val="105000"/>
              </a:lnSpc>
              <a:spcBef>
                <a:spcPts val="0"/>
              </a:spcBef>
              <a:spcAft>
                <a:spcPts val="0"/>
              </a:spcAft>
              <a:buNone/>
            </a:pPr>
            <a:r>
              <a:rPr sz="1400" b="0" i="0" lang="he-IL">
                <a:solidFill>
                  <a:srgbClr val="212121"/>
                </a:solidFill>
              </a:rPr>
              <a:t>קיבלנו 17, ציפינו ל־20</a:t>
            </a:r>
          </a:p>
        </p:txBody>
      </p:sp>
      <p:sp>
        <p:nvSpPr>
          <p:cNvPr id="9" name="Rounded Rectangle 8"/>
          <p:cNvSpPr/>
          <p:nvPr/>
        </p:nvSpPr>
        <p:spPr>
          <a:xfrm>
            <a:off x="5577840" y="2423160"/>
            <a:ext cx="3200400" cy="86868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FFAB40"/>
                </a:solidFill>
              </a:rPr>
              <a:t>DID NOT RAISE</a:t>
            </a:r>
          </a:p>
          <a:p>
            <a:pPr rtl="1" algn="ctr" marL="0" indent="0">
              <a:lnSpc>
                <a:spcPct val="105000"/>
              </a:lnSpc>
              <a:spcBef>
                <a:spcPts val="0"/>
              </a:spcBef>
              <a:spcAft>
                <a:spcPts val="0"/>
              </a:spcAft>
              <a:buNone/>
            </a:pPr>
            <a:r>
              <a:rPr sz="1400" b="0" i="0" lang="he-IL">
                <a:solidFill>
                  <a:srgbClr val="212121"/>
                </a:solidFill>
              </a:rPr>
              <a:t>ציפינו לשגיאה ולא קיבלנו</a:t>
            </a:r>
          </a:p>
        </p:txBody>
      </p:sp>
      <p:sp>
        <p:nvSpPr>
          <p:cNvPr id="10" name="Rounded Rectangle 9"/>
          <p:cNvSpPr/>
          <p:nvPr/>
        </p:nvSpPr>
        <p:spPr>
          <a:xfrm>
            <a:off x="5577840" y="3429000"/>
            <a:ext cx="3200400" cy="86868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4285F4"/>
                </a:solidFill>
              </a:rPr>
              <a:t>3 failed</a:t>
            </a:r>
          </a:p>
          <a:p>
            <a:pPr rtl="1" algn="ctr" marL="0" indent="0">
              <a:lnSpc>
                <a:spcPct val="105000"/>
              </a:lnSpc>
              <a:spcBef>
                <a:spcPts val="0"/>
              </a:spcBef>
              <a:spcAft>
                <a:spcPts val="0"/>
              </a:spcAft>
              <a:buNone/>
            </a:pPr>
            <a:r>
              <a:rPr sz="1400" b="0" i="0" lang="he-IL">
                <a:solidFill>
                  <a:srgbClr val="212121"/>
                </a:solidFill>
              </a:rPr>
              <a:t>סיכום: כמה נכשלו</a:t>
            </a:r>
          </a:p>
        </p:txBody>
      </p:sp>
      <p:sp>
        <p:nvSpPr>
          <p:cNvPr id="11" name="TextBox 10"/>
          <p:cNvSpPr txBox="1"/>
          <p:nvPr/>
        </p:nvSpPr>
        <p:spPr>
          <a:xfrm>
            <a:off x="365760" y="448056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כשבדיקה נכשלת: יכול להיות שהקוד שגוי, ויכול להיות שהבדיקה שגויה. בודקים מול המפרט.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נקודת הזמנה מחדש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cxnSp>
        <p:nvCxnSpPr>
          <p:cNvPr id="5" name="Connector 4"/>
          <p:cNvCxnSpPr/>
          <p:nvPr/>
        </p:nvCxnSpPr>
        <p:spPr>
          <a:xfrm flipH="1">
            <a:off x="457200" y="4160520"/>
            <a:ext cx="7772400" cy="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229600" y="1463040"/>
            <a:ext cx="0" cy="26974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5212080" y="1737360"/>
            <a:ext cx="2743199" cy="1920240"/>
          </a:xfrm>
          <a:prstGeom prst="line">
            <a:avLst/>
          </a:prstGeom>
          <a:ln w="44450">
            <a:solidFill>
              <a:srgbClr val="4285F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468880" y="1737360"/>
            <a:ext cx="2743200" cy="1920240"/>
          </a:xfrm>
          <a:prstGeom prst="line">
            <a:avLst/>
          </a:prstGeom>
          <a:ln w="44450">
            <a:solidFill>
              <a:srgbClr val="4285F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212080" y="1737360"/>
            <a:ext cx="0" cy="1920240"/>
          </a:xfrm>
          <a:prstGeom prst="line">
            <a:avLst/>
          </a:prstGeom>
          <a:ln w="19050">
            <a:solidFill>
              <a:srgbClr val="78909C"/>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14400" y="2971800"/>
            <a:ext cx="7040879" cy="0"/>
          </a:xfrm>
          <a:prstGeom prst="line">
            <a:avLst/>
          </a:prstGeom>
          <a:ln w="31750">
            <a:solidFill>
              <a:srgbClr val="EA4335"/>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2606040"/>
            <a:ext cx="210312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EA4335"/>
                </a:solidFill>
              </a:rPr>
              <a:t>נקודת הזמנה</a:t>
            </a:r>
          </a:p>
        </p:txBody>
      </p:sp>
      <p:sp>
        <p:nvSpPr>
          <p:cNvPr id="12" name="TextBox 11"/>
          <p:cNvSpPr txBox="1"/>
          <p:nvPr/>
        </p:nvSpPr>
        <p:spPr>
          <a:xfrm>
            <a:off x="5577840" y="1371600"/>
            <a:ext cx="265176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1" i="0" lang="he-IL">
                <a:solidFill>
                  <a:srgbClr val="4285F4"/>
                </a:solidFill>
              </a:rPr>
              <a:t>המלאי יורד</a:t>
            </a:r>
          </a:p>
        </p:txBody>
      </p:sp>
      <p:sp>
        <p:nvSpPr>
          <p:cNvPr id="13" name="TextBox 12"/>
          <p:cNvSpPr txBox="1"/>
          <p:nvPr/>
        </p:nvSpPr>
        <p:spPr>
          <a:xfrm>
            <a:off x="6309360" y="3017520"/>
            <a:ext cx="192024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1" i="0" lang="he-IL">
                <a:solidFill>
                  <a:srgbClr val="EA4335"/>
                </a:solidFill>
              </a:rPr>
              <a:t>↑ מזמינים כאן</a:t>
            </a:r>
          </a:p>
        </p:txBody>
      </p:sp>
      <p:sp>
        <p:nvSpPr>
          <p:cNvPr id="14" name="TextBox 13"/>
          <p:cNvSpPr txBox="1"/>
          <p:nvPr/>
        </p:nvSpPr>
        <p:spPr>
          <a:xfrm>
            <a:off x="4069080" y="3730752"/>
            <a:ext cx="228600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0" i="0" lang="he-IL">
                <a:solidFill>
                  <a:srgbClr val="595959"/>
                </a:solidFill>
              </a:rPr>
              <a:t>ההזמנה מגיעה</a:t>
            </a:r>
          </a:p>
        </p:txBody>
      </p:sp>
      <p:sp>
        <p:nvSpPr>
          <p:cNvPr id="15" name="TextBox 14"/>
          <p:cNvSpPr txBox="1"/>
          <p:nvPr/>
        </p:nvSpPr>
        <p:spPr>
          <a:xfrm>
            <a:off x="365760" y="3794760"/>
            <a:ext cx="10972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0" i="0" lang="he-IL">
                <a:solidFill>
                  <a:srgbClr val="595959"/>
                </a:solidFill>
              </a:rPr>
              <a:t>זמן</a:t>
            </a:r>
          </a:p>
        </p:txBody>
      </p:sp>
      <p:sp>
        <p:nvSpPr>
          <p:cNvPr id="16" name="TextBox 15"/>
          <p:cNvSpPr txBox="1"/>
          <p:nvPr/>
        </p:nvSpPr>
        <p:spPr>
          <a:xfrm>
            <a:off x="7315200" y="1371600"/>
            <a:ext cx="91440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300" b="0" i="0" lang="he-IL">
                <a:solidFill>
                  <a:srgbClr val="595959"/>
                </a:solidFill>
              </a:rPr>
              <a:t>מלאי</a:t>
            </a:r>
          </a:p>
        </p:txBody>
      </p:sp>
      <p:sp>
        <p:nvSpPr>
          <p:cNvPr id="17" name="Rounded Rectangle 16"/>
          <p:cNvSpPr/>
          <p:nvPr/>
        </p:nvSpPr>
        <p:spPr>
          <a:xfrm>
            <a:off x="4023360" y="4297680"/>
            <a:ext cx="4297680" cy="6400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נקודת הזמנה = ביקוש יומי × (זמן אספקה + ימי ביטחון)</a:t>
            </a:r>
          </a:p>
        </p:txBody>
      </p:sp>
      <p:sp>
        <p:nvSpPr>
          <p:cNvPr id="18" name="Rounded Rectangle 17"/>
          <p:cNvSpPr/>
          <p:nvPr/>
        </p:nvSpPr>
        <p:spPr>
          <a:xfrm>
            <a:off x="365760" y="4297680"/>
            <a:ext cx="3474720" cy="6400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500" b="1" i="0" lang="he-IL">
                <a:solidFill>
                  <a:srgbClr val="212121"/>
                </a:solidFill>
              </a:rPr>
              <a:t>EOQ = √(2 × D × S / 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חמש קטגוריות של מקרים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223760" y="1554480"/>
            <a:ext cx="1600200" cy="265176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רגיל</a:t>
            </a:r>
          </a:p>
          <a:p>
            <a:pPr rtl="1" algn="ctr" marL="0" indent="0">
              <a:lnSpc>
                <a:spcPct val="105000"/>
              </a:lnSpc>
              <a:spcBef>
                <a:spcPts val="0"/>
              </a:spcBef>
              <a:spcAft>
                <a:spcPts val="0"/>
              </a:spcAft>
              <a:buNone/>
            </a:pPr>
            <a:r>
              <a:rPr sz="1300" b="0" i="0" lang="he-IL">
                <a:solidFill>
                  <a:srgbClr val="595959"/>
                </a:solidFill>
              </a:rPr>
              <a:t>‪(2, 7, 3)‬ ← 20</a:t>
            </a:r>
          </a:p>
        </p:txBody>
      </p:sp>
      <p:sp>
        <p:nvSpPr>
          <p:cNvPr id="6" name="Oval 5"/>
          <p:cNvSpPr/>
          <p:nvPr/>
        </p:nvSpPr>
        <p:spPr>
          <a:xfrm>
            <a:off x="7818120" y="13716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1</a:t>
            </a:r>
          </a:p>
        </p:txBody>
      </p:sp>
      <p:sp>
        <p:nvSpPr>
          <p:cNvPr id="7" name="Rounded Rectangle 6"/>
          <p:cNvSpPr/>
          <p:nvPr/>
        </p:nvSpPr>
        <p:spPr>
          <a:xfrm>
            <a:off x="5486400" y="1554480"/>
            <a:ext cx="1600200" cy="265176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גבול</a:t>
            </a:r>
          </a:p>
          <a:p>
            <a:pPr rtl="1" algn="ctr" marL="0" indent="0">
              <a:lnSpc>
                <a:spcPct val="105000"/>
              </a:lnSpc>
              <a:spcBef>
                <a:spcPts val="0"/>
              </a:spcBef>
              <a:spcAft>
                <a:spcPts val="0"/>
              </a:spcAft>
              <a:buNone/>
            </a:pPr>
            <a:r>
              <a:rPr sz="1300" b="0" i="0" lang="he-IL">
                <a:solidFill>
                  <a:srgbClr val="595959"/>
                </a:solidFill>
              </a:rPr>
              <a:t>ביקוש 0 ← 0</a:t>
            </a:r>
          </a:p>
        </p:txBody>
      </p:sp>
      <p:sp>
        <p:nvSpPr>
          <p:cNvPr id="8" name="Oval 7"/>
          <p:cNvSpPr/>
          <p:nvPr/>
        </p:nvSpPr>
        <p:spPr>
          <a:xfrm>
            <a:off x="6080760" y="13716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2</a:t>
            </a:r>
          </a:p>
        </p:txBody>
      </p:sp>
      <p:sp>
        <p:nvSpPr>
          <p:cNvPr id="9" name="Rounded Rectangle 8"/>
          <p:cNvSpPr/>
          <p:nvPr/>
        </p:nvSpPr>
        <p:spPr>
          <a:xfrm>
            <a:off x="3749040" y="1554480"/>
            <a:ext cx="1600200" cy="26517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ריק או חסר</a:t>
            </a:r>
          </a:p>
          <a:p>
            <a:pPr rtl="1" algn="ctr" marL="0" indent="0">
              <a:lnSpc>
                <a:spcPct val="105000"/>
              </a:lnSpc>
              <a:spcBef>
                <a:spcPts val="0"/>
              </a:spcBef>
              <a:spcAft>
                <a:spcPts val="0"/>
              </a:spcAft>
              <a:buNone/>
            </a:pPr>
            <a:r>
              <a:rPr sz="1300" b="0" i="0" lang="he-IL">
                <a:solidFill>
                  <a:srgbClr val="595959"/>
                </a:solidFill>
              </a:rPr>
              <a:t>None או טקסט במקום מספר</a:t>
            </a:r>
          </a:p>
        </p:txBody>
      </p:sp>
      <p:sp>
        <p:nvSpPr>
          <p:cNvPr id="10" name="Oval 9"/>
          <p:cNvSpPr/>
          <p:nvPr/>
        </p:nvSpPr>
        <p:spPr>
          <a:xfrm>
            <a:off x="4343400" y="1371600"/>
            <a:ext cx="384048" cy="384048"/>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3</a:t>
            </a:r>
          </a:p>
        </p:txBody>
      </p:sp>
      <p:sp>
        <p:nvSpPr>
          <p:cNvPr id="11" name="Rounded Rectangle 10"/>
          <p:cNvSpPr/>
          <p:nvPr/>
        </p:nvSpPr>
        <p:spPr>
          <a:xfrm>
            <a:off x="2011680" y="1554480"/>
            <a:ext cx="1600200" cy="26517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לא חוקי</a:t>
            </a:r>
          </a:p>
          <a:p>
            <a:pPr rtl="1" algn="ctr" marL="0" indent="0">
              <a:lnSpc>
                <a:spcPct val="105000"/>
              </a:lnSpc>
              <a:spcBef>
                <a:spcPts val="0"/>
              </a:spcBef>
              <a:spcAft>
                <a:spcPts val="0"/>
              </a:spcAft>
              <a:buNone/>
            </a:pPr>
            <a:r>
              <a:rPr sz="1300" b="0" i="0" lang="he-IL">
                <a:solidFill>
                  <a:srgbClr val="595959"/>
                </a:solidFill>
              </a:rPr>
              <a:t>ביקוש −1 ← שגיאה</a:t>
            </a:r>
          </a:p>
        </p:txBody>
      </p:sp>
      <p:sp>
        <p:nvSpPr>
          <p:cNvPr id="12" name="Oval 11"/>
          <p:cNvSpPr/>
          <p:nvPr/>
        </p:nvSpPr>
        <p:spPr>
          <a:xfrm>
            <a:off x="2606040" y="1371600"/>
            <a:ext cx="384048" cy="384048"/>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4</a:t>
            </a:r>
          </a:p>
        </p:txBody>
      </p:sp>
      <p:sp>
        <p:nvSpPr>
          <p:cNvPr id="13" name="Rounded Rectangle 12"/>
          <p:cNvSpPr/>
          <p:nvPr/>
        </p:nvSpPr>
        <p:spPr>
          <a:xfrm>
            <a:off x="274320" y="1554480"/>
            <a:ext cx="1600200" cy="26517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כלל עסקי</a:t>
            </a:r>
          </a:p>
          <a:p>
            <a:pPr rtl="1" algn="ctr" marL="0" indent="0">
              <a:lnSpc>
                <a:spcPct val="105000"/>
              </a:lnSpc>
              <a:spcBef>
                <a:spcPts val="0"/>
              </a:spcBef>
              <a:spcAft>
                <a:spcPts val="0"/>
              </a:spcAft>
              <a:buNone/>
            </a:pPr>
            <a:r>
              <a:rPr sz="1300" b="0" i="0" lang="he-IL">
                <a:solidFill>
                  <a:srgbClr val="595959"/>
                </a:solidFill>
              </a:rPr>
              <a:t>ימי ביטחון ברירת מחדל 3</a:t>
            </a:r>
          </a:p>
        </p:txBody>
      </p:sp>
      <p:sp>
        <p:nvSpPr>
          <p:cNvPr id="14" name="Oval 13"/>
          <p:cNvSpPr/>
          <p:nvPr/>
        </p:nvSpPr>
        <p:spPr>
          <a:xfrm>
            <a:off x="868680" y="13716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5</a:t>
            </a:r>
          </a:p>
        </p:txBody>
      </p:sp>
      <p:sp>
        <p:nvSpPr>
          <p:cNvPr id="15" name="TextBox 14"/>
          <p:cNvSpPr txBox="1"/>
          <p:nvPr/>
        </p:nvSpPr>
        <p:spPr>
          <a:xfrm>
            <a:off x="365760" y="443484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212121"/>
                </a:solidFill>
              </a:rPr>
              <a:t>לכל פונקציה שואלים חמש שאלות, ובודקים לפחות מקרה אחד מכל סוג.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טעות נפוצה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EA4335"/>
                </a:solidFill>
              </a:rPr>
              <a:t>"כל הבדיקות עברו, אז הקוד נכון."</a:t>
            </a:r>
          </a:p>
        </p:txBody>
      </p:sp>
      <p:sp>
        <p:nvSpPr>
          <p:cNvPr id="6" name="Rounded Rectangle 5"/>
          <p:cNvSpPr/>
          <p:nvPr/>
        </p:nvSpPr>
        <p:spPr>
          <a:xfrm>
            <a:off x="4754880" y="2286000"/>
            <a:ext cx="402336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600" b="0" i="0" lang="he-IL">
                <a:solidFill>
                  <a:srgbClr val="212121"/>
                </a:solidFill>
              </a:rPr>
              <a:t>בדיקה אחת בלבד:</a:t>
            </a:r>
          </a:p>
          <a:p>
            <a:pPr rtl="0" algn="ctr" marL="0" indent="0">
              <a:lnSpc>
                <a:spcPct val="105000"/>
              </a:lnSpc>
              <a:spcBef>
                <a:spcPts val="0"/>
              </a:spcBef>
              <a:spcAft>
                <a:spcPts val="0"/>
              </a:spcAft>
              <a:buNone/>
            </a:pPr>
            <a:r>
              <a:rPr sz="1700" b="1" i="0" lang="he-IL">
                <a:solidFill>
                  <a:srgbClr val="212121"/>
                </a:solidFill>
              </a:rPr>
              <a:t>assert f(2, 7, 3) == 17</a:t>
            </a:r>
          </a:p>
        </p:txBody>
      </p:sp>
      <p:sp>
        <p:nvSpPr>
          <p:cNvPr id="7" name="Rounded Rectangle 6"/>
          <p:cNvSpPr/>
          <p:nvPr/>
        </p:nvSpPr>
        <p:spPr>
          <a:xfrm>
            <a:off x="365760" y="2286000"/>
            <a:ext cx="42062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 1 passed‬</a:t>
            </a:r>
          </a:p>
          <a:p>
            <a:pPr rtl="1" algn="ctr" marL="0" indent="0">
              <a:lnSpc>
                <a:spcPct val="105000"/>
              </a:lnSpc>
              <a:spcBef>
                <a:spcPts val="0"/>
              </a:spcBef>
              <a:spcAft>
                <a:spcPts val="0"/>
              </a:spcAft>
              <a:buNone/>
            </a:pPr>
            <a:r>
              <a:rPr sz="1500" b="0" i="0" lang="he-IL">
                <a:solidFill>
                  <a:srgbClr val="EA4335"/>
                </a:solidFill>
              </a:rPr>
              <a:t>אבל הציפייה עצמה שגויה (צריך 20)</a:t>
            </a:r>
          </a:p>
        </p:txBody>
      </p:sp>
      <p:sp>
        <p:nvSpPr>
          <p:cNvPr id="8" name="TextBox 7"/>
          <p:cNvSpPr txBox="1"/>
          <p:nvPr/>
        </p:nvSpPr>
        <p:spPr>
          <a:xfrm>
            <a:off x="365760" y="393192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בדיקה טובה רק כמו המקרים והציפיות שבה. את הציפייה הנכונה מגדיר אדם, ממפרט.</a:t>
            </a:r>
          </a:p>
        </p:txBody>
      </p:sp>
      <p:sp>
        <p:nvSpPr>
          <p:cNvPr id="9" name="Link back"/>
          <p:cNvSpPr txBox="1"/>
          <p:nvPr/>
        </p:nvSpPr>
        <p:spPr>
          <a:xfrm>
            <a:off x="365760" y="4464000"/>
            <a:ext cx="8412480" cy="34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ממפגש 2: </a:t>
            </a:r>
            <a:r>
              <a:rPr sz="1600" b="0" i="0" lang="he-IL">
                <a:solidFill>
                  <a:srgbClr val="595959"/>
                </a:solidFill>
              </a:rPr>
              <a:t>גם ״נשמע בטוח״ וגם ״ירוק״ אינם הוכחה. מוכיחים מול ציפייה ממפרט.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ה־AI כתב קוד ואחר כך בדיקות עבורו, והכל ירוק. למה זה עדיין לא מספיק?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ה־AI כתב קוד ואחר כך בדיקות עבורו, והכל ירוק. למה זה עדיין לא מספיק?</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הבדיקות עשויות לאשר מה שהקוד עושה, ולא מה שהוא צריך לעשות.</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את הציפיות הנכונות מגדיר אדם, ממפרט או מנוסחה.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HM_08.ipynb. חלק א׳: בדיקות ל־reorder.</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HM_08.ipynb. חלק א׳: בדיקות ל־reorder</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ל־HM_08.ipynb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א׳ : בודקים קוד שנראה תקין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בדיקות ממפרט (כמו החוזה, מפגש 7) שמגלות את הבאג, ותיקון.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בדיקה מעגלית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ציפייה 17 שהועתקה מהקוד: pytest ירוק, והקוד שגוי</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חמש בדיקות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test_reorder.py: אחת מכל קטגוריה, ממפרט ולא מהקוד</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מתקנים את הקוד</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calc_reorder_point: קלט שלילי, והנוסחה עם הסוגריים</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אחד מקליד, אחד מנחה, ומחליפים באמצע. כותבים תחזית לפני כל הרצה.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או בדיקה היא 2 עד 6 שורות. בלי כלי AI, חוץ מהצעד שמסומן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 במונחי ההרצאה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שכל השורות בבדיקה המסכמת מסומנות ✓, והורידו את הקובץ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א׳ : קוראים את הקוד והמפרט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Rectangle 5"/>
          <p:cNvSpPr/>
          <p:nvPr/>
        </p:nvSpPr>
        <p:spPr>
          <a:xfrm>
            <a:off x="365760" y="1371600"/>
            <a:ext cx="8412480" cy="210312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def calc_reorder_point(demand, lead_time, safety=3):</a:t>
            </a:r>
          </a:p>
          <a:p>
            <a:pPr rtl="0" algn="l" marL="0" indent="0">
              <a:lnSpc>
                <a:spcPct val="105000"/>
              </a:lnSpc>
              <a:spcBef>
                <a:spcPts val="0"/>
              </a:spcBef>
              <a:spcAft>
                <a:spcPts val="0"/>
              </a:spcAft>
              <a:buNone/>
            </a:pPr>
            <a:r>
              <a:rPr sz="1400" b="0" i="0" lang="he-IL">
                <a:solidFill>
                  <a:srgbClr val="212121"/>
                </a:solidFill>
                <a:latin typeface="Courier New"/>
              </a:rPr>
              <a:t>    """Reorder point = daily demand * (lead time + safety days)</a:t>
            </a:r>
          </a:p>
          <a:p>
            <a:pPr rtl="0" algn="l" marL="0" indent="0">
              <a:lnSpc>
                <a:spcPct val="105000"/>
              </a:lnSpc>
              <a:spcBef>
                <a:spcPts val="0"/>
              </a:spcBef>
              <a:spcAft>
                <a:spcPts val="0"/>
              </a:spcAft>
              <a:buNone/>
            </a:pPr>
            <a:r>
              <a:rPr sz="1400" b="0" i="0" lang="he-IL">
                <a:solidFill>
                  <a:srgbClr val="212121"/>
                </a:solidFill>
                <a:latin typeface="Courier New"/>
              </a:rPr>
              <a:t>    Negative inputs must raise ValueError."""</a:t>
            </a:r>
          </a:p>
          <a:p>
            <a:pPr rtl="0" algn="l" marL="0" indent="0">
              <a:lnSpc>
                <a:spcPct val="105000"/>
              </a:lnSpc>
              <a:spcBef>
                <a:spcPts val="0"/>
              </a:spcBef>
              <a:spcAft>
                <a:spcPts val="0"/>
              </a:spcAft>
              <a:buNone/>
            </a:pPr>
            <a:r>
              <a:rPr sz="1400" b="0" i="0" lang="he-IL">
                <a:solidFill>
                  <a:srgbClr val="212121"/>
                </a:solidFill>
                <a:latin typeface="Courier New"/>
              </a:rPr>
              <a:t>    return demand * lead_time + safety</a:t>
            </a:r>
          </a:p>
        </p:txBody>
      </p:sp>
      <p:sp>
        <p:nvSpPr>
          <p:cNvPr id="7" name="Rounded Rectangle 6"/>
          <p:cNvSpPr/>
          <p:nvPr/>
        </p:nvSpPr>
        <p:spPr>
          <a:xfrm>
            <a:off x="365760" y="3703320"/>
            <a:ext cx="841248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לפני שמריצים: האם השורה האחרונה תואמת את המפרט?</a:t>
            </a:r>
          </a:p>
          <a:p>
            <a:pPr rtl="1" algn="ctr" marL="0" indent="0">
              <a:lnSpc>
                <a:spcPct val="105000"/>
              </a:lnSpc>
              <a:spcBef>
                <a:spcPts val="0"/>
              </a:spcBef>
              <a:spcAft>
                <a:spcPts val="0"/>
              </a:spcAft>
              <a:buNone/>
            </a:pPr>
            <a:r>
              <a:rPr sz="1600" b="0" i="0" lang="he-IL">
                <a:solidFill>
                  <a:srgbClr val="595959"/>
                </a:solidFill>
              </a:rPr>
              <a:t>רשמו את התחזית שלכם במחברת.</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א׳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הבדיקה המעגלית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הקוד נותן 17, והבדיקה שציפתה ל־17 עוברת. ירוק, והקוד שגוי</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חמש בדיקות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4 נכשלו, ואחת עברה: הבדיקה של ריק או חסר</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אחרי התיקון</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חמש הבדיקות עוברות, ותא הבדיקה מדפיס ✓ על התיקון</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הכלל: ירוק אומר שהקוד עושה מה שהבדיקה מצפה, לא שהוא נכון. הציפייה מגיעה ממפרט.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TDD: אדום, ירוק, שיפור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200400" y="1371600"/>
            <a:ext cx="2743200" cy="118872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212121"/>
                </a:solidFill>
              </a:rPr>
              <a:t>1  אדום</a:t>
            </a:r>
          </a:p>
          <a:p>
            <a:pPr rtl="1" algn="ctr" marL="0" indent="0">
              <a:lnSpc>
                <a:spcPct val="105000"/>
              </a:lnSpc>
              <a:spcBef>
                <a:spcPts val="0"/>
              </a:spcBef>
              <a:spcAft>
                <a:spcPts val="0"/>
              </a:spcAft>
              <a:buNone/>
            </a:pPr>
            <a:r>
              <a:rPr sz="1400" b="0" i="0" lang="he-IL">
                <a:solidFill>
                  <a:srgbClr val="595959"/>
                </a:solidFill>
              </a:rPr>
              <a:t>כותבים בדיקה, והיא נכשלת</a:t>
            </a:r>
          </a:p>
        </p:txBody>
      </p:sp>
      <p:sp>
        <p:nvSpPr>
          <p:cNvPr id="6" name="Rounded Rectangle 5"/>
          <p:cNvSpPr/>
          <p:nvPr/>
        </p:nvSpPr>
        <p:spPr>
          <a:xfrm>
            <a:off x="6035040" y="3108960"/>
            <a:ext cx="2743200" cy="118872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212121"/>
                </a:solidFill>
              </a:rPr>
              <a:t>2  ירוק</a:t>
            </a:r>
          </a:p>
          <a:p>
            <a:pPr rtl="1" algn="ctr" marL="0" indent="0">
              <a:lnSpc>
                <a:spcPct val="105000"/>
              </a:lnSpc>
              <a:spcBef>
                <a:spcPts val="0"/>
              </a:spcBef>
              <a:spcAft>
                <a:spcPts val="0"/>
              </a:spcAft>
              <a:buNone/>
            </a:pPr>
            <a:r>
              <a:rPr sz="1400" b="0" i="0" lang="he-IL">
                <a:solidFill>
                  <a:srgbClr val="595959"/>
                </a:solidFill>
              </a:rPr>
              <a:t>ממשים את המינימום שעובר</a:t>
            </a:r>
          </a:p>
        </p:txBody>
      </p:sp>
      <p:sp>
        <p:nvSpPr>
          <p:cNvPr id="7" name="Rounded Rectangle 6"/>
          <p:cNvSpPr/>
          <p:nvPr/>
        </p:nvSpPr>
        <p:spPr>
          <a:xfrm>
            <a:off x="365760" y="3108960"/>
            <a:ext cx="2743200" cy="118872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212121"/>
                </a:solidFill>
              </a:rPr>
              <a:t>3  שיפור</a:t>
            </a:r>
          </a:p>
          <a:p>
            <a:pPr rtl="1" algn="ctr" marL="0" indent="0">
              <a:lnSpc>
                <a:spcPct val="105000"/>
              </a:lnSpc>
              <a:spcBef>
                <a:spcPts val="0"/>
              </a:spcBef>
              <a:spcAft>
                <a:spcPts val="0"/>
              </a:spcAft>
              <a:buNone/>
            </a:pPr>
            <a:r>
              <a:rPr sz="1400" b="0" i="0" lang="he-IL">
                <a:solidFill>
                  <a:srgbClr val="595959"/>
                </a:solidFill>
              </a:rPr>
              <a:t>מסדרים בלי לשבור</a:t>
            </a:r>
          </a:p>
        </p:txBody>
      </p:sp>
      <p:cxnSp>
        <p:nvCxnSpPr>
          <p:cNvPr id="8" name="Connector 7"/>
          <p:cNvCxnSpPr/>
          <p:nvPr/>
        </p:nvCxnSpPr>
        <p:spPr>
          <a:xfrm>
            <a:off x="5669280" y="2194560"/>
            <a:ext cx="1645920" cy="86868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200400" y="3749039"/>
            <a:ext cx="278892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737360" y="2194560"/>
            <a:ext cx="1463040" cy="86868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רואים את הבדיקה נכשלת לפני המימוש: כך יודעים שהיא באמת בודקת משהו.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מטבלה בעברית לבדיקות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4206240" y="1417320"/>
          <a:ext cx="4572000" cy="1828800"/>
        </p:xfrm>
        <a:graphic>
          <a:graphicData uri="http://schemas.openxmlformats.org/drawingml/2006/table">
            <a:tbl>
              <a:tblPr firstRow="0" bandRow="0">
                <a:tableStyleId>{2D5ABB26-0587-4C30-8999-92F81FD0307C}</a:tableStyleId>
              </a:tblPr>
              <a:tblGrid>
                <a:gridCol w="1280160"/>
                <a:gridCol w="1097280"/>
                <a:gridCol w="1097280"/>
                <a:gridCol w="1097280"/>
              </a:tblGrid>
              <a:tr h="457200">
                <a:tc>
                  <a:txBody>
                    <a:bodyPr wrap="square"/>
                    <a:lstStyle/>
                    <a:p>
                      <a:pPr rtl="1" algn="ctr" marL="0" indent="0">
                        <a:lnSpc>
                          <a:spcPct val="100000"/>
                        </a:lnSpc>
                        <a:spcBef>
                          <a:spcPts val="0"/>
                        </a:spcBef>
                        <a:spcAft>
                          <a:spcPts val="0"/>
                        </a:spcAft>
                        <a:buNone/>
                      </a:pPr>
                      <a:r>
                        <a:rPr sz="1200" b="1" i="0" lang="he-IL">
                          <a:solidFill>
                            <a:srgbClr val="212121"/>
                          </a:solidFill>
                        </a:rPr>
                        <a:t>תוצאה צפויה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עלות החזקה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עלות הזמנה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ביקוש שנתי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57200">
                <a:tc>
                  <a:txBody>
                    <a:bodyPr wrap="square"/>
                    <a:lstStyle/>
                    <a:p>
                      <a:pPr rtl="1" algn="r" marL="0" indent="0">
                        <a:lnSpc>
                          <a:spcPct val="100000"/>
                        </a:lnSpc>
                        <a:spcBef>
                          <a:spcPts val="0"/>
                        </a:spcBef>
                        <a:spcAft>
                          <a:spcPts val="0"/>
                        </a:spcAft>
                        <a:buNone/>
                      </a:pPr>
                      <a:r>
                        <a:rPr sz="1200" b="0" i="0" lang="he-IL">
                          <a:solidFill>
                            <a:srgbClr val="212121"/>
                          </a:solidFill>
                        </a:rPr>
                        <a:t>בערך 244.95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50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1200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r>
                        <a:rPr sz="1200" b="0" i="0" lang="he-IL">
                          <a:solidFill>
                            <a:srgbClr val="212121"/>
                          </a:solidFill>
                        </a:rPr>
                        <a:t>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50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57200">
                <a:tc>
                  <a:txBody>
                    <a:bodyPr wrap="square"/>
                    <a:lstStyle/>
                    <a:p>
                      <a:pPr rtl="1" algn="r" marL="0" indent="0">
                        <a:lnSpc>
                          <a:spcPct val="100000"/>
                        </a:lnSpc>
                        <a:spcBef>
                          <a:spcPts val="0"/>
                        </a:spcBef>
                        <a:spcAft>
                          <a:spcPts val="0"/>
                        </a:spcAft>
                        <a:buNone/>
                      </a:pPr>
                      <a:r>
                        <a:rPr sz="1200" b="0" i="0" lang="he-IL">
                          <a:solidFill>
                            <a:srgbClr val="212121"/>
                          </a:solidFill>
                        </a:rPr>
                        <a:t>שגיאה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50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1200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cxnSp>
        <p:nvCxnSpPr>
          <p:cNvPr id="6" name="Connector 5"/>
          <p:cNvCxnSpPr/>
          <p:nvPr/>
        </p:nvCxnSpPr>
        <p:spPr>
          <a:xfrm flipH="1">
            <a:off x="3566160" y="2194560"/>
            <a:ext cx="59436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5760" y="1417320"/>
            <a:ext cx="3108960" cy="4572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הופך לבדיקות</a:t>
            </a:r>
          </a:p>
        </p:txBody>
      </p:sp>
      <p:sp>
        <p:nvSpPr>
          <p:cNvPr id="8" name="Rectangle 7"/>
          <p:cNvSpPr/>
          <p:nvPr/>
        </p:nvSpPr>
        <p:spPr>
          <a:xfrm>
            <a:off x="365760" y="1965960"/>
            <a:ext cx="3108960" cy="137160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def test_typical():</a:t>
            </a:r>
          </a:p>
          <a:p>
            <a:pPr rtl="0" algn="l" marL="0" indent="0">
              <a:lnSpc>
                <a:spcPct val="105000"/>
              </a:lnSpc>
              <a:spcBef>
                <a:spcPts val="0"/>
              </a:spcBef>
              <a:spcAft>
                <a:spcPts val="0"/>
              </a:spcAft>
              <a:buNone/>
            </a:pPr>
            <a:r>
              <a:rPr sz="1200" b="0" i="0" lang="he-IL">
                <a:solidFill>
                  <a:srgbClr val="212121"/>
                </a:solidFill>
                <a:latin typeface="Courier New"/>
              </a:rPr>
              <a:t>  r = calc_eoq(1200, 50, 2)</a:t>
            </a:r>
          </a:p>
          <a:p>
            <a:pPr rtl="0" algn="l" marL="0" indent="0">
              <a:lnSpc>
                <a:spcPct val="105000"/>
              </a:lnSpc>
              <a:spcBef>
                <a:spcPts val="0"/>
              </a:spcBef>
              <a:spcAft>
                <a:spcPts val="0"/>
              </a:spcAft>
              <a:buNone/>
            </a:pPr>
            <a:r>
              <a:rPr sz="1200" b="0" i="0" lang="he-IL">
                <a:solidFill>
                  <a:srgbClr val="212121"/>
                </a:solidFill>
                <a:latin typeface="Courier New"/>
              </a:rPr>
              <a:t>  assert r == pytest.approx(</a:t>
            </a:r>
          </a:p>
          <a:p>
            <a:pPr rtl="0" algn="l" marL="0" indent="0">
              <a:lnSpc>
                <a:spcPct val="105000"/>
              </a:lnSpc>
              <a:spcBef>
                <a:spcPts val="0"/>
              </a:spcBef>
              <a:spcAft>
                <a:spcPts val="0"/>
              </a:spcAft>
              <a:buNone/>
            </a:pPr>
            <a:r>
              <a:rPr sz="1200" b="0" i="0" lang="he-IL">
                <a:solidFill>
                  <a:srgbClr val="212121"/>
                </a:solidFill>
                <a:latin typeface="Courier New"/>
              </a:rPr>
              <a:t>      244.95, rel=1e-3)</a:t>
            </a:r>
          </a:p>
        </p:txBody>
      </p:sp>
      <p:sp>
        <p:nvSpPr>
          <p:cNvPr id="9" name="TextBox 8"/>
          <p:cNvSpPr txBox="1"/>
          <p:nvPr/>
        </p:nvSpPr>
        <p:spPr>
          <a:xfrm>
            <a:off x="365760" y="3749039"/>
            <a:ext cx="8412480" cy="11887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האדם מגדיר את המקרים ואת התוצאות. ה־AI מתרגם לקוד.</a:t>
            </a:r>
          </a:p>
          <a:p>
            <a:pPr rtl="1" algn="ctr" marL="0" indent="0">
              <a:lnSpc>
                <a:spcPct val="110000"/>
              </a:lnSpc>
              <a:spcBef>
                <a:spcPts val="0"/>
              </a:spcBef>
              <a:spcAft>
                <a:spcPts val="0"/>
              </a:spcAft>
              <a:buNone/>
            </a:pPr>
            <a:r>
              <a:rPr sz="1700" b="0" i="0" lang="he-IL">
                <a:solidFill>
                  <a:srgbClr val="595959"/>
                </a:solidFill>
              </a:rPr>
              <a:t>כך הבדיקות מייצגות את מה שאתם רוצים, ולא את מה שה־AI חושב.</a:t>
            </a:r>
          </a:p>
        </p:txBody>
      </p:sp>
      <p:sp>
        <p:nvSpPr>
          <p:cNvPr id="10" name="Link back"/>
          <p:cNvSpPr txBox="1"/>
          <p:nvPr/>
        </p:nvSpPr>
        <p:spPr>
          <a:xfrm>
            <a:off x="365760" y="4608000"/>
            <a:ext cx="8412480" cy="34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ממפגש 7: </a:t>
            </a:r>
            <a:r>
              <a:rPr sz="1600" b="0" i="0" lang="he-IL">
                <a:solidFill>
                  <a:srgbClr val="595959"/>
                </a:solidFill>
              </a:rPr>
              <a:t>החוזה קודם. הטבלה היא מפרט שאפשר להריץ.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כשה־AI מרמה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משנה את הבדיקה</a:t>
            </a:r>
          </a:p>
        </p:txBody>
      </p:sp>
      <p:sp>
        <p:nvSpPr>
          <p:cNvPr id="8" name="TextBox 7"/>
          <p:cNvSpPr txBox="1"/>
          <p:nvPr/>
        </p:nvSpPr>
        <p:spPr>
          <a:xfrm>
            <a:off x="6309360"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מתאים את הציפייה לקוד השגוי, כדי שיעבור.</a:t>
            </a:r>
          </a:p>
        </p:txBody>
      </p:sp>
      <p:sp>
        <p:nvSpPr>
          <p:cNvPr id="9" name="Rounded Rectangle 8"/>
          <p:cNvSpPr/>
          <p:nvPr/>
        </p:nvSpPr>
        <p:spPr>
          <a:xfrm>
            <a:off x="324612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מוחק בדיקה</a:t>
            </a:r>
          </a:p>
        </p:txBody>
      </p:sp>
      <p:sp>
        <p:nvSpPr>
          <p:cNvPr id="12" name="TextBox 11"/>
          <p:cNvSpPr txBox="1"/>
          <p:nvPr/>
        </p:nvSpPr>
        <p:spPr>
          <a:xfrm>
            <a:off x="338327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בדיקה שנכשלת נעלמת, וה־pytest ירוק.</a:t>
            </a:r>
          </a:p>
        </p:txBody>
      </p:sp>
      <p:sp>
        <p:nvSpPr>
          <p:cNvPr id="13" name="Rounded Rectangle 12"/>
          <p:cNvSpPr/>
          <p:nvPr/>
        </p:nvSpPr>
        <p:spPr>
          <a:xfrm>
            <a:off x="320039"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מקשיח תשובה</a:t>
            </a:r>
          </a:p>
        </p:txBody>
      </p:sp>
      <p:sp>
        <p:nvSpPr>
          <p:cNvPr id="16" name="TextBox 15"/>
          <p:cNvSpPr txBox="1"/>
          <p:nvPr/>
        </p:nvSpPr>
        <p:spPr>
          <a:xfrm>
            <a:off x="45719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מחזיר ישירות את הערך שהבדיקה מצפה לו.</a:t>
            </a:r>
          </a:p>
        </p:txBody>
      </p:sp>
      <p:sp>
        <p:nvSpPr>
          <p:cNvPr id="17" name="Rounded Rectangle 16"/>
          <p:cNvSpPr/>
          <p:nvPr/>
        </p:nvSpPr>
        <p:spPr>
          <a:xfrm>
            <a:off x="365760" y="4434840"/>
            <a:ext cx="8412480" cy="5486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ה־AI רוצה שהכל יהיה ירוק. התפקיד שלכם לוודא שהוא ירוק מהסיבות הנכונות.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בדיקה מעגלית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474720" y="1463040"/>
            <a:ext cx="2194560" cy="8229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כותב קוד</a:t>
            </a:r>
          </a:p>
        </p:txBody>
      </p:sp>
      <p:sp>
        <p:nvSpPr>
          <p:cNvPr id="6" name="Rounded Rectangle 5"/>
          <p:cNvSpPr/>
          <p:nvPr/>
        </p:nvSpPr>
        <p:spPr>
          <a:xfrm>
            <a:off x="6035040" y="3017520"/>
            <a:ext cx="2560320" cy="8229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כותב בדיקה לפי הקוד</a:t>
            </a:r>
          </a:p>
        </p:txBody>
      </p:sp>
      <p:sp>
        <p:nvSpPr>
          <p:cNvPr id="7" name="Rounded Rectangle 6"/>
          <p:cNvSpPr/>
          <p:nvPr/>
        </p:nvSpPr>
        <p:spPr>
          <a:xfrm>
            <a:off x="548640" y="3017520"/>
            <a:ext cx="2560320" cy="8229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הבדיקה עוברת</a:t>
            </a:r>
          </a:p>
        </p:txBody>
      </p:sp>
      <p:cxnSp>
        <p:nvCxnSpPr>
          <p:cNvPr id="8" name="Connector 7"/>
          <p:cNvCxnSpPr/>
          <p:nvPr/>
        </p:nvCxnSpPr>
        <p:spPr>
          <a:xfrm>
            <a:off x="5669280" y="1920240"/>
            <a:ext cx="1280160" cy="105156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154680" y="3429000"/>
            <a:ext cx="28346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737360" y="2011680"/>
            <a:ext cx="1737360" cy="96012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4160520"/>
            <a:ext cx="8412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EA4335"/>
                </a:solidFill>
              </a:rPr>
              <a:t>הלולאה לא כוללת אדם ולא מפרט.</a:t>
            </a:r>
          </a:p>
          <a:p>
            <a:pPr rtl="1" algn="ctr" marL="0" indent="0">
              <a:lnSpc>
                <a:spcPct val="110000"/>
              </a:lnSpc>
              <a:spcBef>
                <a:spcPts val="0"/>
              </a:spcBef>
              <a:spcAft>
                <a:spcPts val="0"/>
              </a:spcAft>
              <a:buNone/>
            </a:pPr>
            <a:r>
              <a:rPr sz="1800" b="0" i="0" lang="he-IL">
                <a:solidFill>
                  <a:srgbClr val="595959"/>
                </a:solidFill>
              </a:rPr>
              <a:t>ירוק, וגם שגוי. בודקים את הציפיות מול המפרט.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:בדיקות חלשות של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24000" cy="2560320"/>
        </p:xfrm>
        <a:graphic>
          <a:graphicData uri="http://schemas.openxmlformats.org/drawingml/2006/table">
            <a:tbl>
              <a:tblPr firstRow="0" bandRow="0">
                <a:tableStyleId>{2D5ABB26-0587-4C30-8999-92F81FD0307C}</a:tableStyleId>
              </a:tblPr>
              <a:tblGrid>
                <a:gridCol w="3240000"/>
                <a:gridCol w="2880000"/>
                <a:gridCol w="2304000"/>
              </a:tblGrid>
              <a:tr h="640080">
                <a:tc>
                  <a:txBody>
                    <a:bodyPr wrap="square"/>
                    <a:lstStyle/>
                    <a:p>
                      <a:pPr rtl="1" algn="ctr" marL="0" indent="0">
                        <a:lnSpc>
                          <a:spcPct val="100000"/>
                        </a:lnSpc>
                        <a:spcBef>
                          <a:spcPts val="0"/>
                        </a:spcBef>
                        <a:spcAft>
                          <a:spcPts val="0"/>
                        </a:spcAft>
                        <a:buNone/>
                      </a:pPr>
                      <a:r>
                        <a:rPr sz="1700" b="1" i="0" lang="he-IL">
                          <a:solidFill>
                            <a:srgbClr val="212121"/>
                          </a:solidFill>
                        </a:rPr>
                        <a:t>איזה מוטנט עובר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מה הוא בודק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דפוס חלש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כל נוסחה שמחזירה מספר חיובי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רק סוג או סימן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‎isinstance, &gt; 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m1: מחזיר 173 במקום 245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סטייה מותרת של 50%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‎rel=0.5‎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m3: חילוק באפס במקום ValueError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כל שגיאה, גם שגויה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‎raises(Exception)‎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20624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חמש בדיקות כאלה ירוקות, ותפסו רק 2 מתוך 6 מוטנטים.</a:t>
            </a:r>
          </a:p>
          <a:p>
            <a:pPr rtl="1" algn="ctr" marL="0" indent="0">
              <a:lnSpc>
                <a:spcPct val="110000"/>
              </a:lnSpc>
              <a:spcBef>
                <a:spcPts val="0"/>
              </a:spcBef>
              <a:spcAft>
                <a:spcPts val="0"/>
              </a:spcAft>
              <a:buNone/>
            </a:pPr>
            <a:r>
              <a:rPr sz="1900" b="1" i="0" lang="he-IL">
                <a:solidFill>
                  <a:srgbClr val="4285F4"/>
                </a:solidFill>
              </a:rPr>
              <a:t>בדיקה חזקה: ערך מדויק מהמפרט, וסוג שגיאה מדויק.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משחק המוטציות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12477" cy="2560320"/>
        </p:xfrm>
        <a:graphic>
          <a:graphicData uri="http://schemas.openxmlformats.org/drawingml/2006/table">
            <a:tbl>
              <a:tblPr firstRow="0" bandRow="0">
                <a:tableStyleId>{2D5ABB26-0587-4C30-8999-92F81FD0307C}</a:tableStyleId>
              </a:tblPr>
              <a:tblGrid>
                <a:gridCol w="3108959"/>
                <a:gridCol w="3657599"/>
                <a:gridCol w="1645919"/>
              </a:tblGrid>
              <a:tr h="640080">
                <a:tc>
                  <a:txBody>
                    <a:bodyPr wrap="square"/>
                    <a:lstStyle/>
                    <a:p>
                      <a:pPr rtl="1" algn="ctr" marL="0" indent="0">
                        <a:lnSpc>
                          <a:spcPct val="100000"/>
                        </a:lnSpc>
                        <a:spcBef>
                          <a:spcPts val="0"/>
                        </a:spcBef>
                        <a:spcAft>
                          <a:spcPts val="0"/>
                        </a:spcAft>
                        <a:buNone/>
                      </a:pPr>
                      <a:r>
                        <a:rPr sz="1700" b="1" i="0" lang="he-IL">
                          <a:solidFill>
                            <a:srgbClr val="212121"/>
                          </a:solidFill>
                        </a:rPr>
                        <a:t>הבדיקות שלכם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מה שונה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גרסה שבורה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80">
                <a:tc>
                  <a:txBody>
                    <a:bodyPr wrap="square"/>
                    <a:lstStyle/>
                    <a:p>
                      <a:pPr rtl="1" algn="r" marL="0" indent="0">
                        <a:lnSpc>
                          <a:spcPct val="100000"/>
                        </a:lnSpc>
                        <a:spcBef>
                          <a:spcPts val="0"/>
                        </a:spcBef>
                        <a:spcAft>
                          <a:spcPts val="0"/>
                        </a:spcAft>
                        <a:buNone/>
                      </a:pPr>
                      <a:r>
                        <a:rPr sz="1700" b="0" i="0" lang="he-IL">
                          <a:solidFill>
                            <a:srgbClr val="212121"/>
                          </a:solidFill>
                        </a:rPr>
                        <a:t>תפסו?  ✔ / ✘</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0" i="0" lang="he-IL">
                          <a:solidFill>
                            <a:srgbClr val="212121"/>
                          </a:solidFill>
                        </a:rPr>
                        <a:t>בלי הכפלה ב־2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m1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700" b="0" i="0" lang="he-IL">
                          <a:solidFill>
                            <a:srgbClr val="212121"/>
                          </a:solidFill>
                        </a:rPr>
                        <a:t>תפסו?  ✔ / ✘</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0" i="0" lang="he-IL">
                          <a:solidFill>
                            <a:srgbClr val="212121"/>
                          </a:solidFill>
                        </a:rPr>
                        <a:t>בלי שורש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m2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700" b="0" i="0" lang="he-IL">
                          <a:solidFill>
                            <a:srgbClr val="212121"/>
                          </a:solidFill>
                        </a:rPr>
                        <a:t>תפסו?  ✔ / ✘</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0" i="0" lang="he-IL">
                          <a:solidFill>
                            <a:srgbClr val="212121"/>
                          </a:solidFill>
                        </a:rPr>
                        <a:t>בלי בדיקת עלות החזקה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700" b="1" i="0" lang="he-IL">
                          <a:solidFill>
                            <a:srgbClr val="212121"/>
                          </a:solidFill>
                        </a:rPr>
                        <a:t>m3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20624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מוטנט: גרסה שבורה בכוונה. נתפס: לפחות בדיקה אחת נכשלה.</a:t>
            </a:r>
          </a:p>
          <a:p>
            <a:pPr rtl="1" algn="ctr" marL="0" indent="0">
              <a:lnSpc>
                <a:spcPct val="110000"/>
              </a:lnSpc>
              <a:spcBef>
                <a:spcPts val="0"/>
              </a:spcBef>
              <a:spcAft>
                <a:spcPts val="0"/>
              </a:spcAft>
              <a:buNone/>
            </a:pPr>
            <a:r>
              <a:rPr sz="1900" b="1" i="0" lang="he-IL">
                <a:solidFill>
                  <a:srgbClr val="4285F4"/>
                </a:solidFill>
              </a:rPr>
              <a:t>ציון הרג: כמה מוטנטים נתפסו. אם גרסה עברה, חסרה בדיקה.</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חשוב לראות בדיקה נכשלת לפני שמממשים?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חשוב לראות בדיקה נכשלת לפני שמממשים?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אחרת אין הוכחה שהיא בודקת משהו: בדיקה יכולה לעבור גם כשהיא ריקה או שגויה.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אדום ואז ירוק מוכיח שהמימוש הוא שגרם לשינוי.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16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HM_08.ipynb. חלקים ב׳-ג׳: TDD ומוטנטים.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HM_08.ipynb. חלקים ב׳-ג׳: TDD ומוטנטים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ל־HM_08.ipynb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ב׳ : TDD ומשחק המוטציות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16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בדיקות קודם (כמו החוזה קודם, מפגש 7), ומדידת כמה הן טובות.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אדום ואז ירוק</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test_eoq.py, calc_eoq: בדיקות על קוד ריק, ואז מימוש</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ציון הרג</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is_caught, kill_score: האם מוטנט נתפס, וכמה מתוך 6</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משפרים את הבדיקות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מוסיפים בדיקה למוטנט שפוספס, עד 6 מתוך 6</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ציפיות מחשבים ממפרט, לא מהרצת הקוד, לא משנים בדיקה כדי שתעבור.</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ב׳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16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אדום, ואז ירוק</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על הקוד הריק נכשלו כולן, גם בדיקות השגיאה. אחרי המימוש כולן עוברות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ציון הרג: 5 מתוך 6</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חמישה מוטנטים נתפסו. אחד, בלי בדיקות קלט שליליות, פוספס</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אחרי שיפור: 6 מתוך 6</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בדיקה עם ביקוש ועלות הזמנה שליליים יחד תופסת גם אותו</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המוטנט האחרון עבר, כי שורש של מספר שלילי זורק שגיאה בעצמו. ירוק מסיבה לא נכונה.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רשימת תיוג לאיכות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46304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7" name="TextBox 6"/>
          <p:cNvSpPr txBox="1"/>
          <p:nvPr/>
        </p:nvSpPr>
        <p:spPr>
          <a:xfrm>
            <a:off x="4754879"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שמות ברורים</a:t>
            </a:r>
          </a:p>
        </p:txBody>
      </p:sp>
      <p:sp>
        <p:nvSpPr>
          <p:cNvPr id="8" name="TextBox 7"/>
          <p:cNvSpPr txBox="1"/>
          <p:nvPr/>
        </p:nvSpPr>
        <p:spPr>
          <a:xfrm>
            <a:off x="4754879"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calculate_monthly_vat ולא process_data</a:t>
            </a:r>
          </a:p>
        </p:txBody>
      </p:sp>
      <p:sp>
        <p:nvSpPr>
          <p:cNvPr id="9" name="Rounded Rectangle 8"/>
          <p:cNvSpPr/>
          <p:nvPr/>
        </p:nvSpPr>
        <p:spPr>
          <a:xfrm>
            <a:off x="365760" y="1371600"/>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566160" y="146304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11" name="TextBox 10"/>
          <p:cNvSpPr txBox="1"/>
          <p:nvPr/>
        </p:nvSpPr>
        <p:spPr>
          <a:xfrm>
            <a:off x="457200"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פונקציות קצרות</a:t>
            </a:r>
          </a:p>
        </p:txBody>
      </p:sp>
      <p:sp>
        <p:nvSpPr>
          <p:cNvPr id="12" name="TextBox 11"/>
          <p:cNvSpPr txBox="1"/>
          <p:nvPr/>
        </p:nvSpPr>
        <p:spPr>
          <a:xfrm>
            <a:off x="457200"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מטרה אחת לכל פונקציה</a:t>
            </a:r>
          </a:p>
        </p:txBody>
      </p:sp>
      <p:sp>
        <p:nvSpPr>
          <p:cNvPr id="13" name="Rounded Rectangle 12"/>
          <p:cNvSpPr/>
          <p:nvPr/>
        </p:nvSpPr>
        <p:spPr>
          <a:xfrm>
            <a:off x="4663440" y="2560320"/>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14" name="TextBox 13"/>
          <p:cNvSpPr txBox="1"/>
          <p:nvPr/>
        </p:nvSpPr>
        <p:spPr>
          <a:xfrm>
            <a:off x="7863840" y="265176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15" name="TextBox 14"/>
          <p:cNvSpPr txBox="1"/>
          <p:nvPr/>
        </p:nvSpPr>
        <p:spPr>
          <a:xfrm>
            <a:off x="4754879"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בלי מספרי קסם</a:t>
            </a:r>
          </a:p>
        </p:txBody>
      </p:sp>
      <p:sp>
        <p:nvSpPr>
          <p:cNvPr id="16" name="TextBox 15"/>
          <p:cNvSpPr txBox="1"/>
          <p:nvPr/>
        </p:nvSpPr>
        <p:spPr>
          <a:xfrm>
            <a:off x="4754879"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1.1 צריך שם והסבר</a:t>
            </a:r>
          </a:p>
        </p:txBody>
      </p:sp>
      <p:sp>
        <p:nvSpPr>
          <p:cNvPr id="17" name="Rounded Rectangle 16"/>
          <p:cNvSpPr/>
          <p:nvPr/>
        </p:nvSpPr>
        <p:spPr>
          <a:xfrm>
            <a:off x="365760" y="2560320"/>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566160" y="2651760"/>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19" name="TextBox 18"/>
          <p:cNvSpPr txBox="1"/>
          <p:nvPr/>
        </p:nvSpPr>
        <p:spPr>
          <a:xfrm>
            <a:off x="457200"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טיפול בשגיאות</a:t>
            </a:r>
          </a:p>
        </p:txBody>
      </p:sp>
      <p:sp>
        <p:nvSpPr>
          <p:cNvPr id="20" name="TextBox 19"/>
          <p:cNvSpPr txBox="1"/>
          <p:nvPr/>
        </p:nvSpPr>
        <p:spPr>
          <a:xfrm>
            <a:off x="457200"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קלט חריג לא מפיל בשקט</a:t>
            </a:r>
          </a:p>
        </p:txBody>
      </p:sp>
      <p:sp>
        <p:nvSpPr>
          <p:cNvPr id="21" name="Rounded Rectangle 20"/>
          <p:cNvSpPr/>
          <p:nvPr/>
        </p:nvSpPr>
        <p:spPr>
          <a:xfrm>
            <a:off x="4663440" y="3749039"/>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22" name="TextBox 21"/>
          <p:cNvSpPr txBox="1"/>
          <p:nvPr/>
        </p:nvSpPr>
        <p:spPr>
          <a:xfrm>
            <a:off x="7863840" y="3840479"/>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23" name="TextBox 22"/>
          <p:cNvSpPr txBox="1"/>
          <p:nvPr/>
        </p:nvSpPr>
        <p:spPr>
          <a:xfrm>
            <a:off x="4754879"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בלי שאריות</a:t>
            </a:r>
          </a:p>
        </p:txBody>
      </p:sp>
      <p:sp>
        <p:nvSpPr>
          <p:cNvPr id="24" name="TextBox 23"/>
          <p:cNvSpPr txBox="1"/>
          <p:nvPr/>
        </p:nvSpPr>
        <p:spPr>
          <a:xfrm>
            <a:off x="4754879"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ייבוא וקוד שלא בשימוש</a:t>
            </a:r>
          </a:p>
        </p:txBody>
      </p:sp>
      <p:sp>
        <p:nvSpPr>
          <p:cNvPr id="25" name="Rounded Rectangle 24"/>
          <p:cNvSpPr/>
          <p:nvPr/>
        </p:nvSpPr>
        <p:spPr>
          <a:xfrm>
            <a:off x="365760" y="3749039"/>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26" name="TextBox 25"/>
          <p:cNvSpPr txBox="1"/>
          <p:nvPr/>
        </p:nvSpPr>
        <p:spPr>
          <a:xfrm>
            <a:off x="3566160" y="3840479"/>
            <a:ext cx="868680" cy="82296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27" name="TextBox 26"/>
          <p:cNvSpPr txBox="1"/>
          <p:nvPr/>
        </p:nvSpPr>
        <p:spPr>
          <a:xfrm>
            <a:off x="457200"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הערות שמסבירות למה</a:t>
            </a:r>
          </a:p>
        </p:txBody>
      </p:sp>
      <p:sp>
        <p:nvSpPr>
          <p:cNvPr id="28" name="TextBox 27"/>
          <p:cNvSpPr txBox="1"/>
          <p:nvPr/>
        </p:nvSpPr>
        <p:spPr>
          <a:xfrm>
            <a:off x="457200"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לא מה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כלי ניתוח אוטומטי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5486400" cy="301752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548640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5303520" cy="256032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300" b="0" i="0" lang="he-IL">
                <a:solidFill>
                  <a:srgbClr val="7CFC8A"/>
                </a:solidFill>
                <a:latin typeface="Courier New"/>
                <a:ea typeface="Courier New"/>
                <a:cs typeface="Courier New"/>
              </a:rPr>
              <a:t>$ ruff check report.py</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F401 `os` imported but unused</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report.py:1:8</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F841 Local variable `unused`</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is assigned to but never used</a:t>
            </a:r>
          </a:p>
          <a:p>
            <a:pPr rtl="0" algn="l" marL="0" indent="0">
              <a:lnSpc>
                <a:spcPct val="114999"/>
              </a:lnSpc>
              <a:spcBef>
                <a:spcPts val="0"/>
              </a:spcBef>
              <a:spcAft>
                <a:spcPts val="0"/>
              </a:spcAft>
              <a:buNone/>
            </a:pPr>
            <a:r>
              <a:rPr sz="1300" b="0" i="0" lang="he-IL">
                <a:solidFill>
                  <a:srgbClr val="FF7B72"/>
                </a:solidFill>
                <a:latin typeface="Courier New"/>
                <a:ea typeface="Courier New"/>
                <a:cs typeface="Courier New"/>
              </a:rPr>
              <a:t>!   report.py:21:5</a:t>
            </a:r>
          </a:p>
          <a:p>
            <a:pPr rtl="0" algn="l" marL="0" indent="0">
              <a:lnSpc>
                <a:spcPct val="114999"/>
              </a:lnSpc>
              <a:spcBef>
                <a:spcPts val="0"/>
              </a:spcBef>
              <a:spcAft>
                <a:spcPts val="0"/>
              </a:spcAft>
              <a:buNone/>
            </a:pPr>
            <a:r>
              <a:rPr sz="1300" b="0" i="0" lang="he-IL">
                <a:solidFill>
                  <a:srgbClr val="FFCA6B"/>
                </a:solidFill>
                <a:latin typeface="Courier New"/>
                <a:ea typeface="Courier New"/>
                <a:cs typeface="Courier New"/>
              </a:rPr>
              <a:t>&gt; Found 2 errors.</a:t>
            </a:r>
          </a:p>
        </p:txBody>
      </p:sp>
      <p:sp>
        <p:nvSpPr>
          <p:cNvPr id="8" name="Rounded Rectangle 7"/>
          <p:cNvSpPr/>
          <p:nvPr/>
        </p:nvSpPr>
        <p:spPr>
          <a:xfrm>
            <a:off x="6035040" y="1417320"/>
            <a:ext cx="2743200" cy="9144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FFAB40"/>
                </a:solidFill>
              </a:rPr>
              <a:t>F401</a:t>
            </a:r>
          </a:p>
          <a:p>
            <a:pPr rtl="1" algn="ctr" marL="0" indent="0">
              <a:lnSpc>
                <a:spcPct val="105000"/>
              </a:lnSpc>
              <a:spcBef>
                <a:spcPts val="0"/>
              </a:spcBef>
              <a:spcAft>
                <a:spcPts val="0"/>
              </a:spcAft>
              <a:buNone/>
            </a:pPr>
            <a:r>
              <a:rPr sz="1400" b="0" i="0" lang="he-IL">
                <a:solidFill>
                  <a:srgbClr val="212121"/>
                </a:solidFill>
              </a:rPr>
              <a:t>ייבוא שלא בשימוש</a:t>
            </a:r>
          </a:p>
        </p:txBody>
      </p:sp>
      <p:sp>
        <p:nvSpPr>
          <p:cNvPr id="9" name="Rounded Rectangle 8"/>
          <p:cNvSpPr/>
          <p:nvPr/>
        </p:nvSpPr>
        <p:spPr>
          <a:xfrm>
            <a:off x="6035040" y="2468880"/>
            <a:ext cx="2743200" cy="9144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FFAB40"/>
                </a:solidFill>
              </a:rPr>
              <a:t>F841</a:t>
            </a:r>
          </a:p>
          <a:p>
            <a:pPr rtl="1" algn="ctr" marL="0" indent="0">
              <a:lnSpc>
                <a:spcPct val="105000"/>
              </a:lnSpc>
              <a:spcBef>
                <a:spcPts val="0"/>
              </a:spcBef>
              <a:spcAft>
                <a:spcPts val="0"/>
              </a:spcAft>
              <a:buNone/>
            </a:pPr>
            <a:r>
              <a:rPr sz="1400" b="0" i="0" lang="he-IL">
                <a:solidFill>
                  <a:srgbClr val="212121"/>
                </a:solidFill>
              </a:rPr>
              <a:t>משתנה שלא בשימוש</a:t>
            </a:r>
          </a:p>
        </p:txBody>
      </p:sp>
      <p:sp>
        <p:nvSpPr>
          <p:cNvPr id="10" name="Rounded Rectangle 9"/>
          <p:cNvSpPr/>
          <p:nvPr/>
        </p:nvSpPr>
        <p:spPr>
          <a:xfrm>
            <a:off x="6035040" y="3520439"/>
            <a:ext cx="2743200" cy="9144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4285F4"/>
                </a:solidFill>
              </a:rPr>
              <a:t>הערה</a:t>
            </a:r>
          </a:p>
          <a:p>
            <a:pPr rtl="1" algn="ctr" marL="0" indent="0">
              <a:lnSpc>
                <a:spcPct val="105000"/>
              </a:lnSpc>
              <a:spcBef>
                <a:spcPts val="0"/>
              </a:spcBef>
              <a:spcAft>
                <a:spcPts val="0"/>
              </a:spcAft>
              <a:buNone/>
            </a:pPr>
            <a:r>
              <a:rPr sz="1400" b="0" i="0" lang="he-IL">
                <a:solidFill>
                  <a:srgbClr val="212121"/>
                </a:solidFill>
              </a:rPr>
              <a:t>כלי כזה לא יודע אם הקוד נכון</a:t>
            </a:r>
          </a:p>
        </p:txBody>
      </p:sp>
      <p:sp>
        <p:nvSpPr>
          <p:cNvPr id="11" name="TextBox 10"/>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כלי ניתוח תופס שאריות. בדיקות תופסות טעויות לוגיות.</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סוקרים diff של סוכן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58200" y="146304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1</a:t>
            </a:r>
          </a:p>
        </p:txBody>
      </p:sp>
      <p:sp>
        <p:nvSpPr>
          <p:cNvPr id="6" name="Rounded Rectangle 5"/>
          <p:cNvSpPr/>
          <p:nvPr/>
        </p:nvSpPr>
        <p:spPr>
          <a:xfrm>
            <a:off x="365760" y="1371600"/>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0" i="0" lang="he-IL">
                <a:solidFill>
                  <a:srgbClr val="212121"/>
                </a:solidFill>
              </a:rPr>
              <a:t>📄  קבצים שלא התבקשו?</a:t>
            </a:r>
          </a:p>
        </p:txBody>
      </p:sp>
      <p:sp>
        <p:nvSpPr>
          <p:cNvPr id="7" name="Oval 6"/>
          <p:cNvSpPr/>
          <p:nvPr/>
        </p:nvSpPr>
        <p:spPr>
          <a:xfrm>
            <a:off x="8458200" y="2167128"/>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2</a:t>
            </a:r>
          </a:p>
        </p:txBody>
      </p:sp>
      <p:sp>
        <p:nvSpPr>
          <p:cNvPr id="8" name="Rounded Rectangle 7"/>
          <p:cNvSpPr/>
          <p:nvPr/>
        </p:nvSpPr>
        <p:spPr>
          <a:xfrm>
            <a:off x="365760" y="2075688"/>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0" i="0" lang="he-IL">
                <a:solidFill>
                  <a:srgbClr val="212121"/>
                </a:solidFill>
              </a:rPr>
              <a:t>🧪  התנהגות שהשתנתה בשקט?</a:t>
            </a:r>
          </a:p>
        </p:txBody>
      </p:sp>
      <p:sp>
        <p:nvSpPr>
          <p:cNvPr id="9" name="Oval 8"/>
          <p:cNvSpPr/>
          <p:nvPr/>
        </p:nvSpPr>
        <p:spPr>
          <a:xfrm>
            <a:off x="8458200" y="2871216"/>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3</a:t>
            </a:r>
          </a:p>
        </p:txBody>
      </p:sp>
      <p:sp>
        <p:nvSpPr>
          <p:cNvPr id="10" name="Rounded Rectangle 9"/>
          <p:cNvSpPr/>
          <p:nvPr/>
        </p:nvSpPr>
        <p:spPr>
          <a:xfrm>
            <a:off x="365760" y="2779776"/>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0" i="0" lang="he-IL">
                <a:solidFill>
                  <a:srgbClr val="212121"/>
                </a:solidFill>
              </a:rPr>
              <a:t>🗑️  בדיקות שנמחקו או נחלשו?</a:t>
            </a:r>
          </a:p>
        </p:txBody>
      </p:sp>
      <p:sp>
        <p:nvSpPr>
          <p:cNvPr id="11" name="Oval 10"/>
          <p:cNvSpPr/>
          <p:nvPr/>
        </p:nvSpPr>
        <p:spPr>
          <a:xfrm>
            <a:off x="8458200" y="3575304"/>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4</a:t>
            </a:r>
          </a:p>
        </p:txBody>
      </p:sp>
      <p:sp>
        <p:nvSpPr>
          <p:cNvPr id="12" name="Rounded Rectangle 11"/>
          <p:cNvSpPr/>
          <p:nvPr/>
        </p:nvSpPr>
        <p:spPr>
          <a:xfrm>
            <a:off x="365760" y="3483864"/>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0" i="0" lang="he-IL">
                <a:solidFill>
                  <a:srgbClr val="212121"/>
                </a:solidFill>
              </a:rPr>
              <a:t>🔑  ערכים קבועים וסודות?</a:t>
            </a:r>
          </a:p>
        </p:txBody>
      </p:sp>
      <p:sp>
        <p:nvSpPr>
          <p:cNvPr id="13" name="Oval 12"/>
          <p:cNvSpPr/>
          <p:nvPr/>
        </p:nvSpPr>
        <p:spPr>
          <a:xfrm>
            <a:off x="8458200" y="427939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5</a:t>
            </a:r>
          </a:p>
        </p:txBody>
      </p:sp>
      <p:sp>
        <p:nvSpPr>
          <p:cNvPr id="14" name="Rounded Rectangle 13"/>
          <p:cNvSpPr/>
          <p:nvPr/>
        </p:nvSpPr>
        <p:spPr>
          <a:xfrm>
            <a:off x="365760" y="4187952"/>
            <a:ext cx="7909560" cy="5943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0" i="0" lang="he-IL">
                <a:solidFill>
                  <a:srgbClr val="212121"/>
                </a:solidFill>
              </a:rPr>
              <a:t>⚠️  מקרי קצה שחסרים?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ירוק זה לא מספיק</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182880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לפני הסוכן</a:t>
            </a:r>
          </a:p>
          <a:p>
            <a:pPr rtl="1" algn="ctr" marL="0" indent="0">
              <a:lnSpc>
                <a:spcPct val="105000"/>
              </a:lnSpc>
              <a:spcBef>
                <a:spcPts val="0"/>
              </a:spcBef>
              <a:spcAft>
                <a:spcPts val="0"/>
              </a:spcAft>
              <a:buNone/>
            </a:pPr>
            <a:r>
              <a:rPr sz="3000" b="1" i="0" lang="he-IL">
                <a:solidFill>
                  <a:srgbClr val="34A853"/>
                </a:solidFill>
              </a:rPr>
              <a:t>4 passed</a:t>
            </a:r>
          </a:p>
        </p:txBody>
      </p:sp>
      <p:sp>
        <p:nvSpPr>
          <p:cNvPr id="6" name="Rounded Rectangle 5"/>
          <p:cNvSpPr/>
          <p:nvPr/>
        </p:nvSpPr>
        <p:spPr>
          <a:xfrm>
            <a:off x="365760" y="1463040"/>
            <a:ext cx="4114800" cy="18288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אחרי הסוכן</a:t>
            </a:r>
          </a:p>
          <a:p>
            <a:pPr rtl="1" algn="ctr" marL="0" indent="0">
              <a:lnSpc>
                <a:spcPct val="105000"/>
              </a:lnSpc>
              <a:spcBef>
                <a:spcPts val="0"/>
              </a:spcBef>
              <a:spcAft>
                <a:spcPts val="0"/>
              </a:spcAft>
              <a:buNone/>
            </a:pPr>
            <a:r>
              <a:rPr sz="3000" b="1" i="0" lang="he-IL">
                <a:solidFill>
                  <a:srgbClr val="34A853"/>
                </a:solidFill>
              </a:rPr>
              <a:t>3 passed</a:t>
            </a:r>
          </a:p>
        </p:txBody>
      </p:sp>
      <p:cxnSp>
        <p:nvCxnSpPr>
          <p:cNvPr id="7" name="Connector 6"/>
          <p:cNvCxnSpPr/>
          <p:nvPr/>
        </p:nvCxnSpPr>
        <p:spPr>
          <a:xfrm flipH="1">
            <a:off x="4526280" y="2377440"/>
            <a:ext cx="914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5760" y="3566160"/>
            <a:ext cx="8412480" cy="1371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400" b="1" i="0" lang="he-IL">
                <a:solidFill>
                  <a:srgbClr val="EA4335"/>
                </a:solidFill>
              </a:rPr>
              <a:t>אותו ירוק, אבל בדיקה אחת נעלמה.</a:t>
            </a:r>
          </a:p>
          <a:p>
            <a:pPr rtl="1" algn="ctr" marL="0" indent="0">
              <a:lnSpc>
                <a:spcPct val="110000"/>
              </a:lnSpc>
              <a:spcBef>
                <a:spcPts val="0"/>
              </a:spcBef>
              <a:spcAft>
                <a:spcPts val="0"/>
              </a:spcAft>
              <a:buNone/>
            </a:pPr>
            <a:r>
              <a:rPr sz="1800" b="0" i="0" lang="he-IL">
                <a:solidFill>
                  <a:srgbClr val="595959"/>
                </a:solidFill>
              </a:rPr>
              <a:t>מספר הבדיקות ב־diff ובפלט הוא רמז. הסוכן "תיקן" כשל על ידי מחיקתו.</a:t>
            </a:r>
          </a:p>
        </p:txBody>
      </p:sp>
      <p:sp>
        <p:nvSpPr>
          <p:cNvPr id="9" name="Link back"/>
          <p:cNvSpPr txBox="1"/>
          <p:nvPr/>
        </p:nvSpPr>
        <p:spPr>
          <a:xfrm>
            <a:off x="365760" y="4464000"/>
            <a:ext cx="8412480" cy="342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ממפגש 6: </a:t>
            </a:r>
            <a:r>
              <a:rPr sz="1600" b="0" i="0" lang="he-IL">
                <a:solidFill>
                  <a:srgbClr val="595959"/>
                </a:solidFill>
              </a:rPr>
              <a:t>commit לפני, diff אחרי. היום ה־diff כולל גם בדיקות שנמחקו.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פרומפט סקירה ומבקר אחר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173736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Review this diff as a strict code reviewer. List problems under:</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1) files changed that were not requested  2) behavior changes</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3) deleted or weakened tests  4) hard-coded values or secrets</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5) missing edge cases.  Quote the exact lines.</a:t>
            </a:r>
          </a:p>
        </p:txBody>
      </p:sp>
      <p:sp>
        <p:nvSpPr>
          <p:cNvPr id="6" name="Rounded Rectangle 5"/>
          <p:cNvSpPr/>
          <p:nvPr/>
        </p:nvSpPr>
        <p:spPr>
          <a:xfrm>
            <a:off x="6172200" y="3383280"/>
            <a:ext cx="2697480" cy="146304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4285F4"/>
                </a:solidFill>
              </a:rPr>
              <a:t>שיחה חדשה</a:t>
            </a:r>
          </a:p>
          <a:p>
            <a:pPr rtl="1" algn="ctr" marL="0" indent="0">
              <a:lnSpc>
                <a:spcPct val="105000"/>
              </a:lnSpc>
              <a:spcBef>
                <a:spcPts val="0"/>
              </a:spcBef>
              <a:spcAft>
                <a:spcPts val="0"/>
              </a:spcAft>
              <a:buNone/>
            </a:pPr>
            <a:r>
              <a:rPr sz="1400" b="0" i="0" lang="he-IL">
                <a:solidFill>
                  <a:srgbClr val="212121"/>
                </a:solidFill>
              </a:rPr>
              <a:t>המבקר לא רואה את ההנמקות של הכותב</a:t>
            </a:r>
          </a:p>
        </p:txBody>
      </p:sp>
      <p:sp>
        <p:nvSpPr>
          <p:cNvPr id="7" name="Rounded Rectangle 6"/>
          <p:cNvSpPr/>
          <p:nvPr/>
        </p:nvSpPr>
        <p:spPr>
          <a:xfrm>
            <a:off x="3246120" y="3383280"/>
            <a:ext cx="2697480" cy="1463040"/>
          </a:xfrm>
          <a:prstGeom prst="roundRect">
            <a:avLst>
              <a:gd name="adj" fmla="val 12000"/>
            </a:avLst>
          </a:prstGeom>
          <a:solidFill>
            <a:srgbClr val="FFFFFF"/>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0097A7"/>
                </a:solidFill>
              </a:rPr>
              <a:t>מודל אחר</a:t>
            </a:r>
          </a:p>
          <a:p>
            <a:pPr rtl="1" algn="ctr" marL="0" indent="0">
              <a:lnSpc>
                <a:spcPct val="105000"/>
              </a:lnSpc>
              <a:spcBef>
                <a:spcPts val="0"/>
              </a:spcBef>
              <a:spcAft>
                <a:spcPts val="0"/>
              </a:spcAft>
              <a:buNone/>
            </a:pPr>
            <a:r>
              <a:rPr sz="1400" b="0" i="0" lang="he-IL">
                <a:solidFill>
                  <a:srgbClr val="212121"/>
                </a:solidFill>
              </a:rPr>
              <a:t>אם אפשר: עין נוספת</a:t>
            </a:r>
          </a:p>
        </p:txBody>
      </p:sp>
      <p:sp>
        <p:nvSpPr>
          <p:cNvPr id="8" name="Rounded Rectangle 7"/>
          <p:cNvSpPr/>
          <p:nvPr/>
        </p:nvSpPr>
        <p:spPr>
          <a:xfrm>
            <a:off x="320039" y="3383280"/>
            <a:ext cx="2697480" cy="146304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FFAB40"/>
                </a:solidFill>
              </a:rPr>
              <a:t>אתם מחליטים</a:t>
            </a:r>
          </a:p>
          <a:p>
            <a:pPr rtl="1" algn="ctr" marL="0" indent="0">
              <a:lnSpc>
                <a:spcPct val="105000"/>
              </a:lnSpc>
              <a:spcBef>
                <a:spcPts val="0"/>
              </a:spcBef>
              <a:spcAft>
                <a:spcPts val="0"/>
              </a:spcAft>
              <a:buNone/>
            </a:pPr>
            <a:r>
              <a:rPr sz="1400" b="0" i="0" lang="he-IL">
                <a:solidFill>
                  <a:srgbClr val="212121"/>
                </a:solidFill>
              </a:rPr>
              <a:t>ה־AI מציע ממצאים, האחריות שלכם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Pull Request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1828800"/>
            <a:ext cx="192024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ענף</a:t>
            </a:r>
          </a:p>
          <a:p>
            <a:pPr rtl="1" algn="ctr" marL="0" indent="0">
              <a:lnSpc>
                <a:spcPct val="105000"/>
              </a:lnSpc>
              <a:spcBef>
                <a:spcPts val="0"/>
              </a:spcBef>
              <a:spcAft>
                <a:spcPts val="0"/>
              </a:spcAft>
              <a:buNone/>
            </a:pPr>
            <a:r>
              <a:rPr sz="1500" b="1" i="0" lang="he-IL">
                <a:solidFill>
                  <a:srgbClr val="212121"/>
                </a:solidFill>
              </a:rPr>
              <a:t>הסוכן עובד כאן</a:t>
            </a:r>
          </a:p>
        </p:txBody>
      </p:sp>
      <p:cxnSp>
        <p:nvCxnSpPr>
          <p:cNvPr id="6" name="Connector 5"/>
          <p:cNvCxnSpPr/>
          <p:nvPr/>
        </p:nvCxnSpPr>
        <p:spPr>
          <a:xfrm flipH="1">
            <a:off x="6601968" y="251460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1828800"/>
            <a:ext cx="192024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Pull Request</a:t>
            </a:r>
          </a:p>
          <a:p>
            <a:pPr rtl="1" algn="ctr" marL="0" indent="0">
              <a:lnSpc>
                <a:spcPct val="105000"/>
              </a:lnSpc>
              <a:spcBef>
                <a:spcPts val="0"/>
              </a:spcBef>
              <a:spcAft>
                <a:spcPts val="0"/>
              </a:spcAft>
              <a:buNone/>
            </a:pPr>
            <a:r>
              <a:rPr sz="1500" b="1" i="0" lang="he-IL">
                <a:solidFill>
                  <a:srgbClr val="212121"/>
                </a:solidFill>
              </a:rPr>
              <a:t>מבקשים למזג</a:t>
            </a:r>
          </a:p>
        </p:txBody>
      </p:sp>
      <p:cxnSp>
        <p:nvCxnSpPr>
          <p:cNvPr id="8" name="Connector 7"/>
          <p:cNvCxnSpPr/>
          <p:nvPr/>
        </p:nvCxnSpPr>
        <p:spPr>
          <a:xfrm flipH="1">
            <a:off x="4407407" y="251460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828800"/>
            <a:ext cx="1920240" cy="137160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סקירה</a:t>
            </a:r>
          </a:p>
          <a:p>
            <a:pPr rtl="1" algn="ctr" marL="0" indent="0">
              <a:lnSpc>
                <a:spcPct val="105000"/>
              </a:lnSpc>
              <a:spcBef>
                <a:spcPts val="0"/>
              </a:spcBef>
              <a:spcAft>
                <a:spcPts val="0"/>
              </a:spcAft>
              <a:buNone/>
            </a:pPr>
            <a:r>
              <a:rPr sz="1500" b="1" i="0" lang="he-IL">
                <a:solidFill>
                  <a:srgbClr val="212121"/>
                </a:solidFill>
              </a:rPr>
              <a:t>בדיקות + diff</a:t>
            </a:r>
          </a:p>
        </p:txBody>
      </p:sp>
      <p:cxnSp>
        <p:nvCxnSpPr>
          <p:cNvPr id="10" name="Connector 9"/>
          <p:cNvCxnSpPr/>
          <p:nvPr/>
        </p:nvCxnSpPr>
        <p:spPr>
          <a:xfrm flipH="1">
            <a:off x="2212848" y="251460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1828800"/>
            <a:ext cx="19202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מיזוג</a:t>
            </a:r>
          </a:p>
          <a:p>
            <a:pPr rtl="1" algn="ctr" marL="0" indent="0">
              <a:lnSpc>
                <a:spcPct val="105000"/>
              </a:lnSpc>
              <a:spcBef>
                <a:spcPts val="0"/>
              </a:spcBef>
              <a:spcAft>
                <a:spcPts val="0"/>
              </a:spcAft>
              <a:buNone/>
            </a:pPr>
            <a:r>
              <a:rPr sz="1500" b="1" i="0" lang="he-IL">
                <a:solidFill>
                  <a:srgbClr val="212121"/>
                </a:solidFill>
              </a:rPr>
              <a:t>או בקשה לתיקון</a:t>
            </a:r>
          </a:p>
        </p:txBody>
      </p:sp>
      <p:sp>
        <p:nvSpPr>
          <p:cNvPr id="12" name="TextBox 11"/>
          <p:cNvSpPr txBox="1"/>
          <p:nvPr/>
        </p:nvSpPr>
        <p:spPr>
          <a:xfrm>
            <a:off x="365760" y="3566160"/>
            <a:ext cx="8412480" cy="12801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200" b="1" i="0" lang="he-IL">
                <a:solidFill>
                  <a:srgbClr val="212121"/>
                </a:solidFill>
              </a:rPr>
              <a:t>אף שינוי לא נכנס ל־main בלי שמישהו קרא אותו.</a:t>
            </a:r>
          </a:p>
          <a:p>
            <a:pPr rtl="1" algn="ctr" marL="0" indent="0">
              <a:lnSpc>
                <a:spcPct val="110000"/>
              </a:lnSpc>
              <a:spcBef>
                <a:spcPts val="0"/>
              </a:spcBef>
              <a:spcAft>
                <a:spcPts val="0"/>
              </a:spcAft>
              <a:buNone/>
            </a:pPr>
            <a:r>
              <a:rPr sz="1800" b="0" i="0" lang="he-IL">
                <a:solidFill>
                  <a:srgbClr val="595959"/>
                </a:solidFill>
              </a:rPr>
              <a:t>בפרויקט הקבוצתי: סוקרים אחד את השני.</a:t>
            </a:r>
          </a:p>
        </p:txBody>
      </p:sp>
      <p:sp>
        <p:nvSpPr>
          <p:cNvPr id="13"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הסוכן הפך את כל הבדיקות לירוקות. מה תבדקו לפני שממזגים?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הסוכן הפך את כל הבדיקות לירוקות. מה תבדקו לפני שממזגים?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האם בדיקות נמחקו או הוחלשו (מספר הבדיקות, וה־diff).</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האם שונו קבצים או התנהגות שלא התבקשו, והאם יש ערכים קבועים או סודות.</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HM_08.ipynb. חלקים ד׳-ו׳: בדיקות AI וסקירה.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HM_08.ipynb. חלקים ד׳-ו׳: בדיקות AI וסקירה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ל־HM_08.ipynb</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ג׳ : בדיקות של AI וסקירת סוכן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לזהות בדיקות חלשות של AI, ולסקור שינוי של סוכן (diff ממפגש 6).</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בדיקות חלשות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find_weak_asserts: מסמנת שורות חלשות, ומודדים גם כלי אמיתי</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קוראים את ה־diff</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changed_files, removed_tests: אילו קבצים שונו, מה נמחק</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ממצאים והחלטה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findings, decision: לפחות 5 ממצאים, וההחלטה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אם נגמר הזמן, חלקים ד׳ ו־ה׳ אפשר להשלים בבית. בסוף: מסקנה בחמישה משפטים.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a:t>
            </a:r>
            <a:r>
              <a:rPr sz="3000" b="1" i="0" lang="he-IL">
                <a:solidFill>
                  <a:srgbClr val="212121"/>
                </a:solidFill>
              </a:rPr>
              <a:t>מעבדה ג׳</a:t>
            </a:r>
            <a:r>
              <a:rPr sz="3000" b="0" i="0" lang="he-IL">
                <a:solidFill>
                  <a:srgbClr val="212121"/>
                </a:solidFill>
              </a:rPr>
              <a:t> : המשימה והשינוי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sp>
        <p:nvSpPr>
          <p:cNvPr id="6" name="Rounded Rectangle 5"/>
          <p:cNvSpPr/>
          <p:nvPr/>
        </p:nvSpPr>
        <p:spPr>
          <a:xfrm>
            <a:off x="365760" y="1371600"/>
            <a:ext cx="8412480" cy="6400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משימה: "הוסף ל־report.py פונקציה שמחזירה את המוצרים שהמלאי שלהם נמוך מנקודת ההזמנה."</a:t>
            </a:r>
          </a:p>
        </p:txBody>
      </p:sp>
      <p:sp>
        <p:nvSpPr>
          <p:cNvPr id="7" name="Rectangle 6"/>
          <p:cNvSpPr/>
          <p:nvPr/>
        </p:nvSpPr>
        <p:spPr>
          <a:xfrm>
            <a:off x="365760" y="2194560"/>
            <a:ext cx="8412480" cy="33832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import os</a:t>
            </a:r>
          </a:p>
        </p:txBody>
      </p:sp>
      <p:sp>
        <p:nvSpPr>
          <p:cNvPr id="8" name="Rectangle 7"/>
          <p:cNvSpPr/>
          <p:nvPr/>
        </p:nvSpPr>
        <p:spPr>
          <a:xfrm>
            <a:off x="365760" y="2560320"/>
            <a:ext cx="8412480" cy="33832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DEFAULT_PATH = "C:/Users/ran/orders.csv"</a:t>
            </a:r>
          </a:p>
        </p:txBody>
      </p:sp>
      <p:sp>
        <p:nvSpPr>
          <p:cNvPr id="9" name="Rectangle 8"/>
          <p:cNvSpPr/>
          <p:nvPr/>
        </p:nvSpPr>
        <p:spPr>
          <a:xfrm>
            <a:off x="365760" y="2926080"/>
            <a:ext cx="8412480" cy="33832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def low_stock(stock, rop):</a:t>
            </a:r>
          </a:p>
        </p:txBody>
      </p:sp>
      <p:sp>
        <p:nvSpPr>
          <p:cNvPr id="10" name="Rectangle 9"/>
          <p:cNvSpPr/>
          <p:nvPr/>
        </p:nvSpPr>
        <p:spPr>
          <a:xfrm>
            <a:off x="365760" y="3291840"/>
            <a:ext cx="8412480" cy="33832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 if on_hand &lt; rop[...] * 1.1:</a:t>
            </a:r>
          </a:p>
        </p:txBody>
      </p:sp>
      <p:sp>
        <p:nvSpPr>
          <p:cNvPr id="11" name="Rectangle 10"/>
          <p:cNvSpPr/>
          <p:nvPr/>
        </p:nvSpPr>
        <p:spPr>
          <a:xfrm>
            <a:off x="365760" y="3657600"/>
            <a:ext cx="8412480" cy="338328"/>
          </a:xfrm>
          <a:prstGeom prst="rect">
            <a:avLst/>
          </a:prstGeom>
          <a:solidFill>
            <a:srgbClr val="FDE3E0"/>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return math.sqrt(2 * D * S / H)          (inventory.py)</a:t>
            </a:r>
          </a:p>
        </p:txBody>
      </p:sp>
      <p:sp>
        <p:nvSpPr>
          <p:cNvPr id="12" name="Rectangle 11"/>
          <p:cNvSpPr/>
          <p:nvPr/>
        </p:nvSpPr>
        <p:spPr>
          <a:xfrm>
            <a:off x="365760" y="4023360"/>
            <a:ext cx="8412480" cy="33832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return round(math.sqrt(2 * D * S / H))     (inventory.py)</a:t>
            </a:r>
          </a:p>
        </p:txBody>
      </p:sp>
      <p:sp>
        <p:nvSpPr>
          <p:cNvPr id="13" name="Rectangle 12"/>
          <p:cNvSpPr/>
          <p:nvPr/>
        </p:nvSpPr>
        <p:spPr>
          <a:xfrm>
            <a:off x="365760" y="4389120"/>
            <a:ext cx="8412480" cy="338328"/>
          </a:xfrm>
          <a:prstGeom prst="rect">
            <a:avLst/>
          </a:prstGeom>
          <a:solidFill>
            <a:srgbClr val="FDE3E0"/>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latin typeface="Courier New"/>
              </a:rPr>
              <a:t>- def test_eoq_typical(): ...             (test_inventory.py)</a:t>
            </a:r>
          </a:p>
        </p:txBody>
      </p:sp>
      <p:sp>
        <p:nvSpPr>
          <p:cNvPr id="14" name="TextBox 13"/>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קטע מה־diff. הקובץ המלא מודפס במחברת.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מעבדה ג׳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בדיקות של AI</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5 בדיקות ירוקות תופסות רק 2 מתוך 6 מוטנטים, ו־5 שורות חלשות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שינוי הסוכן</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3 קבצים שונו, בדיקה אחת נמחקה, וירוק עם 3 בדיקות במקום 4</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ממצאים והחלטה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לפחות 5 ממצאים מסוגים שונים, וההחלטה: request_changes</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הכלל: ירוק לא מספיק. סופרים בדיקות, קוראים את ה־diff, ומבקשים תיקון לפני מיזוג.</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a:t>
            </a:r>
            <a:r>
              <a:rPr sz="3000" b="1" i="0" lang="he-IL">
                <a:solidFill>
                  <a:srgbClr val="212121"/>
                </a:solidFill>
              </a:rPr>
              <a:t>מעבדה ג׳</a:t>
            </a:r>
            <a:r>
              <a:rPr sz="3000" b="0" i="0" lang="he-IL">
                <a:solidFill>
                  <a:srgbClr val="212121"/>
                </a:solidFill>
              </a:rPr>
              <a:t> : הממצאים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graphicFrame>
        <p:nvGraphicFramePr>
          <p:cNvPr id="6" name="Table 5"/>
          <p:cNvGraphicFramePr>
            <a:graphicFrameLocks noGrp="1"/>
          </p:cNvGraphicFramePr>
          <p:nvPr/>
        </p:nvGraphicFramePr>
        <p:xfrm>
          <a:off x="365760" y="1371600"/>
          <a:ext cx="8412480" cy="3520440"/>
        </p:xfrm>
        <a:graphic>
          <a:graphicData uri="http://schemas.openxmlformats.org/drawingml/2006/table">
            <a:tbl>
              <a:tblPr firstRow="0" bandRow="0">
                <a:tableStyleId>{2D5ABB26-0587-4C30-8999-92F81FD0307C}</a:tableStyleId>
              </a:tblPr>
              <a:tblGrid>
                <a:gridCol w="2103120"/>
                <a:gridCol w="5852160"/>
                <a:gridCol w="457200"/>
              </a:tblGrid>
              <a:tr h="502920">
                <a:tc>
                  <a:txBody>
                    <a:bodyPr wrap="square"/>
                    <a:lstStyle/>
                    <a:p>
                      <a:pPr rtl="1" algn="ctr" marL="0" indent="0">
                        <a:lnSpc>
                          <a:spcPct val="100000"/>
                        </a:lnSpc>
                        <a:spcBef>
                          <a:spcPts val="0"/>
                        </a:spcBef>
                        <a:spcAft>
                          <a:spcPts val="0"/>
                        </a:spcAft>
                        <a:buNone/>
                      </a:pPr>
                      <a:r>
                        <a:rPr sz="1400" b="1" i="0" lang="he-IL">
                          <a:solidFill>
                            <a:srgbClr val="212121"/>
                          </a:solidFill>
                        </a:rPr>
                        <a:t>סוג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ממצא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בדיקה נמחקה, ולכן הכל ירוק עם פחות 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קובץ לא מבוקש / התנהגות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קובץ לא מבוקש שונה, ו־round פגע בדיוק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ערך קבוע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נתיב קשיח של מחשב אישי בקוד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מספר קסם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המספר 1.1 בלי שם והסבר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שאריות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ייבוא (os) ומשתנה (unused) שלא בשימוש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400" b="0" i="0" lang="he-IL">
                          <a:solidFill>
                            <a:srgbClr val="212121"/>
                          </a:solidFill>
                        </a:rPr>
                        <a:t>מקרה קצה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אין טיפול ברשימה ריקה או במוצר חסר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a:t>
            </a:r>
            <a:r>
              <a:rPr sz="3000" b="1" i="0" lang="he-IL">
                <a:solidFill>
                  <a:srgbClr val="212121"/>
                </a:solidFill>
              </a:rPr>
              <a:t>מעבדה ג׳</a:t>
            </a:r>
            <a:r>
              <a:rPr sz="3000" b="0" i="0" lang="he-IL">
                <a:solidFill>
                  <a:srgbClr val="212121"/>
                </a:solidFill>
              </a:rPr>
              <a:t> : ההחלטה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14 דקות</a:t>
            </a:r>
          </a:p>
        </p:txBody>
      </p:sp>
      <p:sp>
        <p:nvSpPr>
          <p:cNvPr id="6" name="Rounded Rectangle 5"/>
          <p:cNvSpPr/>
          <p:nvPr/>
        </p:nvSpPr>
        <p:spPr>
          <a:xfrm>
            <a:off x="365760" y="1417320"/>
            <a:ext cx="8412480" cy="1097280"/>
          </a:xfrm>
          <a:prstGeom prst="roundRect">
            <a:avLst>
              <a:gd name="adj" fmla="val 12000"/>
            </a:avLst>
          </a:prstGeom>
          <a:solidFill>
            <a:srgbClr val="FDE3E0"/>
          </a:solidFill>
          <a:ln w="3810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600" b="1" i="0" lang="he-IL">
                <a:solidFill>
                  <a:srgbClr val="EA4335"/>
                </a:solidFill>
              </a:rPr>
              <a:t>החלטה: לא ממזגים. מבקשים תיקון.</a:t>
            </a:r>
          </a:p>
        </p:txBody>
      </p:sp>
      <p:sp>
        <p:nvSpPr>
          <p:cNvPr id="7" name="TextBox 6"/>
          <p:cNvSpPr txBox="1"/>
          <p:nvPr/>
        </p:nvSpPr>
        <p:spPr>
          <a:xfrm>
            <a:off x="365760" y="2743200"/>
            <a:ext cx="8412480" cy="146304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Revert changes to inventory.py and restore the deleted test.</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Replace the hard-coded path with a parameter, name the 1.1 constant,</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remove unused code, and handle an empty input. Then run all tests.</a:t>
            </a:r>
          </a:p>
        </p:txBody>
      </p:sp>
      <p:sp>
        <p:nvSpPr>
          <p:cNvPr id="8" name="TextBox 7"/>
          <p:cNvSpPr txBox="1"/>
          <p:nvPr/>
        </p:nvSpPr>
        <p:spPr>
          <a:xfrm>
            <a:off x="365760" y="438912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595959"/>
                </a:solidFill>
              </a:rPr>
              <a:t>אחרי התיקון: סוקרים שוב. הכל מתחיל מחדש עד שה־diff נקי.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:פירמידת הבדיקות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14" name="Rounded Rectangle 12"/>
          <p:cNvSpPr/>
          <p:nvPr/>
        </p:nvSpPr>
        <p:spPr>
          <a:xfrm>
            <a:off x="5255999" y="1440000"/>
            <a:ext cx="2015999" cy="8640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5" name="TextBox 6"/>
          <p:cNvSpPr txBox="1"/>
          <p:nvPr/>
        </p:nvSpPr>
        <p:spPr>
          <a:xfrm>
            <a:off x="5255999" y="1602000"/>
            <a:ext cx="2015999" cy="5400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קצה לקצה</a:t>
            </a:r>
          </a:p>
        </p:txBody>
      </p:sp>
      <p:sp>
        <p:nvSpPr>
          <p:cNvPr id="16" name="TextBox 7"/>
          <p:cNvSpPr txBox="1"/>
          <p:nvPr/>
        </p:nvSpPr>
        <p:spPr>
          <a:xfrm>
            <a:off x="324000" y="1512000"/>
            <a:ext cx="3384000" cy="792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כל המערכת כמו משתמש: מעט בדיקות, איטיות ושבירות.</a:t>
            </a:r>
          </a:p>
        </p:txBody>
      </p:sp>
      <p:sp>
        <p:nvSpPr>
          <p:cNvPr id="17" name="Rounded Rectangle 8"/>
          <p:cNvSpPr/>
          <p:nvPr/>
        </p:nvSpPr>
        <p:spPr>
          <a:xfrm>
            <a:off x="4535999" y="2376000"/>
            <a:ext cx="3456000" cy="8640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8" name="TextBox 6"/>
          <p:cNvSpPr txBox="1"/>
          <p:nvPr/>
        </p:nvSpPr>
        <p:spPr>
          <a:xfrm>
            <a:off x="4535999" y="2538000"/>
            <a:ext cx="3456000" cy="5400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שילוב</a:t>
            </a:r>
          </a:p>
        </p:txBody>
      </p:sp>
      <p:sp>
        <p:nvSpPr>
          <p:cNvPr id="19" name="TextBox 7"/>
          <p:cNvSpPr txBox="1"/>
          <p:nvPr/>
        </p:nvSpPr>
        <p:spPr>
          <a:xfrm>
            <a:off x="324000" y="2448000"/>
            <a:ext cx="3384000" cy="792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כמה חלקים יחד: קובץ הזמנות ← חישוב ← דוח. פחות בדיקות.</a:t>
            </a:r>
          </a:p>
        </p:txBody>
      </p:sp>
      <p:sp>
        <p:nvSpPr>
          <p:cNvPr id="20" name="Rounded Rectangle 4"/>
          <p:cNvSpPr/>
          <p:nvPr/>
        </p:nvSpPr>
        <p:spPr>
          <a:xfrm>
            <a:off x="3815999" y="3311999"/>
            <a:ext cx="4896000" cy="86400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21" name="TextBox 6"/>
          <p:cNvSpPr txBox="1"/>
          <p:nvPr/>
        </p:nvSpPr>
        <p:spPr>
          <a:xfrm>
            <a:off x="3815999" y="3473999"/>
            <a:ext cx="4896000" cy="5400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יחידה</a:t>
            </a:r>
          </a:p>
        </p:txBody>
      </p:sp>
      <p:sp>
        <p:nvSpPr>
          <p:cNvPr id="22" name="TextBox 7"/>
          <p:cNvSpPr txBox="1"/>
          <p:nvPr/>
        </p:nvSpPr>
        <p:spPr>
          <a:xfrm>
            <a:off x="324000" y="3383999"/>
            <a:ext cx="3384000" cy="7920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פונקציה אחת, כמו calc_eoq: הרבה בדיקות, מהירות וזולות.</a:t>
            </a:r>
          </a:p>
        </p:txBody>
      </p:sp>
      <p:sp>
        <p:nvSpPr>
          <p:cNvPr id="23" name="Rounded Rectangle 16"/>
          <p:cNvSpPr/>
          <p:nvPr/>
        </p:nvSpPr>
        <p:spPr>
          <a:xfrm>
            <a:off x="360000" y="4428000"/>
            <a:ext cx="8424000" cy="5400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כלל אצבע של Cohn, 2009: הרבה בדיקות קטנות בבסיס, מעט גדולות בקצה.</a:t>
            </a:r>
          </a:p>
        </p:txBody>
      </p:sp>
      <p:sp>
        <p:nvSpPr>
          <p:cNvPr id="2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:כיסוי קוד מול ציון הרג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24000" cy="2560320"/>
        </p:xfrm>
        <a:graphic>
          <a:graphicData uri="http://schemas.openxmlformats.org/drawingml/2006/table">
            <a:tbl>
              <a:tblPr firstRow="0" bandRow="0">
                <a:tableStyleId>{2D5ABB26-0587-4C30-8999-92F81FD0307C}</a:tableStyleId>
              </a:tblPr>
              <a:tblGrid>
                <a:gridCol w="3240000"/>
                <a:gridCol w="3240000"/>
                <a:gridCol w="1944000"/>
              </a:tblGrid>
              <a:tr h="640080">
                <a:tc>
                  <a:txBody>
                    <a:bodyPr wrap="square"/>
                    <a:lstStyle/>
                    <a:p>
                      <a:pPr rtl="1" algn="ctr" marL="0" indent="0">
                        <a:lnSpc>
                          <a:spcPct val="100000"/>
                        </a:lnSpc>
                        <a:spcBef>
                          <a:spcPts val="0"/>
                        </a:spcBef>
                        <a:spcAft>
                          <a:spcPts val="0"/>
                        </a:spcAft>
                        <a:buNone/>
                      </a:pPr>
                      <a:r>
                        <a:rPr sz="1700" b="1" i="0" lang="he-IL">
                          <a:solidFill>
                            <a:srgbClr val="212121"/>
                          </a:solidFill>
                        </a:rPr>
                        <a:t>מה הוא לא מודד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מה הוא מודד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מדד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האם הבדיקה בדקה את התוצאה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אילו שורות וענפים הבדיקות הריצו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כיסוי 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האם המוטנטים דומים לבאגים אמיתיים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כמה גרסאות שבורות בכוונה נתפסו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ציון הרג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ציון הרג: 2 מתוך 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בדיקות AI חלשות: כיסוי 100%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מהמעבדה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20624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כיסוי גבוה אינו הוכחה לבדיקות טובות. מקור: Inozemtseva &amp; Holmes 2014</a:t>
            </a:r>
          </a:p>
          <a:p>
            <a:pPr rtl="1" algn="ctr" marL="0" indent="0">
              <a:lnSpc>
                <a:spcPct val="110000"/>
              </a:lnSpc>
              <a:spcBef>
                <a:spcPts val="0"/>
              </a:spcBef>
              <a:spcAft>
                <a:spcPts val="0"/>
              </a:spcAft>
              <a:buNone/>
            </a:pPr>
            <a:r>
              <a:rPr sz="1900" b="1" i="0" lang="he-IL">
                <a:solidFill>
                  <a:srgbClr val="4285F4"/>
                </a:solidFill>
              </a:rPr>
              <a:t>ציון הרג יקר יותר: מריצים את הבדיקות מחדש לכל מוטנט.</a:t>
            </a:r>
          </a:p>
        </p:txBody>
      </p:sp>
      <p:sp>
        <p:nvSpPr>
          <p:cNvPr id="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:אורקל הבדיקה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נוסחה או מפרט</a:t>
            </a:r>
          </a:p>
        </p:txBody>
      </p:sp>
      <p:sp>
        <p:nvSpPr>
          <p:cNvPr id="8" name="TextBox 7"/>
          <p:cNvSpPr txBox="1"/>
          <p:nvPr/>
        </p:nvSpPr>
        <p:spPr>
          <a:xfrm>
            <a:off x="6309360"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הציפייה מחושבת מחוץ לקוד, מהנוסחה: 244.95. זה מה שעשינו עד כה.</a:t>
            </a:r>
          </a:p>
        </p:txBody>
      </p:sp>
      <p:sp>
        <p:nvSpPr>
          <p:cNvPr id="9" name="Rounded Rectangle 8"/>
          <p:cNvSpPr/>
          <p:nvPr/>
        </p:nvSpPr>
        <p:spPr>
          <a:xfrm>
            <a:off x="324612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מימוש ייחוס</a:t>
            </a:r>
          </a:p>
        </p:txBody>
      </p:sp>
      <p:sp>
        <p:nvSpPr>
          <p:cNvPr id="12" name="TextBox 11"/>
          <p:cNvSpPr txBox="1"/>
          <p:nvPr/>
        </p:nvSpPr>
        <p:spPr>
          <a:xfrm>
            <a:off x="338327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משווים לגרסה אחרת, ישנה או איטית אבל אמינה. גם היא יכולה לטעות.</a:t>
            </a:r>
          </a:p>
        </p:txBody>
      </p:sp>
      <p:sp>
        <p:nvSpPr>
          <p:cNvPr id="13" name="Rounded Rectangle 12"/>
          <p:cNvSpPr/>
          <p:nvPr/>
        </p:nvSpPr>
        <p:spPr>
          <a:xfrm>
            <a:off x="320039"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קשר בין תוצאות</a:t>
            </a:r>
          </a:p>
        </p:txBody>
      </p:sp>
      <p:sp>
        <p:nvSpPr>
          <p:cNvPr id="16" name="TextBox 15"/>
          <p:cNvSpPr txBox="1"/>
          <p:nvPr/>
        </p:nvSpPr>
        <p:spPr>
          <a:xfrm>
            <a:off x="45719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אם הביקוש גדל פי 4, EOQ גדל פי 2. בלי לדעת את הערך המדויק.</a:t>
            </a:r>
          </a:p>
        </p:txBody>
      </p:sp>
      <p:sp>
        <p:nvSpPr>
          <p:cNvPr id="17" name="Rounded Rectangle 16"/>
          <p:cNvSpPr/>
          <p:nvPr/>
        </p:nvSpPr>
        <p:spPr>
          <a:xfrm>
            <a:off x="365760" y="4434840"/>
            <a:ext cx="8412480" cy="5486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כש־AI כותב גם קוד וגם בדיקה, האורקל הוא הקוד עצמו. אדם צריך לספק אורקל חיצוני.</a:t>
            </a:r>
          </a:p>
        </p:txBody>
      </p:sp>
      <p:sp>
        <p:nvSpPr>
          <p:cNvPr id="18"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:בדיקה מבוססת תכונות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17320"/>
            <a:ext cx="2697480" cy="10058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① קלטים</a:t>
            </a:r>
          </a:p>
          <a:p>
            <a:pPr rtl="1" algn="ctr" marL="0" indent="0">
              <a:lnSpc>
                <a:spcPct val="105000"/>
              </a:lnSpc>
              <a:spcBef>
                <a:spcPts val="0"/>
              </a:spcBef>
              <a:spcAft>
                <a:spcPts val="0"/>
              </a:spcAft>
              <a:buNone/>
            </a:pPr>
            <a:r>
              <a:rPr sz="2000" b="1" i="0" lang="he-IL">
                <a:solidFill>
                  <a:srgbClr val="212121"/>
                </a:solidFill>
              </a:rPr>
              <a:t>הכלי ממציא מאות קלטים</a:t>
            </a:r>
          </a:p>
        </p:txBody>
      </p:sp>
      <p:sp>
        <p:nvSpPr>
          <p:cNvPr id="6" name="Rounded Rectangle 5"/>
          <p:cNvSpPr/>
          <p:nvPr/>
        </p:nvSpPr>
        <p:spPr>
          <a:xfrm>
            <a:off x="3246120" y="1417320"/>
            <a:ext cx="2697480" cy="10058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② פעולה</a:t>
            </a:r>
          </a:p>
          <a:p>
            <a:pPr rtl="1" algn="ctr" marL="0" indent="0">
              <a:lnSpc>
                <a:spcPct val="105000"/>
              </a:lnSpc>
              <a:spcBef>
                <a:spcPts val="0"/>
              </a:spcBef>
              <a:spcAft>
                <a:spcPts val="0"/>
              </a:spcAft>
              <a:buNone/>
            </a:pPr>
            <a:r>
              <a:rPr sz="2000" b="1" i="0" lang="he-IL">
                <a:solidFill>
                  <a:srgbClr val="212121"/>
                </a:solidFill>
              </a:rPr>
              <a:t>מפעילים את הפונקציה כרגיל</a:t>
            </a:r>
          </a:p>
        </p:txBody>
      </p:sp>
      <p:sp>
        <p:nvSpPr>
          <p:cNvPr id="7" name="Rounded Rectangle 6"/>
          <p:cNvSpPr/>
          <p:nvPr/>
        </p:nvSpPr>
        <p:spPr>
          <a:xfrm>
            <a:off x="320039" y="1417320"/>
            <a:ext cx="2697480" cy="10058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③ תכונה</a:t>
            </a:r>
          </a:p>
          <a:p>
            <a:pPr rtl="1" algn="ctr" marL="0" indent="0">
              <a:lnSpc>
                <a:spcPct val="105000"/>
              </a:lnSpc>
              <a:spcBef>
                <a:spcPts val="0"/>
              </a:spcBef>
              <a:spcAft>
                <a:spcPts val="0"/>
              </a:spcAft>
              <a:buNone/>
            </a:pPr>
            <a:r>
              <a:rPr sz="2000" b="1" i="0" lang="he-IL">
                <a:solidFill>
                  <a:srgbClr val="212121"/>
                </a:solidFill>
              </a:rPr>
              <a:t>בודקים קשר שנכון תמיד</a:t>
            </a:r>
          </a:p>
        </p:txBody>
      </p:sp>
      <p:sp>
        <p:nvSpPr>
          <p:cNvPr id="8" name="Rectangle 7"/>
          <p:cNvSpPr/>
          <p:nvPr/>
        </p:nvSpPr>
        <p:spPr>
          <a:xfrm>
            <a:off x="731520" y="2671200"/>
            <a:ext cx="7680960" cy="429768"/>
          </a:xfrm>
          <a:prstGeom prst="rect">
            <a:avLst/>
          </a:prstGeom>
          <a:solidFill>
            <a:srgbClr val="F7F7F7"/>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@given(pos, pos, pos)</a:t>
            </a:r>
          </a:p>
        </p:txBody>
      </p:sp>
      <p:sp>
        <p:nvSpPr>
          <p:cNvPr id="9" name="Rectangle 8"/>
          <p:cNvSpPr/>
          <p:nvPr/>
        </p:nvSpPr>
        <p:spPr>
          <a:xfrm>
            <a:off x="731520" y="3128400"/>
            <a:ext cx="7680960" cy="429768"/>
          </a:xfrm>
          <a:prstGeom prst="rect">
            <a:avLst/>
          </a:prstGeom>
          <a:solidFill>
            <a:srgbClr val="E3EEFF"/>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def test_balance(d, s, h):    # d, s, h אקראיים</a:t>
            </a:r>
          </a:p>
        </p:txBody>
      </p:sp>
      <p:sp>
        <p:nvSpPr>
          <p:cNvPr id="10" name="Rectangle 9"/>
          <p:cNvSpPr/>
          <p:nvPr/>
        </p:nvSpPr>
        <p:spPr>
          <a:xfrm>
            <a:off x="731520" y="3585600"/>
            <a:ext cx="7680960" cy="429768"/>
          </a:xfrm>
          <a:prstGeom prst="rect">
            <a:avLst/>
          </a:prstGeom>
          <a:solidFill>
            <a:srgbClr val="FFF0D9"/>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    q = calc_eoq(d, s, h)</a:t>
            </a:r>
          </a:p>
        </p:txBody>
      </p:sp>
      <p:sp>
        <p:nvSpPr>
          <p:cNvPr id="11" name="Rectangle 10"/>
          <p:cNvSpPr/>
          <p:nvPr/>
        </p:nvSpPr>
        <p:spPr>
          <a:xfrm>
            <a:off x="731520" y="4042800"/>
            <a:ext cx="7680960" cy="42976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latin typeface="Courier New"/>
              </a:rPr>
              <a:t>    assert d / q * s == approx(q / 2 * h)    # עלות הזמנה = עלות החזקה</a:t>
            </a:r>
          </a:p>
        </p:txBody>
      </p:sp>
      <p:sp>
        <p:nvSpPr>
          <p:cNvPr id="12" name="TextBox 7"/>
          <p:cNvSpPr txBox="1"/>
          <p:nvPr/>
        </p:nvSpPr>
        <p:spPr>
          <a:xfrm>
            <a:off x="360000" y="4500000"/>
            <a:ext cx="8424000" cy="54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התכונה הזו לבדה תופסת 3 מתוך 6 מוטנטים. כשיש כשל, הכלי מכווץ אותו לדוגמה קצרה.</a:t>
            </a:r>
          </a:p>
        </p:txBody>
      </p:sp>
      <p:sp>
        <p:nvSpPr>
          <p:cNvPr id="13"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:TDD, מה הראיות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24000" cy="2560320"/>
        </p:xfrm>
        <a:graphic>
          <a:graphicData uri="http://schemas.openxmlformats.org/drawingml/2006/table">
            <a:tbl>
              <a:tblPr firstRow="0" bandRow="0">
                <a:tableStyleId>{2D5ABB26-0587-4C30-8999-92F81FD0307C}</a:tableStyleId>
              </a:tblPr>
              <a:tblGrid>
                <a:gridCol w="2520000"/>
                <a:gridCol w="3744000"/>
                <a:gridCol w="2160000"/>
              </a:tblGrid>
              <a:tr h="640080">
                <a:tc>
                  <a:txBody>
                    <a:bodyPr wrap="square"/>
                    <a:lstStyle/>
                    <a:p>
                      <a:pPr rtl="1" algn="ctr" marL="0" indent="0">
                        <a:lnSpc>
                          <a:spcPct val="100000"/>
                        </a:lnSpc>
                        <a:spcBef>
                          <a:spcPts val="0"/>
                        </a:spcBef>
                        <a:spcAft>
                          <a:spcPts val="0"/>
                        </a:spcAft>
                        <a:buNone/>
                      </a:pPr>
                      <a:r>
                        <a:rPr sz="1700" b="1" i="0" lang="he-IL">
                          <a:solidFill>
                            <a:srgbClr val="212121"/>
                          </a:solidFill>
                        </a:rPr>
                        <a:t>הסתייגות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מה נמצא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700" b="1" i="0" lang="he-IL">
                          <a:solidFill>
                            <a:srgbClr val="212121"/>
                          </a:solidFill>
                        </a:rPr>
                        <a:t>מקור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מחקרי מקרים, לא ניסוי מבוקר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פגמים: 40% עד 90% פחות. זמן פיתוח: 15% עד 35% יותר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Nagappan ועמיתים, 2008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82 נקודות מידע, 39 אנשי מקצוע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הסדר בדיקה-קודם לא השפיע. צעדים קטנים ויציבים 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Fucci ועמיתים, 2017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המלצת פרקטיקה, לא תוצאה מדודה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אדום, ירוק, שיפור: צעדים קטנים עם משוב מהיר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Beck, 2002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20624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עובדה: התוצאות מעורבות. המלצת הקורס: לראות אדום לפני ירוק,</a:t>
            </a:r>
          </a:p>
          <a:p>
            <a:pPr rtl="1" algn="ctr" marL="0" indent="0">
              <a:lnSpc>
                <a:spcPct val="110000"/>
              </a:lnSpc>
              <a:spcBef>
                <a:spcPts val="0"/>
              </a:spcBef>
              <a:spcAft>
                <a:spcPts val="0"/>
              </a:spcAft>
              <a:buNone/>
            </a:pPr>
            <a:r>
              <a:rPr sz="1900" b="1" i="0" lang="he-IL">
                <a:solidFill>
                  <a:srgbClr val="4285F4"/>
                </a:solidFill>
              </a:rPr>
              <a:t>כדי להוכיח שהבדיקה יכולה להיכשל. זה נימוק לוגי, לא מדד פרודוקטיביות.</a:t>
            </a:r>
          </a:p>
        </p:txBody>
      </p:sp>
      <p:sp>
        <p:nvSpPr>
          <p:cNvPr id="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:מה המחקר אומר על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7" name="TextBox 6"/>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בדיקות מעטות</a:t>
            </a:r>
          </a:p>
        </p:txBody>
      </p:sp>
      <p:sp>
        <p:nvSpPr>
          <p:cNvPr id="8" name="TextBox 7"/>
          <p:cNvSpPr txBox="1"/>
          <p:nvPr/>
        </p:nvSpPr>
        <p:spPr>
          <a:xfrm>
            <a:off x="6309360"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EvalPlus: פי 80 בדיקות הורידו את pass@k בעד 19.3% עד 28.9%.</a:t>
            </a:r>
          </a:p>
        </p:txBody>
      </p:sp>
      <p:sp>
        <p:nvSpPr>
          <p:cNvPr id="9" name="Rounded Rectangle 8"/>
          <p:cNvSpPr/>
          <p:nvPr/>
        </p:nvSpPr>
        <p:spPr>
          <a:xfrm>
            <a:off x="3246120"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1" name="TextBox 10"/>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קוד פגיע</a:t>
            </a:r>
          </a:p>
        </p:txBody>
      </p:sp>
      <p:sp>
        <p:nvSpPr>
          <p:cNvPr id="12" name="TextBox 11"/>
          <p:cNvSpPr txBox="1"/>
          <p:nvPr/>
        </p:nvSpPr>
        <p:spPr>
          <a:xfrm>
            <a:off x="338327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Pearce ועמיתים: כ־40% מ־1,689 תוכניות של Copilot היו פגיעות.</a:t>
            </a:r>
          </a:p>
        </p:txBody>
      </p:sp>
      <p:sp>
        <p:nvSpPr>
          <p:cNvPr id="13" name="Rounded Rectangle 12"/>
          <p:cNvSpPr/>
          <p:nvPr/>
        </p:nvSpPr>
        <p:spPr>
          <a:xfrm>
            <a:off x="320039" y="1463040"/>
            <a:ext cx="2697480" cy="27432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5" name="TextBox 14"/>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משנה בדיקות</a:t>
            </a:r>
          </a:p>
        </p:txBody>
      </p:sp>
      <p:sp>
        <p:nvSpPr>
          <p:cNvPr id="16" name="TextBox 15"/>
          <p:cNvSpPr txBox="1"/>
          <p:nvPr/>
        </p:nvSpPr>
        <p:spPr>
          <a:xfrm>
            <a:off x="457199" y="3063240"/>
            <a:ext cx="242316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דוח Claude 3.7 Sonnet: לעיתים החזיר ערכי בדיקה או שינה בדיקה.</a:t>
            </a:r>
          </a:p>
        </p:txBody>
      </p:sp>
      <p:sp>
        <p:nvSpPr>
          <p:cNvPr id="17" name="Rounded Rectangle 16"/>
          <p:cNvSpPr/>
          <p:nvPr/>
        </p:nvSpPr>
        <p:spPr>
          <a:xfrm>
            <a:off x="365760" y="4434840"/>
            <a:ext cx="8412480" cy="5486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בדיקות חלשות מאשרות קוד שגוי. לכן מודדים את הבדיקות, וקוראים את ה־diff.</a:t>
            </a:r>
          </a:p>
        </p:txBody>
      </p:sp>
      <p:sp>
        <p:nvSpPr>
          <p:cNvPr id="18"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 להעמקה :מקורות להעמקה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7" name="Source 1"/>
          <p:cNvSpPr/>
          <p:nvPr/>
        </p:nvSpPr>
        <p:spPr>
          <a:xfrm>
            <a:off x="360000" y="1332000"/>
            <a:ext cx="8424000" cy="413999"/>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Beck, K. (2002). Test-Driven Development: By Example. Addison-Wesley.</a:t>
            </a:r>
          </a:p>
        </p:txBody>
      </p:sp>
      <p:sp>
        <p:nvSpPr>
          <p:cNvPr id="8" name="Source 2"/>
          <p:cNvSpPr/>
          <p:nvPr/>
        </p:nvSpPr>
        <p:spPr>
          <a:xfrm>
            <a:off x="360000" y="1792800"/>
            <a:ext cx="8424000" cy="413999"/>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Fowler, M. (2018). Refactoring: Improving the Design of Existing Code, 2nd ed. Addison-Wesley.</a:t>
            </a:r>
          </a:p>
        </p:txBody>
      </p:sp>
      <p:sp>
        <p:nvSpPr>
          <p:cNvPr id="9" name="Source 3"/>
          <p:cNvSpPr/>
          <p:nvPr/>
        </p:nvSpPr>
        <p:spPr>
          <a:xfrm>
            <a:off x="360000" y="2253600"/>
            <a:ext cx="8424000" cy="413999"/>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DeMillo, R., Lipton, R., Sayward, F. (1978). Hints on Test Data Selection. IEEE Computer 11(4).</a:t>
            </a:r>
          </a:p>
        </p:txBody>
      </p:sp>
      <p:sp>
        <p:nvSpPr>
          <p:cNvPr id="10" name="Source 4"/>
          <p:cNvSpPr/>
          <p:nvPr/>
        </p:nvSpPr>
        <p:spPr>
          <a:xfrm>
            <a:off x="360000" y="2714400"/>
            <a:ext cx="8424000" cy="413999"/>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Inozemtseva, L., Holmes, R. (2014). Coverage Is Not Strongly Correlated with Test Suite Effectiveness. ICSE.</a:t>
            </a:r>
          </a:p>
        </p:txBody>
      </p:sp>
      <p:sp>
        <p:nvSpPr>
          <p:cNvPr id="11" name="Source 5"/>
          <p:cNvSpPr/>
          <p:nvPr/>
        </p:nvSpPr>
        <p:spPr>
          <a:xfrm>
            <a:off x="360000" y="3175200"/>
            <a:ext cx="8424000" cy="413999"/>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Barr, E. et al. (2015). The Oracle Problem in Software Testing: A Survey. IEEE TSE 41(5).</a:t>
            </a:r>
          </a:p>
        </p:txBody>
      </p:sp>
      <p:sp>
        <p:nvSpPr>
          <p:cNvPr id="12" name="Source 6"/>
          <p:cNvSpPr/>
          <p:nvPr/>
        </p:nvSpPr>
        <p:spPr>
          <a:xfrm>
            <a:off x="360000" y="3636000"/>
            <a:ext cx="8424000" cy="413999"/>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Claessen, K., Hughes, J. (2000). QuickCheck: A Lightweight Tool for Random Testing. ICFP.</a:t>
            </a:r>
          </a:p>
        </p:txBody>
      </p:sp>
      <p:sp>
        <p:nvSpPr>
          <p:cNvPr id="13" name="Source 7"/>
          <p:cNvSpPr/>
          <p:nvPr/>
        </p:nvSpPr>
        <p:spPr>
          <a:xfrm>
            <a:off x="360000" y="4096799"/>
            <a:ext cx="8424000" cy="413999"/>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Liu, J. et al. (2023). Is Your Code Generated by ChatGPT Really Correct? NeurIPS. arXiv:2305.01210</a:t>
            </a:r>
          </a:p>
        </p:txBody>
      </p:sp>
      <p:sp>
        <p:nvSpPr>
          <p:cNvPr id="14" name="Source 8"/>
          <p:cNvSpPr/>
          <p:nvPr/>
        </p:nvSpPr>
        <p:spPr>
          <a:xfrm>
            <a:off x="360000" y="4557600"/>
            <a:ext cx="8424000" cy="413999"/>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Anthropic (2025). Claude 3.7 Sonnet System Card, section 6: Excessive Focus on Passing Tests.</a:t>
            </a:r>
          </a:p>
        </p:txBody>
      </p:sp>
      <p:sp>
        <p:nvSpPr>
          <p:cNvPr id="1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קוד בלי בדיקה הוא השערה.</a:t>
            </a:r>
          </a:p>
          <a:p>
            <a:pPr rtl="1" algn="ctr" marL="0" indent="0">
              <a:lnSpc>
                <a:spcPct val="105000"/>
              </a:lnSpc>
              <a:spcBef>
                <a:spcPts val="0"/>
              </a:spcBef>
              <a:spcAft>
                <a:spcPts val="0"/>
              </a:spcAft>
              <a:buNone/>
            </a:pPr>
            <a:r>
              <a:rPr sz="3000" b="1" i="0" lang="he-IL">
                <a:solidFill>
                  <a:srgbClr val="212121"/>
                </a:solidFill>
              </a:rPr>
              <a:t>ובדיקה שלא ראיתם נכשלת היא השערה.</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מספר הבדיקות, והאם ראיתם אדום לפני ירוק: הם הראיה.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למה בדיקות ש־AI כתב על קוד של AI עלולות להיות חסרות ערך?</a:t>
            </a:r>
          </a:p>
        </p:txBody>
      </p:sp>
      <p:sp>
        <p:nvSpPr>
          <p:cNvPr id="7" name="Oval 6"/>
          <p:cNvSpPr/>
          <p:nvPr/>
        </p:nvSpPr>
        <p:spPr>
          <a:xfrm>
            <a:off x="8412480" y="2368296"/>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מהן חמש קטגוריות מקרי הבדיקה?</a:t>
            </a:r>
          </a:p>
        </p:txBody>
      </p:sp>
      <p:sp>
        <p:nvSpPr>
          <p:cNvPr id="9" name="Oval 8"/>
          <p:cNvSpPr/>
          <p:nvPr/>
        </p:nvSpPr>
        <p:spPr>
          <a:xfrm>
            <a:off x="8412480" y="32095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מה בודקים ב־diff של סוכן לפני מיזוג?</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45336"/>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הן מאשרות מה שהקוד עושה ולא מה שהוא צריך לעשות. את המפרט מספק אדם.</a:t>
            </a:r>
          </a:p>
        </p:txBody>
      </p:sp>
      <p:sp>
        <p:nvSpPr>
          <p:cNvPr id="7" name="Oval 6"/>
          <p:cNvSpPr/>
          <p:nvPr/>
        </p:nvSpPr>
        <p:spPr>
          <a:xfrm>
            <a:off x="8412480" y="2386584"/>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רגיל, גבול, ריק, לא חוקי וכלל עסקי.</a:t>
            </a:r>
          </a:p>
        </p:txBody>
      </p:sp>
      <p:sp>
        <p:nvSpPr>
          <p:cNvPr id="9" name="Oval 8"/>
          <p:cNvSpPr/>
          <p:nvPr/>
        </p:nvSpPr>
        <p:spPr>
          <a:xfrm>
            <a:off x="8412480" y="32278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קבצים שלא התבקשו, התנהגות שהשתנתה, בדיקות שנמחקו, ערכים קבועים וסודות, ומקרי קצה.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בדיקה היא קלט, תוצאה צפויה והשוואה. pytest מריץ ומדווח.</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חמש קטגוריות מקרים. את הציפיות מגדיר אדם, ממפרט.</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TDD: אדום, ירוק, שיפור. וה־AI עלול לרמות, ולכן קוראים את ה־diff.</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כלי ניתוח תופס שאריות, ובדיקות תופסות טעויות. סקירת PR היא השער לפני מיזוג.</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הכלל של היום נוסף לשרשרת: לא הרצתם, לא סומכים (2). החוזה קודם (7). בדיקה ממפרט, שראיתם אדום (8).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8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להוסיף לפרויקט הקבוצתי בדיקה ראשונה לפונקציית הליבה</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לסקור PR אחד של חבר קבוצה לפי הרשימה</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לשמור את רשימת התיוג בתיקיית הפרויקט</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דיבוג קוד ש־AI כתב</a:t>
            </a:r>
          </a:p>
          <a:p>
            <a:pPr rtl="1" algn="ctr" marL="0" indent="0">
              <a:lnSpc>
                <a:spcPct val="105000"/>
              </a:lnSpc>
              <a:spcBef>
                <a:spcPts val="0"/>
              </a:spcBef>
              <a:spcAft>
                <a:spcPts val="0"/>
              </a:spcAft>
              <a:buNone/>
            </a:pPr>
            <a:r>
              <a:rPr sz="1600" b="0" i="0" lang="he-IL">
                <a:solidFill>
                  <a:srgbClr val="595959"/>
                </a:solidFill>
              </a:rPr>
              <a:t>הבדיקה האדומה מראה שיש תקלה. איך מוצאים סיבה (בהמשך להזיות, מפגש 2).</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