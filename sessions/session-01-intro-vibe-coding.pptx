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73736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500" b="1" spc="100" kern="0" dirty="0">
                <a:solidFill>
                  <a:srgbClr val="0E9A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קורס Vibe Coding · מפגש 1 מתוך 13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2286000"/>
            <a:ext cx="1109167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מהו Vibe Coding?</a:t>
            </a:r>
            <a:endParaRPr lang="en-US" sz="5800" dirty="0"/>
          </a:p>
        </p:txBody>
      </p:sp>
      <p:sp>
        <p:nvSpPr>
          <p:cNvPr id="4" name="Text 2"/>
          <p:cNvSpPr/>
          <p:nvPr/>
        </p:nvSpPr>
        <p:spPr>
          <a:xfrm>
            <a:off x="548640" y="361188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תכנות בסיוע בינה מלאכותית — עקרונות ותהליכי עבודה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29768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600" i="1" dirty="0">
                <a:solidFill>
                  <a:srgbClr val="9AA3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תכנות בשיחה עם מכונה — במקום שורה אחר שורה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64190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EB4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25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7982712" y="64190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AEB4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· מפגש 1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250" b="1" spc="100" kern="0" dirty="0">
                <a:solidFill>
                  <a:srgbClr val="0E9A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פתיחה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33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מטרות המפגש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11137392" y="1874520"/>
            <a:ext cx="502920" cy="502920"/>
          </a:xfrm>
          <a:prstGeom prst="ellipse">
            <a:avLst/>
          </a:prstGeom>
          <a:solidFill>
            <a:srgbClr val="0E9AA7"/>
          </a:solidFill>
          <a:ln/>
        </p:spPr>
      </p:sp>
      <p:sp>
        <p:nvSpPr>
          <p:cNvPr id="5" name="Text 3"/>
          <p:cNvSpPr/>
          <p:nvPr/>
        </p:nvSpPr>
        <p:spPr>
          <a:xfrm>
            <a:off x="11137392" y="1874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85623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להבין מהו Vibe Coding — ומאיפה הגיע המונח.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1137392" y="2926080"/>
            <a:ext cx="502920" cy="502920"/>
          </a:xfrm>
          <a:prstGeom prst="ellipse">
            <a:avLst/>
          </a:prstGeom>
          <a:solidFill>
            <a:srgbClr val="0E9AA7"/>
          </a:solidFill>
          <a:ln/>
        </p:spPr>
      </p:sp>
      <p:sp>
        <p:nvSpPr>
          <p:cNvPr id="8" name="Text 6"/>
          <p:cNvSpPr/>
          <p:nvPr/>
        </p:nvSpPr>
        <p:spPr>
          <a:xfrm>
            <a:off x="11137392" y="29260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290779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להבין ברמה גבוהה מהו מודל שפה (LLM), ואיך הוא “כותב” קוד.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11137392" y="3977640"/>
            <a:ext cx="502920" cy="502920"/>
          </a:xfrm>
          <a:prstGeom prst="ellipse">
            <a:avLst/>
          </a:prstGeom>
          <a:solidFill>
            <a:srgbClr val="0E9AA7"/>
          </a:solidFill>
          <a:ln/>
        </p:spPr>
      </p:sp>
      <p:sp>
        <p:nvSpPr>
          <p:cNvPr id="11" name="Text 9"/>
          <p:cNvSpPr/>
          <p:nvPr/>
        </p:nvSpPr>
        <p:spPr>
          <a:xfrm>
            <a:off x="11137392" y="3977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8640" y="395935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להכיר את ההבטחות מול המגבלות של תכנות מבוסס-AI.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1137392" y="5029200"/>
            <a:ext cx="502920" cy="502920"/>
          </a:xfrm>
          <a:prstGeom prst="ellipse">
            <a:avLst/>
          </a:prstGeom>
          <a:solidFill>
            <a:srgbClr val="0E9AA7"/>
          </a:solidFill>
          <a:ln/>
        </p:spPr>
      </p:sp>
      <p:sp>
        <p:nvSpPr>
          <p:cNvPr id="14" name="Text 12"/>
          <p:cNvSpPr/>
          <p:nvPr/>
        </p:nvSpPr>
        <p:spPr>
          <a:xfrm>
            <a:off x="11137392" y="5029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48640" y="50109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להפנים את עקרון-העל: “מתכנת ג’וניור מוכשר” — חובה סקירה אנושית.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48640" y="64190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25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982712" y="64190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B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· מפגש 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250" b="1" spc="100" kern="0" dirty="0">
                <a:solidFill>
                  <a:srgbClr val="0E9A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מוטיבציה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33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עד לא מזמן — כתבנו כל שורה בעצמנו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277356" y="1783080"/>
            <a:ext cx="5362956" cy="2286000"/>
          </a:xfrm>
          <a:prstGeom prst="roundRect">
            <a:avLst>
              <a:gd name="adj" fmla="val 3600"/>
            </a:avLst>
          </a:prstGeom>
          <a:solidFill>
            <a:srgbClr val="F2F3FA"/>
          </a:solidFill>
          <a:ln/>
          <a:effectLst>
            <a:outerShdw sx="100000" sy="100000" kx="0" ky="0" algn="bl" rotWithShape="0" blurRad="76200" dist="25400" dir="5400000">
              <a:srgbClr val="999999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51676" y="1984248"/>
            <a:ext cx="481431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זה עבד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551676" y="2423160"/>
            <a:ext cx="4814316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לזכור תחביר מדויק ולחפש בתיעוד</a:t>
            </a:r>
            <a:endParaRPr lang="en-US" sz="1450" dirty="0"/>
          </a:p>
          <a:p>
            <a:pPr rtl="1" algn="r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לכתוב כל שורת קוד ידנית</a:t>
            </a:r>
            <a:endParaRPr lang="en-US" sz="1450" dirty="0"/>
          </a:p>
          <a:p>
            <a:pPr rtl="1" algn="r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טעות פסיק אחת — והקוד לא רץ</a:t>
            </a:r>
            <a:endParaRPr lang="en-US" sz="1450" dirty="0"/>
          </a:p>
          <a:p>
            <a:pPr rtl="1" algn="r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איטי, ודורש שנים של ניסיון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5362956" cy="2286000"/>
          </a:xfrm>
          <a:prstGeom prst="roundRect">
            <a:avLst>
              <a:gd name="adj" fmla="val 4000"/>
            </a:avLst>
          </a:prstGeom>
          <a:solidFill>
            <a:srgbClr val="3B3B98"/>
          </a:solidFill>
          <a:ln/>
          <a:effectLst>
            <a:outerShdw sx="100000" sy="100000" kx="0" ky="0" algn="bl" rotWithShape="0" blurRad="76200" dist="25400" dir="5400000">
              <a:srgbClr val="999999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8680" y="1965960"/>
            <a:ext cx="4722876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אם היינו יכולים פשוט להסביר בשפה רגילה מה אנחנו רוצים — והמחשב היה כותב את הקוד?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434340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500" i="1" dirty="0">
                <a:solidFill>
                  <a:srgbClr val="6B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זו בדיוק ההבטחה של Vibe Coding. בואו נבין מה זה — ומה המחיר.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64190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25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982712" y="64190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B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· מפגש 1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250" b="1" spc="100" kern="0" dirty="0">
                <a:solidFill>
                  <a:srgbClr val="0E9A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השתנה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33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מ-2025: מ“כותב כל שורה” ל“מנהל תהליך”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7342632" y="1965960"/>
            <a:ext cx="4297680" cy="2011680"/>
          </a:xfrm>
          <a:prstGeom prst="roundRect">
            <a:avLst>
              <a:gd name="adj" fmla="val 4091"/>
            </a:avLst>
          </a:prstGeom>
          <a:solidFill>
            <a:srgbClr val="F2F3FA"/>
          </a:solidFill>
          <a:ln/>
          <a:effectLst>
            <a:outerShdw sx="100000" sy="100000" kx="0" ky="0" algn="bl" rotWithShape="0" blurRad="76200" dist="25400" dir="5400000">
              <a:srgbClr val="999999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616952" y="214884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6B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לפני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616952" y="265176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המתכנת כותב</a:t>
            </a:r>
            <a:endParaRPr lang="en-US" sz="2000" dirty="0"/>
          </a:p>
          <a:p>
            <a:pPr rtl="1" algn="ctr" indent="0" marL="0">
              <a:buNone/>
            </a:pPr>
            <a:r>
              <a:rPr lang="en-US" sz="2000" b="1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שורת קוד בעצמו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4297680" cy="2011680"/>
          </a:xfrm>
          <a:prstGeom prst="roundRect">
            <a:avLst>
              <a:gd name="adj" fmla="val 4091"/>
            </a:avLst>
          </a:prstGeom>
          <a:solidFill>
            <a:srgbClr val="E7F5F6"/>
          </a:solidFill>
          <a:ln/>
          <a:effectLst>
            <a:outerShdw sx="100000" sy="100000" kx="0" ky="0" algn="bl" rotWithShape="0" blurRad="76200" dist="25400" dir="5400000">
              <a:srgbClr val="999999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214884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0E9A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אחרי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2606040"/>
            <a:ext cx="37490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המתכנת מגדיר מטרה →</a:t>
            </a:r>
            <a:endParaRPr lang="en-US" sz="1700" dirty="0"/>
          </a:p>
          <a:p>
            <a:pPr rtl="1" algn="ctr" indent="0" marL="0">
              <a:buNone/>
            </a:pPr>
            <a:r>
              <a:rPr lang="en-US" sz="1700" b="1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מכוון → בודק → מאשר.</a:t>
            </a:r>
            <a:endParaRPr lang="en-US" sz="1700" dirty="0"/>
          </a:p>
          <a:p>
            <a:pPr rtl="1" algn="ctr" indent="0" marL="0">
              <a:buNone/>
            </a:pPr>
            <a:r>
              <a:rPr lang="en-US" sz="1700" b="1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ה-AI כותב את הקוד.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4983480" y="2971800"/>
            <a:ext cx="2221992" cy="0"/>
          </a:xfrm>
          <a:prstGeom prst="line">
            <a:avLst/>
          </a:prstGeom>
          <a:noFill/>
          <a:ln w="44450">
            <a:solidFill>
              <a:srgbClr val="3B3B98"/>
            </a:solidFill>
            <a:prstDash val="solid"/>
            <a:headEnd type="triangle"/>
          </a:ln>
        </p:spPr>
      </p:sp>
      <p:sp>
        <p:nvSpPr>
          <p:cNvPr id="11" name="Shape 9"/>
          <p:cNvSpPr/>
          <p:nvPr/>
        </p:nvSpPr>
        <p:spPr>
          <a:xfrm>
            <a:off x="548640" y="4251960"/>
            <a:ext cx="11091672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/>
          <a:effectLst>
            <a:outerShdw sx="100000" sy="100000" kx="0" ky="0" algn="bl" rotWithShape="0" blurRad="76200" dist="25400" dir="5400000">
              <a:srgbClr val="999999">
                <a:alpha val="2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68680" y="4434840"/>
            <a:ext cx="104515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המיומנות המרכזית עוברת מ“כתיבה” ל“ניהול, ביקורת ואימות”.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48640" y="64190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25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7982712" y="64190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B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· מפגש 1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250" b="1" spc="100" kern="0" dirty="0">
                <a:solidFill>
                  <a:srgbClr val="0E9A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הגדרה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33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מהו Vibe Coding?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1672" cy="1737360"/>
          </a:xfrm>
          <a:prstGeom prst="roundRect">
            <a:avLst>
              <a:gd name="adj" fmla="val 5263"/>
            </a:avLst>
          </a:prstGeom>
          <a:solidFill>
            <a:srgbClr val="3B3B98"/>
          </a:solidFill>
          <a:ln/>
          <a:effectLst>
            <a:outerShdw sx="100000" sy="100000" kx="0" ky="0" algn="bl" rotWithShape="0" blurRad="76200" dist="25400" dir="5400000">
              <a:srgbClr val="999999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011680"/>
            <a:ext cx="1045159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— סגנון עבודה שבו מתארים בשפה טבעית מה רוצים, וכלי בינה מלאכותית כותב, בודק ומתקן את הקוד. המתכנת מכוון ומאשר, במקום להקליד כל שורה.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48640" y="379476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המונח נטבע ע"י אנדריי קרפאטי (Andrej Karpathy) ב-2025.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4297680"/>
            <a:ext cx="11091672" cy="1234440"/>
          </a:xfrm>
          <a:prstGeom prst="roundRect">
            <a:avLst>
              <a:gd name="adj" fmla="val 6667"/>
            </a:avLst>
          </a:prstGeom>
          <a:solidFill>
            <a:srgbClr val="F2F3FA"/>
          </a:solidFill>
          <a:ln/>
          <a:effectLst>
            <a:outerShdw sx="100000" sy="100000" kx="0" ky="0" algn="bl" rotWithShape="0" blurRad="76200" dist="25400" dir="5400000">
              <a:srgbClr val="999999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434840"/>
            <a:ext cx="1054303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0E9A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“Vibe”?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4800600"/>
            <a:ext cx="1054303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450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“Vibe” = התחושה והכוונה הכללית שאתם מעבירים לכלי — לא ההוראות המדויקות. אתם נותנים כיוון; הכלי ממלא את הפרטים.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548640" y="64190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25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982712" y="64190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B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· מפגש 1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250" b="1" spc="100" kern="0" dirty="0">
                <a:solidFill>
                  <a:srgbClr val="0E9A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דוגמה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33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מפרומפט לקוד — דוגמה קונקרטית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277356" y="1783080"/>
            <a:ext cx="5362956" cy="2331720"/>
          </a:xfrm>
          <a:prstGeom prst="roundRect">
            <a:avLst>
              <a:gd name="adj" fmla="val 3529"/>
            </a:avLst>
          </a:prstGeom>
          <a:solidFill>
            <a:srgbClr val="F2F3FA"/>
          </a:solidFill>
          <a:ln/>
          <a:effectLst>
            <a:outerShdw sx="100000" sy="100000" kx="0" ky="0" algn="bl" rotWithShape="0" blurRad="76200" dist="25400" dir="5400000">
              <a:srgbClr val="999999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51676" y="1965960"/>
            <a:ext cx="481431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שאני מבקש (שפה טבעית)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51676" y="2468880"/>
            <a:ext cx="4814316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“כתוב לי פונקציה בפייתון שמקבלת רשימת מספרים ומחזירה את הממוצע.”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5362956" cy="2331720"/>
          </a:xfrm>
          <a:prstGeom prst="roundRect">
            <a:avLst>
              <a:gd name="adj" fmla="val 3529"/>
            </a:avLst>
          </a:prstGeom>
          <a:solidFill>
            <a:srgbClr val="1B1B2B"/>
          </a:solidFill>
          <a:ln/>
          <a:effectLst>
            <a:outerShdw sx="100000" sy="100000" kx="0" ky="0" algn="bl" rotWithShape="0" blurRad="76200" dist="25400" dir="5400000">
              <a:srgbClr val="999999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1965960"/>
            <a:ext cx="48143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0E9A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שה-AI מייצר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560320"/>
            <a:ext cx="4814316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average(numbers):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E8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sum(numbers) / len(numbers)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4297680"/>
            <a:ext cx="11091672" cy="1051560"/>
          </a:xfrm>
          <a:prstGeom prst="roundRect">
            <a:avLst>
              <a:gd name="adj" fmla="val 8696"/>
            </a:avLst>
          </a:prstGeom>
          <a:solidFill>
            <a:srgbClr val="9A6A00"/>
          </a:solidFill>
          <a:ln/>
          <a:effectLst>
            <a:outerShdw sx="100000" sy="100000" kx="0" ky="0" algn="bl" rotWithShape="0" blurRad="76200" dist="25400" dir="5400000">
              <a:srgbClr val="999999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68680" y="4480560"/>
            <a:ext cx="104515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הקלדתי תחביר — תיארתי מטרה. אבל שימו לב: מה קורה אם הרשימה ריקה? (הקוד ייכשל). לזה בדיוק נדרשת ביקורת אנושית.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548640" y="64190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25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982712" y="64190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B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· מפגש 1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250" b="1" spc="100" kern="0" dirty="0">
                <a:solidFill>
                  <a:srgbClr val="0E9A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יסודות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33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רגע — מה זה בכלל LLM?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91672" cy="1234440"/>
          </a:xfrm>
          <a:prstGeom prst="roundRect">
            <a:avLst>
              <a:gd name="adj" fmla="val 7407"/>
            </a:avLst>
          </a:prstGeom>
          <a:solidFill>
            <a:srgbClr val="3B3B98"/>
          </a:solidFill>
          <a:ln/>
          <a:effectLst>
            <a:outerShdw sx="100000" sy="100000" kx="0" ky="0" algn="bl" rotWithShape="0" blurRad="76200" dist="25400" dir="5400000">
              <a:srgbClr val="999999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965960"/>
            <a:ext cx="1045159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= Large Language Model (מודל שפה גדול): תוכנה שאומנה על כמויות עצומות של טקסט וקוד, ולמדה לחזות איזה טקסט בא אחרי טקסט נתון.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125968" y="3291840"/>
            <a:ext cx="3514344" cy="1371600"/>
          </a:xfrm>
          <a:prstGeom prst="roundRect">
            <a:avLst>
              <a:gd name="adj" fmla="val 6000"/>
            </a:avLst>
          </a:prstGeom>
          <a:solidFill>
            <a:srgbClr val="F2F3FA"/>
          </a:solidFill>
          <a:ln/>
          <a:effectLst>
            <a:outerShdw sx="100000" sy="100000" kx="0" ky="0" algn="bl" rotWithShape="0" blurRad="76200" dist="25400" dir="5400000">
              <a:srgbClr val="999999">
                <a:alpha val="2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354568" y="3547872"/>
            <a:ext cx="305714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0E9A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אומן על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354568" y="4023360"/>
            <a:ext cx="305714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מיליארדי מסמכים וקטעי קוד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37304" y="3291840"/>
            <a:ext cx="3514344" cy="1371600"/>
          </a:xfrm>
          <a:prstGeom prst="roundRect">
            <a:avLst>
              <a:gd name="adj" fmla="val 6000"/>
            </a:avLst>
          </a:prstGeom>
          <a:solidFill>
            <a:srgbClr val="F2F3FA"/>
          </a:solidFill>
          <a:ln/>
          <a:effectLst>
            <a:outerShdw sx="100000" sy="100000" kx="0" ky="0" algn="bl" rotWithShape="0" blurRad="76200" dist="25400" dir="5400000">
              <a:srgbClr val="999999">
                <a:alpha val="2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65904" y="3547872"/>
            <a:ext cx="305714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0E9A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מנבא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65904" y="4023360"/>
            <a:ext cx="305714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 המילה/הטוקן הבא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291840"/>
            <a:ext cx="3514344" cy="1371600"/>
          </a:xfrm>
          <a:prstGeom prst="roundRect">
            <a:avLst>
              <a:gd name="adj" fmla="val 6000"/>
            </a:avLst>
          </a:prstGeom>
          <a:solidFill>
            <a:srgbClr val="F2F3FA"/>
          </a:solidFill>
          <a:ln/>
          <a:effectLst>
            <a:outerShdw sx="100000" sy="100000" kx="0" ky="0" algn="bl" rotWithShape="0" blurRad="76200" dist="25400" dir="5400000">
              <a:srgbClr val="999999">
                <a:alpha val="2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77240" y="3547872"/>
            <a:ext cx="305714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0E9A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“מבין” כמו אדם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77240" y="4023360"/>
            <a:ext cx="305714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מזהה דפוסים סטטיסטיים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48640" y="489204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400" i="1" dirty="0">
                <a:solidFill>
                  <a:srgbClr val="6B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ההסבר ברמה גבוהה — במפגש 2 נצלול לאיך זה עובד באמת.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64190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25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982712" y="64190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B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· מפגש 1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250" b="1" spc="100" kern="0" dirty="0">
                <a:solidFill>
                  <a:srgbClr val="0E9A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אינטואיציה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33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LLM “כותב” קוד?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91672" cy="914400"/>
          </a:xfrm>
          <a:prstGeom prst="roundRect">
            <a:avLst>
              <a:gd name="adj" fmla="val 10000"/>
            </a:avLst>
          </a:prstGeom>
          <a:solidFill>
            <a:srgbClr val="0E9AA7"/>
          </a:solidFill>
          <a:ln/>
          <a:effectLst>
            <a:outerShdw sx="100000" sy="100000" kx="0" ky="0" algn="bl" rotWithShape="0" blurRad="76200" dist="25400" dir="5400000">
              <a:srgbClr val="999999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965960"/>
            <a:ext cx="104515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כמו השלמה אוטומטית (autocomplete) של הטלפון — אבל חזקה בטירוף.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277356" y="2880360"/>
            <a:ext cx="5362956" cy="1371600"/>
          </a:xfrm>
          <a:prstGeom prst="roundRect">
            <a:avLst>
              <a:gd name="adj" fmla="val 6000"/>
            </a:avLst>
          </a:prstGeom>
          <a:solidFill>
            <a:srgbClr val="F2F3FA"/>
          </a:solidFill>
          <a:ln/>
          <a:effectLst>
            <a:outerShdw sx="100000" sy="100000" kx="0" ky="0" algn="bl" rotWithShape="0" blurRad="76200" dist="25400" dir="5400000">
              <a:srgbClr val="999999">
                <a:alpha val="2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551676" y="3081528"/>
            <a:ext cx="481431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טקסט רגיל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551676" y="3538728"/>
            <a:ext cx="4814316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“שלום, מה ...”  ←  הטלפון מציע “שלומך”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2880360"/>
            <a:ext cx="5362956" cy="1371600"/>
          </a:xfrm>
          <a:prstGeom prst="roundRect">
            <a:avLst>
              <a:gd name="adj" fmla="val 6000"/>
            </a:avLst>
          </a:prstGeom>
          <a:solidFill>
            <a:srgbClr val="F2F3FA"/>
          </a:solidFill>
          <a:ln/>
          <a:effectLst>
            <a:outerShdw sx="100000" sy="100000" kx="0" ky="0" algn="bl" rotWithShape="0" blurRad="76200" dist="25400" dir="5400000">
              <a:srgbClr val="999999">
                <a:alpha val="2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22960" y="3081528"/>
            <a:ext cx="481431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קוד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3538728"/>
            <a:ext cx="48143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222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average(numbers): return ...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222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המודל מציע  sum(numbers)/len(numbers)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480560"/>
            <a:ext cx="11091672" cy="1051560"/>
          </a:xfrm>
          <a:prstGeom prst="roundRect">
            <a:avLst>
              <a:gd name="adj" fmla="val 8696"/>
            </a:avLst>
          </a:prstGeom>
          <a:solidFill>
            <a:srgbClr val="9A6A00"/>
          </a:solidFill>
          <a:ln/>
          <a:effectLst>
            <a:outerShdw sx="100000" sy="100000" kx="0" ky="0" algn="bl" rotWithShape="0" blurRad="76200" dist="25400" dir="5400000">
              <a:srgbClr val="999999">
                <a:alpha val="2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68680" y="4663440"/>
            <a:ext cx="104515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כי זו בחירה סטטיסטית של ההמשך “הסביר ביותר” — לפעמים המודל ממציא בביטחון. לתופעה הזו קוראים הזיה (hallucination). נרחיב עליה במפגש 2.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548640" y="64190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25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982712" y="64190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B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· מפגש 1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250" b="1" spc="100" kern="0" dirty="0">
                <a:solidFill>
                  <a:srgbClr val="0E9A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תהליך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33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קורה כשמבקשים קוד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9176004" y="2011680"/>
            <a:ext cx="2464308" cy="1371600"/>
          </a:xfrm>
          <a:prstGeom prst="roundRect">
            <a:avLst>
              <a:gd name="adj" fmla="val 6000"/>
            </a:avLst>
          </a:prstGeom>
          <a:solidFill>
            <a:srgbClr val="F2F3FA"/>
          </a:solidFill>
          <a:ln/>
          <a:effectLst>
            <a:outerShdw sx="100000" sy="100000" kx="0" ky="0" algn="bl" rotWithShape="0" blurRad="76200" dist="25400" dir="5400000">
              <a:srgbClr val="999999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313164" y="2212848"/>
            <a:ext cx="218998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313164" y="2633472"/>
            <a:ext cx="218998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פרומפט: בקשה בשפה טבעית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801100" y="2697480"/>
            <a:ext cx="301752" cy="0"/>
          </a:xfrm>
          <a:prstGeom prst="line">
            <a:avLst/>
          </a:prstGeom>
          <a:noFill/>
          <a:ln w="38100">
            <a:solidFill>
              <a:srgbClr val="3B3B98"/>
            </a:solidFill>
            <a:prstDash val="solid"/>
            <a:headEnd type="triangle"/>
          </a:ln>
        </p:spPr>
      </p:sp>
      <p:sp>
        <p:nvSpPr>
          <p:cNvPr id="8" name="Shape 6"/>
          <p:cNvSpPr/>
          <p:nvPr/>
        </p:nvSpPr>
        <p:spPr>
          <a:xfrm>
            <a:off x="6300216" y="2011680"/>
            <a:ext cx="2464308" cy="1371600"/>
          </a:xfrm>
          <a:prstGeom prst="roundRect">
            <a:avLst>
              <a:gd name="adj" fmla="val 6000"/>
            </a:avLst>
          </a:prstGeom>
          <a:solidFill>
            <a:srgbClr val="F2F3FA"/>
          </a:solidFill>
          <a:ln/>
          <a:effectLst>
            <a:outerShdw sx="100000" sy="100000" kx="0" ky="0" algn="bl" rotWithShape="0" blurRad="76200" dist="25400" dir="5400000">
              <a:srgbClr val="999999">
                <a:alpha val="2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37376" y="2212848"/>
            <a:ext cx="218998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המודל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37376" y="2633472"/>
            <a:ext cx="218998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מנבא ומייצר קוד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925312" y="2697480"/>
            <a:ext cx="301752" cy="0"/>
          </a:xfrm>
          <a:prstGeom prst="line">
            <a:avLst/>
          </a:prstGeom>
          <a:noFill/>
          <a:ln w="38100">
            <a:solidFill>
              <a:srgbClr val="3B3B98"/>
            </a:solidFill>
            <a:prstDash val="solid"/>
            <a:headEnd type="triangle"/>
          </a:ln>
        </p:spPr>
      </p:sp>
      <p:sp>
        <p:nvSpPr>
          <p:cNvPr id="12" name="Shape 10"/>
          <p:cNvSpPr/>
          <p:nvPr/>
        </p:nvSpPr>
        <p:spPr>
          <a:xfrm>
            <a:off x="3424428" y="2011680"/>
            <a:ext cx="2464308" cy="1371600"/>
          </a:xfrm>
          <a:prstGeom prst="roundRect">
            <a:avLst>
              <a:gd name="adj" fmla="val 6000"/>
            </a:avLst>
          </a:prstGeom>
          <a:solidFill>
            <a:srgbClr val="E7F5F6"/>
          </a:solidFill>
          <a:ln/>
          <a:effectLst>
            <a:outerShdw sx="100000" sy="100000" kx="0" ky="0" algn="bl" rotWithShape="0" blurRad="76200" dist="25400" dir="5400000">
              <a:srgbClr val="999999">
                <a:alpha val="2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561588" y="2212848"/>
            <a:ext cx="218998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0E9A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561588" y="2633472"/>
            <a:ext cx="218998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קוראים · בודקים · מריצים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3049524" y="2697480"/>
            <a:ext cx="301752" cy="0"/>
          </a:xfrm>
          <a:prstGeom prst="line">
            <a:avLst/>
          </a:prstGeom>
          <a:noFill/>
          <a:ln w="38100">
            <a:solidFill>
              <a:srgbClr val="3B3B98"/>
            </a:solidFill>
            <a:prstDash val="solid"/>
            <a:headEnd type="triangle"/>
          </a:ln>
        </p:spPr>
      </p:sp>
      <p:sp>
        <p:nvSpPr>
          <p:cNvPr id="16" name="Shape 14"/>
          <p:cNvSpPr/>
          <p:nvPr/>
        </p:nvSpPr>
        <p:spPr>
          <a:xfrm>
            <a:off x="548640" y="2011680"/>
            <a:ext cx="2464308" cy="1371600"/>
          </a:xfrm>
          <a:prstGeom prst="roundRect">
            <a:avLst>
              <a:gd name="adj" fmla="val 6000"/>
            </a:avLst>
          </a:prstGeom>
          <a:solidFill>
            <a:srgbClr val="F2F3FA"/>
          </a:solidFill>
          <a:ln/>
          <a:effectLst>
            <a:outerShdw sx="100000" sy="100000" kx="0" ky="0" algn="bl" rotWithShape="0" blurRad="76200" dist="25400" dir="5400000">
              <a:srgbClr val="999999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85800" y="2212848"/>
            <a:ext cx="218998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החלטה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85800" y="2633472"/>
            <a:ext cx="218998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תיקון או אישור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48640" y="370332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en-US" sz="1350" i="1" dirty="0">
                <a:solidFill>
                  <a:srgbClr val="6B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↻  אם צריך — חוזרים לשלב 1 עם פרומפט מדויק יותר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48640" y="4343400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  <a:effectLst>
            <a:outerShdw sx="100000" sy="100000" kx="0" ky="0" algn="bl" rotWithShape="0" blurRad="76200" dist="25400" dir="5400000">
              <a:srgbClr val="999999">
                <a:alpha val="2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68680" y="4526280"/>
            <a:ext cx="1045159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שלב 3 — הביקורת האנושית — הוא הלב של הקורס. בלעדיו, קוד ה-AI הוא ניחוש שלא נבדק.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48640" y="64190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25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982712" y="64190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B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· מפגש 1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250" b="1" spc="100" kern="0" dirty="0">
                <a:solidFill>
                  <a:srgbClr val="0E9A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פרספקטיבה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33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הגענו לכאן — ציר זמן קצר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2743200"/>
            <a:ext cx="11091672" cy="0"/>
          </a:xfrm>
          <a:prstGeom prst="line">
            <a:avLst/>
          </a:prstGeom>
          <a:noFill/>
          <a:ln w="31750">
            <a:solidFill>
              <a:srgbClr val="C9CE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540289" y="2642616"/>
            <a:ext cx="201168" cy="201168"/>
          </a:xfrm>
          <a:prstGeom prst="ellipse">
            <a:avLst/>
          </a:prstGeom>
          <a:solidFill>
            <a:srgbClr val="3B3B98"/>
          </a:solidFill>
          <a:ln/>
        </p:spPr>
      </p:sp>
      <p:sp>
        <p:nvSpPr>
          <p:cNvPr id="6" name="Text 4"/>
          <p:cNvSpPr/>
          <p:nvPr/>
        </p:nvSpPr>
        <p:spPr>
          <a:xfrm>
            <a:off x="9641434" y="2057400"/>
            <a:ext cx="199887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~2010s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641434" y="2999232"/>
            <a:ext cx="199887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השלמה אוטומטית בסיסית בעורכי קוד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8267090" y="2642616"/>
            <a:ext cx="201168" cy="201168"/>
          </a:xfrm>
          <a:prstGeom prst="ellipse">
            <a:avLst/>
          </a:prstGeom>
          <a:solidFill>
            <a:srgbClr val="3B3B98"/>
          </a:solidFill>
          <a:ln/>
        </p:spPr>
      </p:sp>
      <p:sp>
        <p:nvSpPr>
          <p:cNvPr id="9" name="Text 7"/>
          <p:cNvSpPr/>
          <p:nvPr/>
        </p:nvSpPr>
        <p:spPr>
          <a:xfrm>
            <a:off x="7368235" y="2057400"/>
            <a:ext cx="199887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68235" y="2999232"/>
            <a:ext cx="199887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Copilot — השלמת שורות שלמות ב-IDE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993892" y="2642616"/>
            <a:ext cx="201168" cy="201168"/>
          </a:xfrm>
          <a:prstGeom prst="ellipse">
            <a:avLst/>
          </a:prstGeom>
          <a:solidFill>
            <a:srgbClr val="3B3B98"/>
          </a:solidFill>
          <a:ln/>
        </p:spPr>
      </p:sp>
      <p:sp>
        <p:nvSpPr>
          <p:cNvPr id="12" name="Text 10"/>
          <p:cNvSpPr/>
          <p:nvPr/>
        </p:nvSpPr>
        <p:spPr>
          <a:xfrm>
            <a:off x="5095037" y="2057400"/>
            <a:ext cx="199887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95037" y="2999232"/>
            <a:ext cx="199887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 — שיחה בשפה טבעית עם מודל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720694" y="2642616"/>
            <a:ext cx="201168" cy="201168"/>
          </a:xfrm>
          <a:prstGeom prst="ellipse">
            <a:avLst/>
          </a:prstGeom>
          <a:solidFill>
            <a:srgbClr val="3B3B98"/>
          </a:solidFill>
          <a:ln/>
        </p:spPr>
      </p:sp>
      <p:sp>
        <p:nvSpPr>
          <p:cNvPr id="15" name="Text 13"/>
          <p:cNvSpPr/>
          <p:nvPr/>
        </p:nvSpPr>
        <p:spPr>
          <a:xfrm>
            <a:off x="2821838" y="2057400"/>
            <a:ext cx="199887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2821838" y="2999232"/>
            <a:ext cx="199887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— כלים שמריצים פקודות ומתקנים לבד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1447495" y="2642616"/>
            <a:ext cx="201168" cy="201168"/>
          </a:xfrm>
          <a:prstGeom prst="ellipse">
            <a:avLst/>
          </a:prstGeom>
          <a:solidFill>
            <a:srgbClr val="0E9AA7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057400"/>
            <a:ext cx="199887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0E9A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48640" y="2999232"/>
            <a:ext cx="199887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“Vibe Coding” — המונח נכנס לשיח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4526280"/>
            <a:ext cx="11091672" cy="960120"/>
          </a:xfrm>
          <a:prstGeom prst="roundRect">
            <a:avLst>
              <a:gd name="adj" fmla="val 9524"/>
            </a:avLst>
          </a:prstGeom>
          <a:solidFill>
            <a:srgbClr val="1E2761"/>
          </a:solidFill>
          <a:ln/>
          <a:effectLst>
            <a:outerShdw sx="100000" sy="100000" kx="0" ky="0" algn="bl" rotWithShape="0" blurRad="76200" dist="25400" dir="5400000">
              <a:srgbClr val="999999">
                <a:alpha val="2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68680" y="4709160"/>
            <a:ext cx="1045159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התחום זז מהר — כלי שנלמד היום עשוי להשתנות עד הסמסטר הבא. לכן נלמד Workflow, לא כלי ספציפי.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548640" y="64190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25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982712" y="64190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B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· מפגש 1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250" b="1" spc="100" kern="0" dirty="0">
                <a:solidFill>
                  <a:srgbClr val="0E9A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זה מרגש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33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ההבטחות של תכנות מבוסס-AI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11237976" y="1801368"/>
            <a:ext cx="402336" cy="402336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5" name="Text 3"/>
          <p:cNvSpPr/>
          <p:nvPr/>
        </p:nvSpPr>
        <p:spPr>
          <a:xfrm>
            <a:off x="11237976" y="18013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764792"/>
            <a:ext cx="1054303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650" b="1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מהירות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548640" y="2112264"/>
            <a:ext cx="1054303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6B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פרוטוטייפ בדקות במקום שעות.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1237976" y="2852928"/>
            <a:ext cx="402336" cy="402336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9" name="Text 7"/>
          <p:cNvSpPr/>
          <p:nvPr/>
        </p:nvSpPr>
        <p:spPr>
          <a:xfrm>
            <a:off x="11237976" y="285292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2816352"/>
            <a:ext cx="1054303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650" b="1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נגישות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548640" y="3163824"/>
            <a:ext cx="1054303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6B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אפשר לבנות בלי לזכור כל תחביר בעל-פה.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1237976" y="3904488"/>
            <a:ext cx="402336" cy="402336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3" name="Text 11"/>
          <p:cNvSpPr/>
          <p:nvPr/>
        </p:nvSpPr>
        <p:spPr>
          <a:xfrm>
            <a:off x="11237976" y="390448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8640" y="3867912"/>
            <a:ext cx="1054303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650" b="1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פחות עבודה שחורה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548640" y="4215384"/>
            <a:ext cx="1054303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6B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boilerplate, תיעוד וטסטים נכתבים מהר.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1237976" y="4956048"/>
            <a:ext cx="402336" cy="402336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7" name="Text 15"/>
          <p:cNvSpPr/>
          <p:nvPr/>
        </p:nvSpPr>
        <p:spPr>
          <a:xfrm>
            <a:off x="11237976" y="495604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48640" y="4919472"/>
            <a:ext cx="1054303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650" b="1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שותף לחשיבה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548640" y="5266944"/>
            <a:ext cx="1054303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6B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מציע רעיונות, כיוונים וחלופות.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64190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25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982712" y="64190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B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· מפגש 1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250" b="1" spc="100" kern="0" dirty="0">
                <a:solidFill>
                  <a:srgbClr val="0E9A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חובה להיזהר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33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המגבלות — ולמה חשוב להכיר אותן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11237976" y="1801368"/>
            <a:ext cx="402336" cy="402336"/>
          </a:xfrm>
          <a:prstGeom prst="ellipse">
            <a:avLst/>
          </a:prstGeom>
          <a:solidFill>
            <a:srgbClr val="C62828"/>
          </a:solidFill>
          <a:ln/>
        </p:spPr>
      </p:sp>
      <p:sp>
        <p:nvSpPr>
          <p:cNvPr id="5" name="Text 3"/>
          <p:cNvSpPr/>
          <p:nvPr/>
        </p:nvSpPr>
        <p:spPr>
          <a:xfrm>
            <a:off x="11237976" y="18013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764792"/>
            <a:ext cx="1054303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650" b="1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הזיות (Hallucinations)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548640" y="2112264"/>
            <a:ext cx="1054303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6B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ממציא פונקציות או ספריות שלא קיימות.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1237976" y="2852928"/>
            <a:ext cx="402336" cy="402336"/>
          </a:xfrm>
          <a:prstGeom prst="ellipse">
            <a:avLst/>
          </a:prstGeom>
          <a:solidFill>
            <a:srgbClr val="C62828"/>
          </a:solidFill>
          <a:ln/>
        </p:spPr>
      </p:sp>
      <p:sp>
        <p:nvSpPr>
          <p:cNvPr id="9" name="Text 7"/>
          <p:cNvSpPr/>
          <p:nvPr/>
        </p:nvSpPr>
        <p:spPr>
          <a:xfrm>
            <a:off x="11237976" y="285292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2816352"/>
            <a:ext cx="1054303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650" b="1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חוסר הקשר עסקי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548640" y="3163824"/>
            <a:ext cx="1054303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6B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יודע מה בדיוק הפרויקט או החברה צריכים.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1237976" y="3904488"/>
            <a:ext cx="402336" cy="402336"/>
          </a:xfrm>
          <a:prstGeom prst="ellipse">
            <a:avLst/>
          </a:prstGeom>
          <a:solidFill>
            <a:srgbClr val="C62828"/>
          </a:solidFill>
          <a:ln/>
        </p:spPr>
      </p:sp>
      <p:sp>
        <p:nvSpPr>
          <p:cNvPr id="13" name="Text 11"/>
          <p:cNvSpPr/>
          <p:nvPr/>
        </p:nvSpPr>
        <p:spPr>
          <a:xfrm>
            <a:off x="11237976" y="390448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8640" y="3867912"/>
            <a:ext cx="1054303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650" b="1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קוד לא בטוח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548640" y="4215384"/>
            <a:ext cx="1054303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6B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עלול לייצר פרצות אבטחה — בשוגג.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1237976" y="4956048"/>
            <a:ext cx="402336" cy="402336"/>
          </a:xfrm>
          <a:prstGeom prst="ellipse">
            <a:avLst/>
          </a:prstGeom>
          <a:solidFill>
            <a:srgbClr val="C62828"/>
          </a:solidFill>
          <a:ln/>
        </p:spPr>
      </p:sp>
      <p:sp>
        <p:nvSpPr>
          <p:cNvPr id="17" name="Text 15"/>
          <p:cNvSpPr/>
          <p:nvPr/>
        </p:nvSpPr>
        <p:spPr>
          <a:xfrm>
            <a:off x="11237976" y="495604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48640" y="4919472"/>
            <a:ext cx="1054303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650" b="1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ידע מיושן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548640" y="5266944"/>
            <a:ext cx="1054303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6B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אומן בעבר; לא מכיר גרסאות או חידושים אחרונים.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64190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25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982712" y="64190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B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· מפגש 1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250" b="1" spc="100" kern="0" dirty="0">
                <a:solidFill>
                  <a:srgbClr val="0E9A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במבט אחד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33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הבטחות מול מגבלות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277356" y="1783080"/>
            <a:ext cx="5362956" cy="502920"/>
          </a:xfrm>
          <a:prstGeom prst="roundRect">
            <a:avLst>
              <a:gd name="adj" fmla="val 10909"/>
            </a:avLst>
          </a:prstGeom>
          <a:solidFill>
            <a:srgbClr val="2E7D32"/>
          </a:solidFill>
          <a:ln/>
        </p:spPr>
      </p:sp>
      <p:sp>
        <p:nvSpPr>
          <p:cNvPr id="5" name="Text 3"/>
          <p:cNvSpPr/>
          <p:nvPr/>
        </p:nvSpPr>
        <p:spPr>
          <a:xfrm>
            <a:off x="6277356" y="1783080"/>
            <a:ext cx="536295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הבטחות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5362956" cy="502920"/>
          </a:xfrm>
          <a:prstGeom prst="roundRect">
            <a:avLst>
              <a:gd name="adj" fmla="val 10909"/>
            </a:avLst>
          </a:prstGeom>
          <a:solidFill>
            <a:srgbClr val="C62828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783080"/>
            <a:ext cx="536295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מגבלות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277356" y="2423160"/>
            <a:ext cx="5362956" cy="530352"/>
          </a:xfrm>
          <a:prstGeom prst="roundRect">
            <a:avLst>
              <a:gd name="adj" fmla="val 15517"/>
            </a:avLst>
          </a:prstGeom>
          <a:solidFill>
            <a:srgbClr val="EAF3EA"/>
          </a:solidFill>
          <a:ln/>
          <a:effectLst>
            <a:outerShdw sx="100000" sy="100000" kx="0" ky="0" algn="bl" rotWithShape="0" blurRad="76200" dist="25400" dir="5400000">
              <a:srgbClr val="999999">
                <a:alpha val="2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05956" y="2423160"/>
            <a:ext cx="4905756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50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מהיר לפרוטוטייפ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48640" y="2423160"/>
            <a:ext cx="5362956" cy="530352"/>
          </a:xfrm>
          <a:prstGeom prst="roundRect">
            <a:avLst>
              <a:gd name="adj" fmla="val 15517"/>
            </a:avLst>
          </a:prstGeom>
          <a:solidFill>
            <a:srgbClr val="F7EAEA"/>
          </a:solidFill>
          <a:ln/>
          <a:effectLst>
            <a:outerShdw sx="100000" sy="100000" kx="0" ky="0" algn="bl" rotWithShape="0" blurRad="76200" dist="25400" dir="5400000">
              <a:srgbClr val="999999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77240" y="2423160"/>
            <a:ext cx="4905756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50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עלול להמציא (הזיות)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277356" y="3063240"/>
            <a:ext cx="5362956" cy="530352"/>
          </a:xfrm>
          <a:prstGeom prst="roundRect">
            <a:avLst>
              <a:gd name="adj" fmla="val 15517"/>
            </a:avLst>
          </a:prstGeom>
          <a:solidFill>
            <a:srgbClr val="EAF3EA"/>
          </a:solidFill>
          <a:ln/>
          <a:effectLst>
            <a:outerShdw sx="100000" sy="100000" kx="0" ky="0" algn="bl" rotWithShape="0" blurRad="76200" dist="25400" dir="5400000">
              <a:srgbClr val="999999">
                <a:alpha val="2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505956" y="3063240"/>
            <a:ext cx="4905756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50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נגיש למתחילים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548640" y="3063240"/>
            <a:ext cx="5362956" cy="530352"/>
          </a:xfrm>
          <a:prstGeom prst="roundRect">
            <a:avLst>
              <a:gd name="adj" fmla="val 15517"/>
            </a:avLst>
          </a:prstGeom>
          <a:solidFill>
            <a:srgbClr val="F7EAEA"/>
          </a:solidFill>
          <a:ln/>
          <a:effectLst>
            <a:outerShdw sx="100000" sy="100000" kx="0" ky="0" algn="bl" rotWithShape="0" blurRad="76200" dist="25400" dir="5400000">
              <a:srgbClr val="999999">
                <a:alpha val="2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77240" y="3063240"/>
            <a:ext cx="4905756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50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מכיר את ההקשר שלכם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277356" y="3703320"/>
            <a:ext cx="5362956" cy="530352"/>
          </a:xfrm>
          <a:prstGeom prst="roundRect">
            <a:avLst>
              <a:gd name="adj" fmla="val 15517"/>
            </a:avLst>
          </a:prstGeom>
          <a:solidFill>
            <a:srgbClr val="EAF3EA"/>
          </a:solidFill>
          <a:ln/>
          <a:effectLst>
            <a:outerShdw sx="100000" sy="100000" kx="0" ky="0" algn="bl" rotWithShape="0" blurRad="76200" dist="25400" dir="5400000">
              <a:srgbClr val="999999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05956" y="3703320"/>
            <a:ext cx="4905756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50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מפחית עבודה שחורה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48640" y="3703320"/>
            <a:ext cx="5362956" cy="530352"/>
          </a:xfrm>
          <a:prstGeom prst="roundRect">
            <a:avLst>
              <a:gd name="adj" fmla="val 15517"/>
            </a:avLst>
          </a:prstGeom>
          <a:solidFill>
            <a:srgbClr val="F7EAEA"/>
          </a:solidFill>
          <a:ln/>
          <a:effectLst>
            <a:outerShdw sx="100000" sy="100000" kx="0" ky="0" algn="bl" rotWithShape="0" blurRad="76200" dist="25400" dir="5400000">
              <a:srgbClr val="999999">
                <a:alpha val="2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77240" y="3703320"/>
            <a:ext cx="4905756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50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עלול לייצר קוד לא בטוח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6277356" y="4343400"/>
            <a:ext cx="5362956" cy="530352"/>
          </a:xfrm>
          <a:prstGeom prst="roundRect">
            <a:avLst>
              <a:gd name="adj" fmla="val 15517"/>
            </a:avLst>
          </a:prstGeom>
          <a:solidFill>
            <a:srgbClr val="EAF3EA"/>
          </a:solidFill>
          <a:ln/>
          <a:effectLst>
            <a:outerShdw sx="100000" sy="100000" kx="0" ky="0" algn="bl" rotWithShape="0" blurRad="76200" dist="25400" dir="5400000">
              <a:srgbClr val="999999">
                <a:alpha val="2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05956" y="4343400"/>
            <a:ext cx="4905756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50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שותף לרעיונות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548640" y="4343400"/>
            <a:ext cx="5362956" cy="530352"/>
          </a:xfrm>
          <a:prstGeom prst="roundRect">
            <a:avLst>
              <a:gd name="adj" fmla="val 15517"/>
            </a:avLst>
          </a:prstGeom>
          <a:solidFill>
            <a:srgbClr val="F7EAEA"/>
          </a:solidFill>
          <a:ln/>
          <a:effectLst>
            <a:outerShdw sx="100000" sy="100000" kx="0" ky="0" algn="bl" rotWithShape="0" blurRad="76200" dist="25400" dir="5400000">
              <a:srgbClr val="999999">
                <a:alpha val="2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77240" y="4343400"/>
            <a:ext cx="4905756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50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הידע שלו לא תמיד עדכני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548640" y="5029200"/>
            <a:ext cx="11091672" cy="640080"/>
          </a:xfrm>
          <a:prstGeom prst="roundRect">
            <a:avLst>
              <a:gd name="adj" fmla="val 14286"/>
            </a:avLst>
          </a:prstGeom>
          <a:solidFill>
            <a:srgbClr val="1E2761"/>
          </a:solidFill>
          <a:ln/>
          <a:effectLst>
            <a:outerShdw sx="100000" sy="100000" kx="0" ky="0" algn="bl" rotWithShape="0" blurRad="76200" dist="25400" dir="5400000">
              <a:srgbClr val="999999">
                <a:alpha val="2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68680" y="5212080"/>
            <a:ext cx="10451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הכלי חזק — אבל לא אמין באופן עיוור.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548640" y="64190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25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982712" y="64190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B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· מפגש 1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250" b="1" spc="100" kern="0" dirty="0">
                <a:solidFill>
                  <a:srgbClr val="0E9A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עקרון-העל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33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המטאפורה המנחה: “מתכנת ג’וניור מוכשר”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חשבו על ה-AI כמו מתכנת/ת ג’וניור מוכשר/ת מאוד: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277356" y="2377440"/>
            <a:ext cx="5362956" cy="1737360"/>
          </a:xfrm>
          <a:prstGeom prst="roundRect">
            <a:avLst>
              <a:gd name="adj" fmla="val 4737"/>
            </a:avLst>
          </a:prstGeom>
          <a:solidFill>
            <a:srgbClr val="EAF3EA"/>
          </a:solidFill>
          <a:ln/>
          <a:effectLst>
            <a:outerShdw sx="100000" sy="100000" kx="0" ky="0" algn="bl" rotWithShape="0" blurRad="76200" dist="25400" dir="5400000">
              <a:srgbClr val="999999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551676" y="2560320"/>
            <a:ext cx="481431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טוב בו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551676" y="3017520"/>
            <a:ext cx="481431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מהיר, יודע הרבה</a:t>
            </a:r>
            <a:endParaRPr lang="en-US" sz="1500" dirty="0"/>
          </a:p>
          <a:p>
            <a:pPr rtl="1" algn="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כותב קוד סביר במהירות</a:t>
            </a:r>
            <a:endParaRPr lang="en-US" sz="1500" dirty="0"/>
          </a:p>
          <a:p>
            <a:pPr rtl="1" algn="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חוסך לכם זמן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2377440"/>
            <a:ext cx="5362956" cy="1737360"/>
          </a:xfrm>
          <a:prstGeom prst="roundRect">
            <a:avLst>
              <a:gd name="adj" fmla="val 4737"/>
            </a:avLst>
          </a:prstGeom>
          <a:solidFill>
            <a:srgbClr val="F7EAEA"/>
          </a:solidFill>
          <a:ln/>
          <a:effectLst>
            <a:outerShdw sx="100000" sy="100000" kx="0" ky="0" algn="bl" rotWithShape="0" blurRad="76200" dist="25400" dir="5400000">
              <a:srgbClr val="999999">
                <a:alpha val="2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22960" y="2560320"/>
            <a:ext cx="481431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במה להיזהר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3017520"/>
            <a:ext cx="481431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חסר ניסיון</a:t>
            </a:r>
            <a:endParaRPr lang="en-US" sz="1500" dirty="0"/>
          </a:p>
          <a:p>
            <a:pPr rtl="1" algn="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לא מכיר את ההקשר המלא</a:t>
            </a:r>
            <a:endParaRPr lang="en-US" sz="1500" dirty="0"/>
          </a:p>
          <a:p>
            <a:pPr rtl="1" algn="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לפעמים טועה — בביטחון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4297680"/>
            <a:ext cx="11091672" cy="1051560"/>
          </a:xfrm>
          <a:prstGeom prst="roundRect">
            <a:avLst>
              <a:gd name="adj" fmla="val 8696"/>
            </a:avLst>
          </a:prstGeom>
          <a:solidFill>
            <a:srgbClr val="1E2761"/>
          </a:solidFill>
          <a:ln/>
          <a:effectLst>
            <a:outerShdw sx="100000" sy="100000" kx="0" ky="0" algn="bl" rotWithShape="0" blurRad="76200" dist="25400" dir="5400000">
              <a:srgbClr val="999999">
                <a:alpha val="2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68680" y="4480560"/>
            <a:ext cx="104515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בדיוק כמו עם ג’וניור אמיתי: סומכים — אבל בודקים. אף פעם לא מכניסים קוד לפרודקשן בלי סקירה אנושית.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48640" y="64190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25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7982712" y="64190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B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· מפגש 1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250" b="1" spc="100" kern="0" dirty="0">
                <a:solidFill>
                  <a:srgbClr val="0E9A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זה אומר בפועל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33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 החובות שלכם מול קוד AI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8125968" y="1920240"/>
            <a:ext cx="3514344" cy="1920240"/>
          </a:xfrm>
          <a:prstGeom prst="roundRect">
            <a:avLst>
              <a:gd name="adj" fmla="val 4286"/>
            </a:avLst>
          </a:prstGeom>
          <a:solidFill>
            <a:srgbClr val="F2F3FA"/>
          </a:solidFill>
          <a:ln/>
          <a:effectLst>
            <a:outerShdw sx="100000" sy="100000" kx="0" ky="0" algn="bl" rotWithShape="0" blurRad="76200" dist="25400" dir="5400000">
              <a:srgbClr val="999999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590532" y="2176272"/>
            <a:ext cx="585216" cy="585216"/>
          </a:xfrm>
          <a:prstGeom prst="ellipse">
            <a:avLst/>
          </a:prstGeom>
          <a:solidFill>
            <a:srgbClr val="3B3B98"/>
          </a:solidFill>
          <a:ln/>
        </p:spPr>
      </p:sp>
      <p:sp>
        <p:nvSpPr>
          <p:cNvPr id="6" name="Text 4"/>
          <p:cNvSpPr/>
          <p:nvPr/>
        </p:nvSpPr>
        <p:spPr>
          <a:xfrm>
            <a:off x="9590532" y="2176272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308848" y="2880360"/>
            <a:ext cx="314858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לקרוא ולהבין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308848" y="3291840"/>
            <a:ext cx="314858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6B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שורה שהגשתם — אתם צריכים להבין.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37304" y="1920240"/>
            <a:ext cx="3514344" cy="1920240"/>
          </a:xfrm>
          <a:prstGeom prst="roundRect">
            <a:avLst>
              <a:gd name="adj" fmla="val 4286"/>
            </a:avLst>
          </a:prstGeom>
          <a:solidFill>
            <a:srgbClr val="F2F3FA"/>
          </a:solidFill>
          <a:ln/>
          <a:effectLst>
            <a:outerShdw sx="100000" sy="100000" kx="0" ky="0" algn="bl" rotWithShape="0" blurRad="76200" dist="25400" dir="5400000">
              <a:srgbClr val="999999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801868" y="2176272"/>
            <a:ext cx="585216" cy="585216"/>
          </a:xfrm>
          <a:prstGeom prst="ellipse">
            <a:avLst/>
          </a:prstGeom>
          <a:solidFill>
            <a:srgbClr val="3B3B98"/>
          </a:solidFill>
          <a:ln/>
        </p:spPr>
      </p:sp>
      <p:sp>
        <p:nvSpPr>
          <p:cNvPr id="11" name="Text 9"/>
          <p:cNvSpPr/>
          <p:nvPr/>
        </p:nvSpPr>
        <p:spPr>
          <a:xfrm>
            <a:off x="5801868" y="2176272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520184" y="2880360"/>
            <a:ext cx="314858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לבדוק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520184" y="3291840"/>
            <a:ext cx="314858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6B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להריץ ולכתוב טסטים לפני שסומכים.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1920240"/>
            <a:ext cx="3514344" cy="1920240"/>
          </a:xfrm>
          <a:prstGeom prst="roundRect">
            <a:avLst>
              <a:gd name="adj" fmla="val 4286"/>
            </a:avLst>
          </a:prstGeom>
          <a:solidFill>
            <a:srgbClr val="F2F3FA"/>
          </a:solidFill>
          <a:ln/>
          <a:effectLst>
            <a:outerShdw sx="100000" sy="100000" kx="0" ky="0" algn="bl" rotWithShape="0" blurRad="76200" dist="25400" dir="5400000">
              <a:srgbClr val="999999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013204" y="2176272"/>
            <a:ext cx="585216" cy="585216"/>
          </a:xfrm>
          <a:prstGeom prst="ellipse">
            <a:avLst/>
          </a:prstGeom>
          <a:solidFill>
            <a:srgbClr val="3B3B98"/>
          </a:solidFill>
          <a:ln/>
        </p:spPr>
      </p:sp>
      <p:sp>
        <p:nvSpPr>
          <p:cNvPr id="16" name="Text 14"/>
          <p:cNvSpPr/>
          <p:nvPr/>
        </p:nvSpPr>
        <p:spPr>
          <a:xfrm>
            <a:off x="2013204" y="2176272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731520" y="2880360"/>
            <a:ext cx="314858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לקחת אחריות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31520" y="3291840"/>
            <a:ext cx="314858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6B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הקוד שלכם, לא של ה-AI.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20624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500" i="1" dirty="0">
                <a:solidFill>
                  <a:srgbClr val="6B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בקורס תתבקשו להסביר קוד שהגשתם (“ראיון קוד”) — הבנה חשובה מהעתקה.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48640" y="64190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25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982712" y="64190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B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· מפגש 1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250" b="1" spc="100" kern="0" dirty="0">
                <a:solidFill>
                  <a:srgbClr val="0E9A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כלל האצבע של המפגש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33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מה שנתרגל בפועל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11091672" cy="2194560"/>
          </a:xfrm>
          <a:prstGeom prst="roundRect">
            <a:avLst>
              <a:gd name="adj" fmla="val 5000"/>
            </a:avLst>
          </a:prstGeom>
          <a:solidFill>
            <a:srgbClr val="0E9AA7"/>
          </a:solidFill>
          <a:ln/>
          <a:effectLst>
            <a:outerShdw sx="100000" sy="100000" kx="0" ky="0" algn="bl" rotWithShape="0" blurRad="76200" dist="25400" dir="5400000">
              <a:srgbClr val="999999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2286000"/>
            <a:ext cx="101772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D6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כלל אצבע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743200"/>
            <a:ext cx="101772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לעולם אל תגיש או תריץ קוד שנוצר ע"י AI</a:t>
            </a:r>
            <a:endParaRPr lang="en-US" sz="2600" dirty="0"/>
          </a:p>
          <a:p>
            <a:pPr rtl="1" algn="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מבלי שקראת, הבנת ובדקת אותו.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005840" y="3703320"/>
            <a:ext cx="1017727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600" i="1" dirty="0">
                <a:solidFill>
                  <a:srgbClr val="EAFB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אם אינך מבין מה הקוד עושה — עוד לא סיימת.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64190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25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982712" y="64190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B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· מפגש 1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250" b="1" spc="100" kern="0" dirty="0">
                <a:solidFill>
                  <a:srgbClr val="0E9A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מלכודות נפוצות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33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טעויות טיפוסיות של מתחילים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11237976" y="1801368"/>
            <a:ext cx="402336" cy="402336"/>
          </a:xfrm>
          <a:prstGeom prst="ellipse">
            <a:avLst/>
          </a:prstGeom>
          <a:solidFill>
            <a:srgbClr val="9A6A00"/>
          </a:solidFill>
          <a:ln/>
        </p:spPr>
      </p:sp>
      <p:sp>
        <p:nvSpPr>
          <p:cNvPr id="5" name="Text 3"/>
          <p:cNvSpPr/>
          <p:nvPr/>
        </p:nvSpPr>
        <p:spPr>
          <a:xfrm>
            <a:off x="11237976" y="18013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764792"/>
            <a:ext cx="1054303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650" b="1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Copy-paste עיוור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548640" y="2112264"/>
            <a:ext cx="1054303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6B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להעתיק קוד בלי לקרוא → באגים סמויים.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1237976" y="2852928"/>
            <a:ext cx="402336" cy="402336"/>
          </a:xfrm>
          <a:prstGeom prst="ellipse">
            <a:avLst/>
          </a:prstGeom>
          <a:solidFill>
            <a:srgbClr val="9A6A00"/>
          </a:solidFill>
          <a:ln/>
        </p:spPr>
      </p:sp>
      <p:sp>
        <p:nvSpPr>
          <p:cNvPr id="9" name="Text 7"/>
          <p:cNvSpPr/>
          <p:nvPr/>
        </p:nvSpPr>
        <p:spPr>
          <a:xfrm>
            <a:off x="11237976" y="285292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2816352"/>
            <a:ext cx="1054303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650" b="1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אמון יתר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548640" y="3163824"/>
            <a:ext cx="1054303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6B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להניח שה-AI תמיד צודק.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1237976" y="3904488"/>
            <a:ext cx="402336" cy="402336"/>
          </a:xfrm>
          <a:prstGeom prst="ellipse">
            <a:avLst/>
          </a:prstGeom>
          <a:solidFill>
            <a:srgbClr val="9A6A00"/>
          </a:solidFill>
          <a:ln/>
        </p:spPr>
      </p:sp>
      <p:sp>
        <p:nvSpPr>
          <p:cNvPr id="13" name="Text 11"/>
          <p:cNvSpPr/>
          <p:nvPr/>
        </p:nvSpPr>
        <p:spPr>
          <a:xfrm>
            <a:off x="11237976" y="390448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8640" y="3867912"/>
            <a:ext cx="1054303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650" b="1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דל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548640" y="4215384"/>
            <a:ext cx="1054303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6B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לבקש במעורפל → לקבל תשובה כללית וחלשה.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1237976" y="4956048"/>
            <a:ext cx="402336" cy="402336"/>
          </a:xfrm>
          <a:prstGeom prst="ellipse">
            <a:avLst/>
          </a:prstGeom>
          <a:solidFill>
            <a:srgbClr val="9A6A00"/>
          </a:solidFill>
          <a:ln/>
        </p:spPr>
      </p:sp>
      <p:sp>
        <p:nvSpPr>
          <p:cNvPr id="17" name="Text 15"/>
          <p:cNvSpPr/>
          <p:nvPr/>
        </p:nvSpPr>
        <p:spPr>
          <a:xfrm>
            <a:off x="11237976" y="495604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48640" y="4919472"/>
            <a:ext cx="1054303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650" b="1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להסתפק בתשובה הראשונה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548640" y="5266944"/>
            <a:ext cx="1054303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6B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לבקש שיפור, הסבר או חלופות.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64190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25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982712" y="64190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B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· מפגש 1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250" b="1" spc="100" kern="0" dirty="0">
                <a:solidFill>
                  <a:srgbClr val="0E9A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נקודת המוצא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33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הקורס הזה: על ה-Workflow, לא על הכלי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277356" y="1874520"/>
            <a:ext cx="5362956" cy="1828800"/>
          </a:xfrm>
          <a:prstGeom prst="roundRect">
            <a:avLst>
              <a:gd name="adj" fmla="val 4500"/>
            </a:avLst>
          </a:prstGeom>
          <a:solidFill>
            <a:srgbClr val="F2F3FA"/>
          </a:solidFill>
          <a:ln/>
          <a:effectLst>
            <a:outerShdw sx="100000" sy="100000" kx="0" ky="0" algn="bl" rotWithShape="0" blurRad="76200" dist="25400" dir="5400000">
              <a:srgbClr val="999999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51676" y="2075688"/>
            <a:ext cx="481431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מתחלף כל חודש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551676" y="2560320"/>
            <a:ext cx="481431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הכלים: Cursor, Copilot, Claude,</a:t>
            </a:r>
            <a:endParaRPr lang="en-US" sz="1500" dirty="0"/>
          </a:p>
          <a:p>
            <a:pPr rtl="1" algn="r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Windsurf, ChatGPT ...</a:t>
            </a:r>
            <a:endParaRPr lang="en-US" sz="1500" dirty="0"/>
          </a:p>
          <a:p>
            <a:pPr rtl="1" algn="r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חדשים מגיעים כל הזמן.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362956" cy="1828800"/>
          </a:xfrm>
          <a:prstGeom prst="roundRect">
            <a:avLst>
              <a:gd name="adj" fmla="val 4500"/>
            </a:avLst>
          </a:prstGeom>
          <a:solidFill>
            <a:srgbClr val="E7F5F6"/>
          </a:solidFill>
          <a:ln/>
          <a:effectLst>
            <a:outerShdw sx="100000" sy="100000" kx="0" ky="0" algn="bl" rotWithShape="0" blurRad="76200" dist="25400" dir="5400000">
              <a:srgbClr val="999999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2075688"/>
            <a:ext cx="481431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0E9A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נשאר קבוע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2560320"/>
            <a:ext cx="481431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לחשוב, לתקשר, לבדוק,</a:t>
            </a:r>
            <a:endParaRPr lang="en-US" sz="1500" dirty="0"/>
          </a:p>
          <a:p>
            <a:pPr rtl="1" algn="r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ולשלב AI בתהליך הנדסי אחראי —</a:t>
            </a:r>
            <a:endParaRPr lang="en-US" sz="1500" dirty="0"/>
          </a:p>
          <a:p>
            <a:pPr rtl="1" algn="r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בכל כלי.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4114800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  <a:effectLst>
            <a:outerShdw sx="100000" sy="100000" kx="0" ky="0" algn="bl" rotWithShape="0" blurRad="76200" dist="25400" dir="5400000">
              <a:srgbClr val="999999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68680" y="4297680"/>
            <a:ext cx="1045159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לכן בכל תרגול תבחרו כלי חינמי כרצונכם — המיומנות עוברת בין כלים.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48640" y="64190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25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982712" y="64190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B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· מפגש 1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250" b="1" spc="100" kern="0" dirty="0">
                <a:solidFill>
                  <a:srgbClr val="0E9A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מוכנים לתרגול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33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הכלים החינמיים — 3 קטגוריות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8897112" y="1783080"/>
            <a:ext cx="2633472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8897112" y="1783080"/>
            <a:ext cx="2633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קטגוריה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3840480" y="1783080"/>
            <a:ext cx="4946904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3840480" y="1783080"/>
            <a:ext cx="4946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כלים חינמיים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48640" y="1783080"/>
            <a:ext cx="3182112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783080"/>
            <a:ext cx="31821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מתי משתמשים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8897112" y="2404872"/>
            <a:ext cx="2633472" cy="749808"/>
          </a:xfrm>
          <a:prstGeom prst="roundRect">
            <a:avLst>
              <a:gd name="adj" fmla="val 10976"/>
            </a:avLst>
          </a:prstGeom>
          <a:solidFill>
            <a:srgbClr val="E7F5F6"/>
          </a:solidFill>
          <a:ln/>
          <a:effectLst>
            <a:outerShdw sx="100000" sy="100000" kx="0" ky="0" algn="bl" rotWithShape="0" blurRad="76200" dist="25400" dir="5400000">
              <a:srgbClr val="999999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034272" y="2404872"/>
            <a:ext cx="235915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צ’אט שיחתי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840480" y="2404872"/>
            <a:ext cx="4946904" cy="749808"/>
          </a:xfrm>
          <a:prstGeom prst="roundRect">
            <a:avLst>
              <a:gd name="adj" fmla="val 10976"/>
            </a:avLst>
          </a:prstGeom>
          <a:solidFill>
            <a:srgbClr val="F2F3FA"/>
          </a:solidFill>
          <a:ln/>
          <a:effectLst>
            <a:outerShdw sx="100000" sy="100000" kx="0" ky="0" algn="bl" rotWithShape="0" blurRad="76200" dist="25400" dir="5400000">
              <a:srgbClr val="999999">
                <a:alpha val="2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977640" y="2404872"/>
            <a:ext cx="4672584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Claude.ai (free) · ChatGPT (free)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2404872"/>
            <a:ext cx="3182112" cy="749808"/>
          </a:xfrm>
          <a:prstGeom prst="roundRect">
            <a:avLst>
              <a:gd name="adj" fmla="val 10976"/>
            </a:avLst>
          </a:prstGeom>
          <a:solidFill>
            <a:srgbClr val="F2F3FA"/>
          </a:solidFill>
          <a:ln/>
          <a:effectLst>
            <a:outerShdw sx="100000" sy="100000" kx="0" ky="0" algn="bl" rotWithShape="0" blurRad="76200" dist="25400" dir="5400000">
              <a:srgbClr val="999999">
                <a:alpha val="2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85800" y="2404872"/>
            <a:ext cx="290779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פרומפטים ולמידת יסודות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897112" y="3246120"/>
            <a:ext cx="2633472" cy="749808"/>
          </a:xfrm>
          <a:prstGeom prst="roundRect">
            <a:avLst>
              <a:gd name="adj" fmla="val 10976"/>
            </a:avLst>
          </a:prstGeom>
          <a:solidFill>
            <a:srgbClr val="E7F5F6"/>
          </a:solidFill>
          <a:ln/>
          <a:effectLst>
            <a:outerShdw sx="100000" sy="100000" kx="0" ky="0" algn="bl" rotWithShape="0" blurRad="76200" dist="25400" dir="5400000">
              <a:srgbClr val="999999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034272" y="3246120"/>
            <a:ext cx="235915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 משולב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3840480" y="3246120"/>
            <a:ext cx="4946904" cy="749808"/>
          </a:xfrm>
          <a:prstGeom prst="roundRect">
            <a:avLst>
              <a:gd name="adj" fmla="val 10976"/>
            </a:avLst>
          </a:prstGeom>
          <a:solidFill>
            <a:srgbClr val="F2F3FA"/>
          </a:solidFill>
          <a:ln/>
          <a:effectLst>
            <a:outerShdw sx="100000" sy="100000" kx="0" ky="0" algn="bl" rotWithShape="0" blurRad="76200" dist="25400" dir="5400000">
              <a:srgbClr val="999999">
                <a:alpha val="2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977640" y="3246120"/>
            <a:ext cx="4672584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Copilot Free · Windsurf free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48640" y="3246120"/>
            <a:ext cx="3182112" cy="749808"/>
          </a:xfrm>
          <a:prstGeom prst="roundRect">
            <a:avLst>
              <a:gd name="adj" fmla="val 10976"/>
            </a:avLst>
          </a:prstGeom>
          <a:solidFill>
            <a:srgbClr val="F2F3FA"/>
          </a:solidFill>
          <a:ln/>
          <a:effectLst>
            <a:outerShdw sx="100000" sy="100000" kx="0" ky="0" algn="bl" rotWithShape="0" blurRad="76200" dist="25400" dir="5400000">
              <a:srgbClr val="999999">
                <a:alpha val="2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85800" y="3246120"/>
            <a:ext cx="290779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השלמה ועריכה בתוך העורך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8897112" y="4087368"/>
            <a:ext cx="2633472" cy="749808"/>
          </a:xfrm>
          <a:prstGeom prst="roundRect">
            <a:avLst>
              <a:gd name="adj" fmla="val 10976"/>
            </a:avLst>
          </a:prstGeom>
          <a:solidFill>
            <a:srgbClr val="E7F5F6"/>
          </a:solidFill>
          <a:ln/>
          <a:effectLst>
            <a:outerShdw sx="100000" sy="100000" kx="0" ky="0" algn="bl" rotWithShape="0" blurRad="76200" dist="25400" dir="5400000">
              <a:srgbClr val="999999">
                <a:alpha val="2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034272" y="4087368"/>
            <a:ext cx="235915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 Agent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3840480" y="4087368"/>
            <a:ext cx="4946904" cy="749808"/>
          </a:xfrm>
          <a:prstGeom prst="roundRect">
            <a:avLst>
              <a:gd name="adj" fmla="val 10976"/>
            </a:avLst>
          </a:prstGeom>
          <a:solidFill>
            <a:srgbClr val="F2F3FA"/>
          </a:solidFill>
          <a:ln/>
          <a:effectLst>
            <a:outerShdw sx="100000" sy="100000" kx="0" ky="0" algn="bl" rotWithShape="0" blurRad="76200" dist="25400" dir="5400000">
              <a:srgbClr val="999999">
                <a:alpha val="2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977640" y="4087368"/>
            <a:ext cx="4672584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(במגבלת חינם)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548640" y="4087368"/>
            <a:ext cx="3182112" cy="749808"/>
          </a:xfrm>
          <a:prstGeom prst="roundRect">
            <a:avLst>
              <a:gd name="adj" fmla="val 10976"/>
            </a:avLst>
          </a:prstGeom>
          <a:solidFill>
            <a:srgbClr val="F2F3FA"/>
          </a:solidFill>
          <a:ln/>
          <a:effectLst>
            <a:outerShdw sx="100000" sy="100000" kx="0" ky="0" algn="bl" rotWithShape="0" blurRad="76200" dist="25400" dir="5400000">
              <a:srgbClr val="999999">
                <a:alpha val="2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85800" y="4087368"/>
            <a:ext cx="290779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לולאת agent מלאה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48640" y="493776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350" i="1" dirty="0">
                <a:solidFill>
                  <a:srgbClr val="6B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כולם חינמיים. התמונה משתנה כל חודש — בדקו תנאים עדכניים לפני שימוש.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548640" y="64190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25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7982712" y="64190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B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· מפגש 1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250" b="1" spc="100" kern="0" dirty="0">
                <a:solidFill>
                  <a:srgbClr val="0E9A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כיסינו במפגש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11256264" y="1783080"/>
            <a:ext cx="384048" cy="384048"/>
          </a:xfrm>
          <a:prstGeom prst="ellipse">
            <a:avLst/>
          </a:prstGeom>
          <a:solidFill>
            <a:srgbClr val="0E9AA7"/>
          </a:solidFill>
          <a:ln/>
        </p:spPr>
      </p:sp>
      <p:sp>
        <p:nvSpPr>
          <p:cNvPr id="5" name="Text 3"/>
          <p:cNvSpPr/>
          <p:nvPr/>
        </p:nvSpPr>
        <p:spPr>
          <a:xfrm>
            <a:off x="11256264" y="17830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764792"/>
            <a:ext cx="104515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50" dirty="0">
                <a:solidFill>
                  <a:srgbClr val="EDEF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מהו Vibe Coding, ומאיפה הגיע המונח (קרפאטי, 2025)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11256264" y="2496312"/>
            <a:ext cx="384048" cy="384048"/>
          </a:xfrm>
          <a:prstGeom prst="ellipse">
            <a:avLst/>
          </a:prstGeom>
          <a:solidFill>
            <a:srgbClr val="0E9AA7"/>
          </a:solidFill>
          <a:ln/>
        </p:spPr>
      </p:sp>
      <p:sp>
        <p:nvSpPr>
          <p:cNvPr id="8" name="Text 6"/>
          <p:cNvSpPr/>
          <p:nvPr/>
        </p:nvSpPr>
        <p:spPr>
          <a:xfrm>
            <a:off x="11256264" y="249631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2478024"/>
            <a:ext cx="104515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50" dirty="0">
                <a:solidFill>
                  <a:srgbClr val="EDEF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מהו LLM ואיך הוא “כותב” קוד — ניבוי הטוקן הבא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11256264" y="3209544"/>
            <a:ext cx="384048" cy="384048"/>
          </a:xfrm>
          <a:prstGeom prst="ellipse">
            <a:avLst/>
          </a:prstGeom>
          <a:solidFill>
            <a:srgbClr val="0E9AA7"/>
          </a:solidFill>
          <a:ln/>
        </p:spPr>
      </p:sp>
      <p:sp>
        <p:nvSpPr>
          <p:cNvPr id="11" name="Text 9"/>
          <p:cNvSpPr/>
          <p:nvPr/>
        </p:nvSpPr>
        <p:spPr>
          <a:xfrm>
            <a:off x="11256264" y="320954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48640" y="3191256"/>
            <a:ext cx="104515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50" dirty="0">
                <a:solidFill>
                  <a:srgbClr val="EDEF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ההבטחות מול המגבלות של תכנות מבוסס-AI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11256264" y="3922776"/>
            <a:ext cx="384048" cy="384048"/>
          </a:xfrm>
          <a:prstGeom prst="ellipse">
            <a:avLst/>
          </a:prstGeom>
          <a:solidFill>
            <a:srgbClr val="0E9AA7"/>
          </a:solidFill>
          <a:ln/>
        </p:spPr>
      </p:sp>
      <p:sp>
        <p:nvSpPr>
          <p:cNvPr id="14" name="Text 12"/>
          <p:cNvSpPr/>
          <p:nvPr/>
        </p:nvSpPr>
        <p:spPr>
          <a:xfrm>
            <a:off x="11256264" y="392277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48640" y="3904488"/>
            <a:ext cx="104515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50" dirty="0">
                <a:solidFill>
                  <a:srgbClr val="EDEF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עקרון-העל: “מתכנת ג’וניור מוכשר” → חובה סקירה אנושית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11256264" y="4636008"/>
            <a:ext cx="384048" cy="384048"/>
          </a:xfrm>
          <a:prstGeom prst="ellipse">
            <a:avLst/>
          </a:prstGeom>
          <a:solidFill>
            <a:srgbClr val="0E9AA7"/>
          </a:solidFill>
          <a:ln/>
        </p:spPr>
      </p:sp>
      <p:sp>
        <p:nvSpPr>
          <p:cNvPr id="17" name="Text 15"/>
          <p:cNvSpPr/>
          <p:nvPr/>
        </p:nvSpPr>
        <p:spPr>
          <a:xfrm>
            <a:off x="11256264" y="463600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48640" y="4617720"/>
            <a:ext cx="104515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50" dirty="0">
                <a:solidFill>
                  <a:srgbClr val="EDEF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הקורס עוסק ב-Workflow, לא בכלי ספציפי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548640" y="64190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EB4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25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982712" y="64190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AEB4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· מפגש 1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250" b="1" spc="100" kern="0" dirty="0">
                <a:solidFill>
                  <a:srgbClr val="0E9A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גשר לתרגול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33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נעשה בתרגול (45 דקות)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11137392" y="1874520"/>
            <a:ext cx="502920" cy="502920"/>
          </a:xfrm>
          <a:prstGeom prst="ellipse">
            <a:avLst/>
          </a:prstGeom>
          <a:solidFill>
            <a:srgbClr val="0E9AA7"/>
          </a:solidFill>
          <a:ln/>
        </p:spPr>
      </p:sp>
      <p:sp>
        <p:nvSpPr>
          <p:cNvPr id="5" name="Text 3"/>
          <p:cNvSpPr/>
          <p:nvPr/>
        </p:nvSpPr>
        <p:spPr>
          <a:xfrm>
            <a:off x="11137392" y="1874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85623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נירשם ל-2 כלי AI חינמיים.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1137392" y="2743200"/>
            <a:ext cx="502920" cy="502920"/>
          </a:xfrm>
          <a:prstGeom prst="ellipse">
            <a:avLst/>
          </a:prstGeom>
          <a:solidFill>
            <a:srgbClr val="0E9AA7"/>
          </a:solidFill>
          <a:ln/>
        </p:spPr>
      </p:sp>
      <p:sp>
        <p:nvSpPr>
          <p:cNvPr id="8" name="Text 6"/>
          <p:cNvSpPr/>
          <p:nvPr/>
        </p:nvSpPr>
        <p:spPr>
          <a:xfrm>
            <a:off x="11137392" y="2743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27249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נריץ את אותו פרומפט בשניהם — ונשווה.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11137392" y="3611880"/>
            <a:ext cx="502920" cy="502920"/>
          </a:xfrm>
          <a:prstGeom prst="ellipse">
            <a:avLst/>
          </a:prstGeom>
          <a:solidFill>
            <a:srgbClr val="0E9AA7"/>
          </a:solidFill>
          <a:ln/>
        </p:spPr>
      </p:sp>
      <p:sp>
        <p:nvSpPr>
          <p:cNvPr id="11" name="Text 9"/>
          <p:cNvSpPr/>
          <p:nvPr/>
        </p:nvSpPr>
        <p:spPr>
          <a:xfrm>
            <a:off x="11137392" y="3611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8640" y="359359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נתעד: מה עבד, מה לא, ומה הבנו.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4709160"/>
            <a:ext cx="11091672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/>
          <a:effectLst>
            <a:outerShdw sx="100000" sy="100000" kx="0" ky="0" algn="bl" rotWithShape="0" blurRad="76200" dist="25400" dir="5400000">
              <a:srgbClr val="999999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68680" y="4892040"/>
            <a:ext cx="104515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צריך: חשבון חינמי + דפדפן. אין צורך בהתקנות מיוחדות.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48640" y="64190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25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982712" y="64190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B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· מפגש 1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250" b="1" spc="100" kern="0" dirty="0">
                <a:solidFill>
                  <a:srgbClr val="0E9A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משימה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33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תרגול מפגש 1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91672" cy="1143000"/>
          </a:xfrm>
          <a:prstGeom prst="roundRect">
            <a:avLst>
              <a:gd name="adj" fmla="val 8000"/>
            </a:avLst>
          </a:prstGeom>
          <a:solidFill>
            <a:srgbClr val="3B3B98"/>
          </a:solidFill>
          <a:ln/>
          <a:effectLst>
            <a:outerShdw sx="100000" sy="100000" kx="0" ky="0" algn="bl" rotWithShape="0" blurRad="76200" dist="25400" dir="5400000">
              <a:srgbClr val="999999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965960"/>
            <a:ext cx="1045159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בזוגות או ביחיד: הירשמו ל-2 כלי AI חינמיים, הריצו את אותו פרומפט בשניהם, והשוו את התוצאות.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48640" y="320040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כלים אפשריים (בחרו 2):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125968" y="3657600"/>
            <a:ext cx="3514344" cy="1005840"/>
          </a:xfrm>
          <a:prstGeom prst="roundRect">
            <a:avLst>
              <a:gd name="adj" fmla="val 8182"/>
            </a:avLst>
          </a:prstGeom>
          <a:solidFill>
            <a:srgbClr val="E7F5F6"/>
          </a:solidFill>
          <a:ln/>
          <a:effectLst>
            <a:outerShdw sx="100000" sy="100000" kx="0" ky="0" algn="bl" rotWithShape="0" blurRad="76200" dist="25400" dir="5400000">
              <a:srgbClr val="999999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308848" y="3840480"/>
            <a:ext cx="314858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Claude.ai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308848" y="4251960"/>
            <a:ext cx="3148584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0E9A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צ’אט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37304" y="3657600"/>
            <a:ext cx="3514344" cy="1005840"/>
          </a:xfrm>
          <a:prstGeom prst="roundRect">
            <a:avLst>
              <a:gd name="adj" fmla="val 8182"/>
            </a:avLst>
          </a:prstGeom>
          <a:solidFill>
            <a:srgbClr val="E7F5F6"/>
          </a:solidFill>
          <a:ln/>
          <a:effectLst>
            <a:outerShdw sx="100000" sy="100000" kx="0" ky="0" algn="bl" rotWithShape="0" blurRad="76200" dist="25400" dir="5400000">
              <a:srgbClr val="999999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20184" y="3840480"/>
            <a:ext cx="314858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520184" y="4251960"/>
            <a:ext cx="3148584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0E9A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צ’אט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657600"/>
            <a:ext cx="3514344" cy="1005840"/>
          </a:xfrm>
          <a:prstGeom prst="roundRect">
            <a:avLst>
              <a:gd name="adj" fmla="val 8182"/>
            </a:avLst>
          </a:prstGeom>
          <a:solidFill>
            <a:srgbClr val="E7F5F6"/>
          </a:solidFill>
          <a:ln/>
          <a:effectLst>
            <a:outerShdw sx="100000" sy="100000" kx="0" ky="0" algn="bl" rotWithShape="0" blurRad="76200" dist="25400" dir="5400000">
              <a:srgbClr val="999999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3840480"/>
            <a:ext cx="314858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Free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31520" y="4251960"/>
            <a:ext cx="3148584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0E9A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89204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350" i="1" dirty="0">
                <a:solidFill>
                  <a:srgbClr val="6B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אין חובה דווקא באלה — כל כלי חינמי מהרשימה מתאים.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548640" y="64190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25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982712" y="64190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B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· מפגש 1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250" b="1" spc="100" kern="0" dirty="0">
                <a:solidFill>
                  <a:srgbClr val="0E9A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הנחיות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33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תרגול — שלב אחר שלב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11237976" y="1691640"/>
            <a:ext cx="402336" cy="402336"/>
          </a:xfrm>
          <a:prstGeom prst="ellipse">
            <a:avLst/>
          </a:prstGeom>
          <a:solidFill>
            <a:srgbClr val="3B3B98"/>
          </a:solidFill>
          <a:ln/>
        </p:spPr>
      </p:sp>
      <p:sp>
        <p:nvSpPr>
          <p:cNvPr id="5" name="Text 3"/>
          <p:cNvSpPr/>
          <p:nvPr/>
        </p:nvSpPr>
        <p:spPr>
          <a:xfrm>
            <a:off x="11237976" y="169164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673352"/>
            <a:ext cx="105247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בחרו 2 כלים חינמיים מהרשימה (למשל Claude.ai + ChatGPT).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1237976" y="2295144"/>
            <a:ext cx="402336" cy="402336"/>
          </a:xfrm>
          <a:prstGeom prst="ellipse">
            <a:avLst/>
          </a:prstGeom>
          <a:solidFill>
            <a:srgbClr val="3B3B98"/>
          </a:solidFill>
          <a:ln/>
        </p:spPr>
      </p:sp>
      <p:sp>
        <p:nvSpPr>
          <p:cNvPr id="8" name="Text 6"/>
          <p:cNvSpPr/>
          <p:nvPr/>
        </p:nvSpPr>
        <p:spPr>
          <a:xfrm>
            <a:off x="11237976" y="229514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2276856"/>
            <a:ext cx="105247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הירשמו לכל אחד — חשבון חינמי עם דוא“ל.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11237976" y="2898648"/>
            <a:ext cx="402336" cy="402336"/>
          </a:xfrm>
          <a:prstGeom prst="ellipse">
            <a:avLst/>
          </a:prstGeom>
          <a:solidFill>
            <a:srgbClr val="3B3B98"/>
          </a:solidFill>
          <a:ln/>
        </p:spPr>
      </p:sp>
      <p:sp>
        <p:nvSpPr>
          <p:cNvPr id="11" name="Text 9"/>
          <p:cNvSpPr/>
          <p:nvPr/>
        </p:nvSpPr>
        <p:spPr>
          <a:xfrm>
            <a:off x="11237976" y="289864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8640" y="2880360"/>
            <a:ext cx="105247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הריצו בשני הכלים את הפרומפט שבתיבה למטה.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1237976" y="3502152"/>
            <a:ext cx="402336" cy="402336"/>
          </a:xfrm>
          <a:prstGeom prst="ellipse">
            <a:avLst/>
          </a:prstGeom>
          <a:solidFill>
            <a:srgbClr val="3B3B98"/>
          </a:solidFill>
          <a:ln/>
        </p:spPr>
      </p:sp>
      <p:sp>
        <p:nvSpPr>
          <p:cNvPr id="14" name="Text 12"/>
          <p:cNvSpPr/>
          <p:nvPr/>
        </p:nvSpPr>
        <p:spPr>
          <a:xfrm>
            <a:off x="11237976" y="350215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48640" y="3483864"/>
            <a:ext cx="105247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קראו את שתי התשובות, והריצו את הקוד (למשל ב-Google Colab).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11237976" y="4105656"/>
            <a:ext cx="402336" cy="402336"/>
          </a:xfrm>
          <a:prstGeom prst="ellipse">
            <a:avLst/>
          </a:prstGeom>
          <a:solidFill>
            <a:srgbClr val="3B3B98"/>
          </a:solidFill>
          <a:ln/>
        </p:spPr>
      </p:sp>
      <p:sp>
        <p:nvSpPr>
          <p:cNvPr id="17" name="Text 15"/>
          <p:cNvSpPr/>
          <p:nvPr/>
        </p:nvSpPr>
        <p:spPr>
          <a:xfrm>
            <a:off x="11237976" y="410565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48640" y="4087368"/>
            <a:ext cx="1052474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שאלו: האם הקוד מטפל ברשימה ריקה? האם הבנתם כל שורה?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548640" y="4800600"/>
            <a:ext cx="11091672" cy="960120"/>
          </a:xfrm>
          <a:prstGeom prst="roundRect">
            <a:avLst>
              <a:gd name="adj" fmla="val 7619"/>
            </a:avLst>
          </a:prstGeom>
          <a:solidFill>
            <a:srgbClr val="1B1B2B"/>
          </a:solidFill>
          <a:ln/>
          <a:effectLst>
            <a:outerShdw sx="100000" sy="100000" kx="0" ky="0" algn="bl" rotWithShape="0" blurRad="76200" dist="25400" dir="5400000">
              <a:srgbClr val="999999">
                <a:alpha val="2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811512" y="48920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0E9A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הפרומפט: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22960" y="5212080"/>
            <a:ext cx="105430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E8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“כתוב פונקציה בפייתון שמקבלת רשימת מספרים ומחזירה את הממוצע. הוסף טיפול ברשימה ריקה, והסבר בעברית מה הקוד עושה.”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64190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/ 25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982712" y="64190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B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· מפגש 1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250" b="1" spc="100" kern="0" dirty="0">
                <a:solidFill>
                  <a:srgbClr val="0E9A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הגשה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33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קריטריוני הצלחה ותוצר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277356" y="1737360"/>
            <a:ext cx="5362956" cy="1965960"/>
          </a:xfrm>
          <a:prstGeom prst="roundRect">
            <a:avLst>
              <a:gd name="adj" fmla="val 4186"/>
            </a:avLst>
          </a:prstGeom>
          <a:solidFill>
            <a:srgbClr val="EAF3EA"/>
          </a:solidFill>
          <a:ln/>
          <a:effectLst>
            <a:outerShdw sx="100000" sy="100000" kx="0" ky="0" algn="bl" rotWithShape="0" blurRad="76200" dist="25400" dir="5400000">
              <a:srgbClr val="999999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51676" y="1920240"/>
            <a:ext cx="481431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הצלחתם אם...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551676" y="2395728"/>
            <a:ext cx="4814316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הרצתם את הפרומפט ב-2 כלים</a:t>
            </a:r>
            <a:endParaRPr lang="en-US" sz="1450" dirty="0"/>
          </a:p>
          <a:p>
            <a:pPr rtl="1" algn="r"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הרצתם בפועל את הקוד שהתקבל</a:t>
            </a:r>
            <a:endParaRPr lang="en-US" sz="1450" dirty="0"/>
          </a:p>
          <a:p>
            <a:pPr rtl="1" algn="r"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זיהיתם לפחות הבדל אחד בין הכלים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362956" cy="1965960"/>
          </a:xfrm>
          <a:prstGeom prst="roundRect">
            <a:avLst>
              <a:gd name="adj" fmla="val 4186"/>
            </a:avLst>
          </a:prstGeom>
          <a:solidFill>
            <a:srgbClr val="F2F3FA"/>
          </a:solidFill>
          <a:ln/>
          <a:effectLst>
            <a:outerShdw sx="100000" sy="100000" kx="0" ky="0" algn="bl" rotWithShape="0" blurRad="76200" dist="25400" dir="5400000">
              <a:srgbClr val="999999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1920240"/>
            <a:ext cx="481431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תוצר להגשה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2395728"/>
            <a:ext cx="4814316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450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דוח קצר (חצי עמוד): באילו כלים השתמשתם, מה עבד, מה לא, ואיזה קוד הבנתם — ואיזה לא.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48640" y="3886200"/>
            <a:ext cx="11091672" cy="822960"/>
          </a:xfrm>
          <a:prstGeom prst="roundRect">
            <a:avLst>
              <a:gd name="adj" fmla="val 10000"/>
            </a:avLst>
          </a:prstGeom>
          <a:solidFill>
            <a:srgbClr val="E7F5F6"/>
          </a:solidFill>
          <a:ln/>
          <a:effectLst>
            <a:outerShdw sx="100000" sy="100000" kx="0" ky="0" algn="bl" rotWithShape="0" blurRad="76200" dist="25400" dir="5400000">
              <a:srgbClr val="999999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0360152" y="3886200"/>
            <a:ext cx="1097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0E9A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בונוס: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" y="3886200"/>
            <a:ext cx="96286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222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בקשו מכל כלי לכתוב טסט אחד לפונקציה — האם הטסט תפס את מקרה הרשימה הריקה?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892040"/>
            <a:ext cx="11091672" cy="685800"/>
          </a:xfrm>
          <a:prstGeom prst="roundRect">
            <a:avLst>
              <a:gd name="adj" fmla="val 13333"/>
            </a:avLst>
          </a:prstGeom>
          <a:solidFill>
            <a:srgbClr val="9A6A00"/>
          </a:solidFill>
          <a:ln/>
          <a:effectLst>
            <a:outerShdw sx="100000" sy="100000" kx="0" ky="0" algn="bl" rotWithShape="0" blurRad="76200" dist="25400" dir="5400000">
              <a:srgbClr val="999999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68680" y="5074920"/>
            <a:ext cx="104515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זכרו את כלל האצבע: אל תגישו קוד שלא הבנתם.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48640" y="64190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/ 25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982712" y="64190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B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· מפגש 1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0E9A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סוף מפגש 1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48640" y="288036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נתראה במפגש 2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397764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מודל שפה “חושב” קוד — טוקנים, חלון הקשר, ולמה קורות הזיות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64190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EB4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/ 25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7982712" y="64190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AEB4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· מפגש 1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2026-07-26T16:05:08Z</dcterms:created>
  <dcterms:modified xsi:type="dcterms:W3CDTF">2026-07-26T16:05:08Z</dcterms:modified>
</cp:coreProperties>
</file>