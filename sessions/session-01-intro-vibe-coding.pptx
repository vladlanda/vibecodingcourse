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לקורס Vibe Coding. 'Vibe Coding' הוא מונח חדש (2025) לתכנות שבו מתארים בשפה טבעית מה רוצים, וכלי בינה מלאכותית כותב את הקוד. הקורס בנוי מ-13 מפגשים, וכל מפגש מלווה בתרגול מעשי. המסר המרכזי של כל הקורס: אנחנו לומדים תהליך עבודה (workflow) ולא כלי ספציפי — כי הכלים מתחלפים במהירות, אבל דרך החשיבה נשארת. במפגש הראשון נבנה את התשתית: מהו Vibe Coding, איך פועל המנוע שמאחוריו (מודל שפה), מה הוא מבטיח ומה מגבלותיו, ומעל הכל — עקרון-העל שילווה אותנו לאורך כל הקורס: להתייחס ל-AI כמו מתכנת ג'וניור מוכשר, שסומכים עליו אבל תמיד בודקים אותו.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בסוף המפגש תוכלו לעשות ארבעה דברים. ראשית, להגדיר במילים שלכם מהו Vibe Coding ולדעת שהמונח נטבע ע"י אנדריי קרפאטי. שנית, להסביר ברמה עקרונית מהו LLM — מודל שפה גדול — ולהבין שהוא לא 'חושב' אלא מנבא טקסט על סמך דפוסים. שלישית, למנות לפחות שתי הבטחות ושתי מגבלות של תכנות מבוסס-AI, ולהבין למה חשוב להכיר את שתיהן. רביעית, וזה הכי חשוב: להפנים שקוד שנוצר ע"י AI חייב תמיד לעבור סקירה אנושית לפני שסומכים עליו. שימו לב שהמטרות בנויות בסדר עולה: מהגדרה, דרך הבנת המנגנון, ועד ליישום אחראי.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שנכנס להגדרות, בואו נבין למה זה בכלל מעניין. באופן מסורתי, כדי לכתוב תוכנה היינו צריכים לזכור תחביר מדויק של שפת תכנות, לחפש שוב ושוב בתיעוד, ולכתוב כל שורת קוד בעצמנו. טעות קטנה — פסיק חסר, שם משתנה שגוי — והקוד פשוט לא רץ. זה תהליך איטי שדורש שנים של ניסיון כדי לעשות אותו מהר. השאלה שמניעה את כל התחום היא: מה אם היינו יכולים פשוט להסביר בשפה רגילה מה אנחנו רוצים, והמחשב היה כותב את הקוד עבורנו? זו בדיוק ההבטחה של Vibe Coding. אבל — וזה מסר חוזר בקורס — ההבטחה הזו מגיעה עם מחיר, ואת המחיר הזה נלמד לנהל.</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ההגדרה המדויקת. Vibe Coding הוא סגנון עבודה שבו מתארים בשפה טבעית מה רוצים, וכלי בינה מלאכותית כותב, בודק ומתקן את הקוד — בעוד המתכנת מכוון ומאשר במקום להקליד כל שורה. המונח נטבע ע"י אנדריי קרפאטי, מהדמויות הבולטות בעולם ה-AI, בתחילת 2025. למה דווקא המילה 'Vibe'? כי אתם מעבירים לכלי את התחושה והכוונה הכללית — את ה'וייב' — ולא הוראות מדויקות שורה-שורה. אתם נותנים כיוון, והכלי ממלא את הפרטים. חשוב להבין: זה לא אומר 'בלי לחשוב'. הכיוון שאתם נותנים חייב להיות ברור, אחרת תקבלו תוצאה כללית וחלשה — נראה את זה כשנדבר על פרומפטים במפגש 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השינוי המרכזי שקרה הוא לא רק 'כלי חדש' אלא שינוי בתפקיד שלנו כמתכנתים. בעבר, המתכנת כתב כל שורת קוד במו ידיו. היום, המתכנת מגדיר מטרה, מכוון את ה-AI, בודק את התוצאה, ומאשר או מבקש תיקון — וה-AI הוא זה שכותב בפועל. חשבו על זה כמו מעבר מ'פועל' ל'מנהל'. המשמעות המעשית: המיומנות שהכי חשובה כבר לא 'לזכור תחביר' אלא 'לדעת לנהל, לבקר ולאמת'. מי שיודע לקרוא קוד, לזהות בעיות ולנסח דרישות בבירור — יצליח, גם אם אינו זוכר כל פונקציה בעל-פה. זה גם אומר שהאחריות נשארת אצל המתכנת: ה-AI כותב, אבל אתם חתומים על התוצאה.</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כדי לשים את Vibe Coding בהקשר, הנה ציר זמן קצר. בתחילת שנות ה-2010 כבר הייתה השלמה אוטומטית בסיסית בעורכי קוד — הצעות למילה הבאה. ב-2021 הושק GitHub Copilot, שכבר הציע שורות קוד שלמות בתוך העורך. ב-2022 הגיע ChatGPT, שאיפשר לראשונה שיחה בשפה טבעית עם מודל — קפיצת מדרגה בנגישות. ב-2024 הופיעו ה-agents: כלים שלא רק מציעים קוד אלא מריצים פקודות, בודקים תוצאות ומתקנים בעצמם. וב-2025 נכנס המונח 'Vibe Coding' לשיח הרחב. המסקנה: התחום זז מהר מאוד, וכלי ספציפי עשוי להשתנות עד הסמסטר הבא. בדיוק בגלל זה הקורס מתמקד ב-workflow ולא בכלי שיתיישן.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בואו נראה דוגמה קונקרטית. במקום לזכור את התחביר של פייתון, אני פשוט כותב בשפה טבעית: 'כתוב לי פונקציה שמקבלת רשימת מספרים ומחזירה את הממוצע'. ה-AI מייצר את הקוד: הפונקציה מסכמת את המספרים (sum) ומחלקת במספר האיברים (len). זה עובד — וזה מרשים, כי לא נגעתי בתחביר. אבל שימו לב לפרט הקריטי: מה קורה אם הרשימה ריקה? len של רשימה ריקה הוא 0, וחלוקה באפס מפילה את התוכנית. ה-AI לא חשב על זה, כי לא ביקשתי ממנו במפורש. זו דוגמה מיניאטורית לכל הקורס: הכלי נותן פתרון שנראה נכון, אבל הביקורת האנושית היא שמגלה את מה שחסר. בשקף הבא נתקן את זה.</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נתקן את הבעיה מהשקף הקודם. בגרסה המתוקנת אנחנו מוסיפים בדיקה: 'אם הרשימה ריקה — החזר 0' (או זרוק שגיאה ברורה, תלוי בהקשר), ורק אחר כך מחשבים ממוצע. הרעיון הרחב כאן נקרא 'מקרה קצה' (edge case): קלט חריג שהקוד ה'רגיל' לא מטפל בו. דוגמאות: רשימה ריקה, מספר שלילי במקום שמצפים לחיובי, טקסט במקום מספר, קובץ שלא קיים, או חיבור אינטרנט שנופל. ה-AI כמעט תמיד כותב את 'המקרה הרגיל' ומתעלם ממקרי הקצה, כי הם פחות נפוצים בקוד שהוא ראה. לכן, כשמקבלים קוד, שאלו תמיד 'מה קורה בקלט הכי מוזר שאפשר?' — וגם כדאי לבקש מה-AI במפורש 'תוסיף טיפול במקרי קצה'. זיהוי מקרי הקצה הוא כישור הנדסי אמיתי, ונתרגל אותו שוב ושוב בקורס.</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דמו חי — כאן עוצרים ומדגימים בזמן אמת מול הכיתה. פתחו כלי חינמי (למשל Claude.ai) על המסך, והזינו את הפרומפט שעל השקף: פונקציה שסופרת כמה פעמים מופיעה כל אות במחרוזת. קראו את הפלט יחד עם הסטודנטים, ואז הובילו דיון קצר בשתי שאלות: האם הקוד טיפל במחרוזת ריקה? והאם הוא מבחין בין אות גדולה לקטנה (A מול a)? לרוב המודל מפספס לפחות אחד מהם — וזו הזדמנות מצוינת להראות בפועל את עקרון הביקורת: לזהות את הפער, לבקש תיקון מפורש, ולראות את לולאת השיפור עובדת מול העיניים. אם אתם לומדים לבד מהמצגת: פתחו כלי כלשהו, הריצו את הפרומפט בעצמכם, ובדקו את שתי השאלות — זו הדרך הכי טובה להפנים את החומר. הדמו מקבע את כל מה שלמדנו עד כה: פרומפט, פלט, ביקורת, מקרי קצה, ואיטרציה.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כדי להשתמש בכלי בחוכמה, כדאי להבין מה עומד מאחוריו — בלי מתמטיקה. הכלים מבוססים על LLM: Large Language Model, מודל שפה גדול. זו תוכנה שאומנה על כמויות עצומות של טקסט מהאינטרנט — מאמרים, ספרים, ובעיקר הרבה מאוד קוד. במהלך האימון היא למדה לעשות דבר אחד בסיסי: בהינתן רצף טקסט, לחזות מה סביר לבוא אחריו. שלוש נקודות לזכור: (1) היקף האימון עצום — מיליארדי מסמכים; (2) הפעולה המרכזית היא ניבוי ה'טוקן' (חתיכת טקסט) הבא; (3) והכי חשוב — המודל לא 'מבין' בכוונה כמו בן אדם, אלא מזהה דפוסים סטטיסטיים. זו נקודה קריטית: כשהמודל כותב קוד נכון, זה כי הדפוס היה נפוץ באימון — לא כי 'הבין' את הבעיה. במפגש 2 נצלול לפרטים; לעת עתה מספיקה האינטואיציה הזו.</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נחדד את האינטואיציה. הדרך הכי טובה לחשוב על מודל שפה היא כמו השלמה אוטומטית (autocomplete) של הטלפון — אבל חזקה בטירוף. כשמקלידים 'שלום, מה' והטלפון מציע 'שלומך' — זה בדיוק הרעיון: ניבוי ההמשך הסביר. מודל שפה עושה את אותו הדבר על קוד: בהינתן 'def average(numbers): return', הוא מנבא שההמשך הסביר הוא 'sum(numbers)/len(numbers)'. הוא בוחר בכל שלב את ההמשך הכי סביר לפי מה שראה. וכאן נקודת התורפה: כי זו בחירה סטטיסטית ולא הבנה, לפעמים המודל בוחר המשך שנשמע נכון אבל שגוי — ובאותו ביטחון בדיוק. לתופעה קוראים הזיה (hallucination), ונרחיב עליה. בשקף הבא נראה דוגמה מספרית מוחשית לאיך הבחירה עובדת.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נדגים את הניבוי בצורה מוחשית. נניח שהמודל קיבל עד עכשיו את השורה 'def average(numbers): return' ועליו לנחש את ההמשך. בפועל הוא לא בוחר תשובה אחת — הוא מדרג המשכים לפי הסתברות. בדוגמה שעל השקף: 'sum(numbers)/len(numbers)' מקבל הסתברות גבוהה (למשל 72%), 'numbers[0]' נמוכה (9%), ו'max(numbers)' עוד פחות (5%). המספרים להמחשה, אבל הרעיון מדויק: המודל ראה את הדפוס של 'ממוצע = סכום חלקי אורך' אלפי פעמים בקוד, ולכן זה ההמשך הסביר, והוא בוחר את ההסתברות הגבוהה. עכשיו דמיינו דפוס נדיר או מבלבל — שם פונקציה לא שגרתי, או ספרייה חדשה שהמודל לא ראה. אז ההסתברויות 'שטוחות', והמודל עלול לבחור המשך שגוי — בביטחון מלא. זה בדיוק המנגנון שמייצר הזיות, וזו הסיבה שאסור לסמוך על הפלט בעיניים עצומות.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את תהליך העבודה כלולאה בת ארבעה שלבים. שלב 1 — אתם: מנסחים פרומפט, בקשה בשפה טבעית. שלב 2 — המודל: מנבא ומייצר קוד. שלב 3 — אתם שוב: קוראים את הקוד, בודקים ומריצים אותו. שלב 4 — החלטה: אם תקין, מאשרים; אם לא, חוזרים לשלב 1 עם פרומפט מדויק יותר ('זה נכשל על רשימה ריקה, תתקן'). זו לולאה איטרטיבית — לרוב לא מקבלים תוצאה מושלמת בניסיון הראשון. הנקודה הכי חשובה: שלב 3, הביקורת האנושית, הוא הלב של הקורס. בלעדיו, קוד ה-AI הוא ניחוש שלא נבדק. הרבה מתחילים מדלגים על שלב 3 — וזו הטעות מספר אחת שנלמד להימנע ממנה.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את ההבטחות — למה בכלל שווה להשתמש בזה. ראשית, מהירות: אפשר לבנות אב-טיפוס עובד בדקות במקום שעות, מצוין לבדיקת רעיונות. שנית, נגישות: אפשר לבנות בלי לזכור בעל-פה כל תחביר, מה שמוריד את מחסום הכניסה — רלוונטי במיוחד לכם, סטודנטים להנדסה שאינם בהכרח מתכנתים ותיקים. שלישית, פחות 'עבודה שחורה': משימות משעממות אך הכרחיות — boilerplate, תיעוד, טסטים — נעשות מהר. רביעית, שותף לחשיבה: אפשר להתייעץ, לבקש רעיונות, כיוונים וחלופות. חשוב לשמור את ההבטחות בראש, כי בשקפים הבאים נדבר הרבה על מגבלות — ואסור שהזהירות תגרום לפספס כמה הכלי עוצמתי כשמשתמשים בו נכון.</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הצד השני, קריטי להנדסה אחראית. ארבע מגבלות מרכזיות. ראשונה והכי חשובה — הזיות: המודל ממציא דברים שלא קיימים, למשל פונקציה או ספרייה שנשמעות הגיוניות אך אינן קיימות. שנייה — חוסר הקשר עסקי: המודל לא יודע מה הפרויקט שלכם, מה הלקוח צריך או מה כללי החברה; הוא נותן פתרון גנרי. שלישית — קוד לא בטוח: המודל עלול לייצר בשוגג קוד עם פרצות אבטחה (נרחיב במפגש 10). רביעית — ידע מיושן: המודל אומן על מידע מהעבר, ולכן אינו בהכרח מכיר גרסאות עדכניות או חידושים אחרונים. המסר: המגבלות אינן 'באגים' שיתוקנו בקרוב — הן נובעות מעצם אופן הפעולה של המודל. לכן חובה לעבוד איתן, לא לקוות שייעלמו. בשקף הבא נראה דוגמה אמיתית להזיה.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הזיה אמיתית, מהסוג שתפגשו בפועל. נניח שביקשתם קוד לשמור נתונים לאקסל, וה-AI כתב שורה שמשתמשת בפונקציה בשם to_excel_fast. הבעיה: פונקציה כזו פשוט לא קיימת בספריית pandas. המודל 'המציא' אותה כי היא נשמעת סבירה — קיים to_excel אמיתי, אז to_excel_fast נשמע הגיוני. וזה בדיוק מה שמסוכן בהזיה: היא נשמעת אמינה. איך מזהים ומתקנים? שלושה צעדים. אחת: הריצו את הקוד — תקבלו שגיאה, כאן AttributeError, שאומרת שהפונקציה לא קיימת. שתיים: בדקו בתיעוד הרשמי של הספרייה אם הפונקציה קיימת ומה השם הנכון (כאן: to_excel). שלוש: בקשו מה-AI מקור לטענה או תיקון, או תקנו בעצמכם. הכלל: לעולם אל תסמכו על שם פונקציה או ספרייה שלא ראיתם בתיעוד או שלא הרצתם בהצלחה. הרצה ובדיקת תיעוד הן ההגנה הכי טובה מפני הזיות.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המטאפורה המרכזית של הקורס — אם תזכרו רק דבר אחד, שיהיה זה. חשבו על ה-AI כמו מתכנת או מתכנתת ג'וניור מוכשרים מאוד. מצד אחד: מהירים, יודעים המון, כותבים קוד סביר במהירות, וחוסכים לכם זמן. מצד שני: חסרי ניסיון, לא מכירים את ההקשר המלא של הפרויקט, ולפעמים טועים — ומה שמסוכן, טועים בביטחון. מה עושים עם ג'וניור אמיתי? סומכים עליו למשימות, אבל בודקים את העבודה לפני שהיא נכנסת לפרודקשן. בדיוק אותו יחס צריך לכלי ה-AI: להאציל לו עבודה, אבל אף פעם לא להכניס את התוצר שלו למערכת אמיתית בלי סקירה אנושית. המטאפורה נותנת אינטואיציה מיידית לכל מצב: שאלו את עצמכם 'האם הייתי מעביר את זה הלאה בלי לבדוק, אילו ג'וניור היה כותב את זה?'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הלב המעשי של המפגש, וזה מה שנתרגל. כלל האצבע: לעולם אל תגיש או תריץ קוד שנוצר ע"י AI מבלי שקראת, הבנת ובדקת אותו. יש לו מבחן פשוט — אם אינך מבין מה הקוד עושה, עוד לא סיימת. הכלל מתפרק לשלוש חובות קונקרטיות. אחת: לקרוא ולהבין כל שורה שאתם מגישים — שורה שאינכם מבינים היא דגל אדום. שתיים: לבדוק — להריץ, ורצוי גם לכתוב טסטים, לפני שסומכים (נרחיב במפגש 8). שלוש: לקחת אחריות — מרגע שהגשתם, זה הקוד שלכם, לא של ה-AI. הערה על הקורס: בהמשך תתבקשו לפעמים להסביר קוד שהגשתם ('ראיון קוד'), כי המטרה היא שהבנתם, לא שהעתקתם. בתרגול היום, כשתקבלו קוד משני כלים, המשימה היא בדיוק זו: לא רק להריץ, אלא להבין ולהשוות.</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מלכודות נפוצות של מתחילים, כדי שתזהו אותן בעצמכם. ראשונה — Copy-paste עיוור: להעתיק קוד מה-AI ישר לפרויקט בלי לקרוא, מה שמכניס באגים סמויים. שנייה — אמון יתר: להניח שאם ה-AI אמר משהו בביטחון, הוא נכון; ראינו שביטחון אינו ערובה לנכונות. שלישית — פרומפט דל: לבקש משהו מעורפל כמו 'תעשה לי אתר', ואז להתלונן שהתוצאה כללית — פרומפט טוב הוא חצי מהעבודה, ונלמד אותו לעומק במפגש 3. רביעית — להסתפק בתשובה הראשונה: לא לבקש שיפור, הסבר או חלופות. עם כל אחת מהמלכודות תיפגשו כבר בתרגול הראשון — נסו לזהות מתי אתם נופלים בהן. המודעות עצמה היא חצי מהפתרון.</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בדיקת הבנה — עצרו ובדקו שהמסרים המרכזיים נקלטו לפני שממשיכים. הציגו כל שאלה, בקשו מהסטודנטים להצביע על התשובה (או think-pair-share של דקה), ואז דונו. התשובות הנכונות: שאלה 1 — ב': הזיה היא כשהמודל ממציא משהו שנשמע נכון אך אינו קיים, ובביטחון מלא. שאלה 2 — ב': העיקרון המרכזי של הקורס — תמיד לקרוא, להבין ולבדוק (להריץ) קוד AI לפני שמגישים. שאלה 3 — ב': מודל שפה 'כותב' קוד ע"י ניבוי הטוקן הסביר ביותר לפי הדפוסים שראה באימון — לא ע"י חיפוש או הרצה. אם אתם לומדים לבד: ענו על שלוש השאלות מהזיכרון לפני שאתם קוראים כאן את התשובות — אחזור פעיל (active recall) הוא הדרך היעילה ביותר לזכור. אם טעיתם באחת — חזרו לשקף הרלוונטי (הזיות, העיקרון בפועל, או ניבוי הטוקן).</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נחזור למסר-העל של הקורס, כי הוא מסביר איך הוא בנוי. הכלים בתחום מתחלפים כל חודש — Cursor, Copilot, Claude, Windsurf, ChatGPT, ורבים חדשים כל הזמן. אילו היינו בונים את הקורס סביב כלי אחד, הוא היה מיושן עד סוף הסמסטר. מה שנשאר קבוע הוא דרך העבודה: איך לחשוב על בעיה, איך לתקשר אותה לכלי, איך לבדוק את התוצאה, ואיך לשלב AI בתהליך הנדסי אחראי — וזה עובד בכל כלי. לכן, החלטה מודעת: בכל תרגול תוכלו לבחור כלי חינמי כרצונכם. המיומנות שתרכשו עוברת בין כלים. מי שמבין את ה-workflow יכול להחליף כלי ביום; מי שרק שינן כלי אחד — תקוע.</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התרגול, סקירה של הכלים החינמיים, בשלוש קטגוריות. ראשונה — צ'אט שיחתי: כמו Claude.ai ו-ChatGPT בגרסאות החינמיות, מצוינים ללמידת יסודות ולתרגול פרומפטים — כותבים בקשה ומקבלים קוד בחלון שיחה. שנייה — IDE משולב: כמו GitHub Copilot בגרסה החינמית ו-Windsurf; יושבים בתוך עורך הקוד ומשלימים ועורכים תוך כדי כתיבה. שלישית — CLI Agent: כמו Claude Code במגבלת השימוש החינמית; מריצים לולאת agent מלאה — מקבלים משימה, כותבים, מריצים ומתקנים לבד. לתרגול של היום כל אחד מהם מתאים. הערה: התנאים והמגבלות של החינם משתנים כל חודש, אז בדקו מה עדכני לפני שנרשמים.</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את מה שכיסינו. הבנו מהו Vibe Coding ושהמונח נטבע ע"י קרפאטי ב-2025. ראינו מהו LLM ואיך הוא 'כותב' קוד — לא בקסם אלא בניבוי הטוקן הסביר הבא. מנינו את ההבטחות מול המגבלות, והדגשנו שהזיות הן הסיכון המרכזי. עברנו על עקרון-העל — 'מתכנת ג'וניור מוכשר' — שממנו נגזרת חובת הסקירה האנושית. וחזרנו שוב ושוב על כך שהקורס עוסק ב-workflow ולא בכלי מתחלף. אם כל זה מסתדר לכם, אתם מוכנים לתרגול הראשון. אם משהו לא ברור — זה הזמן לשאול לפני שממשיכים.</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שמתחילים, הנה תוכנית התרגול ל-45 דקות. חמישה שלבים: 5 דקות הקמה (בחירת שני כלים חינמיים והתחברות); 8 דקות ניסוי א' — אותו פרומפט בשני כלים שונים והשוואה; 14 דקות ניסוי ב', הלב של התרגול — אותו פרומפט פעם בעברית ופעם באנגלית, כדי לבדוק אם יש הבדל; 10 דקות אימות בהרצה בפועל, כולל בדיקת מקרה קצה של רשימה ריקה; ו-8 דקות לכתיבת דוח קצר. כל הפרומפטים המדויקים מופיעים בשקפים הבאים, כך שאפשר לעבוד באופן עצמאי. כל מה שצריך: חשבון חינמי ודפדפן.</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א' — כלי מול כלי. קחו את הפרומפט שבשקף (בעברית) והריצו אותו בשני הכלים שבחרתם. קראו את שתי התשובות והשוו לפי שלוש שאלות: מי הסביר טוב יותר? מי טיפל במקרה הקצה של רשימה ריקה? והאם יש הבדל בקוד עצמו — שמות משתנים, מבנה, או הערות? המטרה כאן היא לחוות שכלים שונים נותנים תשובות שונות לאותה בקשה — ולכן בחירת הכלי משנה. שימו לב אם אחד הכלים הוסיף טיפול במקרה הקצה גם בלי שביקשתם, והשני לא.</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ניסוי ב' הוא הלב של התרגול — האם יש הבדל בין עברית לאנגלית? קחו את אותה משימה בדיוק והריצו אותה פעמיים באותו כלי: פעם עם הפרומפט בעברית, ופעם עם הפרומפט באנגלית (שניהם על השקף). עכשיו השוו לפי הרשימה: האם הקוד זהה? מי טיפל במקרה הקצה? האם ההסבר באנגלית ארוך או מפורט יותר? באיזו שפה נכתבו ההערות בקוד? והאם באופן כללי אחת השפות נתנה תוצאה טובה יותר? רקע חשוב: מודלים רבים אומנו בעיקר על טקסט וקוד באנגלית, ולכן לפעמים אנגלית מניבה תשובות מעט מדויקות או מפורטות יותר — אבל זה לא מובטח, ומשתנה בין כלים ומשימות. המטרה שלכם היא לבדוק בפועל ולגבש דעה מבוססת-ראיות, לא להניח מראש. זו מיומנות מעשית: כשעובדים על משימה חשובה, שווה לנסות גם באנגלית ולראות אם התוצאה משתפרת.</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אימות בהרצה — כאן מיישמים את 'שלב 3' מהתהליך, הביקורת האנושית. פתחו את Google Colab (חינמי, בדפדפן). הריצו את הקוד שקיבלתם פעמיים: קודם עם רשימה רגילה כמו [10, 20, 30] — אמורים לקבל 20. אחר כך עם רשימה ריקה [] — וכאן ההבדל: קוד שלא טיפל במקרה הקצה ייפול בשגיאת חלוקה באפס, וקוד שכן טיפל יחזיר תשובה תקינה. רשמו לעצמכם איזה מהפלטים שקיבלתם מהכלים נפל, ואיזה שרד. זו בדיוק הסיבה שאסור לסמוך על קוד בלי להריץ אותו — הבעיה מתגלה רק בהרצה, לא בקריאה.</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לסיום, מה מגישים. הצלחתם אם עשיתם שלושה דברים: הרצתם את הפרומפט בשני כלים שונים; השוויתם בין הגרסה העברית לאנגלית; והרצתם את הקוד בפועל, כולל בדיקת רשימה ריקה. התוצר הוא דוח קצר, כחצי עמוד, שכולל: באילו כלים השתמשתם; מה היו ההבדלים בין הכלים; מה היה ההבדל בין עברית לאנגלית אם היה — לנקודה הזו אני רוצה שתתייחסו במפורש; ומי מהפלטים טיפל נכון במקרה הקצה. בונוס למתקדמים: בקשו מכל כלי לכתוב טסט אחד לפונקציה, ובדקו אם הטסט תופס את מקרה הרשימה הריקה. ומעל הכול — זכרו את כלל האצבע: אל תגישו קוד שלא הבנתם.</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1. בנינו את התשתית: מה זה Vibe Coding, איך עובד המנוע, ומהו היחס האחראי לכלי. במפגש הבא — מפגש 2 — נצלול פנימה: איך מודל שפה 'חושב' קוד, מה זה טוקנים וחלון הקשר, ולמה בדיוק קורות הזיות ומתי הן צפויות יותר. ההבנה הזו תיתן לכם אינטואיציה מתי לסמוך על הכלי ומתי להיזהר במיוחד. נתראה במפגש 2.</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1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800" b="1" dirty="0">
                <a:solidFill>
                  <a:srgbClr val="FFFFFF"/>
                </a:solidFill>
                <a:latin typeface="Arial" pitchFamily="34" charset="0"/>
                <a:ea typeface="Arial" pitchFamily="34" charset="-122"/>
                <a:cs typeface="Arial" pitchFamily="34" charset="-120"/>
              </a:rPr>
              <a:t>מהו Vibe Coding?</a:t>
            </a:r>
            <a:endParaRPr lang="en-US" sz="5800" dirty="0"/>
          </a:p>
        </p:txBody>
      </p:sp>
      <p:sp>
        <p:nvSpPr>
          <p:cNvPr id="4" name="Text 2"/>
          <p:cNvSpPr/>
          <p:nvPr/>
        </p:nvSpPr>
        <p:spPr>
          <a:xfrm>
            <a:off x="548640" y="3611880"/>
            <a:ext cx="11091672" cy="548640"/>
          </a:xfrm>
          <a:prstGeom prst="rect">
            <a:avLst/>
          </a:prstGeom>
          <a:noFill/>
          <a:ln/>
        </p:spPr>
        <p:txBody>
          <a:bodyPr wrap="square" rtlCol="0" anchor="t"/>
          <a:lstStyle/>
          <a:p>
            <a:pPr rtl="1" algn="r" indent="0" marL="0">
              <a:buNone/>
            </a:pPr>
            <a:r>
              <a:rPr lang="en-US" sz="2200" dirty="0">
                <a:solidFill>
                  <a:srgbClr val="CADCFC"/>
                </a:solidFill>
                <a:latin typeface="Arial" pitchFamily="34" charset="0"/>
                <a:ea typeface="Arial" pitchFamily="34" charset="-122"/>
                <a:cs typeface="Arial" pitchFamily="34" charset="-120"/>
              </a:rPr>
              <a:t>תכנות בסיוע בינה מלאכותית — עקרונות ותהליכי עבודה</a:t>
            </a:r>
            <a:endParaRPr lang="en-US" sz="2200" dirty="0"/>
          </a:p>
        </p:txBody>
      </p:sp>
      <p:sp>
        <p:nvSpPr>
          <p:cNvPr id="5" name="Text 3"/>
          <p:cNvSpPr/>
          <p:nvPr/>
        </p:nvSpPr>
        <p:spPr>
          <a:xfrm>
            <a:off x="548640" y="429768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תכנות בשיחה עם מכונה — במקום שורה אחר שורה</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29</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מהו Vibe Coding — ומאיפה הגיע המונח.</a:t>
            </a:r>
            <a:endParaRPr lang="en-US" sz="1700" dirty="0"/>
          </a:p>
        </p:txBody>
      </p:sp>
      <p:sp>
        <p:nvSpPr>
          <p:cNvPr id="7" name="Shape 5"/>
          <p:cNvSpPr/>
          <p:nvPr/>
        </p:nvSpPr>
        <p:spPr>
          <a:xfrm>
            <a:off x="11137392" y="2926080"/>
            <a:ext cx="502920" cy="502920"/>
          </a:xfrm>
          <a:prstGeom prst="ellipse">
            <a:avLst/>
          </a:prstGeom>
          <a:solidFill>
            <a:srgbClr val="0E9AA7"/>
          </a:solidFill>
          <a:ln/>
        </p:spPr>
      </p:sp>
      <p:sp>
        <p:nvSpPr>
          <p:cNvPr id="8" name="Text 6"/>
          <p:cNvSpPr/>
          <p:nvPr/>
        </p:nvSpPr>
        <p:spPr>
          <a:xfrm>
            <a:off x="11137392" y="29260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077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ברמה גבוהה מהו מודל שפה (LLM), ואיך הוא “כותב” קוד.</a:t>
            </a:r>
            <a:endParaRPr lang="en-US" sz="1700" dirty="0"/>
          </a:p>
        </p:txBody>
      </p:sp>
      <p:sp>
        <p:nvSpPr>
          <p:cNvPr id="10" name="Shape 8"/>
          <p:cNvSpPr/>
          <p:nvPr/>
        </p:nvSpPr>
        <p:spPr>
          <a:xfrm>
            <a:off x="11137392" y="3977640"/>
            <a:ext cx="502920" cy="502920"/>
          </a:xfrm>
          <a:prstGeom prst="ellipse">
            <a:avLst/>
          </a:prstGeom>
          <a:solidFill>
            <a:srgbClr val="0E9AA7"/>
          </a:solidFill>
          <a:ln/>
        </p:spPr>
      </p:sp>
      <p:sp>
        <p:nvSpPr>
          <p:cNvPr id="11" name="Text 9"/>
          <p:cNvSpPr/>
          <p:nvPr/>
        </p:nvSpPr>
        <p:spPr>
          <a:xfrm>
            <a:off x="11137392" y="39776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9593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להכיר את ההבטחות מול המגבלות של תכנות מבוסס-AI.</a:t>
            </a:r>
            <a:endParaRPr lang="en-US" sz="1700" dirty="0"/>
          </a:p>
        </p:txBody>
      </p:sp>
      <p:sp>
        <p:nvSpPr>
          <p:cNvPr id="13" name="Shape 11"/>
          <p:cNvSpPr/>
          <p:nvPr/>
        </p:nvSpPr>
        <p:spPr>
          <a:xfrm>
            <a:off x="11137392" y="5029200"/>
            <a:ext cx="502920" cy="502920"/>
          </a:xfrm>
          <a:prstGeom prst="ellipse">
            <a:avLst/>
          </a:prstGeom>
          <a:solidFill>
            <a:srgbClr val="0E9AA7"/>
          </a:solidFill>
          <a:ln/>
        </p:spPr>
      </p:sp>
      <p:sp>
        <p:nvSpPr>
          <p:cNvPr id="14" name="Text 12"/>
          <p:cNvSpPr/>
          <p:nvPr/>
        </p:nvSpPr>
        <p:spPr>
          <a:xfrm>
            <a:off x="11137392" y="5029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5010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להפנים את עקרון-העל: “מתכנת ג’וניור מוכשר” — חובה סקירה אנושית.</a:t>
            </a:r>
            <a:endParaRPr lang="en-US" sz="17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29</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מוטיבציה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עד לא מזמן — כתבנו כל שורה בעצמנו</a:t>
            </a:r>
            <a:endParaRPr lang="en-US" sz="3300" dirty="0"/>
          </a:p>
        </p:txBody>
      </p:sp>
      <p:sp>
        <p:nvSpPr>
          <p:cNvPr id="4" name="Shape 2"/>
          <p:cNvSpPr/>
          <p:nvPr/>
        </p:nvSpPr>
        <p:spPr>
          <a:xfrm>
            <a:off x="6277356" y="1783080"/>
            <a:ext cx="5362956" cy="2286000"/>
          </a:xfrm>
          <a:prstGeom prst="roundRect">
            <a:avLst>
              <a:gd name="adj" fmla="val 36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איך זה עבד</a:t>
            </a:r>
            <a:endParaRPr lang="en-US" sz="1600" dirty="0"/>
          </a:p>
        </p:txBody>
      </p:sp>
      <p:sp>
        <p:nvSpPr>
          <p:cNvPr id="6" name="Text 4"/>
          <p:cNvSpPr/>
          <p:nvPr/>
        </p:nvSpPr>
        <p:spPr>
          <a:xfrm>
            <a:off x="6551676" y="2423160"/>
            <a:ext cx="4814316" cy="1463040"/>
          </a:xfrm>
          <a:prstGeom prst="rect">
            <a:avLst/>
          </a:prstGeom>
          <a:noFill/>
          <a:ln/>
        </p:spPr>
        <p:txBody>
          <a:bodyPr wrap="square" rtlCol="0" anchor="t"/>
          <a:lstStyle/>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לזכור תחביר מדויק ולחפש בתיעוד</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לכתוב כל שורת קוד ידנית</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טעות פסיק אחת — והקוד לא רץ</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איטי, ודורש שנים של ניסיון</a:t>
            </a:r>
            <a:endParaRPr lang="en-US" sz="1450" dirty="0"/>
          </a:p>
        </p:txBody>
      </p:sp>
      <p:sp>
        <p:nvSpPr>
          <p:cNvPr id="7" name="Shape 5"/>
          <p:cNvSpPr/>
          <p:nvPr/>
        </p:nvSpPr>
        <p:spPr>
          <a:xfrm>
            <a:off x="548640" y="1783080"/>
            <a:ext cx="5362956" cy="2286000"/>
          </a:xfrm>
          <a:prstGeom prst="roundRect">
            <a:avLst>
              <a:gd name="adj" fmla="val 4000"/>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92024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מה אם היינו יכולים פשוט להסביר בשפה רגילה מה אנחנו רוצים — והמחשב היה כותב את הקוד?</a:t>
            </a:r>
            <a:endParaRPr lang="en-US" sz="1800" dirty="0"/>
          </a:p>
        </p:txBody>
      </p:sp>
      <p:sp>
        <p:nvSpPr>
          <p:cNvPr id="9" name="Text 7"/>
          <p:cNvSpPr/>
          <p:nvPr/>
        </p:nvSpPr>
        <p:spPr>
          <a:xfrm>
            <a:off x="548640" y="43434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זו בדיוק ההבטחה של Vibe Coding. בואו נבין מה זה — ומה המחיר.</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29</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הגדרה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Vibe Coding?</a:t>
            </a:r>
            <a:endParaRPr lang="en-US" sz="3300" dirty="0"/>
          </a:p>
        </p:txBody>
      </p:sp>
      <p:sp>
        <p:nvSpPr>
          <p:cNvPr id="4" name="Shape 2"/>
          <p:cNvSpPr/>
          <p:nvPr/>
        </p:nvSpPr>
        <p:spPr>
          <a:xfrm>
            <a:off x="548640" y="1828800"/>
            <a:ext cx="11091672" cy="1737360"/>
          </a:xfrm>
          <a:prstGeom prst="roundRect">
            <a:avLst>
              <a:gd name="adj" fmla="val 526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1371600"/>
          </a:xfrm>
          <a:prstGeom prst="rect">
            <a:avLst/>
          </a:prstGeom>
          <a:noFill/>
          <a:ln/>
        </p:spPr>
        <p:txBody>
          <a:bodyPr wrap="square" rtlCol="0" anchor="ctr"/>
          <a:lstStyle/>
          <a:p>
            <a:pPr rtl="1" algn="r" indent="0" marL="0">
              <a:buNone/>
            </a:pPr>
            <a:r>
              <a:rPr lang="en-US" sz="2100" b="1" dirty="0">
                <a:solidFill>
                  <a:srgbClr val="FFFFFF"/>
                </a:solidFill>
                <a:latin typeface="Arial" pitchFamily="34" charset="0"/>
                <a:ea typeface="Arial" pitchFamily="34" charset="-122"/>
                <a:cs typeface="Arial" pitchFamily="34" charset="-120"/>
              </a:rPr>
              <a:t>Vibe Coding — סגנון עבודה שבו מתארים בשפה טבעית מה רוצים, וכלי בינה מלאכותית כותב, בודק ומתקן את הקוד. המתכנת מכוון ומאשר, במקום להקליד כל שורה.</a:t>
            </a:r>
            <a:endParaRPr lang="en-US" sz="2100" dirty="0"/>
          </a:p>
        </p:txBody>
      </p:sp>
      <p:sp>
        <p:nvSpPr>
          <p:cNvPr id="6" name="Text 4"/>
          <p:cNvSpPr/>
          <p:nvPr/>
        </p:nvSpPr>
        <p:spPr>
          <a:xfrm>
            <a:off x="548640" y="379476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המונח נטבע ע"י אנדריי קרפאטי (Andrej Karpathy) ב-2025.</a:t>
            </a:r>
            <a:endParaRPr lang="en-US" sz="1500" dirty="0"/>
          </a:p>
        </p:txBody>
      </p:sp>
      <p:sp>
        <p:nvSpPr>
          <p:cNvPr id="7" name="Shape 5"/>
          <p:cNvSpPr/>
          <p:nvPr/>
        </p:nvSpPr>
        <p:spPr>
          <a:xfrm>
            <a:off x="548640" y="4297680"/>
            <a:ext cx="1109167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4434840"/>
            <a:ext cx="10543032"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למה “Vibe”?</a:t>
            </a:r>
            <a:endParaRPr lang="en-US" sz="1500" dirty="0"/>
          </a:p>
        </p:txBody>
      </p:sp>
      <p:sp>
        <p:nvSpPr>
          <p:cNvPr id="9" name="Text 7"/>
          <p:cNvSpPr/>
          <p:nvPr/>
        </p:nvSpPr>
        <p:spPr>
          <a:xfrm>
            <a:off x="822960" y="4800600"/>
            <a:ext cx="10543032" cy="640080"/>
          </a:xfrm>
          <a:prstGeom prst="rect">
            <a:avLst/>
          </a:prstGeom>
          <a:noFill/>
          <a:ln/>
        </p:spPr>
        <p:txBody>
          <a:bodyPr wrap="square" rtlCol="0" anchor="t"/>
          <a:lstStyle/>
          <a:p>
            <a:pPr rtl="1" algn="r" indent="0" marL="0">
              <a:buNone/>
            </a:pPr>
            <a:r>
              <a:rPr lang="en-US" sz="1450" dirty="0">
                <a:solidFill>
                  <a:srgbClr val="222232"/>
                </a:solidFill>
                <a:latin typeface="Arial" pitchFamily="34" charset="0"/>
                <a:ea typeface="Arial" pitchFamily="34" charset="-122"/>
                <a:cs typeface="Arial" pitchFamily="34" charset="-120"/>
              </a:rPr>
              <a:t>“Vibe” = התחושה והכוונה הכללית שאתם מעבירים לכלי — לא ההוראות המדויקות. אתם נותנים כיוון; הכלי ממלא את הפרטים.</a:t>
            </a:r>
            <a:endParaRPr lang="en-US" sz="145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29</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מה השתנה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מ-2025: מ“כותב כל שורה” ל“מנהל תהליך”</a:t>
            </a:r>
            <a:endParaRPr lang="en-US" sz="3300" dirty="0"/>
          </a:p>
        </p:txBody>
      </p:sp>
      <p:sp>
        <p:nvSpPr>
          <p:cNvPr id="4" name="Shape 2"/>
          <p:cNvSpPr/>
          <p:nvPr/>
        </p:nvSpPr>
        <p:spPr>
          <a:xfrm>
            <a:off x="7342632" y="1965960"/>
            <a:ext cx="4297680" cy="2011680"/>
          </a:xfrm>
          <a:prstGeom prst="roundRect">
            <a:avLst>
              <a:gd name="adj" fmla="val 4091"/>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7616952" y="2148840"/>
            <a:ext cx="3749040" cy="365760"/>
          </a:xfrm>
          <a:prstGeom prst="rect">
            <a:avLst/>
          </a:prstGeom>
          <a:noFill/>
          <a:ln/>
        </p:spPr>
        <p:txBody>
          <a:bodyPr wrap="square" rtlCol="0" anchor="t"/>
          <a:lstStyle/>
          <a:p>
            <a:pPr rtl="1" algn="r" indent="0" marL="0">
              <a:buNone/>
            </a:pPr>
            <a:r>
              <a:rPr lang="en-US" sz="1500" b="1" dirty="0">
                <a:solidFill>
                  <a:srgbClr val="6B6B80"/>
                </a:solidFill>
                <a:latin typeface="Arial" pitchFamily="34" charset="0"/>
                <a:ea typeface="Arial" pitchFamily="34" charset="-122"/>
                <a:cs typeface="Arial" pitchFamily="34" charset="-120"/>
              </a:rPr>
              <a:t>לפני</a:t>
            </a:r>
            <a:endParaRPr lang="en-US" sz="1500" dirty="0"/>
          </a:p>
        </p:txBody>
      </p:sp>
      <p:sp>
        <p:nvSpPr>
          <p:cNvPr id="6" name="Text 4"/>
          <p:cNvSpPr/>
          <p:nvPr/>
        </p:nvSpPr>
        <p:spPr>
          <a:xfrm>
            <a:off x="7616952" y="2651760"/>
            <a:ext cx="3749040" cy="1097280"/>
          </a:xfrm>
          <a:prstGeom prst="rect">
            <a:avLst/>
          </a:prstGeom>
          <a:noFill/>
          <a:ln/>
        </p:spPr>
        <p:txBody>
          <a:bodyPr wrap="square" rtlCol="0" anchor="t"/>
          <a:lstStyle/>
          <a:p>
            <a:pPr rtl="1" algn="ctr" indent="0" marL="0">
              <a:buNone/>
            </a:pPr>
            <a:r>
              <a:rPr lang="en-US" sz="2000" b="1" dirty="0">
                <a:solidFill>
                  <a:srgbClr val="222232"/>
                </a:solidFill>
                <a:latin typeface="Arial" pitchFamily="34" charset="0"/>
                <a:ea typeface="Arial" pitchFamily="34" charset="-122"/>
                <a:cs typeface="Arial" pitchFamily="34" charset="-120"/>
              </a:rPr>
              <a:t>המתכנת כותב</a:t>
            </a:r>
            <a:endParaRPr lang="en-US" sz="2000" dirty="0"/>
          </a:p>
          <a:p>
            <a:pPr rtl="1" algn="ctr" indent="0" marL="0">
              <a:buNone/>
            </a:pPr>
            <a:r>
              <a:rPr lang="en-US" sz="2000" b="1" dirty="0">
                <a:solidFill>
                  <a:srgbClr val="222232"/>
                </a:solidFill>
                <a:latin typeface="Arial" pitchFamily="34" charset="0"/>
                <a:ea typeface="Arial" pitchFamily="34" charset="-122"/>
                <a:cs typeface="Arial" pitchFamily="34" charset="-120"/>
              </a:rPr>
              <a:t>כל שורת קוד בעצמו</a:t>
            </a:r>
            <a:endParaRPr lang="en-US" sz="2000" dirty="0"/>
          </a:p>
        </p:txBody>
      </p:sp>
      <p:sp>
        <p:nvSpPr>
          <p:cNvPr id="7" name="Shape 5"/>
          <p:cNvSpPr/>
          <p:nvPr/>
        </p:nvSpPr>
        <p:spPr>
          <a:xfrm>
            <a:off x="548640" y="1965960"/>
            <a:ext cx="4297680" cy="2011680"/>
          </a:xfrm>
          <a:prstGeom prst="roundRect">
            <a:avLst>
              <a:gd name="adj" fmla="val 4091"/>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22960" y="2148840"/>
            <a:ext cx="3749040"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אחרי</a:t>
            </a:r>
            <a:endParaRPr lang="en-US" sz="1500" dirty="0"/>
          </a:p>
        </p:txBody>
      </p:sp>
      <p:sp>
        <p:nvSpPr>
          <p:cNvPr id="9" name="Text 7"/>
          <p:cNvSpPr/>
          <p:nvPr/>
        </p:nvSpPr>
        <p:spPr>
          <a:xfrm>
            <a:off x="822960" y="2606040"/>
            <a:ext cx="3749040" cy="118872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המתכנת מגדיר מטרה →</a:t>
            </a:r>
            <a:endParaRPr lang="en-US" sz="1700" dirty="0"/>
          </a:p>
          <a:p>
            <a:pPr rtl="1" algn="ctr" indent="0" marL="0">
              <a:buNone/>
            </a:pPr>
            <a:r>
              <a:rPr lang="en-US" sz="1700" b="1" dirty="0">
                <a:solidFill>
                  <a:srgbClr val="222232"/>
                </a:solidFill>
                <a:latin typeface="Arial" pitchFamily="34" charset="0"/>
                <a:ea typeface="Arial" pitchFamily="34" charset="-122"/>
                <a:cs typeface="Arial" pitchFamily="34" charset="-120"/>
              </a:rPr>
              <a:t>מכוון → בודק → מאשר.</a:t>
            </a:r>
            <a:endParaRPr lang="en-US" sz="1700" dirty="0"/>
          </a:p>
          <a:p>
            <a:pPr rtl="1" algn="ctr" indent="0" marL="0">
              <a:buNone/>
            </a:pPr>
            <a:r>
              <a:rPr lang="en-US" sz="1700" b="1" dirty="0">
                <a:solidFill>
                  <a:srgbClr val="222232"/>
                </a:solidFill>
                <a:latin typeface="Arial" pitchFamily="34" charset="0"/>
                <a:ea typeface="Arial" pitchFamily="34" charset="-122"/>
                <a:cs typeface="Arial" pitchFamily="34" charset="-120"/>
              </a:rPr>
              <a:t>ה-AI כותב את הקוד.</a:t>
            </a:r>
            <a:endParaRPr lang="en-US" sz="1700" dirty="0"/>
          </a:p>
        </p:txBody>
      </p:sp>
      <p:sp>
        <p:nvSpPr>
          <p:cNvPr id="10" name="Shape 8"/>
          <p:cNvSpPr/>
          <p:nvPr/>
        </p:nvSpPr>
        <p:spPr>
          <a:xfrm>
            <a:off x="4983480" y="2971800"/>
            <a:ext cx="2221992" cy="0"/>
          </a:xfrm>
          <a:prstGeom prst="line">
            <a:avLst/>
          </a:prstGeom>
          <a:noFill/>
          <a:ln w="44450">
            <a:solidFill>
              <a:srgbClr val="3B3B98"/>
            </a:solidFill>
            <a:prstDash val="solid"/>
            <a:headEnd type="triangle"/>
          </a:ln>
        </p:spPr>
      </p:sp>
      <p:sp>
        <p:nvSpPr>
          <p:cNvPr id="11" name="Shape 9"/>
          <p:cNvSpPr/>
          <p:nvPr/>
        </p:nvSpPr>
        <p:spPr>
          <a:xfrm>
            <a:off x="548640" y="425196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434840"/>
            <a:ext cx="10451592" cy="50292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המיומנות המרכזית עוברת מ“כתיבה” ל“ניהול, ביקורת ואימות”.</a:t>
            </a:r>
            <a:endParaRPr lang="en-US" sz="17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29</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פרספקטיבה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הגענו לכאן — ציר זמן קצר</a:t>
            </a:r>
            <a:endParaRPr lang="en-US" sz="3300" dirty="0"/>
          </a:p>
        </p:txBody>
      </p:sp>
      <p:sp>
        <p:nvSpPr>
          <p:cNvPr id="4" name="Shape 2"/>
          <p:cNvSpPr/>
          <p:nvPr/>
        </p:nvSpPr>
        <p:spPr>
          <a:xfrm>
            <a:off x="548640" y="2743200"/>
            <a:ext cx="11091672" cy="0"/>
          </a:xfrm>
          <a:prstGeom prst="line">
            <a:avLst/>
          </a:prstGeom>
          <a:noFill/>
          <a:ln w="31750">
            <a:solidFill>
              <a:srgbClr val="C9CEE8"/>
            </a:solidFill>
            <a:prstDash val="solid"/>
          </a:ln>
        </p:spPr>
      </p:sp>
      <p:sp>
        <p:nvSpPr>
          <p:cNvPr id="5" name="Shape 3"/>
          <p:cNvSpPr/>
          <p:nvPr/>
        </p:nvSpPr>
        <p:spPr>
          <a:xfrm>
            <a:off x="10540289" y="2642616"/>
            <a:ext cx="201168" cy="201168"/>
          </a:xfrm>
          <a:prstGeom prst="ellipse">
            <a:avLst/>
          </a:prstGeom>
          <a:solidFill>
            <a:srgbClr val="3B3B98"/>
          </a:solidFill>
          <a:ln/>
        </p:spPr>
      </p:sp>
      <p:sp>
        <p:nvSpPr>
          <p:cNvPr id="6" name="Text 4"/>
          <p:cNvSpPr/>
          <p:nvPr/>
        </p:nvSpPr>
        <p:spPr>
          <a:xfrm>
            <a:off x="9641434"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~2010s</a:t>
            </a:r>
            <a:endParaRPr lang="en-US" sz="1500" dirty="0"/>
          </a:p>
        </p:txBody>
      </p:sp>
      <p:sp>
        <p:nvSpPr>
          <p:cNvPr id="7" name="Text 5"/>
          <p:cNvSpPr/>
          <p:nvPr/>
        </p:nvSpPr>
        <p:spPr>
          <a:xfrm>
            <a:off x="9641434"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השלמה אוטומטית בסיסית בעורכי קוד</a:t>
            </a:r>
            <a:endParaRPr lang="en-US" sz="1250" dirty="0"/>
          </a:p>
        </p:txBody>
      </p:sp>
      <p:sp>
        <p:nvSpPr>
          <p:cNvPr id="8" name="Shape 6"/>
          <p:cNvSpPr/>
          <p:nvPr/>
        </p:nvSpPr>
        <p:spPr>
          <a:xfrm>
            <a:off x="8267090" y="2642616"/>
            <a:ext cx="201168" cy="201168"/>
          </a:xfrm>
          <a:prstGeom prst="ellipse">
            <a:avLst/>
          </a:prstGeom>
          <a:solidFill>
            <a:srgbClr val="3B3B98"/>
          </a:solidFill>
          <a:ln/>
        </p:spPr>
      </p:sp>
      <p:sp>
        <p:nvSpPr>
          <p:cNvPr id="9" name="Text 7"/>
          <p:cNvSpPr/>
          <p:nvPr/>
        </p:nvSpPr>
        <p:spPr>
          <a:xfrm>
            <a:off x="7368235"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2021</a:t>
            </a:r>
            <a:endParaRPr lang="en-US" sz="1500" dirty="0"/>
          </a:p>
        </p:txBody>
      </p:sp>
      <p:sp>
        <p:nvSpPr>
          <p:cNvPr id="10" name="Text 8"/>
          <p:cNvSpPr/>
          <p:nvPr/>
        </p:nvSpPr>
        <p:spPr>
          <a:xfrm>
            <a:off x="7368235"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GitHub Copilot — השלמת שורות שלמות ב-IDE</a:t>
            </a:r>
            <a:endParaRPr lang="en-US" sz="1250" dirty="0"/>
          </a:p>
        </p:txBody>
      </p:sp>
      <p:sp>
        <p:nvSpPr>
          <p:cNvPr id="11" name="Shape 9"/>
          <p:cNvSpPr/>
          <p:nvPr/>
        </p:nvSpPr>
        <p:spPr>
          <a:xfrm>
            <a:off x="5993892" y="2642616"/>
            <a:ext cx="201168" cy="201168"/>
          </a:xfrm>
          <a:prstGeom prst="ellipse">
            <a:avLst/>
          </a:prstGeom>
          <a:solidFill>
            <a:srgbClr val="3B3B98"/>
          </a:solidFill>
          <a:ln/>
        </p:spPr>
      </p:sp>
      <p:sp>
        <p:nvSpPr>
          <p:cNvPr id="12" name="Text 10"/>
          <p:cNvSpPr/>
          <p:nvPr/>
        </p:nvSpPr>
        <p:spPr>
          <a:xfrm>
            <a:off x="5095037"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2022</a:t>
            </a:r>
            <a:endParaRPr lang="en-US" sz="1500" dirty="0"/>
          </a:p>
        </p:txBody>
      </p:sp>
      <p:sp>
        <p:nvSpPr>
          <p:cNvPr id="13" name="Text 11"/>
          <p:cNvSpPr/>
          <p:nvPr/>
        </p:nvSpPr>
        <p:spPr>
          <a:xfrm>
            <a:off x="5095037"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ChatGPT — שיחה בשפה טבעית עם מודל</a:t>
            </a:r>
            <a:endParaRPr lang="en-US" sz="1250" dirty="0"/>
          </a:p>
        </p:txBody>
      </p:sp>
      <p:sp>
        <p:nvSpPr>
          <p:cNvPr id="14" name="Shape 12"/>
          <p:cNvSpPr/>
          <p:nvPr/>
        </p:nvSpPr>
        <p:spPr>
          <a:xfrm>
            <a:off x="3720694" y="2642616"/>
            <a:ext cx="201168" cy="201168"/>
          </a:xfrm>
          <a:prstGeom prst="ellipse">
            <a:avLst/>
          </a:prstGeom>
          <a:solidFill>
            <a:srgbClr val="3B3B98"/>
          </a:solidFill>
          <a:ln/>
        </p:spPr>
      </p:sp>
      <p:sp>
        <p:nvSpPr>
          <p:cNvPr id="15" name="Text 13"/>
          <p:cNvSpPr/>
          <p:nvPr/>
        </p:nvSpPr>
        <p:spPr>
          <a:xfrm>
            <a:off x="2821838"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2024</a:t>
            </a:r>
            <a:endParaRPr lang="en-US" sz="1500" dirty="0"/>
          </a:p>
        </p:txBody>
      </p:sp>
      <p:sp>
        <p:nvSpPr>
          <p:cNvPr id="16" name="Text 14"/>
          <p:cNvSpPr/>
          <p:nvPr/>
        </p:nvSpPr>
        <p:spPr>
          <a:xfrm>
            <a:off x="2821838"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Agents — כלים שמריצים פקודות ומתקנים לבד</a:t>
            </a:r>
            <a:endParaRPr lang="en-US" sz="1250" dirty="0"/>
          </a:p>
        </p:txBody>
      </p:sp>
      <p:sp>
        <p:nvSpPr>
          <p:cNvPr id="17" name="Shape 15"/>
          <p:cNvSpPr/>
          <p:nvPr/>
        </p:nvSpPr>
        <p:spPr>
          <a:xfrm>
            <a:off x="1447495" y="2642616"/>
            <a:ext cx="201168" cy="201168"/>
          </a:xfrm>
          <a:prstGeom prst="ellipse">
            <a:avLst/>
          </a:prstGeom>
          <a:solidFill>
            <a:srgbClr val="0E9AA7"/>
          </a:solidFill>
          <a:ln/>
        </p:spPr>
      </p:sp>
      <p:sp>
        <p:nvSpPr>
          <p:cNvPr id="18" name="Text 16"/>
          <p:cNvSpPr/>
          <p:nvPr/>
        </p:nvSpPr>
        <p:spPr>
          <a:xfrm>
            <a:off x="548640" y="2057400"/>
            <a:ext cx="1998878"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2025</a:t>
            </a:r>
            <a:endParaRPr lang="en-US" sz="1500" dirty="0"/>
          </a:p>
        </p:txBody>
      </p:sp>
      <p:sp>
        <p:nvSpPr>
          <p:cNvPr id="19" name="Text 17"/>
          <p:cNvSpPr/>
          <p:nvPr/>
        </p:nvSpPr>
        <p:spPr>
          <a:xfrm>
            <a:off x="548640"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“Vibe Coding” — המונח נכנס לשיח</a:t>
            </a:r>
            <a:endParaRPr lang="en-US" sz="1250" dirty="0"/>
          </a:p>
        </p:txBody>
      </p:sp>
      <p:sp>
        <p:nvSpPr>
          <p:cNvPr id="20" name="Shape 18"/>
          <p:cNvSpPr/>
          <p:nvPr/>
        </p:nvSpPr>
        <p:spPr>
          <a:xfrm>
            <a:off x="548640" y="4526280"/>
            <a:ext cx="11091672" cy="960120"/>
          </a:xfrm>
          <a:prstGeom prst="roundRect">
            <a:avLst>
              <a:gd name="adj" fmla="val 9524"/>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4709160"/>
            <a:ext cx="10451592" cy="594360"/>
          </a:xfrm>
          <a:prstGeom prst="rect">
            <a:avLst/>
          </a:prstGeom>
          <a:noFill/>
          <a:ln/>
        </p:spPr>
        <p:txBody>
          <a:bodyPr wrap="square" rtlCol="0" anchor="ctr"/>
          <a:lstStyle/>
          <a:p>
            <a:pPr rtl="1" algn="r" indent="0" marL="0">
              <a:buNone/>
            </a:pPr>
            <a:r>
              <a:rPr lang="en-US" sz="1650" b="1" dirty="0">
                <a:solidFill>
                  <a:srgbClr val="FFFFFF"/>
                </a:solidFill>
                <a:latin typeface="Arial" pitchFamily="34" charset="0"/>
                <a:ea typeface="Arial" pitchFamily="34" charset="-122"/>
                <a:cs typeface="Arial" pitchFamily="34" charset="-120"/>
              </a:rPr>
              <a:t>התחום זז מהר — כלי שנלמד היום עשוי להשתנות עד הסמסטר הבא. לכן נלמד Workflow, לא כלי ספציפי.</a:t>
            </a:r>
            <a:endParaRPr lang="en-US" sz="165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29</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מפרומפט לקוד — דוגמה קונקרטית</a:t>
            </a:r>
            <a:endParaRPr lang="en-US" sz="3300" dirty="0"/>
          </a:p>
        </p:txBody>
      </p:sp>
      <p:sp>
        <p:nvSpPr>
          <p:cNvPr id="4" name="Shape 2"/>
          <p:cNvSpPr/>
          <p:nvPr/>
        </p:nvSpPr>
        <p:spPr>
          <a:xfrm>
            <a:off x="6277356" y="1783080"/>
            <a:ext cx="5362956" cy="2331720"/>
          </a:xfrm>
          <a:prstGeom prst="roundRect">
            <a:avLst>
              <a:gd name="adj" fmla="val 3529"/>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65960"/>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מה שאני מבקש (שפה טבעית)</a:t>
            </a:r>
            <a:endParaRPr lang="en-US" sz="1400" dirty="0"/>
          </a:p>
        </p:txBody>
      </p:sp>
      <p:sp>
        <p:nvSpPr>
          <p:cNvPr id="6" name="Text 4"/>
          <p:cNvSpPr/>
          <p:nvPr/>
        </p:nvSpPr>
        <p:spPr>
          <a:xfrm>
            <a:off x="6551676" y="2468880"/>
            <a:ext cx="4814316" cy="1463040"/>
          </a:xfrm>
          <a:prstGeom prst="rect">
            <a:avLst/>
          </a:prstGeom>
          <a:noFill/>
          <a:ln/>
        </p:spPr>
        <p:txBody>
          <a:bodyPr wrap="square" rtlCol="0" anchor="t"/>
          <a:lstStyle/>
          <a:p>
            <a:pPr rtl="1" algn="r" indent="0" marL="0">
              <a:buNone/>
            </a:pPr>
            <a:r>
              <a:rPr lang="en-US" sz="1700" dirty="0">
                <a:solidFill>
                  <a:srgbClr val="222232"/>
                </a:solidFill>
                <a:latin typeface="Arial" pitchFamily="34" charset="0"/>
                <a:ea typeface="Arial" pitchFamily="34" charset="-122"/>
                <a:cs typeface="Arial" pitchFamily="34" charset="-120"/>
              </a:rPr>
              <a:t>“כתוב לי פונקציה בפייתון שמקבלת רשימת מספרים ומחזירה את הממוצע.”</a:t>
            </a:r>
            <a:endParaRPr lang="en-US" sz="1700" dirty="0"/>
          </a:p>
        </p:txBody>
      </p:sp>
      <p:sp>
        <p:nvSpPr>
          <p:cNvPr id="7" name="Shape 5"/>
          <p:cNvSpPr/>
          <p:nvPr/>
        </p:nvSpPr>
        <p:spPr>
          <a:xfrm>
            <a:off x="548640" y="1783080"/>
            <a:ext cx="5362956" cy="2331720"/>
          </a:xfrm>
          <a:prstGeom prst="roundRect">
            <a:avLst>
              <a:gd name="adj" fmla="val 3529"/>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65960"/>
            <a:ext cx="4814316" cy="365760"/>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מה שה-AI מייצר</a:t>
            </a:r>
            <a:endParaRPr lang="en-US" sz="1400" dirty="0"/>
          </a:p>
        </p:txBody>
      </p:sp>
      <p:sp>
        <p:nvSpPr>
          <p:cNvPr id="9" name="Text 7"/>
          <p:cNvSpPr/>
          <p:nvPr/>
        </p:nvSpPr>
        <p:spPr>
          <a:xfrm>
            <a:off x="822960" y="2560320"/>
            <a:ext cx="4814316" cy="1188720"/>
          </a:xfrm>
          <a:prstGeom prst="rect">
            <a:avLst/>
          </a:prstGeom>
          <a:noFill/>
          <a:ln/>
        </p:spPr>
        <p:txBody>
          <a:bodyPr wrap="square" rtlCol="0" anchor="t"/>
          <a:lstStyle/>
          <a:p>
            <a:pPr algn="l" indent="0" marL="0">
              <a:buNone/>
            </a:pPr>
            <a:r>
              <a:rPr lang="en-US" sz="1500" dirty="0">
                <a:solidFill>
                  <a:srgbClr val="E8E8F0"/>
                </a:solidFill>
                <a:latin typeface="Courier New" pitchFamily="34" charset="0"/>
                <a:ea typeface="Courier New" pitchFamily="34" charset="-122"/>
                <a:cs typeface="Courier New" pitchFamily="34" charset="-120"/>
              </a:rPr>
              <a:t>def average(numbers):</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    return sum(numbers) / len(numbers)</a:t>
            </a:r>
            <a:endParaRPr lang="en-US" sz="1500" dirty="0"/>
          </a:p>
        </p:txBody>
      </p:sp>
      <p:sp>
        <p:nvSpPr>
          <p:cNvPr id="10" name="Shape 8"/>
          <p:cNvSpPr/>
          <p:nvPr/>
        </p:nvSpPr>
        <p:spPr>
          <a:xfrm>
            <a:off x="548640" y="4297680"/>
            <a:ext cx="11091672" cy="1051560"/>
          </a:xfrm>
          <a:prstGeom prst="roundRect">
            <a:avLst>
              <a:gd name="adj" fmla="val 8696"/>
            </a:avLst>
          </a:prstGeom>
          <a:solidFill>
            <a:srgbClr val="9A6A00"/>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480560"/>
            <a:ext cx="10451592" cy="6858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לא הקלדתי תחביר — תיארתי מטרה. אבל שימו לב: מה קורה אם הרשימה ריקה? (הקוד ייכשל). לזה בדיוק נדרשת ביקורת אנושית.</a:t>
            </a:r>
            <a:endParaRPr lang="en-US" sz="155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29</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המשך הדוגמה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הקוד המתוקן — וחשיבה על מקרי קצה</a:t>
            </a:r>
            <a:endParaRPr lang="en-US" sz="3300" dirty="0"/>
          </a:p>
        </p:txBody>
      </p:sp>
      <p:sp>
        <p:nvSpPr>
          <p:cNvPr id="4" name="Shape 2"/>
          <p:cNvSpPr/>
          <p:nvPr/>
        </p:nvSpPr>
        <p:spPr>
          <a:xfrm>
            <a:off x="6277356" y="1783080"/>
            <a:ext cx="5362956" cy="1874520"/>
          </a:xfrm>
          <a:prstGeom prst="roundRect">
            <a:avLst>
              <a:gd name="adj" fmla="val 439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65960"/>
            <a:ext cx="4814316" cy="365760"/>
          </a:xfrm>
          <a:prstGeom prst="rect">
            <a:avLst/>
          </a:prstGeom>
          <a:noFill/>
          <a:ln/>
        </p:spPr>
        <p:txBody>
          <a:bodyPr wrap="square" rtlCol="0" anchor="ctr"/>
          <a:lstStyle/>
          <a:p>
            <a:pPr rtl="1" algn="r" indent="0" marL="0">
              <a:buNone/>
            </a:pPr>
            <a:r>
              <a:rPr lang="en-US" sz="1350" b="1" dirty="0">
                <a:solidFill>
                  <a:srgbClr val="F1948A"/>
                </a:solidFill>
                <a:latin typeface="Arial" pitchFamily="34" charset="0"/>
                <a:ea typeface="Arial" pitchFamily="34" charset="-122"/>
                <a:cs typeface="Arial" pitchFamily="34" charset="-120"/>
              </a:rPr>
              <a:t>הקוד המקורי — בעייתי</a:t>
            </a:r>
            <a:endParaRPr lang="en-US" sz="1350" dirty="0"/>
          </a:p>
        </p:txBody>
      </p:sp>
      <p:sp>
        <p:nvSpPr>
          <p:cNvPr id="6" name="Text 4"/>
          <p:cNvSpPr/>
          <p:nvPr/>
        </p:nvSpPr>
        <p:spPr>
          <a:xfrm>
            <a:off x="6551676" y="2468880"/>
            <a:ext cx="4814316" cy="1097280"/>
          </a:xfrm>
          <a:prstGeom prst="rect">
            <a:avLst/>
          </a:prstGeom>
          <a:noFill/>
          <a:ln/>
        </p:spPr>
        <p:txBody>
          <a:bodyPr wrap="square" rtlCol="0" anchor="t"/>
          <a:lstStyle/>
          <a:p>
            <a:pPr algn="l" indent="0" marL="0">
              <a:buNone/>
            </a:pPr>
            <a:r>
              <a:rPr lang="en-US" sz="1300" dirty="0">
                <a:solidFill>
                  <a:srgbClr val="E8E8F0"/>
                </a:solidFill>
                <a:latin typeface="Courier New" pitchFamily="34" charset="0"/>
                <a:ea typeface="Courier New" pitchFamily="34" charset="-122"/>
                <a:cs typeface="Courier New" pitchFamily="34" charset="-120"/>
              </a:rPr>
              <a:t>def average(numbers):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sum(numbers)/len(numbers)</a:t>
            </a:r>
            <a:endParaRPr lang="en-US" sz="1300" dirty="0"/>
          </a:p>
          <a:p>
            <a:pPr algn="l" indent="0" marL="0">
              <a:buNone/>
            </a:pP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len([]) == 0  ← חלוקה באפס!</a:t>
            </a:r>
            <a:endParaRPr lang="en-US" sz="1300" dirty="0"/>
          </a:p>
        </p:txBody>
      </p:sp>
      <p:sp>
        <p:nvSpPr>
          <p:cNvPr id="7" name="Shape 5"/>
          <p:cNvSpPr/>
          <p:nvPr/>
        </p:nvSpPr>
        <p:spPr>
          <a:xfrm>
            <a:off x="548640" y="1783080"/>
            <a:ext cx="5362956" cy="1874520"/>
          </a:xfrm>
          <a:prstGeom prst="roundRect">
            <a:avLst>
              <a:gd name="adj" fmla="val 4390"/>
            </a:avLst>
          </a:prstGeom>
          <a:solidFill>
            <a:srgbClr val="12241B"/>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65960"/>
            <a:ext cx="4814316" cy="365760"/>
          </a:xfrm>
          <a:prstGeom prst="rect">
            <a:avLst/>
          </a:prstGeom>
          <a:noFill/>
          <a:ln/>
        </p:spPr>
        <p:txBody>
          <a:bodyPr wrap="square" rtlCol="0" anchor="ctr"/>
          <a:lstStyle/>
          <a:p>
            <a:pPr rtl="1" algn="r" indent="0" marL="0">
              <a:buNone/>
            </a:pPr>
            <a:r>
              <a:rPr lang="en-US" sz="1350" b="1" dirty="0">
                <a:solidFill>
                  <a:srgbClr val="82E0AA"/>
                </a:solidFill>
                <a:latin typeface="Arial" pitchFamily="34" charset="0"/>
                <a:ea typeface="Arial" pitchFamily="34" charset="-122"/>
                <a:cs typeface="Arial" pitchFamily="34" charset="-120"/>
              </a:rPr>
              <a:t>הגרסה המתוקנת</a:t>
            </a:r>
            <a:endParaRPr lang="en-US" sz="1350" dirty="0"/>
          </a:p>
        </p:txBody>
      </p:sp>
      <p:sp>
        <p:nvSpPr>
          <p:cNvPr id="9" name="Text 7"/>
          <p:cNvSpPr/>
          <p:nvPr/>
        </p:nvSpPr>
        <p:spPr>
          <a:xfrm>
            <a:off x="822960" y="2468880"/>
            <a:ext cx="4814316" cy="1097280"/>
          </a:xfrm>
          <a:prstGeom prst="rect">
            <a:avLst/>
          </a:prstGeom>
          <a:noFill/>
          <a:ln/>
        </p:spPr>
        <p:txBody>
          <a:bodyPr wrap="square" rtlCol="0" anchor="t"/>
          <a:lstStyle/>
          <a:p>
            <a:pPr algn="l" indent="0" marL="0">
              <a:buNone/>
            </a:pPr>
            <a:r>
              <a:rPr lang="en-US" sz="1300" dirty="0">
                <a:solidFill>
                  <a:srgbClr val="E8E8F0"/>
                </a:solidFill>
                <a:latin typeface="Courier New" pitchFamily="34" charset="0"/>
                <a:ea typeface="Courier New" pitchFamily="34" charset="-122"/>
                <a:cs typeface="Courier New" pitchFamily="34" charset="-120"/>
              </a:rPr>
              <a:t>def average(numbers):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if not 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0</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sum(numbers)/len(numbers)</a:t>
            </a:r>
            <a:endParaRPr lang="en-US" sz="1300" dirty="0"/>
          </a:p>
        </p:txBody>
      </p:sp>
      <p:sp>
        <p:nvSpPr>
          <p:cNvPr id="10" name="Shape 8"/>
          <p:cNvSpPr/>
          <p:nvPr/>
        </p:nvSpPr>
        <p:spPr>
          <a:xfrm>
            <a:off x="548640" y="3886200"/>
            <a:ext cx="11091672" cy="1463040"/>
          </a:xfrm>
          <a:prstGeom prst="roundRect">
            <a:avLst>
              <a:gd name="adj" fmla="val 6250"/>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069080"/>
            <a:ext cx="10451592" cy="109728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מקרה קצה (edge case) = קלט חריג שהקוד ה“רגיל” לא מטפל בו: רשימה ריקה, מספר שלילי, טקסט במקום מספר, קובץ שלא קיים. ה-AI נוטה להתעלם ממקרי קצה — הוא כותב את המקרה ה“רגיל”. זיהוי מקרי הקצה ובקשה מפורשת לטפל בהם — באחריותכם. תמיד שאלו: “מה קורה בקלט הכי מוזר שאפשר?”</a:t>
            </a:r>
            <a:endParaRPr lang="en-US" sz="15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29</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דמו חי (≈ 7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בואו ננסה יחד</a:t>
            </a:r>
            <a:endParaRPr lang="en-US" sz="3300" dirty="0"/>
          </a:p>
        </p:txBody>
      </p:sp>
      <p:sp>
        <p:nvSpPr>
          <p:cNvPr id="4" name="Shape 2"/>
          <p:cNvSpPr/>
          <p:nvPr/>
        </p:nvSpPr>
        <p:spPr>
          <a:xfrm>
            <a:off x="548640" y="1645920"/>
            <a:ext cx="11091672" cy="914400"/>
          </a:xfrm>
          <a:prstGeom prst="roundRect">
            <a:avLst>
              <a:gd name="adj" fmla="val 800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628632" y="1737360"/>
            <a:ext cx="182880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פרומפט לדמו:</a:t>
            </a:r>
            <a:endParaRPr lang="en-US" sz="1250" dirty="0"/>
          </a:p>
        </p:txBody>
      </p:sp>
      <p:sp>
        <p:nvSpPr>
          <p:cNvPr id="6" name="Text 4"/>
          <p:cNvSpPr/>
          <p:nvPr/>
        </p:nvSpPr>
        <p:spPr>
          <a:xfrm>
            <a:off x="822960" y="2084832"/>
            <a:ext cx="10543032" cy="411480"/>
          </a:xfrm>
          <a:prstGeom prst="rect">
            <a:avLst/>
          </a:prstGeom>
          <a:noFill/>
          <a:ln/>
        </p:spPr>
        <p:txBody>
          <a:bodyPr wrap="square" rtlCol="0" anchor="ctr"/>
          <a:lstStyle/>
          <a:p>
            <a:pPr rtl="1" algn="r" indent="0" marL="0">
              <a:buNone/>
            </a:pPr>
            <a:r>
              <a:rPr lang="en-US" sz="1400" dirty="0">
                <a:solidFill>
                  <a:srgbClr val="E8E8F0"/>
                </a:solidFill>
                <a:latin typeface="Arial" pitchFamily="34" charset="0"/>
                <a:ea typeface="Arial" pitchFamily="34" charset="-122"/>
                <a:cs typeface="Arial" pitchFamily="34" charset="-120"/>
              </a:rPr>
              <a:t>“כתוב פונקציה בפייתון שמקבלת מחרוזת ומחזירה כמה פעמים מופיעה כל אות (כמילון).”</a:t>
            </a:r>
            <a:endParaRPr lang="en-US" sz="1400" dirty="0"/>
          </a:p>
        </p:txBody>
      </p:sp>
      <p:sp>
        <p:nvSpPr>
          <p:cNvPr id="7" name="Text 5"/>
          <p:cNvSpPr/>
          <p:nvPr/>
        </p:nvSpPr>
        <p:spPr>
          <a:xfrm>
            <a:off x="548640" y="2743200"/>
            <a:ext cx="11091672" cy="32004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צעדי הדמו:</a:t>
            </a:r>
            <a:endParaRPr lang="en-US" sz="1500" dirty="0"/>
          </a:p>
        </p:txBody>
      </p:sp>
      <p:sp>
        <p:nvSpPr>
          <p:cNvPr id="8" name="Shape 6"/>
          <p:cNvSpPr/>
          <p:nvPr/>
        </p:nvSpPr>
        <p:spPr>
          <a:xfrm>
            <a:off x="11237976" y="3108960"/>
            <a:ext cx="402336" cy="402336"/>
          </a:xfrm>
          <a:prstGeom prst="ellipse">
            <a:avLst/>
          </a:prstGeom>
          <a:solidFill>
            <a:srgbClr val="3B3B98"/>
          </a:solidFill>
          <a:ln/>
        </p:spPr>
      </p:sp>
      <p:sp>
        <p:nvSpPr>
          <p:cNvPr id="9" name="Text 7"/>
          <p:cNvSpPr/>
          <p:nvPr/>
        </p:nvSpPr>
        <p:spPr>
          <a:xfrm>
            <a:off x="11237976" y="310896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09067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נפתח כלי חינמי (למשל Claude.ai) על המסך.</a:t>
            </a:r>
            <a:endParaRPr lang="en-US" sz="1700" dirty="0"/>
          </a:p>
        </p:txBody>
      </p:sp>
      <p:sp>
        <p:nvSpPr>
          <p:cNvPr id="11" name="Shape 9"/>
          <p:cNvSpPr/>
          <p:nvPr/>
        </p:nvSpPr>
        <p:spPr>
          <a:xfrm>
            <a:off x="11237976" y="3621024"/>
            <a:ext cx="402336" cy="402336"/>
          </a:xfrm>
          <a:prstGeom prst="ellipse">
            <a:avLst/>
          </a:prstGeom>
          <a:solidFill>
            <a:srgbClr val="3B3B98"/>
          </a:solidFill>
          <a:ln/>
        </p:spPr>
      </p:sp>
      <p:sp>
        <p:nvSpPr>
          <p:cNvPr id="12" name="Text 10"/>
          <p:cNvSpPr/>
          <p:nvPr/>
        </p:nvSpPr>
        <p:spPr>
          <a:xfrm>
            <a:off x="11237976" y="362102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360273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נזין את הפרומפט ונקרא את הפלט יחד.</a:t>
            </a:r>
            <a:endParaRPr lang="en-US" sz="1700" dirty="0"/>
          </a:p>
        </p:txBody>
      </p:sp>
      <p:sp>
        <p:nvSpPr>
          <p:cNvPr id="14" name="Shape 12"/>
          <p:cNvSpPr/>
          <p:nvPr/>
        </p:nvSpPr>
        <p:spPr>
          <a:xfrm>
            <a:off x="11237976" y="4133088"/>
            <a:ext cx="402336" cy="402336"/>
          </a:xfrm>
          <a:prstGeom prst="ellipse">
            <a:avLst/>
          </a:prstGeom>
          <a:solidFill>
            <a:srgbClr val="3B3B98"/>
          </a:solidFill>
          <a:ln/>
        </p:spPr>
      </p:sp>
      <p:sp>
        <p:nvSpPr>
          <p:cNvPr id="15" name="Text 13"/>
          <p:cNvSpPr/>
          <p:nvPr/>
        </p:nvSpPr>
        <p:spPr>
          <a:xfrm>
            <a:off x="11237976" y="41330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11480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נשאל: טופלה מחרוזת ריקה? אות גדולה מול קטנה (A מול a)?</a:t>
            </a:r>
            <a:endParaRPr lang="en-US" sz="1700" dirty="0"/>
          </a:p>
        </p:txBody>
      </p:sp>
      <p:sp>
        <p:nvSpPr>
          <p:cNvPr id="17" name="Shape 15"/>
          <p:cNvSpPr/>
          <p:nvPr/>
        </p:nvSpPr>
        <p:spPr>
          <a:xfrm>
            <a:off x="11237976" y="4645152"/>
            <a:ext cx="402336" cy="402336"/>
          </a:xfrm>
          <a:prstGeom prst="ellipse">
            <a:avLst/>
          </a:prstGeom>
          <a:solidFill>
            <a:srgbClr val="3B3B98"/>
          </a:solidFill>
          <a:ln/>
        </p:spPr>
      </p:sp>
      <p:sp>
        <p:nvSpPr>
          <p:cNvPr id="18" name="Text 16"/>
          <p:cNvSpPr/>
          <p:nvPr/>
        </p:nvSpPr>
        <p:spPr>
          <a:xfrm>
            <a:off x="11237976" y="464515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548640" y="462686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נבקש תיקון אם צריך — ונראה את לולאת השיפור בפעולה.</a:t>
            </a:r>
            <a:endParaRPr lang="en-US" sz="1700" dirty="0"/>
          </a:p>
        </p:txBody>
      </p:sp>
      <p:sp>
        <p:nvSpPr>
          <p:cNvPr id="20" name="Shape 18"/>
          <p:cNvSpPr/>
          <p:nvPr/>
        </p:nvSpPr>
        <p:spPr>
          <a:xfrm>
            <a:off x="548640" y="525780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5440680"/>
            <a:ext cx="10451592" cy="50292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המטרה: לראות בזמן אמת את התהליך, את הביקורת ואת מקרי הקצה. (לומדים לבד? פתחו כלי ונסו את הפרומפט בעצמכם.)</a:t>
            </a:r>
            <a:endParaRPr lang="en-US" sz="15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29</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יסודות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רגע — מה זה בכלל LLM?</a:t>
            </a:r>
            <a:endParaRPr lang="en-US" sz="3300" dirty="0"/>
          </a:p>
        </p:txBody>
      </p:sp>
      <p:sp>
        <p:nvSpPr>
          <p:cNvPr id="4" name="Shape 2"/>
          <p:cNvSpPr/>
          <p:nvPr/>
        </p:nvSpPr>
        <p:spPr>
          <a:xfrm>
            <a:off x="548640" y="178308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LLM = Large Language Model (מודל שפה גדול): תוכנה שאומנה על כמויות עצומות של טקסט וקוד, ולמדה לחזות איזה טקסט בא אחרי טקסט נתון.</a:t>
            </a:r>
            <a:endParaRPr lang="en-US" sz="1800" dirty="0"/>
          </a:p>
        </p:txBody>
      </p:sp>
      <p:sp>
        <p:nvSpPr>
          <p:cNvPr id="6" name="Shape 4"/>
          <p:cNvSpPr/>
          <p:nvPr/>
        </p:nvSpPr>
        <p:spPr>
          <a:xfrm>
            <a:off x="8125968"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354568"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אומן על</a:t>
            </a:r>
            <a:endParaRPr lang="en-US" sz="1600" dirty="0"/>
          </a:p>
        </p:txBody>
      </p:sp>
      <p:sp>
        <p:nvSpPr>
          <p:cNvPr id="8" name="Text 6"/>
          <p:cNvSpPr/>
          <p:nvPr/>
        </p:nvSpPr>
        <p:spPr>
          <a:xfrm>
            <a:off x="8354568"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מיליארדי מסמכים וקטעי קוד</a:t>
            </a:r>
            <a:endParaRPr lang="en-US" sz="1350" dirty="0"/>
          </a:p>
        </p:txBody>
      </p:sp>
      <p:sp>
        <p:nvSpPr>
          <p:cNvPr id="9" name="Shape 7"/>
          <p:cNvSpPr/>
          <p:nvPr/>
        </p:nvSpPr>
        <p:spPr>
          <a:xfrm>
            <a:off x="4337304"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565904"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מנבא</a:t>
            </a:r>
            <a:endParaRPr lang="en-US" sz="1600" dirty="0"/>
          </a:p>
        </p:txBody>
      </p:sp>
      <p:sp>
        <p:nvSpPr>
          <p:cNvPr id="11" name="Text 9"/>
          <p:cNvSpPr/>
          <p:nvPr/>
        </p:nvSpPr>
        <p:spPr>
          <a:xfrm>
            <a:off x="4565904"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את המילה/הטוקן הבא</a:t>
            </a:r>
            <a:endParaRPr lang="en-US" sz="1350" dirty="0"/>
          </a:p>
        </p:txBody>
      </p:sp>
      <p:sp>
        <p:nvSpPr>
          <p:cNvPr id="12" name="Shape 10"/>
          <p:cNvSpPr/>
          <p:nvPr/>
        </p:nvSpPr>
        <p:spPr>
          <a:xfrm>
            <a:off x="548640"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777240"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לא “מבין” כמו אדם</a:t>
            </a:r>
            <a:endParaRPr lang="en-US" sz="1600" dirty="0"/>
          </a:p>
        </p:txBody>
      </p:sp>
      <p:sp>
        <p:nvSpPr>
          <p:cNvPr id="14" name="Text 12"/>
          <p:cNvSpPr/>
          <p:nvPr/>
        </p:nvSpPr>
        <p:spPr>
          <a:xfrm>
            <a:off x="777240"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מזהה דפוסים סטטיסטיים</a:t>
            </a:r>
            <a:endParaRPr lang="en-US" sz="1350" dirty="0"/>
          </a:p>
        </p:txBody>
      </p:sp>
      <p:sp>
        <p:nvSpPr>
          <p:cNvPr id="15" name="Text 13"/>
          <p:cNvSpPr/>
          <p:nvPr/>
        </p:nvSpPr>
        <p:spPr>
          <a:xfrm>
            <a:off x="548640" y="489204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זה ההסבר ברמה גבוהה — במפגש 2 נצלול לאיך זה עובד באמת.</a:t>
            </a:r>
            <a:endParaRPr lang="en-US" sz="14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29</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אינטואיציה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LLM “כותב” קוד?</a:t>
            </a:r>
            <a:endParaRPr lang="en-US" sz="3300" dirty="0"/>
          </a:p>
        </p:txBody>
      </p:sp>
      <p:sp>
        <p:nvSpPr>
          <p:cNvPr id="4" name="Shape 2"/>
          <p:cNvSpPr/>
          <p:nvPr/>
        </p:nvSpPr>
        <p:spPr>
          <a:xfrm>
            <a:off x="548640" y="1783080"/>
            <a:ext cx="11091672" cy="914400"/>
          </a:xfrm>
          <a:prstGeom prst="roundRect">
            <a:avLst>
              <a:gd name="adj" fmla="val 10000"/>
            </a:avLst>
          </a:prstGeom>
          <a:solidFill>
            <a:srgbClr val="0E9AA7"/>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548640"/>
          </a:xfrm>
          <a:prstGeom prst="rect">
            <a:avLst/>
          </a:prstGeom>
          <a:noFill/>
          <a:ln/>
        </p:spPr>
        <p:txBody>
          <a:bodyPr wrap="square" rtlCol="0" anchor="ctr"/>
          <a:lstStyle/>
          <a:p>
            <a:pPr rtl="1" algn="r" indent="0" marL="0">
              <a:buNone/>
            </a:pPr>
            <a:r>
              <a:rPr lang="en-US" sz="1900" b="1" dirty="0">
                <a:solidFill>
                  <a:srgbClr val="FFFFFF"/>
                </a:solidFill>
                <a:latin typeface="Arial" pitchFamily="34" charset="0"/>
                <a:ea typeface="Arial" pitchFamily="34" charset="-122"/>
                <a:cs typeface="Arial" pitchFamily="34" charset="-120"/>
              </a:rPr>
              <a:t>כמו השלמה אוטומטית (autocomplete) של הטלפון — אבל חזקה בטירוף.</a:t>
            </a:r>
            <a:endParaRPr lang="en-US" sz="1900" dirty="0"/>
          </a:p>
        </p:txBody>
      </p:sp>
      <p:sp>
        <p:nvSpPr>
          <p:cNvPr id="6" name="Shape 4"/>
          <p:cNvSpPr/>
          <p:nvPr/>
        </p:nvSpPr>
        <p:spPr>
          <a:xfrm>
            <a:off x="6277356" y="28803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6551676" y="3081528"/>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טקסט רגיל</a:t>
            </a:r>
            <a:endParaRPr lang="en-US" sz="1400" dirty="0"/>
          </a:p>
        </p:txBody>
      </p:sp>
      <p:sp>
        <p:nvSpPr>
          <p:cNvPr id="8" name="Text 6"/>
          <p:cNvSpPr/>
          <p:nvPr/>
        </p:nvSpPr>
        <p:spPr>
          <a:xfrm>
            <a:off x="6551676" y="3538728"/>
            <a:ext cx="4814316" cy="548640"/>
          </a:xfrm>
          <a:prstGeom prst="rect">
            <a:avLst/>
          </a:prstGeom>
          <a:noFill/>
          <a:ln/>
        </p:spPr>
        <p:txBody>
          <a:bodyPr wrap="square" rtlCol="0" anchor="t"/>
          <a:lstStyle/>
          <a:p>
            <a:pPr rtl="1" algn="r" indent="0" marL="0">
              <a:buNone/>
            </a:pPr>
            <a:r>
              <a:rPr lang="en-US" sz="1500" dirty="0">
                <a:solidFill>
                  <a:srgbClr val="222232"/>
                </a:solidFill>
                <a:latin typeface="Arial" pitchFamily="34" charset="0"/>
                <a:ea typeface="Arial" pitchFamily="34" charset="-122"/>
                <a:cs typeface="Arial" pitchFamily="34" charset="-120"/>
              </a:rPr>
              <a:t>“שלום, מה ...”  ←  הטלפון מציע “שלומך”</a:t>
            </a:r>
            <a:endParaRPr lang="en-US" sz="1500" dirty="0"/>
          </a:p>
        </p:txBody>
      </p:sp>
      <p:sp>
        <p:nvSpPr>
          <p:cNvPr id="9" name="Shape 7"/>
          <p:cNvSpPr/>
          <p:nvPr/>
        </p:nvSpPr>
        <p:spPr>
          <a:xfrm>
            <a:off x="548640" y="28803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822960" y="3081528"/>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קוד</a:t>
            </a:r>
            <a:endParaRPr lang="en-US" sz="1400" dirty="0"/>
          </a:p>
        </p:txBody>
      </p:sp>
      <p:sp>
        <p:nvSpPr>
          <p:cNvPr id="11" name="Text 9"/>
          <p:cNvSpPr/>
          <p:nvPr/>
        </p:nvSpPr>
        <p:spPr>
          <a:xfrm>
            <a:off x="822960" y="3538728"/>
            <a:ext cx="4814316" cy="548640"/>
          </a:xfrm>
          <a:prstGeom prst="rect">
            <a:avLst/>
          </a:prstGeom>
          <a:noFill/>
          <a:ln/>
        </p:spPr>
        <p:txBody>
          <a:bodyPr wrap="square" rtlCol="0" anchor="ctr"/>
          <a:lstStyle/>
          <a:p>
            <a:pPr algn="l" indent="0" marL="0">
              <a:buNone/>
            </a:pPr>
            <a:r>
              <a:rPr lang="en-US" sz="1300" dirty="0">
                <a:solidFill>
                  <a:srgbClr val="222232"/>
                </a:solidFill>
                <a:latin typeface="Courier New" pitchFamily="34" charset="0"/>
                <a:ea typeface="Courier New" pitchFamily="34" charset="-122"/>
                <a:cs typeface="Courier New" pitchFamily="34" charset="-120"/>
              </a:rPr>
              <a:t>def average(numbers): return ...</a:t>
            </a:r>
            <a:endParaRPr lang="en-US" sz="1300" dirty="0"/>
          </a:p>
          <a:p>
            <a:pPr algn="l" indent="0" marL="0">
              <a:buNone/>
            </a:pPr>
            <a:r>
              <a:rPr lang="en-US" sz="1300" dirty="0">
                <a:solidFill>
                  <a:srgbClr val="222232"/>
                </a:solidFill>
                <a:latin typeface="Courier New" pitchFamily="34" charset="0"/>
                <a:ea typeface="Courier New" pitchFamily="34" charset="-122"/>
                <a:cs typeface="Courier New" pitchFamily="34" charset="-120"/>
              </a:rPr>
              <a:t>→ המודל מציע  sum(numbers)/len(numbers)</a:t>
            </a:r>
            <a:endParaRPr lang="en-US" sz="1300" dirty="0"/>
          </a:p>
        </p:txBody>
      </p:sp>
      <p:sp>
        <p:nvSpPr>
          <p:cNvPr id="12" name="Shape 10"/>
          <p:cNvSpPr/>
          <p:nvPr/>
        </p:nvSpPr>
        <p:spPr>
          <a:xfrm>
            <a:off x="548640" y="4480560"/>
            <a:ext cx="11091672" cy="1051560"/>
          </a:xfrm>
          <a:prstGeom prst="roundRect">
            <a:avLst>
              <a:gd name="adj" fmla="val 8696"/>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4663440"/>
            <a:ext cx="10451592" cy="6858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כי זו בחירה סטטיסטית של ההמשך “הסביר ביותר” — לפעמים המודל ממציא בביטחון. לתופעה הזו קוראים הזיה (hallucination). נרחיב עליה במפגש 2.</a:t>
            </a:r>
            <a:endParaRPr lang="en-US" sz="155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29</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זה עובד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ניבוי הטוקן הבא — דוגמה מוחשית</a:t>
            </a:r>
            <a:endParaRPr lang="en-US" sz="3300" dirty="0"/>
          </a:p>
        </p:txBody>
      </p:sp>
      <p:sp>
        <p:nvSpPr>
          <p:cNvPr id="4" name="Shape 2"/>
          <p:cNvSpPr/>
          <p:nvPr/>
        </p:nvSpPr>
        <p:spPr>
          <a:xfrm>
            <a:off x="548640" y="1737360"/>
            <a:ext cx="11091672" cy="868680"/>
          </a:xfrm>
          <a:prstGeom prst="roundRect">
            <a:avLst>
              <a:gd name="adj" fmla="val 9474"/>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22960" y="1737360"/>
            <a:ext cx="10543032" cy="868680"/>
          </a:xfrm>
          <a:prstGeom prst="rect">
            <a:avLst/>
          </a:prstGeom>
          <a:noFill/>
          <a:ln/>
        </p:spPr>
        <p:txBody>
          <a:bodyPr wrap="square" rtlCol="0" anchor="ctr"/>
          <a:lstStyle/>
          <a:p>
            <a:pPr algn="l" indent="0" marL="0">
              <a:buNone/>
            </a:pPr>
            <a:r>
              <a:rPr lang="en-US" sz="1600" dirty="0">
                <a:solidFill>
                  <a:srgbClr val="E8E8F0"/>
                </a:solidFill>
                <a:latin typeface="Courier New" pitchFamily="34" charset="0"/>
                <a:ea typeface="Courier New" pitchFamily="34" charset="-122"/>
                <a:cs typeface="Courier New" pitchFamily="34" charset="-120"/>
              </a:rPr>
              <a:t>def average(numbers):  return ____</a:t>
            </a:r>
            <a:endParaRPr lang="en-US" sz="1600" dirty="0"/>
          </a:p>
        </p:txBody>
      </p:sp>
      <p:sp>
        <p:nvSpPr>
          <p:cNvPr id="6" name="Text 4"/>
          <p:cNvSpPr/>
          <p:nvPr/>
        </p:nvSpPr>
        <p:spPr>
          <a:xfrm>
            <a:off x="9445752" y="1810512"/>
            <a:ext cx="2011680" cy="320040"/>
          </a:xfrm>
          <a:prstGeom prst="rect">
            <a:avLst/>
          </a:prstGeom>
          <a:noFill/>
          <a:ln/>
        </p:spPr>
        <p:txBody>
          <a:bodyPr wrap="square" rtlCol="0" anchor="ctr"/>
          <a:lstStyle/>
          <a:p>
            <a:pPr rtl="1" algn="r" indent="0" marL="0">
              <a:buNone/>
            </a:pPr>
            <a:r>
              <a:rPr lang="en-US" sz="1150" b="1" dirty="0">
                <a:solidFill>
                  <a:srgbClr val="0E9AA7"/>
                </a:solidFill>
                <a:latin typeface="Arial" pitchFamily="34" charset="0"/>
                <a:ea typeface="Arial" pitchFamily="34" charset="-122"/>
                <a:cs typeface="Arial" pitchFamily="34" charset="-120"/>
              </a:rPr>
              <a:t>הפרומפט עד כה</a:t>
            </a:r>
            <a:endParaRPr lang="en-US" sz="1150" dirty="0"/>
          </a:p>
        </p:txBody>
      </p:sp>
      <p:sp>
        <p:nvSpPr>
          <p:cNvPr id="7" name="Text 5"/>
          <p:cNvSpPr/>
          <p:nvPr/>
        </p:nvSpPr>
        <p:spPr>
          <a:xfrm>
            <a:off x="548640" y="2788920"/>
            <a:ext cx="11091672"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ההמשכים שהמודל שוקל (לפי מה שראה באימון):</a:t>
            </a:r>
            <a:endParaRPr lang="en-US" sz="1400" dirty="0"/>
          </a:p>
        </p:txBody>
      </p:sp>
      <p:sp>
        <p:nvSpPr>
          <p:cNvPr id="8" name="Text 6"/>
          <p:cNvSpPr/>
          <p:nvPr/>
        </p:nvSpPr>
        <p:spPr>
          <a:xfrm>
            <a:off x="8348472" y="3246120"/>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sum(numbers) / len(numbers)</a:t>
            </a:r>
            <a:endParaRPr lang="en-US" sz="1300" dirty="0"/>
          </a:p>
        </p:txBody>
      </p:sp>
      <p:sp>
        <p:nvSpPr>
          <p:cNvPr id="9" name="Shape 7"/>
          <p:cNvSpPr/>
          <p:nvPr/>
        </p:nvSpPr>
        <p:spPr>
          <a:xfrm>
            <a:off x="3286719" y="3246120"/>
            <a:ext cx="4924593" cy="457200"/>
          </a:xfrm>
          <a:prstGeom prst="roundRect">
            <a:avLst>
              <a:gd name="adj" fmla="val 8000"/>
            </a:avLst>
          </a:prstGeom>
          <a:solidFill>
            <a:srgbClr val="2E7D32"/>
          </a:solidFill>
          <a:ln/>
        </p:spPr>
      </p:sp>
      <p:sp>
        <p:nvSpPr>
          <p:cNvPr id="10" name="Text 8"/>
          <p:cNvSpPr/>
          <p:nvPr/>
        </p:nvSpPr>
        <p:spPr>
          <a:xfrm>
            <a:off x="2573487" y="3246120"/>
            <a:ext cx="640080" cy="457200"/>
          </a:xfrm>
          <a:prstGeom prst="rect">
            <a:avLst/>
          </a:prstGeom>
          <a:noFill/>
          <a:ln/>
        </p:spPr>
        <p:txBody>
          <a:bodyPr wrap="square" rtlCol="0" anchor="ctr"/>
          <a:lstStyle/>
          <a:p>
            <a:pPr rtl="1" algn="l" indent="0" marL="0">
              <a:buNone/>
            </a:pPr>
            <a:r>
              <a:rPr lang="en-US" sz="1400" b="1" dirty="0">
                <a:solidFill>
                  <a:srgbClr val="2E7D32"/>
                </a:solidFill>
                <a:latin typeface="Arial" pitchFamily="34" charset="0"/>
                <a:ea typeface="Arial" pitchFamily="34" charset="-122"/>
                <a:cs typeface="Arial" pitchFamily="34" charset="-120"/>
              </a:rPr>
              <a:t>72%</a:t>
            </a:r>
            <a:endParaRPr lang="en-US" sz="1400" dirty="0"/>
          </a:p>
        </p:txBody>
      </p:sp>
      <p:sp>
        <p:nvSpPr>
          <p:cNvPr id="11" name="Text 9"/>
          <p:cNvSpPr/>
          <p:nvPr/>
        </p:nvSpPr>
        <p:spPr>
          <a:xfrm>
            <a:off x="8348472" y="3922776"/>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numbers[0]</a:t>
            </a:r>
            <a:endParaRPr lang="en-US" sz="1300" dirty="0"/>
          </a:p>
        </p:txBody>
      </p:sp>
      <p:sp>
        <p:nvSpPr>
          <p:cNvPr id="12" name="Shape 10"/>
          <p:cNvSpPr/>
          <p:nvPr/>
        </p:nvSpPr>
        <p:spPr>
          <a:xfrm>
            <a:off x="7595738" y="3922776"/>
            <a:ext cx="615574" cy="457200"/>
          </a:xfrm>
          <a:prstGeom prst="roundRect">
            <a:avLst>
              <a:gd name="adj" fmla="val 8000"/>
            </a:avLst>
          </a:prstGeom>
          <a:solidFill>
            <a:srgbClr val="6B6B80"/>
          </a:solidFill>
          <a:ln/>
        </p:spPr>
      </p:sp>
      <p:sp>
        <p:nvSpPr>
          <p:cNvPr id="13" name="Text 11"/>
          <p:cNvSpPr/>
          <p:nvPr/>
        </p:nvSpPr>
        <p:spPr>
          <a:xfrm>
            <a:off x="6882506" y="3922776"/>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9%</a:t>
            </a:r>
            <a:endParaRPr lang="en-US" sz="1400" dirty="0"/>
          </a:p>
        </p:txBody>
      </p:sp>
      <p:sp>
        <p:nvSpPr>
          <p:cNvPr id="14" name="Text 12"/>
          <p:cNvSpPr/>
          <p:nvPr/>
        </p:nvSpPr>
        <p:spPr>
          <a:xfrm>
            <a:off x="8348472" y="4599432"/>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max(numbers)</a:t>
            </a:r>
            <a:endParaRPr lang="en-US" sz="1300" dirty="0"/>
          </a:p>
        </p:txBody>
      </p:sp>
      <p:sp>
        <p:nvSpPr>
          <p:cNvPr id="15" name="Shape 13"/>
          <p:cNvSpPr/>
          <p:nvPr/>
        </p:nvSpPr>
        <p:spPr>
          <a:xfrm>
            <a:off x="7869326" y="4599432"/>
            <a:ext cx="341986" cy="457200"/>
          </a:xfrm>
          <a:prstGeom prst="roundRect">
            <a:avLst>
              <a:gd name="adj" fmla="val 10695"/>
            </a:avLst>
          </a:prstGeom>
          <a:solidFill>
            <a:srgbClr val="6B6B80"/>
          </a:solidFill>
          <a:ln/>
        </p:spPr>
      </p:sp>
      <p:sp>
        <p:nvSpPr>
          <p:cNvPr id="16" name="Text 14"/>
          <p:cNvSpPr/>
          <p:nvPr/>
        </p:nvSpPr>
        <p:spPr>
          <a:xfrm>
            <a:off x="7156094" y="4599432"/>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5%</a:t>
            </a:r>
            <a:endParaRPr lang="en-US" sz="1400" dirty="0"/>
          </a:p>
        </p:txBody>
      </p:sp>
      <p:sp>
        <p:nvSpPr>
          <p:cNvPr id="17" name="Shape 15"/>
          <p:cNvSpPr/>
          <p:nvPr/>
        </p:nvSpPr>
        <p:spPr>
          <a:xfrm>
            <a:off x="548640" y="5074920"/>
            <a:ext cx="11091672" cy="914400"/>
          </a:xfrm>
          <a:prstGeom prst="roundRect">
            <a:avLst>
              <a:gd name="adj" fmla="val 10000"/>
            </a:avLst>
          </a:prstGeom>
          <a:solidFill>
            <a:srgbClr val="9A6A00"/>
          </a:solidFill>
          <a:ln/>
          <a:effectLst>
            <a:outerShdw sx="100000" sy="100000" kx="0" ky="0" algn="bl" rotWithShape="0" blurRad="76200" dist="25400" dir="5400000">
              <a:srgbClr val="999999">
                <a:alpha val="28000"/>
              </a:srgbClr>
            </a:outerShdw>
          </a:effectLst>
        </p:spPr>
      </p:sp>
      <p:sp>
        <p:nvSpPr>
          <p:cNvPr id="18" name="Text 16"/>
          <p:cNvSpPr/>
          <p:nvPr/>
        </p:nvSpPr>
        <p:spPr>
          <a:xfrm>
            <a:off x="868680" y="5257800"/>
            <a:ext cx="10451592" cy="548640"/>
          </a:xfrm>
          <a:prstGeom prst="rect">
            <a:avLst/>
          </a:prstGeom>
          <a:noFill/>
          <a:ln/>
        </p:spPr>
        <p:txBody>
          <a:bodyPr wrap="square" rtlCol="0" anchor="ctr"/>
          <a:lstStyle/>
          <a:p>
            <a:pPr rtl="1" algn="r" indent="0" marL="0">
              <a:buNone/>
            </a:pPr>
            <a:r>
              <a:rPr lang="en-US" sz="1450" b="1" dirty="0">
                <a:solidFill>
                  <a:srgbClr val="FFFFFF"/>
                </a:solidFill>
                <a:latin typeface="Arial" pitchFamily="34" charset="0"/>
                <a:ea typeface="Arial" pitchFamily="34" charset="-122"/>
                <a:cs typeface="Arial" pitchFamily="34" charset="-120"/>
              </a:rPr>
              <a:t>המודל ראה את הדפוס הזה אלפי פעמים, ולכן ההמשך הסביר ביותר הוא נוסחת הממוצע — הוא בוחר את ההסתברות הגבוהה. אבל אם הדפוס נדיר או מבלבל, הוא עלול לבחור המשך שגוי — בביטחון מלא. זו הזיה.</a:t>
            </a:r>
            <a:endParaRPr lang="en-US" sz="14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29</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תהליך</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קורה כשמבקשים קוד</a:t>
            </a:r>
            <a:endParaRPr lang="en-US" sz="3300" dirty="0"/>
          </a:p>
        </p:txBody>
      </p:sp>
      <p:sp>
        <p:nvSpPr>
          <p:cNvPr id="4" name="Shape 2"/>
          <p:cNvSpPr/>
          <p:nvPr/>
        </p:nvSpPr>
        <p:spPr>
          <a:xfrm>
            <a:off x="9176004"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313164"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אתם</a:t>
            </a:r>
            <a:endParaRPr lang="en-US" sz="1500" dirty="0"/>
          </a:p>
        </p:txBody>
      </p:sp>
      <p:sp>
        <p:nvSpPr>
          <p:cNvPr id="6" name="Text 4"/>
          <p:cNvSpPr/>
          <p:nvPr/>
        </p:nvSpPr>
        <p:spPr>
          <a:xfrm>
            <a:off x="9313164"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פרומפט: בקשה בשפה טבעית</a:t>
            </a:r>
            <a:endParaRPr lang="en-US" sz="1250" dirty="0"/>
          </a:p>
        </p:txBody>
      </p:sp>
      <p:sp>
        <p:nvSpPr>
          <p:cNvPr id="7" name="Shape 5"/>
          <p:cNvSpPr/>
          <p:nvPr/>
        </p:nvSpPr>
        <p:spPr>
          <a:xfrm>
            <a:off x="8801100" y="2697480"/>
            <a:ext cx="301752" cy="0"/>
          </a:xfrm>
          <a:prstGeom prst="line">
            <a:avLst/>
          </a:prstGeom>
          <a:noFill/>
          <a:ln w="38100">
            <a:solidFill>
              <a:srgbClr val="3B3B98"/>
            </a:solidFill>
            <a:prstDash val="solid"/>
            <a:headEnd type="triangle"/>
          </a:ln>
        </p:spPr>
      </p:sp>
      <p:sp>
        <p:nvSpPr>
          <p:cNvPr id="8" name="Shape 6"/>
          <p:cNvSpPr/>
          <p:nvPr/>
        </p:nvSpPr>
        <p:spPr>
          <a:xfrm>
            <a:off x="6300216"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437376"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המודל</a:t>
            </a:r>
            <a:endParaRPr lang="en-US" sz="1500" dirty="0"/>
          </a:p>
        </p:txBody>
      </p:sp>
      <p:sp>
        <p:nvSpPr>
          <p:cNvPr id="10" name="Text 8"/>
          <p:cNvSpPr/>
          <p:nvPr/>
        </p:nvSpPr>
        <p:spPr>
          <a:xfrm>
            <a:off x="6437376"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מנבא ומייצר קוד</a:t>
            </a:r>
            <a:endParaRPr lang="en-US" sz="1250" dirty="0"/>
          </a:p>
        </p:txBody>
      </p:sp>
      <p:sp>
        <p:nvSpPr>
          <p:cNvPr id="11" name="Shape 9"/>
          <p:cNvSpPr/>
          <p:nvPr/>
        </p:nvSpPr>
        <p:spPr>
          <a:xfrm>
            <a:off x="5925312" y="2697480"/>
            <a:ext cx="301752" cy="0"/>
          </a:xfrm>
          <a:prstGeom prst="line">
            <a:avLst/>
          </a:prstGeom>
          <a:noFill/>
          <a:ln w="38100">
            <a:solidFill>
              <a:srgbClr val="3B3B98"/>
            </a:solidFill>
            <a:prstDash val="solid"/>
            <a:headEnd type="triangle"/>
          </a:ln>
        </p:spPr>
      </p:sp>
      <p:sp>
        <p:nvSpPr>
          <p:cNvPr id="12" name="Shape 10"/>
          <p:cNvSpPr/>
          <p:nvPr/>
        </p:nvSpPr>
        <p:spPr>
          <a:xfrm>
            <a:off x="3424428" y="2011680"/>
            <a:ext cx="2464308" cy="1371600"/>
          </a:xfrm>
          <a:prstGeom prst="roundRect">
            <a:avLst>
              <a:gd name="adj" fmla="val 6000"/>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3561588" y="2212848"/>
            <a:ext cx="2189988"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אתם</a:t>
            </a:r>
            <a:endParaRPr lang="en-US" sz="1500" dirty="0"/>
          </a:p>
        </p:txBody>
      </p:sp>
      <p:sp>
        <p:nvSpPr>
          <p:cNvPr id="14" name="Text 12"/>
          <p:cNvSpPr/>
          <p:nvPr/>
        </p:nvSpPr>
        <p:spPr>
          <a:xfrm>
            <a:off x="3561588"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קוראים · בודקים · מריצים</a:t>
            </a:r>
            <a:endParaRPr lang="en-US" sz="1250" dirty="0"/>
          </a:p>
        </p:txBody>
      </p:sp>
      <p:sp>
        <p:nvSpPr>
          <p:cNvPr id="15" name="Shape 13"/>
          <p:cNvSpPr/>
          <p:nvPr/>
        </p:nvSpPr>
        <p:spPr>
          <a:xfrm>
            <a:off x="3049524" y="2697480"/>
            <a:ext cx="301752" cy="0"/>
          </a:xfrm>
          <a:prstGeom prst="line">
            <a:avLst/>
          </a:prstGeom>
          <a:noFill/>
          <a:ln w="38100">
            <a:solidFill>
              <a:srgbClr val="3B3B98"/>
            </a:solidFill>
            <a:prstDash val="solid"/>
            <a:headEnd type="triangle"/>
          </a:ln>
        </p:spPr>
      </p:sp>
      <p:sp>
        <p:nvSpPr>
          <p:cNvPr id="16" name="Shape 14"/>
          <p:cNvSpPr/>
          <p:nvPr/>
        </p:nvSpPr>
        <p:spPr>
          <a:xfrm>
            <a:off x="548640"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685800"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החלטה</a:t>
            </a:r>
            <a:endParaRPr lang="en-US" sz="1500" dirty="0"/>
          </a:p>
        </p:txBody>
      </p:sp>
      <p:sp>
        <p:nvSpPr>
          <p:cNvPr id="18" name="Text 16"/>
          <p:cNvSpPr/>
          <p:nvPr/>
        </p:nvSpPr>
        <p:spPr>
          <a:xfrm>
            <a:off x="685800"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תיקון או אישור</a:t>
            </a:r>
            <a:endParaRPr lang="en-US" sz="1250" dirty="0"/>
          </a:p>
        </p:txBody>
      </p:sp>
      <p:sp>
        <p:nvSpPr>
          <p:cNvPr id="19" name="Text 17"/>
          <p:cNvSpPr/>
          <p:nvPr/>
        </p:nvSpPr>
        <p:spPr>
          <a:xfrm>
            <a:off x="548640" y="3703320"/>
            <a:ext cx="11091672" cy="365760"/>
          </a:xfrm>
          <a:prstGeom prst="rect">
            <a:avLst/>
          </a:prstGeom>
          <a:noFill/>
          <a:ln/>
        </p:spPr>
        <p:txBody>
          <a:bodyPr wrap="square" rtlCol="0" anchor="t"/>
          <a:lstStyle/>
          <a:p>
            <a:pPr rtl="1" algn="ctr" indent="0" marL="0">
              <a:buNone/>
            </a:pPr>
            <a:r>
              <a:rPr lang="en-US" sz="1350" i="1" dirty="0">
                <a:solidFill>
                  <a:srgbClr val="6B6B80"/>
                </a:solidFill>
                <a:latin typeface="Arial" pitchFamily="34" charset="0"/>
                <a:ea typeface="Arial" pitchFamily="34" charset="-122"/>
                <a:cs typeface="Arial" pitchFamily="34" charset="-120"/>
              </a:rPr>
              <a:t>↻  אם צריך — חוזרים לשלב 1 עם פרומפט מדויק יותר</a:t>
            </a:r>
            <a:endParaRPr lang="en-US" sz="1350" dirty="0"/>
          </a:p>
        </p:txBody>
      </p:sp>
      <p:sp>
        <p:nvSpPr>
          <p:cNvPr id="20" name="Shape 18"/>
          <p:cNvSpPr/>
          <p:nvPr/>
        </p:nvSpPr>
        <p:spPr>
          <a:xfrm>
            <a:off x="548640" y="434340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452628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שלב 3 — הביקורת האנושית — הוא הלב של הקורס. בלעדיו, קוד ה-AI הוא ניחוש שלא נבדק.</a:t>
            </a:r>
            <a:endParaRPr lang="en-US" sz="17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29</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זה מרגש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ההבטחות של תכנות מבוסס-AI</a:t>
            </a:r>
            <a:endParaRPr lang="en-US" sz="3300" dirty="0"/>
          </a:p>
        </p:txBody>
      </p:sp>
      <p:sp>
        <p:nvSpPr>
          <p:cNvPr id="4" name="Shape 2"/>
          <p:cNvSpPr/>
          <p:nvPr/>
        </p:nvSpPr>
        <p:spPr>
          <a:xfrm>
            <a:off x="11237976" y="1801368"/>
            <a:ext cx="402336" cy="402336"/>
          </a:xfrm>
          <a:prstGeom prst="ellipse">
            <a:avLst/>
          </a:prstGeom>
          <a:solidFill>
            <a:srgbClr val="2E7D32"/>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מהירות</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פרוטוטייפ בדקות במקום שעות.</a:t>
            </a:r>
            <a:endParaRPr lang="en-US" sz="1300" dirty="0"/>
          </a:p>
        </p:txBody>
      </p:sp>
      <p:sp>
        <p:nvSpPr>
          <p:cNvPr id="8" name="Shape 6"/>
          <p:cNvSpPr/>
          <p:nvPr/>
        </p:nvSpPr>
        <p:spPr>
          <a:xfrm>
            <a:off x="11237976" y="2852928"/>
            <a:ext cx="402336" cy="402336"/>
          </a:xfrm>
          <a:prstGeom prst="ellipse">
            <a:avLst/>
          </a:prstGeom>
          <a:solidFill>
            <a:srgbClr val="2E7D32"/>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נגישות</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אפשר לבנות בלי לזכור כל תחביר בעל-פה.</a:t>
            </a:r>
            <a:endParaRPr lang="en-US" sz="1300" dirty="0"/>
          </a:p>
        </p:txBody>
      </p:sp>
      <p:sp>
        <p:nvSpPr>
          <p:cNvPr id="12" name="Shape 10"/>
          <p:cNvSpPr/>
          <p:nvPr/>
        </p:nvSpPr>
        <p:spPr>
          <a:xfrm>
            <a:off x="11237976" y="3904488"/>
            <a:ext cx="402336" cy="402336"/>
          </a:xfrm>
          <a:prstGeom prst="ellipse">
            <a:avLst/>
          </a:prstGeom>
          <a:solidFill>
            <a:srgbClr val="2E7D32"/>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פחות עבודה שחורה</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boilerplate, תיעוד וטסטים נכתבים מהר.</a:t>
            </a:r>
            <a:endParaRPr lang="en-US" sz="1300" dirty="0"/>
          </a:p>
        </p:txBody>
      </p:sp>
      <p:sp>
        <p:nvSpPr>
          <p:cNvPr id="16" name="Shape 14"/>
          <p:cNvSpPr/>
          <p:nvPr/>
        </p:nvSpPr>
        <p:spPr>
          <a:xfrm>
            <a:off x="11237976" y="4956048"/>
            <a:ext cx="402336" cy="402336"/>
          </a:xfrm>
          <a:prstGeom prst="ellipse">
            <a:avLst/>
          </a:prstGeom>
          <a:solidFill>
            <a:srgbClr val="2E7D32"/>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שותף לחשיבה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מציע רעיונות, כיוונים וחלופות.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29</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חובה להיזהר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המגבלות — ולמה חשוב להכיר אותן</a:t>
            </a:r>
            <a:endParaRPr lang="en-US" sz="3300" dirty="0"/>
          </a:p>
        </p:txBody>
      </p:sp>
      <p:sp>
        <p:nvSpPr>
          <p:cNvPr id="4" name="Shape 2"/>
          <p:cNvSpPr/>
          <p:nvPr/>
        </p:nvSpPr>
        <p:spPr>
          <a:xfrm>
            <a:off x="11237976" y="1801368"/>
            <a:ext cx="402336" cy="402336"/>
          </a:xfrm>
          <a:prstGeom prst="ellipse">
            <a:avLst/>
          </a:prstGeom>
          <a:solidFill>
            <a:srgbClr val="C62828"/>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הזיות (Hallucinations)</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ממציא פונקציות או ספריות שלא קיימות.</a:t>
            </a:r>
            <a:endParaRPr lang="en-US" sz="1300" dirty="0"/>
          </a:p>
        </p:txBody>
      </p:sp>
      <p:sp>
        <p:nvSpPr>
          <p:cNvPr id="8" name="Shape 6"/>
          <p:cNvSpPr/>
          <p:nvPr/>
        </p:nvSpPr>
        <p:spPr>
          <a:xfrm>
            <a:off x="11237976" y="2852928"/>
            <a:ext cx="402336" cy="402336"/>
          </a:xfrm>
          <a:prstGeom prst="ellipse">
            <a:avLst/>
          </a:prstGeom>
          <a:solidFill>
            <a:srgbClr val="C62828"/>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חוסר הקשר עסקי</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יודע מה בדיוק הפרויקט או החברה צריכים.</a:t>
            </a:r>
            <a:endParaRPr lang="en-US" sz="1300" dirty="0"/>
          </a:p>
        </p:txBody>
      </p:sp>
      <p:sp>
        <p:nvSpPr>
          <p:cNvPr id="12" name="Shape 10"/>
          <p:cNvSpPr/>
          <p:nvPr/>
        </p:nvSpPr>
        <p:spPr>
          <a:xfrm>
            <a:off x="11237976" y="3904488"/>
            <a:ext cx="402336" cy="402336"/>
          </a:xfrm>
          <a:prstGeom prst="ellipse">
            <a:avLst/>
          </a:prstGeom>
          <a:solidFill>
            <a:srgbClr val="C62828"/>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לא בטוח</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עלול לייצר פרצות אבטחה — בשוגג.</a:t>
            </a:r>
            <a:endParaRPr lang="en-US" sz="1300" dirty="0"/>
          </a:p>
        </p:txBody>
      </p:sp>
      <p:sp>
        <p:nvSpPr>
          <p:cNvPr id="16" name="Shape 14"/>
          <p:cNvSpPr/>
          <p:nvPr/>
        </p:nvSpPr>
        <p:spPr>
          <a:xfrm>
            <a:off x="11237976" y="4956048"/>
            <a:ext cx="402336" cy="402336"/>
          </a:xfrm>
          <a:prstGeom prst="ellipse">
            <a:avLst/>
          </a:prstGeom>
          <a:solidFill>
            <a:srgbClr val="C62828"/>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ידע מיושן</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אומן בעבר; לא מכיר גרסאות או חידושים אחרונים.</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29</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המגבלה הכי מסוכנת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אמיתית להזיה — ואיך מזהים</a:t>
            </a:r>
            <a:endParaRPr lang="en-US" sz="3300" dirty="0"/>
          </a:p>
        </p:txBody>
      </p:sp>
      <p:sp>
        <p:nvSpPr>
          <p:cNvPr id="4" name="Shape 2"/>
          <p:cNvSpPr/>
          <p:nvPr/>
        </p:nvSpPr>
        <p:spPr>
          <a:xfrm>
            <a:off x="548640" y="1737360"/>
            <a:ext cx="11091672" cy="1234440"/>
          </a:xfrm>
          <a:prstGeom prst="roundRect">
            <a:avLst>
              <a:gd name="adj" fmla="val 6667"/>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628632" y="1810512"/>
            <a:ext cx="1828800" cy="320040"/>
          </a:xfrm>
          <a:prstGeom prst="rect">
            <a:avLst/>
          </a:prstGeom>
          <a:noFill/>
          <a:ln/>
        </p:spPr>
        <p:txBody>
          <a:bodyPr wrap="square" rtlCol="0" anchor="ctr"/>
          <a:lstStyle/>
          <a:p>
            <a:pPr rtl="1" algn="r" indent="0" marL="0">
              <a:buNone/>
            </a:pPr>
            <a:r>
              <a:rPr lang="en-US" sz="1200" b="1" dirty="0">
                <a:solidFill>
                  <a:srgbClr val="F1948A"/>
                </a:solidFill>
                <a:latin typeface="Arial" pitchFamily="34" charset="0"/>
                <a:ea typeface="Arial" pitchFamily="34" charset="-122"/>
                <a:cs typeface="Arial" pitchFamily="34" charset="-120"/>
              </a:rPr>
              <a:t>מה ה-AI כתב</a:t>
            </a:r>
            <a:endParaRPr lang="en-US" sz="1200" dirty="0"/>
          </a:p>
        </p:txBody>
      </p:sp>
      <p:sp>
        <p:nvSpPr>
          <p:cNvPr id="6" name="Text 4"/>
          <p:cNvSpPr/>
          <p:nvPr/>
        </p:nvSpPr>
        <p:spPr>
          <a:xfrm>
            <a:off x="822960" y="2194560"/>
            <a:ext cx="10543032" cy="685800"/>
          </a:xfrm>
          <a:prstGeom prst="rect">
            <a:avLst/>
          </a:prstGeom>
          <a:noFill/>
          <a:ln/>
        </p:spPr>
        <p:txBody>
          <a:bodyPr wrap="square" rtlCol="0" anchor="t"/>
          <a:lstStyle/>
          <a:p>
            <a:pPr algn="l" indent="0" marL="0">
              <a:buNone/>
            </a:pPr>
            <a:r>
              <a:rPr lang="en-US" sz="1400" dirty="0">
                <a:solidFill>
                  <a:srgbClr val="E8E8F0"/>
                </a:solidFill>
                <a:latin typeface="Courier New" pitchFamily="34" charset="0"/>
                <a:ea typeface="Courier New" pitchFamily="34" charset="-122"/>
                <a:cs typeface="Courier New" pitchFamily="34" charset="-120"/>
              </a:rPr>
              <a:t>import pandas as pd</a:t>
            </a:r>
            <a:endParaRPr lang="en-US" sz="1400" dirty="0"/>
          </a:p>
          <a:p>
            <a:pPr algn="l" indent="0" marL="0">
              <a:buNone/>
            </a:pPr>
            <a:r>
              <a:rPr lang="en-US" sz="1400" dirty="0">
                <a:solidFill>
                  <a:srgbClr val="E8E8F0"/>
                </a:solidFill>
                <a:latin typeface="Courier New" pitchFamily="34" charset="0"/>
                <a:ea typeface="Courier New" pitchFamily="34" charset="-122"/>
                <a:cs typeface="Courier New" pitchFamily="34" charset="-120"/>
              </a:rPr>
              <a:t>df.to_excel_fast("out.xlsx")   # ← to_excel_fast לא קיים!</a:t>
            </a:r>
            <a:endParaRPr lang="en-US" sz="1400" dirty="0"/>
          </a:p>
        </p:txBody>
      </p:sp>
      <p:sp>
        <p:nvSpPr>
          <p:cNvPr id="7" name="Text 5"/>
          <p:cNvSpPr/>
          <p:nvPr/>
        </p:nvSpPr>
        <p:spPr>
          <a:xfrm>
            <a:off x="548640" y="31089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המודל “המציא” פונקציה שנשמעת הגיונית — אבל אין כזו ב-pandas.</a:t>
            </a:r>
            <a:endParaRPr lang="en-US" sz="1400" dirty="0"/>
          </a:p>
        </p:txBody>
      </p:sp>
      <p:sp>
        <p:nvSpPr>
          <p:cNvPr id="8" name="Text 6"/>
          <p:cNvSpPr/>
          <p:nvPr/>
        </p:nvSpPr>
        <p:spPr>
          <a:xfrm>
            <a:off x="548640" y="361188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איך מזהים ומתקנים:</a:t>
            </a:r>
            <a:endParaRPr lang="en-US" sz="1500" dirty="0"/>
          </a:p>
        </p:txBody>
      </p:sp>
      <p:sp>
        <p:nvSpPr>
          <p:cNvPr id="9" name="Shape 7"/>
          <p:cNvSpPr/>
          <p:nvPr/>
        </p:nvSpPr>
        <p:spPr>
          <a:xfrm>
            <a:off x="11274552" y="4069080"/>
            <a:ext cx="365760" cy="365760"/>
          </a:xfrm>
          <a:prstGeom prst="ellipse">
            <a:avLst/>
          </a:prstGeom>
          <a:solidFill>
            <a:srgbClr val="C62828"/>
          </a:solidFill>
          <a:ln/>
        </p:spPr>
      </p:sp>
      <p:sp>
        <p:nvSpPr>
          <p:cNvPr id="10" name="Text 8"/>
          <p:cNvSpPr/>
          <p:nvPr/>
        </p:nvSpPr>
        <p:spPr>
          <a:xfrm>
            <a:off x="11274552" y="406908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p:nvPr/>
        </p:nvSpPr>
        <p:spPr>
          <a:xfrm>
            <a:off x="548640" y="405079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 תקבלו שגיאה: AttributeError.</a:t>
            </a:r>
            <a:endParaRPr lang="en-US" sz="1700" dirty="0"/>
          </a:p>
        </p:txBody>
      </p:sp>
      <p:sp>
        <p:nvSpPr>
          <p:cNvPr id="12" name="Shape 10"/>
          <p:cNvSpPr/>
          <p:nvPr/>
        </p:nvSpPr>
        <p:spPr>
          <a:xfrm>
            <a:off x="11274552" y="4572000"/>
            <a:ext cx="365760" cy="365760"/>
          </a:xfrm>
          <a:prstGeom prst="ellipse">
            <a:avLst/>
          </a:prstGeom>
          <a:solidFill>
            <a:srgbClr val="C62828"/>
          </a:solidFill>
          <a:ln/>
        </p:spPr>
      </p:sp>
      <p:sp>
        <p:nvSpPr>
          <p:cNvPr id="13" name="Text 11"/>
          <p:cNvSpPr/>
          <p:nvPr/>
        </p:nvSpPr>
        <p:spPr>
          <a:xfrm>
            <a:off x="11274552" y="457200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p:nvPr/>
        </p:nvSpPr>
        <p:spPr>
          <a:xfrm>
            <a:off x="548640" y="455371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בדקו בתיעוד הרשמי אם הפונקציה קיימת (כאן: df.to_excel).</a:t>
            </a:r>
            <a:endParaRPr lang="en-US" sz="1700" dirty="0"/>
          </a:p>
        </p:txBody>
      </p:sp>
      <p:sp>
        <p:nvSpPr>
          <p:cNvPr id="15" name="Shape 13"/>
          <p:cNvSpPr/>
          <p:nvPr/>
        </p:nvSpPr>
        <p:spPr>
          <a:xfrm>
            <a:off x="11274552" y="5074920"/>
            <a:ext cx="365760" cy="365760"/>
          </a:xfrm>
          <a:prstGeom prst="ellipse">
            <a:avLst/>
          </a:prstGeom>
          <a:solidFill>
            <a:srgbClr val="C62828"/>
          </a:solidFill>
          <a:ln/>
        </p:spPr>
      </p:sp>
      <p:sp>
        <p:nvSpPr>
          <p:cNvPr id="16" name="Text 14"/>
          <p:cNvSpPr/>
          <p:nvPr/>
        </p:nvSpPr>
        <p:spPr>
          <a:xfrm>
            <a:off x="11274552" y="507492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548640" y="505663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בקשו מה-AI מקור/תיקון — או תקנו בעצמכם.</a:t>
            </a:r>
            <a:endParaRPr lang="en-US" sz="17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29</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עקרון-העל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המטאפורה המנחה: “מתכנת ג’וניור מוכשר”</a:t>
            </a:r>
            <a:endParaRPr lang="en-US" sz="3300" dirty="0"/>
          </a:p>
        </p:txBody>
      </p:sp>
      <p:sp>
        <p:nvSpPr>
          <p:cNvPr id="4" name="Text 2"/>
          <p:cNvSpPr/>
          <p:nvPr/>
        </p:nvSpPr>
        <p:spPr>
          <a:xfrm>
            <a:off x="548640" y="1783080"/>
            <a:ext cx="11091672" cy="457200"/>
          </a:xfrm>
          <a:prstGeom prst="rect">
            <a:avLst/>
          </a:prstGeom>
          <a:noFill/>
          <a:ln/>
        </p:spPr>
        <p:txBody>
          <a:bodyPr wrap="square" rtlCol="0" anchor="t"/>
          <a:lstStyle/>
          <a:p>
            <a:pPr rtl="1" algn="r" indent="0" marL="0">
              <a:buNone/>
            </a:pPr>
            <a:r>
              <a:rPr lang="en-US" sz="1800" b="1" dirty="0">
                <a:solidFill>
                  <a:srgbClr val="222232"/>
                </a:solidFill>
                <a:latin typeface="Arial" pitchFamily="34" charset="0"/>
                <a:ea typeface="Arial" pitchFamily="34" charset="-122"/>
                <a:cs typeface="Arial" pitchFamily="34" charset="-120"/>
              </a:rPr>
              <a:t>חשבו על ה-AI כמו מתכנת/ת ג’וניור מוכשר/ת מאוד:</a:t>
            </a:r>
            <a:endParaRPr lang="en-US" sz="1800" dirty="0"/>
          </a:p>
        </p:txBody>
      </p:sp>
      <p:sp>
        <p:nvSpPr>
          <p:cNvPr id="5" name="Shape 3"/>
          <p:cNvSpPr/>
          <p:nvPr/>
        </p:nvSpPr>
        <p:spPr>
          <a:xfrm>
            <a:off x="6277356" y="2377440"/>
            <a:ext cx="5362956" cy="1737360"/>
          </a:xfrm>
          <a:prstGeom prst="roundRect">
            <a:avLst>
              <a:gd name="adj" fmla="val 4737"/>
            </a:avLst>
          </a:prstGeom>
          <a:solidFill>
            <a:srgbClr val="EAF3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56032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מה טוב בו</a:t>
            </a:r>
            <a:endParaRPr lang="en-US" sz="1500" dirty="0"/>
          </a:p>
        </p:txBody>
      </p:sp>
      <p:sp>
        <p:nvSpPr>
          <p:cNvPr id="7" name="Text 5"/>
          <p:cNvSpPr/>
          <p:nvPr/>
        </p:nvSpPr>
        <p:spPr>
          <a:xfrm>
            <a:off x="6551676" y="3017520"/>
            <a:ext cx="4814316" cy="1005840"/>
          </a:xfrm>
          <a:prstGeom prst="rect">
            <a:avLst/>
          </a:prstGeom>
          <a:noFill/>
          <a:ln/>
        </p:spPr>
        <p:txBody>
          <a:bodyPr wrap="square" rtlCol="0" anchor="t"/>
          <a:lstStyle/>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מהיר, יודע הרבה</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כותב קוד סביר במהירות</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חוסך לכם זמן</a:t>
            </a:r>
            <a:endParaRPr lang="en-US" sz="1500" dirty="0"/>
          </a:p>
        </p:txBody>
      </p:sp>
      <p:sp>
        <p:nvSpPr>
          <p:cNvPr id="8" name="Shape 6"/>
          <p:cNvSpPr/>
          <p:nvPr/>
        </p:nvSpPr>
        <p:spPr>
          <a:xfrm>
            <a:off x="548640" y="2377440"/>
            <a:ext cx="5362956" cy="1737360"/>
          </a:xfrm>
          <a:prstGeom prst="roundRect">
            <a:avLst>
              <a:gd name="adj" fmla="val 4737"/>
            </a:avLst>
          </a:prstGeom>
          <a:solidFill>
            <a:srgbClr val="F7EAEA"/>
          </a:solidFill>
          <a:ln/>
          <a:effectLst>
            <a:outerShdw sx="100000" sy="100000" kx="0" ky="0" algn="bl" rotWithShape="0" blurRad="76200" dist="25400" dir="5400000">
              <a:srgbClr val="999999">
                <a:alpha val="28000"/>
              </a:srgbClr>
            </a:outerShdw>
          </a:effectLst>
        </p:spPr>
      </p:sp>
      <p:sp>
        <p:nvSpPr>
          <p:cNvPr id="9" name="Text 7"/>
          <p:cNvSpPr/>
          <p:nvPr/>
        </p:nvSpPr>
        <p:spPr>
          <a:xfrm>
            <a:off x="822960" y="2560320"/>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במה להיזהר</a:t>
            </a:r>
            <a:endParaRPr lang="en-US" sz="1500" dirty="0"/>
          </a:p>
        </p:txBody>
      </p:sp>
      <p:sp>
        <p:nvSpPr>
          <p:cNvPr id="10" name="Text 8"/>
          <p:cNvSpPr/>
          <p:nvPr/>
        </p:nvSpPr>
        <p:spPr>
          <a:xfrm>
            <a:off x="822960" y="3017520"/>
            <a:ext cx="4814316" cy="1005840"/>
          </a:xfrm>
          <a:prstGeom prst="rect">
            <a:avLst/>
          </a:prstGeom>
          <a:noFill/>
          <a:ln/>
        </p:spPr>
        <p:txBody>
          <a:bodyPr wrap="square" rtlCol="0" anchor="t"/>
          <a:lstStyle/>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חסר ניסיון</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לא מכיר את ההקשר המלא</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לפעמים טועה — בביטחון</a:t>
            </a:r>
            <a:endParaRPr lang="en-US" sz="1500" dirty="0"/>
          </a:p>
        </p:txBody>
      </p:sp>
      <p:sp>
        <p:nvSpPr>
          <p:cNvPr id="11" name="Shape 9"/>
          <p:cNvSpPr/>
          <p:nvPr/>
        </p:nvSpPr>
        <p:spPr>
          <a:xfrm>
            <a:off x="548640" y="4297680"/>
            <a:ext cx="11091672" cy="1051560"/>
          </a:xfrm>
          <a:prstGeom prst="roundRect">
            <a:avLst>
              <a:gd name="adj" fmla="val 8696"/>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480560"/>
            <a:ext cx="10451592" cy="68580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בדיוק כמו עם ג’וניור אמיתי: סומכים — אבל בודקים. אף פעם לא מכניסים קוד לפרודקשן בלי סקירה אנושית.</a:t>
            </a:r>
            <a:endParaRPr lang="en-US" sz="17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29</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העיקרון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זה אומר — והכלל שנתרגל</a:t>
            </a:r>
            <a:endParaRPr lang="en-US" sz="3300" dirty="0"/>
          </a:p>
        </p:txBody>
      </p:sp>
      <p:sp>
        <p:nvSpPr>
          <p:cNvPr id="4" name="Shape 2"/>
          <p:cNvSpPr/>
          <p:nvPr/>
        </p:nvSpPr>
        <p:spPr>
          <a:xfrm>
            <a:off x="548640" y="1645920"/>
            <a:ext cx="11091672" cy="1234440"/>
          </a:xfrm>
          <a:prstGeom prst="roundRect">
            <a:avLst>
              <a:gd name="adj" fmla="val 8889"/>
            </a:avLst>
          </a:prstGeom>
          <a:solidFill>
            <a:srgbClr val="0E9AA7"/>
          </a:solidFill>
          <a:ln/>
          <a:effectLst>
            <a:outerShdw sx="100000" sy="100000" kx="0" ky="0" algn="bl" rotWithShape="0" blurRad="76200" dist="25400" dir="5400000">
              <a:srgbClr val="999999">
                <a:alpha val="28000"/>
              </a:srgbClr>
            </a:outerShdw>
          </a:effectLst>
        </p:spPr>
      </p:sp>
      <p:sp>
        <p:nvSpPr>
          <p:cNvPr id="5" name="Text 3"/>
          <p:cNvSpPr/>
          <p:nvPr/>
        </p:nvSpPr>
        <p:spPr>
          <a:xfrm>
            <a:off x="960120" y="1792224"/>
            <a:ext cx="10268712" cy="292608"/>
          </a:xfrm>
          <a:prstGeom prst="rect">
            <a:avLst/>
          </a:prstGeom>
          <a:noFill/>
          <a:ln/>
        </p:spPr>
        <p:txBody>
          <a:bodyPr wrap="square" rtlCol="0" anchor="t"/>
          <a:lstStyle/>
          <a:p>
            <a:pPr rtl="1" algn="r" indent="0" marL="0">
              <a:buNone/>
            </a:pPr>
            <a:r>
              <a:rPr lang="en-US" sz="1350" b="1" dirty="0">
                <a:solidFill>
                  <a:srgbClr val="D6F3F5"/>
                </a:solidFill>
                <a:latin typeface="Arial" pitchFamily="34" charset="0"/>
                <a:ea typeface="Arial" pitchFamily="34" charset="-122"/>
                <a:cs typeface="Arial" pitchFamily="34" charset="-120"/>
              </a:rPr>
              <a:t>כלל אצבע</a:t>
            </a:r>
            <a:endParaRPr lang="en-US" sz="1350" dirty="0"/>
          </a:p>
        </p:txBody>
      </p:sp>
      <p:sp>
        <p:nvSpPr>
          <p:cNvPr id="6" name="Text 4"/>
          <p:cNvSpPr/>
          <p:nvPr/>
        </p:nvSpPr>
        <p:spPr>
          <a:xfrm>
            <a:off x="960120" y="2103120"/>
            <a:ext cx="10268712" cy="457200"/>
          </a:xfrm>
          <a:prstGeom prst="rect">
            <a:avLst/>
          </a:prstGeom>
          <a:noFill/>
          <a:ln/>
        </p:spPr>
        <p:txBody>
          <a:bodyPr wrap="square" rtlCol="0" anchor="t"/>
          <a:lstStyle/>
          <a:p>
            <a:pPr rtl="1" algn="r" indent="0" marL="0">
              <a:buNone/>
            </a:pPr>
            <a:r>
              <a:rPr lang="en-US" sz="2000" b="1" dirty="0">
                <a:solidFill>
                  <a:srgbClr val="FFFFFF"/>
                </a:solidFill>
                <a:latin typeface="Arial" pitchFamily="34" charset="0"/>
                <a:ea typeface="Arial" pitchFamily="34" charset="-122"/>
                <a:cs typeface="Arial" pitchFamily="34" charset="-120"/>
              </a:rPr>
              <a:t>אל תגיש או תריץ קוד שנוצר ע"י AI מבלי שקראת, הבנת ובדקת אותו.</a:t>
            </a:r>
            <a:endParaRPr lang="en-US" sz="2000" dirty="0"/>
          </a:p>
        </p:txBody>
      </p:sp>
      <p:sp>
        <p:nvSpPr>
          <p:cNvPr id="7" name="Text 5"/>
          <p:cNvSpPr/>
          <p:nvPr/>
        </p:nvSpPr>
        <p:spPr>
          <a:xfrm>
            <a:off x="960120" y="2560320"/>
            <a:ext cx="10268712" cy="274320"/>
          </a:xfrm>
          <a:prstGeom prst="rect">
            <a:avLst/>
          </a:prstGeom>
          <a:noFill/>
          <a:ln/>
        </p:spPr>
        <p:txBody>
          <a:bodyPr wrap="square" rtlCol="0" anchor="t"/>
          <a:lstStyle/>
          <a:p>
            <a:pPr rtl="1" algn="r" indent="0" marL="0">
              <a:buNone/>
            </a:pPr>
            <a:r>
              <a:rPr lang="en-US" sz="1350" i="1" dirty="0">
                <a:solidFill>
                  <a:srgbClr val="EAFBFC"/>
                </a:solidFill>
                <a:latin typeface="Arial" pitchFamily="34" charset="0"/>
                <a:ea typeface="Arial" pitchFamily="34" charset="-122"/>
                <a:cs typeface="Arial" pitchFamily="34" charset="-120"/>
              </a:rPr>
              <a:t>אם אינך מבין מה הקוד עושה — עוד לא סיימת.</a:t>
            </a:r>
            <a:endParaRPr lang="en-US" sz="1350" dirty="0"/>
          </a:p>
        </p:txBody>
      </p:sp>
      <p:sp>
        <p:nvSpPr>
          <p:cNvPr id="8" name="Text 6"/>
          <p:cNvSpPr/>
          <p:nvPr/>
        </p:nvSpPr>
        <p:spPr>
          <a:xfrm>
            <a:off x="548640" y="3063240"/>
            <a:ext cx="11091672"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הכלל מתפרק לשלוש חובות:</a:t>
            </a:r>
            <a:endParaRPr lang="en-US" sz="1400" dirty="0"/>
          </a:p>
        </p:txBody>
      </p:sp>
      <p:sp>
        <p:nvSpPr>
          <p:cNvPr id="9" name="Shape 7"/>
          <p:cNvSpPr/>
          <p:nvPr/>
        </p:nvSpPr>
        <p:spPr>
          <a:xfrm>
            <a:off x="8125968" y="3474720"/>
            <a:ext cx="3514344" cy="1600200"/>
          </a:xfrm>
          <a:prstGeom prst="roundRect">
            <a:avLst>
              <a:gd name="adj" fmla="val 5143"/>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9608820" y="3703320"/>
            <a:ext cx="548640" cy="548640"/>
          </a:xfrm>
          <a:prstGeom prst="ellipse">
            <a:avLst/>
          </a:prstGeom>
          <a:solidFill>
            <a:srgbClr val="3B3B98"/>
          </a:solidFill>
          <a:ln/>
        </p:spPr>
      </p:sp>
      <p:sp>
        <p:nvSpPr>
          <p:cNvPr id="11" name="Text 9"/>
          <p:cNvSpPr/>
          <p:nvPr/>
        </p:nvSpPr>
        <p:spPr>
          <a:xfrm>
            <a:off x="9608820" y="3703320"/>
            <a:ext cx="548640" cy="548640"/>
          </a:xfrm>
          <a:prstGeom prst="rect">
            <a:avLst/>
          </a:prstGeom>
          <a:no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2" name="Text 10"/>
          <p:cNvSpPr/>
          <p:nvPr/>
        </p:nvSpPr>
        <p:spPr>
          <a:xfrm>
            <a:off x="8308848" y="4343400"/>
            <a:ext cx="314858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לקרוא ולהבין</a:t>
            </a:r>
            <a:endParaRPr lang="en-US" sz="1600" dirty="0"/>
          </a:p>
        </p:txBody>
      </p:sp>
      <p:sp>
        <p:nvSpPr>
          <p:cNvPr id="13" name="Text 11"/>
          <p:cNvSpPr/>
          <p:nvPr/>
        </p:nvSpPr>
        <p:spPr>
          <a:xfrm>
            <a:off x="8308848" y="4709160"/>
            <a:ext cx="3148584"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כל שורה שהגשתם — אתם צריכים להבין.</a:t>
            </a:r>
            <a:endParaRPr lang="en-US" sz="1250" dirty="0"/>
          </a:p>
        </p:txBody>
      </p:sp>
      <p:sp>
        <p:nvSpPr>
          <p:cNvPr id="14" name="Shape 12"/>
          <p:cNvSpPr/>
          <p:nvPr/>
        </p:nvSpPr>
        <p:spPr>
          <a:xfrm>
            <a:off x="4337304" y="3474720"/>
            <a:ext cx="3514344" cy="1600200"/>
          </a:xfrm>
          <a:prstGeom prst="roundRect">
            <a:avLst>
              <a:gd name="adj" fmla="val 5143"/>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5820156" y="3703320"/>
            <a:ext cx="548640" cy="548640"/>
          </a:xfrm>
          <a:prstGeom prst="ellipse">
            <a:avLst/>
          </a:prstGeom>
          <a:solidFill>
            <a:srgbClr val="3B3B98"/>
          </a:solidFill>
          <a:ln/>
        </p:spPr>
      </p:sp>
      <p:sp>
        <p:nvSpPr>
          <p:cNvPr id="16" name="Text 14"/>
          <p:cNvSpPr/>
          <p:nvPr/>
        </p:nvSpPr>
        <p:spPr>
          <a:xfrm>
            <a:off x="5820156" y="3703320"/>
            <a:ext cx="548640" cy="548640"/>
          </a:xfrm>
          <a:prstGeom prst="rect">
            <a:avLst/>
          </a:prstGeom>
          <a:no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7" name="Text 15"/>
          <p:cNvSpPr/>
          <p:nvPr/>
        </p:nvSpPr>
        <p:spPr>
          <a:xfrm>
            <a:off x="4520184" y="4343400"/>
            <a:ext cx="314858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לבדוק</a:t>
            </a:r>
            <a:endParaRPr lang="en-US" sz="1600" dirty="0"/>
          </a:p>
        </p:txBody>
      </p:sp>
      <p:sp>
        <p:nvSpPr>
          <p:cNvPr id="18" name="Text 16"/>
          <p:cNvSpPr/>
          <p:nvPr/>
        </p:nvSpPr>
        <p:spPr>
          <a:xfrm>
            <a:off x="4520184" y="4709160"/>
            <a:ext cx="3148584"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להריץ ולכתוב טסטים לפני שסומכים.</a:t>
            </a:r>
            <a:endParaRPr lang="en-US" sz="1250" dirty="0"/>
          </a:p>
        </p:txBody>
      </p:sp>
      <p:sp>
        <p:nvSpPr>
          <p:cNvPr id="19" name="Shape 17"/>
          <p:cNvSpPr/>
          <p:nvPr/>
        </p:nvSpPr>
        <p:spPr>
          <a:xfrm>
            <a:off x="548640" y="3474720"/>
            <a:ext cx="3514344" cy="1600200"/>
          </a:xfrm>
          <a:prstGeom prst="roundRect">
            <a:avLst>
              <a:gd name="adj" fmla="val 5143"/>
            </a:avLst>
          </a:prstGeom>
          <a:solidFill>
            <a:srgbClr val="F2F3FA"/>
          </a:solidFill>
          <a:ln/>
          <a:effectLst>
            <a:outerShdw sx="100000" sy="100000" kx="0" ky="0" algn="bl" rotWithShape="0" blurRad="76200" dist="25400" dir="5400000">
              <a:srgbClr val="999999">
                <a:alpha val="28000"/>
              </a:srgbClr>
            </a:outerShdw>
          </a:effectLst>
        </p:spPr>
      </p:sp>
      <p:sp>
        <p:nvSpPr>
          <p:cNvPr id="20" name="Shape 18"/>
          <p:cNvSpPr/>
          <p:nvPr/>
        </p:nvSpPr>
        <p:spPr>
          <a:xfrm>
            <a:off x="2031492" y="3703320"/>
            <a:ext cx="548640" cy="548640"/>
          </a:xfrm>
          <a:prstGeom prst="ellipse">
            <a:avLst/>
          </a:prstGeom>
          <a:solidFill>
            <a:srgbClr val="3B3B98"/>
          </a:solidFill>
          <a:ln/>
        </p:spPr>
      </p:sp>
      <p:sp>
        <p:nvSpPr>
          <p:cNvPr id="21" name="Text 19"/>
          <p:cNvSpPr/>
          <p:nvPr/>
        </p:nvSpPr>
        <p:spPr>
          <a:xfrm>
            <a:off x="2031492" y="3703320"/>
            <a:ext cx="548640" cy="548640"/>
          </a:xfrm>
          <a:prstGeom prst="rect">
            <a:avLst/>
          </a:prstGeom>
          <a:no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2" name="Text 20"/>
          <p:cNvSpPr/>
          <p:nvPr/>
        </p:nvSpPr>
        <p:spPr>
          <a:xfrm>
            <a:off x="731520" y="4343400"/>
            <a:ext cx="314858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לקחת אחריות</a:t>
            </a:r>
            <a:endParaRPr lang="en-US" sz="1600" dirty="0"/>
          </a:p>
        </p:txBody>
      </p:sp>
      <p:sp>
        <p:nvSpPr>
          <p:cNvPr id="23" name="Text 21"/>
          <p:cNvSpPr/>
          <p:nvPr/>
        </p:nvSpPr>
        <p:spPr>
          <a:xfrm>
            <a:off x="731520" y="4709160"/>
            <a:ext cx="3148584"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זה הקוד שלכם, לא של ה-AI.</a:t>
            </a:r>
            <a:endParaRPr lang="en-US" sz="1250" dirty="0"/>
          </a:p>
        </p:txBody>
      </p:sp>
      <p:sp>
        <p:nvSpPr>
          <p:cNvPr id="24" name="Text 2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29</a:t>
            </a:r>
            <a:endParaRPr lang="en-US" sz="950" dirty="0"/>
          </a:p>
        </p:txBody>
      </p:sp>
      <p:sp>
        <p:nvSpPr>
          <p:cNvPr id="25" name="Text 2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מלכודות נפוצות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טעויות טיפוסיות של מתחילים</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Copy-paste עיוור</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להעתיק קוד בלי לקרוא → באגים סמויים.</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אמון יתר</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להניח שה-AI תמיד צודק.</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פרומפט דל</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לבקש במעורפל → לקבל תשובה כללית וחלשה.</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להסתפק בתשובה הראשונה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לבקש שיפור, הסבר או חלופות.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29</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בדיקת הבנה (≈ 6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שלוש שאלות — נצביע ונדון</a:t>
            </a:r>
            <a:endParaRPr lang="en-US" sz="3300" dirty="0"/>
          </a:p>
        </p:txBody>
      </p:sp>
      <p:sp>
        <p:nvSpPr>
          <p:cNvPr id="4" name="Shape 2"/>
          <p:cNvSpPr/>
          <p:nvPr/>
        </p:nvSpPr>
        <p:spPr>
          <a:xfrm>
            <a:off x="548640" y="1691640"/>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5" name="Shape 3"/>
          <p:cNvSpPr/>
          <p:nvPr/>
        </p:nvSpPr>
        <p:spPr>
          <a:xfrm>
            <a:off x="11091672" y="1856232"/>
            <a:ext cx="457200" cy="457200"/>
          </a:xfrm>
          <a:prstGeom prst="ellipse">
            <a:avLst/>
          </a:prstGeom>
          <a:solidFill>
            <a:srgbClr val="3B3B98"/>
          </a:solidFill>
          <a:ln/>
        </p:spPr>
      </p:sp>
      <p:sp>
        <p:nvSpPr>
          <p:cNvPr id="6" name="Text 4"/>
          <p:cNvSpPr/>
          <p:nvPr/>
        </p:nvSpPr>
        <p:spPr>
          <a:xfrm>
            <a:off x="11091672" y="1856232"/>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822960" y="1874520"/>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מהי הזיה (hallucination)?</a:t>
            </a:r>
            <a:endParaRPr lang="en-US" sz="1600" dirty="0"/>
          </a:p>
        </p:txBody>
      </p:sp>
      <p:sp>
        <p:nvSpPr>
          <p:cNvPr id="8" name="Text 6"/>
          <p:cNvSpPr/>
          <p:nvPr/>
        </p:nvSpPr>
        <p:spPr>
          <a:xfrm>
            <a:off x="822960" y="2313432"/>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המודל איטי מדי     ב) המודל ממציא דבר שלא קיים — בביטחון     ג) המודל מסרב לענות</a:t>
            </a:r>
            <a:endParaRPr lang="en-US" sz="1300" dirty="0"/>
          </a:p>
        </p:txBody>
      </p:sp>
      <p:sp>
        <p:nvSpPr>
          <p:cNvPr id="9" name="Shape 7"/>
          <p:cNvSpPr/>
          <p:nvPr/>
        </p:nvSpPr>
        <p:spPr>
          <a:xfrm>
            <a:off x="548640" y="2990088"/>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11091672" y="3154680"/>
            <a:ext cx="457200" cy="457200"/>
          </a:xfrm>
          <a:prstGeom prst="ellipse">
            <a:avLst/>
          </a:prstGeom>
          <a:solidFill>
            <a:srgbClr val="3B3B98"/>
          </a:solidFill>
          <a:ln/>
        </p:spPr>
      </p:sp>
      <p:sp>
        <p:nvSpPr>
          <p:cNvPr id="11" name="Text 9"/>
          <p:cNvSpPr/>
          <p:nvPr/>
        </p:nvSpPr>
        <p:spPr>
          <a:xfrm>
            <a:off x="11091672" y="3154680"/>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p:nvPr/>
        </p:nvSpPr>
        <p:spPr>
          <a:xfrm>
            <a:off x="822960" y="3172968"/>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מה עושים תמיד לפני שמגישים קוד AI?</a:t>
            </a:r>
            <a:endParaRPr lang="en-US" sz="1600" dirty="0"/>
          </a:p>
        </p:txBody>
      </p:sp>
      <p:sp>
        <p:nvSpPr>
          <p:cNvPr id="13" name="Text 11"/>
          <p:cNvSpPr/>
          <p:nvPr/>
        </p:nvSpPr>
        <p:spPr>
          <a:xfrm>
            <a:off x="822960" y="3611880"/>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מגישים מיד     ב) קוראים, מבינים ובודקים (מריצים)     ג) מוחקים את ההערות</a:t>
            </a:r>
            <a:endParaRPr lang="en-US" sz="1300" dirty="0"/>
          </a:p>
        </p:txBody>
      </p:sp>
      <p:sp>
        <p:nvSpPr>
          <p:cNvPr id="14" name="Shape 12"/>
          <p:cNvSpPr/>
          <p:nvPr/>
        </p:nvSpPr>
        <p:spPr>
          <a:xfrm>
            <a:off x="548640" y="4288536"/>
            <a:ext cx="11091672" cy="1097280"/>
          </a:xfrm>
          <a:prstGeom prst="roundRect">
            <a:avLst>
              <a:gd name="adj" fmla="val 7500"/>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11091672" y="4453128"/>
            <a:ext cx="457200" cy="457200"/>
          </a:xfrm>
          <a:prstGeom prst="ellipse">
            <a:avLst/>
          </a:prstGeom>
          <a:solidFill>
            <a:srgbClr val="3B3B98"/>
          </a:solidFill>
          <a:ln/>
        </p:spPr>
      </p:sp>
      <p:sp>
        <p:nvSpPr>
          <p:cNvPr id="16" name="Text 14"/>
          <p:cNvSpPr/>
          <p:nvPr/>
        </p:nvSpPr>
        <p:spPr>
          <a:xfrm>
            <a:off x="11091672" y="4453128"/>
            <a:ext cx="457200" cy="45720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822960" y="4471416"/>
            <a:ext cx="10085832" cy="41148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איך LLM “כותב” קוד?</a:t>
            </a:r>
            <a:endParaRPr lang="en-US" sz="1600" dirty="0"/>
          </a:p>
        </p:txBody>
      </p:sp>
      <p:sp>
        <p:nvSpPr>
          <p:cNvPr id="18" name="Text 16"/>
          <p:cNvSpPr/>
          <p:nvPr/>
        </p:nvSpPr>
        <p:spPr>
          <a:xfrm>
            <a:off x="822960" y="4910328"/>
            <a:ext cx="10543032" cy="411480"/>
          </a:xfrm>
          <a:prstGeom prst="rect">
            <a:avLst/>
          </a:prstGeom>
          <a:noFill/>
          <a:ln/>
        </p:spPr>
        <p:txBody>
          <a:bodyPr wrap="square" rtlCol="0" anchor="t"/>
          <a:lstStyle/>
          <a:p>
            <a:pPr rtl="1" algn="r" indent="0" marL="0">
              <a:buNone/>
            </a:pPr>
            <a:r>
              <a:rPr lang="en-US" sz="1300" dirty="0">
                <a:solidFill>
                  <a:srgbClr val="222232"/>
                </a:solidFill>
                <a:latin typeface="Arial" pitchFamily="34" charset="0"/>
                <a:ea typeface="Arial" pitchFamily="34" charset="-122"/>
                <a:cs typeface="Arial" pitchFamily="34" charset="-120"/>
              </a:rPr>
              <a:t>א) מחפש בגוגל     ב) מנבא את הטוקן הסביר הבא     ג) מריץ ובודק לבד</a:t>
            </a:r>
            <a:endParaRPr lang="en-US" sz="1300" dirty="0"/>
          </a:p>
        </p:txBody>
      </p:sp>
      <p:sp>
        <p:nvSpPr>
          <p:cNvPr id="19" name="Text 17"/>
          <p:cNvSpPr/>
          <p:nvPr/>
        </p:nvSpPr>
        <p:spPr>
          <a:xfrm>
            <a:off x="548640" y="5669280"/>
            <a:ext cx="11091672" cy="320040"/>
          </a:xfrm>
          <a:prstGeom prst="rect">
            <a:avLst/>
          </a:prstGeom>
          <a:noFill/>
          <a:ln/>
        </p:spPr>
        <p:txBody>
          <a:bodyPr wrap="square" rtlCol="0" anchor="t"/>
          <a:lstStyle/>
          <a:p>
            <a:pPr rtl="1" algn="r" indent="0" marL="0">
              <a:buNone/>
            </a:pPr>
            <a:r>
              <a:rPr lang="en-US" sz="1250" i="1" dirty="0">
                <a:solidFill>
                  <a:srgbClr val="6B6B80"/>
                </a:solidFill>
                <a:latin typeface="Arial" pitchFamily="34" charset="0"/>
                <a:ea typeface="Arial" pitchFamily="34" charset="-122"/>
                <a:cs typeface="Arial" pitchFamily="34" charset="-120"/>
              </a:rPr>
              <a:t>נצביע על כל שאלה ונדון. (התשובות הנכונות בהערות המרצה — לומדים לבד: ענו לפני שאתם בודקים.)</a:t>
            </a:r>
            <a:endParaRPr lang="en-US" sz="125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29</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נקודת המוצא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הקורס הזה: על ה-Workflow, לא על הכלי</a:t>
            </a:r>
            <a:endParaRPr lang="en-US" sz="3300" dirty="0"/>
          </a:p>
        </p:txBody>
      </p:sp>
      <p:sp>
        <p:nvSpPr>
          <p:cNvPr id="4" name="Shape 2"/>
          <p:cNvSpPr/>
          <p:nvPr/>
        </p:nvSpPr>
        <p:spPr>
          <a:xfrm>
            <a:off x="6277356" y="1874520"/>
            <a:ext cx="5362956"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2075688"/>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מתחלף כל חודש</a:t>
            </a:r>
            <a:endParaRPr lang="en-US" sz="1500" dirty="0"/>
          </a:p>
        </p:txBody>
      </p:sp>
      <p:sp>
        <p:nvSpPr>
          <p:cNvPr id="6" name="Text 4"/>
          <p:cNvSpPr/>
          <p:nvPr/>
        </p:nvSpPr>
        <p:spPr>
          <a:xfrm>
            <a:off x="6551676" y="2560320"/>
            <a:ext cx="4814316" cy="1005840"/>
          </a:xfrm>
          <a:prstGeom prst="rect">
            <a:avLst/>
          </a:prstGeom>
          <a:noFill/>
          <a:ln/>
        </p:spPr>
        <p:txBody>
          <a:bodyPr wrap="square" rtlCol="0" anchor="t"/>
          <a:lstStyle/>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הכלים: Cursor, Copilot, Claude,</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Windsurf, ChatGPT ...</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חדשים מגיעים כל הזמן.</a:t>
            </a:r>
            <a:endParaRPr lang="en-US" sz="1500" dirty="0"/>
          </a:p>
        </p:txBody>
      </p:sp>
      <p:sp>
        <p:nvSpPr>
          <p:cNvPr id="7" name="Shape 5"/>
          <p:cNvSpPr/>
          <p:nvPr/>
        </p:nvSpPr>
        <p:spPr>
          <a:xfrm>
            <a:off x="548640" y="1874520"/>
            <a:ext cx="5362956" cy="1828800"/>
          </a:xfrm>
          <a:prstGeom prst="roundRect">
            <a:avLst>
              <a:gd name="adj" fmla="val 4500"/>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22960" y="2075688"/>
            <a:ext cx="4814316"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נשאר קבוע</a:t>
            </a:r>
            <a:endParaRPr lang="en-US" sz="1500" dirty="0"/>
          </a:p>
        </p:txBody>
      </p:sp>
      <p:sp>
        <p:nvSpPr>
          <p:cNvPr id="9" name="Text 7"/>
          <p:cNvSpPr/>
          <p:nvPr/>
        </p:nvSpPr>
        <p:spPr>
          <a:xfrm>
            <a:off x="822960" y="2560320"/>
            <a:ext cx="4814316" cy="1005840"/>
          </a:xfrm>
          <a:prstGeom prst="rect">
            <a:avLst/>
          </a:prstGeom>
          <a:noFill/>
          <a:ln/>
        </p:spPr>
        <p:txBody>
          <a:bodyPr wrap="square" rtlCol="0" anchor="t"/>
          <a:lstStyle/>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איך לחשוב, לתקשר, לבדוק,</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ולשלב AI בתהליך הנדסי אחראי —</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בכל כלי.</a:t>
            </a:r>
            <a:endParaRPr lang="en-US" sz="1500" dirty="0"/>
          </a:p>
        </p:txBody>
      </p:sp>
      <p:sp>
        <p:nvSpPr>
          <p:cNvPr id="10" name="Shape 8"/>
          <p:cNvSpPr/>
          <p:nvPr/>
        </p:nvSpPr>
        <p:spPr>
          <a:xfrm>
            <a:off x="548640" y="411480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29768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לכן בכל תרגול תבחרו כלי חינמי כרצונכם — המיומנות עוברת בין כלים.</a:t>
            </a:r>
            <a:endParaRPr lang="en-US" sz="17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21 / 29</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מוכנים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הכלים החינמיים — 3 קטגוריות</a:t>
            </a:r>
            <a:endParaRPr lang="en-US" sz="3300" dirty="0"/>
          </a:p>
        </p:txBody>
      </p:sp>
      <p:sp>
        <p:nvSpPr>
          <p:cNvPr id="4" name="Shape 2"/>
          <p:cNvSpPr/>
          <p:nvPr/>
        </p:nvSpPr>
        <p:spPr>
          <a:xfrm>
            <a:off x="8897112" y="1783080"/>
            <a:ext cx="2633472" cy="502920"/>
          </a:xfrm>
          <a:prstGeom prst="roundRect">
            <a:avLst>
              <a:gd name="adj" fmla="val 9091"/>
            </a:avLst>
          </a:prstGeom>
          <a:solidFill>
            <a:srgbClr val="1E2761"/>
          </a:solidFill>
          <a:ln/>
        </p:spPr>
      </p:sp>
      <p:sp>
        <p:nvSpPr>
          <p:cNvPr id="5" name="Text 3"/>
          <p:cNvSpPr/>
          <p:nvPr/>
        </p:nvSpPr>
        <p:spPr>
          <a:xfrm>
            <a:off x="8897112" y="1783080"/>
            <a:ext cx="2633472"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קטגוריה</a:t>
            </a:r>
            <a:endParaRPr lang="en-US" sz="1450" dirty="0"/>
          </a:p>
        </p:txBody>
      </p:sp>
      <p:sp>
        <p:nvSpPr>
          <p:cNvPr id="6" name="Shape 4"/>
          <p:cNvSpPr/>
          <p:nvPr/>
        </p:nvSpPr>
        <p:spPr>
          <a:xfrm>
            <a:off x="3840480" y="1783080"/>
            <a:ext cx="4946904" cy="502920"/>
          </a:xfrm>
          <a:prstGeom prst="roundRect">
            <a:avLst>
              <a:gd name="adj" fmla="val 9091"/>
            </a:avLst>
          </a:prstGeom>
          <a:solidFill>
            <a:srgbClr val="1E2761"/>
          </a:solidFill>
          <a:ln/>
        </p:spPr>
      </p:sp>
      <p:sp>
        <p:nvSpPr>
          <p:cNvPr id="7" name="Text 5"/>
          <p:cNvSpPr/>
          <p:nvPr/>
        </p:nvSpPr>
        <p:spPr>
          <a:xfrm>
            <a:off x="3840480" y="1783080"/>
            <a:ext cx="4946904"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כלים חינמיים</a:t>
            </a:r>
            <a:endParaRPr lang="en-US" sz="1450" dirty="0"/>
          </a:p>
        </p:txBody>
      </p:sp>
      <p:sp>
        <p:nvSpPr>
          <p:cNvPr id="8" name="Shape 6"/>
          <p:cNvSpPr/>
          <p:nvPr/>
        </p:nvSpPr>
        <p:spPr>
          <a:xfrm>
            <a:off x="548640" y="1783080"/>
            <a:ext cx="3182112" cy="502920"/>
          </a:xfrm>
          <a:prstGeom prst="roundRect">
            <a:avLst>
              <a:gd name="adj" fmla="val 9091"/>
            </a:avLst>
          </a:prstGeom>
          <a:solidFill>
            <a:srgbClr val="1E2761"/>
          </a:solidFill>
          <a:ln/>
        </p:spPr>
      </p:sp>
      <p:sp>
        <p:nvSpPr>
          <p:cNvPr id="9" name="Text 7"/>
          <p:cNvSpPr/>
          <p:nvPr/>
        </p:nvSpPr>
        <p:spPr>
          <a:xfrm>
            <a:off x="548640" y="1783080"/>
            <a:ext cx="3182112"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מתי משתמשים</a:t>
            </a:r>
            <a:endParaRPr lang="en-US" sz="1450" dirty="0"/>
          </a:p>
        </p:txBody>
      </p:sp>
      <p:sp>
        <p:nvSpPr>
          <p:cNvPr id="10" name="Shape 8"/>
          <p:cNvSpPr/>
          <p:nvPr/>
        </p:nvSpPr>
        <p:spPr>
          <a:xfrm>
            <a:off x="8897112" y="2404872"/>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9034272" y="2404872"/>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צ’אט שיחתי</a:t>
            </a:r>
            <a:endParaRPr lang="en-US" sz="1500" dirty="0"/>
          </a:p>
        </p:txBody>
      </p:sp>
      <p:sp>
        <p:nvSpPr>
          <p:cNvPr id="12" name="Shape 10"/>
          <p:cNvSpPr/>
          <p:nvPr/>
        </p:nvSpPr>
        <p:spPr>
          <a:xfrm>
            <a:off x="3840480" y="2404872"/>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3977640" y="2404872"/>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Claude.ai (free) · ChatGPT (free)</a:t>
            </a:r>
            <a:endParaRPr lang="en-US" sz="1350" dirty="0"/>
          </a:p>
        </p:txBody>
      </p:sp>
      <p:sp>
        <p:nvSpPr>
          <p:cNvPr id="14" name="Shape 12"/>
          <p:cNvSpPr/>
          <p:nvPr/>
        </p:nvSpPr>
        <p:spPr>
          <a:xfrm>
            <a:off x="548640" y="2404872"/>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5" name="Text 13"/>
          <p:cNvSpPr/>
          <p:nvPr/>
        </p:nvSpPr>
        <p:spPr>
          <a:xfrm>
            <a:off x="685800" y="2404872"/>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פרומפטים ולמידת יסודות</a:t>
            </a:r>
            <a:endParaRPr lang="en-US" sz="1350" dirty="0"/>
          </a:p>
        </p:txBody>
      </p:sp>
      <p:sp>
        <p:nvSpPr>
          <p:cNvPr id="16" name="Shape 14"/>
          <p:cNvSpPr/>
          <p:nvPr/>
        </p:nvSpPr>
        <p:spPr>
          <a:xfrm>
            <a:off x="8897112" y="3246120"/>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7" name="Text 15"/>
          <p:cNvSpPr/>
          <p:nvPr/>
        </p:nvSpPr>
        <p:spPr>
          <a:xfrm>
            <a:off x="9034272" y="3246120"/>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IDE משולב</a:t>
            </a:r>
            <a:endParaRPr lang="en-US" sz="1500" dirty="0"/>
          </a:p>
        </p:txBody>
      </p:sp>
      <p:sp>
        <p:nvSpPr>
          <p:cNvPr id="18" name="Shape 16"/>
          <p:cNvSpPr/>
          <p:nvPr/>
        </p:nvSpPr>
        <p:spPr>
          <a:xfrm>
            <a:off x="3840480" y="3246120"/>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9" name="Text 17"/>
          <p:cNvSpPr/>
          <p:nvPr/>
        </p:nvSpPr>
        <p:spPr>
          <a:xfrm>
            <a:off x="3977640" y="3246120"/>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GitHub Copilot Free · Windsurf free</a:t>
            </a:r>
            <a:endParaRPr lang="en-US" sz="1350" dirty="0"/>
          </a:p>
        </p:txBody>
      </p:sp>
      <p:sp>
        <p:nvSpPr>
          <p:cNvPr id="20" name="Shape 18"/>
          <p:cNvSpPr/>
          <p:nvPr/>
        </p:nvSpPr>
        <p:spPr>
          <a:xfrm>
            <a:off x="548640" y="3246120"/>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685800" y="3246120"/>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השלמה ועריכה בתוך העורך</a:t>
            </a:r>
            <a:endParaRPr lang="en-US" sz="1350" dirty="0"/>
          </a:p>
        </p:txBody>
      </p:sp>
      <p:sp>
        <p:nvSpPr>
          <p:cNvPr id="22" name="Shape 20"/>
          <p:cNvSpPr/>
          <p:nvPr/>
        </p:nvSpPr>
        <p:spPr>
          <a:xfrm>
            <a:off x="8897112" y="4087368"/>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23" name="Text 21"/>
          <p:cNvSpPr/>
          <p:nvPr/>
        </p:nvSpPr>
        <p:spPr>
          <a:xfrm>
            <a:off x="9034272" y="4087368"/>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CLI Agent</a:t>
            </a:r>
            <a:endParaRPr lang="en-US" sz="1500" dirty="0"/>
          </a:p>
        </p:txBody>
      </p:sp>
      <p:sp>
        <p:nvSpPr>
          <p:cNvPr id="24" name="Shape 22"/>
          <p:cNvSpPr/>
          <p:nvPr/>
        </p:nvSpPr>
        <p:spPr>
          <a:xfrm>
            <a:off x="3840480" y="4087368"/>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5" name="Text 23"/>
          <p:cNvSpPr/>
          <p:nvPr/>
        </p:nvSpPr>
        <p:spPr>
          <a:xfrm>
            <a:off x="3977640" y="4087368"/>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Claude Code (במגבלת חינם)</a:t>
            </a:r>
            <a:endParaRPr lang="en-US" sz="1350" dirty="0"/>
          </a:p>
        </p:txBody>
      </p:sp>
      <p:sp>
        <p:nvSpPr>
          <p:cNvPr id="26" name="Shape 24"/>
          <p:cNvSpPr/>
          <p:nvPr/>
        </p:nvSpPr>
        <p:spPr>
          <a:xfrm>
            <a:off x="548640" y="4087368"/>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7" name="Text 25"/>
          <p:cNvSpPr/>
          <p:nvPr/>
        </p:nvSpPr>
        <p:spPr>
          <a:xfrm>
            <a:off x="685800" y="4087368"/>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לולאת agent מלאה</a:t>
            </a:r>
            <a:endParaRPr lang="en-US" sz="1350" dirty="0"/>
          </a:p>
        </p:txBody>
      </p:sp>
      <p:sp>
        <p:nvSpPr>
          <p:cNvPr id="28" name="Text 26"/>
          <p:cNvSpPr/>
          <p:nvPr/>
        </p:nvSpPr>
        <p:spPr>
          <a:xfrm>
            <a:off x="548640" y="493776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כולם חינמיים. התמונה משתנה כל חודש — בדקו תנאים עדכניים לפני שימוש.</a:t>
            </a:r>
            <a:endParaRPr lang="en-US" sz="1350" dirty="0"/>
          </a:p>
        </p:txBody>
      </p:sp>
      <p:sp>
        <p:nvSpPr>
          <p:cNvPr id="29" name="Text 2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29</a:t>
            </a:r>
            <a:endParaRPr lang="en-US" sz="950" dirty="0"/>
          </a:p>
        </p:txBody>
      </p:sp>
      <p:sp>
        <p:nvSpPr>
          <p:cNvPr id="30" name="Text 2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783080"/>
            <a:ext cx="384048" cy="384048"/>
          </a:xfrm>
          <a:prstGeom prst="ellipse">
            <a:avLst/>
          </a:prstGeom>
          <a:solidFill>
            <a:srgbClr val="0E9AA7"/>
          </a:solidFill>
          <a:ln/>
        </p:spPr>
      </p:sp>
      <p:sp>
        <p:nvSpPr>
          <p:cNvPr id="5" name="Text 3"/>
          <p:cNvSpPr/>
          <p:nvPr/>
        </p:nvSpPr>
        <p:spPr>
          <a:xfrm>
            <a:off x="11256264" y="178308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764792"/>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מהו Vibe Coding, ומאיפה הגיע המונח (קרפאטי, 2025)</a:t>
            </a:r>
            <a:endParaRPr lang="en-US" sz="1650" dirty="0"/>
          </a:p>
        </p:txBody>
      </p:sp>
      <p:sp>
        <p:nvSpPr>
          <p:cNvPr id="7" name="Shape 5"/>
          <p:cNvSpPr/>
          <p:nvPr/>
        </p:nvSpPr>
        <p:spPr>
          <a:xfrm>
            <a:off x="11256264" y="2496312"/>
            <a:ext cx="384048" cy="384048"/>
          </a:xfrm>
          <a:prstGeom prst="ellipse">
            <a:avLst/>
          </a:prstGeom>
          <a:solidFill>
            <a:srgbClr val="0E9AA7"/>
          </a:solidFill>
          <a:ln/>
        </p:spPr>
      </p:sp>
      <p:sp>
        <p:nvSpPr>
          <p:cNvPr id="8" name="Text 6"/>
          <p:cNvSpPr/>
          <p:nvPr/>
        </p:nvSpPr>
        <p:spPr>
          <a:xfrm>
            <a:off x="11256264" y="249631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478024"/>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מהו LLM ואיך הוא “כותב” קוד — ניבוי הטוקן הבא</a:t>
            </a:r>
            <a:endParaRPr lang="en-US" sz="1650" dirty="0"/>
          </a:p>
        </p:txBody>
      </p:sp>
      <p:sp>
        <p:nvSpPr>
          <p:cNvPr id="10" name="Shape 8"/>
          <p:cNvSpPr/>
          <p:nvPr/>
        </p:nvSpPr>
        <p:spPr>
          <a:xfrm>
            <a:off x="11256264" y="3209544"/>
            <a:ext cx="384048" cy="384048"/>
          </a:xfrm>
          <a:prstGeom prst="ellipse">
            <a:avLst/>
          </a:prstGeom>
          <a:solidFill>
            <a:srgbClr val="0E9AA7"/>
          </a:solidFill>
          <a:ln/>
        </p:spPr>
      </p:sp>
      <p:sp>
        <p:nvSpPr>
          <p:cNvPr id="11" name="Text 9"/>
          <p:cNvSpPr/>
          <p:nvPr/>
        </p:nvSpPr>
        <p:spPr>
          <a:xfrm>
            <a:off x="11256264" y="320954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3191256"/>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ההבטחות מול המגבלות של תכנות מבוסס-AI</a:t>
            </a:r>
            <a:endParaRPr lang="en-US" sz="1650" dirty="0"/>
          </a:p>
        </p:txBody>
      </p:sp>
      <p:sp>
        <p:nvSpPr>
          <p:cNvPr id="13" name="Shape 11"/>
          <p:cNvSpPr/>
          <p:nvPr/>
        </p:nvSpPr>
        <p:spPr>
          <a:xfrm>
            <a:off x="11256264" y="3922776"/>
            <a:ext cx="384048" cy="384048"/>
          </a:xfrm>
          <a:prstGeom prst="ellipse">
            <a:avLst/>
          </a:prstGeom>
          <a:solidFill>
            <a:srgbClr val="0E9AA7"/>
          </a:solidFill>
          <a:ln/>
        </p:spPr>
      </p:sp>
      <p:sp>
        <p:nvSpPr>
          <p:cNvPr id="14" name="Text 12"/>
          <p:cNvSpPr/>
          <p:nvPr/>
        </p:nvSpPr>
        <p:spPr>
          <a:xfrm>
            <a:off x="11256264" y="392277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904488"/>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עקרון-העל: “מתכנת ג’וניור מוכשר” → חובה סקירה אנושית</a:t>
            </a:r>
            <a:endParaRPr lang="en-US" sz="1650" dirty="0"/>
          </a:p>
        </p:txBody>
      </p:sp>
      <p:sp>
        <p:nvSpPr>
          <p:cNvPr id="16" name="Shape 14"/>
          <p:cNvSpPr/>
          <p:nvPr/>
        </p:nvSpPr>
        <p:spPr>
          <a:xfrm>
            <a:off x="11256264" y="4636008"/>
            <a:ext cx="384048" cy="384048"/>
          </a:xfrm>
          <a:prstGeom prst="ellipse">
            <a:avLst/>
          </a:prstGeom>
          <a:solidFill>
            <a:srgbClr val="0E9AA7"/>
          </a:solidFill>
          <a:ln/>
        </p:spPr>
      </p:sp>
      <p:sp>
        <p:nvSpPr>
          <p:cNvPr id="17" name="Text 15"/>
          <p:cNvSpPr/>
          <p:nvPr/>
        </p:nvSpPr>
        <p:spPr>
          <a:xfrm>
            <a:off x="11256264" y="463600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4617720"/>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הקורס עוסק ב-Workflow, לא בכלי ספציפי</a:t>
            </a:r>
            <a:endParaRPr lang="en-US" sz="16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23 / 29</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תוכנית התרגול — 45 דקות</a:t>
            </a:r>
            <a:endParaRPr lang="en-US" sz="3300" dirty="0"/>
          </a:p>
        </p:txBody>
      </p:sp>
      <p:sp>
        <p:nvSpPr>
          <p:cNvPr id="4" name="Shape 2"/>
          <p:cNvSpPr/>
          <p:nvPr/>
        </p:nvSpPr>
        <p:spPr>
          <a:xfrm>
            <a:off x="2011680" y="1691640"/>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2240280" y="1691640"/>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הקמה · בחירת 2 כלים + כניסה</a:t>
            </a:r>
            <a:endParaRPr lang="en-US" sz="1600" dirty="0"/>
          </a:p>
        </p:txBody>
      </p:sp>
      <p:sp>
        <p:nvSpPr>
          <p:cNvPr id="6" name="Shape 4"/>
          <p:cNvSpPr/>
          <p:nvPr/>
        </p:nvSpPr>
        <p:spPr>
          <a:xfrm>
            <a:off x="548640" y="1691640"/>
            <a:ext cx="1280160" cy="621792"/>
          </a:xfrm>
          <a:prstGeom prst="roundRect">
            <a:avLst>
              <a:gd name="adj" fmla="val 11765"/>
            </a:avLst>
          </a:prstGeom>
          <a:solidFill>
            <a:srgbClr val="3B3B98"/>
          </a:solidFill>
          <a:ln/>
        </p:spPr>
      </p:sp>
      <p:sp>
        <p:nvSpPr>
          <p:cNvPr id="7" name="Text 5"/>
          <p:cNvSpPr/>
          <p:nvPr/>
        </p:nvSpPr>
        <p:spPr>
          <a:xfrm>
            <a:off x="548640" y="1691640"/>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5 דק'</a:t>
            </a:r>
            <a:endParaRPr lang="en-US" sz="1500" dirty="0"/>
          </a:p>
        </p:txBody>
      </p:sp>
      <p:sp>
        <p:nvSpPr>
          <p:cNvPr id="8" name="Shape 6"/>
          <p:cNvSpPr/>
          <p:nvPr/>
        </p:nvSpPr>
        <p:spPr>
          <a:xfrm>
            <a:off x="2011680" y="2441448"/>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2240280" y="2441448"/>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א' · כלי מול כלי</a:t>
            </a:r>
            <a:endParaRPr lang="en-US" sz="1600" dirty="0"/>
          </a:p>
        </p:txBody>
      </p:sp>
      <p:sp>
        <p:nvSpPr>
          <p:cNvPr id="10" name="Shape 8"/>
          <p:cNvSpPr/>
          <p:nvPr/>
        </p:nvSpPr>
        <p:spPr>
          <a:xfrm>
            <a:off x="548640" y="2441448"/>
            <a:ext cx="1280160" cy="621792"/>
          </a:xfrm>
          <a:prstGeom prst="roundRect">
            <a:avLst>
              <a:gd name="adj" fmla="val 11765"/>
            </a:avLst>
          </a:prstGeom>
          <a:solidFill>
            <a:srgbClr val="3B3B98"/>
          </a:solidFill>
          <a:ln/>
        </p:spPr>
      </p:sp>
      <p:sp>
        <p:nvSpPr>
          <p:cNvPr id="11" name="Text 9"/>
          <p:cNvSpPr/>
          <p:nvPr/>
        </p:nvSpPr>
        <p:spPr>
          <a:xfrm>
            <a:off x="548640" y="2441448"/>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8 דק'</a:t>
            </a:r>
            <a:endParaRPr lang="en-US" sz="1500" dirty="0"/>
          </a:p>
        </p:txBody>
      </p:sp>
      <p:sp>
        <p:nvSpPr>
          <p:cNvPr id="12" name="Shape 10"/>
          <p:cNvSpPr/>
          <p:nvPr/>
        </p:nvSpPr>
        <p:spPr>
          <a:xfrm>
            <a:off x="2011680" y="3191256"/>
            <a:ext cx="9628632" cy="621792"/>
          </a:xfrm>
          <a:prstGeom prst="roundRect">
            <a:avLst>
              <a:gd name="adj" fmla="val 13235"/>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2240280" y="3191256"/>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ניסוי ב' · עברית מול אנגלית</a:t>
            </a:r>
            <a:endParaRPr lang="en-US" sz="1600" dirty="0"/>
          </a:p>
        </p:txBody>
      </p:sp>
      <p:sp>
        <p:nvSpPr>
          <p:cNvPr id="14" name="Shape 12"/>
          <p:cNvSpPr/>
          <p:nvPr/>
        </p:nvSpPr>
        <p:spPr>
          <a:xfrm>
            <a:off x="548640" y="3191256"/>
            <a:ext cx="1280160" cy="621792"/>
          </a:xfrm>
          <a:prstGeom prst="roundRect">
            <a:avLst>
              <a:gd name="adj" fmla="val 11765"/>
            </a:avLst>
          </a:prstGeom>
          <a:solidFill>
            <a:srgbClr val="0E9AA7"/>
          </a:solidFill>
          <a:ln/>
        </p:spPr>
      </p:sp>
      <p:sp>
        <p:nvSpPr>
          <p:cNvPr id="15" name="Text 13"/>
          <p:cNvSpPr/>
          <p:nvPr/>
        </p:nvSpPr>
        <p:spPr>
          <a:xfrm>
            <a:off x="548640" y="3191256"/>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14 דק'</a:t>
            </a:r>
            <a:endParaRPr lang="en-US" sz="1500" dirty="0"/>
          </a:p>
        </p:txBody>
      </p:sp>
      <p:sp>
        <p:nvSpPr>
          <p:cNvPr id="16" name="Shape 14"/>
          <p:cNvSpPr/>
          <p:nvPr/>
        </p:nvSpPr>
        <p:spPr>
          <a:xfrm>
            <a:off x="2011680" y="3941064"/>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2240280" y="3941064"/>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אימות בהרצה · מקרי קצה</a:t>
            </a:r>
            <a:endParaRPr lang="en-US" sz="1600" dirty="0"/>
          </a:p>
        </p:txBody>
      </p:sp>
      <p:sp>
        <p:nvSpPr>
          <p:cNvPr id="18" name="Shape 16"/>
          <p:cNvSpPr/>
          <p:nvPr/>
        </p:nvSpPr>
        <p:spPr>
          <a:xfrm>
            <a:off x="548640" y="3941064"/>
            <a:ext cx="1280160" cy="621792"/>
          </a:xfrm>
          <a:prstGeom prst="roundRect">
            <a:avLst>
              <a:gd name="adj" fmla="val 11765"/>
            </a:avLst>
          </a:prstGeom>
          <a:solidFill>
            <a:srgbClr val="3B3B98"/>
          </a:solidFill>
          <a:ln/>
        </p:spPr>
      </p:sp>
      <p:sp>
        <p:nvSpPr>
          <p:cNvPr id="19" name="Text 17"/>
          <p:cNvSpPr/>
          <p:nvPr/>
        </p:nvSpPr>
        <p:spPr>
          <a:xfrm>
            <a:off x="548640" y="3941064"/>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10 דק'</a:t>
            </a:r>
            <a:endParaRPr lang="en-US" sz="1500" dirty="0"/>
          </a:p>
        </p:txBody>
      </p:sp>
      <p:sp>
        <p:nvSpPr>
          <p:cNvPr id="20" name="Shape 18"/>
          <p:cNvSpPr/>
          <p:nvPr/>
        </p:nvSpPr>
        <p:spPr>
          <a:xfrm>
            <a:off x="2011680" y="4690872"/>
            <a:ext cx="9628632" cy="621792"/>
          </a:xfrm>
          <a:prstGeom prst="roundRect">
            <a:avLst>
              <a:gd name="adj" fmla="val 13235"/>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2240280" y="4690872"/>
            <a:ext cx="9125712" cy="621792"/>
          </a:xfrm>
          <a:prstGeom prst="rect">
            <a:avLst/>
          </a:prstGeom>
          <a:noFill/>
          <a:ln/>
        </p:spPr>
        <p:txBody>
          <a:bodyPr wrap="square" rtlCol="0" anchor="ctr"/>
          <a:lstStyle/>
          <a:p>
            <a:pPr rtl="1" algn="r" indent="0" marL="0">
              <a:buNone/>
            </a:pPr>
            <a:r>
              <a:rPr lang="en-US" sz="1600" b="1" dirty="0">
                <a:solidFill>
                  <a:srgbClr val="222232"/>
                </a:solidFill>
                <a:latin typeface="Arial" pitchFamily="34" charset="0"/>
                <a:ea typeface="Arial" pitchFamily="34" charset="-122"/>
                <a:cs typeface="Arial" pitchFamily="34" charset="-120"/>
              </a:rPr>
              <a:t>דוח קצר · סיכום ממצאים</a:t>
            </a:r>
            <a:endParaRPr lang="en-US" sz="1600" dirty="0"/>
          </a:p>
        </p:txBody>
      </p:sp>
      <p:sp>
        <p:nvSpPr>
          <p:cNvPr id="22" name="Shape 20"/>
          <p:cNvSpPr/>
          <p:nvPr/>
        </p:nvSpPr>
        <p:spPr>
          <a:xfrm>
            <a:off x="548640" y="4690872"/>
            <a:ext cx="1280160" cy="621792"/>
          </a:xfrm>
          <a:prstGeom prst="roundRect">
            <a:avLst>
              <a:gd name="adj" fmla="val 11765"/>
            </a:avLst>
          </a:prstGeom>
          <a:solidFill>
            <a:srgbClr val="3B3B98"/>
          </a:solidFill>
          <a:ln/>
        </p:spPr>
      </p:sp>
      <p:sp>
        <p:nvSpPr>
          <p:cNvPr id="23" name="Text 21"/>
          <p:cNvSpPr/>
          <p:nvPr/>
        </p:nvSpPr>
        <p:spPr>
          <a:xfrm>
            <a:off x="548640" y="4690872"/>
            <a:ext cx="1280160" cy="621792"/>
          </a:xfrm>
          <a:prstGeom prst="rect">
            <a:avLst/>
          </a:prstGeom>
          <a:noFill/>
          <a:ln/>
        </p:spPr>
        <p:txBody>
          <a:bodyPr wrap="square" rtlCol="0" anchor="ctr"/>
          <a:lstStyle/>
          <a:p>
            <a:pPr rtl="1" algn="ctr" indent="0" marL="0">
              <a:buNone/>
            </a:pPr>
            <a:r>
              <a:rPr lang="en-US" sz="1500" b="1" dirty="0">
                <a:solidFill>
                  <a:srgbClr val="FFFFFF"/>
                </a:solidFill>
                <a:latin typeface="Arial" pitchFamily="34" charset="0"/>
                <a:ea typeface="Arial" pitchFamily="34" charset="-122"/>
                <a:cs typeface="Arial" pitchFamily="34" charset="-120"/>
              </a:rPr>
              <a:t>8 דק'</a:t>
            </a:r>
            <a:endParaRPr lang="en-US" sz="1500" dirty="0"/>
          </a:p>
        </p:txBody>
      </p:sp>
      <p:sp>
        <p:nvSpPr>
          <p:cNvPr id="24" name="Text 22"/>
          <p:cNvSpPr/>
          <p:nvPr/>
        </p:nvSpPr>
        <p:spPr>
          <a:xfrm>
            <a:off x="548640" y="553212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כל הפרומפטים המדויקים בשקפים הבאים · צריך: חשבון חינמי + דפדפן.</a:t>
            </a:r>
            <a:endParaRPr lang="en-US" sz="1350" dirty="0"/>
          </a:p>
        </p:txBody>
      </p:sp>
      <p:sp>
        <p:nvSpPr>
          <p:cNvPr id="25" name="Text 2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24 / 29</a:t>
            </a:r>
            <a:endParaRPr lang="en-US" sz="950" dirty="0"/>
          </a:p>
        </p:txBody>
      </p:sp>
      <p:sp>
        <p:nvSpPr>
          <p:cNvPr id="26" name="Text 2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א' (8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כלי מול כלי — אותו פרומפט</a:t>
            </a:r>
            <a:endParaRPr lang="en-US" sz="3300" dirty="0"/>
          </a:p>
        </p:txBody>
      </p:sp>
      <p:sp>
        <p:nvSpPr>
          <p:cNvPr id="4" name="Shape 2"/>
          <p:cNvSpPr/>
          <p:nvPr/>
        </p:nvSpPr>
        <p:spPr>
          <a:xfrm>
            <a:off x="548640" y="1737360"/>
            <a:ext cx="11091672" cy="1097280"/>
          </a:xfrm>
          <a:prstGeom prst="roundRect">
            <a:avLst>
              <a:gd name="adj" fmla="val 6667"/>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262872" y="1828800"/>
            <a:ext cx="219456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הפרומפט (עברית):</a:t>
            </a:r>
            <a:endParaRPr lang="en-US" sz="1250" dirty="0"/>
          </a:p>
        </p:txBody>
      </p:sp>
      <p:sp>
        <p:nvSpPr>
          <p:cNvPr id="6" name="Text 4"/>
          <p:cNvSpPr/>
          <p:nvPr/>
        </p:nvSpPr>
        <p:spPr>
          <a:xfrm>
            <a:off x="822960" y="2194560"/>
            <a:ext cx="10543032" cy="548640"/>
          </a:xfrm>
          <a:prstGeom prst="rect">
            <a:avLst/>
          </a:prstGeom>
          <a:noFill/>
          <a:ln/>
        </p:spPr>
        <p:txBody>
          <a:bodyPr wrap="square" rtlCol="0" anchor="ctr"/>
          <a:lstStyle/>
          <a:p>
            <a:pPr rtl="1" algn="r" indent="0" marL="0">
              <a:buNone/>
            </a:pPr>
            <a:r>
              <a:rPr lang="en-US" sz="1350" dirty="0">
                <a:solidFill>
                  <a:srgbClr val="E8E8F0"/>
                </a:solidFill>
                <a:latin typeface="Arial" pitchFamily="34" charset="0"/>
                <a:ea typeface="Arial" pitchFamily="34" charset="-122"/>
                <a:cs typeface="Arial" pitchFamily="34" charset="-120"/>
              </a:rPr>
              <a:t>“כתוב פונקציה בפייתון שמקבלת רשימת מספרים ומחזירה את הממוצע. הוסף טיפול ברשימה ריקה, והסבר בעברית מה הקוד עושה.”</a:t>
            </a:r>
            <a:endParaRPr lang="en-US" sz="1350" dirty="0"/>
          </a:p>
        </p:txBody>
      </p:sp>
      <p:sp>
        <p:nvSpPr>
          <p:cNvPr id="7" name="Text 5"/>
          <p:cNvSpPr/>
          <p:nvPr/>
        </p:nvSpPr>
        <p:spPr>
          <a:xfrm>
            <a:off x="548640" y="306324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הריצו את הפרומפט בשני הכלים שבחרתם, ואז השוו:</a:t>
            </a:r>
            <a:endParaRPr lang="en-US" sz="1500" dirty="0"/>
          </a:p>
        </p:txBody>
      </p:sp>
      <p:sp>
        <p:nvSpPr>
          <p:cNvPr id="8" name="Shape 6"/>
          <p:cNvSpPr/>
          <p:nvPr/>
        </p:nvSpPr>
        <p:spPr>
          <a:xfrm>
            <a:off x="11228832" y="3520440"/>
            <a:ext cx="411480" cy="411480"/>
          </a:xfrm>
          <a:prstGeom prst="ellipse">
            <a:avLst/>
          </a:prstGeom>
          <a:solidFill>
            <a:srgbClr val="3B3B98"/>
          </a:solidFill>
          <a:ln/>
        </p:spPr>
      </p:sp>
      <p:sp>
        <p:nvSpPr>
          <p:cNvPr id="9" name="Text 7"/>
          <p:cNvSpPr/>
          <p:nvPr/>
        </p:nvSpPr>
        <p:spPr>
          <a:xfrm>
            <a:off x="11228832" y="352044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p:nvPr/>
        </p:nvSpPr>
        <p:spPr>
          <a:xfrm>
            <a:off x="548640" y="350215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מי הסביר טוב יותר?</a:t>
            </a:r>
            <a:endParaRPr lang="en-US" sz="1700" dirty="0"/>
          </a:p>
        </p:txBody>
      </p:sp>
      <p:sp>
        <p:nvSpPr>
          <p:cNvPr id="11" name="Shape 9"/>
          <p:cNvSpPr/>
          <p:nvPr/>
        </p:nvSpPr>
        <p:spPr>
          <a:xfrm>
            <a:off x="11228832" y="4160520"/>
            <a:ext cx="411480" cy="411480"/>
          </a:xfrm>
          <a:prstGeom prst="ellipse">
            <a:avLst/>
          </a:prstGeom>
          <a:solidFill>
            <a:srgbClr val="3B3B98"/>
          </a:solidFill>
          <a:ln/>
        </p:spPr>
      </p:sp>
      <p:sp>
        <p:nvSpPr>
          <p:cNvPr id="12" name="Text 10"/>
          <p:cNvSpPr/>
          <p:nvPr/>
        </p:nvSpPr>
        <p:spPr>
          <a:xfrm>
            <a:off x="11228832" y="416052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p:nvPr/>
        </p:nvSpPr>
        <p:spPr>
          <a:xfrm>
            <a:off x="548640" y="414223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מי טיפל במקרה הקצה (רשימה ריקה)?</a:t>
            </a:r>
            <a:endParaRPr lang="en-US" sz="1700" dirty="0"/>
          </a:p>
        </p:txBody>
      </p:sp>
      <p:sp>
        <p:nvSpPr>
          <p:cNvPr id="14" name="Shape 12"/>
          <p:cNvSpPr/>
          <p:nvPr/>
        </p:nvSpPr>
        <p:spPr>
          <a:xfrm>
            <a:off x="11228832" y="4800600"/>
            <a:ext cx="411480" cy="411480"/>
          </a:xfrm>
          <a:prstGeom prst="ellipse">
            <a:avLst/>
          </a:prstGeom>
          <a:solidFill>
            <a:srgbClr val="3B3B98"/>
          </a:solidFill>
          <a:ln/>
        </p:spPr>
      </p:sp>
      <p:sp>
        <p:nvSpPr>
          <p:cNvPr id="15" name="Text 13"/>
          <p:cNvSpPr/>
          <p:nvPr/>
        </p:nvSpPr>
        <p:spPr>
          <a:xfrm>
            <a:off x="11228832" y="480060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p:nvPr/>
        </p:nvSpPr>
        <p:spPr>
          <a:xfrm>
            <a:off x="548640" y="478231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אילו הבדלים יש בקוד עצמו (שמות, מבנה, הערות)?</a:t>
            </a:r>
            <a:endParaRPr lang="en-US" sz="170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29</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ניסוי ב' (14 דקות) — הלב של התרגול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עברית מול אנגלית</a:t>
            </a:r>
            <a:endParaRPr lang="en-US" sz="3300" dirty="0"/>
          </a:p>
        </p:txBody>
      </p:sp>
      <p:sp>
        <p:nvSpPr>
          <p:cNvPr id="4" name="Text 2"/>
          <p:cNvSpPr/>
          <p:nvPr/>
        </p:nvSpPr>
        <p:spPr>
          <a:xfrm>
            <a:off x="548640" y="1627632"/>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הריצו את אותה משימה פעמיים באותו כלי — פעם בעברית, פעם באנגלית:</a:t>
            </a:r>
            <a:endParaRPr lang="en-US" sz="1500" dirty="0"/>
          </a:p>
        </p:txBody>
      </p:sp>
      <p:sp>
        <p:nvSpPr>
          <p:cNvPr id="5" name="Shape 3"/>
          <p:cNvSpPr/>
          <p:nvPr/>
        </p:nvSpPr>
        <p:spPr>
          <a:xfrm>
            <a:off x="6277356" y="2011680"/>
            <a:ext cx="5362956"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139696"/>
            <a:ext cx="4814316" cy="292608"/>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עברית</a:t>
            </a:r>
            <a:endParaRPr lang="en-US" sz="1250" dirty="0"/>
          </a:p>
        </p:txBody>
      </p:sp>
      <p:sp>
        <p:nvSpPr>
          <p:cNvPr id="7" name="Text 5"/>
          <p:cNvSpPr/>
          <p:nvPr/>
        </p:nvSpPr>
        <p:spPr>
          <a:xfrm>
            <a:off x="6551676" y="2487168"/>
            <a:ext cx="4814316" cy="822960"/>
          </a:xfrm>
          <a:prstGeom prst="rect">
            <a:avLst/>
          </a:prstGeom>
          <a:noFill/>
          <a:ln/>
        </p:spPr>
        <p:txBody>
          <a:bodyPr wrap="square" rtlCol="0" anchor="ctr"/>
          <a:lstStyle/>
          <a:p>
            <a:pPr rtl="1" algn="r" indent="0" marL="0">
              <a:buNone/>
            </a:pPr>
            <a:r>
              <a:rPr lang="en-US" sz="1200" dirty="0">
                <a:solidFill>
                  <a:srgbClr val="E8E8F0"/>
                </a:solidFill>
                <a:latin typeface="Arial" pitchFamily="34" charset="0"/>
                <a:ea typeface="Arial" pitchFamily="34" charset="-122"/>
                <a:cs typeface="Arial" pitchFamily="34" charset="-120"/>
              </a:rPr>
              <a:t>“כתוב פונקציה בפייתון שמקבלת רשימת מספרים ומחזירה את הממוצע. הוסף טיפול ברשימה ריקה, והסבר מה הקוד עושה.”</a:t>
            </a:r>
            <a:endParaRPr lang="en-US" sz="1200" dirty="0"/>
          </a:p>
        </p:txBody>
      </p:sp>
      <p:sp>
        <p:nvSpPr>
          <p:cNvPr id="8" name="Shape 6"/>
          <p:cNvSpPr/>
          <p:nvPr/>
        </p:nvSpPr>
        <p:spPr>
          <a:xfrm>
            <a:off x="548640" y="2011680"/>
            <a:ext cx="5362956" cy="1371600"/>
          </a:xfrm>
          <a:prstGeom prst="roundRect">
            <a:avLst>
              <a:gd name="adj" fmla="val 5333"/>
            </a:avLst>
          </a:prstGeom>
          <a:solidFill>
            <a:srgbClr val="1B1B2B"/>
          </a:solidFill>
          <a:ln/>
          <a:effectLst>
            <a:outerShdw sx="100000" sy="100000" kx="0" ky="0" algn="bl" rotWithShape="0" blurRad="76200" dist="25400" dir="5400000">
              <a:srgbClr val="999999">
                <a:alpha val="28000"/>
              </a:srgbClr>
            </a:outerShdw>
          </a:effectLst>
        </p:spPr>
      </p:sp>
      <p:sp>
        <p:nvSpPr>
          <p:cNvPr id="9" name="Text 7"/>
          <p:cNvSpPr/>
          <p:nvPr/>
        </p:nvSpPr>
        <p:spPr>
          <a:xfrm>
            <a:off x="822960" y="2139696"/>
            <a:ext cx="4814316" cy="292608"/>
          </a:xfrm>
          <a:prstGeom prst="rect">
            <a:avLst/>
          </a:prstGeom>
          <a:noFill/>
          <a:ln/>
        </p:spPr>
        <p:txBody>
          <a:bodyPr wrap="square" rtlCol="0" anchor="ctr"/>
          <a:lstStyle/>
          <a:p>
            <a:pPr algn="l" indent="0" marL="0">
              <a:buNone/>
            </a:pPr>
            <a:r>
              <a:rPr lang="en-US" sz="1250" b="1" dirty="0">
                <a:solidFill>
                  <a:srgbClr val="0E9AA7"/>
                </a:solidFill>
                <a:latin typeface="Arial" pitchFamily="34" charset="0"/>
                <a:ea typeface="Arial" pitchFamily="34" charset="-122"/>
                <a:cs typeface="Arial" pitchFamily="34" charset="-120"/>
              </a:rPr>
              <a:t>English</a:t>
            </a:r>
            <a:endParaRPr lang="en-US" sz="1250" dirty="0"/>
          </a:p>
        </p:txBody>
      </p:sp>
      <p:sp>
        <p:nvSpPr>
          <p:cNvPr id="10" name="Text 8"/>
          <p:cNvSpPr/>
          <p:nvPr/>
        </p:nvSpPr>
        <p:spPr>
          <a:xfrm>
            <a:off x="822960" y="2487168"/>
            <a:ext cx="4814316" cy="822960"/>
          </a:xfrm>
          <a:prstGeom prst="rect">
            <a:avLst/>
          </a:prstGeom>
          <a:noFill/>
          <a:ln/>
        </p:spPr>
        <p:txBody>
          <a:bodyPr wrap="square" rtlCol="0" anchor="ctr"/>
          <a:lstStyle/>
          <a:p>
            <a:pPr algn="l" indent="0" marL="0">
              <a:buNone/>
            </a:pPr>
            <a:r>
              <a:rPr lang="en-US" sz="1200" dirty="0">
                <a:solidFill>
                  <a:srgbClr val="E8E8F0"/>
                </a:solidFill>
                <a:latin typeface="Arial" pitchFamily="34" charset="0"/>
                <a:ea typeface="Arial" pitchFamily="34" charset="-122"/>
                <a:cs typeface="Arial" pitchFamily="34" charset="-120"/>
              </a:rPr>
              <a:t>“Write a Python function that takes a list of numbers and returns the average. Handle the empty-list case, and explain what the code does.”</a:t>
            </a:r>
            <a:endParaRPr lang="en-US" sz="1200" dirty="0"/>
          </a:p>
        </p:txBody>
      </p:sp>
      <p:sp>
        <p:nvSpPr>
          <p:cNvPr id="11" name="Shape 9"/>
          <p:cNvSpPr/>
          <p:nvPr/>
        </p:nvSpPr>
        <p:spPr>
          <a:xfrm>
            <a:off x="548640" y="3566160"/>
            <a:ext cx="11091672" cy="1417320"/>
          </a:xfrm>
          <a:prstGeom prst="roundRect">
            <a:avLst>
              <a:gd name="adj" fmla="val 5806"/>
            </a:avLst>
          </a:prstGeom>
          <a:solidFill>
            <a:srgbClr val="F2F3FA"/>
          </a:solidFill>
          <a:ln/>
          <a:effectLst>
            <a:outerShdw sx="100000" sy="100000" kx="0" ky="0" algn="bl" rotWithShape="0" blurRad="76200" dist="25400" dir="5400000">
              <a:srgbClr val="999999">
                <a:alpha val="28000"/>
              </a:srgbClr>
            </a:outerShdw>
          </a:effectLst>
        </p:spPr>
      </p:sp>
      <p:sp>
        <p:nvSpPr>
          <p:cNvPr id="12" name="Text 10"/>
          <p:cNvSpPr/>
          <p:nvPr/>
        </p:nvSpPr>
        <p:spPr>
          <a:xfrm>
            <a:off x="10085832" y="3657600"/>
            <a:ext cx="1371600"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מה לבדוק:</a:t>
            </a:r>
            <a:endParaRPr lang="en-US" sz="1400" dirty="0"/>
          </a:p>
        </p:txBody>
      </p:sp>
      <p:sp>
        <p:nvSpPr>
          <p:cNvPr id="13" name="Text 11"/>
          <p:cNvSpPr/>
          <p:nvPr/>
        </p:nvSpPr>
        <p:spPr>
          <a:xfrm>
            <a:off x="868680" y="4041648"/>
            <a:ext cx="10451592" cy="868680"/>
          </a:xfrm>
          <a:prstGeom prst="rect">
            <a:avLst/>
          </a:prstGeom>
          <a:noFill/>
          <a:ln/>
        </p:spPr>
        <p:txBody>
          <a:bodyPr wrap="square" rtlCol="0" anchor="t"/>
          <a:lstStyle/>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האם הקוד זהה?   •  מי טיפל במקרה הקצה?   •  איזה הסבר מפורט יותר?</a:t>
            </a:r>
            <a:endParaRPr lang="en-US" sz="1350" dirty="0"/>
          </a:p>
          <a:p>
            <a:pPr rtl="1" algn="r" indent="0" marL="0">
              <a:lnSpc>
                <a:spcPct val="130000"/>
              </a:lnSpc>
              <a:buNone/>
            </a:pPr>
            <a:r>
              <a:rPr lang="en-US" sz="1350" dirty="0">
                <a:solidFill>
                  <a:srgbClr val="222232"/>
                </a:solidFill>
                <a:latin typeface="Arial" pitchFamily="34" charset="0"/>
                <a:ea typeface="Arial" pitchFamily="34" charset="-122"/>
                <a:cs typeface="Arial" pitchFamily="34" charset="-120"/>
              </a:rPr>
              <a:t>•  באיזו שפה נכתבו ההערות בקוד?   •  איזו שפה נתנה תוצאה טובה יותר?</a:t>
            </a:r>
            <a:endParaRPr lang="en-US" sz="1350" dirty="0"/>
          </a:p>
        </p:txBody>
      </p:sp>
      <p:sp>
        <p:nvSpPr>
          <p:cNvPr id="14" name="Text 12"/>
          <p:cNvSpPr/>
          <p:nvPr/>
        </p:nvSpPr>
        <p:spPr>
          <a:xfrm>
            <a:off x="548640" y="5120640"/>
            <a:ext cx="11091672" cy="365760"/>
          </a:xfrm>
          <a:prstGeom prst="rect">
            <a:avLst/>
          </a:prstGeom>
          <a:noFill/>
          <a:ln/>
        </p:spPr>
        <p:txBody>
          <a:bodyPr wrap="square" rtlCol="0" anchor="t"/>
          <a:lstStyle/>
          <a:p>
            <a:pPr rtl="1" algn="r" indent="0" marL="0">
              <a:buNone/>
            </a:pPr>
            <a:r>
              <a:rPr lang="en-US" sz="1300" i="1" dirty="0">
                <a:solidFill>
                  <a:srgbClr val="6B6B80"/>
                </a:solidFill>
                <a:latin typeface="Arial" pitchFamily="34" charset="0"/>
                <a:ea typeface="Arial" pitchFamily="34" charset="-122"/>
                <a:cs typeface="Arial" pitchFamily="34" charset="-120"/>
              </a:rPr>
              <a:t>רקע: מודלים רבים אומנו בעיקר על אנגלית — ייתכנו הבדלים. בדקו בעצמכם, אל תניחו מראש.</a:t>
            </a:r>
            <a:endParaRPr lang="en-US" sz="13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26 / 29</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אימות בהרצה (10 דקות)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הריצו בפועל — כולל מקרה קצה</a:t>
            </a:r>
            <a:endParaRPr lang="en-US" sz="3300" dirty="0"/>
          </a:p>
        </p:txBody>
      </p:sp>
      <p:sp>
        <p:nvSpPr>
          <p:cNvPr id="4" name="Shape 2"/>
          <p:cNvSpPr/>
          <p:nvPr/>
        </p:nvSpPr>
        <p:spPr>
          <a:xfrm>
            <a:off x="11228832" y="1783080"/>
            <a:ext cx="411480" cy="411480"/>
          </a:xfrm>
          <a:prstGeom prst="ellipse">
            <a:avLst/>
          </a:prstGeom>
          <a:solidFill>
            <a:srgbClr val="3B3B98"/>
          </a:solidFill>
          <a:ln/>
        </p:spPr>
      </p:sp>
      <p:sp>
        <p:nvSpPr>
          <p:cNvPr id="5" name="Text 3"/>
          <p:cNvSpPr/>
          <p:nvPr/>
        </p:nvSpPr>
        <p:spPr>
          <a:xfrm>
            <a:off x="11228832" y="178308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76479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פתחו Google Colab (חינמי, בדפדפן) והדביקו את הקוד.</a:t>
            </a:r>
            <a:endParaRPr lang="en-US" sz="1700" dirty="0"/>
          </a:p>
        </p:txBody>
      </p:sp>
      <p:sp>
        <p:nvSpPr>
          <p:cNvPr id="7" name="Shape 5"/>
          <p:cNvSpPr/>
          <p:nvPr/>
        </p:nvSpPr>
        <p:spPr>
          <a:xfrm>
            <a:off x="11228832" y="2468880"/>
            <a:ext cx="411480" cy="411480"/>
          </a:xfrm>
          <a:prstGeom prst="ellipse">
            <a:avLst/>
          </a:prstGeom>
          <a:solidFill>
            <a:srgbClr val="3B3B98"/>
          </a:solidFill>
          <a:ln/>
        </p:spPr>
      </p:sp>
      <p:sp>
        <p:nvSpPr>
          <p:cNvPr id="8" name="Text 6"/>
          <p:cNvSpPr/>
          <p:nvPr/>
        </p:nvSpPr>
        <p:spPr>
          <a:xfrm>
            <a:off x="11228832" y="246888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45059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עם רשימה רגילה: [10, 20, 30]  →  אמור להחזיר 20.</a:t>
            </a:r>
            <a:endParaRPr lang="en-US" sz="1700" dirty="0"/>
          </a:p>
        </p:txBody>
      </p:sp>
      <p:sp>
        <p:nvSpPr>
          <p:cNvPr id="10" name="Shape 8"/>
          <p:cNvSpPr/>
          <p:nvPr/>
        </p:nvSpPr>
        <p:spPr>
          <a:xfrm>
            <a:off x="11228832" y="3154680"/>
            <a:ext cx="411480" cy="411480"/>
          </a:xfrm>
          <a:prstGeom prst="ellipse">
            <a:avLst/>
          </a:prstGeom>
          <a:solidFill>
            <a:srgbClr val="3B3B98"/>
          </a:solidFill>
          <a:ln/>
        </p:spPr>
      </p:sp>
      <p:sp>
        <p:nvSpPr>
          <p:cNvPr id="11" name="Text 9"/>
          <p:cNvSpPr/>
          <p:nvPr/>
        </p:nvSpPr>
        <p:spPr>
          <a:xfrm>
            <a:off x="11228832" y="315468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13639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שוב עם רשימה ריקה: [ ]  →  כאן מתגלה ההבדל.</a:t>
            </a:r>
            <a:endParaRPr lang="en-US" sz="1700" dirty="0"/>
          </a:p>
        </p:txBody>
      </p:sp>
      <p:sp>
        <p:nvSpPr>
          <p:cNvPr id="13" name="Shape 11"/>
          <p:cNvSpPr/>
          <p:nvPr/>
        </p:nvSpPr>
        <p:spPr>
          <a:xfrm>
            <a:off x="11228832" y="3840480"/>
            <a:ext cx="411480" cy="411480"/>
          </a:xfrm>
          <a:prstGeom prst="ellipse">
            <a:avLst/>
          </a:prstGeom>
          <a:solidFill>
            <a:srgbClr val="3B3B98"/>
          </a:solidFill>
          <a:ln/>
        </p:spPr>
      </p:sp>
      <p:sp>
        <p:nvSpPr>
          <p:cNvPr id="14" name="Text 12"/>
          <p:cNvSpPr/>
          <p:nvPr/>
        </p:nvSpPr>
        <p:spPr>
          <a:xfrm>
            <a:off x="11228832" y="3840480"/>
            <a:ext cx="411480" cy="41148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3822192"/>
            <a:ext cx="1051560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רשמו: איזה פלט נפל בשגיאה, ואיזה טיפל נכון.</a:t>
            </a:r>
            <a:endParaRPr lang="en-US" sz="1700" dirty="0"/>
          </a:p>
        </p:txBody>
      </p:sp>
      <p:sp>
        <p:nvSpPr>
          <p:cNvPr id="16" name="Shape 14"/>
          <p:cNvSpPr/>
          <p:nvPr/>
        </p:nvSpPr>
        <p:spPr>
          <a:xfrm>
            <a:off x="548640" y="4709160"/>
            <a:ext cx="11091672" cy="960120"/>
          </a:xfrm>
          <a:prstGeom prst="roundRect">
            <a:avLst>
              <a:gd name="adj" fmla="val 9524"/>
            </a:avLst>
          </a:prstGeom>
          <a:solidFill>
            <a:srgbClr val="1E2761"/>
          </a:solidFill>
          <a:ln/>
          <a:effectLst>
            <a:outerShdw sx="100000" sy="100000" kx="0" ky="0" algn="bl" rotWithShape="0" blurRad="76200" dist="25400" dir="5400000">
              <a:srgbClr val="999999">
                <a:alpha val="28000"/>
              </a:srgbClr>
            </a:outerShdw>
          </a:effectLst>
        </p:spPr>
      </p:sp>
      <p:sp>
        <p:nvSpPr>
          <p:cNvPr id="17" name="Text 15"/>
          <p:cNvSpPr/>
          <p:nvPr/>
        </p:nvSpPr>
        <p:spPr>
          <a:xfrm>
            <a:off x="868680" y="4892040"/>
            <a:ext cx="10451592" cy="59436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זהו “שלב 3” מהתהליך — הביקורת האנושית. קוד שלא טיפל ברשימה ריקה ייפול בחלוקה באפס. הבעיה מתגלה בהרצה, לא בקריאה.</a:t>
            </a:r>
            <a:endParaRPr lang="en-US" sz="155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27 / 29</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הרצתם את הפרומפט ב-2 כלים</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השוויתם עברית מול אנגלית</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הרצתם בפועל — כולל רשימה ריקה</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 (חצי עמוד)</a:t>
            </a:r>
            <a:endParaRPr lang="en-US" sz="1500" dirty="0"/>
          </a:p>
        </p:txBody>
      </p:sp>
      <p:sp>
        <p:nvSpPr>
          <p:cNvPr id="9" name="Text 7"/>
          <p:cNvSpPr/>
          <p:nvPr/>
        </p:nvSpPr>
        <p:spPr>
          <a:xfrm>
            <a:off x="822960" y="2359152"/>
            <a:ext cx="4814316" cy="1280160"/>
          </a:xfrm>
          <a:prstGeom prst="rect">
            <a:avLst/>
          </a:prstGeom>
          <a:noFill/>
          <a:ln/>
        </p:spPr>
        <p:txBody>
          <a:bodyPr wrap="square" rtlCol="0" anchor="t"/>
          <a:lstStyle/>
          <a:p>
            <a:pPr rtl="1" algn="r" indent="0" marL="0">
              <a:lnSpc>
                <a:spcPct val="128000"/>
              </a:lnSpc>
              <a:buNone/>
            </a:pPr>
            <a:r>
              <a:rPr lang="en-US" sz="1350" dirty="0">
                <a:solidFill>
                  <a:srgbClr val="222232"/>
                </a:solidFill>
                <a:latin typeface="Arial" pitchFamily="34" charset="0"/>
                <a:ea typeface="Arial" pitchFamily="34" charset="-122"/>
                <a:cs typeface="Arial" pitchFamily="34" charset="-120"/>
              </a:rPr>
              <a:t>•  הכלים שבהם השתמשתם</a:t>
            </a:r>
            <a:endParaRPr lang="en-US" sz="1350" dirty="0"/>
          </a:p>
          <a:p>
            <a:pPr rtl="1" algn="r" indent="0" marL="0">
              <a:lnSpc>
                <a:spcPct val="128000"/>
              </a:lnSpc>
              <a:buNone/>
            </a:pPr>
            <a:r>
              <a:rPr lang="en-US" sz="1350" dirty="0">
                <a:solidFill>
                  <a:srgbClr val="222232"/>
                </a:solidFill>
                <a:latin typeface="Arial" pitchFamily="34" charset="0"/>
                <a:ea typeface="Arial" pitchFamily="34" charset="-122"/>
                <a:cs typeface="Arial" pitchFamily="34" charset="-120"/>
              </a:rPr>
              <a:t>•  ההבדלים בין הכלים</a:t>
            </a:r>
            <a:endParaRPr lang="en-US" sz="1350" dirty="0"/>
          </a:p>
          <a:p>
            <a:pPr rtl="1" algn="r" indent="0" marL="0">
              <a:lnSpc>
                <a:spcPct val="128000"/>
              </a:lnSpc>
              <a:buNone/>
            </a:pPr>
            <a:r>
              <a:rPr lang="en-US" sz="1350" dirty="0">
                <a:solidFill>
                  <a:srgbClr val="222232"/>
                </a:solidFill>
                <a:latin typeface="Arial" pitchFamily="34" charset="0"/>
                <a:ea typeface="Arial" pitchFamily="34" charset="-122"/>
                <a:cs typeface="Arial" pitchFamily="34" charset="-120"/>
              </a:rPr>
              <a:t>•  ההבדל בין עברית לאנגלית (אם היה)</a:t>
            </a:r>
            <a:endParaRPr lang="en-US" sz="1350" dirty="0"/>
          </a:p>
          <a:p>
            <a:pPr rtl="1" algn="r" indent="0" marL="0">
              <a:lnSpc>
                <a:spcPct val="128000"/>
              </a:lnSpc>
              <a:buNone/>
            </a:pPr>
            <a:r>
              <a:rPr lang="en-US" sz="1350" dirty="0">
                <a:solidFill>
                  <a:srgbClr val="222232"/>
                </a:solidFill>
                <a:latin typeface="Arial" pitchFamily="34" charset="0"/>
                <a:ea typeface="Arial" pitchFamily="34" charset="-122"/>
                <a:cs typeface="Arial" pitchFamily="34" charset="-120"/>
              </a:rPr>
              <a:t>•  מי טיפל נכון במקרה הקצה</a:t>
            </a:r>
            <a:endParaRPr lang="en-US" sz="1350" dirty="0"/>
          </a:p>
        </p:txBody>
      </p:sp>
      <p:sp>
        <p:nvSpPr>
          <p:cNvPr id="10" name="Shape 8"/>
          <p:cNvSpPr/>
          <p:nvPr/>
        </p:nvSpPr>
        <p:spPr>
          <a:xfrm>
            <a:off x="548640" y="3886200"/>
            <a:ext cx="11091672" cy="822960"/>
          </a:xfrm>
          <a:prstGeom prst="roundRect">
            <a:avLst>
              <a:gd name="adj" fmla="val 10000"/>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10360152" y="3886200"/>
            <a:ext cx="1097280" cy="822960"/>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בונוס:</a:t>
            </a:r>
            <a:endParaRPr lang="en-US" sz="1400" dirty="0"/>
          </a:p>
        </p:txBody>
      </p:sp>
      <p:sp>
        <p:nvSpPr>
          <p:cNvPr id="12" name="Text 10"/>
          <p:cNvSpPr/>
          <p:nvPr/>
        </p:nvSpPr>
        <p:spPr>
          <a:xfrm>
            <a:off x="822960" y="3886200"/>
            <a:ext cx="9628632" cy="822960"/>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בקשו מכל כלי לכתוב טסט אחד לפונקציה — האם הטסט תפס את מקרה הרשימה הריקה?</a:t>
            </a:r>
            <a:endParaRPr lang="en-US" sz="1350" dirty="0"/>
          </a:p>
        </p:txBody>
      </p:sp>
      <p:sp>
        <p:nvSpPr>
          <p:cNvPr id="13" name="Shape 11"/>
          <p:cNvSpPr/>
          <p:nvPr/>
        </p:nvSpPr>
        <p:spPr>
          <a:xfrm>
            <a:off x="548640" y="489204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507492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את כלל האצבע: אל תגישו קוד שלא הבנתם.</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28 / 29</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1</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2</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איך מודל שפה “חושב” קוד — טוקנים, חלון הקשר, ולמה קורות הזיות</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29 / 29</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2026-07-28T11:39:40Z</dcterms:created>
  <dcterms:modified xsi:type="dcterms:W3CDTF">2026-07-28T11:39:40Z</dcterms:modified>
</cp:coreProperties>
</file>