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ברוכים הבאים לקורס Vibe Coding. 'Vibe Coding' הוא מונח חדש (2025) לתכנות שבו מתארים בשפה טבעית מה רוצים, וכלי בינה מלאכותית כותב את הקוד. הקורס בנוי מ-13 מפגשים, וכל מפגש מלווה בתרגול מעשי. המסר המרכזי של כל הקורס: אנחנו לומדים תהליך עבודה (workflow) ולא כלי ספציפי — כי הכלים מתחלפים במהירות, אבל דרך החשיבה נשארת. במפגש הראשון נבנה את התשתית: מהו Vibe Coding, איך פועל המנוע שמאחוריו (מודל שפה), מה הוא מבטיח ומה מגבלותיו, ומעל הכל — עקרון-העל שילווה אותנו לאורך כל הקורס: להתייחס ל-AI כמו מתכנת ג'וניור מוכשר, שסומכים עליו אבל תמיד בודקים אותו.</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בסוף המפגש תוכלו לעשות ארבעה דברים. ראשית, להגדיר במילים שלכם מהו Vibe Coding ולדעת שהמונח נטבע ע"י אנדריי קרפאטי. שנית, להסביר ברמה עקרונית מהו LLM — מודל שפה גדול — ולהבין שהוא לא 'חושב' אלא מנבא טקסט על סמך דפוסים. שלישית, למנות לפחות שתי הבטחות ושתי מגבלות של תכנות מבוסס-AI, ולהבין למה חשוב להכיר את שתיהן. רביעית, וזה הכי חשוב: להפנים שקוד שנוצר ע"י AI חייב תמיד לעבור סקירה אנושית לפני שסומכים עליו. שימו לב שהמטרות בנויות בסדר עולה: מהגדרה, דרך הבנת המנגנון, ועד ליישום אחראי.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לפני שנכנס להגדרות, בואו נבין למה זה בכלל מעניין. באופן מסורתי, כדי לכתוב תוכנה היינו צריכים לזכור תחביר מדויק של שפת תכנות, לחפש שוב ושוב בתיעוד, ולכתוב כל שורת קוד בעצמנו. טעות קטנה — פסיק חסר, שם משתנה שגוי — והקוד פשוט לא רץ. זה תהליך איטי שדורש שנים של ניסיון כדי לעשות אותו מהר. השאלה שמניעה את כל התחום היא: מה אם היינו יכולים פשוט להסביר בשפה רגילה מה אנחנו רוצים, והמחשב היה כותב את הקוד עבורנו? זו בדיוק ההבטחה של Vibe Coding. אבל — וזה מסר חוזר בקורס — ההבטחה הזו מגיעה עם מחיר, ואת המחיר הזה נלמד לנהל.</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עכשיו ההגדרה המדויקת. Vibe Coding הוא סגנון עבודה שבו מתארים בשפה טבעית מה רוצים, וכלי בינה מלאכותית כותב, בודק ומתקן את הקוד — בעוד המתכנת מכוון ומאשר במקום להקליד כל שורה. המונח נטבע ע"י אנדריי קרפאטי, מהדמויות הבולטות בעולם ה-AI, בתחילת 2025. למה דווקא המילה 'Vibe'? כי אתם מעבירים לכלי את התחושה והכוונה הכללית — את ה'וייב' — ולא הוראות מדויקות שורה-שורה. אתם נותנים כיוון, והכלי ממלא את הפרטים. חשוב להבין: זה לא אומר 'בלי לחשוב'. הכיוון שאתם נותנים חייב להיות ברור, אחרת תקבלו תוצאה כללית וחלשה — נראה את זה כשנדבר על פרומפטים במפגש 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השינוי המרכזי שקרה הוא לא רק 'כלי חדש' אלא שינוי בתפקיד שלנו כמתכנתים. בעבר, המתכנת כתב כל שורת קוד במו ידיו. היום, המתכנת מגדיר מטרה, מכוון את ה-AI, בודק את התוצאה, ומאשר או מבקש תיקון — וה-AI הוא זה שכותב בפועל. חשבו על זה כמו מעבר מ'פועל' ל'מנהל'. המשמעות המעשית: המיומנות שהכי חשובה כבר לא 'לזכור תחביר' אלא 'לדעת לנהל, לבקר ולאמת'. מי שיודע לקרוא קוד, לזהות בעיות ולנסח דרישות בבירור — יצליח, גם אם אינו זוכר כל פונקציה בעל-פה. זה גם אומר שהאחריות נשארת אצל המתכנת: ה-AI כותב, אבל אתם חתומים על התוצאה.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כדי לשים את Vibe Coding בהקשר, הנה ציר זמן קצר. בתחילת שנות ה-2010 כבר הייתה השלמה אוטומטית בסיסית בעורכי קוד — הצעות למילה הבאה. ב-2021 הושק GitHub Copilot, שכבר הציע שורות קוד שלמות בתוך העורך. ב-2022 הגיע ChatGPT, שאיפשר לראשונה שיחה בשפה טבעית עם מודל — קפיצת מדרגה בנגישות. ב-2024 הופיעו ה-agents: כלים שלא רק מציעים קוד אלא מריצים פקודות, בודקים תוצאות ומתקנים בעצמם. וב-2025 נכנס המונח 'Vibe Coding' לשיח הרחב. המסקנה: התחום זז מהר מאוד, וכלי ספציפי עשוי להשתנות עד הסמסטר הבא. בדיוק בגלל זה הקורס מתמקד ב-workflow ולא בכלי שיתיישן.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בואו נראה דוגמה קונקרטית. במקום לזכור את התחביר של פייתון, אני פשוט כותב בשפה טבעית: 'כתוב לי פונקציה שמקבלת רשימת מספרים ומחזירה את הממוצע'. ה-AI מייצר את הקוד: הפונקציה מסכמת את המספרים (sum) ומחלקת במספר האיברים (len). זה עובד — וזה מרשים, כי לא נגעתי בתחביר. אבל שימו לב לפרט הקריטי: מה קורה אם הרשימה ריקה? len של רשימה ריקה הוא 0, וחלוקה באפס מפילה את התוכנית. ה-AI לא חשב על זה, כי לא ביקשתי ממנו במפורש. זו דוגמה מיניאטורית לכל הקורס: הכלי נותן פתרון שנראה נכון, אבל הביקורת האנושית היא שמגלה את מה שחסר. בשקף הבא נתקן את זה.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נתקן את הבעיה מהשקף הקודם. בגרסה המתוקנת אנחנו מוסיפים בדיקה: 'אם הרשימה ריקה — החזר 0' (או זרוק שגיאה ברורה, תלוי בהקשר), ורק אחר כך מחשבים ממוצע. הרעיון הרחב כאן נקרא 'מקרה קצה' (edge case): קלט חריג שהקוד ה'רגיל' לא מטפל בו. דוגמאות: רשימה ריקה, מספר שלילי במקום שמצפים לחיובי, טקסט במקום מספר, קובץ שלא קיים, או חיבור אינטרנט שנופל. ה-AI כמעט תמיד כותב את 'המקרה הרגיל' ומתעלם ממקרי הקצה, כי הם פחות נפוצים בקוד שהוא ראה. לכן, כשמקבלים קוד, שאלו תמיד 'מה קורה בקלט הכי מוזר שאפשר?' — וגם כדאי לבקש מה-AI במפורש 'תוסיף טיפול במקרי קצה'. זיהוי מקרי הקצה הוא כישור הנדסי אמיתי, ונתרגל אותו שוב ושוב בקורס.</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כדי להשתמש בכלי בחוכמה, כדאי להבין מה עומד מאחוריו — בלי מתמטיקה. הכלים מבוססים על LLM: Large Language Model, מודל שפה גדול. זו תוכנה שאומנה על כמויות עצומות של טקסט מהאינטרנט — מאמרים, ספרים, ובעיקר הרבה מאוד קוד. במהלך האימון היא למדה לעשות דבר אחד בסיסי: בהינתן רצף טקסט, לחזות מה סביר לבוא אחריו. שלוש נקודות לזכור: (1) היקף האימון עצום — מיליארדי מסמכים; (2) הפעולה המרכזית היא ניבוי ה'טוקן' (חתיכת טקסט) הבא; (3) והכי חשוב — המודל לא 'מבין' בכוונה כמו בן אדם, אלא מזהה דפוסים סטטיסטיים. זו נקודה קריטית: כשהמודל כותב קוד נכון, זה כי הדפוס היה נפוץ באימון — לא כי 'הבין' את הבעיה. במפגש 2 נצלול לפרטים; לעת עתה מספיקה האינטואיציה הזו.</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נחדד את האינטואיציה. הדרך הכי טובה לחשוב על מודל שפה היא כמו השלמה אוטומטית (autocomplete) של הטלפון — אבל חזקה בטירוף. כשמקלידים 'שלום, מה' והטלפון מציע 'שלומך' — זה בדיוק הרעיון: ניבוי ההמשך הסביר. מודל שפה עושה את אותו הדבר על קוד: בהינתן 'def average(numbers): return', הוא מנבא שההמשך הסביר הוא 'sum(numbers)/len(numbers)'. הוא בוחר בכל שלב את ההמשך הכי סביר לפי מה שראה. וכאן נקודת התורפה: כי זו בחירה סטטיסטית ולא הבנה, לפעמים המודל בוחר המשך שנשמע נכון אבל שגוי — ובאותו ביטחון בדיוק. לתופעה קוראים הזיה (hallucination), ונרחיב עליה. בשקף הבא נראה דוגמה מספרית מוחשית לאיך הבחירה עובדת.</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נדגים את הניבוי בצורה מוחשית. נניח שהמודל קיבל עד עכשיו את השורה 'def average(numbers): return' ועליו לנחש את ההמשך. בפועל הוא לא בוחר תשובה אחת — הוא מדרג המשכים לפי הסתברות. בדוגמה שעל השקף: 'sum(numbers)/len(numbers)' מקבל הסתברות גבוהה (למשל 72%), 'numbers[0]' נמוכה (9%), ו'max(numbers)' עוד פחות (5%). המספרים להמחשה, אבל הרעיון מדויק: המודל ראה את הדפוס של 'ממוצע = סכום חלקי אורך' אלפי פעמים בקוד, ולכן זה ההמשך הסביר, והוא בוחר את ההסתברות הגבוהה. עכשיו דמיינו דפוס נדיר או מבלבל — שם פונקציה לא שגרתי, או ספרייה חדשה שהמודל לא ראה. אז ההסתברויות 'שטוחות', והמודל עלול לבחור המשך שגוי — בביטחון מלא. זה בדיוק המנגנון שמייצר הזיות, וזו הסיבה שאסור לסמוך על הפלט בעיניים עצומות.</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נסכם את תהליך העבודה כלולאה בת ארבעה שלבים. שלב 1 — אתם: מנסחים פרומפט, בקשה בשפה טבעית. שלב 2 — המודל: מנבא ומייצר קוד. שלב 3 — אתם שוב: קוראים את הקוד, בודקים ומריצים אותו. שלב 4 — החלטה: אם תקין, מאשרים; אם לא, חוזרים לשלב 1 עם פרומפט מדויק יותר ('זה נכשל על רשימה ריקה, תתקן'). זו לולאה איטרטיבית — לרוב לא מקבלים תוצאה מושלמת בניסיון הראשון. הנקודה הכי חשובה: שלב 3, הביקורת האנושית, הוא הלב של הקורס. בלעדיו, קוד ה-AI הוא ניחוש שלא נבדק. הרבה מתחילים מדלגים על שלב 3 — וזו הטעות מספר אחת שנלמד להימנע ממנה.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נמנה את ההבטחות — למה בכלל שווה להשתמש בזה. ראשית, מהירות: אפשר לבנות אב-טיפוס עובד בדקות במקום שעות, מצוין לבדיקת רעיונות. שנית, נגישות: אפשר לבנות בלי לזכור בעל-פה כל תחביר, מה שמוריד את מחסום הכניסה — רלוונטי במיוחד לכם, סטודנטים להנדסה שאינם בהכרח מתכנתים ותיקים. שלישית, פחות 'עבודה שחורה': משימות משעממות אך הכרחיות — boilerplate, תיעוד, טסטים — נעשות מהר. רביעית, שותף לחשיבה: אפשר להתייעץ, לבקש רעיונות, כיוונים וחלופות. חשוב לשמור את ההבטחות בראש, כי בשקפים הבאים נדבר הרבה על מגבלות — ואסור שהזהירות תגרום לפספס כמה הכלי עוצמתי כשמשתמשים בו נכון.</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עכשיו הצד השני, קריטי להנדסה אחראית. ארבע מגבלות מרכזיות. ראשונה והכי חשובה — הזיות: המודל ממציא דברים שלא קיימים, למשל פונקציה או ספרייה שנשמעות הגיוניות אך אינן קיימות. שנייה — חוסר הקשר עסקי: המודל לא יודע מה הפרויקט שלכם, מה הלקוח צריך או מה כללי החברה; הוא נותן פתרון גנרי. שלישית — קוד לא בטוח: המודל עלול לייצר בשוגג קוד עם פרצות אבטחה (נרחיב במפגש 10). רביעית — ידע מיושן: המודל אומן על מידע מהעבר, ולכן אינו בהכרח מכיר גרסאות עדכניות או חידושים אחרונים. המסר: המגבלות אינן 'באגים' שיתוקנו בקרוב — הן נובעות מעצם אופן הפעולה של המודל. לכן חובה לעבוד איתן, לא לקוות שייעלמו. בשקף הבא נראה דוגמה אמיתית להזיה.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הנה הזיה אמיתית, מהסוג שתפגשו בפועל. נניח שביקשתם קוד לשמור נתונים לאקסל, וה-AI כתב שורה שמשתמשת בפונקציה בשם to_excel_fast. הבעיה: פונקציה כזו פשוט לא קיימת בספריית pandas. המודל 'המציא' אותה כי היא נשמעת סבירה — קיים to_excel אמיתי, אז to_excel_fast נשמע הגיוני. וזה בדיוק מה שמסוכן בהזיה: היא נשמעת אמינה. איך מזהים ומתקנים? שלושה צעדים. אחת: הריצו את הקוד — תקבלו שגיאה, כאן AttributeError, שאומרת שהפונקציה לא קיימת. שתיים: בדקו בתיעוד הרשמי של הספרייה אם הפונקציה קיימת ומה השם הנכון (כאן: to_excel). שלוש: בקשו מה-AI מקור לטענה או תיקון, או תקנו בעצמכם. הכלל: לעולם אל תסמכו על שם פונקציה או ספרייה שלא ראיתם בתיעוד או שלא הרצתם בהצלחה. הרצה ובדיקת תיעוד הן ההגנה הכי טובה מפני הזיות.</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עכשיו המטאפורה המרכזית של הקורס — אם תזכרו רק דבר אחד, שיהיה זה. חשבו על ה-AI כמו מתכנת או מתכנתת ג'וניור מוכשרים מאוד. מצד אחד: מהירים, יודעים המון, כותבים קוד סביר במהירות, וחוסכים לכם זמן. מצד שני: חסרי ניסיון, לא מכירים את ההקשר המלא של הפרויקט, ולפעמים טועים — ומה שמסוכן, טועים בביטחון. מה עושים עם ג'וניור אמיתי? סומכים עליו למשימות, אבל בודקים את העבודה לפני שהיא נכנסת לפרודקשן. בדיוק אותו יחס צריך לכלי ה-AI: להאציל לו עבודה, אבל אף פעם לא להכניס את התוצר שלו למערכת אמיתית בלי סקירה אנושית. המטאפורה נותנת אינטואיציה מיידית לכל מצב: שאלו את עצמכם 'האם הייתי מעביר את זה הלאה בלי לבדוק, אילו ג'וניור היה כותב את זה?'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זהו הלב המעשי של המפגש, וזה מה שנתרגל. כלל האצבע: לעולם אל תגיש או תריץ קוד שנוצר ע"י AI מבלי שקראת, הבנת ובדקת אותו. יש לו מבחן פשוט — אם אינך מבין מה הקוד עושה, עוד לא סיימת. הכלל מתפרק לשלוש חובות קונקרטיות. אחת: לקרוא ולהבין כל שורה שאתם מגישים — שורה שאינכם מבינים היא דגל אדום. שתיים: לבדוק — להריץ, ורצוי גם לכתוב טסטים, לפני שסומכים (נרחיב במפגש 8). שלוש: לקחת אחריות — מרגע שהגשתם, זה הקוד שלכם, לא של ה-AI. הערה על הקורס: בהמשך תתבקשו לפעמים להסביר קוד שהגשתם ('ראיון קוד'), כי המטרה היא שהבנתם, לא שהעתקתם. בתרגול היום, כשתקבלו קוד משני כלים, המשימה היא בדיוק זו: לא רק להריץ, אלא להבין ולהשוות.</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נמנה מלכודות נפוצות של מתחילים, כדי שתזהו אותן בעצמכם. ראשונה — Copy-paste עיוור: להעתיק קוד מה-AI ישר לפרויקט בלי לקרוא, מה שמכניס באגים סמויים. שנייה — אמון יתר: להניח שאם ה-AI אמר משהו בביטחון, הוא נכון; ראינו שביטחון אינו ערובה לנכונות. שלישית — פרומפט דל: לבקש משהו מעורפל כמו 'תעשה לי אתר', ואז להתלונן שהתוצאה כללית — פרומפט טוב הוא חצי מהעבודה, ונלמד אותו לעומק במפגש 3. רביעית — להסתפק בתשובה הראשונה: לא לבקש שיפור, הסבר או חלופות. עם כל אחת מהמלכודות תיפגשו כבר בתרגול הראשון — נסו לזהות מתי אתם נופלים בהן. המודעות עצמה היא חצי מהפתרון.</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נחזור למסר-העל של הקורס, כי הוא מסביר איך הוא בנוי. הכלים בתחום מתחלפים כל חודש — Cursor, Copilot, Claude, Windsurf, ChatGPT, ורבים חדשים כל הזמן. אילו היינו בונים את הקורס סביב כלי אחד, הוא היה מיושן עד סוף הסמסטר. מה שנשאר קבוע הוא דרך העבודה: איך לחשוב על בעיה, איך לתקשר אותה לכלי, איך לבדוק את התוצאה, ואיך לשלב AI בתהליך הנדסי אחראי — וזה עובד בכל כלי. לכן, החלטה מודעת: בכל תרגול תוכלו לבחור כלי חינמי כרצונכם. המיומנות שתרכשו עוברת בין כלים. מי שמבין את ה-workflow יכול להחליף כלי ביום; מי שרק שינן כלי אחד — תקוע.</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לפני התרגול, סקירה של הכלים החינמיים, בשלוש קטגוריות. ראשונה — צ'אט שיחתי: כמו Claude.ai ו-ChatGPT בגרסאות החינמיות, מצוינים ללמידת יסודות ולתרגול פרומפטים — כותבים בקשה ומקבלים קוד בחלון שיחה. שנייה — IDE משולב: כמו GitHub Copilot בגרסה החינמית ו-Windsurf; יושבים בתוך עורך הקוד ומשלימים ועורכים תוך כדי כתיבה. שלישית — CLI Agent: כמו Claude Code במגבלת השימוש החינמית; מריצים לולאת agent מלאה — מקבלים משימה, כותבים, מריצים ומתקנים לבד. לתרגול של היום כל אחד מהם מתאים. הערה: התנאים והמגבלות של החינם משתנים כל חודש, אז בדקו מה עדכני לפני שנרשמים.</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נסכם את מה שכיסינו. הבנו מהו Vibe Coding ושהמונח נטבע ע"י קרפאטי ב-2025. ראינו מהו LLM ואיך הוא 'כותב' קוד — לא בקסם אלא בניבוי הטוקן הסביר הבא. מנינו את ההבטחות מול המגבלות, והדגשנו שהזיות הן הסיכון המרכזי. עברנו על עקרון-העל — 'מתכנת ג'וניור מוכשר' — שממנו נגזרת חובת הסקירה האנושית. וחזרנו שוב ושוב על כך שהקורס עוסק ב-workflow ולא בכלי מתחלף. אם כל זה מסתדר לכם, אתם מוכנים לתרגול הראשון. אם משהו לא ברור — זה הזמן לשאול לפני שממשיכים.</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לפני שמתחילים, הנה תוכנית התרגול ל-45 דקות. חמישה שלבים: 5 דקות הקמה (בחירת שני כלים חינמיים והתחברות); 8 דקות ניסוי א' — אותו פרומפט בשני כלים שונים והשוואה; 14 דקות ניסוי ב', הלב של התרגול — אותו פרומפט פעם בעברית ופעם באנגלית, כדי לבדוק אם יש הבדל; 10 דקות אימות בהרצה בפועל, כולל בדיקת מקרה קצה של רשימה ריקה; ו-8 דקות לכתיבת דוח קצר. כל הפרומפטים המדויקים מופיעים בשקפים הבאים, כך שאפשר לעבוד באופן עצמאי. כל מה שצריך: חשבון חינמי ודפדפן.</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ניסוי א' — כלי מול כלי. קחו את הפרומפט שבשקף (בעברית) והריצו אותו בשני הכלים שבחרתם. קראו את שתי התשובות והשוו לפי שלוש שאלות: מי הסביר טוב יותר? מי טיפל במקרה הקצה של רשימה ריקה? והאם יש הבדל בקוד עצמו — שמות משתנים, מבנה, או הערות? המטרה כאן היא לחוות שכלים שונים נותנים תשובות שונות לאותה בקשה — ולכן בחירת הכלי משנה. שימו לב אם אחד הכלים הוסיף טיפול במקרה הקצה גם בלי שביקשתם, והשני לא.</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ניסוי ב' הוא הלב של התרגול — האם יש הבדל בין עברית לאנגלית? קחו את אותה משימה בדיוק והריצו אותה פעמיים באותו כלי: פעם עם הפרומפט בעברית, ופעם עם הפרומפט באנגלית (שניהם על השקף). עכשיו השוו לפי הרשימה: האם הקוד זהה? מי טיפל במקרה הקצה? האם ההסבר באנגלית ארוך או מפורט יותר? באיזו שפה נכתבו ההערות בקוד? והאם באופן כללי אחת השפות נתנה תוצאה טובה יותר? רקע חשוב: מודלים רבים אומנו בעיקר על טקסט וקוד באנגלית, ולכן לפעמים אנגלית מניבה תשובות מעט מדויקות או מפורטות יותר — אבל זה לא מובטח, ומשתנה בין כלים ומשימות. המטרה שלכם היא לבדוק בפועל ולגבש דעה מבוססת-ראיות, לא להניח מראש. זו מיומנות מעשית: כשעובדים על משימה חשובה, שווה לנסות גם באנגלית ולראות אם התוצאה משתפרת.</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אימות בהרצה — כאן מיישמים את 'שלב 3' מהתהליך, הביקורת האנושית. פתחו את Google Colab (חינמי, בדפדפן). הריצו את הקוד שקיבלתם פעמיים: קודם עם רשימה רגילה כמו [10, 20, 30] — אמורים לקבל 20. אחר כך עם רשימה ריקה [] — וכאן ההבדל: קוד שלא טיפל במקרה הקצה ייפול בשגיאת חלוקה באפס, וקוד שכן טיפל יחזיר תשובה תקינה. רשמו לעצמכם איזה מהפלטים שקיבלתם מהכלים נפל, ואיזה שרד. זו בדיוק הסיבה שאסור לסמוך על קוד בלי להריץ אותו — הבעיה מתגלה רק בהרצה, לא בקריאה.</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לסיום, מה מגישים. הצלחתם אם עשיתם שלושה דברים: הרצתם את הפרומפט בשני כלים שונים; השוויתם בין הגרסה העברית לאנגלית; והרצתם את הקוד בפועל, כולל בדיקת רשימה ריקה. התוצר הוא דוח קצר, כחצי עמוד, שכולל: באילו כלים השתמשתם; מה היו ההבדלים בין הכלים; מה היה ההבדל בין עברית לאנגלית אם היה — לנקודה הזו אני רוצה שתתייחסו במפורש; ומי מהפלטים טיפל נכון במקרה הקצה. בונוס למתקדמים: בקשו מכל כלי לכתוב טסט אחד לפונקציה, ובדקו אם הטסט תופס את מקרה הרשימה הריקה. ומעל הכול — זכרו את כלל האצבע: אל תגישו קוד שלא הבנתם.</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סיימנו את מפגש 1. בנינו את התשתית: מה זה Vibe Coding, איך עובד המנוע, ומהו היחס האחראי לכלי. במפגש הבא — מפגש 2 — נצלול פנימה: איך מודל שפה 'חושב' קוד, מה זה טוקנים וחלון הקשר, ולמה בדיוק קורות הזיות ומתי הן צפויות יותר. ההבנה הזו תיתן לכם אינטואיציה מתי לסמוך על הכלי ומתי להיזהר במיוחד. נתראה במפגש 2.</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737360"/>
            <a:ext cx="11091672" cy="365760"/>
          </a:xfrm>
          <a:prstGeom prst="rect">
            <a:avLst/>
          </a:prstGeom>
          <a:noFill/>
          <a:ln/>
        </p:spPr>
        <p:txBody>
          <a:bodyPr wrap="square" rtlCol="0" anchor="t"/>
          <a:lstStyle/>
          <a:p>
            <a:pPr rtl="1" algn="r" indent="0" marL="0">
              <a:buNone/>
            </a:pPr>
            <a:r>
              <a:rPr lang="en-US" sz="1500" b="1" spc="100" kern="0" dirty="0">
                <a:solidFill>
                  <a:srgbClr val="0E9AA7"/>
                </a:solidFill>
                <a:latin typeface="Arial" pitchFamily="34" charset="0"/>
                <a:ea typeface="Arial" pitchFamily="34" charset="-122"/>
                <a:cs typeface="Arial" pitchFamily="34" charset="-120"/>
              </a:rPr>
              <a:t>קורס Vibe Coding · מפגש 1 מתוך 13</a:t>
            </a:r>
            <a:endParaRPr lang="en-US" sz="1500" dirty="0"/>
          </a:p>
        </p:txBody>
      </p:sp>
      <p:sp>
        <p:nvSpPr>
          <p:cNvPr id="3" name="Text 1"/>
          <p:cNvSpPr/>
          <p:nvPr/>
        </p:nvSpPr>
        <p:spPr>
          <a:xfrm>
            <a:off x="548640" y="2286000"/>
            <a:ext cx="11091672" cy="1188720"/>
          </a:xfrm>
          <a:prstGeom prst="rect">
            <a:avLst/>
          </a:prstGeom>
          <a:noFill/>
          <a:ln/>
        </p:spPr>
        <p:txBody>
          <a:bodyPr wrap="square" rtlCol="0" anchor="t"/>
          <a:lstStyle/>
          <a:p>
            <a:pPr rtl="1" algn="r" indent="0" marL="0">
              <a:buNone/>
            </a:pPr>
            <a:r>
              <a:rPr lang="en-US" sz="5800" b="1" dirty="0">
                <a:solidFill>
                  <a:srgbClr val="FFFFFF"/>
                </a:solidFill>
                <a:latin typeface="Arial" pitchFamily="34" charset="0"/>
                <a:ea typeface="Arial" pitchFamily="34" charset="-122"/>
                <a:cs typeface="Arial" pitchFamily="34" charset="-120"/>
              </a:rPr>
              <a:t>מהו Vibe Coding?</a:t>
            </a:r>
            <a:endParaRPr lang="en-US" sz="5800" dirty="0"/>
          </a:p>
        </p:txBody>
      </p:sp>
      <p:sp>
        <p:nvSpPr>
          <p:cNvPr id="4" name="Text 2"/>
          <p:cNvSpPr/>
          <p:nvPr/>
        </p:nvSpPr>
        <p:spPr>
          <a:xfrm>
            <a:off x="548640" y="3611880"/>
            <a:ext cx="11091672" cy="548640"/>
          </a:xfrm>
          <a:prstGeom prst="rect">
            <a:avLst/>
          </a:prstGeom>
          <a:noFill/>
          <a:ln/>
        </p:spPr>
        <p:txBody>
          <a:bodyPr wrap="square" rtlCol="0" anchor="t"/>
          <a:lstStyle/>
          <a:p>
            <a:pPr rtl="1" algn="r" indent="0" marL="0">
              <a:buNone/>
            </a:pPr>
            <a:r>
              <a:rPr lang="en-US" sz="2200" dirty="0">
                <a:solidFill>
                  <a:srgbClr val="CADCFC"/>
                </a:solidFill>
                <a:latin typeface="Arial" pitchFamily="34" charset="0"/>
                <a:ea typeface="Arial" pitchFamily="34" charset="-122"/>
                <a:cs typeface="Arial" pitchFamily="34" charset="-120"/>
              </a:rPr>
              <a:t>תכנות בסיוע בינה מלאכותית — עקרונות ותהליכי עבודה</a:t>
            </a:r>
            <a:endParaRPr lang="en-US" sz="2200" dirty="0"/>
          </a:p>
        </p:txBody>
      </p:sp>
      <p:sp>
        <p:nvSpPr>
          <p:cNvPr id="5" name="Text 3"/>
          <p:cNvSpPr/>
          <p:nvPr/>
        </p:nvSpPr>
        <p:spPr>
          <a:xfrm>
            <a:off x="548640" y="4297680"/>
            <a:ext cx="11091672" cy="457200"/>
          </a:xfrm>
          <a:prstGeom prst="rect">
            <a:avLst/>
          </a:prstGeom>
          <a:noFill/>
          <a:ln/>
        </p:spPr>
        <p:txBody>
          <a:bodyPr wrap="square" rtlCol="0" anchor="t"/>
          <a:lstStyle/>
          <a:p>
            <a:pPr rtl="1" algn="r" indent="0" marL="0">
              <a:buNone/>
            </a:pPr>
            <a:r>
              <a:rPr lang="en-US" sz="1600" i="1" dirty="0">
                <a:solidFill>
                  <a:srgbClr val="9AA3D6"/>
                </a:solidFill>
                <a:latin typeface="Arial" pitchFamily="34" charset="0"/>
                <a:ea typeface="Arial" pitchFamily="34" charset="-122"/>
                <a:cs typeface="Arial" pitchFamily="34" charset="-120"/>
              </a:rPr>
              <a:t>תכנות בשיחה עם מכונה — במקום שורה אחר שורה</a:t>
            </a:r>
            <a:endParaRPr lang="en-US" sz="1600" dirty="0"/>
          </a:p>
        </p:txBody>
      </p:sp>
      <p:sp>
        <p:nvSpPr>
          <p:cNvPr id="6" name="Text 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01 / 27</a:t>
            </a:r>
            <a:endParaRPr lang="en-US" sz="950" dirty="0"/>
          </a:p>
        </p:txBody>
      </p:sp>
      <p:sp>
        <p:nvSpPr>
          <p:cNvPr id="7" name="Text 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פתיחה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מטרות המפגש</a:t>
            </a:r>
            <a:endParaRPr lang="en-US" sz="3300" dirty="0"/>
          </a:p>
        </p:txBody>
      </p:sp>
      <p:sp>
        <p:nvSpPr>
          <p:cNvPr id="4" name="Shape 2"/>
          <p:cNvSpPr/>
          <p:nvPr/>
        </p:nvSpPr>
        <p:spPr>
          <a:xfrm>
            <a:off x="11137392" y="1874520"/>
            <a:ext cx="502920" cy="502920"/>
          </a:xfrm>
          <a:prstGeom prst="ellipse">
            <a:avLst/>
          </a:prstGeom>
          <a:solidFill>
            <a:srgbClr val="0E9AA7"/>
          </a:solidFill>
          <a:ln/>
        </p:spPr>
      </p:sp>
      <p:sp>
        <p:nvSpPr>
          <p:cNvPr id="5" name="Text 3"/>
          <p:cNvSpPr/>
          <p:nvPr/>
        </p:nvSpPr>
        <p:spPr>
          <a:xfrm>
            <a:off x="11137392" y="18745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548640" y="185623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להבין מהו Vibe Coding — ומאיפה הגיע המונח.</a:t>
            </a:r>
            <a:endParaRPr lang="en-US" sz="1700" dirty="0"/>
          </a:p>
        </p:txBody>
      </p:sp>
      <p:sp>
        <p:nvSpPr>
          <p:cNvPr id="7" name="Shape 5"/>
          <p:cNvSpPr/>
          <p:nvPr/>
        </p:nvSpPr>
        <p:spPr>
          <a:xfrm>
            <a:off x="11137392" y="2926080"/>
            <a:ext cx="502920" cy="502920"/>
          </a:xfrm>
          <a:prstGeom prst="ellipse">
            <a:avLst/>
          </a:prstGeom>
          <a:solidFill>
            <a:srgbClr val="0E9AA7"/>
          </a:solidFill>
          <a:ln/>
        </p:spPr>
      </p:sp>
      <p:sp>
        <p:nvSpPr>
          <p:cNvPr id="8" name="Text 6"/>
          <p:cNvSpPr/>
          <p:nvPr/>
        </p:nvSpPr>
        <p:spPr>
          <a:xfrm>
            <a:off x="11137392" y="29260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548640" y="290779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להבין ברמה גבוהה מהו מודל שפה (LLM), ואיך הוא “כותב” קוד.</a:t>
            </a:r>
            <a:endParaRPr lang="en-US" sz="1700" dirty="0"/>
          </a:p>
        </p:txBody>
      </p:sp>
      <p:sp>
        <p:nvSpPr>
          <p:cNvPr id="10" name="Shape 8"/>
          <p:cNvSpPr/>
          <p:nvPr/>
        </p:nvSpPr>
        <p:spPr>
          <a:xfrm>
            <a:off x="11137392" y="3977640"/>
            <a:ext cx="502920" cy="502920"/>
          </a:xfrm>
          <a:prstGeom prst="ellipse">
            <a:avLst/>
          </a:prstGeom>
          <a:solidFill>
            <a:srgbClr val="0E9AA7"/>
          </a:solidFill>
          <a:ln/>
        </p:spPr>
      </p:sp>
      <p:sp>
        <p:nvSpPr>
          <p:cNvPr id="11" name="Text 9"/>
          <p:cNvSpPr/>
          <p:nvPr/>
        </p:nvSpPr>
        <p:spPr>
          <a:xfrm>
            <a:off x="11137392" y="397764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548640" y="395935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להכיר את ההבטחות מול המגבלות של תכנות מבוסס-AI.</a:t>
            </a:r>
            <a:endParaRPr lang="en-US" sz="1700" dirty="0"/>
          </a:p>
        </p:txBody>
      </p:sp>
      <p:sp>
        <p:nvSpPr>
          <p:cNvPr id="13" name="Shape 11"/>
          <p:cNvSpPr/>
          <p:nvPr/>
        </p:nvSpPr>
        <p:spPr>
          <a:xfrm>
            <a:off x="11137392" y="5029200"/>
            <a:ext cx="502920" cy="502920"/>
          </a:xfrm>
          <a:prstGeom prst="ellipse">
            <a:avLst/>
          </a:prstGeom>
          <a:solidFill>
            <a:srgbClr val="0E9AA7"/>
          </a:solidFill>
          <a:ln/>
        </p:spPr>
      </p:sp>
      <p:sp>
        <p:nvSpPr>
          <p:cNvPr id="14" name="Text 12"/>
          <p:cNvSpPr/>
          <p:nvPr/>
        </p:nvSpPr>
        <p:spPr>
          <a:xfrm>
            <a:off x="11137392" y="502920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548640" y="501091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להפנים את עקרון-העל: “מתכנת ג’וניור מוכשר” — חובה סקירה אנושית.</a:t>
            </a:r>
            <a:endParaRPr lang="en-US" sz="1700" dirty="0"/>
          </a:p>
        </p:txBody>
      </p:sp>
      <p:sp>
        <p:nvSpPr>
          <p:cNvPr id="16" name="Text 1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02 / 27</a:t>
            </a:r>
            <a:endParaRPr lang="en-US" sz="950" dirty="0"/>
          </a:p>
        </p:txBody>
      </p:sp>
      <p:sp>
        <p:nvSpPr>
          <p:cNvPr id="17" name="Text 1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מוטיבציה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עד לא מזמן — כתבנו כל שורה בעצמנו</a:t>
            </a:r>
            <a:endParaRPr lang="en-US" sz="3300" dirty="0"/>
          </a:p>
        </p:txBody>
      </p:sp>
      <p:sp>
        <p:nvSpPr>
          <p:cNvPr id="4" name="Shape 2"/>
          <p:cNvSpPr/>
          <p:nvPr/>
        </p:nvSpPr>
        <p:spPr>
          <a:xfrm>
            <a:off x="6277356" y="1783080"/>
            <a:ext cx="5362956" cy="2286000"/>
          </a:xfrm>
          <a:prstGeom prst="roundRect">
            <a:avLst>
              <a:gd name="adj" fmla="val 3600"/>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84248"/>
            <a:ext cx="4814316" cy="36576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איך זה עבד</a:t>
            </a:r>
            <a:endParaRPr lang="en-US" sz="1600" dirty="0"/>
          </a:p>
        </p:txBody>
      </p:sp>
      <p:sp>
        <p:nvSpPr>
          <p:cNvPr id="6" name="Text 4"/>
          <p:cNvSpPr/>
          <p:nvPr/>
        </p:nvSpPr>
        <p:spPr>
          <a:xfrm>
            <a:off x="6551676" y="2423160"/>
            <a:ext cx="4814316" cy="1463040"/>
          </a:xfrm>
          <a:prstGeom prst="rect">
            <a:avLst/>
          </a:prstGeom>
          <a:noFill/>
          <a:ln/>
        </p:spPr>
        <p:txBody>
          <a:bodyPr wrap="square" rtlCol="0" anchor="t"/>
          <a:lstStyle/>
          <a:p>
            <a:pPr rtl="1" algn="r" indent="0" marL="0">
              <a:lnSpc>
                <a:spcPct val="125000"/>
              </a:lnSpc>
              <a:buNone/>
            </a:pPr>
            <a:r>
              <a:rPr lang="en-US" sz="1450" dirty="0">
                <a:solidFill>
                  <a:srgbClr val="222232"/>
                </a:solidFill>
                <a:latin typeface="Arial" pitchFamily="34" charset="0"/>
                <a:ea typeface="Arial" pitchFamily="34" charset="-122"/>
                <a:cs typeface="Arial" pitchFamily="34" charset="-120"/>
              </a:rPr>
              <a:t>•  לזכור תחביר מדויק ולחפש בתיעוד</a:t>
            </a:r>
            <a:endParaRPr lang="en-US" sz="1450" dirty="0"/>
          </a:p>
          <a:p>
            <a:pPr rtl="1" algn="r" indent="0" marL="0">
              <a:lnSpc>
                <a:spcPct val="125000"/>
              </a:lnSpc>
              <a:buNone/>
            </a:pPr>
            <a:r>
              <a:rPr lang="en-US" sz="1450" dirty="0">
                <a:solidFill>
                  <a:srgbClr val="222232"/>
                </a:solidFill>
                <a:latin typeface="Arial" pitchFamily="34" charset="0"/>
                <a:ea typeface="Arial" pitchFamily="34" charset="-122"/>
                <a:cs typeface="Arial" pitchFamily="34" charset="-120"/>
              </a:rPr>
              <a:t>•  לכתוב כל שורת קוד ידנית</a:t>
            </a:r>
            <a:endParaRPr lang="en-US" sz="1450" dirty="0"/>
          </a:p>
          <a:p>
            <a:pPr rtl="1" algn="r" indent="0" marL="0">
              <a:lnSpc>
                <a:spcPct val="125000"/>
              </a:lnSpc>
              <a:buNone/>
            </a:pPr>
            <a:r>
              <a:rPr lang="en-US" sz="1450" dirty="0">
                <a:solidFill>
                  <a:srgbClr val="222232"/>
                </a:solidFill>
                <a:latin typeface="Arial" pitchFamily="34" charset="0"/>
                <a:ea typeface="Arial" pitchFamily="34" charset="-122"/>
                <a:cs typeface="Arial" pitchFamily="34" charset="-120"/>
              </a:rPr>
              <a:t>•  טעות פסיק אחת — והקוד לא רץ</a:t>
            </a:r>
            <a:endParaRPr lang="en-US" sz="1450" dirty="0"/>
          </a:p>
          <a:p>
            <a:pPr rtl="1" algn="r" indent="0" marL="0">
              <a:lnSpc>
                <a:spcPct val="125000"/>
              </a:lnSpc>
              <a:buNone/>
            </a:pPr>
            <a:r>
              <a:rPr lang="en-US" sz="1450" dirty="0">
                <a:solidFill>
                  <a:srgbClr val="222232"/>
                </a:solidFill>
                <a:latin typeface="Arial" pitchFamily="34" charset="0"/>
                <a:ea typeface="Arial" pitchFamily="34" charset="-122"/>
                <a:cs typeface="Arial" pitchFamily="34" charset="-120"/>
              </a:rPr>
              <a:t>•  איטי, ודורש שנים של ניסיון</a:t>
            </a:r>
            <a:endParaRPr lang="en-US" sz="1450" dirty="0"/>
          </a:p>
        </p:txBody>
      </p:sp>
      <p:sp>
        <p:nvSpPr>
          <p:cNvPr id="7" name="Shape 5"/>
          <p:cNvSpPr/>
          <p:nvPr/>
        </p:nvSpPr>
        <p:spPr>
          <a:xfrm>
            <a:off x="548640" y="1783080"/>
            <a:ext cx="5362956" cy="2286000"/>
          </a:xfrm>
          <a:prstGeom prst="roundRect">
            <a:avLst>
              <a:gd name="adj" fmla="val 4000"/>
            </a:avLst>
          </a:prstGeom>
          <a:solidFill>
            <a:srgbClr val="3B3B98"/>
          </a:solidFill>
          <a:ln/>
          <a:effectLst>
            <a:outerShdw sx="100000" sy="100000" kx="0" ky="0" algn="bl" rotWithShape="0" blurRad="76200" dist="25400" dir="5400000">
              <a:srgbClr val="999999">
                <a:alpha val="28000"/>
              </a:srgbClr>
            </a:outerShdw>
          </a:effectLst>
        </p:spPr>
      </p:sp>
      <p:sp>
        <p:nvSpPr>
          <p:cNvPr id="8" name="Text 6"/>
          <p:cNvSpPr/>
          <p:nvPr/>
        </p:nvSpPr>
        <p:spPr>
          <a:xfrm>
            <a:off x="868680" y="1965960"/>
            <a:ext cx="4722876" cy="192024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מה אם היינו יכולים פשוט להסביר בשפה רגילה מה אנחנו רוצים — והמחשב היה כותב את הקוד?</a:t>
            </a:r>
            <a:endParaRPr lang="en-US" sz="1800" dirty="0"/>
          </a:p>
        </p:txBody>
      </p:sp>
      <p:sp>
        <p:nvSpPr>
          <p:cNvPr id="9" name="Text 7"/>
          <p:cNvSpPr/>
          <p:nvPr/>
        </p:nvSpPr>
        <p:spPr>
          <a:xfrm>
            <a:off x="548640" y="4343400"/>
            <a:ext cx="11091672" cy="457200"/>
          </a:xfrm>
          <a:prstGeom prst="rect">
            <a:avLst/>
          </a:prstGeom>
          <a:noFill/>
          <a:ln/>
        </p:spPr>
        <p:txBody>
          <a:bodyPr wrap="square" rtlCol="0" anchor="t"/>
          <a:lstStyle/>
          <a:p>
            <a:pPr rtl="1" algn="r" indent="0" marL="0">
              <a:buNone/>
            </a:pPr>
            <a:r>
              <a:rPr lang="en-US" sz="1500" i="1" dirty="0">
                <a:solidFill>
                  <a:srgbClr val="6B6B80"/>
                </a:solidFill>
                <a:latin typeface="Arial" pitchFamily="34" charset="0"/>
                <a:ea typeface="Arial" pitchFamily="34" charset="-122"/>
                <a:cs typeface="Arial" pitchFamily="34" charset="-120"/>
              </a:rPr>
              <a:t>זו בדיוק ההבטחה של Vibe Coding. בואו נבין מה זה — ומה המחיר.</a:t>
            </a:r>
            <a:endParaRPr lang="en-US" sz="1500" dirty="0"/>
          </a:p>
        </p:txBody>
      </p:sp>
      <p:sp>
        <p:nvSpPr>
          <p:cNvPr id="10" name="Text 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03 / 27</a:t>
            </a:r>
            <a:endParaRPr lang="en-US" sz="950" dirty="0"/>
          </a:p>
        </p:txBody>
      </p:sp>
      <p:sp>
        <p:nvSpPr>
          <p:cNvPr id="11" name="Text 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הגדרה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מהו Vibe Coding?</a:t>
            </a:r>
            <a:endParaRPr lang="en-US" sz="3300" dirty="0"/>
          </a:p>
        </p:txBody>
      </p:sp>
      <p:sp>
        <p:nvSpPr>
          <p:cNvPr id="4" name="Shape 2"/>
          <p:cNvSpPr/>
          <p:nvPr/>
        </p:nvSpPr>
        <p:spPr>
          <a:xfrm>
            <a:off x="548640" y="1828800"/>
            <a:ext cx="11091672" cy="1737360"/>
          </a:xfrm>
          <a:prstGeom prst="roundRect">
            <a:avLst>
              <a:gd name="adj" fmla="val 5263"/>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2011680"/>
            <a:ext cx="10451592" cy="1371600"/>
          </a:xfrm>
          <a:prstGeom prst="rect">
            <a:avLst/>
          </a:prstGeom>
          <a:noFill/>
          <a:ln/>
        </p:spPr>
        <p:txBody>
          <a:bodyPr wrap="square" rtlCol="0" anchor="ctr"/>
          <a:lstStyle/>
          <a:p>
            <a:pPr rtl="1" algn="r" indent="0" marL="0">
              <a:buNone/>
            </a:pPr>
            <a:r>
              <a:rPr lang="en-US" sz="2100" b="1" dirty="0">
                <a:solidFill>
                  <a:srgbClr val="FFFFFF"/>
                </a:solidFill>
                <a:latin typeface="Arial" pitchFamily="34" charset="0"/>
                <a:ea typeface="Arial" pitchFamily="34" charset="-122"/>
                <a:cs typeface="Arial" pitchFamily="34" charset="-120"/>
              </a:rPr>
              <a:t>Vibe Coding — סגנון עבודה שבו מתארים בשפה טבעית מה רוצים, וכלי בינה מלאכותית כותב, בודק ומתקן את הקוד. המתכנת מכוון ומאשר, במקום להקליד כל שורה.</a:t>
            </a:r>
            <a:endParaRPr lang="en-US" sz="2100" dirty="0"/>
          </a:p>
        </p:txBody>
      </p:sp>
      <p:sp>
        <p:nvSpPr>
          <p:cNvPr id="6" name="Text 4"/>
          <p:cNvSpPr/>
          <p:nvPr/>
        </p:nvSpPr>
        <p:spPr>
          <a:xfrm>
            <a:off x="548640" y="379476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המונח נטבע ע"י אנדריי קרפאטי (Andrej Karpathy) ב-2025.</a:t>
            </a:r>
            <a:endParaRPr lang="en-US" sz="1500" dirty="0"/>
          </a:p>
        </p:txBody>
      </p:sp>
      <p:sp>
        <p:nvSpPr>
          <p:cNvPr id="7" name="Shape 5"/>
          <p:cNvSpPr/>
          <p:nvPr/>
        </p:nvSpPr>
        <p:spPr>
          <a:xfrm>
            <a:off x="548640" y="4297680"/>
            <a:ext cx="11091672" cy="1234440"/>
          </a:xfrm>
          <a:prstGeom prst="roundRect">
            <a:avLst>
              <a:gd name="adj" fmla="val 6667"/>
            </a:avLst>
          </a:prstGeom>
          <a:solidFill>
            <a:srgbClr val="F2F3FA"/>
          </a:solidFill>
          <a:ln/>
          <a:effectLst>
            <a:outerShdw sx="100000" sy="100000" kx="0" ky="0" algn="bl" rotWithShape="0" blurRad="76200" dist="25400" dir="5400000">
              <a:srgbClr val="999999">
                <a:alpha val="28000"/>
              </a:srgbClr>
            </a:outerShdw>
          </a:effectLst>
        </p:spPr>
      </p:sp>
      <p:sp>
        <p:nvSpPr>
          <p:cNvPr id="8" name="Text 6"/>
          <p:cNvSpPr/>
          <p:nvPr/>
        </p:nvSpPr>
        <p:spPr>
          <a:xfrm>
            <a:off x="822960" y="4434840"/>
            <a:ext cx="10543032" cy="365760"/>
          </a:xfrm>
          <a:prstGeom prst="rect">
            <a:avLst/>
          </a:prstGeom>
          <a:noFill/>
          <a:ln/>
        </p:spPr>
        <p:txBody>
          <a:bodyPr wrap="square" rtlCol="0" anchor="t"/>
          <a:lstStyle/>
          <a:p>
            <a:pPr rtl="1" algn="r" indent="0" marL="0">
              <a:buNone/>
            </a:pPr>
            <a:r>
              <a:rPr lang="en-US" sz="1500" b="1" dirty="0">
                <a:solidFill>
                  <a:srgbClr val="0E9AA7"/>
                </a:solidFill>
                <a:latin typeface="Arial" pitchFamily="34" charset="0"/>
                <a:ea typeface="Arial" pitchFamily="34" charset="-122"/>
                <a:cs typeface="Arial" pitchFamily="34" charset="-120"/>
              </a:rPr>
              <a:t>למה “Vibe”?</a:t>
            </a:r>
            <a:endParaRPr lang="en-US" sz="1500" dirty="0"/>
          </a:p>
        </p:txBody>
      </p:sp>
      <p:sp>
        <p:nvSpPr>
          <p:cNvPr id="9" name="Text 7"/>
          <p:cNvSpPr/>
          <p:nvPr/>
        </p:nvSpPr>
        <p:spPr>
          <a:xfrm>
            <a:off x="822960" y="4800600"/>
            <a:ext cx="10543032" cy="640080"/>
          </a:xfrm>
          <a:prstGeom prst="rect">
            <a:avLst/>
          </a:prstGeom>
          <a:noFill/>
          <a:ln/>
        </p:spPr>
        <p:txBody>
          <a:bodyPr wrap="square" rtlCol="0" anchor="t"/>
          <a:lstStyle/>
          <a:p>
            <a:pPr rtl="1" algn="r" indent="0" marL="0">
              <a:buNone/>
            </a:pPr>
            <a:r>
              <a:rPr lang="en-US" sz="1450" dirty="0">
                <a:solidFill>
                  <a:srgbClr val="222232"/>
                </a:solidFill>
                <a:latin typeface="Arial" pitchFamily="34" charset="0"/>
                <a:ea typeface="Arial" pitchFamily="34" charset="-122"/>
                <a:cs typeface="Arial" pitchFamily="34" charset="-120"/>
              </a:rPr>
              <a:t>“Vibe” = התחושה והכוונה הכללית שאתם מעבירים לכלי — לא ההוראות המדויקות. אתם נותנים כיוון; הכלי ממלא את הפרטים.</a:t>
            </a:r>
            <a:endParaRPr lang="en-US" sz="1450" dirty="0"/>
          </a:p>
        </p:txBody>
      </p:sp>
      <p:sp>
        <p:nvSpPr>
          <p:cNvPr id="10" name="Text 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04 / 27</a:t>
            </a:r>
            <a:endParaRPr lang="en-US" sz="950" dirty="0"/>
          </a:p>
        </p:txBody>
      </p:sp>
      <p:sp>
        <p:nvSpPr>
          <p:cNvPr id="11" name="Text 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מה השתנה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מ-2025: מ“כותב כל שורה” ל“מנהל תהליך”</a:t>
            </a:r>
            <a:endParaRPr lang="en-US" sz="3300" dirty="0"/>
          </a:p>
        </p:txBody>
      </p:sp>
      <p:sp>
        <p:nvSpPr>
          <p:cNvPr id="4" name="Shape 2"/>
          <p:cNvSpPr/>
          <p:nvPr/>
        </p:nvSpPr>
        <p:spPr>
          <a:xfrm>
            <a:off x="7342632" y="1965960"/>
            <a:ext cx="4297680" cy="2011680"/>
          </a:xfrm>
          <a:prstGeom prst="roundRect">
            <a:avLst>
              <a:gd name="adj" fmla="val 4091"/>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7616952" y="2148840"/>
            <a:ext cx="3749040" cy="365760"/>
          </a:xfrm>
          <a:prstGeom prst="rect">
            <a:avLst/>
          </a:prstGeom>
          <a:noFill/>
          <a:ln/>
        </p:spPr>
        <p:txBody>
          <a:bodyPr wrap="square" rtlCol="0" anchor="t"/>
          <a:lstStyle/>
          <a:p>
            <a:pPr rtl="1" algn="r" indent="0" marL="0">
              <a:buNone/>
            </a:pPr>
            <a:r>
              <a:rPr lang="en-US" sz="1500" b="1" dirty="0">
                <a:solidFill>
                  <a:srgbClr val="6B6B80"/>
                </a:solidFill>
                <a:latin typeface="Arial" pitchFamily="34" charset="0"/>
                <a:ea typeface="Arial" pitchFamily="34" charset="-122"/>
                <a:cs typeface="Arial" pitchFamily="34" charset="-120"/>
              </a:rPr>
              <a:t>לפני</a:t>
            </a:r>
            <a:endParaRPr lang="en-US" sz="1500" dirty="0"/>
          </a:p>
        </p:txBody>
      </p:sp>
      <p:sp>
        <p:nvSpPr>
          <p:cNvPr id="6" name="Text 4"/>
          <p:cNvSpPr/>
          <p:nvPr/>
        </p:nvSpPr>
        <p:spPr>
          <a:xfrm>
            <a:off x="7616952" y="2651760"/>
            <a:ext cx="3749040" cy="1097280"/>
          </a:xfrm>
          <a:prstGeom prst="rect">
            <a:avLst/>
          </a:prstGeom>
          <a:noFill/>
          <a:ln/>
        </p:spPr>
        <p:txBody>
          <a:bodyPr wrap="square" rtlCol="0" anchor="t"/>
          <a:lstStyle/>
          <a:p>
            <a:pPr rtl="1" algn="ctr" indent="0" marL="0">
              <a:buNone/>
            </a:pPr>
            <a:r>
              <a:rPr lang="en-US" sz="2000" b="1" dirty="0">
                <a:solidFill>
                  <a:srgbClr val="222232"/>
                </a:solidFill>
                <a:latin typeface="Arial" pitchFamily="34" charset="0"/>
                <a:ea typeface="Arial" pitchFamily="34" charset="-122"/>
                <a:cs typeface="Arial" pitchFamily="34" charset="-120"/>
              </a:rPr>
              <a:t>המתכנת כותב</a:t>
            </a:r>
            <a:endParaRPr lang="en-US" sz="2000" dirty="0"/>
          </a:p>
          <a:p>
            <a:pPr rtl="1" algn="ctr" indent="0" marL="0">
              <a:buNone/>
            </a:pPr>
            <a:r>
              <a:rPr lang="en-US" sz="2000" b="1" dirty="0">
                <a:solidFill>
                  <a:srgbClr val="222232"/>
                </a:solidFill>
                <a:latin typeface="Arial" pitchFamily="34" charset="0"/>
                <a:ea typeface="Arial" pitchFamily="34" charset="-122"/>
                <a:cs typeface="Arial" pitchFamily="34" charset="-120"/>
              </a:rPr>
              <a:t>כל שורת קוד בעצמו</a:t>
            </a:r>
            <a:endParaRPr lang="en-US" sz="2000" dirty="0"/>
          </a:p>
        </p:txBody>
      </p:sp>
      <p:sp>
        <p:nvSpPr>
          <p:cNvPr id="7" name="Shape 5"/>
          <p:cNvSpPr/>
          <p:nvPr/>
        </p:nvSpPr>
        <p:spPr>
          <a:xfrm>
            <a:off x="548640" y="1965960"/>
            <a:ext cx="4297680" cy="2011680"/>
          </a:xfrm>
          <a:prstGeom prst="roundRect">
            <a:avLst>
              <a:gd name="adj" fmla="val 4091"/>
            </a:avLst>
          </a:prstGeom>
          <a:solidFill>
            <a:srgbClr val="E7F5F6"/>
          </a:solidFill>
          <a:ln/>
          <a:effectLst>
            <a:outerShdw sx="100000" sy="100000" kx="0" ky="0" algn="bl" rotWithShape="0" blurRad="76200" dist="25400" dir="5400000">
              <a:srgbClr val="999999">
                <a:alpha val="28000"/>
              </a:srgbClr>
            </a:outerShdw>
          </a:effectLst>
        </p:spPr>
      </p:sp>
      <p:sp>
        <p:nvSpPr>
          <p:cNvPr id="8" name="Text 6"/>
          <p:cNvSpPr/>
          <p:nvPr/>
        </p:nvSpPr>
        <p:spPr>
          <a:xfrm>
            <a:off x="822960" y="2148840"/>
            <a:ext cx="3749040" cy="365760"/>
          </a:xfrm>
          <a:prstGeom prst="rect">
            <a:avLst/>
          </a:prstGeom>
          <a:noFill/>
          <a:ln/>
        </p:spPr>
        <p:txBody>
          <a:bodyPr wrap="square" rtlCol="0" anchor="t"/>
          <a:lstStyle/>
          <a:p>
            <a:pPr rtl="1" algn="r" indent="0" marL="0">
              <a:buNone/>
            </a:pPr>
            <a:r>
              <a:rPr lang="en-US" sz="1500" b="1" dirty="0">
                <a:solidFill>
                  <a:srgbClr val="0E9AA7"/>
                </a:solidFill>
                <a:latin typeface="Arial" pitchFamily="34" charset="0"/>
                <a:ea typeface="Arial" pitchFamily="34" charset="-122"/>
                <a:cs typeface="Arial" pitchFamily="34" charset="-120"/>
              </a:rPr>
              <a:t>אחרי</a:t>
            </a:r>
            <a:endParaRPr lang="en-US" sz="1500" dirty="0"/>
          </a:p>
        </p:txBody>
      </p:sp>
      <p:sp>
        <p:nvSpPr>
          <p:cNvPr id="9" name="Text 7"/>
          <p:cNvSpPr/>
          <p:nvPr/>
        </p:nvSpPr>
        <p:spPr>
          <a:xfrm>
            <a:off x="822960" y="2606040"/>
            <a:ext cx="3749040" cy="1188720"/>
          </a:xfrm>
          <a:prstGeom prst="rect">
            <a:avLst/>
          </a:prstGeom>
          <a:noFill/>
          <a:ln/>
        </p:spPr>
        <p:txBody>
          <a:bodyPr wrap="square" rtlCol="0" anchor="t"/>
          <a:lstStyle/>
          <a:p>
            <a:pPr rtl="1" algn="ctr" indent="0" marL="0">
              <a:buNone/>
            </a:pPr>
            <a:r>
              <a:rPr lang="en-US" sz="1700" b="1" dirty="0">
                <a:solidFill>
                  <a:srgbClr val="222232"/>
                </a:solidFill>
                <a:latin typeface="Arial" pitchFamily="34" charset="0"/>
                <a:ea typeface="Arial" pitchFamily="34" charset="-122"/>
                <a:cs typeface="Arial" pitchFamily="34" charset="-120"/>
              </a:rPr>
              <a:t>המתכנת מגדיר מטרה →</a:t>
            </a:r>
            <a:endParaRPr lang="en-US" sz="1700" dirty="0"/>
          </a:p>
          <a:p>
            <a:pPr rtl="1" algn="ctr" indent="0" marL="0">
              <a:buNone/>
            </a:pPr>
            <a:r>
              <a:rPr lang="en-US" sz="1700" b="1" dirty="0">
                <a:solidFill>
                  <a:srgbClr val="222232"/>
                </a:solidFill>
                <a:latin typeface="Arial" pitchFamily="34" charset="0"/>
                <a:ea typeface="Arial" pitchFamily="34" charset="-122"/>
                <a:cs typeface="Arial" pitchFamily="34" charset="-120"/>
              </a:rPr>
              <a:t>מכוון → בודק → מאשר.</a:t>
            </a:r>
            <a:endParaRPr lang="en-US" sz="1700" dirty="0"/>
          </a:p>
          <a:p>
            <a:pPr rtl="1" algn="ctr" indent="0" marL="0">
              <a:buNone/>
            </a:pPr>
            <a:r>
              <a:rPr lang="en-US" sz="1700" b="1" dirty="0">
                <a:solidFill>
                  <a:srgbClr val="222232"/>
                </a:solidFill>
                <a:latin typeface="Arial" pitchFamily="34" charset="0"/>
                <a:ea typeface="Arial" pitchFamily="34" charset="-122"/>
                <a:cs typeface="Arial" pitchFamily="34" charset="-120"/>
              </a:rPr>
              <a:t>ה-AI כותב את הקוד.</a:t>
            </a:r>
            <a:endParaRPr lang="en-US" sz="1700" dirty="0"/>
          </a:p>
        </p:txBody>
      </p:sp>
      <p:sp>
        <p:nvSpPr>
          <p:cNvPr id="10" name="Shape 8"/>
          <p:cNvSpPr/>
          <p:nvPr/>
        </p:nvSpPr>
        <p:spPr>
          <a:xfrm>
            <a:off x="4983480" y="2971800"/>
            <a:ext cx="2221992" cy="0"/>
          </a:xfrm>
          <a:prstGeom prst="line">
            <a:avLst/>
          </a:prstGeom>
          <a:noFill/>
          <a:ln w="44450">
            <a:solidFill>
              <a:srgbClr val="3B3B98"/>
            </a:solidFill>
            <a:prstDash val="solid"/>
            <a:headEnd type="triangle"/>
          </a:ln>
        </p:spPr>
      </p:sp>
      <p:sp>
        <p:nvSpPr>
          <p:cNvPr id="11" name="Shape 9"/>
          <p:cNvSpPr/>
          <p:nvPr/>
        </p:nvSpPr>
        <p:spPr>
          <a:xfrm>
            <a:off x="548640" y="4251960"/>
            <a:ext cx="11091672" cy="868680"/>
          </a:xfrm>
          <a:prstGeom prst="roundRect">
            <a:avLst>
              <a:gd name="adj" fmla="val 10526"/>
            </a:avLst>
          </a:prstGeom>
          <a:solidFill>
            <a:srgbClr val="1E2761"/>
          </a:solidFill>
          <a:ln/>
          <a:effectLst>
            <a:outerShdw sx="100000" sy="100000" kx="0" ky="0" algn="bl" rotWithShape="0" blurRad="76200" dist="25400" dir="5400000">
              <a:srgbClr val="999999">
                <a:alpha val="28000"/>
              </a:srgbClr>
            </a:outerShdw>
          </a:effectLst>
        </p:spPr>
      </p:sp>
      <p:sp>
        <p:nvSpPr>
          <p:cNvPr id="12" name="Text 10"/>
          <p:cNvSpPr/>
          <p:nvPr/>
        </p:nvSpPr>
        <p:spPr>
          <a:xfrm>
            <a:off x="868680" y="4434840"/>
            <a:ext cx="10451592" cy="50292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המיומנות המרכזית עוברת מ“כתיבה” ל“ניהול, ביקורת ואימות”.</a:t>
            </a:r>
            <a:endParaRPr lang="en-US" sz="1700" dirty="0"/>
          </a:p>
        </p:txBody>
      </p:sp>
      <p:sp>
        <p:nvSpPr>
          <p:cNvPr id="13" name="Text 11"/>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05 / 27</a:t>
            </a:r>
            <a:endParaRPr lang="en-US" sz="950" dirty="0"/>
          </a:p>
        </p:txBody>
      </p:sp>
      <p:sp>
        <p:nvSpPr>
          <p:cNvPr id="14" name="Text 12"/>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פרספקטיבה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איך הגענו לכאן — ציר זמן קצר</a:t>
            </a:r>
            <a:endParaRPr lang="en-US" sz="3300" dirty="0"/>
          </a:p>
        </p:txBody>
      </p:sp>
      <p:sp>
        <p:nvSpPr>
          <p:cNvPr id="4" name="Shape 2"/>
          <p:cNvSpPr/>
          <p:nvPr/>
        </p:nvSpPr>
        <p:spPr>
          <a:xfrm>
            <a:off x="548640" y="2743200"/>
            <a:ext cx="11091672" cy="0"/>
          </a:xfrm>
          <a:prstGeom prst="line">
            <a:avLst/>
          </a:prstGeom>
          <a:noFill/>
          <a:ln w="31750">
            <a:solidFill>
              <a:srgbClr val="C9CEE8"/>
            </a:solidFill>
            <a:prstDash val="solid"/>
          </a:ln>
        </p:spPr>
      </p:sp>
      <p:sp>
        <p:nvSpPr>
          <p:cNvPr id="5" name="Shape 3"/>
          <p:cNvSpPr/>
          <p:nvPr/>
        </p:nvSpPr>
        <p:spPr>
          <a:xfrm>
            <a:off x="10540289" y="2642616"/>
            <a:ext cx="201168" cy="201168"/>
          </a:xfrm>
          <a:prstGeom prst="ellipse">
            <a:avLst/>
          </a:prstGeom>
          <a:solidFill>
            <a:srgbClr val="3B3B98"/>
          </a:solidFill>
          <a:ln/>
        </p:spPr>
      </p:sp>
      <p:sp>
        <p:nvSpPr>
          <p:cNvPr id="6" name="Text 4"/>
          <p:cNvSpPr/>
          <p:nvPr/>
        </p:nvSpPr>
        <p:spPr>
          <a:xfrm>
            <a:off x="9641434" y="2057400"/>
            <a:ext cx="1998878"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~2010s</a:t>
            </a:r>
            <a:endParaRPr lang="en-US" sz="1500" dirty="0"/>
          </a:p>
        </p:txBody>
      </p:sp>
      <p:sp>
        <p:nvSpPr>
          <p:cNvPr id="7" name="Text 5"/>
          <p:cNvSpPr/>
          <p:nvPr/>
        </p:nvSpPr>
        <p:spPr>
          <a:xfrm>
            <a:off x="9641434" y="2999232"/>
            <a:ext cx="1998878" cy="100584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השלמה אוטומטית בסיסית בעורכי קוד</a:t>
            </a:r>
            <a:endParaRPr lang="en-US" sz="1250" dirty="0"/>
          </a:p>
        </p:txBody>
      </p:sp>
      <p:sp>
        <p:nvSpPr>
          <p:cNvPr id="8" name="Shape 6"/>
          <p:cNvSpPr/>
          <p:nvPr/>
        </p:nvSpPr>
        <p:spPr>
          <a:xfrm>
            <a:off x="8267090" y="2642616"/>
            <a:ext cx="201168" cy="201168"/>
          </a:xfrm>
          <a:prstGeom prst="ellipse">
            <a:avLst/>
          </a:prstGeom>
          <a:solidFill>
            <a:srgbClr val="3B3B98"/>
          </a:solidFill>
          <a:ln/>
        </p:spPr>
      </p:sp>
      <p:sp>
        <p:nvSpPr>
          <p:cNvPr id="9" name="Text 7"/>
          <p:cNvSpPr/>
          <p:nvPr/>
        </p:nvSpPr>
        <p:spPr>
          <a:xfrm>
            <a:off x="7368235" y="2057400"/>
            <a:ext cx="1998878"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2021</a:t>
            </a:r>
            <a:endParaRPr lang="en-US" sz="1500" dirty="0"/>
          </a:p>
        </p:txBody>
      </p:sp>
      <p:sp>
        <p:nvSpPr>
          <p:cNvPr id="10" name="Text 8"/>
          <p:cNvSpPr/>
          <p:nvPr/>
        </p:nvSpPr>
        <p:spPr>
          <a:xfrm>
            <a:off x="7368235" y="2999232"/>
            <a:ext cx="1998878" cy="100584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GitHub Copilot — השלמת שורות שלמות ב-IDE</a:t>
            </a:r>
            <a:endParaRPr lang="en-US" sz="1250" dirty="0"/>
          </a:p>
        </p:txBody>
      </p:sp>
      <p:sp>
        <p:nvSpPr>
          <p:cNvPr id="11" name="Shape 9"/>
          <p:cNvSpPr/>
          <p:nvPr/>
        </p:nvSpPr>
        <p:spPr>
          <a:xfrm>
            <a:off x="5993892" y="2642616"/>
            <a:ext cx="201168" cy="201168"/>
          </a:xfrm>
          <a:prstGeom prst="ellipse">
            <a:avLst/>
          </a:prstGeom>
          <a:solidFill>
            <a:srgbClr val="3B3B98"/>
          </a:solidFill>
          <a:ln/>
        </p:spPr>
      </p:sp>
      <p:sp>
        <p:nvSpPr>
          <p:cNvPr id="12" name="Text 10"/>
          <p:cNvSpPr/>
          <p:nvPr/>
        </p:nvSpPr>
        <p:spPr>
          <a:xfrm>
            <a:off x="5095037" y="2057400"/>
            <a:ext cx="1998878"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2022</a:t>
            </a:r>
            <a:endParaRPr lang="en-US" sz="1500" dirty="0"/>
          </a:p>
        </p:txBody>
      </p:sp>
      <p:sp>
        <p:nvSpPr>
          <p:cNvPr id="13" name="Text 11"/>
          <p:cNvSpPr/>
          <p:nvPr/>
        </p:nvSpPr>
        <p:spPr>
          <a:xfrm>
            <a:off x="5095037" y="2999232"/>
            <a:ext cx="1998878" cy="100584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ChatGPT — שיחה בשפה טבעית עם מודל</a:t>
            </a:r>
            <a:endParaRPr lang="en-US" sz="1250" dirty="0"/>
          </a:p>
        </p:txBody>
      </p:sp>
      <p:sp>
        <p:nvSpPr>
          <p:cNvPr id="14" name="Shape 12"/>
          <p:cNvSpPr/>
          <p:nvPr/>
        </p:nvSpPr>
        <p:spPr>
          <a:xfrm>
            <a:off x="3720694" y="2642616"/>
            <a:ext cx="201168" cy="201168"/>
          </a:xfrm>
          <a:prstGeom prst="ellipse">
            <a:avLst/>
          </a:prstGeom>
          <a:solidFill>
            <a:srgbClr val="3B3B98"/>
          </a:solidFill>
          <a:ln/>
        </p:spPr>
      </p:sp>
      <p:sp>
        <p:nvSpPr>
          <p:cNvPr id="15" name="Text 13"/>
          <p:cNvSpPr/>
          <p:nvPr/>
        </p:nvSpPr>
        <p:spPr>
          <a:xfrm>
            <a:off x="2821838" y="2057400"/>
            <a:ext cx="1998878"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2024</a:t>
            </a:r>
            <a:endParaRPr lang="en-US" sz="1500" dirty="0"/>
          </a:p>
        </p:txBody>
      </p:sp>
      <p:sp>
        <p:nvSpPr>
          <p:cNvPr id="16" name="Text 14"/>
          <p:cNvSpPr/>
          <p:nvPr/>
        </p:nvSpPr>
        <p:spPr>
          <a:xfrm>
            <a:off x="2821838" y="2999232"/>
            <a:ext cx="1998878" cy="100584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Agents — כלים שמריצים פקודות ומתקנים לבד</a:t>
            </a:r>
            <a:endParaRPr lang="en-US" sz="1250" dirty="0"/>
          </a:p>
        </p:txBody>
      </p:sp>
      <p:sp>
        <p:nvSpPr>
          <p:cNvPr id="17" name="Shape 15"/>
          <p:cNvSpPr/>
          <p:nvPr/>
        </p:nvSpPr>
        <p:spPr>
          <a:xfrm>
            <a:off x="1447495" y="2642616"/>
            <a:ext cx="201168" cy="201168"/>
          </a:xfrm>
          <a:prstGeom prst="ellipse">
            <a:avLst/>
          </a:prstGeom>
          <a:solidFill>
            <a:srgbClr val="0E9AA7"/>
          </a:solidFill>
          <a:ln/>
        </p:spPr>
      </p:sp>
      <p:sp>
        <p:nvSpPr>
          <p:cNvPr id="18" name="Text 16"/>
          <p:cNvSpPr/>
          <p:nvPr/>
        </p:nvSpPr>
        <p:spPr>
          <a:xfrm>
            <a:off x="548640" y="2057400"/>
            <a:ext cx="1998878" cy="365760"/>
          </a:xfrm>
          <a:prstGeom prst="rect">
            <a:avLst/>
          </a:prstGeom>
          <a:noFill/>
          <a:ln/>
        </p:spPr>
        <p:txBody>
          <a:bodyPr wrap="square" rtlCol="0" anchor="t"/>
          <a:lstStyle/>
          <a:p>
            <a:pPr rtl="1" algn="ctr" indent="0" marL="0">
              <a:buNone/>
            </a:pPr>
            <a:r>
              <a:rPr lang="en-US" sz="1500" b="1" dirty="0">
                <a:solidFill>
                  <a:srgbClr val="0E9AA7"/>
                </a:solidFill>
                <a:latin typeface="Arial" pitchFamily="34" charset="0"/>
                <a:ea typeface="Arial" pitchFamily="34" charset="-122"/>
                <a:cs typeface="Arial" pitchFamily="34" charset="-120"/>
              </a:rPr>
              <a:t>2025</a:t>
            </a:r>
            <a:endParaRPr lang="en-US" sz="1500" dirty="0"/>
          </a:p>
        </p:txBody>
      </p:sp>
      <p:sp>
        <p:nvSpPr>
          <p:cNvPr id="19" name="Text 17"/>
          <p:cNvSpPr/>
          <p:nvPr/>
        </p:nvSpPr>
        <p:spPr>
          <a:xfrm>
            <a:off x="548640" y="2999232"/>
            <a:ext cx="1998878" cy="100584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“Vibe Coding” — המונח נכנס לשיח</a:t>
            </a:r>
            <a:endParaRPr lang="en-US" sz="1250" dirty="0"/>
          </a:p>
        </p:txBody>
      </p:sp>
      <p:sp>
        <p:nvSpPr>
          <p:cNvPr id="20" name="Shape 18"/>
          <p:cNvSpPr/>
          <p:nvPr/>
        </p:nvSpPr>
        <p:spPr>
          <a:xfrm>
            <a:off x="548640" y="4526280"/>
            <a:ext cx="11091672" cy="960120"/>
          </a:xfrm>
          <a:prstGeom prst="roundRect">
            <a:avLst>
              <a:gd name="adj" fmla="val 9524"/>
            </a:avLst>
          </a:prstGeom>
          <a:solidFill>
            <a:srgbClr val="1E2761"/>
          </a:solidFill>
          <a:ln/>
          <a:effectLst>
            <a:outerShdw sx="100000" sy="100000" kx="0" ky="0" algn="bl" rotWithShape="0" blurRad="76200" dist="25400" dir="5400000">
              <a:srgbClr val="999999">
                <a:alpha val="28000"/>
              </a:srgbClr>
            </a:outerShdw>
          </a:effectLst>
        </p:spPr>
      </p:sp>
      <p:sp>
        <p:nvSpPr>
          <p:cNvPr id="21" name="Text 19"/>
          <p:cNvSpPr/>
          <p:nvPr/>
        </p:nvSpPr>
        <p:spPr>
          <a:xfrm>
            <a:off x="868680" y="4709160"/>
            <a:ext cx="10451592" cy="594360"/>
          </a:xfrm>
          <a:prstGeom prst="rect">
            <a:avLst/>
          </a:prstGeom>
          <a:noFill/>
          <a:ln/>
        </p:spPr>
        <p:txBody>
          <a:bodyPr wrap="square" rtlCol="0" anchor="ctr"/>
          <a:lstStyle/>
          <a:p>
            <a:pPr rtl="1" algn="r" indent="0" marL="0">
              <a:buNone/>
            </a:pPr>
            <a:r>
              <a:rPr lang="en-US" sz="1650" b="1" dirty="0">
                <a:solidFill>
                  <a:srgbClr val="FFFFFF"/>
                </a:solidFill>
                <a:latin typeface="Arial" pitchFamily="34" charset="0"/>
                <a:ea typeface="Arial" pitchFamily="34" charset="-122"/>
                <a:cs typeface="Arial" pitchFamily="34" charset="-120"/>
              </a:rPr>
              <a:t>התחום זז מהר — כלי שנלמד היום עשוי להשתנות עד הסמסטר הבא. לכן נלמד Workflow, לא כלי ספציפי.</a:t>
            </a:r>
            <a:endParaRPr lang="en-US" sz="1650" dirty="0"/>
          </a:p>
        </p:txBody>
      </p:sp>
      <p:sp>
        <p:nvSpPr>
          <p:cNvPr id="22" name="Text 2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06 / 27</a:t>
            </a:r>
            <a:endParaRPr lang="en-US" sz="950" dirty="0"/>
          </a:p>
        </p:txBody>
      </p:sp>
      <p:sp>
        <p:nvSpPr>
          <p:cNvPr id="23" name="Text 2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דוגמה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מפרומפט לקוד — דוגמה קונקרטית</a:t>
            </a:r>
            <a:endParaRPr lang="en-US" sz="3300" dirty="0"/>
          </a:p>
        </p:txBody>
      </p:sp>
      <p:sp>
        <p:nvSpPr>
          <p:cNvPr id="4" name="Shape 2"/>
          <p:cNvSpPr/>
          <p:nvPr/>
        </p:nvSpPr>
        <p:spPr>
          <a:xfrm>
            <a:off x="6277356" y="1783080"/>
            <a:ext cx="5362956" cy="2331720"/>
          </a:xfrm>
          <a:prstGeom prst="roundRect">
            <a:avLst>
              <a:gd name="adj" fmla="val 3529"/>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65960"/>
            <a:ext cx="4814316" cy="36576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מה שאני מבקש (שפה טבעית)</a:t>
            </a:r>
            <a:endParaRPr lang="en-US" sz="1400" dirty="0"/>
          </a:p>
        </p:txBody>
      </p:sp>
      <p:sp>
        <p:nvSpPr>
          <p:cNvPr id="6" name="Text 4"/>
          <p:cNvSpPr/>
          <p:nvPr/>
        </p:nvSpPr>
        <p:spPr>
          <a:xfrm>
            <a:off x="6551676" y="2468880"/>
            <a:ext cx="4814316" cy="1463040"/>
          </a:xfrm>
          <a:prstGeom prst="rect">
            <a:avLst/>
          </a:prstGeom>
          <a:noFill/>
          <a:ln/>
        </p:spPr>
        <p:txBody>
          <a:bodyPr wrap="square" rtlCol="0" anchor="t"/>
          <a:lstStyle/>
          <a:p>
            <a:pPr rtl="1" algn="r" indent="0" marL="0">
              <a:buNone/>
            </a:pPr>
            <a:r>
              <a:rPr lang="en-US" sz="1700" dirty="0">
                <a:solidFill>
                  <a:srgbClr val="222232"/>
                </a:solidFill>
                <a:latin typeface="Arial" pitchFamily="34" charset="0"/>
                <a:ea typeface="Arial" pitchFamily="34" charset="-122"/>
                <a:cs typeface="Arial" pitchFamily="34" charset="-120"/>
              </a:rPr>
              <a:t>“כתוב לי פונקציה בפייתון שמקבלת רשימת מספרים ומחזירה את הממוצע.”</a:t>
            </a:r>
            <a:endParaRPr lang="en-US" sz="1700" dirty="0"/>
          </a:p>
        </p:txBody>
      </p:sp>
      <p:sp>
        <p:nvSpPr>
          <p:cNvPr id="7" name="Shape 5"/>
          <p:cNvSpPr/>
          <p:nvPr/>
        </p:nvSpPr>
        <p:spPr>
          <a:xfrm>
            <a:off x="548640" y="1783080"/>
            <a:ext cx="5362956" cy="2331720"/>
          </a:xfrm>
          <a:prstGeom prst="roundRect">
            <a:avLst>
              <a:gd name="adj" fmla="val 3529"/>
            </a:avLst>
          </a:prstGeom>
          <a:solidFill>
            <a:srgbClr val="1B1B2B"/>
          </a:solidFill>
          <a:ln/>
          <a:effectLst>
            <a:outerShdw sx="100000" sy="100000" kx="0" ky="0" algn="bl" rotWithShape="0" blurRad="76200" dist="25400" dir="5400000">
              <a:srgbClr val="999999">
                <a:alpha val="28000"/>
              </a:srgbClr>
            </a:outerShdw>
          </a:effectLst>
        </p:spPr>
      </p:sp>
      <p:sp>
        <p:nvSpPr>
          <p:cNvPr id="8" name="Text 6"/>
          <p:cNvSpPr/>
          <p:nvPr/>
        </p:nvSpPr>
        <p:spPr>
          <a:xfrm>
            <a:off x="822960" y="1965960"/>
            <a:ext cx="4814316" cy="365760"/>
          </a:xfrm>
          <a:prstGeom prst="rect">
            <a:avLst/>
          </a:prstGeom>
          <a:noFill/>
          <a:ln/>
        </p:spPr>
        <p:txBody>
          <a:bodyPr wrap="square" rtlCol="0" anchor="ctr"/>
          <a:lstStyle/>
          <a:p>
            <a:pPr rtl="1" algn="r" indent="0" marL="0">
              <a:buNone/>
            </a:pPr>
            <a:r>
              <a:rPr lang="en-US" sz="1400" b="1" dirty="0">
                <a:solidFill>
                  <a:srgbClr val="0E9AA7"/>
                </a:solidFill>
                <a:latin typeface="Arial" pitchFamily="34" charset="0"/>
                <a:ea typeface="Arial" pitchFamily="34" charset="-122"/>
                <a:cs typeface="Arial" pitchFamily="34" charset="-120"/>
              </a:rPr>
              <a:t>מה שה-AI מייצר</a:t>
            </a:r>
            <a:endParaRPr lang="en-US" sz="1400" dirty="0"/>
          </a:p>
        </p:txBody>
      </p:sp>
      <p:sp>
        <p:nvSpPr>
          <p:cNvPr id="9" name="Text 7"/>
          <p:cNvSpPr/>
          <p:nvPr/>
        </p:nvSpPr>
        <p:spPr>
          <a:xfrm>
            <a:off x="822960" y="2560320"/>
            <a:ext cx="4814316" cy="1188720"/>
          </a:xfrm>
          <a:prstGeom prst="rect">
            <a:avLst/>
          </a:prstGeom>
          <a:noFill/>
          <a:ln/>
        </p:spPr>
        <p:txBody>
          <a:bodyPr wrap="square" rtlCol="0" anchor="t"/>
          <a:lstStyle/>
          <a:p>
            <a:pPr algn="l" indent="0" marL="0">
              <a:buNone/>
            </a:pPr>
            <a:r>
              <a:rPr lang="en-US" sz="1500" dirty="0">
                <a:solidFill>
                  <a:srgbClr val="E8E8F0"/>
                </a:solidFill>
                <a:latin typeface="Courier New" pitchFamily="34" charset="0"/>
                <a:ea typeface="Courier New" pitchFamily="34" charset="-122"/>
                <a:cs typeface="Courier New" pitchFamily="34" charset="-120"/>
              </a:rPr>
              <a:t>def average(numbers):</a:t>
            </a:r>
            <a:endParaRPr lang="en-US" sz="1500" dirty="0"/>
          </a:p>
          <a:p>
            <a:pPr algn="l" indent="0" marL="0">
              <a:buNone/>
            </a:pPr>
            <a:r>
              <a:rPr lang="en-US" sz="1500" dirty="0">
                <a:solidFill>
                  <a:srgbClr val="E8E8F0"/>
                </a:solidFill>
                <a:latin typeface="Courier New" pitchFamily="34" charset="0"/>
                <a:ea typeface="Courier New" pitchFamily="34" charset="-122"/>
                <a:cs typeface="Courier New" pitchFamily="34" charset="-120"/>
              </a:rPr>
              <a:t>    return sum(numbers) / len(numbers)</a:t>
            </a:r>
            <a:endParaRPr lang="en-US" sz="1500" dirty="0"/>
          </a:p>
        </p:txBody>
      </p:sp>
      <p:sp>
        <p:nvSpPr>
          <p:cNvPr id="10" name="Shape 8"/>
          <p:cNvSpPr/>
          <p:nvPr/>
        </p:nvSpPr>
        <p:spPr>
          <a:xfrm>
            <a:off x="548640" y="4297680"/>
            <a:ext cx="11091672" cy="1051560"/>
          </a:xfrm>
          <a:prstGeom prst="roundRect">
            <a:avLst>
              <a:gd name="adj" fmla="val 8696"/>
            </a:avLst>
          </a:prstGeom>
          <a:solidFill>
            <a:srgbClr val="9A6A00"/>
          </a:solidFill>
          <a:ln/>
          <a:effectLst>
            <a:outerShdw sx="100000" sy="100000" kx="0" ky="0" algn="bl" rotWithShape="0" blurRad="76200" dist="25400" dir="5400000">
              <a:srgbClr val="999999">
                <a:alpha val="28000"/>
              </a:srgbClr>
            </a:outerShdw>
          </a:effectLst>
        </p:spPr>
      </p:sp>
      <p:sp>
        <p:nvSpPr>
          <p:cNvPr id="11" name="Text 9"/>
          <p:cNvSpPr/>
          <p:nvPr/>
        </p:nvSpPr>
        <p:spPr>
          <a:xfrm>
            <a:off x="868680" y="4480560"/>
            <a:ext cx="10451592" cy="68580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לא הקלדתי תחביר — תיארתי מטרה. אבל שימו לב: מה קורה אם הרשימה ריקה? (הקוד ייכשל). לזה בדיוק נדרשת ביקורת אנושית.</a:t>
            </a:r>
            <a:endParaRPr lang="en-US" sz="1550" dirty="0"/>
          </a:p>
        </p:txBody>
      </p:sp>
      <p:sp>
        <p:nvSpPr>
          <p:cNvPr id="12" name="Text 1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07 / 27</a:t>
            </a:r>
            <a:endParaRPr lang="en-US" sz="950" dirty="0"/>
          </a:p>
        </p:txBody>
      </p:sp>
      <p:sp>
        <p:nvSpPr>
          <p:cNvPr id="13" name="Text 1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המשך הדוגמה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הקוד המתוקן — וחשיבה על מקרי קצה</a:t>
            </a:r>
            <a:endParaRPr lang="en-US" sz="3300" dirty="0"/>
          </a:p>
        </p:txBody>
      </p:sp>
      <p:sp>
        <p:nvSpPr>
          <p:cNvPr id="4" name="Shape 2"/>
          <p:cNvSpPr/>
          <p:nvPr/>
        </p:nvSpPr>
        <p:spPr>
          <a:xfrm>
            <a:off x="6277356" y="1783080"/>
            <a:ext cx="5362956" cy="1874520"/>
          </a:xfrm>
          <a:prstGeom prst="roundRect">
            <a:avLst>
              <a:gd name="adj" fmla="val 4390"/>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65960"/>
            <a:ext cx="4814316" cy="365760"/>
          </a:xfrm>
          <a:prstGeom prst="rect">
            <a:avLst/>
          </a:prstGeom>
          <a:noFill/>
          <a:ln/>
        </p:spPr>
        <p:txBody>
          <a:bodyPr wrap="square" rtlCol="0" anchor="ctr"/>
          <a:lstStyle/>
          <a:p>
            <a:pPr rtl="1" algn="r" indent="0" marL="0">
              <a:buNone/>
            </a:pPr>
            <a:r>
              <a:rPr lang="en-US" sz="1350" b="1" dirty="0">
                <a:solidFill>
                  <a:srgbClr val="F1948A"/>
                </a:solidFill>
                <a:latin typeface="Arial" pitchFamily="34" charset="0"/>
                <a:ea typeface="Arial" pitchFamily="34" charset="-122"/>
                <a:cs typeface="Arial" pitchFamily="34" charset="-120"/>
              </a:rPr>
              <a:t>הקוד המקורי — בעייתי</a:t>
            </a:r>
            <a:endParaRPr lang="en-US" sz="1350" dirty="0"/>
          </a:p>
        </p:txBody>
      </p:sp>
      <p:sp>
        <p:nvSpPr>
          <p:cNvPr id="6" name="Text 4"/>
          <p:cNvSpPr/>
          <p:nvPr/>
        </p:nvSpPr>
        <p:spPr>
          <a:xfrm>
            <a:off x="6551676" y="2468880"/>
            <a:ext cx="4814316" cy="1097280"/>
          </a:xfrm>
          <a:prstGeom prst="rect">
            <a:avLst/>
          </a:prstGeom>
          <a:noFill/>
          <a:ln/>
        </p:spPr>
        <p:txBody>
          <a:bodyPr wrap="square" rtlCol="0" anchor="t"/>
          <a:lstStyle/>
          <a:p>
            <a:pPr algn="l" indent="0" marL="0">
              <a:buNone/>
            </a:pPr>
            <a:r>
              <a:rPr lang="en-US" sz="1300" dirty="0">
                <a:solidFill>
                  <a:srgbClr val="E8E8F0"/>
                </a:solidFill>
                <a:latin typeface="Courier New" pitchFamily="34" charset="0"/>
                <a:ea typeface="Courier New" pitchFamily="34" charset="-122"/>
                <a:cs typeface="Courier New" pitchFamily="34" charset="-120"/>
              </a:rPr>
              <a:t>def average(numbers):</a:t>
            </a:r>
            <a:endParaRPr lang="en-US" sz="1300" dirty="0"/>
          </a:p>
          <a:p>
            <a:pPr algn="l" indent="0" marL="0">
              <a:buNone/>
            </a:pPr>
            <a:r>
              <a:rPr lang="en-US" sz="1300" dirty="0">
                <a:solidFill>
                  <a:srgbClr val="E8E8F0"/>
                </a:solidFill>
                <a:latin typeface="Courier New" pitchFamily="34" charset="0"/>
                <a:ea typeface="Courier New" pitchFamily="34" charset="-122"/>
                <a:cs typeface="Courier New" pitchFamily="34" charset="-120"/>
              </a:rPr>
              <a:t>    return sum(numbers)/len(numbers)</a:t>
            </a:r>
            <a:endParaRPr lang="en-US" sz="1300" dirty="0"/>
          </a:p>
          <a:p>
            <a:pPr algn="l" indent="0" marL="0">
              <a:buNone/>
            </a:pPr>
            <a:endParaRPr lang="en-US" sz="1300" dirty="0"/>
          </a:p>
          <a:p>
            <a:pPr algn="l" indent="0" marL="0">
              <a:buNone/>
            </a:pPr>
            <a:r>
              <a:rPr lang="en-US" sz="1300" dirty="0">
                <a:solidFill>
                  <a:srgbClr val="E8E8F0"/>
                </a:solidFill>
                <a:latin typeface="Courier New" pitchFamily="34" charset="0"/>
                <a:ea typeface="Courier New" pitchFamily="34" charset="-122"/>
                <a:cs typeface="Courier New" pitchFamily="34" charset="-120"/>
              </a:rPr>
              <a:t># len([]) == 0  ← חלוקה באפס!</a:t>
            </a:r>
            <a:endParaRPr lang="en-US" sz="1300" dirty="0"/>
          </a:p>
        </p:txBody>
      </p:sp>
      <p:sp>
        <p:nvSpPr>
          <p:cNvPr id="7" name="Shape 5"/>
          <p:cNvSpPr/>
          <p:nvPr/>
        </p:nvSpPr>
        <p:spPr>
          <a:xfrm>
            <a:off x="548640" y="1783080"/>
            <a:ext cx="5362956" cy="1874520"/>
          </a:xfrm>
          <a:prstGeom prst="roundRect">
            <a:avLst>
              <a:gd name="adj" fmla="val 4390"/>
            </a:avLst>
          </a:prstGeom>
          <a:solidFill>
            <a:srgbClr val="12241B"/>
          </a:solidFill>
          <a:ln/>
          <a:effectLst>
            <a:outerShdw sx="100000" sy="100000" kx="0" ky="0" algn="bl" rotWithShape="0" blurRad="76200" dist="25400" dir="5400000">
              <a:srgbClr val="999999">
                <a:alpha val="28000"/>
              </a:srgbClr>
            </a:outerShdw>
          </a:effectLst>
        </p:spPr>
      </p:sp>
      <p:sp>
        <p:nvSpPr>
          <p:cNvPr id="8" name="Text 6"/>
          <p:cNvSpPr/>
          <p:nvPr/>
        </p:nvSpPr>
        <p:spPr>
          <a:xfrm>
            <a:off x="822960" y="1965960"/>
            <a:ext cx="4814316" cy="365760"/>
          </a:xfrm>
          <a:prstGeom prst="rect">
            <a:avLst/>
          </a:prstGeom>
          <a:noFill/>
          <a:ln/>
        </p:spPr>
        <p:txBody>
          <a:bodyPr wrap="square" rtlCol="0" anchor="ctr"/>
          <a:lstStyle/>
          <a:p>
            <a:pPr rtl="1" algn="r" indent="0" marL="0">
              <a:buNone/>
            </a:pPr>
            <a:r>
              <a:rPr lang="en-US" sz="1350" b="1" dirty="0">
                <a:solidFill>
                  <a:srgbClr val="82E0AA"/>
                </a:solidFill>
                <a:latin typeface="Arial" pitchFamily="34" charset="0"/>
                <a:ea typeface="Arial" pitchFamily="34" charset="-122"/>
                <a:cs typeface="Arial" pitchFamily="34" charset="-120"/>
              </a:rPr>
              <a:t>הגרסה המתוקנת</a:t>
            </a:r>
            <a:endParaRPr lang="en-US" sz="1350" dirty="0"/>
          </a:p>
        </p:txBody>
      </p:sp>
      <p:sp>
        <p:nvSpPr>
          <p:cNvPr id="9" name="Text 7"/>
          <p:cNvSpPr/>
          <p:nvPr/>
        </p:nvSpPr>
        <p:spPr>
          <a:xfrm>
            <a:off x="822960" y="2468880"/>
            <a:ext cx="4814316" cy="1097280"/>
          </a:xfrm>
          <a:prstGeom prst="rect">
            <a:avLst/>
          </a:prstGeom>
          <a:noFill/>
          <a:ln/>
        </p:spPr>
        <p:txBody>
          <a:bodyPr wrap="square" rtlCol="0" anchor="t"/>
          <a:lstStyle/>
          <a:p>
            <a:pPr algn="l" indent="0" marL="0">
              <a:buNone/>
            </a:pPr>
            <a:r>
              <a:rPr lang="en-US" sz="1300" dirty="0">
                <a:solidFill>
                  <a:srgbClr val="E8E8F0"/>
                </a:solidFill>
                <a:latin typeface="Courier New" pitchFamily="34" charset="0"/>
                <a:ea typeface="Courier New" pitchFamily="34" charset="-122"/>
                <a:cs typeface="Courier New" pitchFamily="34" charset="-120"/>
              </a:rPr>
              <a:t>def average(numbers):</a:t>
            </a:r>
            <a:endParaRPr lang="en-US" sz="1300" dirty="0"/>
          </a:p>
          <a:p>
            <a:pPr algn="l" indent="0" marL="0">
              <a:buNone/>
            </a:pPr>
            <a:r>
              <a:rPr lang="en-US" sz="1300" dirty="0">
                <a:solidFill>
                  <a:srgbClr val="E8E8F0"/>
                </a:solidFill>
                <a:latin typeface="Courier New" pitchFamily="34" charset="0"/>
                <a:ea typeface="Courier New" pitchFamily="34" charset="-122"/>
                <a:cs typeface="Courier New" pitchFamily="34" charset="-120"/>
              </a:rPr>
              <a:t>    if not numbers:</a:t>
            </a:r>
            <a:endParaRPr lang="en-US" sz="1300" dirty="0"/>
          </a:p>
          <a:p>
            <a:pPr algn="l" indent="0" marL="0">
              <a:buNone/>
            </a:pPr>
            <a:r>
              <a:rPr lang="en-US" sz="1300" dirty="0">
                <a:solidFill>
                  <a:srgbClr val="E8E8F0"/>
                </a:solidFill>
                <a:latin typeface="Courier New" pitchFamily="34" charset="0"/>
                <a:ea typeface="Courier New" pitchFamily="34" charset="-122"/>
                <a:cs typeface="Courier New" pitchFamily="34" charset="-120"/>
              </a:rPr>
              <a:t>        return 0</a:t>
            </a:r>
            <a:endParaRPr lang="en-US" sz="1300" dirty="0"/>
          </a:p>
          <a:p>
            <a:pPr algn="l" indent="0" marL="0">
              <a:buNone/>
            </a:pPr>
            <a:r>
              <a:rPr lang="en-US" sz="1300" dirty="0">
                <a:solidFill>
                  <a:srgbClr val="E8E8F0"/>
                </a:solidFill>
                <a:latin typeface="Courier New" pitchFamily="34" charset="0"/>
                <a:ea typeface="Courier New" pitchFamily="34" charset="-122"/>
                <a:cs typeface="Courier New" pitchFamily="34" charset="-120"/>
              </a:rPr>
              <a:t>    return sum(numbers)/len(numbers)</a:t>
            </a:r>
            <a:endParaRPr lang="en-US" sz="1300" dirty="0"/>
          </a:p>
        </p:txBody>
      </p:sp>
      <p:sp>
        <p:nvSpPr>
          <p:cNvPr id="10" name="Shape 8"/>
          <p:cNvSpPr/>
          <p:nvPr/>
        </p:nvSpPr>
        <p:spPr>
          <a:xfrm>
            <a:off x="548640" y="3886200"/>
            <a:ext cx="11091672" cy="1463040"/>
          </a:xfrm>
          <a:prstGeom prst="roundRect">
            <a:avLst>
              <a:gd name="adj" fmla="val 6250"/>
            </a:avLst>
          </a:prstGeom>
          <a:solidFill>
            <a:srgbClr val="1E2761"/>
          </a:solidFill>
          <a:ln/>
          <a:effectLst>
            <a:outerShdw sx="100000" sy="100000" kx="0" ky="0" algn="bl" rotWithShape="0" blurRad="76200" dist="25400" dir="5400000">
              <a:srgbClr val="999999">
                <a:alpha val="28000"/>
              </a:srgbClr>
            </a:outerShdw>
          </a:effectLst>
        </p:spPr>
      </p:sp>
      <p:sp>
        <p:nvSpPr>
          <p:cNvPr id="11" name="Text 9"/>
          <p:cNvSpPr/>
          <p:nvPr/>
        </p:nvSpPr>
        <p:spPr>
          <a:xfrm>
            <a:off x="868680" y="4069080"/>
            <a:ext cx="10451592" cy="1097280"/>
          </a:xfrm>
          <a:prstGeom prst="rect">
            <a:avLst/>
          </a:prstGeom>
          <a:noFill/>
          <a:ln/>
        </p:spPr>
        <p:txBody>
          <a:bodyPr wrap="square"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מקרה קצה (edge case) = קלט חריג שהקוד ה“רגיל” לא מטפל בו: רשימה ריקה, מספר שלילי, טקסט במקום מספר, קובץ שלא קיים. ה-AI נוטה להתעלם ממקרי קצה — הוא כותב את המקרה ה“רגיל”. זיהוי מקרי הקצה ובקשה מפורשת לטפל בהם — באחריותכם. תמיד שאלו: “מה קורה בקלט הכי מוזר שאפשר?”</a:t>
            </a:r>
            <a:endParaRPr lang="en-US" sz="1500" dirty="0"/>
          </a:p>
        </p:txBody>
      </p:sp>
      <p:sp>
        <p:nvSpPr>
          <p:cNvPr id="12" name="Text 1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08 / 27</a:t>
            </a:r>
            <a:endParaRPr lang="en-US" sz="950" dirty="0"/>
          </a:p>
        </p:txBody>
      </p:sp>
      <p:sp>
        <p:nvSpPr>
          <p:cNvPr id="13" name="Text 1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יסודות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רגע — מה זה בכלל LLM?</a:t>
            </a:r>
            <a:endParaRPr lang="en-US" sz="3300" dirty="0"/>
          </a:p>
        </p:txBody>
      </p:sp>
      <p:sp>
        <p:nvSpPr>
          <p:cNvPr id="4" name="Shape 2"/>
          <p:cNvSpPr/>
          <p:nvPr/>
        </p:nvSpPr>
        <p:spPr>
          <a:xfrm>
            <a:off x="548640" y="1783080"/>
            <a:ext cx="11091672" cy="1234440"/>
          </a:xfrm>
          <a:prstGeom prst="roundRect">
            <a:avLst>
              <a:gd name="adj" fmla="val 7407"/>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65960"/>
            <a:ext cx="10451592" cy="86868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LLM = Large Language Model (מודל שפה גדול): תוכנה שאומנה על כמויות עצומות של טקסט וקוד, ולמדה לחזות איזה טקסט בא אחרי טקסט נתון.</a:t>
            </a:r>
            <a:endParaRPr lang="en-US" sz="1800" dirty="0"/>
          </a:p>
        </p:txBody>
      </p:sp>
      <p:sp>
        <p:nvSpPr>
          <p:cNvPr id="6" name="Shape 4"/>
          <p:cNvSpPr/>
          <p:nvPr/>
        </p:nvSpPr>
        <p:spPr>
          <a:xfrm>
            <a:off x="8125968" y="3291840"/>
            <a:ext cx="3514344"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7" name="Text 5"/>
          <p:cNvSpPr/>
          <p:nvPr/>
        </p:nvSpPr>
        <p:spPr>
          <a:xfrm>
            <a:off x="8354568" y="3547872"/>
            <a:ext cx="3057144" cy="457200"/>
          </a:xfrm>
          <a:prstGeom prst="rect">
            <a:avLst/>
          </a:prstGeom>
          <a:noFill/>
          <a:ln/>
        </p:spPr>
        <p:txBody>
          <a:bodyPr wrap="square" rtlCol="0" anchor="t"/>
          <a:lstStyle/>
          <a:p>
            <a:pPr rtl="1" algn="ctr" indent="0" marL="0">
              <a:buNone/>
            </a:pPr>
            <a:r>
              <a:rPr lang="en-US" sz="1600" b="1" dirty="0">
                <a:solidFill>
                  <a:srgbClr val="0E9AA7"/>
                </a:solidFill>
                <a:latin typeface="Arial" pitchFamily="34" charset="0"/>
                <a:ea typeface="Arial" pitchFamily="34" charset="-122"/>
                <a:cs typeface="Arial" pitchFamily="34" charset="-120"/>
              </a:rPr>
              <a:t>אומן על</a:t>
            </a:r>
            <a:endParaRPr lang="en-US" sz="1600" dirty="0"/>
          </a:p>
        </p:txBody>
      </p:sp>
      <p:sp>
        <p:nvSpPr>
          <p:cNvPr id="8" name="Text 6"/>
          <p:cNvSpPr/>
          <p:nvPr/>
        </p:nvSpPr>
        <p:spPr>
          <a:xfrm>
            <a:off x="8354568" y="4023360"/>
            <a:ext cx="3057144" cy="548640"/>
          </a:xfrm>
          <a:prstGeom prst="rect">
            <a:avLst/>
          </a:prstGeom>
          <a:noFill/>
          <a:ln/>
        </p:spPr>
        <p:txBody>
          <a:bodyPr wrap="square" rtlCol="0" anchor="t"/>
          <a:lstStyle/>
          <a:p>
            <a:pPr rtl="1" algn="ctr" indent="0" marL="0">
              <a:buNone/>
            </a:pPr>
            <a:r>
              <a:rPr lang="en-US" sz="1350" dirty="0">
                <a:solidFill>
                  <a:srgbClr val="222232"/>
                </a:solidFill>
                <a:latin typeface="Arial" pitchFamily="34" charset="0"/>
                <a:ea typeface="Arial" pitchFamily="34" charset="-122"/>
                <a:cs typeface="Arial" pitchFamily="34" charset="-120"/>
              </a:rPr>
              <a:t>מיליארדי מסמכים וקטעי קוד</a:t>
            </a:r>
            <a:endParaRPr lang="en-US" sz="1350" dirty="0"/>
          </a:p>
        </p:txBody>
      </p:sp>
      <p:sp>
        <p:nvSpPr>
          <p:cNvPr id="9" name="Shape 7"/>
          <p:cNvSpPr/>
          <p:nvPr/>
        </p:nvSpPr>
        <p:spPr>
          <a:xfrm>
            <a:off x="4337304" y="3291840"/>
            <a:ext cx="3514344"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10" name="Text 8"/>
          <p:cNvSpPr/>
          <p:nvPr/>
        </p:nvSpPr>
        <p:spPr>
          <a:xfrm>
            <a:off x="4565904" y="3547872"/>
            <a:ext cx="3057144" cy="457200"/>
          </a:xfrm>
          <a:prstGeom prst="rect">
            <a:avLst/>
          </a:prstGeom>
          <a:noFill/>
          <a:ln/>
        </p:spPr>
        <p:txBody>
          <a:bodyPr wrap="square" rtlCol="0" anchor="t"/>
          <a:lstStyle/>
          <a:p>
            <a:pPr rtl="1" algn="ctr" indent="0" marL="0">
              <a:buNone/>
            </a:pPr>
            <a:r>
              <a:rPr lang="en-US" sz="1600" b="1" dirty="0">
                <a:solidFill>
                  <a:srgbClr val="0E9AA7"/>
                </a:solidFill>
                <a:latin typeface="Arial" pitchFamily="34" charset="0"/>
                <a:ea typeface="Arial" pitchFamily="34" charset="-122"/>
                <a:cs typeface="Arial" pitchFamily="34" charset="-120"/>
              </a:rPr>
              <a:t>מנבא</a:t>
            </a:r>
            <a:endParaRPr lang="en-US" sz="1600" dirty="0"/>
          </a:p>
        </p:txBody>
      </p:sp>
      <p:sp>
        <p:nvSpPr>
          <p:cNvPr id="11" name="Text 9"/>
          <p:cNvSpPr/>
          <p:nvPr/>
        </p:nvSpPr>
        <p:spPr>
          <a:xfrm>
            <a:off x="4565904" y="4023360"/>
            <a:ext cx="3057144" cy="548640"/>
          </a:xfrm>
          <a:prstGeom prst="rect">
            <a:avLst/>
          </a:prstGeom>
          <a:noFill/>
          <a:ln/>
        </p:spPr>
        <p:txBody>
          <a:bodyPr wrap="square" rtlCol="0" anchor="t"/>
          <a:lstStyle/>
          <a:p>
            <a:pPr rtl="1" algn="ctr" indent="0" marL="0">
              <a:buNone/>
            </a:pPr>
            <a:r>
              <a:rPr lang="en-US" sz="1350" dirty="0">
                <a:solidFill>
                  <a:srgbClr val="222232"/>
                </a:solidFill>
                <a:latin typeface="Arial" pitchFamily="34" charset="0"/>
                <a:ea typeface="Arial" pitchFamily="34" charset="-122"/>
                <a:cs typeface="Arial" pitchFamily="34" charset="-120"/>
              </a:rPr>
              <a:t>את המילה/הטוקן הבא</a:t>
            </a:r>
            <a:endParaRPr lang="en-US" sz="1350" dirty="0"/>
          </a:p>
        </p:txBody>
      </p:sp>
      <p:sp>
        <p:nvSpPr>
          <p:cNvPr id="12" name="Shape 10"/>
          <p:cNvSpPr/>
          <p:nvPr/>
        </p:nvSpPr>
        <p:spPr>
          <a:xfrm>
            <a:off x="548640" y="3291840"/>
            <a:ext cx="3514344"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13" name="Text 11"/>
          <p:cNvSpPr/>
          <p:nvPr/>
        </p:nvSpPr>
        <p:spPr>
          <a:xfrm>
            <a:off x="777240" y="3547872"/>
            <a:ext cx="3057144" cy="457200"/>
          </a:xfrm>
          <a:prstGeom prst="rect">
            <a:avLst/>
          </a:prstGeom>
          <a:noFill/>
          <a:ln/>
        </p:spPr>
        <p:txBody>
          <a:bodyPr wrap="square" rtlCol="0" anchor="t"/>
          <a:lstStyle/>
          <a:p>
            <a:pPr rtl="1" algn="ctr" indent="0" marL="0">
              <a:buNone/>
            </a:pPr>
            <a:r>
              <a:rPr lang="en-US" sz="1600" b="1" dirty="0">
                <a:solidFill>
                  <a:srgbClr val="0E9AA7"/>
                </a:solidFill>
                <a:latin typeface="Arial" pitchFamily="34" charset="0"/>
                <a:ea typeface="Arial" pitchFamily="34" charset="-122"/>
                <a:cs typeface="Arial" pitchFamily="34" charset="-120"/>
              </a:rPr>
              <a:t>לא “מבין” כמו אדם</a:t>
            </a:r>
            <a:endParaRPr lang="en-US" sz="1600" dirty="0"/>
          </a:p>
        </p:txBody>
      </p:sp>
      <p:sp>
        <p:nvSpPr>
          <p:cNvPr id="14" name="Text 12"/>
          <p:cNvSpPr/>
          <p:nvPr/>
        </p:nvSpPr>
        <p:spPr>
          <a:xfrm>
            <a:off x="777240" y="4023360"/>
            <a:ext cx="3057144" cy="548640"/>
          </a:xfrm>
          <a:prstGeom prst="rect">
            <a:avLst/>
          </a:prstGeom>
          <a:noFill/>
          <a:ln/>
        </p:spPr>
        <p:txBody>
          <a:bodyPr wrap="square" rtlCol="0" anchor="t"/>
          <a:lstStyle/>
          <a:p>
            <a:pPr rtl="1" algn="ctr" indent="0" marL="0">
              <a:buNone/>
            </a:pPr>
            <a:r>
              <a:rPr lang="en-US" sz="1350" dirty="0">
                <a:solidFill>
                  <a:srgbClr val="222232"/>
                </a:solidFill>
                <a:latin typeface="Arial" pitchFamily="34" charset="0"/>
                <a:ea typeface="Arial" pitchFamily="34" charset="-122"/>
                <a:cs typeface="Arial" pitchFamily="34" charset="-120"/>
              </a:rPr>
              <a:t>מזהה דפוסים סטטיסטיים</a:t>
            </a:r>
            <a:endParaRPr lang="en-US" sz="1350" dirty="0"/>
          </a:p>
        </p:txBody>
      </p:sp>
      <p:sp>
        <p:nvSpPr>
          <p:cNvPr id="15" name="Text 13"/>
          <p:cNvSpPr/>
          <p:nvPr/>
        </p:nvSpPr>
        <p:spPr>
          <a:xfrm>
            <a:off x="548640" y="489204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זה ההסבר ברמה גבוהה — במפגש 2 נצלול לאיך זה עובד באמת.</a:t>
            </a:r>
            <a:endParaRPr lang="en-US" sz="1400" dirty="0"/>
          </a:p>
        </p:txBody>
      </p:sp>
      <p:sp>
        <p:nvSpPr>
          <p:cNvPr id="16" name="Text 1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09 / 27</a:t>
            </a:r>
            <a:endParaRPr lang="en-US" sz="950" dirty="0"/>
          </a:p>
        </p:txBody>
      </p:sp>
      <p:sp>
        <p:nvSpPr>
          <p:cNvPr id="17" name="Text 1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אינטואיציה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איך LLM “כותב” קוד?</a:t>
            </a:r>
            <a:endParaRPr lang="en-US" sz="3300" dirty="0"/>
          </a:p>
        </p:txBody>
      </p:sp>
      <p:sp>
        <p:nvSpPr>
          <p:cNvPr id="4" name="Shape 2"/>
          <p:cNvSpPr/>
          <p:nvPr/>
        </p:nvSpPr>
        <p:spPr>
          <a:xfrm>
            <a:off x="548640" y="1783080"/>
            <a:ext cx="11091672" cy="914400"/>
          </a:xfrm>
          <a:prstGeom prst="roundRect">
            <a:avLst>
              <a:gd name="adj" fmla="val 10000"/>
            </a:avLst>
          </a:prstGeom>
          <a:solidFill>
            <a:srgbClr val="0E9AA7"/>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65960"/>
            <a:ext cx="10451592" cy="54864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כמו השלמה אוטומטית (autocomplete) של הטלפון — אבל חזקה בטירוף.</a:t>
            </a:r>
            <a:endParaRPr lang="en-US" sz="1900" dirty="0"/>
          </a:p>
        </p:txBody>
      </p:sp>
      <p:sp>
        <p:nvSpPr>
          <p:cNvPr id="6" name="Shape 4"/>
          <p:cNvSpPr/>
          <p:nvPr/>
        </p:nvSpPr>
        <p:spPr>
          <a:xfrm>
            <a:off x="6277356" y="2880360"/>
            <a:ext cx="5362956"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7" name="Text 5"/>
          <p:cNvSpPr/>
          <p:nvPr/>
        </p:nvSpPr>
        <p:spPr>
          <a:xfrm>
            <a:off x="6551676" y="3081528"/>
            <a:ext cx="4814316" cy="36576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טקסט רגיל</a:t>
            </a:r>
            <a:endParaRPr lang="en-US" sz="1400" dirty="0"/>
          </a:p>
        </p:txBody>
      </p:sp>
      <p:sp>
        <p:nvSpPr>
          <p:cNvPr id="8" name="Text 6"/>
          <p:cNvSpPr/>
          <p:nvPr/>
        </p:nvSpPr>
        <p:spPr>
          <a:xfrm>
            <a:off x="6551676" y="3538728"/>
            <a:ext cx="4814316" cy="548640"/>
          </a:xfrm>
          <a:prstGeom prst="rect">
            <a:avLst/>
          </a:prstGeom>
          <a:noFill/>
          <a:ln/>
        </p:spPr>
        <p:txBody>
          <a:bodyPr wrap="square" rtlCol="0" anchor="t"/>
          <a:lstStyle/>
          <a:p>
            <a:pPr rtl="1" algn="r" indent="0" marL="0">
              <a:buNone/>
            </a:pPr>
            <a:r>
              <a:rPr lang="en-US" sz="1500" dirty="0">
                <a:solidFill>
                  <a:srgbClr val="222232"/>
                </a:solidFill>
                <a:latin typeface="Arial" pitchFamily="34" charset="0"/>
                <a:ea typeface="Arial" pitchFamily="34" charset="-122"/>
                <a:cs typeface="Arial" pitchFamily="34" charset="-120"/>
              </a:rPr>
              <a:t>“שלום, מה ...”  ←  הטלפון מציע “שלומך”</a:t>
            </a:r>
            <a:endParaRPr lang="en-US" sz="1500" dirty="0"/>
          </a:p>
        </p:txBody>
      </p:sp>
      <p:sp>
        <p:nvSpPr>
          <p:cNvPr id="9" name="Shape 7"/>
          <p:cNvSpPr/>
          <p:nvPr/>
        </p:nvSpPr>
        <p:spPr>
          <a:xfrm>
            <a:off x="548640" y="2880360"/>
            <a:ext cx="5362956"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10" name="Text 8"/>
          <p:cNvSpPr/>
          <p:nvPr/>
        </p:nvSpPr>
        <p:spPr>
          <a:xfrm>
            <a:off x="822960" y="3081528"/>
            <a:ext cx="4814316" cy="36576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קוד</a:t>
            </a:r>
            <a:endParaRPr lang="en-US" sz="1400" dirty="0"/>
          </a:p>
        </p:txBody>
      </p:sp>
      <p:sp>
        <p:nvSpPr>
          <p:cNvPr id="11" name="Text 9"/>
          <p:cNvSpPr/>
          <p:nvPr/>
        </p:nvSpPr>
        <p:spPr>
          <a:xfrm>
            <a:off x="822960" y="3538728"/>
            <a:ext cx="4814316" cy="548640"/>
          </a:xfrm>
          <a:prstGeom prst="rect">
            <a:avLst/>
          </a:prstGeom>
          <a:noFill/>
          <a:ln/>
        </p:spPr>
        <p:txBody>
          <a:bodyPr wrap="square" rtlCol="0" anchor="ctr"/>
          <a:lstStyle/>
          <a:p>
            <a:pPr algn="l" indent="0" marL="0">
              <a:buNone/>
            </a:pPr>
            <a:r>
              <a:rPr lang="en-US" sz="1300" dirty="0">
                <a:solidFill>
                  <a:srgbClr val="222232"/>
                </a:solidFill>
                <a:latin typeface="Courier New" pitchFamily="34" charset="0"/>
                <a:ea typeface="Courier New" pitchFamily="34" charset="-122"/>
                <a:cs typeface="Courier New" pitchFamily="34" charset="-120"/>
              </a:rPr>
              <a:t>def average(numbers): return ...</a:t>
            </a:r>
            <a:endParaRPr lang="en-US" sz="1300" dirty="0"/>
          </a:p>
          <a:p>
            <a:pPr algn="l" indent="0" marL="0">
              <a:buNone/>
            </a:pPr>
            <a:r>
              <a:rPr lang="en-US" sz="1300" dirty="0">
                <a:solidFill>
                  <a:srgbClr val="222232"/>
                </a:solidFill>
                <a:latin typeface="Courier New" pitchFamily="34" charset="0"/>
                <a:ea typeface="Courier New" pitchFamily="34" charset="-122"/>
                <a:cs typeface="Courier New" pitchFamily="34" charset="-120"/>
              </a:rPr>
              <a:t>→ המודל מציע  sum(numbers)/len(numbers)</a:t>
            </a:r>
            <a:endParaRPr lang="en-US" sz="1300" dirty="0"/>
          </a:p>
        </p:txBody>
      </p:sp>
      <p:sp>
        <p:nvSpPr>
          <p:cNvPr id="12" name="Shape 10"/>
          <p:cNvSpPr/>
          <p:nvPr/>
        </p:nvSpPr>
        <p:spPr>
          <a:xfrm>
            <a:off x="548640" y="4480560"/>
            <a:ext cx="11091672" cy="1051560"/>
          </a:xfrm>
          <a:prstGeom prst="roundRect">
            <a:avLst>
              <a:gd name="adj" fmla="val 8696"/>
            </a:avLst>
          </a:prstGeom>
          <a:solidFill>
            <a:srgbClr val="9A6A00"/>
          </a:solidFill>
          <a:ln/>
          <a:effectLst>
            <a:outerShdw sx="100000" sy="100000" kx="0" ky="0" algn="bl" rotWithShape="0" blurRad="76200" dist="25400" dir="5400000">
              <a:srgbClr val="999999">
                <a:alpha val="28000"/>
              </a:srgbClr>
            </a:outerShdw>
          </a:effectLst>
        </p:spPr>
      </p:sp>
      <p:sp>
        <p:nvSpPr>
          <p:cNvPr id="13" name="Text 11"/>
          <p:cNvSpPr/>
          <p:nvPr/>
        </p:nvSpPr>
        <p:spPr>
          <a:xfrm>
            <a:off x="868680" y="4663440"/>
            <a:ext cx="10451592" cy="68580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כי זו בחירה סטטיסטית של ההמשך “הסביר ביותר” — לפעמים המודל ממציא בביטחון. לתופעה הזו קוראים הזיה (hallucination). נרחיב עליה במפגש 2.</a:t>
            </a:r>
            <a:endParaRPr lang="en-US" sz="1550" dirty="0"/>
          </a:p>
        </p:txBody>
      </p:sp>
      <p:sp>
        <p:nvSpPr>
          <p:cNvPr id="14" name="Text 12"/>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10 / 27</a:t>
            </a:r>
            <a:endParaRPr lang="en-US" sz="950" dirty="0"/>
          </a:p>
        </p:txBody>
      </p:sp>
      <p:sp>
        <p:nvSpPr>
          <p:cNvPr id="15" name="Text 13"/>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איך זה עובד בפועל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ניבוי הטוקן הבא — דוגמה מוחשית</a:t>
            </a:r>
            <a:endParaRPr lang="en-US" sz="3300" dirty="0"/>
          </a:p>
        </p:txBody>
      </p:sp>
      <p:sp>
        <p:nvSpPr>
          <p:cNvPr id="4" name="Shape 2"/>
          <p:cNvSpPr/>
          <p:nvPr/>
        </p:nvSpPr>
        <p:spPr>
          <a:xfrm>
            <a:off x="548640" y="1737360"/>
            <a:ext cx="11091672" cy="868680"/>
          </a:xfrm>
          <a:prstGeom prst="roundRect">
            <a:avLst>
              <a:gd name="adj" fmla="val 9474"/>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822960" y="1737360"/>
            <a:ext cx="10543032" cy="868680"/>
          </a:xfrm>
          <a:prstGeom prst="rect">
            <a:avLst/>
          </a:prstGeom>
          <a:noFill/>
          <a:ln/>
        </p:spPr>
        <p:txBody>
          <a:bodyPr wrap="square" rtlCol="0" anchor="ctr"/>
          <a:lstStyle/>
          <a:p>
            <a:pPr algn="l" indent="0" marL="0">
              <a:buNone/>
            </a:pPr>
            <a:r>
              <a:rPr lang="en-US" sz="1600" dirty="0">
                <a:solidFill>
                  <a:srgbClr val="E8E8F0"/>
                </a:solidFill>
                <a:latin typeface="Courier New" pitchFamily="34" charset="0"/>
                <a:ea typeface="Courier New" pitchFamily="34" charset="-122"/>
                <a:cs typeface="Courier New" pitchFamily="34" charset="-120"/>
              </a:rPr>
              <a:t>def average(numbers):  return ____</a:t>
            </a:r>
            <a:endParaRPr lang="en-US" sz="1600" dirty="0"/>
          </a:p>
        </p:txBody>
      </p:sp>
      <p:sp>
        <p:nvSpPr>
          <p:cNvPr id="6" name="Text 4"/>
          <p:cNvSpPr/>
          <p:nvPr/>
        </p:nvSpPr>
        <p:spPr>
          <a:xfrm>
            <a:off x="9445752" y="1810512"/>
            <a:ext cx="2011680" cy="320040"/>
          </a:xfrm>
          <a:prstGeom prst="rect">
            <a:avLst/>
          </a:prstGeom>
          <a:noFill/>
          <a:ln/>
        </p:spPr>
        <p:txBody>
          <a:bodyPr wrap="square" rtlCol="0" anchor="ctr"/>
          <a:lstStyle/>
          <a:p>
            <a:pPr rtl="1" algn="r" indent="0" marL="0">
              <a:buNone/>
            </a:pPr>
            <a:r>
              <a:rPr lang="en-US" sz="1150" b="1" dirty="0">
                <a:solidFill>
                  <a:srgbClr val="0E9AA7"/>
                </a:solidFill>
                <a:latin typeface="Arial" pitchFamily="34" charset="0"/>
                <a:ea typeface="Arial" pitchFamily="34" charset="-122"/>
                <a:cs typeface="Arial" pitchFamily="34" charset="-120"/>
              </a:rPr>
              <a:t>הפרומפט עד כה</a:t>
            </a:r>
            <a:endParaRPr lang="en-US" sz="1150" dirty="0"/>
          </a:p>
        </p:txBody>
      </p:sp>
      <p:sp>
        <p:nvSpPr>
          <p:cNvPr id="7" name="Text 5"/>
          <p:cNvSpPr/>
          <p:nvPr/>
        </p:nvSpPr>
        <p:spPr>
          <a:xfrm>
            <a:off x="548640" y="2788920"/>
            <a:ext cx="11091672" cy="36576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ההמשכים שהמודל שוקל (לפי מה שראה באימון):</a:t>
            </a:r>
            <a:endParaRPr lang="en-US" sz="1400" dirty="0"/>
          </a:p>
        </p:txBody>
      </p:sp>
      <p:sp>
        <p:nvSpPr>
          <p:cNvPr id="8" name="Text 6"/>
          <p:cNvSpPr/>
          <p:nvPr/>
        </p:nvSpPr>
        <p:spPr>
          <a:xfrm>
            <a:off x="8348472" y="3246120"/>
            <a:ext cx="3291840" cy="457200"/>
          </a:xfrm>
          <a:prstGeom prst="rect">
            <a:avLst/>
          </a:prstGeom>
          <a:noFill/>
          <a:ln/>
        </p:spPr>
        <p:txBody>
          <a:bodyPr wrap="square" rtlCol="0" anchor="ctr"/>
          <a:lstStyle/>
          <a:p>
            <a:pPr algn="r" indent="0" marL="0">
              <a:buNone/>
            </a:pPr>
            <a:r>
              <a:rPr lang="en-US" sz="1300" dirty="0">
                <a:solidFill>
                  <a:srgbClr val="222232"/>
                </a:solidFill>
                <a:latin typeface="Courier New" pitchFamily="34" charset="0"/>
                <a:ea typeface="Courier New" pitchFamily="34" charset="-122"/>
                <a:cs typeface="Courier New" pitchFamily="34" charset="-120"/>
              </a:rPr>
              <a:t>sum(numbers) / len(numbers)</a:t>
            </a:r>
            <a:endParaRPr lang="en-US" sz="1300" dirty="0"/>
          </a:p>
        </p:txBody>
      </p:sp>
      <p:sp>
        <p:nvSpPr>
          <p:cNvPr id="9" name="Shape 7"/>
          <p:cNvSpPr/>
          <p:nvPr/>
        </p:nvSpPr>
        <p:spPr>
          <a:xfrm>
            <a:off x="3286719" y="3246120"/>
            <a:ext cx="4924593" cy="457200"/>
          </a:xfrm>
          <a:prstGeom prst="roundRect">
            <a:avLst>
              <a:gd name="adj" fmla="val 8000"/>
            </a:avLst>
          </a:prstGeom>
          <a:solidFill>
            <a:srgbClr val="2E7D32"/>
          </a:solidFill>
          <a:ln/>
        </p:spPr>
      </p:sp>
      <p:sp>
        <p:nvSpPr>
          <p:cNvPr id="10" name="Text 8"/>
          <p:cNvSpPr/>
          <p:nvPr/>
        </p:nvSpPr>
        <p:spPr>
          <a:xfrm>
            <a:off x="2573487" y="3246120"/>
            <a:ext cx="640080" cy="457200"/>
          </a:xfrm>
          <a:prstGeom prst="rect">
            <a:avLst/>
          </a:prstGeom>
          <a:noFill/>
          <a:ln/>
        </p:spPr>
        <p:txBody>
          <a:bodyPr wrap="square" rtlCol="0" anchor="ctr"/>
          <a:lstStyle/>
          <a:p>
            <a:pPr rtl="1" algn="l" indent="0" marL="0">
              <a:buNone/>
            </a:pPr>
            <a:r>
              <a:rPr lang="en-US" sz="1400" b="1" dirty="0">
                <a:solidFill>
                  <a:srgbClr val="2E7D32"/>
                </a:solidFill>
                <a:latin typeface="Arial" pitchFamily="34" charset="0"/>
                <a:ea typeface="Arial" pitchFamily="34" charset="-122"/>
                <a:cs typeface="Arial" pitchFamily="34" charset="-120"/>
              </a:rPr>
              <a:t>72%</a:t>
            </a:r>
            <a:endParaRPr lang="en-US" sz="1400" dirty="0"/>
          </a:p>
        </p:txBody>
      </p:sp>
      <p:sp>
        <p:nvSpPr>
          <p:cNvPr id="11" name="Text 9"/>
          <p:cNvSpPr/>
          <p:nvPr/>
        </p:nvSpPr>
        <p:spPr>
          <a:xfrm>
            <a:off x="8348472" y="3922776"/>
            <a:ext cx="3291840" cy="457200"/>
          </a:xfrm>
          <a:prstGeom prst="rect">
            <a:avLst/>
          </a:prstGeom>
          <a:noFill/>
          <a:ln/>
        </p:spPr>
        <p:txBody>
          <a:bodyPr wrap="square" rtlCol="0" anchor="ctr"/>
          <a:lstStyle/>
          <a:p>
            <a:pPr algn="r" indent="0" marL="0">
              <a:buNone/>
            </a:pPr>
            <a:r>
              <a:rPr lang="en-US" sz="1300" dirty="0">
                <a:solidFill>
                  <a:srgbClr val="222232"/>
                </a:solidFill>
                <a:latin typeface="Courier New" pitchFamily="34" charset="0"/>
                <a:ea typeface="Courier New" pitchFamily="34" charset="-122"/>
                <a:cs typeface="Courier New" pitchFamily="34" charset="-120"/>
              </a:rPr>
              <a:t>numbers[0]</a:t>
            </a:r>
            <a:endParaRPr lang="en-US" sz="1300" dirty="0"/>
          </a:p>
        </p:txBody>
      </p:sp>
      <p:sp>
        <p:nvSpPr>
          <p:cNvPr id="12" name="Shape 10"/>
          <p:cNvSpPr/>
          <p:nvPr/>
        </p:nvSpPr>
        <p:spPr>
          <a:xfrm>
            <a:off x="7595738" y="3922776"/>
            <a:ext cx="615574" cy="457200"/>
          </a:xfrm>
          <a:prstGeom prst="roundRect">
            <a:avLst>
              <a:gd name="adj" fmla="val 8000"/>
            </a:avLst>
          </a:prstGeom>
          <a:solidFill>
            <a:srgbClr val="6B6B80"/>
          </a:solidFill>
          <a:ln/>
        </p:spPr>
      </p:sp>
      <p:sp>
        <p:nvSpPr>
          <p:cNvPr id="13" name="Text 11"/>
          <p:cNvSpPr/>
          <p:nvPr/>
        </p:nvSpPr>
        <p:spPr>
          <a:xfrm>
            <a:off x="6882506" y="3922776"/>
            <a:ext cx="640080" cy="457200"/>
          </a:xfrm>
          <a:prstGeom prst="rect">
            <a:avLst/>
          </a:prstGeom>
          <a:noFill/>
          <a:ln/>
        </p:spPr>
        <p:txBody>
          <a:bodyPr wrap="square" rtlCol="0" anchor="ctr"/>
          <a:lstStyle/>
          <a:p>
            <a:pPr rtl="1" algn="l" indent="0" marL="0">
              <a:buNone/>
            </a:pPr>
            <a:r>
              <a:rPr lang="en-US" sz="1400" b="1" dirty="0">
                <a:solidFill>
                  <a:srgbClr val="6B6B80"/>
                </a:solidFill>
                <a:latin typeface="Arial" pitchFamily="34" charset="0"/>
                <a:ea typeface="Arial" pitchFamily="34" charset="-122"/>
                <a:cs typeface="Arial" pitchFamily="34" charset="-120"/>
              </a:rPr>
              <a:t>9%</a:t>
            </a:r>
            <a:endParaRPr lang="en-US" sz="1400" dirty="0"/>
          </a:p>
        </p:txBody>
      </p:sp>
      <p:sp>
        <p:nvSpPr>
          <p:cNvPr id="14" name="Text 12"/>
          <p:cNvSpPr/>
          <p:nvPr/>
        </p:nvSpPr>
        <p:spPr>
          <a:xfrm>
            <a:off x="8348472" y="4599432"/>
            <a:ext cx="3291840" cy="457200"/>
          </a:xfrm>
          <a:prstGeom prst="rect">
            <a:avLst/>
          </a:prstGeom>
          <a:noFill/>
          <a:ln/>
        </p:spPr>
        <p:txBody>
          <a:bodyPr wrap="square" rtlCol="0" anchor="ctr"/>
          <a:lstStyle/>
          <a:p>
            <a:pPr algn="r" indent="0" marL="0">
              <a:buNone/>
            </a:pPr>
            <a:r>
              <a:rPr lang="en-US" sz="1300" dirty="0">
                <a:solidFill>
                  <a:srgbClr val="222232"/>
                </a:solidFill>
                <a:latin typeface="Courier New" pitchFamily="34" charset="0"/>
                <a:ea typeface="Courier New" pitchFamily="34" charset="-122"/>
                <a:cs typeface="Courier New" pitchFamily="34" charset="-120"/>
              </a:rPr>
              <a:t>max(numbers)</a:t>
            </a:r>
            <a:endParaRPr lang="en-US" sz="1300" dirty="0"/>
          </a:p>
        </p:txBody>
      </p:sp>
      <p:sp>
        <p:nvSpPr>
          <p:cNvPr id="15" name="Shape 13"/>
          <p:cNvSpPr/>
          <p:nvPr/>
        </p:nvSpPr>
        <p:spPr>
          <a:xfrm>
            <a:off x="7869326" y="4599432"/>
            <a:ext cx="341986" cy="457200"/>
          </a:xfrm>
          <a:prstGeom prst="roundRect">
            <a:avLst>
              <a:gd name="adj" fmla="val 10695"/>
            </a:avLst>
          </a:prstGeom>
          <a:solidFill>
            <a:srgbClr val="6B6B80"/>
          </a:solidFill>
          <a:ln/>
        </p:spPr>
      </p:sp>
      <p:sp>
        <p:nvSpPr>
          <p:cNvPr id="16" name="Text 14"/>
          <p:cNvSpPr/>
          <p:nvPr/>
        </p:nvSpPr>
        <p:spPr>
          <a:xfrm>
            <a:off x="7156094" y="4599432"/>
            <a:ext cx="640080" cy="457200"/>
          </a:xfrm>
          <a:prstGeom prst="rect">
            <a:avLst/>
          </a:prstGeom>
          <a:noFill/>
          <a:ln/>
        </p:spPr>
        <p:txBody>
          <a:bodyPr wrap="square" rtlCol="0" anchor="ctr"/>
          <a:lstStyle/>
          <a:p>
            <a:pPr rtl="1" algn="l" indent="0" marL="0">
              <a:buNone/>
            </a:pPr>
            <a:r>
              <a:rPr lang="en-US" sz="1400" b="1" dirty="0">
                <a:solidFill>
                  <a:srgbClr val="6B6B80"/>
                </a:solidFill>
                <a:latin typeface="Arial" pitchFamily="34" charset="0"/>
                <a:ea typeface="Arial" pitchFamily="34" charset="-122"/>
                <a:cs typeface="Arial" pitchFamily="34" charset="-120"/>
              </a:rPr>
              <a:t>5%</a:t>
            </a:r>
            <a:endParaRPr lang="en-US" sz="1400" dirty="0"/>
          </a:p>
        </p:txBody>
      </p:sp>
      <p:sp>
        <p:nvSpPr>
          <p:cNvPr id="17" name="Shape 15"/>
          <p:cNvSpPr/>
          <p:nvPr/>
        </p:nvSpPr>
        <p:spPr>
          <a:xfrm>
            <a:off x="548640" y="5074920"/>
            <a:ext cx="11091672" cy="914400"/>
          </a:xfrm>
          <a:prstGeom prst="roundRect">
            <a:avLst>
              <a:gd name="adj" fmla="val 10000"/>
            </a:avLst>
          </a:prstGeom>
          <a:solidFill>
            <a:srgbClr val="9A6A00"/>
          </a:solidFill>
          <a:ln/>
          <a:effectLst>
            <a:outerShdw sx="100000" sy="100000" kx="0" ky="0" algn="bl" rotWithShape="0" blurRad="76200" dist="25400" dir="5400000">
              <a:srgbClr val="999999">
                <a:alpha val="28000"/>
              </a:srgbClr>
            </a:outerShdw>
          </a:effectLst>
        </p:spPr>
      </p:sp>
      <p:sp>
        <p:nvSpPr>
          <p:cNvPr id="18" name="Text 16"/>
          <p:cNvSpPr/>
          <p:nvPr/>
        </p:nvSpPr>
        <p:spPr>
          <a:xfrm>
            <a:off x="868680" y="5257800"/>
            <a:ext cx="10451592" cy="548640"/>
          </a:xfrm>
          <a:prstGeom prst="rect">
            <a:avLst/>
          </a:prstGeom>
          <a:noFill/>
          <a:ln/>
        </p:spPr>
        <p:txBody>
          <a:bodyPr wrap="square" rtlCol="0" anchor="ctr"/>
          <a:lstStyle/>
          <a:p>
            <a:pPr rtl="1" algn="r" indent="0" marL="0">
              <a:buNone/>
            </a:pPr>
            <a:r>
              <a:rPr lang="en-US" sz="1450" b="1" dirty="0">
                <a:solidFill>
                  <a:srgbClr val="FFFFFF"/>
                </a:solidFill>
                <a:latin typeface="Arial" pitchFamily="34" charset="0"/>
                <a:ea typeface="Arial" pitchFamily="34" charset="-122"/>
                <a:cs typeface="Arial" pitchFamily="34" charset="-120"/>
              </a:rPr>
              <a:t>המודל ראה את הדפוס הזה אלפי פעמים, ולכן ההמשך הסביר ביותר הוא נוסחת הממוצע — הוא בוחר את ההסתברות הגבוהה. אבל אם הדפוס נדיר או מבלבל, הוא עלול לבחור המשך שגוי — בביטחון מלא. זו הזיה.</a:t>
            </a:r>
            <a:endParaRPr lang="en-US" sz="1450" dirty="0"/>
          </a:p>
        </p:txBody>
      </p:sp>
      <p:sp>
        <p:nvSpPr>
          <p:cNvPr id="19" name="Text 1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11 / 27</a:t>
            </a:r>
            <a:endParaRPr lang="en-US" sz="950" dirty="0"/>
          </a:p>
        </p:txBody>
      </p:sp>
      <p:sp>
        <p:nvSpPr>
          <p:cNvPr id="20" name="Text 1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תהליך</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מה קורה כשמבקשים קוד</a:t>
            </a:r>
            <a:endParaRPr lang="en-US" sz="3300" dirty="0"/>
          </a:p>
        </p:txBody>
      </p:sp>
      <p:sp>
        <p:nvSpPr>
          <p:cNvPr id="4" name="Shape 2"/>
          <p:cNvSpPr/>
          <p:nvPr/>
        </p:nvSpPr>
        <p:spPr>
          <a:xfrm>
            <a:off x="9176004" y="2011680"/>
            <a:ext cx="2464308"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9313164" y="2212848"/>
            <a:ext cx="2189988"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אתם</a:t>
            </a:r>
            <a:endParaRPr lang="en-US" sz="1500" dirty="0"/>
          </a:p>
        </p:txBody>
      </p:sp>
      <p:sp>
        <p:nvSpPr>
          <p:cNvPr id="6" name="Text 4"/>
          <p:cNvSpPr/>
          <p:nvPr/>
        </p:nvSpPr>
        <p:spPr>
          <a:xfrm>
            <a:off x="9313164" y="2633472"/>
            <a:ext cx="2189988" cy="6858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פרומפט: בקשה בשפה טבעית</a:t>
            </a:r>
            <a:endParaRPr lang="en-US" sz="1250" dirty="0"/>
          </a:p>
        </p:txBody>
      </p:sp>
      <p:sp>
        <p:nvSpPr>
          <p:cNvPr id="7" name="Shape 5"/>
          <p:cNvSpPr/>
          <p:nvPr/>
        </p:nvSpPr>
        <p:spPr>
          <a:xfrm>
            <a:off x="8801100" y="2697480"/>
            <a:ext cx="301752" cy="0"/>
          </a:xfrm>
          <a:prstGeom prst="line">
            <a:avLst/>
          </a:prstGeom>
          <a:noFill/>
          <a:ln w="38100">
            <a:solidFill>
              <a:srgbClr val="3B3B98"/>
            </a:solidFill>
            <a:prstDash val="solid"/>
            <a:headEnd type="triangle"/>
          </a:ln>
        </p:spPr>
      </p:sp>
      <p:sp>
        <p:nvSpPr>
          <p:cNvPr id="8" name="Shape 6"/>
          <p:cNvSpPr/>
          <p:nvPr/>
        </p:nvSpPr>
        <p:spPr>
          <a:xfrm>
            <a:off x="6300216" y="2011680"/>
            <a:ext cx="2464308"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9" name="Text 7"/>
          <p:cNvSpPr/>
          <p:nvPr/>
        </p:nvSpPr>
        <p:spPr>
          <a:xfrm>
            <a:off x="6437376" y="2212848"/>
            <a:ext cx="2189988"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המודל</a:t>
            </a:r>
            <a:endParaRPr lang="en-US" sz="1500" dirty="0"/>
          </a:p>
        </p:txBody>
      </p:sp>
      <p:sp>
        <p:nvSpPr>
          <p:cNvPr id="10" name="Text 8"/>
          <p:cNvSpPr/>
          <p:nvPr/>
        </p:nvSpPr>
        <p:spPr>
          <a:xfrm>
            <a:off x="6437376" y="2633472"/>
            <a:ext cx="2189988" cy="6858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מנבא ומייצר קוד</a:t>
            </a:r>
            <a:endParaRPr lang="en-US" sz="1250" dirty="0"/>
          </a:p>
        </p:txBody>
      </p:sp>
      <p:sp>
        <p:nvSpPr>
          <p:cNvPr id="11" name="Shape 9"/>
          <p:cNvSpPr/>
          <p:nvPr/>
        </p:nvSpPr>
        <p:spPr>
          <a:xfrm>
            <a:off x="5925312" y="2697480"/>
            <a:ext cx="301752" cy="0"/>
          </a:xfrm>
          <a:prstGeom prst="line">
            <a:avLst/>
          </a:prstGeom>
          <a:noFill/>
          <a:ln w="38100">
            <a:solidFill>
              <a:srgbClr val="3B3B98"/>
            </a:solidFill>
            <a:prstDash val="solid"/>
            <a:headEnd type="triangle"/>
          </a:ln>
        </p:spPr>
      </p:sp>
      <p:sp>
        <p:nvSpPr>
          <p:cNvPr id="12" name="Shape 10"/>
          <p:cNvSpPr/>
          <p:nvPr/>
        </p:nvSpPr>
        <p:spPr>
          <a:xfrm>
            <a:off x="3424428" y="2011680"/>
            <a:ext cx="2464308" cy="1371600"/>
          </a:xfrm>
          <a:prstGeom prst="roundRect">
            <a:avLst>
              <a:gd name="adj" fmla="val 6000"/>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3561588" y="2212848"/>
            <a:ext cx="2189988" cy="365760"/>
          </a:xfrm>
          <a:prstGeom prst="rect">
            <a:avLst/>
          </a:prstGeom>
          <a:noFill/>
          <a:ln/>
        </p:spPr>
        <p:txBody>
          <a:bodyPr wrap="square" rtlCol="0" anchor="t"/>
          <a:lstStyle/>
          <a:p>
            <a:pPr rtl="1" algn="ctr" indent="0" marL="0">
              <a:buNone/>
            </a:pPr>
            <a:r>
              <a:rPr lang="en-US" sz="1500" b="1" dirty="0">
                <a:solidFill>
                  <a:srgbClr val="0E9AA7"/>
                </a:solidFill>
                <a:latin typeface="Arial" pitchFamily="34" charset="0"/>
                <a:ea typeface="Arial" pitchFamily="34" charset="-122"/>
                <a:cs typeface="Arial" pitchFamily="34" charset="-120"/>
              </a:rPr>
              <a:t>אתם</a:t>
            </a:r>
            <a:endParaRPr lang="en-US" sz="1500" dirty="0"/>
          </a:p>
        </p:txBody>
      </p:sp>
      <p:sp>
        <p:nvSpPr>
          <p:cNvPr id="14" name="Text 12"/>
          <p:cNvSpPr/>
          <p:nvPr/>
        </p:nvSpPr>
        <p:spPr>
          <a:xfrm>
            <a:off x="3561588" y="2633472"/>
            <a:ext cx="2189988" cy="6858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קוראים · בודקים · מריצים</a:t>
            </a:r>
            <a:endParaRPr lang="en-US" sz="1250" dirty="0"/>
          </a:p>
        </p:txBody>
      </p:sp>
      <p:sp>
        <p:nvSpPr>
          <p:cNvPr id="15" name="Shape 13"/>
          <p:cNvSpPr/>
          <p:nvPr/>
        </p:nvSpPr>
        <p:spPr>
          <a:xfrm>
            <a:off x="3049524" y="2697480"/>
            <a:ext cx="301752" cy="0"/>
          </a:xfrm>
          <a:prstGeom prst="line">
            <a:avLst/>
          </a:prstGeom>
          <a:noFill/>
          <a:ln w="38100">
            <a:solidFill>
              <a:srgbClr val="3B3B98"/>
            </a:solidFill>
            <a:prstDash val="solid"/>
            <a:headEnd type="triangle"/>
          </a:ln>
        </p:spPr>
      </p:sp>
      <p:sp>
        <p:nvSpPr>
          <p:cNvPr id="16" name="Shape 14"/>
          <p:cNvSpPr/>
          <p:nvPr/>
        </p:nvSpPr>
        <p:spPr>
          <a:xfrm>
            <a:off x="548640" y="2011680"/>
            <a:ext cx="2464308"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17" name="Text 15"/>
          <p:cNvSpPr/>
          <p:nvPr/>
        </p:nvSpPr>
        <p:spPr>
          <a:xfrm>
            <a:off x="685800" y="2212848"/>
            <a:ext cx="2189988"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החלטה</a:t>
            </a:r>
            <a:endParaRPr lang="en-US" sz="1500" dirty="0"/>
          </a:p>
        </p:txBody>
      </p:sp>
      <p:sp>
        <p:nvSpPr>
          <p:cNvPr id="18" name="Text 16"/>
          <p:cNvSpPr/>
          <p:nvPr/>
        </p:nvSpPr>
        <p:spPr>
          <a:xfrm>
            <a:off x="685800" y="2633472"/>
            <a:ext cx="2189988" cy="6858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תיקון או אישור</a:t>
            </a:r>
            <a:endParaRPr lang="en-US" sz="1250" dirty="0"/>
          </a:p>
        </p:txBody>
      </p:sp>
      <p:sp>
        <p:nvSpPr>
          <p:cNvPr id="19" name="Text 17"/>
          <p:cNvSpPr/>
          <p:nvPr/>
        </p:nvSpPr>
        <p:spPr>
          <a:xfrm>
            <a:off x="548640" y="3703320"/>
            <a:ext cx="11091672" cy="365760"/>
          </a:xfrm>
          <a:prstGeom prst="rect">
            <a:avLst/>
          </a:prstGeom>
          <a:noFill/>
          <a:ln/>
        </p:spPr>
        <p:txBody>
          <a:bodyPr wrap="square" rtlCol="0" anchor="t"/>
          <a:lstStyle/>
          <a:p>
            <a:pPr rtl="1" algn="ctr" indent="0" marL="0">
              <a:buNone/>
            </a:pPr>
            <a:r>
              <a:rPr lang="en-US" sz="1350" i="1" dirty="0">
                <a:solidFill>
                  <a:srgbClr val="6B6B80"/>
                </a:solidFill>
                <a:latin typeface="Arial" pitchFamily="34" charset="0"/>
                <a:ea typeface="Arial" pitchFamily="34" charset="-122"/>
                <a:cs typeface="Arial" pitchFamily="34" charset="-120"/>
              </a:rPr>
              <a:t>↻  אם צריך — חוזרים לשלב 1 עם פרומפט מדויק יותר</a:t>
            </a:r>
            <a:endParaRPr lang="en-US" sz="1350" dirty="0"/>
          </a:p>
        </p:txBody>
      </p:sp>
      <p:sp>
        <p:nvSpPr>
          <p:cNvPr id="20" name="Shape 18"/>
          <p:cNvSpPr/>
          <p:nvPr/>
        </p:nvSpPr>
        <p:spPr>
          <a:xfrm>
            <a:off x="548640" y="4343400"/>
            <a:ext cx="11091672" cy="1005840"/>
          </a:xfrm>
          <a:prstGeom prst="roundRect">
            <a:avLst>
              <a:gd name="adj" fmla="val 9091"/>
            </a:avLst>
          </a:prstGeom>
          <a:solidFill>
            <a:srgbClr val="1E2761"/>
          </a:solidFill>
          <a:ln/>
          <a:effectLst>
            <a:outerShdw sx="100000" sy="100000" kx="0" ky="0" algn="bl" rotWithShape="0" blurRad="76200" dist="25400" dir="5400000">
              <a:srgbClr val="999999">
                <a:alpha val="28000"/>
              </a:srgbClr>
            </a:outerShdw>
          </a:effectLst>
        </p:spPr>
      </p:sp>
      <p:sp>
        <p:nvSpPr>
          <p:cNvPr id="21" name="Text 19"/>
          <p:cNvSpPr/>
          <p:nvPr/>
        </p:nvSpPr>
        <p:spPr>
          <a:xfrm>
            <a:off x="868680" y="4526280"/>
            <a:ext cx="10451592" cy="64008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שלב 3 — הביקורת האנושית — הוא הלב של הקורס. בלעדיו, קוד ה-AI הוא ניחוש שלא נבדק.</a:t>
            </a:r>
            <a:endParaRPr lang="en-US" sz="1700" dirty="0"/>
          </a:p>
        </p:txBody>
      </p:sp>
      <p:sp>
        <p:nvSpPr>
          <p:cNvPr id="22" name="Text 2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12 / 27</a:t>
            </a:r>
            <a:endParaRPr lang="en-US" sz="950" dirty="0"/>
          </a:p>
        </p:txBody>
      </p:sp>
      <p:sp>
        <p:nvSpPr>
          <p:cNvPr id="23" name="Text 2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למה זה מרגש</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ההבטחות של תכנות מבוסס-AI</a:t>
            </a:r>
            <a:endParaRPr lang="en-US" sz="3300" dirty="0"/>
          </a:p>
        </p:txBody>
      </p:sp>
      <p:sp>
        <p:nvSpPr>
          <p:cNvPr id="4" name="Shape 2"/>
          <p:cNvSpPr/>
          <p:nvPr/>
        </p:nvSpPr>
        <p:spPr>
          <a:xfrm>
            <a:off x="11237976" y="1801368"/>
            <a:ext cx="402336" cy="402336"/>
          </a:xfrm>
          <a:prstGeom prst="ellipse">
            <a:avLst/>
          </a:prstGeom>
          <a:solidFill>
            <a:srgbClr val="2E7D32"/>
          </a:solidFill>
          <a:ln/>
        </p:spPr>
      </p:sp>
      <p:sp>
        <p:nvSpPr>
          <p:cNvPr id="5" name="Text 3"/>
          <p:cNvSpPr/>
          <p:nvPr/>
        </p:nvSpPr>
        <p:spPr>
          <a:xfrm>
            <a:off x="11237976" y="18013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7647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מהירות</a:t>
            </a:r>
            <a:endParaRPr lang="en-US" sz="1650" dirty="0"/>
          </a:p>
        </p:txBody>
      </p:sp>
      <p:sp>
        <p:nvSpPr>
          <p:cNvPr id="7" name="Text 5"/>
          <p:cNvSpPr/>
          <p:nvPr/>
        </p:nvSpPr>
        <p:spPr>
          <a:xfrm>
            <a:off x="548640" y="211226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פרוטוטייפ בדקות במקום שעות.</a:t>
            </a:r>
            <a:endParaRPr lang="en-US" sz="1300" dirty="0"/>
          </a:p>
        </p:txBody>
      </p:sp>
      <p:sp>
        <p:nvSpPr>
          <p:cNvPr id="8" name="Shape 6"/>
          <p:cNvSpPr/>
          <p:nvPr/>
        </p:nvSpPr>
        <p:spPr>
          <a:xfrm>
            <a:off x="11237976" y="2852928"/>
            <a:ext cx="402336" cy="402336"/>
          </a:xfrm>
          <a:prstGeom prst="ellipse">
            <a:avLst/>
          </a:prstGeom>
          <a:solidFill>
            <a:srgbClr val="2E7D32"/>
          </a:solidFill>
          <a:ln/>
        </p:spPr>
      </p:sp>
      <p:sp>
        <p:nvSpPr>
          <p:cNvPr id="9" name="Text 7"/>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נגישות</a:t>
            </a:r>
            <a:endParaRPr lang="en-US" sz="1650" dirty="0"/>
          </a:p>
        </p:txBody>
      </p:sp>
      <p:sp>
        <p:nvSpPr>
          <p:cNvPr id="11" name="Text 9"/>
          <p:cNvSpPr/>
          <p:nvPr/>
        </p:nvSpPr>
        <p:spPr>
          <a:xfrm>
            <a:off x="548640" y="316382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אפשר לבנות בלי לזכור כל תחביר בעל-פה.</a:t>
            </a:r>
            <a:endParaRPr lang="en-US" sz="1300" dirty="0"/>
          </a:p>
        </p:txBody>
      </p:sp>
      <p:sp>
        <p:nvSpPr>
          <p:cNvPr id="12" name="Shape 10"/>
          <p:cNvSpPr/>
          <p:nvPr/>
        </p:nvSpPr>
        <p:spPr>
          <a:xfrm>
            <a:off x="11237976" y="3904488"/>
            <a:ext cx="402336" cy="402336"/>
          </a:xfrm>
          <a:prstGeom prst="ellipse">
            <a:avLst/>
          </a:prstGeom>
          <a:solidFill>
            <a:srgbClr val="2E7D32"/>
          </a:solidFill>
          <a:ln/>
        </p:spPr>
      </p:sp>
      <p:sp>
        <p:nvSpPr>
          <p:cNvPr id="13" name="Text 11"/>
          <p:cNvSpPr/>
          <p:nvPr/>
        </p:nvSpPr>
        <p:spPr>
          <a:xfrm>
            <a:off x="11237976" y="3904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38679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פחות עבודה שחורה</a:t>
            </a:r>
            <a:endParaRPr lang="en-US" sz="1650" dirty="0"/>
          </a:p>
        </p:txBody>
      </p:sp>
      <p:sp>
        <p:nvSpPr>
          <p:cNvPr id="15" name="Text 13"/>
          <p:cNvSpPr/>
          <p:nvPr/>
        </p:nvSpPr>
        <p:spPr>
          <a:xfrm>
            <a:off x="548640" y="421538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boilerplate, תיעוד וטסטים נכתבים מהר.</a:t>
            </a:r>
            <a:endParaRPr lang="en-US" sz="1300" dirty="0"/>
          </a:p>
        </p:txBody>
      </p:sp>
      <p:sp>
        <p:nvSpPr>
          <p:cNvPr id="16" name="Shape 14"/>
          <p:cNvSpPr/>
          <p:nvPr/>
        </p:nvSpPr>
        <p:spPr>
          <a:xfrm>
            <a:off x="11237976" y="4956048"/>
            <a:ext cx="402336" cy="402336"/>
          </a:xfrm>
          <a:prstGeom prst="ellipse">
            <a:avLst/>
          </a:prstGeom>
          <a:solidFill>
            <a:srgbClr val="2E7D32"/>
          </a:solidFill>
          <a:ln/>
        </p:spPr>
      </p:sp>
      <p:sp>
        <p:nvSpPr>
          <p:cNvPr id="17" name="Text 15"/>
          <p:cNvSpPr/>
          <p:nvPr/>
        </p:nvSpPr>
        <p:spPr>
          <a:xfrm>
            <a:off x="11237976" y="49560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548640" y="491947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שותף לחשיבה</a:t>
            </a:r>
            <a:endParaRPr lang="en-US" sz="1650" dirty="0"/>
          </a:p>
        </p:txBody>
      </p:sp>
      <p:sp>
        <p:nvSpPr>
          <p:cNvPr id="19" name="Text 17"/>
          <p:cNvSpPr/>
          <p:nvPr/>
        </p:nvSpPr>
        <p:spPr>
          <a:xfrm>
            <a:off x="548640" y="526694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מציע רעיונות, כיוונים וחלופות.</a:t>
            </a:r>
            <a:endParaRPr lang="en-US" sz="130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13 / 27</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למה חובה להיזהר</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המגבלות — ולמה חשוב להכיר אותן</a:t>
            </a:r>
            <a:endParaRPr lang="en-US" sz="3300" dirty="0"/>
          </a:p>
        </p:txBody>
      </p:sp>
      <p:sp>
        <p:nvSpPr>
          <p:cNvPr id="4" name="Shape 2"/>
          <p:cNvSpPr/>
          <p:nvPr/>
        </p:nvSpPr>
        <p:spPr>
          <a:xfrm>
            <a:off x="11237976" y="1801368"/>
            <a:ext cx="402336" cy="402336"/>
          </a:xfrm>
          <a:prstGeom prst="ellipse">
            <a:avLst/>
          </a:prstGeom>
          <a:solidFill>
            <a:srgbClr val="C62828"/>
          </a:solidFill>
          <a:ln/>
        </p:spPr>
      </p:sp>
      <p:sp>
        <p:nvSpPr>
          <p:cNvPr id="5" name="Text 3"/>
          <p:cNvSpPr/>
          <p:nvPr/>
        </p:nvSpPr>
        <p:spPr>
          <a:xfrm>
            <a:off x="11237976" y="18013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7647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הזיות (Hallucinations)</a:t>
            </a:r>
            <a:endParaRPr lang="en-US" sz="1650" dirty="0"/>
          </a:p>
        </p:txBody>
      </p:sp>
      <p:sp>
        <p:nvSpPr>
          <p:cNvPr id="7" name="Text 5"/>
          <p:cNvSpPr/>
          <p:nvPr/>
        </p:nvSpPr>
        <p:spPr>
          <a:xfrm>
            <a:off x="548640" y="211226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ממציא פונקציות או ספריות שלא קיימות.</a:t>
            </a:r>
            <a:endParaRPr lang="en-US" sz="1300" dirty="0"/>
          </a:p>
        </p:txBody>
      </p:sp>
      <p:sp>
        <p:nvSpPr>
          <p:cNvPr id="8" name="Shape 6"/>
          <p:cNvSpPr/>
          <p:nvPr/>
        </p:nvSpPr>
        <p:spPr>
          <a:xfrm>
            <a:off x="11237976" y="2852928"/>
            <a:ext cx="402336" cy="402336"/>
          </a:xfrm>
          <a:prstGeom prst="ellipse">
            <a:avLst/>
          </a:prstGeom>
          <a:solidFill>
            <a:srgbClr val="C62828"/>
          </a:solidFill>
          <a:ln/>
        </p:spPr>
      </p:sp>
      <p:sp>
        <p:nvSpPr>
          <p:cNvPr id="9" name="Text 7"/>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חוסר הקשר עסקי</a:t>
            </a:r>
            <a:endParaRPr lang="en-US" sz="1650" dirty="0"/>
          </a:p>
        </p:txBody>
      </p:sp>
      <p:sp>
        <p:nvSpPr>
          <p:cNvPr id="11" name="Text 9"/>
          <p:cNvSpPr/>
          <p:nvPr/>
        </p:nvSpPr>
        <p:spPr>
          <a:xfrm>
            <a:off x="548640" y="316382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לא יודע מה בדיוק הפרויקט או החברה צריכים.</a:t>
            </a:r>
            <a:endParaRPr lang="en-US" sz="1300" dirty="0"/>
          </a:p>
        </p:txBody>
      </p:sp>
      <p:sp>
        <p:nvSpPr>
          <p:cNvPr id="12" name="Shape 10"/>
          <p:cNvSpPr/>
          <p:nvPr/>
        </p:nvSpPr>
        <p:spPr>
          <a:xfrm>
            <a:off x="11237976" y="3904488"/>
            <a:ext cx="402336" cy="402336"/>
          </a:xfrm>
          <a:prstGeom prst="ellipse">
            <a:avLst/>
          </a:prstGeom>
          <a:solidFill>
            <a:srgbClr val="C62828"/>
          </a:solidFill>
          <a:ln/>
        </p:spPr>
      </p:sp>
      <p:sp>
        <p:nvSpPr>
          <p:cNvPr id="13" name="Text 11"/>
          <p:cNvSpPr/>
          <p:nvPr/>
        </p:nvSpPr>
        <p:spPr>
          <a:xfrm>
            <a:off x="11237976" y="3904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38679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קוד לא בטוח</a:t>
            </a:r>
            <a:endParaRPr lang="en-US" sz="1650" dirty="0"/>
          </a:p>
        </p:txBody>
      </p:sp>
      <p:sp>
        <p:nvSpPr>
          <p:cNvPr id="15" name="Text 13"/>
          <p:cNvSpPr/>
          <p:nvPr/>
        </p:nvSpPr>
        <p:spPr>
          <a:xfrm>
            <a:off x="548640" y="421538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עלול לייצר פרצות אבטחה — בשוגג.</a:t>
            </a:r>
            <a:endParaRPr lang="en-US" sz="1300" dirty="0"/>
          </a:p>
        </p:txBody>
      </p:sp>
      <p:sp>
        <p:nvSpPr>
          <p:cNvPr id="16" name="Shape 14"/>
          <p:cNvSpPr/>
          <p:nvPr/>
        </p:nvSpPr>
        <p:spPr>
          <a:xfrm>
            <a:off x="11237976" y="4956048"/>
            <a:ext cx="402336" cy="402336"/>
          </a:xfrm>
          <a:prstGeom prst="ellipse">
            <a:avLst/>
          </a:prstGeom>
          <a:solidFill>
            <a:srgbClr val="C62828"/>
          </a:solidFill>
          <a:ln/>
        </p:spPr>
      </p:sp>
      <p:sp>
        <p:nvSpPr>
          <p:cNvPr id="17" name="Text 15"/>
          <p:cNvSpPr/>
          <p:nvPr/>
        </p:nvSpPr>
        <p:spPr>
          <a:xfrm>
            <a:off x="11237976" y="49560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548640" y="491947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ידע מיושן</a:t>
            </a:r>
            <a:endParaRPr lang="en-US" sz="1650" dirty="0"/>
          </a:p>
        </p:txBody>
      </p:sp>
      <p:sp>
        <p:nvSpPr>
          <p:cNvPr id="19" name="Text 17"/>
          <p:cNvSpPr/>
          <p:nvPr/>
        </p:nvSpPr>
        <p:spPr>
          <a:xfrm>
            <a:off x="548640" y="526694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אומן בעבר; לא מכיר גרסאות או חידושים אחרונים.</a:t>
            </a:r>
            <a:endParaRPr lang="en-US" sz="130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14 / 27</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המגבלה הכי מסוכנת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דוגמה אמיתית להזיה — ואיך מזהים</a:t>
            </a:r>
            <a:endParaRPr lang="en-US" sz="3300" dirty="0"/>
          </a:p>
        </p:txBody>
      </p:sp>
      <p:sp>
        <p:nvSpPr>
          <p:cNvPr id="4" name="Shape 2"/>
          <p:cNvSpPr/>
          <p:nvPr/>
        </p:nvSpPr>
        <p:spPr>
          <a:xfrm>
            <a:off x="548640" y="1737360"/>
            <a:ext cx="11091672" cy="1234440"/>
          </a:xfrm>
          <a:prstGeom prst="roundRect">
            <a:avLst>
              <a:gd name="adj" fmla="val 6667"/>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9628632" y="1810512"/>
            <a:ext cx="1828800" cy="320040"/>
          </a:xfrm>
          <a:prstGeom prst="rect">
            <a:avLst/>
          </a:prstGeom>
          <a:noFill/>
          <a:ln/>
        </p:spPr>
        <p:txBody>
          <a:bodyPr wrap="square" rtlCol="0" anchor="ctr"/>
          <a:lstStyle/>
          <a:p>
            <a:pPr rtl="1" algn="r" indent="0" marL="0">
              <a:buNone/>
            </a:pPr>
            <a:r>
              <a:rPr lang="en-US" sz="1200" b="1" dirty="0">
                <a:solidFill>
                  <a:srgbClr val="F1948A"/>
                </a:solidFill>
                <a:latin typeface="Arial" pitchFamily="34" charset="0"/>
                <a:ea typeface="Arial" pitchFamily="34" charset="-122"/>
                <a:cs typeface="Arial" pitchFamily="34" charset="-120"/>
              </a:rPr>
              <a:t>מה ה-AI כתב</a:t>
            </a:r>
            <a:endParaRPr lang="en-US" sz="1200" dirty="0"/>
          </a:p>
        </p:txBody>
      </p:sp>
      <p:sp>
        <p:nvSpPr>
          <p:cNvPr id="6" name="Text 4"/>
          <p:cNvSpPr/>
          <p:nvPr/>
        </p:nvSpPr>
        <p:spPr>
          <a:xfrm>
            <a:off x="822960" y="2194560"/>
            <a:ext cx="10543032" cy="685800"/>
          </a:xfrm>
          <a:prstGeom prst="rect">
            <a:avLst/>
          </a:prstGeom>
          <a:noFill/>
          <a:ln/>
        </p:spPr>
        <p:txBody>
          <a:bodyPr wrap="square" rtlCol="0" anchor="t"/>
          <a:lstStyle/>
          <a:p>
            <a:pPr algn="l" indent="0" marL="0">
              <a:buNone/>
            </a:pPr>
            <a:r>
              <a:rPr lang="en-US" sz="1400" dirty="0">
                <a:solidFill>
                  <a:srgbClr val="E8E8F0"/>
                </a:solidFill>
                <a:latin typeface="Courier New" pitchFamily="34" charset="0"/>
                <a:ea typeface="Courier New" pitchFamily="34" charset="-122"/>
                <a:cs typeface="Courier New" pitchFamily="34" charset="-120"/>
              </a:rPr>
              <a:t>import pandas as pd</a:t>
            </a:r>
            <a:endParaRPr lang="en-US" sz="1400" dirty="0"/>
          </a:p>
          <a:p>
            <a:pPr algn="l" indent="0" marL="0">
              <a:buNone/>
            </a:pPr>
            <a:r>
              <a:rPr lang="en-US" sz="1400" dirty="0">
                <a:solidFill>
                  <a:srgbClr val="E8E8F0"/>
                </a:solidFill>
                <a:latin typeface="Courier New" pitchFamily="34" charset="0"/>
                <a:ea typeface="Courier New" pitchFamily="34" charset="-122"/>
                <a:cs typeface="Courier New" pitchFamily="34" charset="-120"/>
              </a:rPr>
              <a:t>df.to_excel_fast("out.xlsx")   # ← to_excel_fast לא קיים!</a:t>
            </a:r>
            <a:endParaRPr lang="en-US" sz="1400" dirty="0"/>
          </a:p>
        </p:txBody>
      </p:sp>
      <p:sp>
        <p:nvSpPr>
          <p:cNvPr id="7" name="Text 5"/>
          <p:cNvSpPr/>
          <p:nvPr/>
        </p:nvSpPr>
        <p:spPr>
          <a:xfrm>
            <a:off x="548640" y="310896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המודל “המציא” פונקציה שנשמעת הגיונית — אבל אין כזו ב-pandas.</a:t>
            </a:r>
            <a:endParaRPr lang="en-US" sz="1400" dirty="0"/>
          </a:p>
        </p:txBody>
      </p:sp>
      <p:sp>
        <p:nvSpPr>
          <p:cNvPr id="8" name="Text 6"/>
          <p:cNvSpPr/>
          <p:nvPr/>
        </p:nvSpPr>
        <p:spPr>
          <a:xfrm>
            <a:off x="548640" y="361188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איך מזהים ומתקנים:</a:t>
            </a:r>
            <a:endParaRPr lang="en-US" sz="1500" dirty="0"/>
          </a:p>
        </p:txBody>
      </p:sp>
      <p:sp>
        <p:nvSpPr>
          <p:cNvPr id="9" name="Shape 7"/>
          <p:cNvSpPr/>
          <p:nvPr/>
        </p:nvSpPr>
        <p:spPr>
          <a:xfrm>
            <a:off x="11274552" y="4069080"/>
            <a:ext cx="365760" cy="365760"/>
          </a:xfrm>
          <a:prstGeom prst="ellipse">
            <a:avLst/>
          </a:prstGeom>
          <a:solidFill>
            <a:srgbClr val="C62828"/>
          </a:solidFill>
          <a:ln/>
        </p:spPr>
      </p:sp>
      <p:sp>
        <p:nvSpPr>
          <p:cNvPr id="10" name="Text 8"/>
          <p:cNvSpPr/>
          <p:nvPr/>
        </p:nvSpPr>
        <p:spPr>
          <a:xfrm>
            <a:off x="11274552" y="406908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Text 9"/>
          <p:cNvSpPr/>
          <p:nvPr/>
        </p:nvSpPr>
        <p:spPr>
          <a:xfrm>
            <a:off x="548640" y="4050792"/>
            <a:ext cx="1056132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את הקוד — תקבלו שגיאה: AttributeError.</a:t>
            </a:r>
            <a:endParaRPr lang="en-US" sz="1700" dirty="0"/>
          </a:p>
        </p:txBody>
      </p:sp>
      <p:sp>
        <p:nvSpPr>
          <p:cNvPr id="12" name="Shape 10"/>
          <p:cNvSpPr/>
          <p:nvPr/>
        </p:nvSpPr>
        <p:spPr>
          <a:xfrm>
            <a:off x="11274552" y="4572000"/>
            <a:ext cx="365760" cy="365760"/>
          </a:xfrm>
          <a:prstGeom prst="ellipse">
            <a:avLst/>
          </a:prstGeom>
          <a:solidFill>
            <a:srgbClr val="C62828"/>
          </a:solidFill>
          <a:ln/>
        </p:spPr>
      </p:sp>
      <p:sp>
        <p:nvSpPr>
          <p:cNvPr id="13" name="Text 11"/>
          <p:cNvSpPr/>
          <p:nvPr/>
        </p:nvSpPr>
        <p:spPr>
          <a:xfrm>
            <a:off x="11274552" y="457200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548640" y="4553712"/>
            <a:ext cx="1056132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בדקו בתיעוד הרשמי אם הפונקציה קיימת (כאן: df.to_excel).</a:t>
            </a:r>
            <a:endParaRPr lang="en-US" sz="1700" dirty="0"/>
          </a:p>
        </p:txBody>
      </p:sp>
      <p:sp>
        <p:nvSpPr>
          <p:cNvPr id="15" name="Shape 13"/>
          <p:cNvSpPr/>
          <p:nvPr/>
        </p:nvSpPr>
        <p:spPr>
          <a:xfrm>
            <a:off x="11274552" y="5074920"/>
            <a:ext cx="365760" cy="365760"/>
          </a:xfrm>
          <a:prstGeom prst="ellipse">
            <a:avLst/>
          </a:prstGeom>
          <a:solidFill>
            <a:srgbClr val="C62828"/>
          </a:solidFill>
          <a:ln/>
        </p:spPr>
      </p:sp>
      <p:sp>
        <p:nvSpPr>
          <p:cNvPr id="16" name="Text 14"/>
          <p:cNvSpPr/>
          <p:nvPr/>
        </p:nvSpPr>
        <p:spPr>
          <a:xfrm>
            <a:off x="11274552" y="507492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548640" y="5056632"/>
            <a:ext cx="1056132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בקשו מה-AI מקור/תיקון — או תקנו בעצמכם.</a:t>
            </a:r>
            <a:endParaRPr lang="en-US" sz="1700" dirty="0"/>
          </a:p>
        </p:txBody>
      </p:sp>
      <p:sp>
        <p:nvSpPr>
          <p:cNvPr id="18" name="Text 16"/>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15 / 27</a:t>
            </a:r>
            <a:endParaRPr lang="en-US" sz="950" dirty="0"/>
          </a:p>
        </p:txBody>
      </p:sp>
      <p:sp>
        <p:nvSpPr>
          <p:cNvPr id="19" name="Text 17"/>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עקרון-העל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המטאפורה המנחה: “מתכנת ג’וניור מוכשר”</a:t>
            </a:r>
            <a:endParaRPr lang="en-US" sz="3300" dirty="0"/>
          </a:p>
        </p:txBody>
      </p:sp>
      <p:sp>
        <p:nvSpPr>
          <p:cNvPr id="4" name="Text 2"/>
          <p:cNvSpPr/>
          <p:nvPr/>
        </p:nvSpPr>
        <p:spPr>
          <a:xfrm>
            <a:off x="548640" y="1783080"/>
            <a:ext cx="11091672" cy="457200"/>
          </a:xfrm>
          <a:prstGeom prst="rect">
            <a:avLst/>
          </a:prstGeom>
          <a:noFill/>
          <a:ln/>
        </p:spPr>
        <p:txBody>
          <a:bodyPr wrap="square" rtlCol="0" anchor="t"/>
          <a:lstStyle/>
          <a:p>
            <a:pPr rtl="1" algn="r" indent="0" marL="0">
              <a:buNone/>
            </a:pPr>
            <a:r>
              <a:rPr lang="en-US" sz="1800" b="1" dirty="0">
                <a:solidFill>
                  <a:srgbClr val="222232"/>
                </a:solidFill>
                <a:latin typeface="Arial" pitchFamily="34" charset="0"/>
                <a:ea typeface="Arial" pitchFamily="34" charset="-122"/>
                <a:cs typeface="Arial" pitchFamily="34" charset="-120"/>
              </a:rPr>
              <a:t>חשבו על ה-AI כמו מתכנת/ת ג’וניור מוכשר/ת מאוד:</a:t>
            </a:r>
            <a:endParaRPr lang="en-US" sz="1800" dirty="0"/>
          </a:p>
        </p:txBody>
      </p:sp>
      <p:sp>
        <p:nvSpPr>
          <p:cNvPr id="5" name="Shape 3"/>
          <p:cNvSpPr/>
          <p:nvPr/>
        </p:nvSpPr>
        <p:spPr>
          <a:xfrm>
            <a:off x="6277356" y="2377440"/>
            <a:ext cx="5362956" cy="1737360"/>
          </a:xfrm>
          <a:prstGeom prst="roundRect">
            <a:avLst>
              <a:gd name="adj" fmla="val 4737"/>
            </a:avLst>
          </a:prstGeom>
          <a:solidFill>
            <a:srgbClr val="EAF3EA"/>
          </a:solidFill>
          <a:ln/>
          <a:effectLst>
            <a:outerShdw sx="100000" sy="100000" kx="0" ky="0" algn="bl" rotWithShape="0" blurRad="76200" dist="25400" dir="5400000">
              <a:srgbClr val="999999">
                <a:alpha val="28000"/>
              </a:srgbClr>
            </a:outerShdw>
          </a:effectLst>
        </p:spPr>
      </p:sp>
      <p:sp>
        <p:nvSpPr>
          <p:cNvPr id="6" name="Text 4"/>
          <p:cNvSpPr/>
          <p:nvPr/>
        </p:nvSpPr>
        <p:spPr>
          <a:xfrm>
            <a:off x="6551676" y="2560320"/>
            <a:ext cx="4814316" cy="365760"/>
          </a:xfrm>
          <a:prstGeom prst="rect">
            <a:avLst/>
          </a:prstGeom>
          <a:noFill/>
          <a:ln/>
        </p:spPr>
        <p:txBody>
          <a:bodyPr wrap="square" rtlCol="0" anchor="t"/>
          <a:lstStyle/>
          <a:p>
            <a:pPr rtl="1" algn="r" indent="0" marL="0">
              <a:buNone/>
            </a:pPr>
            <a:r>
              <a:rPr lang="en-US" sz="1500" b="1" dirty="0">
                <a:solidFill>
                  <a:srgbClr val="2E7D32"/>
                </a:solidFill>
                <a:latin typeface="Arial" pitchFamily="34" charset="0"/>
                <a:ea typeface="Arial" pitchFamily="34" charset="-122"/>
                <a:cs typeface="Arial" pitchFamily="34" charset="-120"/>
              </a:rPr>
              <a:t>מה טוב בו</a:t>
            </a:r>
            <a:endParaRPr lang="en-US" sz="1500" dirty="0"/>
          </a:p>
        </p:txBody>
      </p:sp>
      <p:sp>
        <p:nvSpPr>
          <p:cNvPr id="7" name="Text 5"/>
          <p:cNvSpPr/>
          <p:nvPr/>
        </p:nvSpPr>
        <p:spPr>
          <a:xfrm>
            <a:off x="6551676" y="3017520"/>
            <a:ext cx="4814316" cy="1005840"/>
          </a:xfrm>
          <a:prstGeom prst="rect">
            <a:avLst/>
          </a:prstGeom>
          <a:noFill/>
          <a:ln/>
        </p:spPr>
        <p:txBody>
          <a:bodyPr wrap="square" rtlCol="0" anchor="t"/>
          <a:lstStyle/>
          <a:p>
            <a:pPr rtl="1" algn="r" indent="0" marL="0">
              <a:lnSpc>
                <a:spcPct val="130000"/>
              </a:lnSpc>
              <a:buNone/>
            </a:pPr>
            <a:r>
              <a:rPr lang="en-US" sz="1500" dirty="0">
                <a:solidFill>
                  <a:srgbClr val="222232"/>
                </a:solidFill>
                <a:latin typeface="Arial" pitchFamily="34" charset="0"/>
                <a:ea typeface="Arial" pitchFamily="34" charset="-122"/>
                <a:cs typeface="Arial" pitchFamily="34" charset="-120"/>
              </a:rPr>
              <a:t>•  מהיר, יודע הרבה</a:t>
            </a:r>
            <a:endParaRPr lang="en-US" sz="1500" dirty="0"/>
          </a:p>
          <a:p>
            <a:pPr rtl="1" algn="r" indent="0" marL="0">
              <a:lnSpc>
                <a:spcPct val="130000"/>
              </a:lnSpc>
              <a:buNone/>
            </a:pPr>
            <a:r>
              <a:rPr lang="en-US" sz="1500" dirty="0">
                <a:solidFill>
                  <a:srgbClr val="222232"/>
                </a:solidFill>
                <a:latin typeface="Arial" pitchFamily="34" charset="0"/>
                <a:ea typeface="Arial" pitchFamily="34" charset="-122"/>
                <a:cs typeface="Arial" pitchFamily="34" charset="-120"/>
              </a:rPr>
              <a:t>•  כותב קוד סביר במהירות</a:t>
            </a:r>
            <a:endParaRPr lang="en-US" sz="1500" dirty="0"/>
          </a:p>
          <a:p>
            <a:pPr rtl="1" algn="r" indent="0" marL="0">
              <a:lnSpc>
                <a:spcPct val="130000"/>
              </a:lnSpc>
              <a:buNone/>
            </a:pPr>
            <a:r>
              <a:rPr lang="en-US" sz="1500" dirty="0">
                <a:solidFill>
                  <a:srgbClr val="222232"/>
                </a:solidFill>
                <a:latin typeface="Arial" pitchFamily="34" charset="0"/>
                <a:ea typeface="Arial" pitchFamily="34" charset="-122"/>
                <a:cs typeface="Arial" pitchFamily="34" charset="-120"/>
              </a:rPr>
              <a:t>•  חוסך לכם זמן</a:t>
            </a:r>
            <a:endParaRPr lang="en-US" sz="1500" dirty="0"/>
          </a:p>
        </p:txBody>
      </p:sp>
      <p:sp>
        <p:nvSpPr>
          <p:cNvPr id="8" name="Shape 6"/>
          <p:cNvSpPr/>
          <p:nvPr/>
        </p:nvSpPr>
        <p:spPr>
          <a:xfrm>
            <a:off x="548640" y="2377440"/>
            <a:ext cx="5362956" cy="1737360"/>
          </a:xfrm>
          <a:prstGeom prst="roundRect">
            <a:avLst>
              <a:gd name="adj" fmla="val 4737"/>
            </a:avLst>
          </a:prstGeom>
          <a:solidFill>
            <a:srgbClr val="F7EAEA"/>
          </a:solidFill>
          <a:ln/>
          <a:effectLst>
            <a:outerShdw sx="100000" sy="100000" kx="0" ky="0" algn="bl" rotWithShape="0" blurRad="76200" dist="25400" dir="5400000">
              <a:srgbClr val="999999">
                <a:alpha val="28000"/>
              </a:srgbClr>
            </a:outerShdw>
          </a:effectLst>
        </p:spPr>
      </p:sp>
      <p:sp>
        <p:nvSpPr>
          <p:cNvPr id="9" name="Text 7"/>
          <p:cNvSpPr/>
          <p:nvPr/>
        </p:nvSpPr>
        <p:spPr>
          <a:xfrm>
            <a:off x="822960" y="2560320"/>
            <a:ext cx="4814316" cy="365760"/>
          </a:xfrm>
          <a:prstGeom prst="rect">
            <a:avLst/>
          </a:prstGeom>
          <a:noFill/>
          <a:ln/>
        </p:spPr>
        <p:txBody>
          <a:bodyPr wrap="square" rtlCol="0" anchor="t"/>
          <a:lstStyle/>
          <a:p>
            <a:pPr rtl="1" algn="r" indent="0" marL="0">
              <a:buNone/>
            </a:pPr>
            <a:r>
              <a:rPr lang="en-US" sz="1500" b="1" dirty="0">
                <a:solidFill>
                  <a:srgbClr val="C62828"/>
                </a:solidFill>
                <a:latin typeface="Arial" pitchFamily="34" charset="0"/>
                <a:ea typeface="Arial" pitchFamily="34" charset="-122"/>
                <a:cs typeface="Arial" pitchFamily="34" charset="-120"/>
              </a:rPr>
              <a:t>במה להיזהר</a:t>
            </a:r>
            <a:endParaRPr lang="en-US" sz="1500" dirty="0"/>
          </a:p>
        </p:txBody>
      </p:sp>
      <p:sp>
        <p:nvSpPr>
          <p:cNvPr id="10" name="Text 8"/>
          <p:cNvSpPr/>
          <p:nvPr/>
        </p:nvSpPr>
        <p:spPr>
          <a:xfrm>
            <a:off x="822960" y="3017520"/>
            <a:ext cx="4814316" cy="1005840"/>
          </a:xfrm>
          <a:prstGeom prst="rect">
            <a:avLst/>
          </a:prstGeom>
          <a:noFill/>
          <a:ln/>
        </p:spPr>
        <p:txBody>
          <a:bodyPr wrap="square" rtlCol="0" anchor="t"/>
          <a:lstStyle/>
          <a:p>
            <a:pPr rtl="1" algn="r" indent="0" marL="0">
              <a:lnSpc>
                <a:spcPct val="130000"/>
              </a:lnSpc>
              <a:buNone/>
            </a:pPr>
            <a:r>
              <a:rPr lang="en-US" sz="1500" dirty="0">
                <a:solidFill>
                  <a:srgbClr val="222232"/>
                </a:solidFill>
                <a:latin typeface="Arial" pitchFamily="34" charset="0"/>
                <a:ea typeface="Arial" pitchFamily="34" charset="-122"/>
                <a:cs typeface="Arial" pitchFamily="34" charset="-120"/>
              </a:rPr>
              <a:t>•  חסר ניסיון</a:t>
            </a:r>
            <a:endParaRPr lang="en-US" sz="1500" dirty="0"/>
          </a:p>
          <a:p>
            <a:pPr rtl="1" algn="r" indent="0" marL="0">
              <a:lnSpc>
                <a:spcPct val="130000"/>
              </a:lnSpc>
              <a:buNone/>
            </a:pPr>
            <a:r>
              <a:rPr lang="en-US" sz="1500" dirty="0">
                <a:solidFill>
                  <a:srgbClr val="222232"/>
                </a:solidFill>
                <a:latin typeface="Arial" pitchFamily="34" charset="0"/>
                <a:ea typeface="Arial" pitchFamily="34" charset="-122"/>
                <a:cs typeface="Arial" pitchFamily="34" charset="-120"/>
              </a:rPr>
              <a:t>•  לא מכיר את ההקשר המלא</a:t>
            </a:r>
            <a:endParaRPr lang="en-US" sz="1500" dirty="0"/>
          </a:p>
          <a:p>
            <a:pPr rtl="1" algn="r" indent="0" marL="0">
              <a:lnSpc>
                <a:spcPct val="130000"/>
              </a:lnSpc>
              <a:buNone/>
            </a:pPr>
            <a:r>
              <a:rPr lang="en-US" sz="1500" dirty="0">
                <a:solidFill>
                  <a:srgbClr val="222232"/>
                </a:solidFill>
                <a:latin typeface="Arial" pitchFamily="34" charset="0"/>
                <a:ea typeface="Arial" pitchFamily="34" charset="-122"/>
                <a:cs typeface="Arial" pitchFamily="34" charset="-120"/>
              </a:rPr>
              <a:t>•  לפעמים טועה — בביטחון</a:t>
            </a:r>
            <a:endParaRPr lang="en-US" sz="1500" dirty="0"/>
          </a:p>
        </p:txBody>
      </p:sp>
      <p:sp>
        <p:nvSpPr>
          <p:cNvPr id="11" name="Shape 9"/>
          <p:cNvSpPr/>
          <p:nvPr/>
        </p:nvSpPr>
        <p:spPr>
          <a:xfrm>
            <a:off x="548640" y="4297680"/>
            <a:ext cx="11091672" cy="1051560"/>
          </a:xfrm>
          <a:prstGeom prst="roundRect">
            <a:avLst>
              <a:gd name="adj" fmla="val 8696"/>
            </a:avLst>
          </a:prstGeom>
          <a:solidFill>
            <a:srgbClr val="1E2761"/>
          </a:solidFill>
          <a:ln/>
          <a:effectLst>
            <a:outerShdw sx="100000" sy="100000" kx="0" ky="0" algn="bl" rotWithShape="0" blurRad="76200" dist="25400" dir="5400000">
              <a:srgbClr val="999999">
                <a:alpha val="28000"/>
              </a:srgbClr>
            </a:outerShdw>
          </a:effectLst>
        </p:spPr>
      </p:sp>
      <p:sp>
        <p:nvSpPr>
          <p:cNvPr id="12" name="Text 10"/>
          <p:cNvSpPr/>
          <p:nvPr/>
        </p:nvSpPr>
        <p:spPr>
          <a:xfrm>
            <a:off x="868680" y="4480560"/>
            <a:ext cx="10451592" cy="68580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בדיוק כמו עם ג’וניור אמיתי: סומכים — אבל בודקים. אף פעם לא מכניסים קוד לפרודקשן בלי סקירה אנושית.</a:t>
            </a:r>
            <a:endParaRPr lang="en-US" sz="1700" dirty="0"/>
          </a:p>
        </p:txBody>
      </p:sp>
      <p:sp>
        <p:nvSpPr>
          <p:cNvPr id="13" name="Text 11"/>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16 / 27</a:t>
            </a:r>
            <a:endParaRPr lang="en-US" sz="950" dirty="0"/>
          </a:p>
        </p:txBody>
      </p:sp>
      <p:sp>
        <p:nvSpPr>
          <p:cNvPr id="14" name="Text 12"/>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העיקרון בפועל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מה זה אומר — והכלל שנתרגל</a:t>
            </a:r>
            <a:endParaRPr lang="en-US" sz="3300" dirty="0"/>
          </a:p>
        </p:txBody>
      </p:sp>
      <p:sp>
        <p:nvSpPr>
          <p:cNvPr id="4" name="Shape 2"/>
          <p:cNvSpPr/>
          <p:nvPr/>
        </p:nvSpPr>
        <p:spPr>
          <a:xfrm>
            <a:off x="548640" y="1645920"/>
            <a:ext cx="11091672" cy="1234440"/>
          </a:xfrm>
          <a:prstGeom prst="roundRect">
            <a:avLst>
              <a:gd name="adj" fmla="val 8889"/>
            </a:avLst>
          </a:prstGeom>
          <a:solidFill>
            <a:srgbClr val="0E9AA7"/>
          </a:solidFill>
          <a:ln/>
          <a:effectLst>
            <a:outerShdw sx="100000" sy="100000" kx="0" ky="0" algn="bl" rotWithShape="0" blurRad="76200" dist="25400" dir="5400000">
              <a:srgbClr val="999999">
                <a:alpha val="28000"/>
              </a:srgbClr>
            </a:outerShdw>
          </a:effectLst>
        </p:spPr>
      </p:sp>
      <p:sp>
        <p:nvSpPr>
          <p:cNvPr id="5" name="Text 3"/>
          <p:cNvSpPr/>
          <p:nvPr/>
        </p:nvSpPr>
        <p:spPr>
          <a:xfrm>
            <a:off x="960120" y="1792224"/>
            <a:ext cx="10268712" cy="292608"/>
          </a:xfrm>
          <a:prstGeom prst="rect">
            <a:avLst/>
          </a:prstGeom>
          <a:noFill/>
          <a:ln/>
        </p:spPr>
        <p:txBody>
          <a:bodyPr wrap="square" rtlCol="0" anchor="t"/>
          <a:lstStyle/>
          <a:p>
            <a:pPr rtl="1" algn="r" indent="0" marL="0">
              <a:buNone/>
            </a:pPr>
            <a:r>
              <a:rPr lang="en-US" sz="1350" b="1" dirty="0">
                <a:solidFill>
                  <a:srgbClr val="D6F3F5"/>
                </a:solidFill>
                <a:latin typeface="Arial" pitchFamily="34" charset="0"/>
                <a:ea typeface="Arial" pitchFamily="34" charset="-122"/>
                <a:cs typeface="Arial" pitchFamily="34" charset="-120"/>
              </a:rPr>
              <a:t>כלל אצבע</a:t>
            </a:r>
            <a:endParaRPr lang="en-US" sz="1350" dirty="0"/>
          </a:p>
        </p:txBody>
      </p:sp>
      <p:sp>
        <p:nvSpPr>
          <p:cNvPr id="6" name="Text 4"/>
          <p:cNvSpPr/>
          <p:nvPr/>
        </p:nvSpPr>
        <p:spPr>
          <a:xfrm>
            <a:off x="960120" y="2103120"/>
            <a:ext cx="10268712" cy="457200"/>
          </a:xfrm>
          <a:prstGeom prst="rect">
            <a:avLst/>
          </a:prstGeom>
          <a:noFill/>
          <a:ln/>
        </p:spPr>
        <p:txBody>
          <a:bodyPr wrap="square" rtlCol="0" anchor="t"/>
          <a:lstStyle/>
          <a:p>
            <a:pPr rtl="1" algn="r" indent="0" marL="0">
              <a:buNone/>
            </a:pPr>
            <a:r>
              <a:rPr lang="en-US" sz="2000" b="1" dirty="0">
                <a:solidFill>
                  <a:srgbClr val="FFFFFF"/>
                </a:solidFill>
                <a:latin typeface="Arial" pitchFamily="34" charset="0"/>
                <a:ea typeface="Arial" pitchFamily="34" charset="-122"/>
                <a:cs typeface="Arial" pitchFamily="34" charset="-120"/>
              </a:rPr>
              <a:t>אל תגיש או תריץ קוד שנוצר ע"י AI מבלי שקראת, הבנת ובדקת אותו.</a:t>
            </a:r>
            <a:endParaRPr lang="en-US" sz="2000" dirty="0"/>
          </a:p>
        </p:txBody>
      </p:sp>
      <p:sp>
        <p:nvSpPr>
          <p:cNvPr id="7" name="Text 5"/>
          <p:cNvSpPr/>
          <p:nvPr/>
        </p:nvSpPr>
        <p:spPr>
          <a:xfrm>
            <a:off x="960120" y="2560320"/>
            <a:ext cx="10268712" cy="274320"/>
          </a:xfrm>
          <a:prstGeom prst="rect">
            <a:avLst/>
          </a:prstGeom>
          <a:noFill/>
          <a:ln/>
        </p:spPr>
        <p:txBody>
          <a:bodyPr wrap="square" rtlCol="0" anchor="t"/>
          <a:lstStyle/>
          <a:p>
            <a:pPr rtl="1" algn="r" indent="0" marL="0">
              <a:buNone/>
            </a:pPr>
            <a:r>
              <a:rPr lang="en-US" sz="1350" i="1" dirty="0">
                <a:solidFill>
                  <a:srgbClr val="EAFBFC"/>
                </a:solidFill>
                <a:latin typeface="Arial" pitchFamily="34" charset="0"/>
                <a:ea typeface="Arial" pitchFamily="34" charset="-122"/>
                <a:cs typeface="Arial" pitchFamily="34" charset="-120"/>
              </a:rPr>
              <a:t>אם אינך מבין מה הקוד עושה — עוד לא סיימת.</a:t>
            </a:r>
            <a:endParaRPr lang="en-US" sz="1350" dirty="0"/>
          </a:p>
        </p:txBody>
      </p:sp>
      <p:sp>
        <p:nvSpPr>
          <p:cNvPr id="8" name="Text 6"/>
          <p:cNvSpPr/>
          <p:nvPr/>
        </p:nvSpPr>
        <p:spPr>
          <a:xfrm>
            <a:off x="548640" y="3063240"/>
            <a:ext cx="11091672" cy="32004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הכלל מתפרק לשלוש חובות:</a:t>
            </a:r>
            <a:endParaRPr lang="en-US" sz="1400" dirty="0"/>
          </a:p>
        </p:txBody>
      </p:sp>
      <p:sp>
        <p:nvSpPr>
          <p:cNvPr id="9" name="Shape 7"/>
          <p:cNvSpPr/>
          <p:nvPr/>
        </p:nvSpPr>
        <p:spPr>
          <a:xfrm>
            <a:off x="8125968" y="3474720"/>
            <a:ext cx="3514344" cy="1600200"/>
          </a:xfrm>
          <a:prstGeom prst="roundRect">
            <a:avLst>
              <a:gd name="adj" fmla="val 5143"/>
            </a:avLst>
          </a:prstGeom>
          <a:solidFill>
            <a:srgbClr val="F2F3FA"/>
          </a:solidFill>
          <a:ln/>
          <a:effectLst>
            <a:outerShdw sx="100000" sy="100000" kx="0" ky="0" algn="bl" rotWithShape="0" blurRad="76200" dist="25400" dir="5400000">
              <a:srgbClr val="999999">
                <a:alpha val="28000"/>
              </a:srgbClr>
            </a:outerShdw>
          </a:effectLst>
        </p:spPr>
      </p:sp>
      <p:sp>
        <p:nvSpPr>
          <p:cNvPr id="10" name="Shape 8"/>
          <p:cNvSpPr/>
          <p:nvPr/>
        </p:nvSpPr>
        <p:spPr>
          <a:xfrm>
            <a:off x="9608820" y="3703320"/>
            <a:ext cx="548640" cy="548640"/>
          </a:xfrm>
          <a:prstGeom prst="ellipse">
            <a:avLst/>
          </a:prstGeom>
          <a:solidFill>
            <a:srgbClr val="3B3B98"/>
          </a:solidFill>
          <a:ln/>
        </p:spPr>
      </p:sp>
      <p:sp>
        <p:nvSpPr>
          <p:cNvPr id="11" name="Text 9"/>
          <p:cNvSpPr/>
          <p:nvPr/>
        </p:nvSpPr>
        <p:spPr>
          <a:xfrm>
            <a:off x="9608820" y="3703320"/>
            <a:ext cx="548640" cy="5486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2" name="Text 10"/>
          <p:cNvSpPr/>
          <p:nvPr/>
        </p:nvSpPr>
        <p:spPr>
          <a:xfrm>
            <a:off x="8308848" y="4343400"/>
            <a:ext cx="3148584" cy="365760"/>
          </a:xfrm>
          <a:prstGeom prst="rect">
            <a:avLst/>
          </a:prstGeom>
          <a:noFill/>
          <a:ln/>
        </p:spPr>
        <p:txBody>
          <a:bodyPr wrap="square" rtlCol="0" anchor="t"/>
          <a:lstStyle/>
          <a:p>
            <a:pPr rtl="1" algn="ctr" indent="0" marL="0">
              <a:buNone/>
            </a:pPr>
            <a:r>
              <a:rPr lang="en-US" sz="1600" b="1" dirty="0">
                <a:solidFill>
                  <a:srgbClr val="1E2761"/>
                </a:solidFill>
                <a:latin typeface="Arial" pitchFamily="34" charset="0"/>
                <a:ea typeface="Arial" pitchFamily="34" charset="-122"/>
                <a:cs typeface="Arial" pitchFamily="34" charset="-120"/>
              </a:rPr>
              <a:t>לקרוא ולהבין</a:t>
            </a:r>
            <a:endParaRPr lang="en-US" sz="1600" dirty="0"/>
          </a:p>
        </p:txBody>
      </p:sp>
      <p:sp>
        <p:nvSpPr>
          <p:cNvPr id="13" name="Text 11"/>
          <p:cNvSpPr/>
          <p:nvPr/>
        </p:nvSpPr>
        <p:spPr>
          <a:xfrm>
            <a:off x="8308848" y="4709160"/>
            <a:ext cx="3148584" cy="365760"/>
          </a:xfrm>
          <a:prstGeom prst="rect">
            <a:avLst/>
          </a:prstGeom>
          <a:noFill/>
          <a:ln/>
        </p:spPr>
        <p:txBody>
          <a:bodyPr wrap="square" rtlCol="0" anchor="t"/>
          <a:lstStyle/>
          <a:p>
            <a:pPr rtl="1" algn="ctr" indent="0" marL="0">
              <a:buNone/>
            </a:pPr>
            <a:r>
              <a:rPr lang="en-US" sz="1250" dirty="0">
                <a:solidFill>
                  <a:srgbClr val="6B6B80"/>
                </a:solidFill>
                <a:latin typeface="Arial" pitchFamily="34" charset="0"/>
                <a:ea typeface="Arial" pitchFamily="34" charset="-122"/>
                <a:cs typeface="Arial" pitchFamily="34" charset="-120"/>
              </a:rPr>
              <a:t>כל שורה שהגשתם — אתם צריכים להבין.</a:t>
            </a:r>
            <a:endParaRPr lang="en-US" sz="1250" dirty="0"/>
          </a:p>
        </p:txBody>
      </p:sp>
      <p:sp>
        <p:nvSpPr>
          <p:cNvPr id="14" name="Shape 12"/>
          <p:cNvSpPr/>
          <p:nvPr/>
        </p:nvSpPr>
        <p:spPr>
          <a:xfrm>
            <a:off x="4337304" y="3474720"/>
            <a:ext cx="3514344" cy="1600200"/>
          </a:xfrm>
          <a:prstGeom prst="roundRect">
            <a:avLst>
              <a:gd name="adj" fmla="val 5143"/>
            </a:avLst>
          </a:prstGeom>
          <a:solidFill>
            <a:srgbClr val="F2F3FA"/>
          </a:solidFill>
          <a:ln/>
          <a:effectLst>
            <a:outerShdw sx="100000" sy="100000" kx="0" ky="0" algn="bl" rotWithShape="0" blurRad="76200" dist="25400" dir="5400000">
              <a:srgbClr val="999999">
                <a:alpha val="28000"/>
              </a:srgbClr>
            </a:outerShdw>
          </a:effectLst>
        </p:spPr>
      </p:sp>
      <p:sp>
        <p:nvSpPr>
          <p:cNvPr id="15" name="Shape 13"/>
          <p:cNvSpPr/>
          <p:nvPr/>
        </p:nvSpPr>
        <p:spPr>
          <a:xfrm>
            <a:off x="5820156" y="3703320"/>
            <a:ext cx="548640" cy="548640"/>
          </a:xfrm>
          <a:prstGeom prst="ellipse">
            <a:avLst/>
          </a:prstGeom>
          <a:solidFill>
            <a:srgbClr val="3B3B98"/>
          </a:solidFill>
          <a:ln/>
        </p:spPr>
      </p:sp>
      <p:sp>
        <p:nvSpPr>
          <p:cNvPr id="16" name="Text 14"/>
          <p:cNvSpPr/>
          <p:nvPr/>
        </p:nvSpPr>
        <p:spPr>
          <a:xfrm>
            <a:off x="5820156" y="3703320"/>
            <a:ext cx="548640" cy="5486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7" name="Text 15"/>
          <p:cNvSpPr/>
          <p:nvPr/>
        </p:nvSpPr>
        <p:spPr>
          <a:xfrm>
            <a:off x="4520184" y="4343400"/>
            <a:ext cx="3148584" cy="365760"/>
          </a:xfrm>
          <a:prstGeom prst="rect">
            <a:avLst/>
          </a:prstGeom>
          <a:noFill/>
          <a:ln/>
        </p:spPr>
        <p:txBody>
          <a:bodyPr wrap="square" rtlCol="0" anchor="t"/>
          <a:lstStyle/>
          <a:p>
            <a:pPr rtl="1" algn="ctr" indent="0" marL="0">
              <a:buNone/>
            </a:pPr>
            <a:r>
              <a:rPr lang="en-US" sz="1600" b="1" dirty="0">
                <a:solidFill>
                  <a:srgbClr val="1E2761"/>
                </a:solidFill>
                <a:latin typeface="Arial" pitchFamily="34" charset="0"/>
                <a:ea typeface="Arial" pitchFamily="34" charset="-122"/>
                <a:cs typeface="Arial" pitchFamily="34" charset="-120"/>
              </a:rPr>
              <a:t>לבדוק</a:t>
            </a:r>
            <a:endParaRPr lang="en-US" sz="1600" dirty="0"/>
          </a:p>
        </p:txBody>
      </p:sp>
      <p:sp>
        <p:nvSpPr>
          <p:cNvPr id="18" name="Text 16"/>
          <p:cNvSpPr/>
          <p:nvPr/>
        </p:nvSpPr>
        <p:spPr>
          <a:xfrm>
            <a:off x="4520184" y="4709160"/>
            <a:ext cx="3148584" cy="365760"/>
          </a:xfrm>
          <a:prstGeom prst="rect">
            <a:avLst/>
          </a:prstGeom>
          <a:noFill/>
          <a:ln/>
        </p:spPr>
        <p:txBody>
          <a:bodyPr wrap="square" rtlCol="0" anchor="t"/>
          <a:lstStyle/>
          <a:p>
            <a:pPr rtl="1" algn="ctr" indent="0" marL="0">
              <a:buNone/>
            </a:pPr>
            <a:r>
              <a:rPr lang="en-US" sz="1250" dirty="0">
                <a:solidFill>
                  <a:srgbClr val="6B6B80"/>
                </a:solidFill>
                <a:latin typeface="Arial" pitchFamily="34" charset="0"/>
                <a:ea typeface="Arial" pitchFamily="34" charset="-122"/>
                <a:cs typeface="Arial" pitchFamily="34" charset="-120"/>
              </a:rPr>
              <a:t>להריץ ולכתוב טסטים לפני שסומכים.</a:t>
            </a:r>
            <a:endParaRPr lang="en-US" sz="1250" dirty="0"/>
          </a:p>
        </p:txBody>
      </p:sp>
      <p:sp>
        <p:nvSpPr>
          <p:cNvPr id="19" name="Shape 17"/>
          <p:cNvSpPr/>
          <p:nvPr/>
        </p:nvSpPr>
        <p:spPr>
          <a:xfrm>
            <a:off x="548640" y="3474720"/>
            <a:ext cx="3514344" cy="1600200"/>
          </a:xfrm>
          <a:prstGeom prst="roundRect">
            <a:avLst>
              <a:gd name="adj" fmla="val 5143"/>
            </a:avLst>
          </a:prstGeom>
          <a:solidFill>
            <a:srgbClr val="F2F3FA"/>
          </a:solidFill>
          <a:ln/>
          <a:effectLst>
            <a:outerShdw sx="100000" sy="100000" kx="0" ky="0" algn="bl" rotWithShape="0" blurRad="76200" dist="25400" dir="5400000">
              <a:srgbClr val="999999">
                <a:alpha val="28000"/>
              </a:srgbClr>
            </a:outerShdw>
          </a:effectLst>
        </p:spPr>
      </p:sp>
      <p:sp>
        <p:nvSpPr>
          <p:cNvPr id="20" name="Shape 18"/>
          <p:cNvSpPr/>
          <p:nvPr/>
        </p:nvSpPr>
        <p:spPr>
          <a:xfrm>
            <a:off x="2031492" y="3703320"/>
            <a:ext cx="548640" cy="548640"/>
          </a:xfrm>
          <a:prstGeom prst="ellipse">
            <a:avLst/>
          </a:prstGeom>
          <a:solidFill>
            <a:srgbClr val="3B3B98"/>
          </a:solidFill>
          <a:ln/>
        </p:spPr>
      </p:sp>
      <p:sp>
        <p:nvSpPr>
          <p:cNvPr id="21" name="Text 19"/>
          <p:cNvSpPr/>
          <p:nvPr/>
        </p:nvSpPr>
        <p:spPr>
          <a:xfrm>
            <a:off x="2031492" y="3703320"/>
            <a:ext cx="548640" cy="5486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2" name="Text 20"/>
          <p:cNvSpPr/>
          <p:nvPr/>
        </p:nvSpPr>
        <p:spPr>
          <a:xfrm>
            <a:off x="731520" y="4343400"/>
            <a:ext cx="3148584" cy="365760"/>
          </a:xfrm>
          <a:prstGeom prst="rect">
            <a:avLst/>
          </a:prstGeom>
          <a:noFill/>
          <a:ln/>
        </p:spPr>
        <p:txBody>
          <a:bodyPr wrap="square" rtlCol="0" anchor="t"/>
          <a:lstStyle/>
          <a:p>
            <a:pPr rtl="1" algn="ctr" indent="0" marL="0">
              <a:buNone/>
            </a:pPr>
            <a:r>
              <a:rPr lang="en-US" sz="1600" b="1" dirty="0">
                <a:solidFill>
                  <a:srgbClr val="1E2761"/>
                </a:solidFill>
                <a:latin typeface="Arial" pitchFamily="34" charset="0"/>
                <a:ea typeface="Arial" pitchFamily="34" charset="-122"/>
                <a:cs typeface="Arial" pitchFamily="34" charset="-120"/>
              </a:rPr>
              <a:t>לקחת אחריות</a:t>
            </a:r>
            <a:endParaRPr lang="en-US" sz="1600" dirty="0"/>
          </a:p>
        </p:txBody>
      </p:sp>
      <p:sp>
        <p:nvSpPr>
          <p:cNvPr id="23" name="Text 21"/>
          <p:cNvSpPr/>
          <p:nvPr/>
        </p:nvSpPr>
        <p:spPr>
          <a:xfrm>
            <a:off x="731520" y="4709160"/>
            <a:ext cx="3148584" cy="365760"/>
          </a:xfrm>
          <a:prstGeom prst="rect">
            <a:avLst/>
          </a:prstGeom>
          <a:noFill/>
          <a:ln/>
        </p:spPr>
        <p:txBody>
          <a:bodyPr wrap="square" rtlCol="0" anchor="t"/>
          <a:lstStyle/>
          <a:p>
            <a:pPr rtl="1" algn="ctr" indent="0" marL="0">
              <a:buNone/>
            </a:pPr>
            <a:r>
              <a:rPr lang="en-US" sz="1250" dirty="0">
                <a:solidFill>
                  <a:srgbClr val="6B6B80"/>
                </a:solidFill>
                <a:latin typeface="Arial" pitchFamily="34" charset="0"/>
                <a:ea typeface="Arial" pitchFamily="34" charset="-122"/>
                <a:cs typeface="Arial" pitchFamily="34" charset="-120"/>
              </a:rPr>
              <a:t>זה הקוד שלכם, לא של ה-AI.</a:t>
            </a:r>
            <a:endParaRPr lang="en-US" sz="1250" dirty="0"/>
          </a:p>
        </p:txBody>
      </p:sp>
      <p:sp>
        <p:nvSpPr>
          <p:cNvPr id="24" name="Text 22"/>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17 / 27</a:t>
            </a:r>
            <a:endParaRPr lang="en-US" sz="950" dirty="0"/>
          </a:p>
        </p:txBody>
      </p:sp>
      <p:sp>
        <p:nvSpPr>
          <p:cNvPr id="25" name="Text 23"/>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מלכודות נפוצות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טעויות טיפוסיות של מתחילים</a:t>
            </a:r>
            <a:endParaRPr lang="en-US" sz="3300" dirty="0"/>
          </a:p>
        </p:txBody>
      </p:sp>
      <p:sp>
        <p:nvSpPr>
          <p:cNvPr id="4" name="Shape 2"/>
          <p:cNvSpPr/>
          <p:nvPr/>
        </p:nvSpPr>
        <p:spPr>
          <a:xfrm>
            <a:off x="11237976" y="1801368"/>
            <a:ext cx="402336" cy="402336"/>
          </a:xfrm>
          <a:prstGeom prst="ellipse">
            <a:avLst/>
          </a:prstGeom>
          <a:solidFill>
            <a:srgbClr val="9A6A00"/>
          </a:solidFill>
          <a:ln/>
        </p:spPr>
      </p:sp>
      <p:sp>
        <p:nvSpPr>
          <p:cNvPr id="5" name="Text 3"/>
          <p:cNvSpPr/>
          <p:nvPr/>
        </p:nvSpPr>
        <p:spPr>
          <a:xfrm>
            <a:off x="11237976" y="18013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7647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Copy-paste עיוור</a:t>
            </a:r>
            <a:endParaRPr lang="en-US" sz="1650" dirty="0"/>
          </a:p>
        </p:txBody>
      </p:sp>
      <p:sp>
        <p:nvSpPr>
          <p:cNvPr id="7" name="Text 5"/>
          <p:cNvSpPr/>
          <p:nvPr/>
        </p:nvSpPr>
        <p:spPr>
          <a:xfrm>
            <a:off x="548640" y="211226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להעתיק קוד בלי לקרוא → באגים סמויים.</a:t>
            </a:r>
            <a:endParaRPr lang="en-US" sz="1300" dirty="0"/>
          </a:p>
        </p:txBody>
      </p:sp>
      <p:sp>
        <p:nvSpPr>
          <p:cNvPr id="8" name="Shape 6"/>
          <p:cNvSpPr/>
          <p:nvPr/>
        </p:nvSpPr>
        <p:spPr>
          <a:xfrm>
            <a:off x="11237976" y="2852928"/>
            <a:ext cx="402336" cy="402336"/>
          </a:xfrm>
          <a:prstGeom prst="ellipse">
            <a:avLst/>
          </a:prstGeom>
          <a:solidFill>
            <a:srgbClr val="9A6A00"/>
          </a:solidFill>
          <a:ln/>
        </p:spPr>
      </p:sp>
      <p:sp>
        <p:nvSpPr>
          <p:cNvPr id="9" name="Text 7"/>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אמון יתר</a:t>
            </a:r>
            <a:endParaRPr lang="en-US" sz="1650" dirty="0"/>
          </a:p>
        </p:txBody>
      </p:sp>
      <p:sp>
        <p:nvSpPr>
          <p:cNvPr id="11" name="Text 9"/>
          <p:cNvSpPr/>
          <p:nvPr/>
        </p:nvSpPr>
        <p:spPr>
          <a:xfrm>
            <a:off x="548640" y="316382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להניח שה-AI תמיד צודק.</a:t>
            </a:r>
            <a:endParaRPr lang="en-US" sz="1300" dirty="0"/>
          </a:p>
        </p:txBody>
      </p:sp>
      <p:sp>
        <p:nvSpPr>
          <p:cNvPr id="12" name="Shape 10"/>
          <p:cNvSpPr/>
          <p:nvPr/>
        </p:nvSpPr>
        <p:spPr>
          <a:xfrm>
            <a:off x="11237976" y="3904488"/>
            <a:ext cx="402336" cy="402336"/>
          </a:xfrm>
          <a:prstGeom prst="ellipse">
            <a:avLst/>
          </a:prstGeom>
          <a:solidFill>
            <a:srgbClr val="9A6A00"/>
          </a:solidFill>
          <a:ln/>
        </p:spPr>
      </p:sp>
      <p:sp>
        <p:nvSpPr>
          <p:cNvPr id="13" name="Text 11"/>
          <p:cNvSpPr/>
          <p:nvPr/>
        </p:nvSpPr>
        <p:spPr>
          <a:xfrm>
            <a:off x="11237976" y="3904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38679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פרומפט דל</a:t>
            </a:r>
            <a:endParaRPr lang="en-US" sz="1650" dirty="0"/>
          </a:p>
        </p:txBody>
      </p:sp>
      <p:sp>
        <p:nvSpPr>
          <p:cNvPr id="15" name="Text 13"/>
          <p:cNvSpPr/>
          <p:nvPr/>
        </p:nvSpPr>
        <p:spPr>
          <a:xfrm>
            <a:off x="548640" y="421538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לבקש במעורפל → לקבל תשובה כללית וחלשה.</a:t>
            </a:r>
            <a:endParaRPr lang="en-US" sz="1300" dirty="0"/>
          </a:p>
        </p:txBody>
      </p:sp>
      <p:sp>
        <p:nvSpPr>
          <p:cNvPr id="16" name="Shape 14"/>
          <p:cNvSpPr/>
          <p:nvPr/>
        </p:nvSpPr>
        <p:spPr>
          <a:xfrm>
            <a:off x="11237976" y="4956048"/>
            <a:ext cx="402336" cy="402336"/>
          </a:xfrm>
          <a:prstGeom prst="ellipse">
            <a:avLst/>
          </a:prstGeom>
          <a:solidFill>
            <a:srgbClr val="9A6A00"/>
          </a:solidFill>
          <a:ln/>
        </p:spPr>
      </p:sp>
      <p:sp>
        <p:nvSpPr>
          <p:cNvPr id="17" name="Text 15"/>
          <p:cNvSpPr/>
          <p:nvPr/>
        </p:nvSpPr>
        <p:spPr>
          <a:xfrm>
            <a:off x="11237976" y="49560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548640" y="491947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להסתפק בתשובה הראשונה</a:t>
            </a:r>
            <a:endParaRPr lang="en-US" sz="1650" dirty="0"/>
          </a:p>
        </p:txBody>
      </p:sp>
      <p:sp>
        <p:nvSpPr>
          <p:cNvPr id="19" name="Text 17"/>
          <p:cNvSpPr/>
          <p:nvPr/>
        </p:nvSpPr>
        <p:spPr>
          <a:xfrm>
            <a:off x="548640" y="526694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לא לבקש שיפור, הסבר או חלופות.</a:t>
            </a:r>
            <a:endParaRPr lang="en-US" sz="130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18 / 27</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נקודת המוצא</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הקורס הזה: על ה-Workflow, לא על הכלי</a:t>
            </a:r>
            <a:endParaRPr lang="en-US" sz="3300" dirty="0"/>
          </a:p>
        </p:txBody>
      </p:sp>
      <p:sp>
        <p:nvSpPr>
          <p:cNvPr id="4" name="Shape 2"/>
          <p:cNvSpPr/>
          <p:nvPr/>
        </p:nvSpPr>
        <p:spPr>
          <a:xfrm>
            <a:off x="6277356" y="1874520"/>
            <a:ext cx="5362956" cy="1828800"/>
          </a:xfrm>
          <a:prstGeom prst="roundRect">
            <a:avLst>
              <a:gd name="adj" fmla="val 4500"/>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2075688"/>
            <a:ext cx="4814316" cy="365760"/>
          </a:xfrm>
          <a:prstGeom prst="rect">
            <a:avLst/>
          </a:prstGeom>
          <a:noFill/>
          <a:ln/>
        </p:spPr>
        <p:txBody>
          <a:bodyPr wrap="square" rtlCol="0" anchor="t"/>
          <a:lstStyle/>
          <a:p>
            <a:pPr rtl="1" algn="r" indent="0" marL="0">
              <a:buNone/>
            </a:pPr>
            <a:r>
              <a:rPr lang="en-US" sz="1500" b="1" dirty="0">
                <a:solidFill>
                  <a:srgbClr val="C62828"/>
                </a:solidFill>
                <a:latin typeface="Arial" pitchFamily="34" charset="0"/>
                <a:ea typeface="Arial" pitchFamily="34" charset="-122"/>
                <a:cs typeface="Arial" pitchFamily="34" charset="-120"/>
              </a:rPr>
              <a:t>מתחלף כל חודש</a:t>
            </a:r>
            <a:endParaRPr lang="en-US" sz="1500" dirty="0"/>
          </a:p>
        </p:txBody>
      </p:sp>
      <p:sp>
        <p:nvSpPr>
          <p:cNvPr id="6" name="Text 4"/>
          <p:cNvSpPr/>
          <p:nvPr/>
        </p:nvSpPr>
        <p:spPr>
          <a:xfrm>
            <a:off x="6551676" y="2560320"/>
            <a:ext cx="4814316" cy="1005840"/>
          </a:xfrm>
          <a:prstGeom prst="rect">
            <a:avLst/>
          </a:prstGeom>
          <a:noFill/>
          <a:ln/>
        </p:spPr>
        <p:txBody>
          <a:bodyPr wrap="square" rtlCol="0" anchor="t"/>
          <a:lstStyle/>
          <a:p>
            <a:pPr rtl="1" algn="r" indent="0" marL="0">
              <a:lnSpc>
                <a:spcPct val="125000"/>
              </a:lnSpc>
              <a:buNone/>
            </a:pPr>
            <a:r>
              <a:rPr lang="en-US" sz="1500" dirty="0">
                <a:solidFill>
                  <a:srgbClr val="222232"/>
                </a:solidFill>
                <a:latin typeface="Arial" pitchFamily="34" charset="0"/>
                <a:ea typeface="Arial" pitchFamily="34" charset="-122"/>
                <a:cs typeface="Arial" pitchFamily="34" charset="-120"/>
              </a:rPr>
              <a:t>הכלים: Cursor, Copilot, Claude,</a:t>
            </a:r>
            <a:endParaRPr lang="en-US" sz="1500" dirty="0"/>
          </a:p>
          <a:p>
            <a:pPr rtl="1" algn="r" indent="0" marL="0">
              <a:lnSpc>
                <a:spcPct val="125000"/>
              </a:lnSpc>
              <a:buNone/>
            </a:pPr>
            <a:r>
              <a:rPr lang="en-US" sz="1500" dirty="0">
                <a:solidFill>
                  <a:srgbClr val="222232"/>
                </a:solidFill>
                <a:latin typeface="Arial" pitchFamily="34" charset="0"/>
                <a:ea typeface="Arial" pitchFamily="34" charset="-122"/>
                <a:cs typeface="Arial" pitchFamily="34" charset="-120"/>
              </a:rPr>
              <a:t>Windsurf, ChatGPT ...</a:t>
            </a:r>
            <a:endParaRPr lang="en-US" sz="1500" dirty="0"/>
          </a:p>
          <a:p>
            <a:pPr rtl="1" algn="r" indent="0" marL="0">
              <a:lnSpc>
                <a:spcPct val="125000"/>
              </a:lnSpc>
              <a:buNone/>
            </a:pPr>
            <a:r>
              <a:rPr lang="en-US" sz="1500" dirty="0">
                <a:solidFill>
                  <a:srgbClr val="222232"/>
                </a:solidFill>
                <a:latin typeface="Arial" pitchFamily="34" charset="0"/>
                <a:ea typeface="Arial" pitchFamily="34" charset="-122"/>
                <a:cs typeface="Arial" pitchFamily="34" charset="-120"/>
              </a:rPr>
              <a:t>חדשים מגיעים כל הזמן.</a:t>
            </a:r>
            <a:endParaRPr lang="en-US" sz="1500" dirty="0"/>
          </a:p>
        </p:txBody>
      </p:sp>
      <p:sp>
        <p:nvSpPr>
          <p:cNvPr id="7" name="Shape 5"/>
          <p:cNvSpPr/>
          <p:nvPr/>
        </p:nvSpPr>
        <p:spPr>
          <a:xfrm>
            <a:off x="548640" y="1874520"/>
            <a:ext cx="5362956" cy="1828800"/>
          </a:xfrm>
          <a:prstGeom prst="roundRect">
            <a:avLst>
              <a:gd name="adj" fmla="val 4500"/>
            </a:avLst>
          </a:prstGeom>
          <a:solidFill>
            <a:srgbClr val="E7F5F6"/>
          </a:solidFill>
          <a:ln/>
          <a:effectLst>
            <a:outerShdw sx="100000" sy="100000" kx="0" ky="0" algn="bl" rotWithShape="0" blurRad="76200" dist="25400" dir="5400000">
              <a:srgbClr val="999999">
                <a:alpha val="28000"/>
              </a:srgbClr>
            </a:outerShdw>
          </a:effectLst>
        </p:spPr>
      </p:sp>
      <p:sp>
        <p:nvSpPr>
          <p:cNvPr id="8" name="Text 6"/>
          <p:cNvSpPr/>
          <p:nvPr/>
        </p:nvSpPr>
        <p:spPr>
          <a:xfrm>
            <a:off x="822960" y="2075688"/>
            <a:ext cx="4814316" cy="365760"/>
          </a:xfrm>
          <a:prstGeom prst="rect">
            <a:avLst/>
          </a:prstGeom>
          <a:noFill/>
          <a:ln/>
        </p:spPr>
        <p:txBody>
          <a:bodyPr wrap="square" rtlCol="0" anchor="t"/>
          <a:lstStyle/>
          <a:p>
            <a:pPr rtl="1" algn="r" indent="0" marL="0">
              <a:buNone/>
            </a:pPr>
            <a:r>
              <a:rPr lang="en-US" sz="1500" b="1" dirty="0">
                <a:solidFill>
                  <a:srgbClr val="0E9AA7"/>
                </a:solidFill>
                <a:latin typeface="Arial" pitchFamily="34" charset="0"/>
                <a:ea typeface="Arial" pitchFamily="34" charset="-122"/>
                <a:cs typeface="Arial" pitchFamily="34" charset="-120"/>
              </a:rPr>
              <a:t>נשאר קבוע</a:t>
            </a:r>
            <a:endParaRPr lang="en-US" sz="1500" dirty="0"/>
          </a:p>
        </p:txBody>
      </p:sp>
      <p:sp>
        <p:nvSpPr>
          <p:cNvPr id="9" name="Text 7"/>
          <p:cNvSpPr/>
          <p:nvPr/>
        </p:nvSpPr>
        <p:spPr>
          <a:xfrm>
            <a:off x="822960" y="2560320"/>
            <a:ext cx="4814316" cy="1005840"/>
          </a:xfrm>
          <a:prstGeom prst="rect">
            <a:avLst/>
          </a:prstGeom>
          <a:noFill/>
          <a:ln/>
        </p:spPr>
        <p:txBody>
          <a:bodyPr wrap="square" rtlCol="0" anchor="t"/>
          <a:lstStyle/>
          <a:p>
            <a:pPr rtl="1" algn="r" indent="0" marL="0">
              <a:lnSpc>
                <a:spcPct val="125000"/>
              </a:lnSpc>
              <a:buNone/>
            </a:pPr>
            <a:r>
              <a:rPr lang="en-US" sz="1500" dirty="0">
                <a:solidFill>
                  <a:srgbClr val="222232"/>
                </a:solidFill>
                <a:latin typeface="Arial" pitchFamily="34" charset="0"/>
                <a:ea typeface="Arial" pitchFamily="34" charset="-122"/>
                <a:cs typeface="Arial" pitchFamily="34" charset="-120"/>
              </a:rPr>
              <a:t>איך לחשוב, לתקשר, לבדוק,</a:t>
            </a:r>
            <a:endParaRPr lang="en-US" sz="1500" dirty="0"/>
          </a:p>
          <a:p>
            <a:pPr rtl="1" algn="r" indent="0" marL="0">
              <a:lnSpc>
                <a:spcPct val="125000"/>
              </a:lnSpc>
              <a:buNone/>
            </a:pPr>
            <a:r>
              <a:rPr lang="en-US" sz="1500" dirty="0">
                <a:solidFill>
                  <a:srgbClr val="222232"/>
                </a:solidFill>
                <a:latin typeface="Arial" pitchFamily="34" charset="0"/>
                <a:ea typeface="Arial" pitchFamily="34" charset="-122"/>
                <a:cs typeface="Arial" pitchFamily="34" charset="-120"/>
              </a:rPr>
              <a:t>ולשלב AI בתהליך הנדסי אחראי —</a:t>
            </a:r>
            <a:endParaRPr lang="en-US" sz="1500" dirty="0"/>
          </a:p>
          <a:p>
            <a:pPr rtl="1" algn="r" indent="0" marL="0">
              <a:lnSpc>
                <a:spcPct val="125000"/>
              </a:lnSpc>
              <a:buNone/>
            </a:pPr>
            <a:r>
              <a:rPr lang="en-US" sz="1500" dirty="0">
                <a:solidFill>
                  <a:srgbClr val="222232"/>
                </a:solidFill>
                <a:latin typeface="Arial" pitchFamily="34" charset="0"/>
                <a:ea typeface="Arial" pitchFamily="34" charset="-122"/>
                <a:cs typeface="Arial" pitchFamily="34" charset="-120"/>
              </a:rPr>
              <a:t>בכל כלי.</a:t>
            </a:r>
            <a:endParaRPr lang="en-US" sz="1500" dirty="0"/>
          </a:p>
        </p:txBody>
      </p:sp>
      <p:sp>
        <p:nvSpPr>
          <p:cNvPr id="10" name="Shape 8"/>
          <p:cNvSpPr/>
          <p:nvPr/>
        </p:nvSpPr>
        <p:spPr>
          <a:xfrm>
            <a:off x="548640" y="4114800"/>
            <a:ext cx="11091672" cy="1005840"/>
          </a:xfrm>
          <a:prstGeom prst="roundRect">
            <a:avLst>
              <a:gd name="adj" fmla="val 9091"/>
            </a:avLst>
          </a:prstGeom>
          <a:solidFill>
            <a:srgbClr val="1E2761"/>
          </a:solidFill>
          <a:ln/>
          <a:effectLst>
            <a:outerShdw sx="100000" sy="100000" kx="0" ky="0" algn="bl" rotWithShape="0" blurRad="76200" dist="25400" dir="5400000">
              <a:srgbClr val="999999">
                <a:alpha val="28000"/>
              </a:srgbClr>
            </a:outerShdw>
          </a:effectLst>
        </p:spPr>
      </p:sp>
      <p:sp>
        <p:nvSpPr>
          <p:cNvPr id="11" name="Text 9"/>
          <p:cNvSpPr/>
          <p:nvPr/>
        </p:nvSpPr>
        <p:spPr>
          <a:xfrm>
            <a:off x="868680" y="4297680"/>
            <a:ext cx="10451592" cy="64008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לכן בכל תרגול תבחרו כלי חינמי כרצונכם — המיומנות עוברת בין כלים.</a:t>
            </a:r>
            <a:endParaRPr lang="en-US" sz="1700" dirty="0"/>
          </a:p>
        </p:txBody>
      </p:sp>
      <p:sp>
        <p:nvSpPr>
          <p:cNvPr id="12" name="Text 1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19 / 27</a:t>
            </a:r>
            <a:endParaRPr lang="en-US" sz="950" dirty="0"/>
          </a:p>
        </p:txBody>
      </p:sp>
      <p:sp>
        <p:nvSpPr>
          <p:cNvPr id="13" name="Text 1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מוכנים לתרגול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הכלים החינמיים — 3 קטגוריות</a:t>
            </a:r>
            <a:endParaRPr lang="en-US" sz="3300" dirty="0"/>
          </a:p>
        </p:txBody>
      </p:sp>
      <p:sp>
        <p:nvSpPr>
          <p:cNvPr id="4" name="Shape 2"/>
          <p:cNvSpPr/>
          <p:nvPr/>
        </p:nvSpPr>
        <p:spPr>
          <a:xfrm>
            <a:off x="8897112" y="1783080"/>
            <a:ext cx="2633472" cy="502920"/>
          </a:xfrm>
          <a:prstGeom prst="roundRect">
            <a:avLst>
              <a:gd name="adj" fmla="val 9091"/>
            </a:avLst>
          </a:prstGeom>
          <a:solidFill>
            <a:srgbClr val="1E2761"/>
          </a:solidFill>
          <a:ln/>
        </p:spPr>
      </p:sp>
      <p:sp>
        <p:nvSpPr>
          <p:cNvPr id="5" name="Text 3"/>
          <p:cNvSpPr/>
          <p:nvPr/>
        </p:nvSpPr>
        <p:spPr>
          <a:xfrm>
            <a:off x="8897112" y="1783080"/>
            <a:ext cx="2633472" cy="502920"/>
          </a:xfrm>
          <a:prstGeom prst="rect">
            <a:avLst/>
          </a:prstGeom>
          <a:noFill/>
          <a:ln/>
        </p:spPr>
        <p:txBody>
          <a:bodyPr wrap="square" rtlCol="0" anchor="ctr"/>
          <a:lstStyle/>
          <a:p>
            <a:pPr rtl="1" algn="ctr" indent="0" marL="0">
              <a:buNone/>
            </a:pPr>
            <a:r>
              <a:rPr lang="en-US" sz="1450" b="1" dirty="0">
                <a:solidFill>
                  <a:srgbClr val="FFFFFF"/>
                </a:solidFill>
                <a:latin typeface="Arial" pitchFamily="34" charset="0"/>
                <a:ea typeface="Arial" pitchFamily="34" charset="-122"/>
                <a:cs typeface="Arial" pitchFamily="34" charset="-120"/>
              </a:rPr>
              <a:t>קטגוריה</a:t>
            </a:r>
            <a:endParaRPr lang="en-US" sz="1450" dirty="0"/>
          </a:p>
        </p:txBody>
      </p:sp>
      <p:sp>
        <p:nvSpPr>
          <p:cNvPr id="6" name="Shape 4"/>
          <p:cNvSpPr/>
          <p:nvPr/>
        </p:nvSpPr>
        <p:spPr>
          <a:xfrm>
            <a:off x="3840480" y="1783080"/>
            <a:ext cx="4946904" cy="502920"/>
          </a:xfrm>
          <a:prstGeom prst="roundRect">
            <a:avLst>
              <a:gd name="adj" fmla="val 9091"/>
            </a:avLst>
          </a:prstGeom>
          <a:solidFill>
            <a:srgbClr val="1E2761"/>
          </a:solidFill>
          <a:ln/>
        </p:spPr>
      </p:sp>
      <p:sp>
        <p:nvSpPr>
          <p:cNvPr id="7" name="Text 5"/>
          <p:cNvSpPr/>
          <p:nvPr/>
        </p:nvSpPr>
        <p:spPr>
          <a:xfrm>
            <a:off x="3840480" y="1783080"/>
            <a:ext cx="4946904" cy="502920"/>
          </a:xfrm>
          <a:prstGeom prst="rect">
            <a:avLst/>
          </a:prstGeom>
          <a:noFill/>
          <a:ln/>
        </p:spPr>
        <p:txBody>
          <a:bodyPr wrap="square" rtlCol="0" anchor="ctr"/>
          <a:lstStyle/>
          <a:p>
            <a:pPr rtl="1" algn="ctr" indent="0" marL="0">
              <a:buNone/>
            </a:pPr>
            <a:r>
              <a:rPr lang="en-US" sz="1450" b="1" dirty="0">
                <a:solidFill>
                  <a:srgbClr val="FFFFFF"/>
                </a:solidFill>
                <a:latin typeface="Arial" pitchFamily="34" charset="0"/>
                <a:ea typeface="Arial" pitchFamily="34" charset="-122"/>
                <a:cs typeface="Arial" pitchFamily="34" charset="-120"/>
              </a:rPr>
              <a:t>כלים חינמיים</a:t>
            </a:r>
            <a:endParaRPr lang="en-US" sz="1450" dirty="0"/>
          </a:p>
        </p:txBody>
      </p:sp>
      <p:sp>
        <p:nvSpPr>
          <p:cNvPr id="8" name="Shape 6"/>
          <p:cNvSpPr/>
          <p:nvPr/>
        </p:nvSpPr>
        <p:spPr>
          <a:xfrm>
            <a:off x="548640" y="1783080"/>
            <a:ext cx="3182112" cy="502920"/>
          </a:xfrm>
          <a:prstGeom prst="roundRect">
            <a:avLst>
              <a:gd name="adj" fmla="val 9091"/>
            </a:avLst>
          </a:prstGeom>
          <a:solidFill>
            <a:srgbClr val="1E2761"/>
          </a:solidFill>
          <a:ln/>
        </p:spPr>
      </p:sp>
      <p:sp>
        <p:nvSpPr>
          <p:cNvPr id="9" name="Text 7"/>
          <p:cNvSpPr/>
          <p:nvPr/>
        </p:nvSpPr>
        <p:spPr>
          <a:xfrm>
            <a:off x="548640" y="1783080"/>
            <a:ext cx="3182112" cy="502920"/>
          </a:xfrm>
          <a:prstGeom prst="rect">
            <a:avLst/>
          </a:prstGeom>
          <a:noFill/>
          <a:ln/>
        </p:spPr>
        <p:txBody>
          <a:bodyPr wrap="square" rtlCol="0" anchor="ctr"/>
          <a:lstStyle/>
          <a:p>
            <a:pPr rtl="1" algn="ctr" indent="0" marL="0">
              <a:buNone/>
            </a:pPr>
            <a:r>
              <a:rPr lang="en-US" sz="1450" b="1" dirty="0">
                <a:solidFill>
                  <a:srgbClr val="FFFFFF"/>
                </a:solidFill>
                <a:latin typeface="Arial" pitchFamily="34" charset="0"/>
                <a:ea typeface="Arial" pitchFamily="34" charset="-122"/>
                <a:cs typeface="Arial" pitchFamily="34" charset="-120"/>
              </a:rPr>
              <a:t>מתי משתמשים</a:t>
            </a:r>
            <a:endParaRPr lang="en-US" sz="1450" dirty="0"/>
          </a:p>
        </p:txBody>
      </p:sp>
      <p:sp>
        <p:nvSpPr>
          <p:cNvPr id="10" name="Shape 8"/>
          <p:cNvSpPr/>
          <p:nvPr/>
        </p:nvSpPr>
        <p:spPr>
          <a:xfrm>
            <a:off x="8897112" y="2404872"/>
            <a:ext cx="2633472" cy="749808"/>
          </a:xfrm>
          <a:prstGeom prst="roundRect">
            <a:avLst>
              <a:gd name="adj" fmla="val 10976"/>
            </a:avLst>
          </a:prstGeom>
          <a:solidFill>
            <a:srgbClr val="E7F5F6"/>
          </a:solidFill>
          <a:ln/>
          <a:effectLst>
            <a:outerShdw sx="100000" sy="100000" kx="0" ky="0" algn="bl" rotWithShape="0" blurRad="76200" dist="25400" dir="5400000">
              <a:srgbClr val="999999">
                <a:alpha val="28000"/>
              </a:srgbClr>
            </a:outerShdw>
          </a:effectLst>
        </p:spPr>
      </p:sp>
      <p:sp>
        <p:nvSpPr>
          <p:cNvPr id="11" name="Text 9"/>
          <p:cNvSpPr/>
          <p:nvPr/>
        </p:nvSpPr>
        <p:spPr>
          <a:xfrm>
            <a:off x="9034272" y="2404872"/>
            <a:ext cx="2359152" cy="749808"/>
          </a:xfrm>
          <a:prstGeom prst="rect">
            <a:avLst/>
          </a:prstGeom>
          <a:noFill/>
          <a:ln/>
        </p:spPr>
        <p:txBody>
          <a:bodyPr wrap="square" rtlCol="0" anchor="ctr"/>
          <a:lstStyle/>
          <a:p>
            <a:pPr rtl="1" algn="ctr" indent="0" marL="0">
              <a:buNone/>
            </a:pPr>
            <a:r>
              <a:rPr lang="en-US" sz="1500" b="1" dirty="0">
                <a:solidFill>
                  <a:srgbClr val="222232"/>
                </a:solidFill>
                <a:latin typeface="Arial" pitchFamily="34" charset="0"/>
                <a:ea typeface="Arial" pitchFamily="34" charset="-122"/>
                <a:cs typeface="Arial" pitchFamily="34" charset="-120"/>
              </a:rPr>
              <a:t>צ’אט שיחתי</a:t>
            </a:r>
            <a:endParaRPr lang="en-US" sz="1500" dirty="0"/>
          </a:p>
        </p:txBody>
      </p:sp>
      <p:sp>
        <p:nvSpPr>
          <p:cNvPr id="12" name="Shape 10"/>
          <p:cNvSpPr/>
          <p:nvPr/>
        </p:nvSpPr>
        <p:spPr>
          <a:xfrm>
            <a:off x="3840480" y="2404872"/>
            <a:ext cx="4946904"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13" name="Text 11"/>
          <p:cNvSpPr/>
          <p:nvPr/>
        </p:nvSpPr>
        <p:spPr>
          <a:xfrm>
            <a:off x="3977640" y="2404872"/>
            <a:ext cx="4672584" cy="749808"/>
          </a:xfrm>
          <a:prstGeom prst="rect">
            <a:avLst/>
          </a:prstGeom>
          <a:noFill/>
          <a:ln/>
        </p:spPr>
        <p:txBody>
          <a:bodyPr wrap="square" rtlCol="0" anchor="ctr"/>
          <a:lstStyle/>
          <a:p>
            <a:pPr rtl="1" algn="r" indent="0" marL="0">
              <a:buNone/>
            </a:pPr>
            <a:r>
              <a:rPr lang="en-US" sz="1350" dirty="0">
                <a:solidFill>
                  <a:srgbClr val="222232"/>
                </a:solidFill>
                <a:latin typeface="Arial" pitchFamily="34" charset="0"/>
                <a:ea typeface="Arial" pitchFamily="34" charset="-122"/>
                <a:cs typeface="Arial" pitchFamily="34" charset="-120"/>
              </a:rPr>
              <a:t>Claude.ai (free) · ChatGPT (free)</a:t>
            </a:r>
            <a:endParaRPr lang="en-US" sz="1350" dirty="0"/>
          </a:p>
        </p:txBody>
      </p:sp>
      <p:sp>
        <p:nvSpPr>
          <p:cNvPr id="14" name="Shape 12"/>
          <p:cNvSpPr/>
          <p:nvPr/>
        </p:nvSpPr>
        <p:spPr>
          <a:xfrm>
            <a:off x="548640" y="2404872"/>
            <a:ext cx="3182112"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15" name="Text 13"/>
          <p:cNvSpPr/>
          <p:nvPr/>
        </p:nvSpPr>
        <p:spPr>
          <a:xfrm>
            <a:off x="685800" y="2404872"/>
            <a:ext cx="2907792" cy="749808"/>
          </a:xfrm>
          <a:prstGeom prst="rect">
            <a:avLst/>
          </a:prstGeom>
          <a:noFill/>
          <a:ln/>
        </p:spPr>
        <p:txBody>
          <a:bodyPr wrap="square" rtlCol="0" anchor="ctr"/>
          <a:lstStyle/>
          <a:p>
            <a:pPr rtl="1" algn="ctr" indent="0" marL="0">
              <a:buNone/>
            </a:pPr>
            <a:r>
              <a:rPr lang="en-US" sz="1350" dirty="0">
                <a:solidFill>
                  <a:srgbClr val="222232"/>
                </a:solidFill>
                <a:latin typeface="Arial" pitchFamily="34" charset="0"/>
                <a:ea typeface="Arial" pitchFamily="34" charset="-122"/>
                <a:cs typeface="Arial" pitchFamily="34" charset="-120"/>
              </a:rPr>
              <a:t>פרומפטים ולמידת יסודות</a:t>
            </a:r>
            <a:endParaRPr lang="en-US" sz="1350" dirty="0"/>
          </a:p>
        </p:txBody>
      </p:sp>
      <p:sp>
        <p:nvSpPr>
          <p:cNvPr id="16" name="Shape 14"/>
          <p:cNvSpPr/>
          <p:nvPr/>
        </p:nvSpPr>
        <p:spPr>
          <a:xfrm>
            <a:off x="8897112" y="3246120"/>
            <a:ext cx="2633472" cy="749808"/>
          </a:xfrm>
          <a:prstGeom prst="roundRect">
            <a:avLst>
              <a:gd name="adj" fmla="val 10976"/>
            </a:avLst>
          </a:prstGeom>
          <a:solidFill>
            <a:srgbClr val="E7F5F6"/>
          </a:solidFill>
          <a:ln/>
          <a:effectLst>
            <a:outerShdw sx="100000" sy="100000" kx="0" ky="0" algn="bl" rotWithShape="0" blurRad="76200" dist="25400" dir="5400000">
              <a:srgbClr val="999999">
                <a:alpha val="28000"/>
              </a:srgbClr>
            </a:outerShdw>
          </a:effectLst>
        </p:spPr>
      </p:sp>
      <p:sp>
        <p:nvSpPr>
          <p:cNvPr id="17" name="Text 15"/>
          <p:cNvSpPr/>
          <p:nvPr/>
        </p:nvSpPr>
        <p:spPr>
          <a:xfrm>
            <a:off x="9034272" y="3246120"/>
            <a:ext cx="2359152" cy="749808"/>
          </a:xfrm>
          <a:prstGeom prst="rect">
            <a:avLst/>
          </a:prstGeom>
          <a:noFill/>
          <a:ln/>
        </p:spPr>
        <p:txBody>
          <a:bodyPr wrap="square" rtlCol="0" anchor="ctr"/>
          <a:lstStyle/>
          <a:p>
            <a:pPr rtl="1" algn="ctr" indent="0" marL="0">
              <a:buNone/>
            </a:pPr>
            <a:r>
              <a:rPr lang="en-US" sz="1500" b="1" dirty="0">
                <a:solidFill>
                  <a:srgbClr val="222232"/>
                </a:solidFill>
                <a:latin typeface="Arial" pitchFamily="34" charset="0"/>
                <a:ea typeface="Arial" pitchFamily="34" charset="-122"/>
                <a:cs typeface="Arial" pitchFamily="34" charset="-120"/>
              </a:rPr>
              <a:t>IDE משולב</a:t>
            </a:r>
            <a:endParaRPr lang="en-US" sz="1500" dirty="0"/>
          </a:p>
        </p:txBody>
      </p:sp>
      <p:sp>
        <p:nvSpPr>
          <p:cNvPr id="18" name="Shape 16"/>
          <p:cNvSpPr/>
          <p:nvPr/>
        </p:nvSpPr>
        <p:spPr>
          <a:xfrm>
            <a:off x="3840480" y="3246120"/>
            <a:ext cx="4946904"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19" name="Text 17"/>
          <p:cNvSpPr/>
          <p:nvPr/>
        </p:nvSpPr>
        <p:spPr>
          <a:xfrm>
            <a:off x="3977640" y="3246120"/>
            <a:ext cx="4672584" cy="749808"/>
          </a:xfrm>
          <a:prstGeom prst="rect">
            <a:avLst/>
          </a:prstGeom>
          <a:noFill/>
          <a:ln/>
        </p:spPr>
        <p:txBody>
          <a:bodyPr wrap="square" rtlCol="0" anchor="ctr"/>
          <a:lstStyle/>
          <a:p>
            <a:pPr rtl="1" algn="r" indent="0" marL="0">
              <a:buNone/>
            </a:pPr>
            <a:r>
              <a:rPr lang="en-US" sz="1350" dirty="0">
                <a:solidFill>
                  <a:srgbClr val="222232"/>
                </a:solidFill>
                <a:latin typeface="Arial" pitchFamily="34" charset="0"/>
                <a:ea typeface="Arial" pitchFamily="34" charset="-122"/>
                <a:cs typeface="Arial" pitchFamily="34" charset="-120"/>
              </a:rPr>
              <a:t>GitHub Copilot Free · Windsurf free</a:t>
            </a:r>
            <a:endParaRPr lang="en-US" sz="1350" dirty="0"/>
          </a:p>
        </p:txBody>
      </p:sp>
      <p:sp>
        <p:nvSpPr>
          <p:cNvPr id="20" name="Shape 18"/>
          <p:cNvSpPr/>
          <p:nvPr/>
        </p:nvSpPr>
        <p:spPr>
          <a:xfrm>
            <a:off x="548640" y="3246120"/>
            <a:ext cx="3182112"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21" name="Text 19"/>
          <p:cNvSpPr/>
          <p:nvPr/>
        </p:nvSpPr>
        <p:spPr>
          <a:xfrm>
            <a:off x="685800" y="3246120"/>
            <a:ext cx="2907792" cy="749808"/>
          </a:xfrm>
          <a:prstGeom prst="rect">
            <a:avLst/>
          </a:prstGeom>
          <a:noFill/>
          <a:ln/>
        </p:spPr>
        <p:txBody>
          <a:bodyPr wrap="square" rtlCol="0" anchor="ctr"/>
          <a:lstStyle/>
          <a:p>
            <a:pPr rtl="1" algn="ctr" indent="0" marL="0">
              <a:buNone/>
            </a:pPr>
            <a:r>
              <a:rPr lang="en-US" sz="1350" dirty="0">
                <a:solidFill>
                  <a:srgbClr val="222232"/>
                </a:solidFill>
                <a:latin typeface="Arial" pitchFamily="34" charset="0"/>
                <a:ea typeface="Arial" pitchFamily="34" charset="-122"/>
                <a:cs typeface="Arial" pitchFamily="34" charset="-120"/>
              </a:rPr>
              <a:t>השלמה ועריכה בתוך העורך</a:t>
            </a:r>
            <a:endParaRPr lang="en-US" sz="1350" dirty="0"/>
          </a:p>
        </p:txBody>
      </p:sp>
      <p:sp>
        <p:nvSpPr>
          <p:cNvPr id="22" name="Shape 20"/>
          <p:cNvSpPr/>
          <p:nvPr/>
        </p:nvSpPr>
        <p:spPr>
          <a:xfrm>
            <a:off x="8897112" y="4087368"/>
            <a:ext cx="2633472" cy="749808"/>
          </a:xfrm>
          <a:prstGeom prst="roundRect">
            <a:avLst>
              <a:gd name="adj" fmla="val 10976"/>
            </a:avLst>
          </a:prstGeom>
          <a:solidFill>
            <a:srgbClr val="E7F5F6"/>
          </a:solidFill>
          <a:ln/>
          <a:effectLst>
            <a:outerShdw sx="100000" sy="100000" kx="0" ky="0" algn="bl" rotWithShape="0" blurRad="76200" dist="25400" dir="5400000">
              <a:srgbClr val="999999">
                <a:alpha val="28000"/>
              </a:srgbClr>
            </a:outerShdw>
          </a:effectLst>
        </p:spPr>
      </p:sp>
      <p:sp>
        <p:nvSpPr>
          <p:cNvPr id="23" name="Text 21"/>
          <p:cNvSpPr/>
          <p:nvPr/>
        </p:nvSpPr>
        <p:spPr>
          <a:xfrm>
            <a:off x="9034272" y="4087368"/>
            <a:ext cx="2359152" cy="749808"/>
          </a:xfrm>
          <a:prstGeom prst="rect">
            <a:avLst/>
          </a:prstGeom>
          <a:noFill/>
          <a:ln/>
        </p:spPr>
        <p:txBody>
          <a:bodyPr wrap="square" rtlCol="0" anchor="ctr"/>
          <a:lstStyle/>
          <a:p>
            <a:pPr rtl="1" algn="ctr" indent="0" marL="0">
              <a:buNone/>
            </a:pPr>
            <a:r>
              <a:rPr lang="en-US" sz="1500" b="1" dirty="0">
                <a:solidFill>
                  <a:srgbClr val="222232"/>
                </a:solidFill>
                <a:latin typeface="Arial" pitchFamily="34" charset="0"/>
                <a:ea typeface="Arial" pitchFamily="34" charset="-122"/>
                <a:cs typeface="Arial" pitchFamily="34" charset="-120"/>
              </a:rPr>
              <a:t>CLI Agent</a:t>
            </a:r>
            <a:endParaRPr lang="en-US" sz="1500" dirty="0"/>
          </a:p>
        </p:txBody>
      </p:sp>
      <p:sp>
        <p:nvSpPr>
          <p:cNvPr id="24" name="Shape 22"/>
          <p:cNvSpPr/>
          <p:nvPr/>
        </p:nvSpPr>
        <p:spPr>
          <a:xfrm>
            <a:off x="3840480" y="4087368"/>
            <a:ext cx="4946904"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25" name="Text 23"/>
          <p:cNvSpPr/>
          <p:nvPr/>
        </p:nvSpPr>
        <p:spPr>
          <a:xfrm>
            <a:off x="3977640" y="4087368"/>
            <a:ext cx="4672584" cy="749808"/>
          </a:xfrm>
          <a:prstGeom prst="rect">
            <a:avLst/>
          </a:prstGeom>
          <a:noFill/>
          <a:ln/>
        </p:spPr>
        <p:txBody>
          <a:bodyPr wrap="square" rtlCol="0" anchor="ctr"/>
          <a:lstStyle/>
          <a:p>
            <a:pPr rtl="1" algn="r" indent="0" marL="0">
              <a:buNone/>
            </a:pPr>
            <a:r>
              <a:rPr lang="en-US" sz="1350" dirty="0">
                <a:solidFill>
                  <a:srgbClr val="222232"/>
                </a:solidFill>
                <a:latin typeface="Arial" pitchFamily="34" charset="0"/>
                <a:ea typeface="Arial" pitchFamily="34" charset="-122"/>
                <a:cs typeface="Arial" pitchFamily="34" charset="-120"/>
              </a:rPr>
              <a:t>Claude Code (במגבלת חינם)</a:t>
            </a:r>
            <a:endParaRPr lang="en-US" sz="1350" dirty="0"/>
          </a:p>
        </p:txBody>
      </p:sp>
      <p:sp>
        <p:nvSpPr>
          <p:cNvPr id="26" name="Shape 24"/>
          <p:cNvSpPr/>
          <p:nvPr/>
        </p:nvSpPr>
        <p:spPr>
          <a:xfrm>
            <a:off x="548640" y="4087368"/>
            <a:ext cx="3182112"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27" name="Text 25"/>
          <p:cNvSpPr/>
          <p:nvPr/>
        </p:nvSpPr>
        <p:spPr>
          <a:xfrm>
            <a:off x="685800" y="4087368"/>
            <a:ext cx="2907792" cy="749808"/>
          </a:xfrm>
          <a:prstGeom prst="rect">
            <a:avLst/>
          </a:prstGeom>
          <a:noFill/>
          <a:ln/>
        </p:spPr>
        <p:txBody>
          <a:bodyPr wrap="square" rtlCol="0" anchor="ctr"/>
          <a:lstStyle/>
          <a:p>
            <a:pPr rtl="1" algn="ctr" indent="0" marL="0">
              <a:buNone/>
            </a:pPr>
            <a:r>
              <a:rPr lang="en-US" sz="1350" dirty="0">
                <a:solidFill>
                  <a:srgbClr val="222232"/>
                </a:solidFill>
                <a:latin typeface="Arial" pitchFamily="34" charset="0"/>
                <a:ea typeface="Arial" pitchFamily="34" charset="-122"/>
                <a:cs typeface="Arial" pitchFamily="34" charset="-120"/>
              </a:rPr>
              <a:t>לולאת agent מלאה</a:t>
            </a:r>
            <a:endParaRPr lang="en-US" sz="1350" dirty="0"/>
          </a:p>
        </p:txBody>
      </p:sp>
      <p:sp>
        <p:nvSpPr>
          <p:cNvPr id="28" name="Text 26"/>
          <p:cNvSpPr/>
          <p:nvPr/>
        </p:nvSpPr>
        <p:spPr>
          <a:xfrm>
            <a:off x="548640" y="4937760"/>
            <a:ext cx="11091672" cy="365760"/>
          </a:xfrm>
          <a:prstGeom prst="rect">
            <a:avLst/>
          </a:prstGeom>
          <a:noFill/>
          <a:ln/>
        </p:spPr>
        <p:txBody>
          <a:bodyPr wrap="square" rtlCol="0" anchor="t"/>
          <a:lstStyle/>
          <a:p>
            <a:pPr rtl="1" algn="r" indent="0" marL="0">
              <a:buNone/>
            </a:pPr>
            <a:r>
              <a:rPr lang="en-US" sz="1350" i="1" dirty="0">
                <a:solidFill>
                  <a:srgbClr val="6B6B80"/>
                </a:solidFill>
                <a:latin typeface="Arial" pitchFamily="34" charset="0"/>
                <a:ea typeface="Arial" pitchFamily="34" charset="-122"/>
                <a:cs typeface="Arial" pitchFamily="34" charset="-120"/>
              </a:rPr>
              <a:t>כולם חינמיים. התמונה משתנה כל חודש — בדקו תנאים עדכניים לפני שימוש.</a:t>
            </a:r>
            <a:endParaRPr lang="en-US" sz="1350" dirty="0"/>
          </a:p>
        </p:txBody>
      </p:sp>
      <p:sp>
        <p:nvSpPr>
          <p:cNvPr id="29" name="Text 2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20 / 27</a:t>
            </a:r>
            <a:endParaRPr lang="en-US" sz="950" dirty="0"/>
          </a:p>
        </p:txBody>
      </p:sp>
      <p:sp>
        <p:nvSpPr>
          <p:cNvPr id="30" name="Text 2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סיכום</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FFFFFF"/>
                </a:solidFill>
                <a:latin typeface="Arial" pitchFamily="34" charset="0"/>
                <a:ea typeface="Arial" pitchFamily="34" charset="-122"/>
                <a:cs typeface="Arial" pitchFamily="34" charset="-120"/>
              </a:rPr>
              <a:t>מה כיסינו במפגש</a:t>
            </a:r>
            <a:endParaRPr lang="en-US" sz="3300" dirty="0"/>
          </a:p>
        </p:txBody>
      </p:sp>
      <p:sp>
        <p:nvSpPr>
          <p:cNvPr id="4" name="Shape 2"/>
          <p:cNvSpPr/>
          <p:nvPr/>
        </p:nvSpPr>
        <p:spPr>
          <a:xfrm>
            <a:off x="11256264" y="1783080"/>
            <a:ext cx="384048" cy="384048"/>
          </a:xfrm>
          <a:prstGeom prst="ellipse">
            <a:avLst/>
          </a:prstGeom>
          <a:solidFill>
            <a:srgbClr val="0E9AA7"/>
          </a:solidFill>
          <a:ln/>
        </p:spPr>
      </p:sp>
      <p:sp>
        <p:nvSpPr>
          <p:cNvPr id="5" name="Text 3"/>
          <p:cNvSpPr/>
          <p:nvPr/>
        </p:nvSpPr>
        <p:spPr>
          <a:xfrm>
            <a:off x="11256264" y="1783080"/>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548640" y="1764792"/>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מהו Vibe Coding, ומאיפה הגיע המונח (קרפאטי, 2025)</a:t>
            </a:r>
            <a:endParaRPr lang="en-US" sz="1650" dirty="0"/>
          </a:p>
        </p:txBody>
      </p:sp>
      <p:sp>
        <p:nvSpPr>
          <p:cNvPr id="7" name="Shape 5"/>
          <p:cNvSpPr/>
          <p:nvPr/>
        </p:nvSpPr>
        <p:spPr>
          <a:xfrm>
            <a:off x="11256264" y="2496312"/>
            <a:ext cx="384048" cy="384048"/>
          </a:xfrm>
          <a:prstGeom prst="ellipse">
            <a:avLst/>
          </a:prstGeom>
          <a:solidFill>
            <a:srgbClr val="0E9AA7"/>
          </a:solidFill>
          <a:ln/>
        </p:spPr>
      </p:sp>
      <p:sp>
        <p:nvSpPr>
          <p:cNvPr id="8" name="Text 6"/>
          <p:cNvSpPr/>
          <p:nvPr/>
        </p:nvSpPr>
        <p:spPr>
          <a:xfrm>
            <a:off x="11256264" y="2496312"/>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2</a:t>
            </a:r>
            <a:endParaRPr lang="en-US" sz="1500" dirty="0"/>
          </a:p>
        </p:txBody>
      </p:sp>
      <p:sp>
        <p:nvSpPr>
          <p:cNvPr id="9" name="Text 7"/>
          <p:cNvSpPr/>
          <p:nvPr/>
        </p:nvSpPr>
        <p:spPr>
          <a:xfrm>
            <a:off x="548640" y="2478024"/>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מהו LLM ואיך הוא “כותב” קוד — ניבוי הטוקן הבא</a:t>
            </a:r>
            <a:endParaRPr lang="en-US" sz="1650" dirty="0"/>
          </a:p>
        </p:txBody>
      </p:sp>
      <p:sp>
        <p:nvSpPr>
          <p:cNvPr id="10" name="Shape 8"/>
          <p:cNvSpPr/>
          <p:nvPr/>
        </p:nvSpPr>
        <p:spPr>
          <a:xfrm>
            <a:off x="11256264" y="3209544"/>
            <a:ext cx="384048" cy="384048"/>
          </a:xfrm>
          <a:prstGeom prst="ellipse">
            <a:avLst/>
          </a:prstGeom>
          <a:solidFill>
            <a:srgbClr val="0E9AA7"/>
          </a:solidFill>
          <a:ln/>
        </p:spPr>
      </p:sp>
      <p:sp>
        <p:nvSpPr>
          <p:cNvPr id="11" name="Text 9"/>
          <p:cNvSpPr/>
          <p:nvPr/>
        </p:nvSpPr>
        <p:spPr>
          <a:xfrm>
            <a:off x="11256264" y="3209544"/>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3</a:t>
            </a:r>
            <a:endParaRPr lang="en-US" sz="1500" dirty="0"/>
          </a:p>
        </p:txBody>
      </p:sp>
      <p:sp>
        <p:nvSpPr>
          <p:cNvPr id="12" name="Text 10"/>
          <p:cNvSpPr/>
          <p:nvPr/>
        </p:nvSpPr>
        <p:spPr>
          <a:xfrm>
            <a:off x="548640" y="3191256"/>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ההבטחות מול המגבלות של תכנות מבוסס-AI</a:t>
            </a:r>
            <a:endParaRPr lang="en-US" sz="1650" dirty="0"/>
          </a:p>
        </p:txBody>
      </p:sp>
      <p:sp>
        <p:nvSpPr>
          <p:cNvPr id="13" name="Shape 11"/>
          <p:cNvSpPr/>
          <p:nvPr/>
        </p:nvSpPr>
        <p:spPr>
          <a:xfrm>
            <a:off x="11256264" y="3922776"/>
            <a:ext cx="384048" cy="384048"/>
          </a:xfrm>
          <a:prstGeom prst="ellipse">
            <a:avLst/>
          </a:prstGeom>
          <a:solidFill>
            <a:srgbClr val="0E9AA7"/>
          </a:solidFill>
          <a:ln/>
        </p:spPr>
      </p:sp>
      <p:sp>
        <p:nvSpPr>
          <p:cNvPr id="14" name="Text 12"/>
          <p:cNvSpPr/>
          <p:nvPr/>
        </p:nvSpPr>
        <p:spPr>
          <a:xfrm>
            <a:off x="11256264" y="3922776"/>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4</a:t>
            </a:r>
            <a:endParaRPr lang="en-US" sz="1500" dirty="0"/>
          </a:p>
        </p:txBody>
      </p:sp>
      <p:sp>
        <p:nvSpPr>
          <p:cNvPr id="15" name="Text 13"/>
          <p:cNvSpPr/>
          <p:nvPr/>
        </p:nvSpPr>
        <p:spPr>
          <a:xfrm>
            <a:off x="548640" y="3904488"/>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עקרון-העל: “מתכנת ג’וניור מוכשר” → חובה סקירה אנושית</a:t>
            </a:r>
            <a:endParaRPr lang="en-US" sz="1650" dirty="0"/>
          </a:p>
        </p:txBody>
      </p:sp>
      <p:sp>
        <p:nvSpPr>
          <p:cNvPr id="16" name="Shape 14"/>
          <p:cNvSpPr/>
          <p:nvPr/>
        </p:nvSpPr>
        <p:spPr>
          <a:xfrm>
            <a:off x="11256264" y="4636008"/>
            <a:ext cx="384048" cy="384048"/>
          </a:xfrm>
          <a:prstGeom prst="ellipse">
            <a:avLst/>
          </a:prstGeom>
          <a:solidFill>
            <a:srgbClr val="0E9AA7"/>
          </a:solidFill>
          <a:ln/>
        </p:spPr>
      </p:sp>
      <p:sp>
        <p:nvSpPr>
          <p:cNvPr id="17" name="Text 15"/>
          <p:cNvSpPr/>
          <p:nvPr/>
        </p:nvSpPr>
        <p:spPr>
          <a:xfrm>
            <a:off x="11256264" y="4636008"/>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5</a:t>
            </a:r>
            <a:endParaRPr lang="en-US" sz="1500" dirty="0"/>
          </a:p>
        </p:txBody>
      </p:sp>
      <p:sp>
        <p:nvSpPr>
          <p:cNvPr id="18" name="Text 16"/>
          <p:cNvSpPr/>
          <p:nvPr/>
        </p:nvSpPr>
        <p:spPr>
          <a:xfrm>
            <a:off x="548640" y="4617720"/>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הקורס עוסק ב-Workflow, לא בכלי ספציפי</a:t>
            </a:r>
            <a:endParaRPr lang="en-US" sz="1650" dirty="0"/>
          </a:p>
        </p:txBody>
      </p:sp>
      <p:sp>
        <p:nvSpPr>
          <p:cNvPr id="19" name="Text 1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21 / 27</a:t>
            </a:r>
            <a:endParaRPr lang="en-US" sz="950" dirty="0"/>
          </a:p>
        </p:txBody>
      </p:sp>
      <p:sp>
        <p:nvSpPr>
          <p:cNvPr id="20" name="Text 1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גשר לתרגול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תוכנית התרגול — 45 דקות</a:t>
            </a:r>
            <a:endParaRPr lang="en-US" sz="3300" dirty="0"/>
          </a:p>
        </p:txBody>
      </p:sp>
      <p:sp>
        <p:nvSpPr>
          <p:cNvPr id="4" name="Shape 2"/>
          <p:cNvSpPr/>
          <p:nvPr/>
        </p:nvSpPr>
        <p:spPr>
          <a:xfrm>
            <a:off x="2011680" y="1691640"/>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2240280" y="1691640"/>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הקמה · בחירת 2 כלים + כניסה</a:t>
            </a:r>
            <a:endParaRPr lang="en-US" sz="1600" dirty="0"/>
          </a:p>
        </p:txBody>
      </p:sp>
      <p:sp>
        <p:nvSpPr>
          <p:cNvPr id="6" name="Shape 4"/>
          <p:cNvSpPr/>
          <p:nvPr/>
        </p:nvSpPr>
        <p:spPr>
          <a:xfrm>
            <a:off x="548640" y="1691640"/>
            <a:ext cx="1280160" cy="621792"/>
          </a:xfrm>
          <a:prstGeom prst="roundRect">
            <a:avLst>
              <a:gd name="adj" fmla="val 11765"/>
            </a:avLst>
          </a:prstGeom>
          <a:solidFill>
            <a:srgbClr val="3B3B98"/>
          </a:solidFill>
          <a:ln/>
        </p:spPr>
      </p:sp>
      <p:sp>
        <p:nvSpPr>
          <p:cNvPr id="7" name="Text 5"/>
          <p:cNvSpPr/>
          <p:nvPr/>
        </p:nvSpPr>
        <p:spPr>
          <a:xfrm>
            <a:off x="548640" y="1691640"/>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5 דק'</a:t>
            </a:r>
            <a:endParaRPr lang="en-US" sz="1500" dirty="0"/>
          </a:p>
        </p:txBody>
      </p:sp>
      <p:sp>
        <p:nvSpPr>
          <p:cNvPr id="8" name="Shape 6"/>
          <p:cNvSpPr/>
          <p:nvPr/>
        </p:nvSpPr>
        <p:spPr>
          <a:xfrm>
            <a:off x="2011680" y="2441448"/>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9" name="Text 7"/>
          <p:cNvSpPr/>
          <p:nvPr/>
        </p:nvSpPr>
        <p:spPr>
          <a:xfrm>
            <a:off x="2240280" y="2441448"/>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ניסוי א' · כלי מול כלי</a:t>
            </a:r>
            <a:endParaRPr lang="en-US" sz="1600" dirty="0"/>
          </a:p>
        </p:txBody>
      </p:sp>
      <p:sp>
        <p:nvSpPr>
          <p:cNvPr id="10" name="Shape 8"/>
          <p:cNvSpPr/>
          <p:nvPr/>
        </p:nvSpPr>
        <p:spPr>
          <a:xfrm>
            <a:off x="548640" y="2441448"/>
            <a:ext cx="1280160" cy="621792"/>
          </a:xfrm>
          <a:prstGeom prst="roundRect">
            <a:avLst>
              <a:gd name="adj" fmla="val 11765"/>
            </a:avLst>
          </a:prstGeom>
          <a:solidFill>
            <a:srgbClr val="3B3B98"/>
          </a:solidFill>
          <a:ln/>
        </p:spPr>
      </p:sp>
      <p:sp>
        <p:nvSpPr>
          <p:cNvPr id="11" name="Text 9"/>
          <p:cNvSpPr/>
          <p:nvPr/>
        </p:nvSpPr>
        <p:spPr>
          <a:xfrm>
            <a:off x="548640" y="2441448"/>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8 דק'</a:t>
            </a:r>
            <a:endParaRPr lang="en-US" sz="1500" dirty="0"/>
          </a:p>
        </p:txBody>
      </p:sp>
      <p:sp>
        <p:nvSpPr>
          <p:cNvPr id="12" name="Shape 10"/>
          <p:cNvSpPr/>
          <p:nvPr/>
        </p:nvSpPr>
        <p:spPr>
          <a:xfrm>
            <a:off x="2011680" y="3191256"/>
            <a:ext cx="9628632" cy="621792"/>
          </a:xfrm>
          <a:prstGeom prst="roundRect">
            <a:avLst>
              <a:gd name="adj" fmla="val 13235"/>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2240280" y="3191256"/>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ניסוי ב' · עברית מול אנגלית</a:t>
            </a:r>
            <a:endParaRPr lang="en-US" sz="1600" dirty="0"/>
          </a:p>
        </p:txBody>
      </p:sp>
      <p:sp>
        <p:nvSpPr>
          <p:cNvPr id="14" name="Shape 12"/>
          <p:cNvSpPr/>
          <p:nvPr/>
        </p:nvSpPr>
        <p:spPr>
          <a:xfrm>
            <a:off x="548640" y="3191256"/>
            <a:ext cx="1280160" cy="621792"/>
          </a:xfrm>
          <a:prstGeom prst="roundRect">
            <a:avLst>
              <a:gd name="adj" fmla="val 11765"/>
            </a:avLst>
          </a:prstGeom>
          <a:solidFill>
            <a:srgbClr val="0E9AA7"/>
          </a:solidFill>
          <a:ln/>
        </p:spPr>
      </p:sp>
      <p:sp>
        <p:nvSpPr>
          <p:cNvPr id="15" name="Text 13"/>
          <p:cNvSpPr/>
          <p:nvPr/>
        </p:nvSpPr>
        <p:spPr>
          <a:xfrm>
            <a:off x="548640" y="3191256"/>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14 דק'</a:t>
            </a:r>
            <a:endParaRPr lang="en-US" sz="1500" dirty="0"/>
          </a:p>
        </p:txBody>
      </p:sp>
      <p:sp>
        <p:nvSpPr>
          <p:cNvPr id="16" name="Shape 14"/>
          <p:cNvSpPr/>
          <p:nvPr/>
        </p:nvSpPr>
        <p:spPr>
          <a:xfrm>
            <a:off x="2011680" y="3941064"/>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17" name="Text 15"/>
          <p:cNvSpPr/>
          <p:nvPr/>
        </p:nvSpPr>
        <p:spPr>
          <a:xfrm>
            <a:off x="2240280" y="3941064"/>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אימות בהרצה · מקרי קצה</a:t>
            </a:r>
            <a:endParaRPr lang="en-US" sz="1600" dirty="0"/>
          </a:p>
        </p:txBody>
      </p:sp>
      <p:sp>
        <p:nvSpPr>
          <p:cNvPr id="18" name="Shape 16"/>
          <p:cNvSpPr/>
          <p:nvPr/>
        </p:nvSpPr>
        <p:spPr>
          <a:xfrm>
            <a:off x="548640" y="3941064"/>
            <a:ext cx="1280160" cy="621792"/>
          </a:xfrm>
          <a:prstGeom prst="roundRect">
            <a:avLst>
              <a:gd name="adj" fmla="val 11765"/>
            </a:avLst>
          </a:prstGeom>
          <a:solidFill>
            <a:srgbClr val="3B3B98"/>
          </a:solidFill>
          <a:ln/>
        </p:spPr>
      </p:sp>
      <p:sp>
        <p:nvSpPr>
          <p:cNvPr id="19" name="Text 17"/>
          <p:cNvSpPr/>
          <p:nvPr/>
        </p:nvSpPr>
        <p:spPr>
          <a:xfrm>
            <a:off x="548640" y="3941064"/>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10 דק'</a:t>
            </a:r>
            <a:endParaRPr lang="en-US" sz="1500" dirty="0"/>
          </a:p>
        </p:txBody>
      </p:sp>
      <p:sp>
        <p:nvSpPr>
          <p:cNvPr id="20" name="Shape 18"/>
          <p:cNvSpPr/>
          <p:nvPr/>
        </p:nvSpPr>
        <p:spPr>
          <a:xfrm>
            <a:off x="2011680" y="4690872"/>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21" name="Text 19"/>
          <p:cNvSpPr/>
          <p:nvPr/>
        </p:nvSpPr>
        <p:spPr>
          <a:xfrm>
            <a:off x="2240280" y="4690872"/>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דוח קצר · סיכום ממצאים</a:t>
            </a:r>
            <a:endParaRPr lang="en-US" sz="1600" dirty="0"/>
          </a:p>
        </p:txBody>
      </p:sp>
      <p:sp>
        <p:nvSpPr>
          <p:cNvPr id="22" name="Shape 20"/>
          <p:cNvSpPr/>
          <p:nvPr/>
        </p:nvSpPr>
        <p:spPr>
          <a:xfrm>
            <a:off x="548640" y="4690872"/>
            <a:ext cx="1280160" cy="621792"/>
          </a:xfrm>
          <a:prstGeom prst="roundRect">
            <a:avLst>
              <a:gd name="adj" fmla="val 11765"/>
            </a:avLst>
          </a:prstGeom>
          <a:solidFill>
            <a:srgbClr val="3B3B98"/>
          </a:solidFill>
          <a:ln/>
        </p:spPr>
      </p:sp>
      <p:sp>
        <p:nvSpPr>
          <p:cNvPr id="23" name="Text 21"/>
          <p:cNvSpPr/>
          <p:nvPr/>
        </p:nvSpPr>
        <p:spPr>
          <a:xfrm>
            <a:off x="548640" y="4690872"/>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8 דק'</a:t>
            </a:r>
            <a:endParaRPr lang="en-US" sz="1500" dirty="0"/>
          </a:p>
        </p:txBody>
      </p:sp>
      <p:sp>
        <p:nvSpPr>
          <p:cNvPr id="24" name="Text 22"/>
          <p:cNvSpPr/>
          <p:nvPr/>
        </p:nvSpPr>
        <p:spPr>
          <a:xfrm>
            <a:off x="548640" y="5532120"/>
            <a:ext cx="11091672" cy="365760"/>
          </a:xfrm>
          <a:prstGeom prst="rect">
            <a:avLst/>
          </a:prstGeom>
          <a:noFill/>
          <a:ln/>
        </p:spPr>
        <p:txBody>
          <a:bodyPr wrap="square" rtlCol="0" anchor="t"/>
          <a:lstStyle/>
          <a:p>
            <a:pPr rtl="1" algn="r" indent="0" marL="0">
              <a:buNone/>
            </a:pPr>
            <a:r>
              <a:rPr lang="en-US" sz="1350" i="1" dirty="0">
                <a:solidFill>
                  <a:srgbClr val="6B6B80"/>
                </a:solidFill>
                <a:latin typeface="Arial" pitchFamily="34" charset="0"/>
                <a:ea typeface="Arial" pitchFamily="34" charset="-122"/>
                <a:cs typeface="Arial" pitchFamily="34" charset="-120"/>
              </a:rPr>
              <a:t>כל הפרומפטים המדויקים בשקפים הבאים · צריך: חשבון חינמי + דפדפן.</a:t>
            </a:r>
            <a:endParaRPr lang="en-US" sz="1350" dirty="0"/>
          </a:p>
        </p:txBody>
      </p:sp>
      <p:sp>
        <p:nvSpPr>
          <p:cNvPr id="25" name="Text 2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22 / 27</a:t>
            </a:r>
            <a:endParaRPr lang="en-US" sz="950" dirty="0"/>
          </a:p>
        </p:txBody>
      </p:sp>
      <p:sp>
        <p:nvSpPr>
          <p:cNvPr id="26" name="Text 2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ניסוי א' (8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כלי מול כלי — אותו פרומפט</a:t>
            </a:r>
            <a:endParaRPr lang="en-US" sz="3300" dirty="0"/>
          </a:p>
        </p:txBody>
      </p:sp>
      <p:sp>
        <p:nvSpPr>
          <p:cNvPr id="4" name="Shape 2"/>
          <p:cNvSpPr/>
          <p:nvPr/>
        </p:nvSpPr>
        <p:spPr>
          <a:xfrm>
            <a:off x="548640" y="1737360"/>
            <a:ext cx="11091672" cy="1097280"/>
          </a:xfrm>
          <a:prstGeom prst="roundRect">
            <a:avLst>
              <a:gd name="adj" fmla="val 6667"/>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9262872" y="1828800"/>
            <a:ext cx="2194560" cy="320040"/>
          </a:xfrm>
          <a:prstGeom prst="rect">
            <a:avLst/>
          </a:prstGeom>
          <a:noFill/>
          <a:ln/>
        </p:spPr>
        <p:txBody>
          <a:bodyPr wrap="square" rtlCol="0" anchor="ctr"/>
          <a:lstStyle/>
          <a:p>
            <a:pPr rtl="1" algn="r" indent="0" marL="0">
              <a:buNone/>
            </a:pPr>
            <a:r>
              <a:rPr lang="en-US" sz="1250" b="1" dirty="0">
                <a:solidFill>
                  <a:srgbClr val="0E9AA7"/>
                </a:solidFill>
                <a:latin typeface="Arial" pitchFamily="34" charset="0"/>
                <a:ea typeface="Arial" pitchFamily="34" charset="-122"/>
                <a:cs typeface="Arial" pitchFamily="34" charset="-120"/>
              </a:rPr>
              <a:t>הפרומפט (עברית):</a:t>
            </a:r>
            <a:endParaRPr lang="en-US" sz="1250" dirty="0"/>
          </a:p>
        </p:txBody>
      </p:sp>
      <p:sp>
        <p:nvSpPr>
          <p:cNvPr id="6" name="Text 4"/>
          <p:cNvSpPr/>
          <p:nvPr/>
        </p:nvSpPr>
        <p:spPr>
          <a:xfrm>
            <a:off x="822960" y="2194560"/>
            <a:ext cx="10543032" cy="548640"/>
          </a:xfrm>
          <a:prstGeom prst="rect">
            <a:avLst/>
          </a:prstGeom>
          <a:noFill/>
          <a:ln/>
        </p:spPr>
        <p:txBody>
          <a:bodyPr wrap="square" rtlCol="0" anchor="ctr"/>
          <a:lstStyle/>
          <a:p>
            <a:pPr rtl="1" algn="r" indent="0" marL="0">
              <a:buNone/>
            </a:pPr>
            <a:r>
              <a:rPr lang="en-US" sz="1350" dirty="0">
                <a:solidFill>
                  <a:srgbClr val="E8E8F0"/>
                </a:solidFill>
                <a:latin typeface="Arial" pitchFamily="34" charset="0"/>
                <a:ea typeface="Arial" pitchFamily="34" charset="-122"/>
                <a:cs typeface="Arial" pitchFamily="34" charset="-120"/>
              </a:rPr>
              <a:t>“כתוב פונקציה בפייתון שמקבלת רשימת מספרים ומחזירה את הממוצע. הוסף טיפול ברשימה ריקה, והסבר בעברית מה הקוד עושה.”</a:t>
            </a:r>
            <a:endParaRPr lang="en-US" sz="1350" dirty="0"/>
          </a:p>
        </p:txBody>
      </p:sp>
      <p:sp>
        <p:nvSpPr>
          <p:cNvPr id="7" name="Text 5"/>
          <p:cNvSpPr/>
          <p:nvPr/>
        </p:nvSpPr>
        <p:spPr>
          <a:xfrm>
            <a:off x="548640" y="306324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הריצו את הפרומפט בשני הכלים שבחרתם, ואז השוו:</a:t>
            </a:r>
            <a:endParaRPr lang="en-US" sz="1500" dirty="0"/>
          </a:p>
        </p:txBody>
      </p:sp>
      <p:sp>
        <p:nvSpPr>
          <p:cNvPr id="8" name="Shape 6"/>
          <p:cNvSpPr/>
          <p:nvPr/>
        </p:nvSpPr>
        <p:spPr>
          <a:xfrm>
            <a:off x="11228832" y="3520440"/>
            <a:ext cx="411480" cy="411480"/>
          </a:xfrm>
          <a:prstGeom prst="ellipse">
            <a:avLst/>
          </a:prstGeom>
          <a:solidFill>
            <a:srgbClr val="3B3B98"/>
          </a:solidFill>
          <a:ln/>
        </p:spPr>
      </p:sp>
      <p:sp>
        <p:nvSpPr>
          <p:cNvPr id="9" name="Text 7"/>
          <p:cNvSpPr/>
          <p:nvPr/>
        </p:nvSpPr>
        <p:spPr>
          <a:xfrm>
            <a:off x="11228832" y="352044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548640" y="3502152"/>
            <a:ext cx="1051560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מי הסביר טוב יותר?</a:t>
            </a:r>
            <a:endParaRPr lang="en-US" sz="1700" dirty="0"/>
          </a:p>
        </p:txBody>
      </p:sp>
      <p:sp>
        <p:nvSpPr>
          <p:cNvPr id="11" name="Shape 9"/>
          <p:cNvSpPr/>
          <p:nvPr/>
        </p:nvSpPr>
        <p:spPr>
          <a:xfrm>
            <a:off x="11228832" y="4160520"/>
            <a:ext cx="411480" cy="411480"/>
          </a:xfrm>
          <a:prstGeom prst="ellipse">
            <a:avLst/>
          </a:prstGeom>
          <a:solidFill>
            <a:srgbClr val="3B3B98"/>
          </a:solidFill>
          <a:ln/>
        </p:spPr>
      </p:sp>
      <p:sp>
        <p:nvSpPr>
          <p:cNvPr id="12" name="Text 10"/>
          <p:cNvSpPr/>
          <p:nvPr/>
        </p:nvSpPr>
        <p:spPr>
          <a:xfrm>
            <a:off x="11228832" y="416052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48640" y="4142232"/>
            <a:ext cx="1051560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מי טיפל במקרה הקצה (רשימה ריקה)?</a:t>
            </a:r>
            <a:endParaRPr lang="en-US" sz="1700" dirty="0"/>
          </a:p>
        </p:txBody>
      </p:sp>
      <p:sp>
        <p:nvSpPr>
          <p:cNvPr id="14" name="Shape 12"/>
          <p:cNvSpPr/>
          <p:nvPr/>
        </p:nvSpPr>
        <p:spPr>
          <a:xfrm>
            <a:off x="11228832" y="4800600"/>
            <a:ext cx="411480" cy="411480"/>
          </a:xfrm>
          <a:prstGeom prst="ellipse">
            <a:avLst/>
          </a:prstGeom>
          <a:solidFill>
            <a:srgbClr val="3B3B98"/>
          </a:solidFill>
          <a:ln/>
        </p:spPr>
      </p:sp>
      <p:sp>
        <p:nvSpPr>
          <p:cNvPr id="15" name="Text 13"/>
          <p:cNvSpPr/>
          <p:nvPr/>
        </p:nvSpPr>
        <p:spPr>
          <a:xfrm>
            <a:off x="11228832" y="480060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548640" y="4782312"/>
            <a:ext cx="1051560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אילו הבדלים יש בקוד עצמו (שמות, מבנה, הערות)?</a:t>
            </a:r>
            <a:endParaRPr lang="en-US" sz="1700" dirty="0"/>
          </a:p>
        </p:txBody>
      </p:sp>
      <p:sp>
        <p:nvSpPr>
          <p:cNvPr id="17" name="Text 15"/>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23 / 27</a:t>
            </a:r>
            <a:endParaRPr lang="en-US" sz="950" dirty="0"/>
          </a:p>
        </p:txBody>
      </p:sp>
      <p:sp>
        <p:nvSpPr>
          <p:cNvPr id="18" name="Text 16"/>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ניסוי ב' (14 דקות) — הלב של התרגול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עברית מול אנגלית</a:t>
            </a:r>
            <a:endParaRPr lang="en-US" sz="3300" dirty="0"/>
          </a:p>
        </p:txBody>
      </p:sp>
      <p:sp>
        <p:nvSpPr>
          <p:cNvPr id="4" name="Text 2"/>
          <p:cNvSpPr/>
          <p:nvPr/>
        </p:nvSpPr>
        <p:spPr>
          <a:xfrm>
            <a:off x="548640" y="1627632"/>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הריצו את אותה משימה פעמיים באותו כלי — פעם בעברית, פעם באנגלית:</a:t>
            </a:r>
            <a:endParaRPr lang="en-US" sz="1500" dirty="0"/>
          </a:p>
        </p:txBody>
      </p:sp>
      <p:sp>
        <p:nvSpPr>
          <p:cNvPr id="5" name="Shape 3"/>
          <p:cNvSpPr/>
          <p:nvPr/>
        </p:nvSpPr>
        <p:spPr>
          <a:xfrm>
            <a:off x="6277356" y="2011680"/>
            <a:ext cx="5362956" cy="1371600"/>
          </a:xfrm>
          <a:prstGeom prst="roundRect">
            <a:avLst>
              <a:gd name="adj" fmla="val 5333"/>
            </a:avLst>
          </a:prstGeom>
          <a:solidFill>
            <a:srgbClr val="1B1B2B"/>
          </a:solidFill>
          <a:ln/>
          <a:effectLst>
            <a:outerShdw sx="100000" sy="100000" kx="0" ky="0" algn="bl" rotWithShape="0" blurRad="76200" dist="25400" dir="5400000">
              <a:srgbClr val="999999">
                <a:alpha val="28000"/>
              </a:srgbClr>
            </a:outerShdw>
          </a:effectLst>
        </p:spPr>
      </p:sp>
      <p:sp>
        <p:nvSpPr>
          <p:cNvPr id="6" name="Text 4"/>
          <p:cNvSpPr/>
          <p:nvPr/>
        </p:nvSpPr>
        <p:spPr>
          <a:xfrm>
            <a:off x="6551676" y="2139696"/>
            <a:ext cx="4814316" cy="292608"/>
          </a:xfrm>
          <a:prstGeom prst="rect">
            <a:avLst/>
          </a:prstGeom>
          <a:noFill/>
          <a:ln/>
        </p:spPr>
        <p:txBody>
          <a:bodyPr wrap="square" rtlCol="0" anchor="ctr"/>
          <a:lstStyle/>
          <a:p>
            <a:pPr rtl="1" algn="r" indent="0" marL="0">
              <a:buNone/>
            </a:pPr>
            <a:r>
              <a:rPr lang="en-US" sz="1250" b="1" dirty="0">
                <a:solidFill>
                  <a:srgbClr val="0E9AA7"/>
                </a:solidFill>
                <a:latin typeface="Arial" pitchFamily="34" charset="0"/>
                <a:ea typeface="Arial" pitchFamily="34" charset="-122"/>
                <a:cs typeface="Arial" pitchFamily="34" charset="-120"/>
              </a:rPr>
              <a:t>עברית</a:t>
            </a:r>
            <a:endParaRPr lang="en-US" sz="1250" dirty="0"/>
          </a:p>
        </p:txBody>
      </p:sp>
      <p:sp>
        <p:nvSpPr>
          <p:cNvPr id="7" name="Text 5"/>
          <p:cNvSpPr/>
          <p:nvPr/>
        </p:nvSpPr>
        <p:spPr>
          <a:xfrm>
            <a:off x="6551676" y="2487168"/>
            <a:ext cx="4814316" cy="822960"/>
          </a:xfrm>
          <a:prstGeom prst="rect">
            <a:avLst/>
          </a:prstGeom>
          <a:noFill/>
          <a:ln/>
        </p:spPr>
        <p:txBody>
          <a:bodyPr wrap="square" rtlCol="0" anchor="ctr"/>
          <a:lstStyle/>
          <a:p>
            <a:pPr rtl="1" algn="r" indent="0" marL="0">
              <a:buNone/>
            </a:pPr>
            <a:r>
              <a:rPr lang="en-US" sz="1200" dirty="0">
                <a:solidFill>
                  <a:srgbClr val="E8E8F0"/>
                </a:solidFill>
                <a:latin typeface="Arial" pitchFamily="34" charset="0"/>
                <a:ea typeface="Arial" pitchFamily="34" charset="-122"/>
                <a:cs typeface="Arial" pitchFamily="34" charset="-120"/>
              </a:rPr>
              <a:t>“כתוב פונקציה בפייתון שמקבלת רשימת מספרים ומחזירה את הממוצע. הוסף טיפול ברשימה ריקה, והסבר מה הקוד עושה.”</a:t>
            </a:r>
            <a:endParaRPr lang="en-US" sz="1200" dirty="0"/>
          </a:p>
        </p:txBody>
      </p:sp>
      <p:sp>
        <p:nvSpPr>
          <p:cNvPr id="8" name="Shape 6"/>
          <p:cNvSpPr/>
          <p:nvPr/>
        </p:nvSpPr>
        <p:spPr>
          <a:xfrm>
            <a:off x="548640" y="2011680"/>
            <a:ext cx="5362956" cy="1371600"/>
          </a:xfrm>
          <a:prstGeom prst="roundRect">
            <a:avLst>
              <a:gd name="adj" fmla="val 5333"/>
            </a:avLst>
          </a:prstGeom>
          <a:solidFill>
            <a:srgbClr val="1B1B2B"/>
          </a:solidFill>
          <a:ln/>
          <a:effectLst>
            <a:outerShdw sx="100000" sy="100000" kx="0" ky="0" algn="bl" rotWithShape="0" blurRad="76200" dist="25400" dir="5400000">
              <a:srgbClr val="999999">
                <a:alpha val="28000"/>
              </a:srgbClr>
            </a:outerShdw>
          </a:effectLst>
        </p:spPr>
      </p:sp>
      <p:sp>
        <p:nvSpPr>
          <p:cNvPr id="9" name="Text 7"/>
          <p:cNvSpPr/>
          <p:nvPr/>
        </p:nvSpPr>
        <p:spPr>
          <a:xfrm>
            <a:off x="822960" y="2139696"/>
            <a:ext cx="4814316" cy="292608"/>
          </a:xfrm>
          <a:prstGeom prst="rect">
            <a:avLst/>
          </a:prstGeom>
          <a:noFill/>
          <a:ln/>
        </p:spPr>
        <p:txBody>
          <a:bodyPr wrap="square" rtlCol="0" anchor="ctr"/>
          <a:lstStyle/>
          <a:p>
            <a:pPr algn="l" indent="0" marL="0">
              <a:buNone/>
            </a:pPr>
            <a:r>
              <a:rPr lang="en-US" sz="1250" b="1" dirty="0">
                <a:solidFill>
                  <a:srgbClr val="0E9AA7"/>
                </a:solidFill>
                <a:latin typeface="Arial" pitchFamily="34" charset="0"/>
                <a:ea typeface="Arial" pitchFamily="34" charset="-122"/>
                <a:cs typeface="Arial" pitchFamily="34" charset="-120"/>
              </a:rPr>
              <a:t>English</a:t>
            </a:r>
            <a:endParaRPr lang="en-US" sz="1250" dirty="0"/>
          </a:p>
        </p:txBody>
      </p:sp>
      <p:sp>
        <p:nvSpPr>
          <p:cNvPr id="10" name="Text 8"/>
          <p:cNvSpPr/>
          <p:nvPr/>
        </p:nvSpPr>
        <p:spPr>
          <a:xfrm>
            <a:off x="822960" y="2487168"/>
            <a:ext cx="4814316" cy="822960"/>
          </a:xfrm>
          <a:prstGeom prst="rect">
            <a:avLst/>
          </a:prstGeom>
          <a:noFill/>
          <a:ln/>
        </p:spPr>
        <p:txBody>
          <a:bodyPr wrap="square" rtlCol="0" anchor="ctr"/>
          <a:lstStyle/>
          <a:p>
            <a:pPr algn="l" indent="0" marL="0">
              <a:buNone/>
            </a:pPr>
            <a:r>
              <a:rPr lang="en-US" sz="1200" dirty="0">
                <a:solidFill>
                  <a:srgbClr val="E8E8F0"/>
                </a:solidFill>
                <a:latin typeface="Arial" pitchFamily="34" charset="0"/>
                <a:ea typeface="Arial" pitchFamily="34" charset="-122"/>
                <a:cs typeface="Arial" pitchFamily="34" charset="-120"/>
              </a:rPr>
              <a:t>“Write a Python function that takes a list of numbers and returns the average. Handle the empty-list case, and explain what the code does.”</a:t>
            </a:r>
            <a:endParaRPr lang="en-US" sz="1200" dirty="0"/>
          </a:p>
        </p:txBody>
      </p:sp>
      <p:sp>
        <p:nvSpPr>
          <p:cNvPr id="11" name="Shape 9"/>
          <p:cNvSpPr/>
          <p:nvPr/>
        </p:nvSpPr>
        <p:spPr>
          <a:xfrm>
            <a:off x="548640" y="3566160"/>
            <a:ext cx="11091672" cy="1417320"/>
          </a:xfrm>
          <a:prstGeom prst="roundRect">
            <a:avLst>
              <a:gd name="adj" fmla="val 5806"/>
            </a:avLst>
          </a:prstGeom>
          <a:solidFill>
            <a:srgbClr val="F2F3FA"/>
          </a:solidFill>
          <a:ln/>
          <a:effectLst>
            <a:outerShdw sx="100000" sy="100000" kx="0" ky="0" algn="bl" rotWithShape="0" blurRad="76200" dist="25400" dir="5400000">
              <a:srgbClr val="999999">
                <a:alpha val="28000"/>
              </a:srgbClr>
            </a:outerShdw>
          </a:effectLst>
        </p:spPr>
      </p:sp>
      <p:sp>
        <p:nvSpPr>
          <p:cNvPr id="12" name="Text 10"/>
          <p:cNvSpPr/>
          <p:nvPr/>
        </p:nvSpPr>
        <p:spPr>
          <a:xfrm>
            <a:off x="10085832" y="3657600"/>
            <a:ext cx="1371600" cy="32004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מה לבדוק:</a:t>
            </a:r>
            <a:endParaRPr lang="en-US" sz="1400" dirty="0"/>
          </a:p>
        </p:txBody>
      </p:sp>
      <p:sp>
        <p:nvSpPr>
          <p:cNvPr id="13" name="Text 11"/>
          <p:cNvSpPr/>
          <p:nvPr/>
        </p:nvSpPr>
        <p:spPr>
          <a:xfrm>
            <a:off x="868680" y="4041648"/>
            <a:ext cx="10451592" cy="868680"/>
          </a:xfrm>
          <a:prstGeom prst="rect">
            <a:avLst/>
          </a:prstGeom>
          <a:noFill/>
          <a:ln/>
        </p:spPr>
        <p:txBody>
          <a:bodyPr wrap="square" rtlCol="0" anchor="t"/>
          <a:lstStyle/>
          <a:p>
            <a:pPr rtl="1" algn="r" indent="0" marL="0">
              <a:lnSpc>
                <a:spcPct val="130000"/>
              </a:lnSpc>
              <a:buNone/>
            </a:pPr>
            <a:r>
              <a:rPr lang="en-US" sz="1350" dirty="0">
                <a:solidFill>
                  <a:srgbClr val="222232"/>
                </a:solidFill>
                <a:latin typeface="Arial" pitchFamily="34" charset="0"/>
                <a:ea typeface="Arial" pitchFamily="34" charset="-122"/>
                <a:cs typeface="Arial" pitchFamily="34" charset="-120"/>
              </a:rPr>
              <a:t>•  האם הקוד זהה?   •  מי טיפל במקרה הקצה?   •  איזה הסבר מפורט יותר?</a:t>
            </a:r>
            <a:endParaRPr lang="en-US" sz="1350" dirty="0"/>
          </a:p>
          <a:p>
            <a:pPr rtl="1" algn="r" indent="0" marL="0">
              <a:lnSpc>
                <a:spcPct val="130000"/>
              </a:lnSpc>
              <a:buNone/>
            </a:pPr>
            <a:r>
              <a:rPr lang="en-US" sz="1350" dirty="0">
                <a:solidFill>
                  <a:srgbClr val="222232"/>
                </a:solidFill>
                <a:latin typeface="Arial" pitchFamily="34" charset="0"/>
                <a:ea typeface="Arial" pitchFamily="34" charset="-122"/>
                <a:cs typeface="Arial" pitchFamily="34" charset="-120"/>
              </a:rPr>
              <a:t>•  באיזו שפה נכתבו ההערות בקוד?   •  איזו שפה נתנה תוצאה טובה יותר?</a:t>
            </a:r>
            <a:endParaRPr lang="en-US" sz="1350" dirty="0"/>
          </a:p>
        </p:txBody>
      </p:sp>
      <p:sp>
        <p:nvSpPr>
          <p:cNvPr id="14" name="Text 12"/>
          <p:cNvSpPr/>
          <p:nvPr/>
        </p:nvSpPr>
        <p:spPr>
          <a:xfrm>
            <a:off x="548640" y="5120640"/>
            <a:ext cx="11091672" cy="365760"/>
          </a:xfrm>
          <a:prstGeom prst="rect">
            <a:avLst/>
          </a:prstGeom>
          <a:noFill/>
          <a:ln/>
        </p:spPr>
        <p:txBody>
          <a:bodyPr wrap="square" rtlCol="0" anchor="t"/>
          <a:lstStyle/>
          <a:p>
            <a:pPr rtl="1" algn="r" indent="0" marL="0">
              <a:buNone/>
            </a:pPr>
            <a:r>
              <a:rPr lang="en-US" sz="1300" i="1" dirty="0">
                <a:solidFill>
                  <a:srgbClr val="6B6B80"/>
                </a:solidFill>
                <a:latin typeface="Arial" pitchFamily="34" charset="0"/>
                <a:ea typeface="Arial" pitchFamily="34" charset="-122"/>
                <a:cs typeface="Arial" pitchFamily="34" charset="-120"/>
              </a:rPr>
              <a:t>רקע: מודלים רבים אומנו בעיקר על אנגלית — ייתכנו הבדלים. בדקו בעצמכם, אל תניחו מראש.</a:t>
            </a:r>
            <a:endParaRPr lang="en-US" sz="1300" dirty="0"/>
          </a:p>
        </p:txBody>
      </p:sp>
      <p:sp>
        <p:nvSpPr>
          <p:cNvPr id="15" name="Text 1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24 / 27</a:t>
            </a:r>
            <a:endParaRPr lang="en-US" sz="950" dirty="0"/>
          </a:p>
        </p:txBody>
      </p:sp>
      <p:sp>
        <p:nvSpPr>
          <p:cNvPr id="16" name="Text 1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אימות בהרצה (10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הריצו בפועל — כולל מקרה קצה</a:t>
            </a:r>
            <a:endParaRPr lang="en-US" sz="3300" dirty="0"/>
          </a:p>
        </p:txBody>
      </p:sp>
      <p:sp>
        <p:nvSpPr>
          <p:cNvPr id="4" name="Shape 2"/>
          <p:cNvSpPr/>
          <p:nvPr/>
        </p:nvSpPr>
        <p:spPr>
          <a:xfrm>
            <a:off x="11228832" y="1783080"/>
            <a:ext cx="411480" cy="411480"/>
          </a:xfrm>
          <a:prstGeom prst="ellipse">
            <a:avLst/>
          </a:prstGeom>
          <a:solidFill>
            <a:srgbClr val="3B3B98"/>
          </a:solidFill>
          <a:ln/>
        </p:spPr>
      </p:sp>
      <p:sp>
        <p:nvSpPr>
          <p:cNvPr id="5" name="Text 3"/>
          <p:cNvSpPr/>
          <p:nvPr/>
        </p:nvSpPr>
        <p:spPr>
          <a:xfrm>
            <a:off x="11228832" y="178308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548640" y="1764792"/>
            <a:ext cx="1051560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פתחו Google Colab (חינמי, בדפדפן) והדביקו את הקוד.</a:t>
            </a:r>
            <a:endParaRPr lang="en-US" sz="1700" dirty="0"/>
          </a:p>
        </p:txBody>
      </p:sp>
      <p:sp>
        <p:nvSpPr>
          <p:cNvPr id="7" name="Shape 5"/>
          <p:cNvSpPr/>
          <p:nvPr/>
        </p:nvSpPr>
        <p:spPr>
          <a:xfrm>
            <a:off x="11228832" y="2468880"/>
            <a:ext cx="411480" cy="411480"/>
          </a:xfrm>
          <a:prstGeom prst="ellipse">
            <a:avLst/>
          </a:prstGeom>
          <a:solidFill>
            <a:srgbClr val="3B3B98"/>
          </a:solidFill>
          <a:ln/>
        </p:spPr>
      </p:sp>
      <p:sp>
        <p:nvSpPr>
          <p:cNvPr id="8" name="Text 6"/>
          <p:cNvSpPr/>
          <p:nvPr/>
        </p:nvSpPr>
        <p:spPr>
          <a:xfrm>
            <a:off x="11228832" y="246888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548640" y="2450592"/>
            <a:ext cx="1051560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עם רשימה רגילה: [10, 20, 30]  →  אמור להחזיר 20.</a:t>
            </a:r>
            <a:endParaRPr lang="en-US" sz="1700" dirty="0"/>
          </a:p>
        </p:txBody>
      </p:sp>
      <p:sp>
        <p:nvSpPr>
          <p:cNvPr id="10" name="Shape 8"/>
          <p:cNvSpPr/>
          <p:nvPr/>
        </p:nvSpPr>
        <p:spPr>
          <a:xfrm>
            <a:off x="11228832" y="3154680"/>
            <a:ext cx="411480" cy="411480"/>
          </a:xfrm>
          <a:prstGeom prst="ellipse">
            <a:avLst/>
          </a:prstGeom>
          <a:solidFill>
            <a:srgbClr val="3B3B98"/>
          </a:solidFill>
          <a:ln/>
        </p:spPr>
      </p:sp>
      <p:sp>
        <p:nvSpPr>
          <p:cNvPr id="11" name="Text 9"/>
          <p:cNvSpPr/>
          <p:nvPr/>
        </p:nvSpPr>
        <p:spPr>
          <a:xfrm>
            <a:off x="11228832" y="315468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548640" y="3136392"/>
            <a:ext cx="1051560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שוב עם רשימה ריקה: [ ]  →  כאן מתגלה ההבדל.</a:t>
            </a:r>
            <a:endParaRPr lang="en-US" sz="1700" dirty="0"/>
          </a:p>
        </p:txBody>
      </p:sp>
      <p:sp>
        <p:nvSpPr>
          <p:cNvPr id="13" name="Shape 11"/>
          <p:cNvSpPr/>
          <p:nvPr/>
        </p:nvSpPr>
        <p:spPr>
          <a:xfrm>
            <a:off x="11228832" y="3840480"/>
            <a:ext cx="411480" cy="411480"/>
          </a:xfrm>
          <a:prstGeom prst="ellipse">
            <a:avLst/>
          </a:prstGeom>
          <a:solidFill>
            <a:srgbClr val="3B3B98"/>
          </a:solidFill>
          <a:ln/>
        </p:spPr>
      </p:sp>
      <p:sp>
        <p:nvSpPr>
          <p:cNvPr id="14" name="Text 12"/>
          <p:cNvSpPr/>
          <p:nvPr/>
        </p:nvSpPr>
        <p:spPr>
          <a:xfrm>
            <a:off x="11228832" y="384048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548640" y="3822192"/>
            <a:ext cx="1051560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רשמו: איזה פלט נפל בשגיאה, ואיזה טיפל נכון.</a:t>
            </a:r>
            <a:endParaRPr lang="en-US" sz="1700" dirty="0"/>
          </a:p>
        </p:txBody>
      </p:sp>
      <p:sp>
        <p:nvSpPr>
          <p:cNvPr id="16" name="Shape 14"/>
          <p:cNvSpPr/>
          <p:nvPr/>
        </p:nvSpPr>
        <p:spPr>
          <a:xfrm>
            <a:off x="548640" y="4709160"/>
            <a:ext cx="11091672" cy="960120"/>
          </a:xfrm>
          <a:prstGeom prst="roundRect">
            <a:avLst>
              <a:gd name="adj" fmla="val 9524"/>
            </a:avLst>
          </a:prstGeom>
          <a:solidFill>
            <a:srgbClr val="1E2761"/>
          </a:solidFill>
          <a:ln/>
          <a:effectLst>
            <a:outerShdw sx="100000" sy="100000" kx="0" ky="0" algn="bl" rotWithShape="0" blurRad="76200" dist="25400" dir="5400000">
              <a:srgbClr val="999999">
                <a:alpha val="28000"/>
              </a:srgbClr>
            </a:outerShdw>
          </a:effectLst>
        </p:spPr>
      </p:sp>
      <p:sp>
        <p:nvSpPr>
          <p:cNvPr id="17" name="Text 15"/>
          <p:cNvSpPr/>
          <p:nvPr/>
        </p:nvSpPr>
        <p:spPr>
          <a:xfrm>
            <a:off x="868680" y="4892040"/>
            <a:ext cx="10451592" cy="59436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זהו “שלב 3” מהתהליך — הביקורת האנושית. קוד שלא טיפל ברשימה ריקה ייפול בחלוקה באפס. הבעיה מתגלה בהרצה, לא בקריאה.</a:t>
            </a:r>
            <a:endParaRPr lang="en-US" sz="1550" dirty="0"/>
          </a:p>
        </p:txBody>
      </p:sp>
      <p:sp>
        <p:nvSpPr>
          <p:cNvPr id="18" name="Text 16"/>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25 / 27</a:t>
            </a:r>
            <a:endParaRPr lang="en-US" sz="950" dirty="0"/>
          </a:p>
        </p:txBody>
      </p:sp>
      <p:sp>
        <p:nvSpPr>
          <p:cNvPr id="19" name="Text 17"/>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הגשה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קריטריוני הצלחה ותוצר</a:t>
            </a:r>
            <a:endParaRPr lang="en-US" sz="3300" dirty="0"/>
          </a:p>
        </p:txBody>
      </p:sp>
      <p:sp>
        <p:nvSpPr>
          <p:cNvPr id="4" name="Shape 2"/>
          <p:cNvSpPr/>
          <p:nvPr/>
        </p:nvSpPr>
        <p:spPr>
          <a:xfrm>
            <a:off x="6277356" y="1737360"/>
            <a:ext cx="5362956" cy="1965960"/>
          </a:xfrm>
          <a:prstGeom prst="roundRect">
            <a:avLst>
              <a:gd name="adj" fmla="val 4186"/>
            </a:avLst>
          </a:prstGeom>
          <a:solidFill>
            <a:srgbClr val="EAF3E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20240"/>
            <a:ext cx="4814316" cy="365760"/>
          </a:xfrm>
          <a:prstGeom prst="rect">
            <a:avLst/>
          </a:prstGeom>
          <a:noFill/>
          <a:ln/>
        </p:spPr>
        <p:txBody>
          <a:bodyPr wrap="square" rtlCol="0" anchor="t"/>
          <a:lstStyle/>
          <a:p>
            <a:pPr rtl="1" algn="r" indent="0" marL="0">
              <a:buNone/>
            </a:pPr>
            <a:r>
              <a:rPr lang="en-US" sz="1500" b="1" dirty="0">
                <a:solidFill>
                  <a:srgbClr val="2E7D32"/>
                </a:solidFill>
                <a:latin typeface="Arial" pitchFamily="34" charset="0"/>
                <a:ea typeface="Arial" pitchFamily="34" charset="-122"/>
                <a:cs typeface="Arial" pitchFamily="34" charset="-120"/>
              </a:rPr>
              <a:t>הצלחתם אם...</a:t>
            </a:r>
            <a:endParaRPr lang="en-US" sz="1500" dirty="0"/>
          </a:p>
        </p:txBody>
      </p:sp>
      <p:sp>
        <p:nvSpPr>
          <p:cNvPr id="6" name="Text 4"/>
          <p:cNvSpPr/>
          <p:nvPr/>
        </p:nvSpPr>
        <p:spPr>
          <a:xfrm>
            <a:off x="6551676" y="2395728"/>
            <a:ext cx="4814316" cy="1188720"/>
          </a:xfrm>
          <a:prstGeom prst="rect">
            <a:avLst/>
          </a:prstGeom>
          <a:noFill/>
          <a:ln/>
        </p:spPr>
        <p:txBody>
          <a:bodyPr wrap="square" rtlCol="0" anchor="t"/>
          <a:lstStyle/>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הרצתם את הפרומפט ב-2 כלים</a:t>
            </a:r>
            <a:endParaRPr lang="en-US" sz="1450" dirty="0"/>
          </a:p>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השוויתם עברית מול אנגלית</a:t>
            </a:r>
            <a:endParaRPr lang="en-US" sz="1450" dirty="0"/>
          </a:p>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הרצתם בפועל — כולל רשימה ריקה</a:t>
            </a:r>
            <a:endParaRPr lang="en-US" sz="1450" dirty="0"/>
          </a:p>
        </p:txBody>
      </p:sp>
      <p:sp>
        <p:nvSpPr>
          <p:cNvPr id="7" name="Shape 5"/>
          <p:cNvSpPr/>
          <p:nvPr/>
        </p:nvSpPr>
        <p:spPr>
          <a:xfrm>
            <a:off x="548640" y="1737360"/>
            <a:ext cx="5362956" cy="1965960"/>
          </a:xfrm>
          <a:prstGeom prst="roundRect">
            <a:avLst>
              <a:gd name="adj" fmla="val 4186"/>
            </a:avLst>
          </a:prstGeom>
          <a:solidFill>
            <a:srgbClr val="F2F3FA"/>
          </a:solidFill>
          <a:ln/>
          <a:effectLst>
            <a:outerShdw sx="100000" sy="100000" kx="0" ky="0" algn="bl" rotWithShape="0" blurRad="76200" dist="25400" dir="5400000">
              <a:srgbClr val="999999">
                <a:alpha val="28000"/>
              </a:srgbClr>
            </a:outerShdw>
          </a:effectLst>
        </p:spPr>
      </p:sp>
      <p:sp>
        <p:nvSpPr>
          <p:cNvPr id="8" name="Text 6"/>
          <p:cNvSpPr/>
          <p:nvPr/>
        </p:nvSpPr>
        <p:spPr>
          <a:xfrm>
            <a:off x="822960" y="1920240"/>
            <a:ext cx="4814316"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תוצר להגשה (חצי עמוד)</a:t>
            </a:r>
            <a:endParaRPr lang="en-US" sz="1500" dirty="0"/>
          </a:p>
        </p:txBody>
      </p:sp>
      <p:sp>
        <p:nvSpPr>
          <p:cNvPr id="9" name="Text 7"/>
          <p:cNvSpPr/>
          <p:nvPr/>
        </p:nvSpPr>
        <p:spPr>
          <a:xfrm>
            <a:off x="822960" y="2359152"/>
            <a:ext cx="4814316" cy="1280160"/>
          </a:xfrm>
          <a:prstGeom prst="rect">
            <a:avLst/>
          </a:prstGeom>
          <a:noFill/>
          <a:ln/>
        </p:spPr>
        <p:txBody>
          <a:bodyPr wrap="square" rtlCol="0" anchor="t"/>
          <a:lstStyle/>
          <a:p>
            <a:pPr rtl="1" algn="r" indent="0" marL="0">
              <a:lnSpc>
                <a:spcPct val="128000"/>
              </a:lnSpc>
              <a:buNone/>
            </a:pPr>
            <a:r>
              <a:rPr lang="en-US" sz="1350" dirty="0">
                <a:solidFill>
                  <a:srgbClr val="222232"/>
                </a:solidFill>
                <a:latin typeface="Arial" pitchFamily="34" charset="0"/>
                <a:ea typeface="Arial" pitchFamily="34" charset="-122"/>
                <a:cs typeface="Arial" pitchFamily="34" charset="-120"/>
              </a:rPr>
              <a:t>•  הכלים שבהם השתמשתם</a:t>
            </a:r>
            <a:endParaRPr lang="en-US" sz="1350" dirty="0"/>
          </a:p>
          <a:p>
            <a:pPr rtl="1" algn="r" indent="0" marL="0">
              <a:lnSpc>
                <a:spcPct val="128000"/>
              </a:lnSpc>
              <a:buNone/>
            </a:pPr>
            <a:r>
              <a:rPr lang="en-US" sz="1350" dirty="0">
                <a:solidFill>
                  <a:srgbClr val="222232"/>
                </a:solidFill>
                <a:latin typeface="Arial" pitchFamily="34" charset="0"/>
                <a:ea typeface="Arial" pitchFamily="34" charset="-122"/>
                <a:cs typeface="Arial" pitchFamily="34" charset="-120"/>
              </a:rPr>
              <a:t>•  ההבדלים בין הכלים</a:t>
            </a:r>
            <a:endParaRPr lang="en-US" sz="1350" dirty="0"/>
          </a:p>
          <a:p>
            <a:pPr rtl="1" algn="r" indent="0" marL="0">
              <a:lnSpc>
                <a:spcPct val="128000"/>
              </a:lnSpc>
              <a:buNone/>
            </a:pPr>
            <a:r>
              <a:rPr lang="en-US" sz="1350" dirty="0">
                <a:solidFill>
                  <a:srgbClr val="222232"/>
                </a:solidFill>
                <a:latin typeface="Arial" pitchFamily="34" charset="0"/>
                <a:ea typeface="Arial" pitchFamily="34" charset="-122"/>
                <a:cs typeface="Arial" pitchFamily="34" charset="-120"/>
              </a:rPr>
              <a:t>•  ההבדל בין עברית לאנגלית (אם היה)</a:t>
            </a:r>
            <a:endParaRPr lang="en-US" sz="1350" dirty="0"/>
          </a:p>
          <a:p>
            <a:pPr rtl="1" algn="r" indent="0" marL="0">
              <a:lnSpc>
                <a:spcPct val="128000"/>
              </a:lnSpc>
              <a:buNone/>
            </a:pPr>
            <a:r>
              <a:rPr lang="en-US" sz="1350" dirty="0">
                <a:solidFill>
                  <a:srgbClr val="222232"/>
                </a:solidFill>
                <a:latin typeface="Arial" pitchFamily="34" charset="0"/>
                <a:ea typeface="Arial" pitchFamily="34" charset="-122"/>
                <a:cs typeface="Arial" pitchFamily="34" charset="-120"/>
              </a:rPr>
              <a:t>•  מי טיפל נכון במקרה הקצה</a:t>
            </a:r>
            <a:endParaRPr lang="en-US" sz="1350" dirty="0"/>
          </a:p>
        </p:txBody>
      </p:sp>
      <p:sp>
        <p:nvSpPr>
          <p:cNvPr id="10" name="Shape 8"/>
          <p:cNvSpPr/>
          <p:nvPr/>
        </p:nvSpPr>
        <p:spPr>
          <a:xfrm>
            <a:off x="548640" y="3886200"/>
            <a:ext cx="11091672" cy="822960"/>
          </a:xfrm>
          <a:prstGeom prst="roundRect">
            <a:avLst>
              <a:gd name="adj" fmla="val 10000"/>
            </a:avLst>
          </a:prstGeom>
          <a:solidFill>
            <a:srgbClr val="E7F5F6"/>
          </a:solidFill>
          <a:ln/>
          <a:effectLst>
            <a:outerShdw sx="100000" sy="100000" kx="0" ky="0" algn="bl" rotWithShape="0" blurRad="76200" dist="25400" dir="5400000">
              <a:srgbClr val="999999">
                <a:alpha val="28000"/>
              </a:srgbClr>
            </a:outerShdw>
          </a:effectLst>
        </p:spPr>
      </p:sp>
      <p:sp>
        <p:nvSpPr>
          <p:cNvPr id="11" name="Text 9"/>
          <p:cNvSpPr/>
          <p:nvPr/>
        </p:nvSpPr>
        <p:spPr>
          <a:xfrm>
            <a:off x="10360152" y="3886200"/>
            <a:ext cx="1097280" cy="822960"/>
          </a:xfrm>
          <a:prstGeom prst="rect">
            <a:avLst/>
          </a:prstGeom>
          <a:noFill/>
          <a:ln/>
        </p:spPr>
        <p:txBody>
          <a:bodyPr wrap="square" rtlCol="0" anchor="ctr"/>
          <a:lstStyle/>
          <a:p>
            <a:pPr rtl="1" algn="r" indent="0" marL="0">
              <a:buNone/>
            </a:pPr>
            <a:r>
              <a:rPr lang="en-US" sz="1400" b="1" dirty="0">
                <a:solidFill>
                  <a:srgbClr val="0E9AA7"/>
                </a:solidFill>
                <a:latin typeface="Arial" pitchFamily="34" charset="0"/>
                <a:ea typeface="Arial" pitchFamily="34" charset="-122"/>
                <a:cs typeface="Arial" pitchFamily="34" charset="-120"/>
              </a:rPr>
              <a:t>בונוס:</a:t>
            </a:r>
            <a:endParaRPr lang="en-US" sz="1400" dirty="0"/>
          </a:p>
        </p:txBody>
      </p:sp>
      <p:sp>
        <p:nvSpPr>
          <p:cNvPr id="12" name="Text 10"/>
          <p:cNvSpPr/>
          <p:nvPr/>
        </p:nvSpPr>
        <p:spPr>
          <a:xfrm>
            <a:off x="822960" y="3886200"/>
            <a:ext cx="9628632" cy="822960"/>
          </a:xfrm>
          <a:prstGeom prst="rect">
            <a:avLst/>
          </a:prstGeom>
          <a:noFill/>
          <a:ln/>
        </p:spPr>
        <p:txBody>
          <a:bodyPr wrap="square" rtlCol="0" anchor="ctr"/>
          <a:lstStyle/>
          <a:p>
            <a:pPr rtl="1" algn="r" indent="0" marL="0">
              <a:buNone/>
            </a:pPr>
            <a:r>
              <a:rPr lang="en-US" sz="1350" dirty="0">
                <a:solidFill>
                  <a:srgbClr val="222232"/>
                </a:solidFill>
                <a:latin typeface="Arial" pitchFamily="34" charset="0"/>
                <a:ea typeface="Arial" pitchFamily="34" charset="-122"/>
                <a:cs typeface="Arial" pitchFamily="34" charset="-120"/>
              </a:rPr>
              <a:t>בקשו מכל כלי לכתוב טסט אחד לפונקציה — האם הטסט תפס את מקרה הרשימה הריקה?</a:t>
            </a:r>
            <a:endParaRPr lang="en-US" sz="1350" dirty="0"/>
          </a:p>
        </p:txBody>
      </p:sp>
      <p:sp>
        <p:nvSpPr>
          <p:cNvPr id="13" name="Shape 11"/>
          <p:cNvSpPr/>
          <p:nvPr/>
        </p:nvSpPr>
        <p:spPr>
          <a:xfrm>
            <a:off x="548640" y="4892040"/>
            <a:ext cx="11091672" cy="685800"/>
          </a:xfrm>
          <a:prstGeom prst="roundRect">
            <a:avLst>
              <a:gd name="adj" fmla="val 13333"/>
            </a:avLst>
          </a:prstGeom>
          <a:solidFill>
            <a:srgbClr val="9A6A00"/>
          </a:solidFill>
          <a:ln/>
          <a:effectLst>
            <a:outerShdw sx="100000" sy="100000" kx="0" ky="0" algn="bl" rotWithShape="0" blurRad="76200" dist="25400" dir="5400000">
              <a:srgbClr val="999999">
                <a:alpha val="28000"/>
              </a:srgbClr>
            </a:outerShdw>
          </a:effectLst>
        </p:spPr>
      </p:sp>
      <p:sp>
        <p:nvSpPr>
          <p:cNvPr id="14" name="Text 12"/>
          <p:cNvSpPr/>
          <p:nvPr/>
        </p:nvSpPr>
        <p:spPr>
          <a:xfrm>
            <a:off x="868680" y="5074920"/>
            <a:ext cx="10451592" cy="32004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זכרו את כלל האצבע: אל תגישו קוד שלא הבנתם.</a:t>
            </a:r>
            <a:endParaRPr lang="en-US" sz="1600" dirty="0"/>
          </a:p>
        </p:txBody>
      </p:sp>
      <p:sp>
        <p:nvSpPr>
          <p:cNvPr id="15" name="Text 1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26 / 27</a:t>
            </a:r>
            <a:endParaRPr lang="en-US" sz="950" dirty="0"/>
          </a:p>
        </p:txBody>
      </p:sp>
      <p:sp>
        <p:nvSpPr>
          <p:cNvPr id="16" name="Text 1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286000"/>
            <a:ext cx="11091672" cy="548640"/>
          </a:xfrm>
          <a:prstGeom prst="rect">
            <a:avLst/>
          </a:prstGeom>
          <a:noFill/>
          <a:ln/>
        </p:spPr>
        <p:txBody>
          <a:bodyPr wrap="square" rtlCol="0" anchor="t"/>
          <a:lstStyle/>
          <a:p>
            <a:pPr rtl="1" algn="r" indent="0" marL="0">
              <a:buNone/>
            </a:pPr>
            <a:r>
              <a:rPr lang="en-US" sz="2000" b="1" dirty="0">
                <a:solidFill>
                  <a:srgbClr val="0E9AA7"/>
                </a:solidFill>
                <a:latin typeface="Arial" pitchFamily="34" charset="0"/>
                <a:ea typeface="Arial" pitchFamily="34" charset="-122"/>
                <a:cs typeface="Arial" pitchFamily="34" charset="-120"/>
              </a:rPr>
              <a:t>סוף מפגש 1</a:t>
            </a:r>
            <a:endParaRPr lang="en-US" sz="2000" dirty="0"/>
          </a:p>
        </p:txBody>
      </p:sp>
      <p:sp>
        <p:nvSpPr>
          <p:cNvPr id="3" name="Text 1"/>
          <p:cNvSpPr/>
          <p:nvPr/>
        </p:nvSpPr>
        <p:spPr>
          <a:xfrm>
            <a:off x="548640" y="2880360"/>
            <a:ext cx="11091672" cy="914400"/>
          </a:xfrm>
          <a:prstGeom prst="rect">
            <a:avLst/>
          </a:prstGeom>
          <a:noFill/>
          <a:ln/>
        </p:spPr>
        <p:txBody>
          <a:bodyPr wrap="square" rtlCol="0" anchor="t"/>
          <a:lstStyle/>
          <a:p>
            <a:pPr rtl="1" algn="r" indent="0" marL="0">
              <a:buNone/>
            </a:pPr>
            <a:r>
              <a:rPr lang="en-US" sz="4400" b="1" dirty="0">
                <a:solidFill>
                  <a:srgbClr val="FFFFFF"/>
                </a:solidFill>
                <a:latin typeface="Arial" pitchFamily="34" charset="0"/>
                <a:ea typeface="Arial" pitchFamily="34" charset="-122"/>
                <a:cs typeface="Arial" pitchFamily="34" charset="-120"/>
              </a:rPr>
              <a:t>נתראה במפגש 2</a:t>
            </a:r>
            <a:endParaRPr lang="en-US" sz="4400" dirty="0"/>
          </a:p>
        </p:txBody>
      </p:sp>
      <p:sp>
        <p:nvSpPr>
          <p:cNvPr id="4" name="Text 2"/>
          <p:cNvSpPr/>
          <p:nvPr/>
        </p:nvSpPr>
        <p:spPr>
          <a:xfrm>
            <a:off x="548640" y="3977640"/>
            <a:ext cx="11091672" cy="548640"/>
          </a:xfrm>
          <a:prstGeom prst="rect">
            <a:avLst/>
          </a:prstGeom>
          <a:noFill/>
          <a:ln/>
        </p:spPr>
        <p:txBody>
          <a:bodyPr wrap="square" rtlCol="0" anchor="t"/>
          <a:lstStyle/>
          <a:p>
            <a:pPr rtl="1" algn="r" indent="0" marL="0">
              <a:buNone/>
            </a:pPr>
            <a:r>
              <a:rPr lang="en-US" sz="1800" dirty="0">
                <a:solidFill>
                  <a:srgbClr val="CADCFC"/>
                </a:solidFill>
                <a:latin typeface="Arial" pitchFamily="34" charset="0"/>
                <a:ea typeface="Arial" pitchFamily="34" charset="-122"/>
                <a:cs typeface="Arial" pitchFamily="34" charset="-120"/>
              </a:rPr>
              <a:t>איך מודל שפה “חושב” קוד — טוקנים, חלון הקשר, ולמה קורות הזיות</a:t>
            </a:r>
            <a:endParaRPr lang="en-US" sz="1800" dirty="0"/>
          </a:p>
        </p:txBody>
      </p:sp>
      <p:sp>
        <p:nvSpPr>
          <p:cNvPr id="5" name="Text 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27 / 27</a:t>
            </a:r>
            <a:endParaRPr lang="en-US" sz="950" dirty="0"/>
          </a:p>
        </p:txBody>
      </p:sp>
      <p:sp>
        <p:nvSpPr>
          <p:cNvPr id="6" name="Text 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2026-07-28T07:55:14Z</dcterms:created>
  <dcterms:modified xsi:type="dcterms:W3CDTF">2026-07-28T07:55:14Z</dcterms:modified>
</cp:coreProperties>
</file>