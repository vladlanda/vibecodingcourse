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ברוכים הבאים למפגש 3 — Prompt Engineering, אמנות ניסוח הבקשה. במפגש הקודם הבנו למה המודל טועה ומהזה; היום ניקח את זה קדימה ונלמד איך לנסח את הבקשה כך שנקבל קוד טוב, ונקטין הזיות כבר מלכתחילה. המסר המרכזי של המפגש: הפרומפט הוא חצי מהעבודה. אותו מודל בדיוק ייתן תוצאה גרועה או מצוינת — תלוי איך ביקשתם. נלמד מבנה מסודר לפרומפט טוב, טכניקה בשם few-shot, ואיך לפרק משימה גדולה לצעדים. זה אולי הכישור המעשי הכי חשוב בקורס כולו.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ארבע מטרות. ראשית, להבין ולהרגיש עד כמה ניסוח הפרומפט משנה דרמטית את איכות הקוד — לא שינוי קטן, אלא שמיים וארץ. שנית, לשלוט בארבע אבני היסוד של פרומפט טוב: הקשר, מטרה, אילוצים ופורמט — זה השלד שנחזור אליו. שלישית, להכיר few-shot: ללמד את המודל מה אנחנו רוצים דרך דוגמאות במקום הסברים. ורביעית, לדעת לפרק משימה גדולה ומעורפלת לצעדים קטנים, ולשפר פרומפט באיטרציה. בסוף המפגש תדעו לכתוב פרומפט מובנה — ותרגישו את ההבדל בתוצאה.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נתחבר למפגש 2. כבר יודעים: המודל מנבא את הטוקן הסביר הבא; שפרומפט מעורפל לא נותן לו המשך מובהק, ולכן מגדיל את הסיכוי להזיה ולקוד גרוע; ושהקשר טוב מכוון את המודל. היום הופכים את ההבנה הזו לכלי מעשי: במקום לקוות שהמודל 'יבין מה רציתי', נלמד לנסח את הבקשה כך שהיא מכוונת אותו ישירות לתשובה טובה. שימו לב לחיבור: פרומפט טוב הוא לא רק 'קוד יפה יותר' — הוא ממש מקטין הזיות, כי הוא מצמצם את המקומות שבהם המודל צריך לנחש. אז אם מפגש 2 היה 'למה זה משתבש', מפגש 3 הוא 'איך למנוע חלק מזה כבר בבקשה'.</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בואו נרגיש את זה מיד, לפני התיאוריה. שני פרומפטים לאותה מטרה בדיוק — בדיקת מספר ראשוני. הפרומפט החלש: 'כתוב קוד לבדיקת מספר ראשוני'. מה נקבל? קוד כללי, אולי בשפה שלא רצינו, כנראה בלי טיפול במקרי קצה (מה עם המספר 1? מספרים שליליים?), ובלי הסבר. הפרומפט החזק: 'כתוב פונקציה בפייתון is_prime(n) שמחזירה True/False, מטפלת ב-n קטן או שווה ל-1, עם הסבר קצר ודוגמת שימוש'. עכשיו נקבל בדיוק את מה שרצינו — נכון, ברור, מוכן. שימו לב: אותו מודל בדיוק, אותה מטרה — וההבדל היחיד הוא הניסוח. זו כל התורה של Prompt Engineering, ובשאר המפגש נפרק אותה לכללים.</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נגדיר במדויק. פרומפט הוא פשוט ההוראה שאתם נותנים למודל. פרומפט טוב אינו 'קסם' או ניסוח סודי — הוא בקשה ברורה, מלאה וממוקדת, שלא משאירה למודל לנחש מה רציתם. הכלל שמנחה הכול מוכר גם מעולם המחשבים בכלל: Garbage in, garbage out — קלט אשפה מייצר פלט אשפה. קלט מעורפל = פלט מעורפל. ההשלכה המעשית: כל דקה שתשקיעו בניסוח טוב של הבקשה חוסכת לכם כמה דקות של תיקונים אחר כך. החדשות הטובות, שחשוב שתפנימו: זה כישור נלמד, ויש לו מבנה ברור — לא צריך כישרון מיוחד, צריך רק להכיר את השלד. נראה אותו עכשיו.</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זהו הלב של המפגש — ארבע אבני היסוד של פרומפט טוב. הקשר: הרקע — מה אתם בונים, למי, ובאיזו טכנולוגיה. מטרה: מה בדיוק אתם רוצים שייווצר. אילוצים: הכללים והגבולות — מקרי קצה, שפה, ספריות, סגנון. פורמט: איך אתם רוצים לקבל את התשובה — רק קוד, קוד עם הסבר, פונקציה בשם מסוים. נעבור על כל אחת בנפרד בשקפים הבאים עם דוגמאות. הערה חשובה שמונעת נוקשות: לא חייבים את כל הארבעה בכל פרומפט קטן — לבקשה פשוטה מספיקה מטרה ברורה. אבל ככל שהמשימה מורכבת יותר וחשובה יותר, כדאי לכלול יותר מהם. תחשבו על זה כרשימת תיוג מנטלית: 'האם נתתי הקשר? מטרה? אילוצים? פורמט?'</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ראשונה — הקשר. תנו למודל רקע: מה אתם בונים, למי, ובאיזו טכנולוגיה. בלי הקשר, המודל חייב להניח הנחות — ולרוב לא את שלכם. בדוגמה: 'כתוב פונקציה שמחשבת מחיר' — איזה מחיר? האם כולל מע"מ? הנחה? באיזה מטבע? המודל ינחש. לעומת זאת: 'באפליקציית חנות בפייתון, כתוב פונקציה שמחשבת מחיר סופי כולל מע"מ 17% והנחת מבצע באחוזים' — עכשיו המודל יודע בדיוק מה נדרש. אותה מטרה בסיסית, אבל ההקשר מכוון את הפתרון למציאות שלכם. טיפ מעשי: כשאתם עובדים על פרויקט לאורך זמן, שווה לפתוח כל בקשה במשפט הקשר קצר — זה חוסך הרבה תיקונים.</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שנייה — מטרה. היו ספציפיים לגבי מה בדיוק אתם רוצים שייווצר. 'תעזור לי עם הקוד' זו לא מטרה — זו בקשה כללית שתיתן תשובה כללית. בדוגמה: 'תעשה משהו עם הרשימה הזו' מול 'מיין את הרשימה מהקטן לגדול, והסר כפילויות'. השנייה אומרת למודל בדיוק מה הפעולה הרצויה. טיפ חשוב, שהוא גם תובנה על עצמכם: אם אתם מתקשים לנסח את המטרה במשפט אחד ברור, כנראה שגם אתם עצמכם עדיין לא לגמרי יודעים מה אתם רוצים. במקרה כזה, עצם המאמץ לנסח מטרה ברורה מחדד לכם את החשיבה — עוד לפני שהמודל עונה. ניסוח מטרה טובה הוא חצי מהפתרון.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שלישית — אילוצים. אלה הכללים והגבולות שאתם מציבים, וזה בדיוק מה שהמודל נוטה לפספס אם לא תגידו. שלושה סוגים. שפה וספריות: 'בפייתון, בלי ספריות חיצוניות' — אחרת אולי תקבלו קוד שמשתמש במשהו שלא רציתם. מקרי קצה: 'טפל ברשימה ריקה ובקלט שלילי' — זוכרים ממפגש 1 שהמודל מתעלם מהם? כאן אתם מכריחים אותו. סגנון ומגבלות: 'קוד קריא עם שמות ברורים', או 'עד 20 שורות'. האילוצים הם הכלי החזק ביותר שלכם נגד תוצאות גנריות — הם הופכים 'קוד כלשהו שעובד' ל'קוד שמתאים בדיוק לצרכים שלכם'. שווה להשקיע בהם מחשבה.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אבן יסוד רביעית — פורמט. אמרו איך אתם רוצים לקבל את התשובה, אחרת תקבלו את ברירת המחדל של המודל, שלא תמיד נוחה לכם. כמה אפשרויות: 'רק קוד, בלי הסבר' — כשאתם כבר מבינים ורוצים להעתיק מהר. 'קוד + הסבר קצר בעברית' — כשאתם לומדים, וההסבר עוזר להבין ולבדוק (חשוב במיוחד לכם עכשיו). 'פונקציה אחת בשם X' או 'הצג צעד-אחר-צעד' — שולט במבנה של התשובה. שליטה בפורמט חוסכת זמן: במקום לקבל שלוש פסקאות כשרציתם שורה, או להיפך — אתם מקבלים בדיוק את הצורה שנוחה לכם להמשיך איתה. פרט קטן עם השפעה גדולה על חוויית העבודה.</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נרכיב הכול לפרומפט אמיתי — Before ו-After. ה-Before: 'כתוב לי קוד למחשבון' — משפט אחד מעורפל. ה-After משתמש בארבע אבני היסוד במפורש: הקשר ('אני בונה מחשבון פשוט בפייתון'), מטרה ('פונקציה calculate(a, op, b) לארבע פעולות'), אילוצים ('טפל בחלוקה באפס; op לא חוקי מחזיר הודעת שגיאה'), ופורמט ('קוד + הסבר קצר בעברית + דוגמת הרצה'). כן, ה-After ארוך יותר — וזה בדיוק העניין. ההשקעה הקטנה הזו בכתיבה חוסכת לכם סבבים של 'לא, לא זה, תתקן', ומקטינה הזיות כי אין למודל מה לנחש. זה משתלם כמעט תמיד, במיוחד למשימות שחשוב שיצאו נכון.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נקודה שמשחררת לחץ: פרומפט מושלם מהניסיון הראשון הוא נדיר, וזה בסדר גמור. תהליך העבודה הנורמלי הוא לולאה: פרומפט, תוצאה, שיפור. כותבים בקשה, קוראים ובודקים את התוצאה, ואז משפרים לפי מה שחסר, ושולחים שוב. שניים-שלושה סבבים כאלה הם הנורמה, לא כישלון — וכמעט תמיד מהיר יותר מלכתוב הכול לבד מאפס. אל תשאפו לפרומפט מושלם בניסיון הראשון; שאפו לפרומפט טוב מספיק כדי להתחיל, ואז שפרו לפי מה שחוזר. זה מחזיר אותנו ללולאת העבודה ממפגש 1 — רק שעכשיו אתם משפרים את הבקשה, לא רק את הקוד. בשקף הבא: דוגמה מלאה של שלושה סבבים.</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מלאה לאיטרציה, שלושה סבבים על אותה משימה — מיון רשימה. סבב 1: 'כתוב פונקציה שממיינת רשימת מספרים' — עובד, אבל לא ברור אם עולה או יורד, ולא מטפל ברשימה ריקה. במקום לוותר או להתחיל מחדש, מוסיפים בדיוק את מה שחסר. סבב 2: מוסיפים 'ממיינת מהקטן לגדול, ומחזירה רשימה ריקה אם הרשימה ריקה' — טוב יותר, אבל עדיין אין טיפול בקלט שהוא בכלל לא רשימה. סבב 3: מוסיפים 'ותזרוק שגיאה ברורה אם הקלט אינו רשימה' — עכשיו הכול מכוסה. שימו לב לתבנית: כל סבב מוסיף בדיוק את מה שהתגלה כחסר בסבב הקודם — לא מנחשים מראש את כל מה שאולי יהיה חסר, ולא כותבים הכול מחדש. זו העבודה האמיתית עם פרומפטים: שיחה קצרה וממוקדת, לא ניסיון יחיד מושלם.</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טכניקה חזקה חדשה — few-shot. הרעיון: במקום להסביר במילים איך אתם רוצים משהו, פשוט תראו למודל דוגמה או שתיים של 'קלט → פלט', והוא ילמד את הדפוס ויחזור עליו. לפעמים דוגמה אחת שווה יותר מפסקה שלמה של הסבר. המונחים: zero-shot זה בלי דוגמאות, רק הבקשה; one-shot זה עם דוגמה אחת; few-shot זה עם שתיים-שלוש דוגמאות, ולרוב הכי מדויק. מתי זה שימושי במיוחד? כשקשה לתאר במילים פורמט או סגנון מסוים — קל יותר להראות. בשקף הבא נראה דוגמה קונקרטית שתמחיש כמה זה עוצמתי.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מוחשית ל-few-shot. נניח שאתם רוצים להמיר שמות לפורמט של קבוע בתכנות — אותיות גדולות עם קו תחתון. במקום להסביר את הכלל במילים (שעלול להיות מבלבל), אתם נותנים שתי דוגמאות בתוך הפרומפט: 'user name' הופך ל-USER_NAME, ו'max retry count' הופך ל-MAX_RETRY_COUNT. ואז אתם מבקשים: 'עכשיו המר: default time out'. המודל למד מהדוגמאות בדיוק מה הפורמט הרצוי, ויחזיר DEFAULT_TIME_OUT. שימו לב כמה זה נקי: לא הסברתם 'שים קו תחתון במקום רווח והפוך לאותיות גדולות' — פשוט הראיתם, והמודל הכליל. זו העוצמה של ללמד דרך דוגמאות.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נעבור למשימות גדולות. בקשה ענקית כמו 'תבנה לי אפליקציה מלאה' מפילה את המודל: יש בה יותר מדי החלטות בבת אחת, והתוצאה תהיה קוד חלקי, מלא שגיאות והזיות. למה? כי המודל מנבא טוקן-טוקן ולא 'מתכנן' פרויקט שלם — כשהמשימה עצומה, הוא מאבד עקביות. הפתרון פשוט: לפרק לצעדים קטנים ולבקש אותם אחד-אחד. בדוגמה, במקום 'תבנה אפליקציית ניהול מטלות מלאה', מפרקים ל: (1) מבנה נתונים למטלה, (2) פונקציית הוספה, (3) פונקציית הצגה, (4) לחבר הכול. כל צעד קטן, ברור, ובר-בדיקה. זה בדיוק איך מהנדס אמיתי עובד — לא בונים גשר בבת אחת, בונים חלק-חלק.</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איך מפרקים בפועל? ארבעה שלבים בלולאה. מפרקים: כותבים לעצמכם רשימה של צעדים קטנים. מבקשים צעד: פונים למודל עם צעד אחד בכל פעם, לא הכול יחד. בודקים: מריצים ומאמתים שהצעד עובד לפני שממשיכים. מחברים: עוברים לצעד הבא, ובסוף מרכיבים את החלקים לפתרון שלם. יש לזה יתרון נוסף חשוב: כשכל צעד קטן ונבדק בנפרד, קל הרבה יותר לתפוס בדיוק איפה משהו השתבש — ולתקן רק את החלק הבעייתי, במקום לחפש מחט בערימת קוד ענקית. הפירוק הוא לא רק דרך לקבל קוד טוב יותר; הוא גם דרך לשמור על שליטה ולהבין את מה שנבנה — וזה בדיוק עקרון-העל של הקורס. בשקף הבא: דוגמה מלאה איך זה נראה בפועל, ממשיכים את דוגמת אפליקציית המטלות.</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מלאה — ממשיכים בפועל את פירוק אפליקציית המטלות מהשקף הקודם, צעד אחר צעד, כשכל צעד הוא פרומפט נפרד. צעד 1: 'כתוב מבנה נתונים שמייצג מטלה אחת — כותרת, האם הושלמה, תאריך יעד'. מריצים ובודקים שזה תקין. צעד 2, רק אחרי שהראשון עבד: 'עכשיו כתוב פונקציה add_task שמוסיפה מטלה לרשימה' — שימו לב למילה 'עכשיו': היא מסמנת למודל שזה המשך לצעד הקודם, לא בקשה מנותקת. צעד 3, שוב אחרי אימות: 'עכשיו כתוב פונקציה show_tasks שמדפיסה את המטלות הפתוחות'. הכלל המנחה: בין כל שני צעדים מריצים ומוודאים שהקודם עובד לפני שממשיכים לבא. כך תמיד יודעים בדיוק היכן הבעיה, אם יש, במקום לגלות בסוף שמשהו באמצע שבור.</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דמו חי — נשפר פרומפט יחד, בזמן אמת. מתחילים מפרומפט חלש: 'כתוב קוד למשחק ניחוש מספר'. הריצו אותו על המסך והראו לכיתה את התוצאה הכללית שמתקבלת. עכשיו נשפר בשלבים: קודם נוסיף הקשר ומטרה — באיזו שפה, איזה טווח מספרים, כמה ניסיונות מותרים. נריץ ונראה שיפור. אחר כך נוסיף אילוצים ופורמט — טיפול בקלט לא חוקי (אות במקום מספר), ובקשה להסבר. נריץ שוב ונשווה: כמה השתפרה התוצאה בסבב אחד או שניים. המטרה שהסטודנטים יראו בעיניים איך ארבע אבני היסוד הופכות תוצאה גרועה לטובה. אם אתם לומדים לבד מהמצגת: עשו את התרגיל הזה בעצמכם עם פרומפט כלשהו, ותעדו את ה-Before וה-After — זו הדרך הכי טובה להפנים.</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שלב 2 של הדמו — מוסיפים הקשר ומטרה, וצופים איך הפרומפט משתפר. התחלנו מ'כתוב קוד למשחק ניחוש מספר' — שש מילים מעורפלות. עכשיו נוסיף שני דברים. הקשר: 'בפייתון' — כך המודל יודע באיזו שפה לכתוב במקום לנחש. מטרה מדויקת: מנגנון המשחק — המחשב בוחר מספר אקראי בין 1 ל-100, המשתמש מנחש, ואחרי כל ניחוש מקבל רמז 'גבוה מדי' או 'נמוך מדי' עד שמצליח. שימו לב מה קרה: הפרומפט כבר מספיק כדי לקבל משחק עובד. אבל עדיין חסר — מה אם המשתמש מקליד אות במקום מספר? כמה ניסיונות מותר? ואיך נרצה לקבל את התשובה? לזה נועדו אבני היסוד הבאות, בשקף הבא. הדגימו חי: הריצו את הפרומפט המשופר והראו שהתוצאה כבר טובה בהרבה מהמקורית.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שלב 3 של הדמו — מוסיפים אילוצים ופורמט, ומשלימים את הפרומפט. אילוצים: הגבלה ל-7 ניסיונות עם הצגת כמה נותרו, וטיפול בקלט לא-מספרי (אם המשתמש מקליד אות — שגיאה ידידותית ובקשה לנסות שוב) — בדיוק מקרי הקצה שהמודל היה מפספס לבד. פורמט: 'קוד + הסבר קצר בעברית + דוגמת הרצה', כדי לקבל את התשובה בצורה שנוחה לנו ללמוד ולבדוק. עכשיו יש בפרומפט אחד את כל ארבע אבני היסוד. התמונה הגדולה: התחלנו מ-6 מילים מעורפלות והגענו לפרומפט מלא ומדויק — והתוצאה היא משחק שלם, עמיד לקלט שגוי, ומוסבר, שהתקבל בסבב אחד. זה בדיוק הרעיון של המפגש: ההשקעה בניסוח חוסכת סבבי תיקון. הריצו חי והשוו לתוצאה מהפרומפט החלש — ההבדל מדבר בעד עצמו.</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שלוש טכניקות מתקדמות שמשדרגות כמעט כל פרומפט. ראשונה: לבקש מהמודל לשאול אתכם שאלות הבהרה לפני שהוא כותב — זה מונע ממנו להניח הנחות שגויות. שנייה: לבקש ממנו לחשוב צעד-אחר-צעד לפני שהוא כותב קוד — 'chain of thought' — זה משפר את איכות הפתרון בבעיות לוגיות. שלישית: לתת לו 'תפקיד' — לומר לו מי הוא — וזה ממקד את הסגנון והרמה של התשובה. שלושתן קלות ליישום ומשפרות תוצאות. בשלושת השקפים הבאים נראה דוגמה מלאה לכל אחת בנפרד, כדי שתוכלו להעתיק ולהשתמש ישירות.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מלאה לטכניקה הראשונה — לבקש שאלות הבהרה. הפרומפט: 'כתוב לי מערכת לניהול ספריית ספרים. לפני שאתה כותב קוד — שאל אותי כל מה שאתה צריך כדי להבין לעומק'. שימו לב לניסוח המדויק — הוא זה שמפעיל את הטכניקה. במקום שהמודל ינחש (כמה ספרים? יש ממשק? אילו פעולות?), הוא עוצר ושואל: אילו פעולות צריך — הוספה, חיפוש, השאלה והחזרה? כמה ספרים בערך? צריך ממשק גרפי או מספיקה שורת פקודה? רק אחרי שאתם עונים על השאלות האלה, הוא כותב את הקוד — והתוצאה מדויקת הרבה יותר מניחוש חד-פעמי, כי הוא כתב בדיוק למה שאתם צריכים, לא למה שהוא דמיין. זו אחת הטכניקות הפרקטיות ביותר במפגש — כדאי להשתמש בה בכל משימה לא-טריוויאלית.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מלאה לטכניקה השנייה — לבקש חשיבה צעד-אחר-צעד, הנקראת גם chain of thought. הפרומפט: 'לפני שתכתוב קוד למיין רשימה בלי להשתמש ב-sort המובנה, תאר בקצרה את התוכנית שלך — ורק אז כתוב את הקוד'. המודל קודם כותב תוכנית במילים: 'אשווה כל שני איברים סמוכים, אם צריך אחליף ביניהם, ואחזור על זה שוב ושוב עד שאין יותר החלפות' — זה תיאור של Bubble Sort — ורק אחר כך כותב את הקוד עצמו. למה זה עוזר? כי לבעיות עם לוגיקה לא טריוויאלית, המודל 'מסדר את המחשבות' לפני הביצוע, כמו שמהנדס טוב מתכנן לפני שהוא כותב. זה מפחית טעויות לוגיות, ובנוסף — התוכנית שהוא כתב עוזרת גם לכם להבין ולבדוק את הקוד שיבוא אחריה.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דוגמה מלאה לטכניקה השלישית — לתת למודל תפקיד, הנקרא גם role prompting. משווים שני פרומפטים לאותה בקשה בדיוק. בלי תפקיד: 'כתוב פונקציה שממיינת רשימה' — מקבלים קוד קצר, בלי תיעוד. עם תפקיד: 'אתה מפתח Python בכיר שמקפיד על קוד נקי, type hints ותיעוד. כתוב פונקציה שממיינת רשימה' — מקבלים קוד עם docstring וטיפוסים, ברמה מקצועית יותר. חשוב להבין מה קורה כאן: התפקיד לא הופך את המודל ל'חכם יותר' — היכולות הבסיסיות שלו לא משתנות. מה שכן משתנה זה הסגנון, רמת הפירוט, וההנחות שהוא עושה על מה שחשוב לכלול. טכניקה זעירה שקל מאוד להוסיף לכל פרומפט.</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את מלכודות הפרומפט הנפוצות, כדי שתזהו אותן בעצמכם. ראשונה: מעורפל מדי — 'תעשה לי משהו טוב'; המודל ינחש, ולרוב לא את מה שרציתם. שנייה: הכול בבת אחת — לדחוס עשר דרישות לפרומפט אחד; המודל יפספס חלק מהן. עדיף לפרק. שלישית: בלי אילוצים — לא ציינתם מקרי קצה או שפה, אז מקבלים את ברירת המחדל של המודל, שאולי לא מתאימה. רביעית: מוותרים אחרי ניסיון אחד — לא משפרים את הפרומפט, ונשארים עם תוצאה בינונית במקום להשקיע עוד סבב. עם כל אחת מהמלכודות האלה תיפגשו בתרגול — נסו לזהות מתי אתם נופלים בהן, כי המודעות היא חצי מהתיקון.</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לסיכום מעשי — מתכון לפרומפט טוב, רשימת תיוג שתוכלו לקחת איתכם. אחת: הקשר — מה, למי, איזו טכנולוגיה. שתיים: מטרה — מה בדיוק שייווצר, במשפט אחד ברור. שלוש: אילוצים — שפה, ספריות, מקרי קצה, סגנון. ארבע: פורמט — איך אתם רוצים לקבל את התשובה. וחמש, אם המשימה מורכבת: הוסיפו דוגמאות (few-shot) ו/או פרקו לצעדים — ואז שפרו באיטרציה לפי מה שחוזר. זהו כל המפגש בשקף אחד. הדפיסו את זה, שימו ליד המחשב, ובכל בקשה משמעותית עברו על הרשימה. תוך כמה שבועות זה יהיה אוטומטי.</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בדיקת הבנה — נעצור ונוודא שהמסרים נקלטו. הציגו כל שאלה, בקשו הצבעה, ודונו. התשובות: שאלה 1 — ב': ארבע אבני היסוד הן הקשר, מטרה, אילוצים ופורמט. שאלה 2 — ב': few-shot הוא מתן דוגמאות של קלט→פלט שהמודל ילמד מהן ויחזור על הדפוס. שאלה 3 — ב': משימה גדולה ומעורפלת מפרקים לצעדים קטנים ומבקשים אותם אחד-אחד, לא דוחסים לפרומפט אחד ולא מוותרים. אם אתם לומדים לבד: ענו מהזיכרון לפני שאתם קוראים כאן. טעיתם? חזרו לשקף הרלוונטי — אבני היסוד, few-shot, או פירוק לצעדים.</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הפנמנו שניסוח הפרומפט משנה דרמטית את איכות הקוד — אותו מודל, תוצאה אחרת לגמרי. למדנו את ארבע אבני היסוד: הקשר, מטרה, אילוצים ופורמט, וראינו דוגמת Before/After שמרכיבה את כולן. הכרנו few-shot — ללמד את המודל דרך דוגמאות. ראינו איך לפרק משימה גדולה לצעדים קטנים ובני-בדיקה. והבנו ששיפור פרומפט באיטרציה, שניים-שלושה סבבים, הוא הנורמה ולא כישלון. עכשיו אתם מוכנים לתרגול: לקחת פרומפט גרוע ולהפוך אותו לחזק. זה הכישור שילווה אתכם בכל שאר הקורס ובעבודה אמיתית.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תוכנית התרגול ל-45 דקות. חמישה שלבים: 5 דקות הקמה (בחירת כלי חינמי והתחברות); 18 דקות ניסוי א', הלב של התרגול — פרומפט 'גרוע' נתון שאתם משפרים בעזרת ארבע אבני היסוד עד לפתרון תקין; 12 דקות ניסוי ב' — יישום המבנה על משימה חדשה מאפס; 8 דקות לתיעוד Before/After שהוא ה-Prompt Log שלכם; ו-2 דקות סיכום. המטרה של כל התרגול היא אחת ומעשית: להרגיש בידיים איך הופכים פרומפט חלש לחזק, ולראות את ההבדל בתוצאה. כל מה שצריך: חשבון חינמי ודפדפן. כל ההנחיות בשקפים הבאים.</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א' — שיפור הפרומפט הגרוע. תתחילו מהפרומפט שעל השקף: 'תעשה בדיקת ראשוניות' — מעורפל, בלי שפה, בלי פורמט, בלי מקרי קצה. הצעדים: ראשית, הריצו אותו כמו שהוא וקראו את התוצאה — שימו לב מה חסר או שגוי (איזו שפה יצאה? טופל המספר 1? יש הסבר?). שנית, שפרו את הפרומפט בעזרת ארבע אבני היסוד: הוסיפו הקשר, מטרה מדויקת, אילוצים (טיפול ב-n קטן או שווה ל-1), ופורמט (הסבר, דוגמה). שלישית, הריצו שוב, ואם צריך — שפרו עוד, זו איטרציה לגיטימית, עד שאתם מרוצים. רביעית, הריצו את הקוד הסופי בפועל ובדקו שהוא נכון וש-n≤1 מטופל. תעדו כל גרסה — זה נכנס ל-Before/After.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ב' — יישום על משימה חדשה, הפעם מההתחלה. המשימה: פונקציה שמקבלת רשימת מילים ומחזירה את המילה הארוכה ביותר. הפעם אל תתחילו מפרומפט גרוע — כתבו פרומפט חזק ישר, באמצעות אחת הטכניקות שלמדנו. אפשרות אחת: ארבע אבני היסוד — הקשר, מטרה, אילוצים (מה עם רשימה ריקה? מה אם יש שתי מילים באותו אורך — תיקו?), ופורמט. אפשרות שנייה: few-shot — תנו דוגמה של קלט ופלט רצוי, ותנו למודל ללמוד. הריצו, בדקו את הקוד, ותעדו את הפרומפט שהצליח. המטרה כאן: לתרגל כתיבת פרומפט טוב מלכתחילה, לא רק תיקון בדיעבד — ולראות אם few-shot עובד לכם טוב יותר או פחות מהמבנה המפורש.</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התוצר — Before/After של הפרומפט, שהוא גם ה-Prompt Log שלכם. לכל אחד משני הניסויים תעדו שני חלקים. Before: הפרומפט המקורי החלש, ולצידו העתק או צילום של התוצאה הכללית שקיבלתם. After: הפרומפט המשופר, הקוד התקין שהתקבל, ושורה אחת שאומרת מה בדיוק שיפרתם — איזו אבן יסוד הוספתם שעשתה את ההבדל. התיעוד הזה הוא לא בירוקרטיה: הוא ה-Prompt Log — תיעוד הפרומפטים המרכזיים שהובילו לפתרון, וילווה אתכם לאורך כל הקורס ובפרויקט הסופי. הוא גם מאלץ אתכם לשים לב מה עבד, וכך משפר את מיומנות הניסוח שלכם לפעם הבאה.</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לסיום, מה מגישים. הצלחתם אם: הפכתם את הפרומפט הגרוע לקוד תקין; השתמשתם בפועל בארבע אבני היסוד; ותיעדתם Before/After לשני הניסויים. התוצר הוא מסמך Before/After: לכל ניסוי — הפרומפט לפני, הפרומפט אחרי, הקוד שהתקבל, ומשפט מה שיפרתם. זהו ה-Prompt Log. בונוס למי שרוצה: נסו few-shot בניסוי ב' ובדקו אם מתן דוגמה נתן תוצאה טובה יותר מהסבר במילים — זו תובנה שימושית לעתיד. ומעל הכול, המסר של המפגש: פרומפט טוב חוסך לכם סבבי תיקון, ומקטין הזיות — ההשקעה בבקשה משתלמת כמעט תמיד.</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סיימנו את מפגש 3. עכשיו יש לכם כלי מעשי חזק: מבנה לפרומפט טוב, few-shot, פירוק לצעדים, ואיטרציה. זה ישרת אתכם בכל שאר הקורס. במפגש הבא — מפגש 4 — ניקח את זה צעד קדימה ל-Context Engineering: איך מנהלים הקשר לא רק בפרומפט בודד, אלא לאורך פרויקט שלם — כשעובדים על הרבה קבצים, שיחה ארוכה, וקוד קיים. אם היום למדנו לנסח בקשה אחת מצוין, במפגש הבא נלמד לנהל את כל התמונה הגדולה. נתראה במפגש 4.</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737360"/>
            <a:ext cx="11091672" cy="365760"/>
          </a:xfrm>
          <a:prstGeom prst="rect">
            <a:avLst/>
          </a:prstGeom>
          <a:noFill/>
          <a:ln/>
        </p:spPr>
        <p:txBody>
          <a:bodyPr wrap="square" rtlCol="0" anchor="t"/>
          <a:lstStyle/>
          <a:p>
            <a:pPr rtl="1" algn="r" indent="0" marL="0">
              <a:buNone/>
            </a:pPr>
            <a:r>
              <a:rPr lang="en-US" sz="1500" b="1" spc="100" kern="0" dirty="0">
                <a:solidFill>
                  <a:srgbClr val="0E9AA7"/>
                </a:solidFill>
                <a:latin typeface="Arial" pitchFamily="34" charset="0"/>
                <a:ea typeface="Arial" pitchFamily="34" charset="-122"/>
                <a:cs typeface="Arial" pitchFamily="34" charset="-120"/>
              </a:rPr>
              <a:t>קורס Vibe Coding · מפגש 3 מתוך 13</a:t>
            </a:r>
            <a:endParaRPr lang="en-US" sz="1500" dirty="0"/>
          </a:p>
        </p:txBody>
      </p:sp>
      <p:sp>
        <p:nvSpPr>
          <p:cNvPr id="3" name="Text 1"/>
          <p:cNvSpPr/>
          <p:nvPr/>
        </p:nvSpPr>
        <p:spPr>
          <a:xfrm>
            <a:off x="548640" y="2286000"/>
            <a:ext cx="11091672" cy="1188720"/>
          </a:xfrm>
          <a:prstGeom prst="rect">
            <a:avLst/>
          </a:prstGeom>
          <a:noFill/>
          <a:ln/>
        </p:spPr>
        <p:txBody>
          <a:bodyPr wrap="square" rtlCol="0" anchor="t"/>
          <a:lstStyle/>
          <a:p>
            <a:pPr rtl="1" algn="r" indent="0" marL="0">
              <a:buNone/>
            </a:pPr>
            <a:r>
              <a:rPr lang="en-US" sz="5200" b="1" dirty="0">
                <a:solidFill>
                  <a:srgbClr val="FFFFFF"/>
                </a:solidFill>
                <a:latin typeface="Arial" pitchFamily="34" charset="0"/>
                <a:ea typeface="Arial" pitchFamily="34" charset="-122"/>
                <a:cs typeface="Arial" pitchFamily="34" charset="-120"/>
              </a:rPr>
              <a:t>Prompt Engineering לקוד</a:t>
            </a:r>
            <a:endParaRPr lang="en-US" sz="5200" dirty="0"/>
          </a:p>
        </p:txBody>
      </p:sp>
      <p:sp>
        <p:nvSpPr>
          <p:cNvPr id="4" name="Text 2"/>
          <p:cNvSpPr/>
          <p:nvPr/>
        </p:nvSpPr>
        <p:spPr>
          <a:xfrm>
            <a:off x="548640" y="3657600"/>
            <a:ext cx="11091672" cy="548640"/>
          </a:xfrm>
          <a:prstGeom prst="rect">
            <a:avLst/>
          </a:prstGeom>
          <a:noFill/>
          <a:ln/>
        </p:spPr>
        <p:txBody>
          <a:bodyPr wrap="square" rtlCol="0" anchor="t"/>
          <a:lstStyle/>
          <a:p>
            <a:pPr rtl="1" algn="r" indent="0" marL="0">
              <a:buNone/>
            </a:pPr>
            <a:r>
              <a:rPr lang="en-US" sz="2100" dirty="0">
                <a:solidFill>
                  <a:srgbClr val="CADCFC"/>
                </a:solidFill>
                <a:latin typeface="Arial" pitchFamily="34" charset="0"/>
                <a:ea typeface="Arial" pitchFamily="34" charset="-122"/>
                <a:cs typeface="Arial" pitchFamily="34" charset="-120"/>
              </a:rPr>
              <a:t>איך מנסחים בקשה שתיתן קוד טוב — ותקטין הזיות</a:t>
            </a:r>
            <a:endParaRPr lang="en-US" sz="2100" dirty="0"/>
          </a:p>
        </p:txBody>
      </p:sp>
      <p:sp>
        <p:nvSpPr>
          <p:cNvPr id="5" name="Text 3"/>
          <p:cNvSpPr/>
          <p:nvPr/>
        </p:nvSpPr>
        <p:spPr>
          <a:xfrm>
            <a:off x="548640" y="4343400"/>
            <a:ext cx="11091672" cy="457200"/>
          </a:xfrm>
          <a:prstGeom prst="rect">
            <a:avLst/>
          </a:prstGeom>
          <a:noFill/>
          <a:ln/>
        </p:spPr>
        <p:txBody>
          <a:bodyPr wrap="square" rtlCol="0" anchor="t"/>
          <a:lstStyle/>
          <a:p>
            <a:pPr rtl="1" algn="r" indent="0" marL="0">
              <a:buNone/>
            </a:pPr>
            <a:r>
              <a:rPr lang="en-US" sz="1600" i="1" dirty="0">
                <a:solidFill>
                  <a:srgbClr val="9AA3D6"/>
                </a:solidFill>
                <a:latin typeface="Arial" pitchFamily="34" charset="0"/>
                <a:ea typeface="Arial" pitchFamily="34" charset="-122"/>
                <a:cs typeface="Arial" pitchFamily="34" charset="-120"/>
              </a:rPr>
              <a:t>הפרומפט הוא חצי מהעבודה</a:t>
            </a:r>
            <a:endParaRPr lang="en-US" sz="1600" dirty="0"/>
          </a:p>
        </p:txBody>
      </p:sp>
      <p:sp>
        <p:nvSpPr>
          <p:cNvPr id="6" name="Text 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01 / 35</a:t>
            </a:r>
            <a:endParaRPr lang="en-US" sz="950" dirty="0"/>
          </a:p>
        </p:txBody>
      </p:sp>
      <p:sp>
        <p:nvSpPr>
          <p:cNvPr id="7" name="Text 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פתיחה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מטרות המפגש</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למה ניסוח הפרומפט משנה דרמטית את איכות הקוד.</a:t>
            </a:r>
            <a:endParaRPr lang="en-US" sz="1700" dirty="0"/>
          </a:p>
        </p:txBody>
      </p:sp>
      <p:sp>
        <p:nvSpPr>
          <p:cNvPr id="7" name="Shape 5"/>
          <p:cNvSpPr/>
          <p:nvPr/>
        </p:nvSpPr>
        <p:spPr>
          <a:xfrm>
            <a:off x="11137392" y="2926080"/>
            <a:ext cx="502920" cy="502920"/>
          </a:xfrm>
          <a:prstGeom prst="ellipse">
            <a:avLst/>
          </a:prstGeom>
          <a:solidFill>
            <a:srgbClr val="0E9AA7"/>
          </a:solidFill>
          <a:ln/>
        </p:spPr>
      </p:sp>
      <p:sp>
        <p:nvSpPr>
          <p:cNvPr id="8" name="Text 6"/>
          <p:cNvSpPr/>
          <p:nvPr/>
        </p:nvSpPr>
        <p:spPr>
          <a:xfrm>
            <a:off x="11137392" y="29260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9077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לשלוט ב-4 אבני היסוד: הקשר, מטרה, אילוצים, פורמט.</a:t>
            </a:r>
            <a:endParaRPr lang="en-US" sz="1700" dirty="0"/>
          </a:p>
        </p:txBody>
      </p:sp>
      <p:sp>
        <p:nvSpPr>
          <p:cNvPr id="10" name="Shape 8"/>
          <p:cNvSpPr/>
          <p:nvPr/>
        </p:nvSpPr>
        <p:spPr>
          <a:xfrm>
            <a:off x="11137392" y="3977640"/>
            <a:ext cx="502920" cy="502920"/>
          </a:xfrm>
          <a:prstGeom prst="ellipse">
            <a:avLst/>
          </a:prstGeom>
          <a:solidFill>
            <a:srgbClr val="0E9AA7"/>
          </a:solidFill>
          <a:ln/>
        </p:spPr>
      </p:sp>
      <p:sp>
        <p:nvSpPr>
          <p:cNvPr id="11" name="Text 9"/>
          <p:cNvSpPr/>
          <p:nvPr/>
        </p:nvSpPr>
        <p:spPr>
          <a:xfrm>
            <a:off x="11137392" y="397764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95935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להכיר few-shot — ללמד את המודל דרך דוגמאות.</a:t>
            </a:r>
            <a:endParaRPr lang="en-US" sz="1700" dirty="0"/>
          </a:p>
        </p:txBody>
      </p:sp>
      <p:sp>
        <p:nvSpPr>
          <p:cNvPr id="13" name="Shape 11"/>
          <p:cNvSpPr/>
          <p:nvPr/>
        </p:nvSpPr>
        <p:spPr>
          <a:xfrm>
            <a:off x="11137392" y="5029200"/>
            <a:ext cx="502920" cy="502920"/>
          </a:xfrm>
          <a:prstGeom prst="ellipse">
            <a:avLst/>
          </a:prstGeom>
          <a:solidFill>
            <a:srgbClr val="0E9AA7"/>
          </a:solidFill>
          <a:ln/>
        </p:spPr>
      </p:sp>
      <p:sp>
        <p:nvSpPr>
          <p:cNvPr id="14" name="Text 12"/>
          <p:cNvSpPr/>
          <p:nvPr/>
        </p:nvSpPr>
        <p:spPr>
          <a:xfrm>
            <a:off x="11137392" y="5029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5010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לפרק משימה גדולה לצעדים — ולשפר פרומפט באיטרציה.</a:t>
            </a:r>
            <a:endParaRPr lang="en-US" sz="17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02 / 35</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מאיפה המשכנו</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תזכורת ממפגש 2 — והמעבר להיום</a:t>
            </a:r>
            <a:endParaRPr lang="en-US" sz="3300" dirty="0"/>
          </a:p>
        </p:txBody>
      </p:sp>
      <p:sp>
        <p:nvSpPr>
          <p:cNvPr id="4" name="Shape 2"/>
          <p:cNvSpPr/>
          <p:nvPr/>
        </p:nvSpPr>
        <p:spPr>
          <a:xfrm>
            <a:off x="6277356" y="1783080"/>
            <a:ext cx="5362956"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84248"/>
            <a:ext cx="4814316"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כבר יודעים</a:t>
            </a:r>
            <a:endParaRPr lang="en-US" sz="1600" dirty="0"/>
          </a:p>
        </p:txBody>
      </p:sp>
      <p:sp>
        <p:nvSpPr>
          <p:cNvPr id="6" name="Text 4"/>
          <p:cNvSpPr/>
          <p:nvPr/>
        </p:nvSpPr>
        <p:spPr>
          <a:xfrm>
            <a:off x="6551676" y="2441448"/>
            <a:ext cx="4814316" cy="1371600"/>
          </a:xfrm>
          <a:prstGeom prst="rect">
            <a:avLst/>
          </a:prstGeom>
          <a:noFill/>
          <a:ln/>
        </p:spPr>
        <p:txBody>
          <a:bodyPr wrap="square" rtlCol="0" anchor="t"/>
          <a:lstStyle/>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המודל מנבא את הטוקן הסביר הבא</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פרומפט מעורפל → אין המשך מובהק</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 יותר סיכוי להזיה ולקוד גרוע</a:t>
            </a:r>
            <a:endParaRPr lang="en-US" sz="1400" dirty="0"/>
          </a:p>
          <a:p>
            <a:pPr rtl="1" algn="r" indent="0" marL="0">
              <a:lnSpc>
                <a:spcPct val="125000"/>
              </a:lnSpc>
              <a:buNone/>
            </a:pPr>
            <a:r>
              <a:rPr lang="en-US" sz="1400" dirty="0">
                <a:solidFill>
                  <a:srgbClr val="222232"/>
                </a:solidFill>
                <a:latin typeface="Arial" pitchFamily="34" charset="0"/>
                <a:ea typeface="Arial" pitchFamily="34" charset="-122"/>
                <a:cs typeface="Arial" pitchFamily="34" charset="-120"/>
              </a:rPr>
              <a:t>•  הקשר טוב מכוון את המודל</a:t>
            </a:r>
            <a:endParaRPr lang="en-US" sz="1400" dirty="0"/>
          </a:p>
        </p:txBody>
      </p:sp>
      <p:sp>
        <p:nvSpPr>
          <p:cNvPr id="7" name="Shape 5"/>
          <p:cNvSpPr/>
          <p:nvPr/>
        </p:nvSpPr>
        <p:spPr>
          <a:xfrm>
            <a:off x="548640" y="1783080"/>
            <a:ext cx="5362956" cy="2103120"/>
          </a:xfrm>
          <a:prstGeom prst="roundRect">
            <a:avLst>
              <a:gd name="adj" fmla="val 4348"/>
            </a:avLst>
          </a:prstGeom>
          <a:solidFill>
            <a:srgbClr val="3B3B98"/>
          </a:solidFill>
          <a:ln/>
          <a:effectLst>
            <a:outerShdw sx="100000" sy="100000" kx="0" ky="0" algn="bl" rotWithShape="0" blurRad="76200" dist="25400" dir="5400000">
              <a:srgbClr val="999999">
                <a:alpha val="28000"/>
              </a:srgbClr>
            </a:outerShdw>
          </a:effectLst>
        </p:spPr>
      </p:sp>
      <p:sp>
        <p:nvSpPr>
          <p:cNvPr id="8" name="Text 6"/>
          <p:cNvSpPr/>
          <p:nvPr/>
        </p:nvSpPr>
        <p:spPr>
          <a:xfrm>
            <a:off x="868680" y="1965960"/>
            <a:ext cx="4722876" cy="173736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במפגש 2 הבנו למה המודל טועה. היום נהפוך את הידע הזה לכלי: לנסח פרומפט שמכוון את המודל לתשובה טובה — ומקטין הזיות מלכתחילה.</a:t>
            </a:r>
            <a:endParaRPr lang="en-US" sz="1700" dirty="0"/>
          </a:p>
        </p:txBody>
      </p:sp>
      <p:sp>
        <p:nvSpPr>
          <p:cNvPr id="9" name="Text 7"/>
          <p:cNvSpPr/>
          <p:nvPr/>
        </p:nvSpPr>
        <p:spPr>
          <a:xfrm>
            <a:off x="548640" y="411480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המסר: לא סומכים על הכלי “יעשה מה שרציתי” — מנסחים בבירור מה רוצים.</a:t>
            </a:r>
            <a:endParaRPr lang="en-US" sz="150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03 / 35</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מוטיבציה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אותה מטרה — שני פרומפטים</a:t>
            </a:r>
            <a:endParaRPr lang="en-US" sz="3300" dirty="0"/>
          </a:p>
        </p:txBody>
      </p:sp>
      <p:sp>
        <p:nvSpPr>
          <p:cNvPr id="4" name="Shape 2"/>
          <p:cNvSpPr/>
          <p:nvPr/>
        </p:nvSpPr>
        <p:spPr>
          <a:xfrm>
            <a:off x="6277356" y="1783080"/>
            <a:ext cx="5362956" cy="1371600"/>
          </a:xfrm>
          <a:prstGeom prst="roundRect">
            <a:avLst>
              <a:gd name="adj" fmla="val 5333"/>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05956" y="192024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פרומפט חלש</a:t>
            </a:r>
            <a:endParaRPr lang="en-US" sz="1250" dirty="0"/>
          </a:p>
        </p:txBody>
      </p:sp>
      <p:sp>
        <p:nvSpPr>
          <p:cNvPr id="6" name="Text 4"/>
          <p:cNvSpPr/>
          <p:nvPr/>
        </p:nvSpPr>
        <p:spPr>
          <a:xfrm>
            <a:off x="6533388" y="2286000"/>
            <a:ext cx="4850892" cy="7315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קוד לבדיקת מספר ראשוני”</a:t>
            </a:r>
            <a:endParaRPr lang="en-US" sz="1300" dirty="0"/>
          </a:p>
        </p:txBody>
      </p:sp>
      <p:sp>
        <p:nvSpPr>
          <p:cNvPr id="7" name="Text 5"/>
          <p:cNvSpPr/>
          <p:nvPr/>
        </p:nvSpPr>
        <p:spPr>
          <a:xfrm>
            <a:off x="6277356" y="3246120"/>
            <a:ext cx="5362956" cy="548640"/>
          </a:xfrm>
          <a:prstGeom prst="rect">
            <a:avLst/>
          </a:prstGeom>
          <a:noFill/>
          <a:ln/>
        </p:spPr>
        <p:txBody>
          <a:bodyPr wrap="square" rtlCol="0" anchor="t"/>
          <a:lstStyle/>
          <a:p>
            <a:pPr rtl="1" algn="r" indent="0" marL="0">
              <a:buNone/>
            </a:pPr>
            <a:r>
              <a:rPr lang="en-US" sz="1250" dirty="0">
                <a:solidFill>
                  <a:srgbClr val="6B6B80"/>
                </a:solidFill>
                <a:latin typeface="Arial" pitchFamily="34" charset="0"/>
                <a:ea typeface="Arial" pitchFamily="34" charset="-122"/>
                <a:cs typeface="Arial" pitchFamily="34" charset="-120"/>
              </a:rPr>
              <a:t>↓ תוצאה: קוד כללי, אולי בשפה לא רצויה, בלי טיפול בקצה, בלי הסבר.</a:t>
            </a:r>
            <a:endParaRPr lang="en-US" sz="1250" dirty="0"/>
          </a:p>
        </p:txBody>
      </p:sp>
      <p:sp>
        <p:nvSpPr>
          <p:cNvPr id="8" name="Shape 6"/>
          <p:cNvSpPr/>
          <p:nvPr/>
        </p:nvSpPr>
        <p:spPr>
          <a:xfrm>
            <a:off x="548640" y="1783080"/>
            <a:ext cx="5362956" cy="1371600"/>
          </a:xfrm>
          <a:prstGeom prst="roundRect">
            <a:avLst>
              <a:gd name="adj" fmla="val 5333"/>
            </a:avLst>
          </a:prstGeom>
          <a:solidFill>
            <a:srgbClr val="1B1B2B"/>
          </a:solidFill>
          <a:ln/>
          <a:effectLst>
            <a:outerShdw sx="100000" sy="100000" kx="0" ky="0" algn="bl" rotWithShape="0" blurRad="76200" dist="25400" dir="5400000">
              <a:srgbClr val="999999">
                <a:alpha val="28000"/>
              </a:srgbClr>
            </a:outerShdw>
          </a:effectLst>
        </p:spPr>
      </p:sp>
      <p:sp>
        <p:nvSpPr>
          <p:cNvPr id="9" name="Text 7"/>
          <p:cNvSpPr/>
          <p:nvPr/>
        </p:nvSpPr>
        <p:spPr>
          <a:xfrm>
            <a:off x="777240" y="192024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פרומפט חזק</a:t>
            </a:r>
            <a:endParaRPr lang="en-US" sz="1250" dirty="0"/>
          </a:p>
        </p:txBody>
      </p:sp>
      <p:sp>
        <p:nvSpPr>
          <p:cNvPr id="10" name="Text 8"/>
          <p:cNvSpPr/>
          <p:nvPr/>
        </p:nvSpPr>
        <p:spPr>
          <a:xfrm>
            <a:off x="804672" y="2286000"/>
            <a:ext cx="4850892" cy="7315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בפייתון is_prime(n) שמחזירה True/False, מטפלת ב-n≤1, עם הסבר קצר ודוגמת שימוש”</a:t>
            </a:r>
            <a:endParaRPr lang="en-US" sz="1300" dirty="0"/>
          </a:p>
        </p:txBody>
      </p:sp>
      <p:sp>
        <p:nvSpPr>
          <p:cNvPr id="11" name="Text 9"/>
          <p:cNvSpPr/>
          <p:nvPr/>
        </p:nvSpPr>
        <p:spPr>
          <a:xfrm>
            <a:off x="548640" y="3246120"/>
            <a:ext cx="5362956" cy="548640"/>
          </a:xfrm>
          <a:prstGeom prst="rect">
            <a:avLst/>
          </a:prstGeom>
          <a:noFill/>
          <a:ln/>
        </p:spPr>
        <p:txBody>
          <a:bodyPr wrap="square" rtlCol="0" anchor="t"/>
          <a:lstStyle/>
          <a:p>
            <a:pPr rtl="1" algn="r" indent="0" marL="0">
              <a:buNone/>
            </a:pPr>
            <a:r>
              <a:rPr lang="en-US" sz="1250" dirty="0">
                <a:solidFill>
                  <a:srgbClr val="2E7D32"/>
                </a:solidFill>
                <a:latin typeface="Arial" pitchFamily="34" charset="0"/>
                <a:ea typeface="Arial" pitchFamily="34" charset="-122"/>
                <a:cs typeface="Arial" pitchFamily="34" charset="-120"/>
              </a:rPr>
              <a:t>↓ תוצאה: בדיוק מה שרצינו — נכון, ברור, מוכן לשימוש.</a:t>
            </a:r>
            <a:endParaRPr lang="en-US" sz="1250" dirty="0"/>
          </a:p>
        </p:txBody>
      </p:sp>
      <p:sp>
        <p:nvSpPr>
          <p:cNvPr id="12" name="Shape 10"/>
          <p:cNvSpPr/>
          <p:nvPr/>
        </p:nvSpPr>
        <p:spPr>
          <a:xfrm>
            <a:off x="548640" y="420624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438912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אותו מודל בדיוק — הבדל שמיים וארץ בתוצאה. ההבדל הוא רק בניסוח. זו כל התורה של Prompt Engineering.</a:t>
            </a:r>
            <a:endParaRPr lang="en-US" sz="17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04 / 35</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יסוד</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מהו פרומפט טוב?</a:t>
            </a:r>
            <a:endParaRPr lang="en-US" sz="3300" dirty="0"/>
          </a:p>
        </p:txBody>
      </p:sp>
      <p:sp>
        <p:nvSpPr>
          <p:cNvPr id="4" name="Shape 2"/>
          <p:cNvSpPr/>
          <p:nvPr/>
        </p:nvSpPr>
        <p:spPr>
          <a:xfrm>
            <a:off x="548640" y="1828800"/>
            <a:ext cx="11091672" cy="1234440"/>
          </a:xfrm>
          <a:prstGeom prst="roundRect">
            <a:avLst>
              <a:gd name="adj" fmla="val 740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8686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פרומפט = ההוראה שאתם נותנים למודל. פרומפט טוב אינו “קסם” — הוא פשוט בקשה ברורה, מלאה וממוקדת, שלא משאירה למודל לנחש מה רציתם.</a:t>
            </a:r>
            <a:endParaRPr lang="en-US" sz="1800" dirty="0"/>
          </a:p>
        </p:txBody>
      </p:sp>
      <p:sp>
        <p:nvSpPr>
          <p:cNvPr id="6" name="Shape 4"/>
          <p:cNvSpPr/>
          <p:nvPr/>
        </p:nvSpPr>
        <p:spPr>
          <a:xfrm>
            <a:off x="548640" y="3383280"/>
            <a:ext cx="11091672" cy="1005840"/>
          </a:xfrm>
          <a:prstGeom prst="roundRect">
            <a:avLst>
              <a:gd name="adj" fmla="val 9091"/>
            </a:avLst>
          </a:prstGeom>
          <a:solidFill>
            <a:srgbClr val="9A6A00"/>
          </a:solidFill>
          <a:ln/>
          <a:effectLst>
            <a:outerShdw sx="100000" sy="100000" kx="0" ky="0" algn="bl" rotWithShape="0" blurRad="76200" dist="25400" dir="5400000">
              <a:srgbClr val="999999">
                <a:alpha val="28000"/>
              </a:srgbClr>
            </a:outerShdw>
          </a:effectLst>
        </p:spPr>
      </p:sp>
      <p:sp>
        <p:nvSpPr>
          <p:cNvPr id="7" name="Text 5"/>
          <p:cNvSpPr/>
          <p:nvPr/>
        </p:nvSpPr>
        <p:spPr>
          <a:xfrm>
            <a:off x="868680" y="3566160"/>
            <a:ext cx="10451592" cy="640080"/>
          </a:xfrm>
          <a:prstGeom prst="rect">
            <a:avLst/>
          </a:prstGeom>
          <a:noFill/>
          <a:ln/>
        </p:spPr>
        <p:txBody>
          <a:bodyPr wrap="square" rtlCol="0" anchor="ctr"/>
          <a:lstStyle/>
          <a:p>
            <a:pPr rtl="1" algn="r" indent="0" marL="0">
              <a:buNone/>
            </a:pPr>
            <a:r>
              <a:rPr lang="en-US" sz="1650" b="1" dirty="0">
                <a:solidFill>
                  <a:srgbClr val="FFFFFF"/>
                </a:solidFill>
                <a:latin typeface="Arial" pitchFamily="34" charset="0"/>
                <a:ea typeface="Arial" pitchFamily="34" charset="-122"/>
                <a:cs typeface="Arial" pitchFamily="34" charset="-120"/>
              </a:rPr>
              <a:t>הכלל שמנחה הכול: Garbage in → Garbage out. קלט מעורפל = פלט מעורפל. ככל שתשקיעו יותר בבקשה, תעבדו פחות על התיקונים.</a:t>
            </a:r>
            <a:endParaRPr lang="en-US" sz="1650" dirty="0"/>
          </a:p>
        </p:txBody>
      </p:sp>
      <p:sp>
        <p:nvSpPr>
          <p:cNvPr id="8" name="Text 6"/>
          <p:cNvSpPr/>
          <p:nvPr/>
        </p:nvSpPr>
        <p:spPr>
          <a:xfrm>
            <a:off x="548640" y="4709160"/>
            <a:ext cx="11091672" cy="36576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החדשות הטובות: זה כישור נלמד — ויש לו מבנה. נראה אותו עכשיו.</a:t>
            </a:r>
            <a:endParaRPr lang="en-US" sz="1500" dirty="0"/>
          </a:p>
        </p:txBody>
      </p:sp>
      <p:sp>
        <p:nvSpPr>
          <p:cNvPr id="9" name="Text 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05 / 35</a:t>
            </a:r>
            <a:endParaRPr lang="en-US" sz="950" dirty="0"/>
          </a:p>
        </p:txBody>
      </p:sp>
      <p:sp>
        <p:nvSpPr>
          <p:cNvPr id="10" name="Text 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הליבה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ארבע אבני היסוד של פרומפט טוב</a:t>
            </a:r>
            <a:endParaRPr lang="en-US" sz="3300" dirty="0"/>
          </a:p>
        </p:txBody>
      </p:sp>
      <p:sp>
        <p:nvSpPr>
          <p:cNvPr id="4" name="Shape 2"/>
          <p:cNvSpPr/>
          <p:nvPr/>
        </p:nvSpPr>
        <p:spPr>
          <a:xfrm>
            <a:off x="9073134" y="1965960"/>
            <a:ext cx="2567178"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10064115" y="2240280"/>
            <a:ext cx="585216" cy="585216"/>
          </a:xfrm>
          <a:prstGeom prst="ellipse">
            <a:avLst/>
          </a:prstGeom>
          <a:solidFill>
            <a:srgbClr val="3B3B98"/>
          </a:solidFill>
          <a:ln/>
        </p:spPr>
      </p:sp>
      <p:sp>
        <p:nvSpPr>
          <p:cNvPr id="6" name="Text 4"/>
          <p:cNvSpPr/>
          <p:nvPr/>
        </p:nvSpPr>
        <p:spPr>
          <a:xfrm>
            <a:off x="10064115"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7" name="Text 5"/>
          <p:cNvSpPr/>
          <p:nvPr/>
        </p:nvSpPr>
        <p:spPr>
          <a:xfrm>
            <a:off x="9182862"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הקשר</a:t>
            </a:r>
            <a:endParaRPr lang="en-US" sz="1700" dirty="0"/>
          </a:p>
        </p:txBody>
      </p:sp>
      <p:sp>
        <p:nvSpPr>
          <p:cNvPr id="8" name="Text 6"/>
          <p:cNvSpPr/>
          <p:nvPr/>
        </p:nvSpPr>
        <p:spPr>
          <a:xfrm>
            <a:off x="9182862"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רקע: מה, למי, איזו טכנולוגיה</a:t>
            </a:r>
            <a:endParaRPr lang="en-US" sz="1200" dirty="0"/>
          </a:p>
        </p:txBody>
      </p:sp>
      <p:sp>
        <p:nvSpPr>
          <p:cNvPr id="9" name="Shape 7"/>
          <p:cNvSpPr/>
          <p:nvPr/>
        </p:nvSpPr>
        <p:spPr>
          <a:xfrm>
            <a:off x="6231636" y="1965960"/>
            <a:ext cx="2567178" cy="2103120"/>
          </a:xfrm>
          <a:prstGeom prst="roundRect">
            <a:avLst>
              <a:gd name="adj" fmla="val 3913"/>
            </a:avLst>
          </a:prstGeom>
          <a:solidFill>
            <a:srgbClr val="E7F5F6"/>
          </a:solidFill>
          <a:ln/>
          <a:effectLst>
            <a:outerShdw sx="100000" sy="100000" kx="0" ky="0" algn="bl" rotWithShape="0" blurRad="76200" dist="25400" dir="5400000">
              <a:srgbClr val="999999">
                <a:alpha val="28000"/>
              </a:srgbClr>
            </a:outerShdw>
          </a:effectLst>
        </p:spPr>
      </p:sp>
      <p:sp>
        <p:nvSpPr>
          <p:cNvPr id="10" name="Shape 8"/>
          <p:cNvSpPr/>
          <p:nvPr/>
        </p:nvSpPr>
        <p:spPr>
          <a:xfrm>
            <a:off x="7222617" y="2240280"/>
            <a:ext cx="585216" cy="585216"/>
          </a:xfrm>
          <a:prstGeom prst="ellipse">
            <a:avLst/>
          </a:prstGeom>
          <a:solidFill>
            <a:srgbClr val="3B3B98"/>
          </a:solidFill>
          <a:ln/>
        </p:spPr>
      </p:sp>
      <p:sp>
        <p:nvSpPr>
          <p:cNvPr id="11" name="Text 9"/>
          <p:cNvSpPr/>
          <p:nvPr/>
        </p:nvSpPr>
        <p:spPr>
          <a:xfrm>
            <a:off x="7222617"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2" name="Text 10"/>
          <p:cNvSpPr/>
          <p:nvPr/>
        </p:nvSpPr>
        <p:spPr>
          <a:xfrm>
            <a:off x="6341364"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מטרה</a:t>
            </a:r>
            <a:endParaRPr lang="en-US" sz="1700" dirty="0"/>
          </a:p>
        </p:txBody>
      </p:sp>
      <p:sp>
        <p:nvSpPr>
          <p:cNvPr id="13" name="Text 11"/>
          <p:cNvSpPr/>
          <p:nvPr/>
        </p:nvSpPr>
        <p:spPr>
          <a:xfrm>
            <a:off x="6341364"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מה בדיוק רוצים שייווצר</a:t>
            </a:r>
            <a:endParaRPr lang="en-US" sz="1200" dirty="0"/>
          </a:p>
        </p:txBody>
      </p:sp>
      <p:sp>
        <p:nvSpPr>
          <p:cNvPr id="14" name="Shape 12"/>
          <p:cNvSpPr/>
          <p:nvPr/>
        </p:nvSpPr>
        <p:spPr>
          <a:xfrm>
            <a:off x="3390138" y="1965960"/>
            <a:ext cx="2567178" cy="2103120"/>
          </a:xfrm>
          <a:prstGeom prst="roundRect">
            <a:avLst>
              <a:gd name="adj" fmla="val 3913"/>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4381119" y="2240280"/>
            <a:ext cx="585216" cy="585216"/>
          </a:xfrm>
          <a:prstGeom prst="ellipse">
            <a:avLst/>
          </a:prstGeom>
          <a:solidFill>
            <a:srgbClr val="3B3B98"/>
          </a:solidFill>
          <a:ln/>
        </p:spPr>
      </p:sp>
      <p:sp>
        <p:nvSpPr>
          <p:cNvPr id="16" name="Text 14"/>
          <p:cNvSpPr/>
          <p:nvPr/>
        </p:nvSpPr>
        <p:spPr>
          <a:xfrm>
            <a:off x="4381119"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7" name="Text 15"/>
          <p:cNvSpPr/>
          <p:nvPr/>
        </p:nvSpPr>
        <p:spPr>
          <a:xfrm>
            <a:off x="3499866"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אילוצים</a:t>
            </a:r>
            <a:endParaRPr lang="en-US" sz="1700" dirty="0"/>
          </a:p>
        </p:txBody>
      </p:sp>
      <p:sp>
        <p:nvSpPr>
          <p:cNvPr id="18" name="Text 16"/>
          <p:cNvSpPr/>
          <p:nvPr/>
        </p:nvSpPr>
        <p:spPr>
          <a:xfrm>
            <a:off x="3499866"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מקרי קצה, שפה, ספריות, סגנון</a:t>
            </a:r>
            <a:endParaRPr lang="en-US" sz="1200" dirty="0"/>
          </a:p>
        </p:txBody>
      </p:sp>
      <p:sp>
        <p:nvSpPr>
          <p:cNvPr id="19" name="Shape 17"/>
          <p:cNvSpPr/>
          <p:nvPr/>
        </p:nvSpPr>
        <p:spPr>
          <a:xfrm>
            <a:off x="548640" y="1965960"/>
            <a:ext cx="2567178" cy="2103120"/>
          </a:xfrm>
          <a:prstGeom prst="roundRect">
            <a:avLst>
              <a:gd name="adj" fmla="val 3913"/>
            </a:avLst>
          </a:prstGeom>
          <a:solidFill>
            <a:srgbClr val="E7F5F6"/>
          </a:solidFill>
          <a:ln/>
          <a:effectLst>
            <a:outerShdw sx="100000" sy="100000" kx="0" ky="0" algn="bl" rotWithShape="0" blurRad="76200" dist="25400" dir="5400000">
              <a:srgbClr val="999999">
                <a:alpha val="28000"/>
              </a:srgbClr>
            </a:outerShdw>
          </a:effectLst>
        </p:spPr>
      </p:sp>
      <p:sp>
        <p:nvSpPr>
          <p:cNvPr id="20" name="Shape 18"/>
          <p:cNvSpPr/>
          <p:nvPr/>
        </p:nvSpPr>
        <p:spPr>
          <a:xfrm>
            <a:off x="1539621" y="2240280"/>
            <a:ext cx="585216" cy="585216"/>
          </a:xfrm>
          <a:prstGeom prst="ellipse">
            <a:avLst/>
          </a:prstGeom>
          <a:solidFill>
            <a:srgbClr val="3B3B98"/>
          </a:solidFill>
          <a:ln/>
        </p:spPr>
      </p:sp>
      <p:sp>
        <p:nvSpPr>
          <p:cNvPr id="21" name="Text 19"/>
          <p:cNvSpPr/>
          <p:nvPr/>
        </p:nvSpPr>
        <p:spPr>
          <a:xfrm>
            <a:off x="1539621" y="2240280"/>
            <a:ext cx="585216" cy="585216"/>
          </a:xfrm>
          <a:prstGeom prst="rect">
            <a:avLst/>
          </a:prstGeom>
          <a:noFill/>
          <a:ln/>
        </p:spPr>
        <p:txBody>
          <a:bodyPr wrap="square"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2" name="Text 20"/>
          <p:cNvSpPr/>
          <p:nvPr/>
        </p:nvSpPr>
        <p:spPr>
          <a:xfrm>
            <a:off x="658368" y="2971800"/>
            <a:ext cx="2347722" cy="411480"/>
          </a:xfrm>
          <a:prstGeom prst="rect">
            <a:avLst/>
          </a:prstGeom>
          <a:noFill/>
          <a:ln/>
        </p:spPr>
        <p:txBody>
          <a:bodyPr wrap="square" rtlCol="0" anchor="t"/>
          <a:lstStyle/>
          <a:p>
            <a:pPr rtl="1" algn="ctr" indent="0" marL="0">
              <a:buNone/>
            </a:pPr>
            <a:r>
              <a:rPr lang="en-US" sz="1700" b="1" dirty="0">
                <a:solidFill>
                  <a:srgbClr val="1E2761"/>
                </a:solidFill>
                <a:latin typeface="Arial" pitchFamily="34" charset="0"/>
                <a:ea typeface="Arial" pitchFamily="34" charset="-122"/>
                <a:cs typeface="Arial" pitchFamily="34" charset="-120"/>
              </a:rPr>
              <a:t>פורמט</a:t>
            </a:r>
            <a:endParaRPr lang="en-US" sz="1700" dirty="0"/>
          </a:p>
        </p:txBody>
      </p:sp>
      <p:sp>
        <p:nvSpPr>
          <p:cNvPr id="23" name="Text 21"/>
          <p:cNvSpPr/>
          <p:nvPr/>
        </p:nvSpPr>
        <p:spPr>
          <a:xfrm>
            <a:off x="658368" y="3383280"/>
            <a:ext cx="2347722" cy="64008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איך שיחזור: קוד/הסבר/פונקציה</a:t>
            </a:r>
            <a:endParaRPr lang="en-US" sz="1200" dirty="0"/>
          </a:p>
        </p:txBody>
      </p:sp>
      <p:sp>
        <p:nvSpPr>
          <p:cNvPr id="24" name="Text 22"/>
          <p:cNvSpPr/>
          <p:nvPr/>
        </p:nvSpPr>
        <p:spPr>
          <a:xfrm>
            <a:off x="548640" y="434340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לא חייבים את כל הארבעה בכל פרומפט — אבל ככל שהמשימה מורכבת יותר, כדאי יותר.</a:t>
            </a:r>
            <a:endParaRPr lang="en-US" sz="140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06 / 35</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1</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הקשר (Context)</a:t>
            </a:r>
            <a:endParaRPr lang="en-US" sz="3300" dirty="0"/>
          </a:p>
        </p:txBody>
      </p:sp>
      <p:sp>
        <p:nvSpPr>
          <p:cNvPr id="4" name="Shape 2"/>
          <p:cNvSpPr/>
          <p:nvPr/>
        </p:nvSpPr>
        <p:spPr>
          <a:xfrm>
            <a:off x="548640" y="1737360"/>
            <a:ext cx="11091672" cy="960120"/>
          </a:xfrm>
          <a:prstGeom prst="roundRect">
            <a:avLst>
              <a:gd name="adj" fmla="val 9524"/>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9436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תנו למודל רקע: מה אתם בונים, למי, ובאיזו טכנולוגיה. בלי הקשר, המודל מניח הנחות — ולרוב לא את שלכם.</a:t>
            </a:r>
            <a:endParaRPr lang="en-US" sz="1700" dirty="0"/>
          </a:p>
        </p:txBody>
      </p:sp>
      <p:sp>
        <p:nvSpPr>
          <p:cNvPr id="6" name="Shape 4"/>
          <p:cNvSpPr/>
          <p:nvPr/>
        </p:nvSpPr>
        <p:spPr>
          <a:xfrm>
            <a:off x="6277356" y="2880360"/>
            <a:ext cx="5362956" cy="1737360"/>
          </a:xfrm>
          <a:prstGeom prst="roundRect">
            <a:avLst>
              <a:gd name="adj" fmla="val 4211"/>
            </a:avLst>
          </a:prstGeom>
          <a:solidFill>
            <a:srgbClr val="1B1B2B"/>
          </a:solidFill>
          <a:ln/>
          <a:effectLst>
            <a:outerShdw sx="100000" sy="100000" kx="0" ky="0" algn="bl" rotWithShape="0" blurRad="76200" dist="25400" dir="5400000">
              <a:srgbClr val="999999">
                <a:alpha val="28000"/>
              </a:srgbClr>
            </a:outerShdw>
          </a:effectLst>
        </p:spPr>
      </p:sp>
      <p:sp>
        <p:nvSpPr>
          <p:cNvPr id="7" name="Text 5"/>
          <p:cNvSpPr/>
          <p:nvPr/>
        </p:nvSpPr>
        <p:spPr>
          <a:xfrm>
            <a:off x="6505956" y="301752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בלי הקשר</a:t>
            </a:r>
            <a:endParaRPr lang="en-US" sz="1250" dirty="0"/>
          </a:p>
        </p:txBody>
      </p:sp>
      <p:sp>
        <p:nvSpPr>
          <p:cNvPr id="8" name="Text 6"/>
          <p:cNvSpPr/>
          <p:nvPr/>
        </p:nvSpPr>
        <p:spPr>
          <a:xfrm>
            <a:off x="6533388" y="3383280"/>
            <a:ext cx="4850892" cy="109728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שמחשבת מחיר”</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(איזה מחיר? מע“מ? הנחה? מטבע?)</a:t>
            </a:r>
            <a:endParaRPr lang="en-US" sz="1300" dirty="0"/>
          </a:p>
        </p:txBody>
      </p:sp>
      <p:sp>
        <p:nvSpPr>
          <p:cNvPr id="9" name="Shape 7"/>
          <p:cNvSpPr/>
          <p:nvPr/>
        </p:nvSpPr>
        <p:spPr>
          <a:xfrm>
            <a:off x="548640" y="2880360"/>
            <a:ext cx="5362956" cy="1737360"/>
          </a:xfrm>
          <a:prstGeom prst="roundRect">
            <a:avLst>
              <a:gd name="adj" fmla="val 4211"/>
            </a:avLst>
          </a:prstGeom>
          <a:solidFill>
            <a:srgbClr val="1B1B2B"/>
          </a:solidFill>
          <a:ln/>
          <a:effectLst>
            <a:outerShdw sx="100000" sy="100000" kx="0" ky="0" algn="bl" rotWithShape="0" blurRad="76200" dist="25400" dir="5400000">
              <a:srgbClr val="999999">
                <a:alpha val="28000"/>
              </a:srgbClr>
            </a:outerShdw>
          </a:effectLst>
        </p:spPr>
      </p:sp>
      <p:sp>
        <p:nvSpPr>
          <p:cNvPr id="10" name="Text 8"/>
          <p:cNvSpPr/>
          <p:nvPr/>
        </p:nvSpPr>
        <p:spPr>
          <a:xfrm>
            <a:off x="777240" y="301752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עם הקשר</a:t>
            </a:r>
            <a:endParaRPr lang="en-US" sz="1250" dirty="0"/>
          </a:p>
        </p:txBody>
      </p:sp>
      <p:sp>
        <p:nvSpPr>
          <p:cNvPr id="11" name="Text 9"/>
          <p:cNvSpPr/>
          <p:nvPr/>
        </p:nvSpPr>
        <p:spPr>
          <a:xfrm>
            <a:off x="804672" y="3383280"/>
            <a:ext cx="4850892" cy="109728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“באפליקציית חנות בפייתון, כתוב פונקציה שמחשבת מחיר סופי כולל מע“מ 17% והנחת מבצע באחוזים”</a:t>
            </a:r>
            <a:endParaRPr lang="en-US" sz="1300" dirty="0"/>
          </a:p>
        </p:txBody>
      </p:sp>
      <p:sp>
        <p:nvSpPr>
          <p:cNvPr id="12" name="Text 10"/>
          <p:cNvSpPr/>
          <p:nvPr/>
        </p:nvSpPr>
        <p:spPr>
          <a:xfrm>
            <a:off x="548640" y="480060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אותה מטרה — אבל עכשיו המודל יודע מה באמת צריך.</a:t>
            </a:r>
            <a:endParaRPr lang="en-US" sz="14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07 / 35</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2</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מטרה (Goal)</a:t>
            </a:r>
            <a:endParaRPr lang="en-US" sz="3300" dirty="0"/>
          </a:p>
        </p:txBody>
      </p:sp>
      <p:sp>
        <p:nvSpPr>
          <p:cNvPr id="4" name="Shape 2"/>
          <p:cNvSpPr/>
          <p:nvPr/>
        </p:nvSpPr>
        <p:spPr>
          <a:xfrm>
            <a:off x="548640" y="1737360"/>
            <a:ext cx="11091672" cy="960120"/>
          </a:xfrm>
          <a:prstGeom prst="roundRect">
            <a:avLst>
              <a:gd name="adj" fmla="val 9524"/>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9436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היו ספציפיים לגבי מה בדיוק אתם רוצים שייווצר. “תעזור לי עם הקוד” זה לא מטרה — זו בקשה כללית שתיתן תשובה כללית.</a:t>
            </a:r>
            <a:endParaRPr lang="en-US" sz="1700" dirty="0"/>
          </a:p>
        </p:txBody>
      </p:sp>
      <p:sp>
        <p:nvSpPr>
          <p:cNvPr id="6" name="Shape 4"/>
          <p:cNvSpPr/>
          <p:nvPr/>
        </p:nvSpPr>
        <p:spPr>
          <a:xfrm>
            <a:off x="6277356" y="288036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7" name="Text 5"/>
          <p:cNvSpPr/>
          <p:nvPr/>
        </p:nvSpPr>
        <p:spPr>
          <a:xfrm>
            <a:off x="6505956" y="301752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מעורפל</a:t>
            </a:r>
            <a:endParaRPr lang="en-US" sz="1250" dirty="0"/>
          </a:p>
        </p:txBody>
      </p:sp>
      <p:sp>
        <p:nvSpPr>
          <p:cNvPr id="8" name="Text 6"/>
          <p:cNvSpPr/>
          <p:nvPr/>
        </p:nvSpPr>
        <p:spPr>
          <a:xfrm>
            <a:off x="6533388" y="338328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“תעשה משהו עם הרשימה הזו”</a:t>
            </a:r>
            <a:endParaRPr lang="en-US" sz="1300" dirty="0"/>
          </a:p>
        </p:txBody>
      </p:sp>
      <p:sp>
        <p:nvSpPr>
          <p:cNvPr id="9" name="Shape 7"/>
          <p:cNvSpPr/>
          <p:nvPr/>
        </p:nvSpPr>
        <p:spPr>
          <a:xfrm>
            <a:off x="548640" y="288036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10" name="Text 8"/>
          <p:cNvSpPr/>
          <p:nvPr/>
        </p:nvSpPr>
        <p:spPr>
          <a:xfrm>
            <a:off x="777240" y="301752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ממוקד</a:t>
            </a:r>
            <a:endParaRPr lang="en-US" sz="1250" dirty="0"/>
          </a:p>
        </p:txBody>
      </p:sp>
      <p:sp>
        <p:nvSpPr>
          <p:cNvPr id="11" name="Text 9"/>
          <p:cNvSpPr/>
          <p:nvPr/>
        </p:nvSpPr>
        <p:spPr>
          <a:xfrm>
            <a:off x="804672" y="338328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“מיין את הרשימה מהקטן לגדול, והסר כפילויות”</a:t>
            </a:r>
            <a:endParaRPr lang="en-US" sz="1300" dirty="0"/>
          </a:p>
        </p:txBody>
      </p:sp>
      <p:sp>
        <p:nvSpPr>
          <p:cNvPr id="12" name="Text 10"/>
          <p:cNvSpPr/>
          <p:nvPr/>
        </p:nvSpPr>
        <p:spPr>
          <a:xfrm>
            <a:off x="548640" y="4572000"/>
            <a:ext cx="11091672" cy="45720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טיפ: אם אתם מתקשים לנסח את המטרה במשפט אחד ברור — כנראה שגם לא לגמרי יודעים מה אתם רוצים.</a:t>
            </a:r>
            <a:endParaRPr lang="en-US" sz="14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08 / 35</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3</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אילוצים (Constraints)</a:t>
            </a:r>
            <a:endParaRPr lang="en-US" sz="3300" dirty="0"/>
          </a:p>
        </p:txBody>
      </p:sp>
      <p:sp>
        <p:nvSpPr>
          <p:cNvPr id="4" name="Shape 2"/>
          <p:cNvSpPr/>
          <p:nvPr/>
        </p:nvSpPr>
        <p:spPr>
          <a:xfrm>
            <a:off x="548640" y="1737360"/>
            <a:ext cx="11091672" cy="914400"/>
          </a:xfrm>
          <a:prstGeom prst="roundRect">
            <a:avLst>
              <a:gd name="adj" fmla="val 1000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4864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ציינו במפורש את הכללים והגבולות: שפה, ספריות, מקרי קצה, סגנון. זה בדיוק מה שהמודל נוטה לפספס בעצמו.</a:t>
            </a:r>
            <a:endParaRPr lang="en-US" sz="1700" dirty="0"/>
          </a:p>
        </p:txBody>
      </p:sp>
      <p:sp>
        <p:nvSpPr>
          <p:cNvPr id="6" name="Shape 4"/>
          <p:cNvSpPr/>
          <p:nvPr/>
        </p:nvSpPr>
        <p:spPr>
          <a:xfrm>
            <a:off x="11237976" y="2852928"/>
            <a:ext cx="402336" cy="402336"/>
          </a:xfrm>
          <a:prstGeom prst="ellipse">
            <a:avLst/>
          </a:prstGeom>
          <a:solidFill>
            <a:srgbClr val="2E7D32"/>
          </a:solidFill>
          <a:ln/>
        </p:spPr>
      </p:sp>
      <p:sp>
        <p:nvSpPr>
          <p:cNvPr id="7" name="Text 5"/>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Text 6"/>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שפה וספריות</a:t>
            </a:r>
            <a:endParaRPr lang="en-US" sz="1650" dirty="0"/>
          </a:p>
        </p:txBody>
      </p:sp>
      <p:sp>
        <p:nvSpPr>
          <p:cNvPr id="9" name="Text 7"/>
          <p:cNvSpPr/>
          <p:nvPr/>
        </p:nvSpPr>
        <p:spPr>
          <a:xfrm>
            <a:off x="548640" y="316382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“בפייתון, בלי ספריות חיצוניות”.</a:t>
            </a:r>
            <a:endParaRPr lang="en-US" sz="1300" dirty="0"/>
          </a:p>
        </p:txBody>
      </p:sp>
      <p:sp>
        <p:nvSpPr>
          <p:cNvPr id="10" name="Shape 8"/>
          <p:cNvSpPr/>
          <p:nvPr/>
        </p:nvSpPr>
        <p:spPr>
          <a:xfrm>
            <a:off x="11237976" y="3721608"/>
            <a:ext cx="402336" cy="402336"/>
          </a:xfrm>
          <a:prstGeom prst="ellipse">
            <a:avLst/>
          </a:prstGeom>
          <a:solidFill>
            <a:srgbClr val="2E7D32"/>
          </a:solidFill>
          <a:ln/>
        </p:spPr>
      </p:sp>
      <p:sp>
        <p:nvSpPr>
          <p:cNvPr id="11" name="Text 9"/>
          <p:cNvSpPr/>
          <p:nvPr/>
        </p:nvSpPr>
        <p:spPr>
          <a:xfrm>
            <a:off x="11237976" y="37216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Text 10"/>
          <p:cNvSpPr/>
          <p:nvPr/>
        </p:nvSpPr>
        <p:spPr>
          <a:xfrm>
            <a:off x="548640" y="36850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מקרי קצה</a:t>
            </a:r>
            <a:endParaRPr lang="en-US" sz="1650" dirty="0"/>
          </a:p>
        </p:txBody>
      </p:sp>
      <p:sp>
        <p:nvSpPr>
          <p:cNvPr id="13" name="Text 11"/>
          <p:cNvSpPr/>
          <p:nvPr/>
        </p:nvSpPr>
        <p:spPr>
          <a:xfrm>
            <a:off x="548640" y="403250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“טפל ברשימה ריקה ובקלט שלילי” — זוכרים ממפגש 1?</a:t>
            </a:r>
            <a:endParaRPr lang="en-US" sz="1300" dirty="0"/>
          </a:p>
        </p:txBody>
      </p:sp>
      <p:sp>
        <p:nvSpPr>
          <p:cNvPr id="14" name="Shape 12"/>
          <p:cNvSpPr/>
          <p:nvPr/>
        </p:nvSpPr>
        <p:spPr>
          <a:xfrm>
            <a:off x="11237976" y="4590288"/>
            <a:ext cx="402336" cy="402336"/>
          </a:xfrm>
          <a:prstGeom prst="ellipse">
            <a:avLst/>
          </a:prstGeom>
          <a:solidFill>
            <a:srgbClr val="2E7D32"/>
          </a:solidFill>
          <a:ln/>
        </p:spPr>
      </p:sp>
      <p:sp>
        <p:nvSpPr>
          <p:cNvPr id="15" name="Text 13"/>
          <p:cNvSpPr/>
          <p:nvPr/>
        </p:nvSpPr>
        <p:spPr>
          <a:xfrm>
            <a:off x="11237976" y="45902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Text 14"/>
          <p:cNvSpPr/>
          <p:nvPr/>
        </p:nvSpPr>
        <p:spPr>
          <a:xfrm>
            <a:off x="548640" y="45537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סגנון ומגבלות</a:t>
            </a:r>
            <a:endParaRPr lang="en-US" sz="1650" dirty="0"/>
          </a:p>
        </p:txBody>
      </p:sp>
      <p:sp>
        <p:nvSpPr>
          <p:cNvPr id="17" name="Text 15"/>
          <p:cNvSpPr/>
          <p:nvPr/>
        </p:nvSpPr>
        <p:spPr>
          <a:xfrm>
            <a:off x="548640" y="490118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“קוד קריא עם שמות ברורים” / “עד 20 שורות”.</a:t>
            </a:r>
            <a:endParaRPr lang="en-US" sz="13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09 / 35</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אבן יסוד 4</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פורמט (Format)</a:t>
            </a:r>
            <a:endParaRPr lang="en-US" sz="3300" dirty="0"/>
          </a:p>
        </p:txBody>
      </p:sp>
      <p:sp>
        <p:nvSpPr>
          <p:cNvPr id="4" name="Shape 2"/>
          <p:cNvSpPr/>
          <p:nvPr/>
        </p:nvSpPr>
        <p:spPr>
          <a:xfrm>
            <a:off x="548640" y="1737360"/>
            <a:ext cx="11091672" cy="914400"/>
          </a:xfrm>
          <a:prstGeom prst="roundRect">
            <a:avLst>
              <a:gd name="adj" fmla="val 1000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20240"/>
            <a:ext cx="10451592" cy="54864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אמרו איך אתם רוצים לקבל את התשובה — אחרת תקבלו את ברירת המחדל של המודל, שלא תמיד נוחה לכם.</a:t>
            </a:r>
            <a:endParaRPr lang="en-US" sz="1700" dirty="0"/>
          </a:p>
        </p:txBody>
      </p:sp>
      <p:sp>
        <p:nvSpPr>
          <p:cNvPr id="6" name="Shape 4"/>
          <p:cNvSpPr/>
          <p:nvPr/>
        </p:nvSpPr>
        <p:spPr>
          <a:xfrm>
            <a:off x="11237976" y="2852928"/>
            <a:ext cx="402336" cy="402336"/>
          </a:xfrm>
          <a:prstGeom prst="ellipse">
            <a:avLst/>
          </a:prstGeom>
          <a:solidFill>
            <a:srgbClr val="0E9AA7"/>
          </a:solidFill>
          <a:ln/>
        </p:spPr>
      </p:sp>
      <p:sp>
        <p:nvSpPr>
          <p:cNvPr id="7" name="Text 5"/>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Text 6"/>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“רק קוד, בלי הסבר”</a:t>
            </a:r>
            <a:endParaRPr lang="en-US" sz="1650" dirty="0"/>
          </a:p>
        </p:txBody>
      </p:sp>
      <p:sp>
        <p:nvSpPr>
          <p:cNvPr id="9" name="Text 7"/>
          <p:cNvSpPr/>
          <p:nvPr/>
        </p:nvSpPr>
        <p:spPr>
          <a:xfrm>
            <a:off x="548640" y="316382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כשאתם כבר מבינים ורוצים להעתיק מהר.</a:t>
            </a:r>
            <a:endParaRPr lang="en-US" sz="1300" dirty="0"/>
          </a:p>
        </p:txBody>
      </p:sp>
      <p:sp>
        <p:nvSpPr>
          <p:cNvPr id="10" name="Shape 8"/>
          <p:cNvSpPr/>
          <p:nvPr/>
        </p:nvSpPr>
        <p:spPr>
          <a:xfrm>
            <a:off x="11237976" y="3721608"/>
            <a:ext cx="402336" cy="402336"/>
          </a:xfrm>
          <a:prstGeom prst="ellipse">
            <a:avLst/>
          </a:prstGeom>
          <a:solidFill>
            <a:srgbClr val="0E9AA7"/>
          </a:solidFill>
          <a:ln/>
        </p:spPr>
      </p:sp>
      <p:sp>
        <p:nvSpPr>
          <p:cNvPr id="11" name="Text 9"/>
          <p:cNvSpPr/>
          <p:nvPr/>
        </p:nvSpPr>
        <p:spPr>
          <a:xfrm>
            <a:off x="11237976" y="372160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Text 10"/>
          <p:cNvSpPr/>
          <p:nvPr/>
        </p:nvSpPr>
        <p:spPr>
          <a:xfrm>
            <a:off x="548640" y="368503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 הסבר קצר בעברית”</a:t>
            </a:r>
            <a:endParaRPr lang="en-US" sz="1650" dirty="0"/>
          </a:p>
        </p:txBody>
      </p:sp>
      <p:sp>
        <p:nvSpPr>
          <p:cNvPr id="13" name="Text 11"/>
          <p:cNvSpPr/>
          <p:nvPr/>
        </p:nvSpPr>
        <p:spPr>
          <a:xfrm>
            <a:off x="548640" y="403250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כשלומדים — ההסבר עוזר להבין (ולבדוק).</a:t>
            </a:r>
            <a:endParaRPr lang="en-US" sz="1300" dirty="0"/>
          </a:p>
        </p:txBody>
      </p:sp>
      <p:sp>
        <p:nvSpPr>
          <p:cNvPr id="14" name="Shape 12"/>
          <p:cNvSpPr/>
          <p:nvPr/>
        </p:nvSpPr>
        <p:spPr>
          <a:xfrm>
            <a:off x="11237976" y="4590288"/>
            <a:ext cx="402336" cy="402336"/>
          </a:xfrm>
          <a:prstGeom prst="ellipse">
            <a:avLst/>
          </a:prstGeom>
          <a:solidFill>
            <a:srgbClr val="0E9AA7"/>
          </a:solidFill>
          <a:ln/>
        </p:spPr>
      </p:sp>
      <p:sp>
        <p:nvSpPr>
          <p:cNvPr id="15" name="Text 13"/>
          <p:cNvSpPr/>
          <p:nvPr/>
        </p:nvSpPr>
        <p:spPr>
          <a:xfrm>
            <a:off x="11237976" y="45902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Text 14"/>
          <p:cNvSpPr/>
          <p:nvPr/>
        </p:nvSpPr>
        <p:spPr>
          <a:xfrm>
            <a:off x="548640" y="45537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“פונקציה אחת בשם X” / “צעד-אחר-צעד”</a:t>
            </a:r>
            <a:endParaRPr lang="en-US" sz="1650" dirty="0"/>
          </a:p>
        </p:txBody>
      </p:sp>
      <p:sp>
        <p:nvSpPr>
          <p:cNvPr id="17" name="Text 15"/>
          <p:cNvSpPr/>
          <p:nvPr/>
        </p:nvSpPr>
        <p:spPr>
          <a:xfrm>
            <a:off x="548640" y="4901184"/>
            <a:ext cx="10543032" cy="50292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שולט במבנה התשובה.</a:t>
            </a:r>
            <a:endParaRPr lang="en-US" sz="13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10 / 35</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מרכיבים הכול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פרומפט אמיתי — Before / After</a:t>
            </a:r>
            <a:endParaRPr lang="en-US" sz="3300" dirty="0"/>
          </a:p>
        </p:txBody>
      </p:sp>
      <p:sp>
        <p:nvSpPr>
          <p:cNvPr id="4" name="Shape 2"/>
          <p:cNvSpPr/>
          <p:nvPr/>
        </p:nvSpPr>
        <p:spPr>
          <a:xfrm>
            <a:off x="6277356" y="1737360"/>
            <a:ext cx="5362956" cy="3200400"/>
          </a:xfrm>
          <a:prstGeom prst="roundRect">
            <a:avLst>
              <a:gd name="adj" fmla="val 2286"/>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05956" y="187452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Before — חלש</a:t>
            </a:r>
            <a:endParaRPr lang="en-US" sz="1250" dirty="0"/>
          </a:p>
        </p:txBody>
      </p:sp>
      <p:sp>
        <p:nvSpPr>
          <p:cNvPr id="6" name="Text 4"/>
          <p:cNvSpPr/>
          <p:nvPr/>
        </p:nvSpPr>
        <p:spPr>
          <a:xfrm>
            <a:off x="6533388" y="2240280"/>
            <a:ext cx="4850892" cy="25603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לי קוד למחשבון”</a:t>
            </a:r>
            <a:endParaRPr lang="en-US" sz="1300" dirty="0"/>
          </a:p>
        </p:txBody>
      </p:sp>
      <p:sp>
        <p:nvSpPr>
          <p:cNvPr id="7" name="Shape 5"/>
          <p:cNvSpPr/>
          <p:nvPr/>
        </p:nvSpPr>
        <p:spPr>
          <a:xfrm>
            <a:off x="548640" y="1737360"/>
            <a:ext cx="5362956" cy="3200400"/>
          </a:xfrm>
          <a:prstGeom prst="roundRect">
            <a:avLst>
              <a:gd name="adj" fmla="val 2286"/>
            </a:avLst>
          </a:prstGeom>
          <a:solidFill>
            <a:srgbClr val="1B1B2B"/>
          </a:solidFill>
          <a:ln/>
          <a:effectLst>
            <a:outerShdw sx="100000" sy="100000" kx="0" ky="0" algn="bl" rotWithShape="0" blurRad="76200" dist="25400" dir="5400000">
              <a:srgbClr val="999999">
                <a:alpha val="28000"/>
              </a:srgbClr>
            </a:outerShdw>
          </a:effectLst>
        </p:spPr>
      </p:sp>
      <p:sp>
        <p:nvSpPr>
          <p:cNvPr id="8" name="Text 6"/>
          <p:cNvSpPr/>
          <p:nvPr/>
        </p:nvSpPr>
        <p:spPr>
          <a:xfrm>
            <a:off x="777240" y="187452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After — מובנה (4 אבני יסוד)</a:t>
            </a:r>
            <a:endParaRPr lang="en-US" sz="1250" dirty="0"/>
          </a:p>
        </p:txBody>
      </p:sp>
      <p:sp>
        <p:nvSpPr>
          <p:cNvPr id="9" name="Text 7"/>
          <p:cNvSpPr/>
          <p:nvPr/>
        </p:nvSpPr>
        <p:spPr>
          <a:xfrm>
            <a:off x="804672" y="2240280"/>
            <a:ext cx="4850892" cy="25603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הקשר: “אני בונה מחשבון פשוט בפייתון.”</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מטרה: “כתוב פונקציה calculate(a, op, b) לארבע פעולות חשבון.”</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אילוצים: “טפל בחלוקה באפס; op לא חוקי → הודעת שגיאה.”</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פורמט: “קוד + הסבר קצר בעברית + דוגמת הרצה.”</a:t>
            </a:r>
            <a:endParaRPr lang="en-US" sz="1300" dirty="0"/>
          </a:p>
        </p:txBody>
      </p:sp>
      <p:sp>
        <p:nvSpPr>
          <p:cNvPr id="10" name="Text 8"/>
          <p:cNvSpPr/>
          <p:nvPr/>
        </p:nvSpPr>
        <p:spPr>
          <a:xfrm>
            <a:off x="548640" y="507492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ה-After ארוך יותר — אבל חוסך לכם סבבים של תיקונים, ומקטין הזיות. משתלם.</a:t>
            </a:r>
            <a:endParaRPr lang="en-US" sz="1400" dirty="0"/>
          </a:p>
        </p:txBody>
      </p:sp>
      <p:sp>
        <p:nvSpPr>
          <p:cNvPr id="11" name="Text 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11 / 35</a:t>
            </a:r>
            <a:endParaRPr lang="en-US" sz="950" dirty="0"/>
          </a:p>
        </p:txBody>
      </p:sp>
      <p:sp>
        <p:nvSpPr>
          <p:cNvPr id="12" name="Text 1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לא בניסיון הראשון</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איטרציה — לשפר פרומפט בלולאה</a:t>
            </a:r>
            <a:endParaRPr lang="en-US" sz="3300" dirty="0"/>
          </a:p>
        </p:txBody>
      </p:sp>
      <p:sp>
        <p:nvSpPr>
          <p:cNvPr id="4" name="Shape 2"/>
          <p:cNvSpPr/>
          <p:nvPr/>
        </p:nvSpPr>
        <p:spPr>
          <a:xfrm>
            <a:off x="8247888" y="2103120"/>
            <a:ext cx="339242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8339328" y="2359152"/>
            <a:ext cx="320954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פרומפט</a:t>
            </a:r>
            <a:endParaRPr lang="en-US" sz="1600" dirty="0"/>
          </a:p>
        </p:txBody>
      </p:sp>
      <p:sp>
        <p:nvSpPr>
          <p:cNvPr id="6" name="Text 4"/>
          <p:cNvSpPr/>
          <p:nvPr/>
        </p:nvSpPr>
        <p:spPr>
          <a:xfrm>
            <a:off x="8339328" y="2788920"/>
            <a:ext cx="320954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הבקשה הראשונה</a:t>
            </a:r>
            <a:endParaRPr lang="en-US" sz="1250" dirty="0"/>
          </a:p>
        </p:txBody>
      </p:sp>
      <p:sp>
        <p:nvSpPr>
          <p:cNvPr id="7" name="Shape 5"/>
          <p:cNvSpPr/>
          <p:nvPr/>
        </p:nvSpPr>
        <p:spPr>
          <a:xfrm>
            <a:off x="7827264" y="2743200"/>
            <a:ext cx="347472" cy="0"/>
          </a:xfrm>
          <a:prstGeom prst="line">
            <a:avLst/>
          </a:prstGeom>
          <a:noFill/>
          <a:ln w="38100">
            <a:solidFill>
              <a:srgbClr val="3B3B98"/>
            </a:solidFill>
            <a:prstDash val="solid"/>
            <a:headEnd type="triangle"/>
          </a:ln>
        </p:spPr>
      </p:sp>
      <p:sp>
        <p:nvSpPr>
          <p:cNvPr id="8" name="Shape 6"/>
          <p:cNvSpPr/>
          <p:nvPr/>
        </p:nvSpPr>
        <p:spPr>
          <a:xfrm>
            <a:off x="4398264" y="2103120"/>
            <a:ext cx="339242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4489704" y="2359152"/>
            <a:ext cx="320954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תוצאה</a:t>
            </a:r>
            <a:endParaRPr lang="en-US" sz="1600" dirty="0"/>
          </a:p>
        </p:txBody>
      </p:sp>
      <p:sp>
        <p:nvSpPr>
          <p:cNvPr id="10" name="Text 8"/>
          <p:cNvSpPr/>
          <p:nvPr/>
        </p:nvSpPr>
        <p:spPr>
          <a:xfrm>
            <a:off x="4489704" y="2788920"/>
            <a:ext cx="320954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קוראים ובודקים</a:t>
            </a:r>
            <a:endParaRPr lang="en-US" sz="1250" dirty="0"/>
          </a:p>
        </p:txBody>
      </p:sp>
      <p:sp>
        <p:nvSpPr>
          <p:cNvPr id="11" name="Shape 9"/>
          <p:cNvSpPr/>
          <p:nvPr/>
        </p:nvSpPr>
        <p:spPr>
          <a:xfrm>
            <a:off x="3977640" y="2743200"/>
            <a:ext cx="347472" cy="0"/>
          </a:xfrm>
          <a:prstGeom prst="line">
            <a:avLst/>
          </a:prstGeom>
          <a:noFill/>
          <a:ln w="38100">
            <a:solidFill>
              <a:srgbClr val="3B3B98"/>
            </a:solidFill>
            <a:prstDash val="solid"/>
            <a:headEnd type="triangle"/>
          </a:ln>
        </p:spPr>
      </p:sp>
      <p:sp>
        <p:nvSpPr>
          <p:cNvPr id="12" name="Shape 10"/>
          <p:cNvSpPr/>
          <p:nvPr/>
        </p:nvSpPr>
        <p:spPr>
          <a:xfrm>
            <a:off x="548640" y="2103120"/>
            <a:ext cx="3392424" cy="1280160"/>
          </a:xfrm>
          <a:prstGeom prst="roundRect">
            <a:avLst>
              <a:gd name="adj" fmla="val 6429"/>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640080" y="2359152"/>
            <a:ext cx="3209544" cy="36576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שיפור</a:t>
            </a:r>
            <a:endParaRPr lang="en-US" sz="1600" dirty="0"/>
          </a:p>
        </p:txBody>
      </p:sp>
      <p:sp>
        <p:nvSpPr>
          <p:cNvPr id="14" name="Text 12"/>
          <p:cNvSpPr/>
          <p:nvPr/>
        </p:nvSpPr>
        <p:spPr>
          <a:xfrm>
            <a:off x="640080" y="2788920"/>
            <a:ext cx="320954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מוסיפים מה שחסר</a:t>
            </a:r>
            <a:endParaRPr lang="en-US" sz="1250" dirty="0"/>
          </a:p>
        </p:txBody>
      </p:sp>
      <p:sp>
        <p:nvSpPr>
          <p:cNvPr id="15" name="Shape 13"/>
          <p:cNvSpPr/>
          <p:nvPr/>
        </p:nvSpPr>
        <p:spPr>
          <a:xfrm>
            <a:off x="548640" y="374904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16" name="Text 14"/>
          <p:cNvSpPr/>
          <p:nvPr/>
        </p:nvSpPr>
        <p:spPr>
          <a:xfrm>
            <a:off x="868680" y="393192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פרומפט מושלם מהניסיון הראשון הוא נדיר. שיחה של 2-3 סבבים היא הנורמה — ולרוב מהירה מלכתוב הכול לבד.</a:t>
            </a:r>
            <a:endParaRPr lang="en-US" sz="1600" dirty="0"/>
          </a:p>
        </p:txBody>
      </p:sp>
      <p:sp>
        <p:nvSpPr>
          <p:cNvPr id="17" name="Text 15"/>
          <p:cNvSpPr/>
          <p:nvPr/>
        </p:nvSpPr>
        <p:spPr>
          <a:xfrm>
            <a:off x="548640" y="484632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בשקף הבא: דוגמה מלאה לאיטרציה בפועל.</a:t>
            </a:r>
            <a:endParaRPr lang="en-US" sz="14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12 / 35</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איטרציה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דוגמה — שלושה סבבים</a:t>
            </a:r>
            <a:endParaRPr lang="en-US" sz="3300" dirty="0"/>
          </a:p>
        </p:txBody>
      </p:sp>
      <p:sp>
        <p:nvSpPr>
          <p:cNvPr id="4" name="Shape 2"/>
          <p:cNvSpPr/>
          <p:nvPr/>
        </p:nvSpPr>
        <p:spPr>
          <a:xfrm>
            <a:off x="548640" y="1737360"/>
            <a:ext cx="1371600" cy="1051560"/>
          </a:xfrm>
          <a:prstGeom prst="roundRect">
            <a:avLst>
              <a:gd name="adj" fmla="val 6957"/>
            </a:avLst>
          </a:prstGeom>
          <a:solidFill>
            <a:srgbClr val="3B3B98"/>
          </a:solidFill>
          <a:ln/>
        </p:spPr>
      </p:sp>
      <p:sp>
        <p:nvSpPr>
          <p:cNvPr id="5" name="Text 3"/>
          <p:cNvSpPr/>
          <p:nvPr/>
        </p:nvSpPr>
        <p:spPr>
          <a:xfrm>
            <a:off x="548640" y="1737360"/>
            <a:ext cx="1371600" cy="1051560"/>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סבב 1</a:t>
            </a:r>
            <a:endParaRPr lang="en-US" sz="1500" dirty="0"/>
          </a:p>
        </p:txBody>
      </p:sp>
      <p:sp>
        <p:nvSpPr>
          <p:cNvPr id="6" name="Shape 4"/>
          <p:cNvSpPr/>
          <p:nvPr/>
        </p:nvSpPr>
        <p:spPr>
          <a:xfrm>
            <a:off x="2057400" y="1737360"/>
            <a:ext cx="9582912" cy="1051560"/>
          </a:xfrm>
          <a:prstGeom prst="roundRect">
            <a:avLst>
              <a:gd name="adj" fmla="val 6957"/>
            </a:avLst>
          </a:prstGeom>
          <a:solidFill>
            <a:srgbClr val="1B1B2B"/>
          </a:solidFill>
          <a:ln/>
          <a:effectLst>
            <a:outerShdw sx="100000" sy="100000" kx="0" ky="0" algn="bl" rotWithShape="0" blurRad="76200" dist="25400" dir="5400000">
              <a:srgbClr val="999999">
                <a:alpha val="28000"/>
              </a:srgbClr>
            </a:outerShdw>
          </a:effectLst>
        </p:spPr>
      </p:sp>
      <p:sp>
        <p:nvSpPr>
          <p:cNvPr id="7" name="Text 5"/>
          <p:cNvSpPr/>
          <p:nvPr/>
        </p:nvSpPr>
        <p:spPr>
          <a:xfrm>
            <a:off x="2286000" y="1828800"/>
            <a:ext cx="9171432" cy="457200"/>
          </a:xfrm>
          <a:prstGeom prst="rect">
            <a:avLst/>
          </a:prstGeom>
          <a:noFill/>
          <a:ln/>
        </p:spPr>
        <p:txBody>
          <a:bodyPr wrap="square" rtlCol="0" anchor="ctr"/>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שממיינת רשימת מספרים”</a:t>
            </a:r>
            <a:endParaRPr lang="en-US" sz="1300" dirty="0"/>
          </a:p>
        </p:txBody>
      </p:sp>
      <p:sp>
        <p:nvSpPr>
          <p:cNvPr id="8" name="Text 6"/>
          <p:cNvSpPr/>
          <p:nvPr/>
        </p:nvSpPr>
        <p:spPr>
          <a:xfrm>
            <a:off x="2286000" y="2286000"/>
            <a:ext cx="9171432" cy="457200"/>
          </a:xfrm>
          <a:prstGeom prst="rect">
            <a:avLst/>
          </a:prstGeom>
          <a:noFill/>
          <a:ln/>
        </p:spPr>
        <p:txBody>
          <a:bodyPr wrap="square" rtlCol="0" anchor="t"/>
          <a:lstStyle/>
          <a:p>
            <a:pPr rtl="1" algn="r" indent="0" marL="0">
              <a:buNone/>
            </a:pPr>
            <a:r>
              <a:rPr lang="en-US" sz="1200" i="1" dirty="0">
                <a:solidFill>
                  <a:srgbClr val="F0C674"/>
                </a:solidFill>
                <a:latin typeface="Arial" pitchFamily="34" charset="0"/>
                <a:ea typeface="Arial" pitchFamily="34" charset="-122"/>
                <a:cs typeface="Arial" pitchFamily="34" charset="-120"/>
              </a:rPr>
              <a:t>עובד, אבל: לא ברור אם עולה/יורד, לא מטפל ברשימה ריקה</a:t>
            </a:r>
            <a:endParaRPr lang="en-US" sz="1200" dirty="0"/>
          </a:p>
        </p:txBody>
      </p:sp>
      <p:sp>
        <p:nvSpPr>
          <p:cNvPr id="9" name="Shape 7"/>
          <p:cNvSpPr/>
          <p:nvPr/>
        </p:nvSpPr>
        <p:spPr>
          <a:xfrm>
            <a:off x="548640" y="2971800"/>
            <a:ext cx="1371600" cy="1051560"/>
          </a:xfrm>
          <a:prstGeom prst="roundRect">
            <a:avLst>
              <a:gd name="adj" fmla="val 6957"/>
            </a:avLst>
          </a:prstGeom>
          <a:solidFill>
            <a:srgbClr val="3B3B98"/>
          </a:solidFill>
          <a:ln/>
        </p:spPr>
      </p:sp>
      <p:sp>
        <p:nvSpPr>
          <p:cNvPr id="10" name="Text 8"/>
          <p:cNvSpPr/>
          <p:nvPr/>
        </p:nvSpPr>
        <p:spPr>
          <a:xfrm>
            <a:off x="548640" y="2971800"/>
            <a:ext cx="1371600" cy="1051560"/>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סבב 2</a:t>
            </a:r>
            <a:endParaRPr lang="en-US" sz="1500" dirty="0"/>
          </a:p>
        </p:txBody>
      </p:sp>
      <p:sp>
        <p:nvSpPr>
          <p:cNvPr id="11" name="Shape 9"/>
          <p:cNvSpPr/>
          <p:nvPr/>
        </p:nvSpPr>
        <p:spPr>
          <a:xfrm>
            <a:off x="2057400" y="2971800"/>
            <a:ext cx="9582912" cy="1051560"/>
          </a:xfrm>
          <a:prstGeom prst="roundRect">
            <a:avLst>
              <a:gd name="adj" fmla="val 6957"/>
            </a:avLst>
          </a:prstGeom>
          <a:solidFill>
            <a:srgbClr val="1B1B2B"/>
          </a:solidFill>
          <a:ln/>
          <a:effectLst>
            <a:outerShdw sx="100000" sy="100000" kx="0" ky="0" algn="bl" rotWithShape="0" blurRad="76200" dist="25400" dir="5400000">
              <a:srgbClr val="999999">
                <a:alpha val="28000"/>
              </a:srgbClr>
            </a:outerShdw>
          </a:effectLst>
        </p:spPr>
      </p:sp>
      <p:sp>
        <p:nvSpPr>
          <p:cNvPr id="12" name="Text 10"/>
          <p:cNvSpPr/>
          <p:nvPr/>
        </p:nvSpPr>
        <p:spPr>
          <a:xfrm>
            <a:off x="2286000" y="3063240"/>
            <a:ext cx="9171432" cy="457200"/>
          </a:xfrm>
          <a:prstGeom prst="rect">
            <a:avLst/>
          </a:prstGeom>
          <a:noFill/>
          <a:ln/>
        </p:spPr>
        <p:txBody>
          <a:bodyPr wrap="square" rtlCol="0" anchor="ctr"/>
          <a:lstStyle/>
          <a:p>
            <a:pPr rtl="1" algn="r" indent="0" marL="0">
              <a:buNone/>
            </a:pPr>
            <a:r>
              <a:rPr lang="en-US" sz="1300" dirty="0">
                <a:solidFill>
                  <a:srgbClr val="E8E8F0"/>
                </a:solidFill>
                <a:latin typeface="Arial" pitchFamily="34" charset="0"/>
                <a:ea typeface="Arial" pitchFamily="34" charset="-122"/>
                <a:cs typeface="Arial" pitchFamily="34" charset="-120"/>
              </a:rPr>
              <a:t>“...ממיינת מהקטן לגדול, ומחזירה [] אם הרשימה ריקה”</a:t>
            </a:r>
            <a:endParaRPr lang="en-US" sz="1300" dirty="0"/>
          </a:p>
        </p:txBody>
      </p:sp>
      <p:sp>
        <p:nvSpPr>
          <p:cNvPr id="13" name="Text 11"/>
          <p:cNvSpPr/>
          <p:nvPr/>
        </p:nvSpPr>
        <p:spPr>
          <a:xfrm>
            <a:off x="2286000" y="3520440"/>
            <a:ext cx="9171432" cy="457200"/>
          </a:xfrm>
          <a:prstGeom prst="rect">
            <a:avLst/>
          </a:prstGeom>
          <a:noFill/>
          <a:ln/>
        </p:spPr>
        <p:txBody>
          <a:bodyPr wrap="square" rtlCol="0" anchor="t"/>
          <a:lstStyle/>
          <a:p>
            <a:pPr rtl="1" algn="r" indent="0" marL="0">
              <a:buNone/>
            </a:pPr>
            <a:r>
              <a:rPr lang="en-US" sz="1200" i="1" dirty="0">
                <a:solidFill>
                  <a:srgbClr val="F0C674"/>
                </a:solidFill>
                <a:latin typeface="Arial" pitchFamily="34" charset="0"/>
                <a:ea typeface="Arial" pitchFamily="34" charset="-122"/>
                <a:cs typeface="Arial" pitchFamily="34" charset="-120"/>
              </a:rPr>
              <a:t>טוב יותר — אך בלי טיפול בקלט שאינו רשימה</a:t>
            </a:r>
            <a:endParaRPr lang="en-US" sz="1200" dirty="0"/>
          </a:p>
        </p:txBody>
      </p:sp>
      <p:sp>
        <p:nvSpPr>
          <p:cNvPr id="14" name="Shape 12"/>
          <p:cNvSpPr/>
          <p:nvPr/>
        </p:nvSpPr>
        <p:spPr>
          <a:xfrm>
            <a:off x="548640" y="4206240"/>
            <a:ext cx="1371600" cy="1051560"/>
          </a:xfrm>
          <a:prstGeom prst="roundRect">
            <a:avLst>
              <a:gd name="adj" fmla="val 6957"/>
            </a:avLst>
          </a:prstGeom>
          <a:solidFill>
            <a:srgbClr val="0E9AA7"/>
          </a:solidFill>
          <a:ln/>
        </p:spPr>
      </p:sp>
      <p:sp>
        <p:nvSpPr>
          <p:cNvPr id="15" name="Text 13"/>
          <p:cNvSpPr/>
          <p:nvPr/>
        </p:nvSpPr>
        <p:spPr>
          <a:xfrm>
            <a:off x="548640" y="4206240"/>
            <a:ext cx="1371600" cy="1051560"/>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סבב 3</a:t>
            </a:r>
            <a:endParaRPr lang="en-US" sz="1500" dirty="0"/>
          </a:p>
        </p:txBody>
      </p:sp>
      <p:sp>
        <p:nvSpPr>
          <p:cNvPr id="16" name="Shape 14"/>
          <p:cNvSpPr/>
          <p:nvPr/>
        </p:nvSpPr>
        <p:spPr>
          <a:xfrm>
            <a:off x="2057400" y="4206240"/>
            <a:ext cx="9582912" cy="1051560"/>
          </a:xfrm>
          <a:prstGeom prst="roundRect">
            <a:avLst>
              <a:gd name="adj" fmla="val 6957"/>
            </a:avLst>
          </a:prstGeom>
          <a:solidFill>
            <a:srgbClr val="1B1B2B"/>
          </a:solidFill>
          <a:ln/>
          <a:effectLst>
            <a:outerShdw sx="100000" sy="100000" kx="0" ky="0" algn="bl" rotWithShape="0" blurRad="76200" dist="25400" dir="5400000">
              <a:srgbClr val="999999">
                <a:alpha val="28000"/>
              </a:srgbClr>
            </a:outerShdw>
          </a:effectLst>
        </p:spPr>
      </p:sp>
      <p:sp>
        <p:nvSpPr>
          <p:cNvPr id="17" name="Text 15"/>
          <p:cNvSpPr/>
          <p:nvPr/>
        </p:nvSpPr>
        <p:spPr>
          <a:xfrm>
            <a:off x="2286000" y="4297680"/>
            <a:ext cx="9171432" cy="457200"/>
          </a:xfrm>
          <a:prstGeom prst="rect">
            <a:avLst/>
          </a:prstGeom>
          <a:noFill/>
          <a:ln/>
        </p:spPr>
        <p:txBody>
          <a:bodyPr wrap="square" rtlCol="0" anchor="ctr"/>
          <a:lstStyle/>
          <a:p>
            <a:pPr rtl="1" algn="r" indent="0" marL="0">
              <a:buNone/>
            </a:pPr>
            <a:r>
              <a:rPr lang="en-US" sz="1300" dirty="0">
                <a:solidFill>
                  <a:srgbClr val="E8E8F0"/>
                </a:solidFill>
                <a:latin typeface="Arial" pitchFamily="34" charset="0"/>
                <a:ea typeface="Arial" pitchFamily="34" charset="-122"/>
                <a:cs typeface="Arial" pitchFamily="34" charset="-120"/>
              </a:rPr>
              <a:t>“...ותזרוק שגיאה ברורה אם הקלט אינו רשימה”</a:t>
            </a:r>
            <a:endParaRPr lang="en-US" sz="1300" dirty="0"/>
          </a:p>
        </p:txBody>
      </p:sp>
      <p:sp>
        <p:nvSpPr>
          <p:cNvPr id="18" name="Text 16"/>
          <p:cNvSpPr/>
          <p:nvPr/>
        </p:nvSpPr>
        <p:spPr>
          <a:xfrm>
            <a:off x="2286000" y="4754880"/>
            <a:ext cx="9171432" cy="457200"/>
          </a:xfrm>
          <a:prstGeom prst="rect">
            <a:avLst/>
          </a:prstGeom>
          <a:noFill/>
          <a:ln/>
        </p:spPr>
        <p:txBody>
          <a:bodyPr wrap="square" rtlCol="0" anchor="t"/>
          <a:lstStyle/>
          <a:p>
            <a:pPr rtl="1" algn="r" indent="0" marL="0">
              <a:buNone/>
            </a:pPr>
            <a:r>
              <a:rPr lang="en-US" sz="1200" i="1" dirty="0">
                <a:solidFill>
                  <a:srgbClr val="82E0AA"/>
                </a:solidFill>
                <a:latin typeface="Arial" pitchFamily="34" charset="0"/>
                <a:ea typeface="Arial" pitchFamily="34" charset="-122"/>
                <a:cs typeface="Arial" pitchFamily="34" charset="-120"/>
              </a:rPr>
              <a:t>מוכן — כל המקרים מכוסים</a:t>
            </a:r>
            <a:endParaRPr lang="en-US" sz="1200" dirty="0"/>
          </a:p>
        </p:txBody>
      </p:sp>
      <p:sp>
        <p:nvSpPr>
          <p:cNvPr id="19" name="Text 17"/>
          <p:cNvSpPr/>
          <p:nvPr/>
        </p:nvSpPr>
        <p:spPr>
          <a:xfrm>
            <a:off x="548640" y="5623560"/>
            <a:ext cx="11091672" cy="365760"/>
          </a:xfrm>
          <a:prstGeom prst="rect">
            <a:avLst/>
          </a:prstGeom>
          <a:noFill/>
          <a:ln/>
        </p:spPr>
        <p:txBody>
          <a:bodyPr wrap="square" rtlCol="0" anchor="t"/>
          <a:lstStyle/>
          <a:p>
            <a:pPr rtl="1" algn="r" indent="0" marL="0">
              <a:buNone/>
            </a:pPr>
            <a:r>
              <a:rPr lang="en-US" sz="1300" i="1" dirty="0">
                <a:solidFill>
                  <a:srgbClr val="6B6B80"/>
                </a:solidFill>
                <a:latin typeface="Arial" pitchFamily="34" charset="0"/>
                <a:ea typeface="Arial" pitchFamily="34" charset="-122"/>
                <a:cs typeface="Arial" pitchFamily="34" charset="-120"/>
              </a:rPr>
              <a:t>כל סבב מוסיף בדיוק את מה שהתגלה כחסר — לא כותבים הכול מראש ולא מנחשים.</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13 / 35</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טכניקה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Few-shot — ללמד דרך דוגמאות</a:t>
            </a:r>
            <a:endParaRPr lang="en-US" sz="3300" dirty="0"/>
          </a:p>
        </p:txBody>
      </p:sp>
      <p:sp>
        <p:nvSpPr>
          <p:cNvPr id="4" name="Shape 2"/>
          <p:cNvSpPr/>
          <p:nvPr/>
        </p:nvSpPr>
        <p:spPr>
          <a:xfrm>
            <a:off x="548640" y="1783080"/>
            <a:ext cx="11091672" cy="1188720"/>
          </a:xfrm>
          <a:prstGeom prst="roundRect">
            <a:avLst>
              <a:gd name="adj" fmla="val 7692"/>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82296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במקום להסביר במילים איך אתם רוצים משהו — פשוט תראו למודל 1-3 דוגמאות של “קלט → פלט”, והוא ילמד את הדפוס ויחזור עליו. לפעמים דוגמה שווה יותר מפסקה של הסבר.</a:t>
            </a:r>
            <a:endParaRPr lang="en-US" sz="1750" dirty="0"/>
          </a:p>
        </p:txBody>
      </p:sp>
      <p:sp>
        <p:nvSpPr>
          <p:cNvPr id="6" name="Shape 4"/>
          <p:cNvSpPr/>
          <p:nvPr/>
        </p:nvSpPr>
        <p:spPr>
          <a:xfrm>
            <a:off x="8125968" y="3291840"/>
            <a:ext cx="351434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8263128" y="3547872"/>
            <a:ext cx="3240024"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Zero-shot</a:t>
            </a:r>
            <a:endParaRPr lang="en-US" sz="1500" dirty="0"/>
          </a:p>
        </p:txBody>
      </p:sp>
      <p:sp>
        <p:nvSpPr>
          <p:cNvPr id="8" name="Text 6"/>
          <p:cNvSpPr/>
          <p:nvPr/>
        </p:nvSpPr>
        <p:spPr>
          <a:xfrm>
            <a:off x="8263128" y="4005072"/>
            <a:ext cx="324002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בלי דוגמאות — רק הבקשה</a:t>
            </a:r>
            <a:endParaRPr lang="en-US" sz="1250" dirty="0"/>
          </a:p>
        </p:txBody>
      </p:sp>
      <p:sp>
        <p:nvSpPr>
          <p:cNvPr id="9" name="Shape 7"/>
          <p:cNvSpPr/>
          <p:nvPr/>
        </p:nvSpPr>
        <p:spPr>
          <a:xfrm>
            <a:off x="4337304" y="3291840"/>
            <a:ext cx="3514344" cy="1280160"/>
          </a:xfrm>
          <a:prstGeom prst="roundRect">
            <a:avLst>
              <a:gd name="adj" fmla="val 6429"/>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4474464" y="3547872"/>
            <a:ext cx="3240024"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One-shot</a:t>
            </a:r>
            <a:endParaRPr lang="en-US" sz="1500" dirty="0"/>
          </a:p>
        </p:txBody>
      </p:sp>
      <p:sp>
        <p:nvSpPr>
          <p:cNvPr id="11" name="Text 9"/>
          <p:cNvSpPr/>
          <p:nvPr/>
        </p:nvSpPr>
        <p:spPr>
          <a:xfrm>
            <a:off x="4474464" y="4005072"/>
            <a:ext cx="324002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דוגמה אחת</a:t>
            </a:r>
            <a:endParaRPr lang="en-US" sz="1250" dirty="0"/>
          </a:p>
        </p:txBody>
      </p:sp>
      <p:sp>
        <p:nvSpPr>
          <p:cNvPr id="12" name="Shape 10"/>
          <p:cNvSpPr/>
          <p:nvPr/>
        </p:nvSpPr>
        <p:spPr>
          <a:xfrm>
            <a:off x="548640" y="3291840"/>
            <a:ext cx="3514344" cy="1280160"/>
          </a:xfrm>
          <a:prstGeom prst="roundRect">
            <a:avLst>
              <a:gd name="adj" fmla="val 6429"/>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685800" y="3547872"/>
            <a:ext cx="3240024"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Few-shot</a:t>
            </a:r>
            <a:endParaRPr lang="en-US" sz="1500" dirty="0"/>
          </a:p>
        </p:txBody>
      </p:sp>
      <p:sp>
        <p:nvSpPr>
          <p:cNvPr id="14" name="Text 12"/>
          <p:cNvSpPr/>
          <p:nvPr/>
        </p:nvSpPr>
        <p:spPr>
          <a:xfrm>
            <a:off x="685800" y="4005072"/>
            <a:ext cx="3240024" cy="4572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2-3 דוגמאות → הכי מדויק</a:t>
            </a:r>
            <a:endParaRPr lang="en-US" sz="125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14 / 35</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Few-shot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דוגמה מוחשית</a:t>
            </a:r>
            <a:endParaRPr lang="en-US" sz="3300" dirty="0"/>
          </a:p>
        </p:txBody>
      </p:sp>
      <p:sp>
        <p:nvSpPr>
          <p:cNvPr id="4" name="Shape 2"/>
          <p:cNvSpPr/>
          <p:nvPr/>
        </p:nvSpPr>
        <p:spPr>
          <a:xfrm>
            <a:off x="548640" y="1737360"/>
            <a:ext cx="11091672" cy="3108960"/>
          </a:xfrm>
          <a:prstGeom prst="roundRect">
            <a:avLst>
              <a:gd name="adj" fmla="val 2353"/>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777240" y="187452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הפרומפט שלכם (עם 2 דוגמאות):</a:t>
            </a:r>
            <a:endParaRPr lang="en-US" sz="1250" dirty="0"/>
          </a:p>
        </p:txBody>
      </p:sp>
      <p:sp>
        <p:nvSpPr>
          <p:cNvPr id="6" name="Text 4"/>
          <p:cNvSpPr/>
          <p:nvPr/>
        </p:nvSpPr>
        <p:spPr>
          <a:xfrm>
            <a:off x="804672" y="2240280"/>
            <a:ext cx="10579608" cy="246888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המר שמות לפורמט של קבוע (UPPER_SNAKE):</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דוגמה 1:  “user name”  →  USER_NAME</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דוגמה 2:  “max retry count”  →  MAX_RETRY_COUNT</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עכשיו המר:  “default time out”  →  ?</a:t>
            </a:r>
            <a:endParaRPr lang="en-US" sz="1300" dirty="0"/>
          </a:p>
        </p:txBody>
      </p:sp>
      <p:sp>
        <p:nvSpPr>
          <p:cNvPr id="7" name="Text 5"/>
          <p:cNvSpPr/>
          <p:nvPr/>
        </p:nvSpPr>
        <p:spPr>
          <a:xfrm>
            <a:off x="548640" y="498348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המודל לומד מהדוגמאות שהפורמט הוא אותיות גדולות עם קו תחתון — ומחזיר DEFAULT_TIME_OUT.</a:t>
            </a:r>
            <a:endParaRPr lang="en-US" sz="1400" dirty="0"/>
          </a:p>
        </p:txBody>
      </p:sp>
      <p:sp>
        <p:nvSpPr>
          <p:cNvPr id="8" name="Text 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15 / 35</a:t>
            </a:r>
            <a:endParaRPr lang="en-US" sz="950" dirty="0"/>
          </a:p>
        </p:txBody>
      </p:sp>
      <p:sp>
        <p:nvSpPr>
          <p:cNvPr id="9" name="Text 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משימות גדולות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למה לפרק לצעדים</a:t>
            </a:r>
            <a:endParaRPr lang="en-US" sz="3300" dirty="0"/>
          </a:p>
        </p:txBody>
      </p:sp>
      <p:sp>
        <p:nvSpPr>
          <p:cNvPr id="4" name="Shape 2"/>
          <p:cNvSpPr/>
          <p:nvPr/>
        </p:nvSpPr>
        <p:spPr>
          <a:xfrm>
            <a:off x="548640" y="1783080"/>
            <a:ext cx="11091672" cy="1188720"/>
          </a:xfrm>
          <a:prstGeom prst="roundRect">
            <a:avLst>
              <a:gd name="adj" fmla="val 7692"/>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822960"/>
          </a:xfrm>
          <a:prstGeom prst="rect">
            <a:avLst/>
          </a:prstGeom>
          <a:noFill/>
          <a:ln/>
        </p:spPr>
        <p:txBody>
          <a:bodyPr wrap="square" rtlCol="0" anchor="ctr"/>
          <a:lstStyle/>
          <a:p>
            <a:pPr rtl="1" algn="r" indent="0" marL="0">
              <a:buNone/>
            </a:pPr>
            <a:r>
              <a:rPr lang="en-US" sz="1750" b="1" dirty="0">
                <a:solidFill>
                  <a:srgbClr val="FFFFFF"/>
                </a:solidFill>
                <a:latin typeface="Arial" pitchFamily="34" charset="0"/>
                <a:ea typeface="Arial" pitchFamily="34" charset="-122"/>
                <a:cs typeface="Arial" pitchFamily="34" charset="-120"/>
              </a:rPr>
              <a:t>בקשה ענקית כמו “תבנה לי אפליקציה” מפילה את המודל: יותר מדי החלטות בבת אחת → קוד חלקי, שגיאות, והזיות. הפתרון: לפרק לצעדים קטנים ולבקש אותם אחד-אחד.</a:t>
            </a:r>
            <a:endParaRPr lang="en-US" sz="1750" dirty="0"/>
          </a:p>
        </p:txBody>
      </p:sp>
      <p:sp>
        <p:nvSpPr>
          <p:cNvPr id="6" name="Shape 4"/>
          <p:cNvSpPr/>
          <p:nvPr/>
        </p:nvSpPr>
        <p:spPr>
          <a:xfrm>
            <a:off x="6277356" y="329184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7" name="Text 5"/>
          <p:cNvSpPr/>
          <p:nvPr/>
        </p:nvSpPr>
        <p:spPr>
          <a:xfrm>
            <a:off x="6505956" y="342900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בקשה אחת ענקית</a:t>
            </a:r>
            <a:endParaRPr lang="en-US" sz="1250" dirty="0"/>
          </a:p>
        </p:txBody>
      </p:sp>
      <p:sp>
        <p:nvSpPr>
          <p:cNvPr id="8" name="Text 6"/>
          <p:cNvSpPr/>
          <p:nvPr/>
        </p:nvSpPr>
        <p:spPr>
          <a:xfrm>
            <a:off x="6533388" y="379476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“תבנה אפליקציית ניהול מטלות מלאה”</a:t>
            </a:r>
            <a:endParaRPr lang="en-US" sz="1300" dirty="0"/>
          </a:p>
        </p:txBody>
      </p:sp>
      <p:sp>
        <p:nvSpPr>
          <p:cNvPr id="9" name="Shape 7"/>
          <p:cNvSpPr/>
          <p:nvPr/>
        </p:nvSpPr>
        <p:spPr>
          <a:xfrm>
            <a:off x="548640" y="3291840"/>
            <a:ext cx="5362956"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10" name="Text 8"/>
          <p:cNvSpPr/>
          <p:nvPr/>
        </p:nvSpPr>
        <p:spPr>
          <a:xfrm>
            <a:off x="777240" y="342900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מפורק לצעדים</a:t>
            </a:r>
            <a:endParaRPr lang="en-US" sz="1250" dirty="0"/>
          </a:p>
        </p:txBody>
      </p:sp>
      <p:sp>
        <p:nvSpPr>
          <p:cNvPr id="11" name="Text 9"/>
          <p:cNvSpPr/>
          <p:nvPr/>
        </p:nvSpPr>
        <p:spPr>
          <a:xfrm>
            <a:off x="804672" y="3794760"/>
            <a:ext cx="4850892" cy="8229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1) מבנה נתונים למטלה</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2) פונקציית הוספה</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3) פונקציית הצגה</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4) לחבר יחד</a:t>
            </a:r>
            <a:endParaRPr lang="en-US" sz="13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16 / 35</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איך מפרקים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מבקשים צעד — בודקים — ממשיכים</a:t>
            </a:r>
            <a:endParaRPr lang="en-US" sz="3300" dirty="0"/>
          </a:p>
        </p:txBody>
      </p:sp>
      <p:sp>
        <p:nvSpPr>
          <p:cNvPr id="4" name="Shape 2"/>
          <p:cNvSpPr/>
          <p:nvPr/>
        </p:nvSpPr>
        <p:spPr>
          <a:xfrm>
            <a:off x="9141714" y="2103120"/>
            <a:ext cx="2498598"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9233154" y="2340864"/>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מפרקים</a:t>
            </a:r>
            <a:endParaRPr lang="en-US" sz="1450" dirty="0"/>
          </a:p>
        </p:txBody>
      </p:sp>
      <p:sp>
        <p:nvSpPr>
          <p:cNvPr id="6" name="Text 4"/>
          <p:cNvSpPr/>
          <p:nvPr/>
        </p:nvSpPr>
        <p:spPr>
          <a:xfrm>
            <a:off x="9233154"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רשימת צעדים קטנים</a:t>
            </a:r>
            <a:endParaRPr lang="en-US" sz="1200" dirty="0"/>
          </a:p>
        </p:txBody>
      </p:sp>
      <p:sp>
        <p:nvSpPr>
          <p:cNvPr id="7" name="Shape 5"/>
          <p:cNvSpPr/>
          <p:nvPr/>
        </p:nvSpPr>
        <p:spPr>
          <a:xfrm>
            <a:off x="8803386" y="2720340"/>
            <a:ext cx="274320" cy="0"/>
          </a:xfrm>
          <a:prstGeom prst="line">
            <a:avLst/>
          </a:prstGeom>
          <a:noFill/>
          <a:ln w="31750">
            <a:solidFill>
              <a:srgbClr val="3B3B98"/>
            </a:solidFill>
            <a:prstDash val="solid"/>
            <a:headEnd type="triangle"/>
          </a:ln>
        </p:spPr>
      </p:sp>
      <p:sp>
        <p:nvSpPr>
          <p:cNvPr id="8" name="Shape 6"/>
          <p:cNvSpPr/>
          <p:nvPr/>
        </p:nvSpPr>
        <p:spPr>
          <a:xfrm>
            <a:off x="6277356" y="2103120"/>
            <a:ext cx="2498598"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368796" y="2340864"/>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מבקשים צעד</a:t>
            </a:r>
            <a:endParaRPr lang="en-US" sz="1450" dirty="0"/>
          </a:p>
        </p:txBody>
      </p:sp>
      <p:sp>
        <p:nvSpPr>
          <p:cNvPr id="10" name="Text 8"/>
          <p:cNvSpPr/>
          <p:nvPr/>
        </p:nvSpPr>
        <p:spPr>
          <a:xfrm>
            <a:off x="6368796"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אחד בכל פעם</a:t>
            </a:r>
            <a:endParaRPr lang="en-US" sz="1200" dirty="0"/>
          </a:p>
        </p:txBody>
      </p:sp>
      <p:sp>
        <p:nvSpPr>
          <p:cNvPr id="11" name="Shape 9"/>
          <p:cNvSpPr/>
          <p:nvPr/>
        </p:nvSpPr>
        <p:spPr>
          <a:xfrm>
            <a:off x="5939028" y="2720340"/>
            <a:ext cx="274320" cy="0"/>
          </a:xfrm>
          <a:prstGeom prst="line">
            <a:avLst/>
          </a:prstGeom>
          <a:noFill/>
          <a:ln w="31750">
            <a:solidFill>
              <a:srgbClr val="3B3B98"/>
            </a:solidFill>
            <a:prstDash val="solid"/>
            <a:headEnd type="triangle"/>
          </a:ln>
        </p:spPr>
      </p:sp>
      <p:sp>
        <p:nvSpPr>
          <p:cNvPr id="12" name="Shape 10"/>
          <p:cNvSpPr/>
          <p:nvPr/>
        </p:nvSpPr>
        <p:spPr>
          <a:xfrm>
            <a:off x="3412998" y="2103120"/>
            <a:ext cx="2498598" cy="1234440"/>
          </a:xfrm>
          <a:prstGeom prst="roundRect">
            <a:avLst>
              <a:gd name="adj" fmla="val 6667"/>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3504438" y="2340864"/>
            <a:ext cx="2315718" cy="365760"/>
          </a:xfrm>
          <a:prstGeom prst="rect">
            <a:avLst/>
          </a:prstGeom>
          <a:noFill/>
          <a:ln/>
        </p:spPr>
        <p:txBody>
          <a:bodyPr wrap="square" rtlCol="0" anchor="t"/>
          <a:lstStyle/>
          <a:p>
            <a:pPr rtl="1" algn="ctr" indent="0" marL="0">
              <a:buNone/>
            </a:pPr>
            <a:r>
              <a:rPr lang="en-US" sz="1450" b="1" dirty="0">
                <a:solidFill>
                  <a:srgbClr val="0E9AA7"/>
                </a:solidFill>
                <a:latin typeface="Arial" pitchFamily="34" charset="0"/>
                <a:ea typeface="Arial" pitchFamily="34" charset="-122"/>
                <a:cs typeface="Arial" pitchFamily="34" charset="-120"/>
              </a:rPr>
              <a:t>בודקים</a:t>
            </a:r>
            <a:endParaRPr lang="en-US" sz="1450" dirty="0"/>
          </a:p>
        </p:txBody>
      </p:sp>
      <p:sp>
        <p:nvSpPr>
          <p:cNvPr id="14" name="Text 12"/>
          <p:cNvSpPr/>
          <p:nvPr/>
        </p:nvSpPr>
        <p:spPr>
          <a:xfrm>
            <a:off x="3504438"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מריצים ומאמתים</a:t>
            </a:r>
            <a:endParaRPr lang="en-US" sz="1200" dirty="0"/>
          </a:p>
        </p:txBody>
      </p:sp>
      <p:sp>
        <p:nvSpPr>
          <p:cNvPr id="15" name="Shape 13"/>
          <p:cNvSpPr/>
          <p:nvPr/>
        </p:nvSpPr>
        <p:spPr>
          <a:xfrm>
            <a:off x="3074670" y="2720340"/>
            <a:ext cx="274320" cy="0"/>
          </a:xfrm>
          <a:prstGeom prst="line">
            <a:avLst/>
          </a:prstGeom>
          <a:noFill/>
          <a:ln w="31750">
            <a:solidFill>
              <a:srgbClr val="3B3B98"/>
            </a:solidFill>
            <a:prstDash val="solid"/>
            <a:headEnd type="triangle"/>
          </a:ln>
        </p:spPr>
      </p:sp>
      <p:sp>
        <p:nvSpPr>
          <p:cNvPr id="16" name="Shape 14"/>
          <p:cNvSpPr/>
          <p:nvPr/>
        </p:nvSpPr>
        <p:spPr>
          <a:xfrm>
            <a:off x="548640" y="2103120"/>
            <a:ext cx="2498598"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640080" y="2340864"/>
            <a:ext cx="2315718" cy="365760"/>
          </a:xfrm>
          <a:prstGeom prst="rect">
            <a:avLst/>
          </a:prstGeom>
          <a:noFill/>
          <a:ln/>
        </p:spPr>
        <p:txBody>
          <a:bodyPr wrap="square" rtlCol="0" anchor="t"/>
          <a:lstStyle/>
          <a:p>
            <a:pPr rtl="1" algn="ctr" indent="0" marL="0">
              <a:buNone/>
            </a:pPr>
            <a:r>
              <a:rPr lang="en-US" sz="1450" b="1" dirty="0">
                <a:solidFill>
                  <a:srgbClr val="1E2761"/>
                </a:solidFill>
                <a:latin typeface="Arial" pitchFamily="34" charset="0"/>
                <a:ea typeface="Arial" pitchFamily="34" charset="-122"/>
                <a:cs typeface="Arial" pitchFamily="34" charset="-120"/>
              </a:rPr>
              <a:t>מחברים</a:t>
            </a:r>
            <a:endParaRPr lang="en-US" sz="1450" dirty="0"/>
          </a:p>
        </p:txBody>
      </p:sp>
      <p:sp>
        <p:nvSpPr>
          <p:cNvPr id="18" name="Text 16"/>
          <p:cNvSpPr/>
          <p:nvPr/>
        </p:nvSpPr>
        <p:spPr>
          <a:xfrm>
            <a:off x="640080" y="2743200"/>
            <a:ext cx="2315718" cy="457200"/>
          </a:xfrm>
          <a:prstGeom prst="rect">
            <a:avLst/>
          </a:prstGeom>
          <a:noFill/>
          <a:ln/>
        </p:spPr>
        <p:txBody>
          <a:bodyPr wrap="square" rtlCol="0" anchor="t"/>
          <a:lstStyle/>
          <a:p>
            <a:pPr rtl="1" algn="ctr" indent="0" marL="0">
              <a:buNone/>
            </a:pPr>
            <a:r>
              <a:rPr lang="en-US" sz="1200" dirty="0">
                <a:solidFill>
                  <a:srgbClr val="222232"/>
                </a:solidFill>
                <a:latin typeface="Arial" pitchFamily="34" charset="0"/>
                <a:ea typeface="Arial" pitchFamily="34" charset="-122"/>
                <a:cs typeface="Arial" pitchFamily="34" charset="-120"/>
              </a:rPr>
              <a:t>צעד הבא / מרכיבים</a:t>
            </a:r>
            <a:endParaRPr lang="en-US" sz="1200" dirty="0"/>
          </a:p>
        </p:txBody>
      </p:sp>
      <p:sp>
        <p:nvSpPr>
          <p:cNvPr id="19" name="Shape 17"/>
          <p:cNvSpPr/>
          <p:nvPr/>
        </p:nvSpPr>
        <p:spPr>
          <a:xfrm>
            <a:off x="548640" y="411480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20" name="Text 18"/>
          <p:cNvSpPr/>
          <p:nvPr/>
        </p:nvSpPr>
        <p:spPr>
          <a:xfrm>
            <a:off x="868680" y="429768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יתרון נוסף: כשכל צעד קטן ונבדק, קל יותר לתפוס בדיוק איפה משהו השתבש — ולתקן רק אותו.</a:t>
            </a:r>
            <a:endParaRPr lang="en-US" sz="1600" dirty="0"/>
          </a:p>
        </p:txBody>
      </p:sp>
      <p:sp>
        <p:nvSpPr>
          <p:cNvPr id="21" name="Text 19"/>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17 / 35</a:t>
            </a:r>
            <a:endParaRPr lang="en-US" sz="950" dirty="0"/>
          </a:p>
        </p:txBody>
      </p:sp>
      <p:sp>
        <p:nvSpPr>
          <p:cNvPr id="22" name="Text 20"/>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פירוק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דוגמה — מבקשים צעד אחד בכל פעם</a:t>
            </a:r>
            <a:endParaRPr lang="en-US" sz="3300" dirty="0"/>
          </a:p>
        </p:txBody>
      </p:sp>
      <p:sp>
        <p:nvSpPr>
          <p:cNvPr id="4" name="Text 2"/>
          <p:cNvSpPr/>
          <p:nvPr/>
        </p:nvSpPr>
        <p:spPr>
          <a:xfrm>
            <a:off x="548640" y="1664208"/>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ממשיכים את דוגמת אפליקציית המטלות — כל צעד הוא פרומפט נפרד:</a:t>
            </a:r>
            <a:endParaRPr lang="en-US" sz="1400" dirty="0"/>
          </a:p>
        </p:txBody>
      </p:sp>
      <p:sp>
        <p:nvSpPr>
          <p:cNvPr id="5" name="Shape 3"/>
          <p:cNvSpPr/>
          <p:nvPr/>
        </p:nvSpPr>
        <p:spPr>
          <a:xfrm>
            <a:off x="11228832" y="2212848"/>
            <a:ext cx="365760" cy="365760"/>
          </a:xfrm>
          <a:prstGeom prst="ellipse">
            <a:avLst/>
          </a:prstGeom>
          <a:solidFill>
            <a:srgbClr val="3B3B98"/>
          </a:solidFill>
          <a:ln/>
        </p:spPr>
      </p:sp>
      <p:sp>
        <p:nvSpPr>
          <p:cNvPr id="6" name="Text 4"/>
          <p:cNvSpPr/>
          <p:nvPr/>
        </p:nvSpPr>
        <p:spPr>
          <a:xfrm>
            <a:off x="11228832" y="2212848"/>
            <a:ext cx="365760" cy="365760"/>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Shape 5"/>
          <p:cNvSpPr/>
          <p:nvPr/>
        </p:nvSpPr>
        <p:spPr>
          <a:xfrm>
            <a:off x="548640" y="2103120"/>
            <a:ext cx="10497312" cy="822960"/>
          </a:xfrm>
          <a:prstGeom prst="roundRect">
            <a:avLst>
              <a:gd name="adj" fmla="val 8889"/>
            </a:avLst>
          </a:prstGeom>
          <a:solidFill>
            <a:srgbClr val="1B1B2B"/>
          </a:solidFill>
          <a:ln/>
          <a:effectLst>
            <a:outerShdw sx="100000" sy="100000" kx="0" ky="0" algn="bl" rotWithShape="0" blurRad="76200" dist="25400" dir="5400000">
              <a:srgbClr val="999999">
                <a:alpha val="28000"/>
              </a:srgbClr>
            </a:outerShdw>
          </a:effectLst>
        </p:spPr>
      </p:sp>
      <p:sp>
        <p:nvSpPr>
          <p:cNvPr id="8" name="Text 6"/>
          <p:cNvSpPr/>
          <p:nvPr/>
        </p:nvSpPr>
        <p:spPr>
          <a:xfrm>
            <a:off x="822960" y="2103120"/>
            <a:ext cx="9948672" cy="822960"/>
          </a:xfrm>
          <a:prstGeom prst="rect">
            <a:avLst/>
          </a:prstGeom>
          <a:noFill/>
          <a:ln/>
        </p:spPr>
        <p:txBody>
          <a:bodyPr wrap="square" rtlCol="0" anchor="ctr"/>
          <a:lstStyle/>
          <a:p>
            <a:pPr rtl="1" algn="r" indent="0" marL="0">
              <a:buNone/>
            </a:pPr>
            <a:r>
              <a:rPr lang="en-US" sz="1350" dirty="0">
                <a:solidFill>
                  <a:srgbClr val="E8E8F0"/>
                </a:solidFill>
                <a:latin typeface="Arial" pitchFamily="34" charset="0"/>
                <a:ea typeface="Arial" pitchFamily="34" charset="-122"/>
                <a:cs typeface="Arial" pitchFamily="34" charset="-120"/>
              </a:rPr>
              <a:t>“כתוב מבנה נתונים (dict) שמייצג מטלה אחת: כותרת, האם הושלמה, תאריך יעד”</a:t>
            </a:r>
            <a:endParaRPr lang="en-US" sz="1350" dirty="0"/>
          </a:p>
        </p:txBody>
      </p:sp>
      <p:sp>
        <p:nvSpPr>
          <p:cNvPr id="9" name="Shape 7"/>
          <p:cNvSpPr/>
          <p:nvPr/>
        </p:nvSpPr>
        <p:spPr>
          <a:xfrm>
            <a:off x="11228832" y="3172968"/>
            <a:ext cx="365760" cy="365760"/>
          </a:xfrm>
          <a:prstGeom prst="ellipse">
            <a:avLst/>
          </a:prstGeom>
          <a:solidFill>
            <a:srgbClr val="3B3B98"/>
          </a:solidFill>
          <a:ln/>
        </p:spPr>
      </p:sp>
      <p:sp>
        <p:nvSpPr>
          <p:cNvPr id="10" name="Text 8"/>
          <p:cNvSpPr/>
          <p:nvPr/>
        </p:nvSpPr>
        <p:spPr>
          <a:xfrm>
            <a:off x="11228832" y="3172968"/>
            <a:ext cx="365760" cy="365760"/>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Shape 9"/>
          <p:cNvSpPr/>
          <p:nvPr/>
        </p:nvSpPr>
        <p:spPr>
          <a:xfrm>
            <a:off x="548640" y="3063240"/>
            <a:ext cx="10497312" cy="822960"/>
          </a:xfrm>
          <a:prstGeom prst="roundRect">
            <a:avLst>
              <a:gd name="adj" fmla="val 8889"/>
            </a:avLst>
          </a:prstGeom>
          <a:solidFill>
            <a:srgbClr val="1B1B2B"/>
          </a:solidFill>
          <a:ln/>
          <a:effectLst>
            <a:outerShdw sx="100000" sy="100000" kx="0" ky="0" algn="bl" rotWithShape="0" blurRad="76200" dist="25400" dir="5400000">
              <a:srgbClr val="999999">
                <a:alpha val="28000"/>
              </a:srgbClr>
            </a:outerShdw>
          </a:effectLst>
        </p:spPr>
      </p:sp>
      <p:sp>
        <p:nvSpPr>
          <p:cNvPr id="12" name="Text 10"/>
          <p:cNvSpPr/>
          <p:nvPr/>
        </p:nvSpPr>
        <p:spPr>
          <a:xfrm>
            <a:off x="822960" y="3063240"/>
            <a:ext cx="9948672" cy="822960"/>
          </a:xfrm>
          <a:prstGeom prst="rect">
            <a:avLst/>
          </a:prstGeom>
          <a:noFill/>
          <a:ln/>
        </p:spPr>
        <p:txBody>
          <a:bodyPr wrap="square" rtlCol="0" anchor="ctr"/>
          <a:lstStyle/>
          <a:p>
            <a:pPr rtl="1" algn="r" indent="0" marL="0">
              <a:buNone/>
            </a:pPr>
            <a:r>
              <a:rPr lang="en-US" sz="1350" dirty="0">
                <a:solidFill>
                  <a:srgbClr val="E8E8F0"/>
                </a:solidFill>
                <a:latin typeface="Arial" pitchFamily="34" charset="0"/>
                <a:ea typeface="Arial" pitchFamily="34" charset="-122"/>
                <a:cs typeface="Arial" pitchFamily="34" charset="-120"/>
              </a:rPr>
              <a:t>“עכשיו כתוב add_task(tasks, title, due_date) שמוסיפה מטלה לרשימה”</a:t>
            </a:r>
            <a:endParaRPr lang="en-US" sz="1350" dirty="0"/>
          </a:p>
        </p:txBody>
      </p:sp>
      <p:sp>
        <p:nvSpPr>
          <p:cNvPr id="13" name="Shape 11"/>
          <p:cNvSpPr/>
          <p:nvPr/>
        </p:nvSpPr>
        <p:spPr>
          <a:xfrm>
            <a:off x="11228832" y="4133088"/>
            <a:ext cx="365760" cy="365760"/>
          </a:xfrm>
          <a:prstGeom prst="ellipse">
            <a:avLst/>
          </a:prstGeom>
          <a:solidFill>
            <a:srgbClr val="3B3B98"/>
          </a:solidFill>
          <a:ln/>
        </p:spPr>
      </p:sp>
      <p:sp>
        <p:nvSpPr>
          <p:cNvPr id="14" name="Text 12"/>
          <p:cNvSpPr/>
          <p:nvPr/>
        </p:nvSpPr>
        <p:spPr>
          <a:xfrm>
            <a:off x="11228832" y="4133088"/>
            <a:ext cx="365760" cy="365760"/>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Shape 13"/>
          <p:cNvSpPr/>
          <p:nvPr/>
        </p:nvSpPr>
        <p:spPr>
          <a:xfrm>
            <a:off x="548640" y="4023360"/>
            <a:ext cx="10497312" cy="822960"/>
          </a:xfrm>
          <a:prstGeom prst="roundRect">
            <a:avLst>
              <a:gd name="adj" fmla="val 8889"/>
            </a:avLst>
          </a:prstGeom>
          <a:solidFill>
            <a:srgbClr val="1B1B2B"/>
          </a:solidFill>
          <a:ln/>
          <a:effectLst>
            <a:outerShdw sx="100000" sy="100000" kx="0" ky="0" algn="bl" rotWithShape="0" blurRad="76200" dist="25400" dir="5400000">
              <a:srgbClr val="999999">
                <a:alpha val="28000"/>
              </a:srgbClr>
            </a:outerShdw>
          </a:effectLst>
        </p:spPr>
      </p:sp>
      <p:sp>
        <p:nvSpPr>
          <p:cNvPr id="16" name="Text 14"/>
          <p:cNvSpPr/>
          <p:nvPr/>
        </p:nvSpPr>
        <p:spPr>
          <a:xfrm>
            <a:off x="822960" y="4023360"/>
            <a:ext cx="9948672" cy="822960"/>
          </a:xfrm>
          <a:prstGeom prst="rect">
            <a:avLst/>
          </a:prstGeom>
          <a:noFill/>
          <a:ln/>
        </p:spPr>
        <p:txBody>
          <a:bodyPr wrap="square" rtlCol="0" anchor="ctr"/>
          <a:lstStyle/>
          <a:p>
            <a:pPr rtl="1" algn="r" indent="0" marL="0">
              <a:buNone/>
            </a:pPr>
            <a:r>
              <a:rPr lang="en-US" sz="1350" dirty="0">
                <a:solidFill>
                  <a:srgbClr val="E8E8F0"/>
                </a:solidFill>
                <a:latin typeface="Arial" pitchFamily="34" charset="0"/>
                <a:ea typeface="Arial" pitchFamily="34" charset="-122"/>
                <a:cs typeface="Arial" pitchFamily="34" charset="-120"/>
              </a:rPr>
              <a:t>“עכשיו כתוב show_tasks(tasks) שמדפיסה את כל המטלות הפתוחות”</a:t>
            </a:r>
            <a:endParaRPr lang="en-US" sz="1350" dirty="0"/>
          </a:p>
        </p:txBody>
      </p:sp>
      <p:sp>
        <p:nvSpPr>
          <p:cNvPr id="17" name="Shape 15"/>
          <p:cNvSpPr/>
          <p:nvPr/>
        </p:nvSpPr>
        <p:spPr>
          <a:xfrm>
            <a:off x="548640" y="5120640"/>
            <a:ext cx="11091672" cy="777240"/>
          </a:xfrm>
          <a:prstGeom prst="roundRect">
            <a:avLst>
              <a:gd name="adj" fmla="val 11765"/>
            </a:avLst>
          </a:prstGeom>
          <a:solidFill>
            <a:srgbClr val="1E2761"/>
          </a:solidFill>
          <a:ln/>
          <a:effectLst>
            <a:outerShdw sx="100000" sy="100000" kx="0" ky="0" algn="bl" rotWithShape="0" blurRad="76200" dist="25400" dir="5400000">
              <a:srgbClr val="999999">
                <a:alpha val="28000"/>
              </a:srgbClr>
            </a:outerShdw>
          </a:effectLst>
        </p:spPr>
      </p:sp>
      <p:sp>
        <p:nvSpPr>
          <p:cNvPr id="18" name="Text 16"/>
          <p:cNvSpPr/>
          <p:nvPr/>
        </p:nvSpPr>
        <p:spPr>
          <a:xfrm>
            <a:off x="868680" y="5303520"/>
            <a:ext cx="10451592" cy="41148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בין כל שני צעדים — מריצים ומוודאים שהקודם עובד. רק אז ממשיכים. כך תמיד יודעים בדיוק היכן נמצאת בעיה, אם יש.</a:t>
            </a:r>
            <a:endParaRPr lang="en-US" sz="150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18 / 35</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חי (≈ 7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משפרים פרומפט יחד</a:t>
            </a:r>
            <a:endParaRPr lang="en-US" sz="3300" dirty="0"/>
          </a:p>
        </p:txBody>
      </p:sp>
      <p:sp>
        <p:nvSpPr>
          <p:cNvPr id="4" name="Shape 2"/>
          <p:cNvSpPr/>
          <p:nvPr/>
        </p:nvSpPr>
        <p:spPr>
          <a:xfrm>
            <a:off x="548640" y="1645920"/>
            <a:ext cx="11091672" cy="868680"/>
          </a:xfrm>
          <a:prstGeom prst="roundRect">
            <a:avLst>
              <a:gd name="adj" fmla="val 8421"/>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988552" y="1737360"/>
            <a:ext cx="2468880" cy="320040"/>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מתחילים מפרומפט חלש:</a:t>
            </a:r>
            <a:endParaRPr lang="en-US" sz="1250" dirty="0"/>
          </a:p>
        </p:txBody>
      </p:sp>
      <p:sp>
        <p:nvSpPr>
          <p:cNvPr id="6" name="Text 4"/>
          <p:cNvSpPr/>
          <p:nvPr/>
        </p:nvSpPr>
        <p:spPr>
          <a:xfrm>
            <a:off x="822960" y="2084832"/>
            <a:ext cx="10543032" cy="36576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“כתוב קוד למשחק ניחוש מספר”</a:t>
            </a:r>
            <a:endParaRPr lang="en-US" sz="1400" dirty="0"/>
          </a:p>
        </p:txBody>
      </p:sp>
      <p:sp>
        <p:nvSpPr>
          <p:cNvPr id="7" name="Text 5"/>
          <p:cNvSpPr/>
          <p:nvPr/>
        </p:nvSpPr>
        <p:spPr>
          <a:xfrm>
            <a:off x="548640" y="2697480"/>
            <a:ext cx="11091672" cy="32004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צעדי הדמו:</a:t>
            </a:r>
            <a:endParaRPr lang="en-US" sz="1500" dirty="0"/>
          </a:p>
        </p:txBody>
      </p:sp>
      <p:sp>
        <p:nvSpPr>
          <p:cNvPr id="8" name="Shape 6"/>
          <p:cNvSpPr/>
          <p:nvPr/>
        </p:nvSpPr>
        <p:spPr>
          <a:xfrm>
            <a:off x="11237976" y="3063240"/>
            <a:ext cx="402336" cy="402336"/>
          </a:xfrm>
          <a:prstGeom prst="ellipse">
            <a:avLst/>
          </a:prstGeom>
          <a:solidFill>
            <a:srgbClr val="3B3B98"/>
          </a:solidFill>
          <a:ln/>
        </p:spPr>
      </p:sp>
      <p:sp>
        <p:nvSpPr>
          <p:cNvPr id="9" name="Text 7"/>
          <p:cNvSpPr/>
          <p:nvPr/>
        </p:nvSpPr>
        <p:spPr>
          <a:xfrm>
            <a:off x="11237976" y="30632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0449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נריץ את הפרומפט החלש — ונראה תוצאה כללית.</a:t>
            </a:r>
            <a:endParaRPr lang="en-US" sz="1700" dirty="0"/>
          </a:p>
        </p:txBody>
      </p:sp>
      <p:sp>
        <p:nvSpPr>
          <p:cNvPr id="11" name="Shape 9"/>
          <p:cNvSpPr/>
          <p:nvPr/>
        </p:nvSpPr>
        <p:spPr>
          <a:xfrm>
            <a:off x="11237976" y="3575304"/>
            <a:ext cx="402336" cy="402336"/>
          </a:xfrm>
          <a:prstGeom prst="ellipse">
            <a:avLst/>
          </a:prstGeom>
          <a:solidFill>
            <a:srgbClr val="3B3B98"/>
          </a:solidFill>
          <a:ln/>
        </p:spPr>
      </p:sp>
      <p:sp>
        <p:nvSpPr>
          <p:cNvPr id="12" name="Text 10"/>
          <p:cNvSpPr/>
          <p:nvPr/>
        </p:nvSpPr>
        <p:spPr>
          <a:xfrm>
            <a:off x="11237976" y="3575304"/>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557016"/>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נוסיף הקשר + מטרה (שפה, טווח מספרים, מספר ניסיונות).</a:t>
            </a:r>
            <a:endParaRPr lang="en-US" sz="1700" dirty="0"/>
          </a:p>
        </p:txBody>
      </p:sp>
      <p:sp>
        <p:nvSpPr>
          <p:cNvPr id="14" name="Shape 12"/>
          <p:cNvSpPr/>
          <p:nvPr/>
        </p:nvSpPr>
        <p:spPr>
          <a:xfrm>
            <a:off x="11237976" y="4087368"/>
            <a:ext cx="402336" cy="402336"/>
          </a:xfrm>
          <a:prstGeom prst="ellipse">
            <a:avLst/>
          </a:prstGeom>
          <a:solidFill>
            <a:srgbClr val="3B3B98"/>
          </a:solidFill>
          <a:ln/>
        </p:spPr>
      </p:sp>
      <p:sp>
        <p:nvSpPr>
          <p:cNvPr id="15" name="Text 13"/>
          <p:cNvSpPr/>
          <p:nvPr/>
        </p:nvSpPr>
        <p:spPr>
          <a:xfrm>
            <a:off x="11237976" y="4087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06908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נוסיף אילוצים + פורמט (טיפול בקלט לא חוקי; הסבר).</a:t>
            </a:r>
            <a:endParaRPr lang="en-US" sz="1700" dirty="0"/>
          </a:p>
        </p:txBody>
      </p:sp>
      <p:sp>
        <p:nvSpPr>
          <p:cNvPr id="17" name="Shape 15"/>
          <p:cNvSpPr/>
          <p:nvPr/>
        </p:nvSpPr>
        <p:spPr>
          <a:xfrm>
            <a:off x="11237976" y="4599432"/>
            <a:ext cx="402336" cy="402336"/>
          </a:xfrm>
          <a:prstGeom prst="ellipse">
            <a:avLst/>
          </a:prstGeom>
          <a:solidFill>
            <a:srgbClr val="3B3B98"/>
          </a:solidFill>
          <a:ln/>
        </p:spPr>
      </p:sp>
      <p:sp>
        <p:nvSpPr>
          <p:cNvPr id="18" name="Text 16"/>
          <p:cNvSpPr/>
          <p:nvPr/>
        </p:nvSpPr>
        <p:spPr>
          <a:xfrm>
            <a:off x="11237976" y="4599432"/>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548640" y="4581144"/>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נריץ שוב ונשווה — כמה השתפר בסבב אחד.</a:t>
            </a:r>
            <a:endParaRPr lang="en-US" sz="1700" dirty="0"/>
          </a:p>
        </p:txBody>
      </p:sp>
      <p:sp>
        <p:nvSpPr>
          <p:cNvPr id="20" name="Shape 18"/>
          <p:cNvSpPr/>
          <p:nvPr/>
        </p:nvSpPr>
        <p:spPr>
          <a:xfrm>
            <a:off x="548640" y="521208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5394960"/>
            <a:ext cx="10451592" cy="50292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המטרה: לראות בזמן אמת איך 4 אבני היסוד הופכות תוצאה גרועה לטובה. (לומדים לבד? עשו זאת בעצמכם ותעדו Before/After.)</a:t>
            </a:r>
            <a:endParaRPr lang="en-US" sz="15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19 / 35</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 שלב 2 (הקשר + מטרה)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מוסיפים הקשר + מטרה</a:t>
            </a:r>
            <a:endParaRPr lang="en-US" sz="3300" dirty="0"/>
          </a:p>
        </p:txBody>
      </p:sp>
      <p:sp>
        <p:nvSpPr>
          <p:cNvPr id="4" name="Text 2"/>
          <p:cNvSpPr/>
          <p:nvPr/>
        </p:nvSpPr>
        <p:spPr>
          <a:xfrm>
            <a:off x="548640" y="1664208"/>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התחלנו מהפרומפט החלש: “כתוב קוד למשחק ניחוש מספר”</a:t>
            </a:r>
            <a:endParaRPr lang="en-US" sz="1400" dirty="0"/>
          </a:p>
        </p:txBody>
      </p:sp>
      <p:sp>
        <p:nvSpPr>
          <p:cNvPr id="5" name="Shape 3"/>
          <p:cNvSpPr/>
          <p:nvPr/>
        </p:nvSpPr>
        <p:spPr>
          <a:xfrm>
            <a:off x="548640" y="2103120"/>
            <a:ext cx="11091672" cy="1417320"/>
          </a:xfrm>
          <a:prstGeom prst="roundRect">
            <a:avLst>
              <a:gd name="adj" fmla="val 5161"/>
            </a:avLst>
          </a:prstGeom>
          <a:solidFill>
            <a:srgbClr val="1B1B2B"/>
          </a:solidFill>
          <a:ln/>
          <a:effectLst>
            <a:outerShdw sx="100000" sy="100000" kx="0" ky="0" algn="bl" rotWithShape="0" blurRad="76200" dist="25400" dir="5400000">
              <a:srgbClr val="999999">
                <a:alpha val="28000"/>
              </a:srgbClr>
            </a:outerShdw>
          </a:effectLst>
        </p:spPr>
      </p:sp>
      <p:sp>
        <p:nvSpPr>
          <p:cNvPr id="6" name="Text 4"/>
          <p:cNvSpPr/>
          <p:nvPr/>
        </p:nvSpPr>
        <p:spPr>
          <a:xfrm>
            <a:off x="777240" y="224028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אחרי הוספת הקשר + מטרה:</a:t>
            </a:r>
            <a:endParaRPr lang="en-US" sz="1250" dirty="0"/>
          </a:p>
        </p:txBody>
      </p:sp>
      <p:sp>
        <p:nvSpPr>
          <p:cNvPr id="7" name="Text 5"/>
          <p:cNvSpPr/>
          <p:nvPr/>
        </p:nvSpPr>
        <p:spPr>
          <a:xfrm>
            <a:off x="804672" y="2606040"/>
            <a:ext cx="10579608" cy="77724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“בפייתון, כתוב משחק ניחוש מספר: המחשב בוחר מספר אקראי בין 1 ל-100, והמשתמש מנחש. אחרי כל ניחוש הצג ‘גבוה מדי’ או ‘נמוך מדי’, עד שמנחשים נכון.”</a:t>
            </a:r>
            <a:endParaRPr lang="en-US" sz="1300" dirty="0"/>
          </a:p>
        </p:txBody>
      </p:sp>
      <p:sp>
        <p:nvSpPr>
          <p:cNvPr id="8" name="Shape 6"/>
          <p:cNvSpPr/>
          <p:nvPr/>
        </p:nvSpPr>
        <p:spPr>
          <a:xfrm>
            <a:off x="6277356" y="379476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505956" y="393192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הקשר</a:t>
            </a:r>
            <a:endParaRPr lang="en-US" sz="1400" dirty="0"/>
          </a:p>
        </p:txBody>
      </p:sp>
      <p:sp>
        <p:nvSpPr>
          <p:cNvPr id="10" name="Text 8"/>
          <p:cNvSpPr/>
          <p:nvPr/>
        </p:nvSpPr>
        <p:spPr>
          <a:xfrm>
            <a:off x="6505956" y="4270248"/>
            <a:ext cx="4905756" cy="45720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“בפייתון” — עכשיו המודל יודע באיזו שפה לכתוב.</a:t>
            </a:r>
            <a:endParaRPr lang="en-US" sz="1300" dirty="0"/>
          </a:p>
        </p:txBody>
      </p:sp>
      <p:sp>
        <p:nvSpPr>
          <p:cNvPr id="11" name="Shape 9"/>
          <p:cNvSpPr/>
          <p:nvPr/>
        </p:nvSpPr>
        <p:spPr>
          <a:xfrm>
            <a:off x="548640" y="379476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12" name="Text 10"/>
          <p:cNvSpPr/>
          <p:nvPr/>
        </p:nvSpPr>
        <p:spPr>
          <a:xfrm>
            <a:off x="777240" y="393192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מטרה</a:t>
            </a:r>
            <a:endParaRPr lang="en-US" sz="1400" dirty="0"/>
          </a:p>
        </p:txBody>
      </p:sp>
      <p:sp>
        <p:nvSpPr>
          <p:cNvPr id="13" name="Text 11"/>
          <p:cNvSpPr/>
          <p:nvPr/>
        </p:nvSpPr>
        <p:spPr>
          <a:xfrm>
            <a:off x="777240" y="4270248"/>
            <a:ext cx="4905756" cy="45720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מנגנון המשחק המדויק: טווח, ניחושים, רמזים.</a:t>
            </a:r>
            <a:endParaRPr lang="en-US" sz="1300" dirty="0"/>
          </a:p>
        </p:txBody>
      </p:sp>
      <p:sp>
        <p:nvSpPr>
          <p:cNvPr id="14" name="Text 12"/>
          <p:cNvSpPr/>
          <p:nvPr/>
        </p:nvSpPr>
        <p:spPr>
          <a:xfrm>
            <a:off x="548640" y="498348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התוצאה כבר עובדת — אבל עדיין חסרים אילוצים ופורמט. ממשיכים.</a:t>
            </a:r>
            <a:endParaRPr lang="en-US" sz="14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20 / 35</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 שלב 3 (אילוצים + פורמט)</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מוסיפים אילוצים + פורמט</a:t>
            </a:r>
            <a:endParaRPr lang="en-US" sz="3300" dirty="0"/>
          </a:p>
        </p:txBody>
      </p:sp>
      <p:sp>
        <p:nvSpPr>
          <p:cNvPr id="4" name="Shape 2"/>
          <p:cNvSpPr/>
          <p:nvPr/>
        </p:nvSpPr>
        <p:spPr>
          <a:xfrm>
            <a:off x="548640" y="1691640"/>
            <a:ext cx="11091672" cy="1828800"/>
          </a:xfrm>
          <a:prstGeom prst="roundRect">
            <a:avLst>
              <a:gd name="adj" fmla="val 4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777240" y="182880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הפרומפט המלא (אחרי כל 4 אבני היסוד):</a:t>
            </a:r>
            <a:endParaRPr lang="en-US" sz="1250" dirty="0"/>
          </a:p>
        </p:txBody>
      </p:sp>
      <p:sp>
        <p:nvSpPr>
          <p:cNvPr id="6" name="Text 4"/>
          <p:cNvSpPr/>
          <p:nvPr/>
        </p:nvSpPr>
        <p:spPr>
          <a:xfrm>
            <a:off x="804672" y="2194560"/>
            <a:ext cx="10579608" cy="11887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“בפייתון, כתוב משחק ניחוש מספר: מספר אקראי בין 1 ל-100, עם רמז ‘גבוה/נמוך’ אחרי כל ניחוש. הגבל ל-7 ניסיונות והצג כמה נותרו; אם הקלט אינו מספר — הצג שגיאה ידידותית ובקש שוב. החזר: קוד + הסבר קצר בעברית + דוגמת הרצה.”</a:t>
            </a:r>
            <a:endParaRPr lang="en-US" sz="1300" dirty="0"/>
          </a:p>
        </p:txBody>
      </p:sp>
      <p:sp>
        <p:nvSpPr>
          <p:cNvPr id="7" name="Shape 5"/>
          <p:cNvSpPr/>
          <p:nvPr/>
        </p:nvSpPr>
        <p:spPr>
          <a:xfrm>
            <a:off x="6277356" y="374904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6505956" y="388620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אילוצים</a:t>
            </a:r>
            <a:endParaRPr lang="en-US" sz="1400" dirty="0"/>
          </a:p>
        </p:txBody>
      </p:sp>
      <p:sp>
        <p:nvSpPr>
          <p:cNvPr id="9" name="Text 7"/>
          <p:cNvSpPr/>
          <p:nvPr/>
        </p:nvSpPr>
        <p:spPr>
          <a:xfrm>
            <a:off x="6505956" y="4224528"/>
            <a:ext cx="4905756" cy="45720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7 ניסיונות · טיפול בקלט לא-מספרי · הצגת ניסיונות שנותרו.</a:t>
            </a:r>
            <a:endParaRPr lang="en-US" sz="1250" dirty="0"/>
          </a:p>
        </p:txBody>
      </p:sp>
      <p:sp>
        <p:nvSpPr>
          <p:cNvPr id="10" name="Shape 8"/>
          <p:cNvSpPr/>
          <p:nvPr/>
        </p:nvSpPr>
        <p:spPr>
          <a:xfrm>
            <a:off x="548640" y="3749040"/>
            <a:ext cx="5362956" cy="1005840"/>
          </a:xfrm>
          <a:prstGeom prst="roundRect">
            <a:avLst>
              <a:gd name="adj" fmla="val 8182"/>
            </a:avLst>
          </a:prstGeom>
          <a:solidFill>
            <a:srgbClr val="F2F3FA"/>
          </a:solidFill>
          <a:ln/>
          <a:effectLst>
            <a:outerShdw sx="100000" sy="100000" kx="0" ky="0" algn="bl" rotWithShape="0" blurRad="76200" dist="25400" dir="5400000">
              <a:srgbClr val="999999">
                <a:alpha val="28000"/>
              </a:srgbClr>
            </a:outerShdw>
          </a:effectLst>
        </p:spPr>
      </p:sp>
      <p:sp>
        <p:nvSpPr>
          <p:cNvPr id="11" name="Text 9"/>
          <p:cNvSpPr/>
          <p:nvPr/>
        </p:nvSpPr>
        <p:spPr>
          <a:xfrm>
            <a:off x="777240" y="3886200"/>
            <a:ext cx="4905756" cy="320040"/>
          </a:xfrm>
          <a:prstGeom prst="rect">
            <a:avLst/>
          </a:prstGeom>
          <a:noFill/>
          <a:ln/>
        </p:spPr>
        <p:txBody>
          <a:bodyPr wrap="square" rtlCol="0" anchor="t"/>
          <a:lstStyle/>
          <a:p>
            <a:pPr rtl="1" algn="r" indent="0" marL="0">
              <a:buNone/>
            </a:pPr>
            <a:r>
              <a:rPr lang="en-US" sz="1400" b="1" dirty="0">
                <a:solidFill>
                  <a:srgbClr val="0E9AA7"/>
                </a:solidFill>
                <a:latin typeface="Arial" pitchFamily="34" charset="0"/>
                <a:ea typeface="Arial" pitchFamily="34" charset="-122"/>
                <a:cs typeface="Arial" pitchFamily="34" charset="-120"/>
              </a:rPr>
              <a:t>+ פורמט</a:t>
            </a:r>
            <a:endParaRPr lang="en-US" sz="1400" dirty="0"/>
          </a:p>
        </p:txBody>
      </p:sp>
      <p:sp>
        <p:nvSpPr>
          <p:cNvPr id="12" name="Text 10"/>
          <p:cNvSpPr/>
          <p:nvPr/>
        </p:nvSpPr>
        <p:spPr>
          <a:xfrm>
            <a:off x="777240" y="4224528"/>
            <a:ext cx="4905756" cy="45720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קוד + הסבר בעברית + דוגמת הרצה.</a:t>
            </a:r>
            <a:endParaRPr lang="en-US" sz="1250" dirty="0"/>
          </a:p>
        </p:txBody>
      </p:sp>
      <p:sp>
        <p:nvSpPr>
          <p:cNvPr id="13" name="Shape 11"/>
          <p:cNvSpPr/>
          <p:nvPr/>
        </p:nvSpPr>
        <p:spPr>
          <a:xfrm>
            <a:off x="548640" y="4937760"/>
            <a:ext cx="11091672" cy="777240"/>
          </a:xfrm>
          <a:prstGeom prst="roundRect">
            <a:avLst>
              <a:gd name="adj" fmla="val 11765"/>
            </a:avLst>
          </a:prstGeom>
          <a:solidFill>
            <a:srgbClr val="1E2761"/>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5120640"/>
            <a:ext cx="10451592" cy="41148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מפרומפט של 6 מילים → פרומפט מלא. התוצאה: משחק שלם, עמיד לקלט שגוי, ומוסבר — בסבב אחד.</a:t>
            </a:r>
            <a:endParaRPr lang="en-US" sz="155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21 / 35</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טיפים למתקדמים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שלוש טכניקות שמשדרגות כל פרומפט</a:t>
            </a:r>
            <a:endParaRPr lang="en-US" sz="3300" dirty="0"/>
          </a:p>
        </p:txBody>
      </p:sp>
      <p:sp>
        <p:nvSpPr>
          <p:cNvPr id="4" name="Shape 2"/>
          <p:cNvSpPr/>
          <p:nvPr/>
        </p:nvSpPr>
        <p:spPr>
          <a:xfrm>
            <a:off x="11137392" y="1920240"/>
            <a:ext cx="502920" cy="502920"/>
          </a:xfrm>
          <a:prstGeom prst="ellipse">
            <a:avLst/>
          </a:prstGeom>
          <a:solidFill>
            <a:srgbClr val="0E9AA7"/>
          </a:solidFill>
          <a:ln/>
        </p:spPr>
      </p:sp>
      <p:sp>
        <p:nvSpPr>
          <p:cNvPr id="5" name="Text 3"/>
          <p:cNvSpPr/>
          <p:nvPr/>
        </p:nvSpPr>
        <p:spPr>
          <a:xfrm>
            <a:off x="11137392" y="192024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90195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בקשו מהמודל לשאול אתכם שאלות הבהרה — לפני שהוא כותב.</a:t>
            </a:r>
            <a:endParaRPr lang="en-US" sz="1700" dirty="0"/>
          </a:p>
        </p:txBody>
      </p:sp>
      <p:sp>
        <p:nvSpPr>
          <p:cNvPr id="7" name="Shape 5"/>
          <p:cNvSpPr/>
          <p:nvPr/>
        </p:nvSpPr>
        <p:spPr>
          <a:xfrm>
            <a:off x="11137392" y="2971800"/>
            <a:ext cx="502920" cy="502920"/>
          </a:xfrm>
          <a:prstGeom prst="ellipse">
            <a:avLst/>
          </a:prstGeom>
          <a:solidFill>
            <a:srgbClr val="0E9AA7"/>
          </a:solidFill>
          <a:ln/>
        </p:spPr>
      </p:sp>
      <p:sp>
        <p:nvSpPr>
          <p:cNvPr id="8" name="Text 6"/>
          <p:cNvSpPr/>
          <p:nvPr/>
        </p:nvSpPr>
        <p:spPr>
          <a:xfrm>
            <a:off x="11137392" y="29718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9535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בקשו ממנו לחשוב צעד-אחר-צעד (Chain of thought) לפני קוד.</a:t>
            </a:r>
            <a:endParaRPr lang="en-US" sz="1700" dirty="0"/>
          </a:p>
        </p:txBody>
      </p:sp>
      <p:sp>
        <p:nvSpPr>
          <p:cNvPr id="10" name="Shape 8"/>
          <p:cNvSpPr/>
          <p:nvPr/>
        </p:nvSpPr>
        <p:spPr>
          <a:xfrm>
            <a:off x="11137392" y="4023360"/>
            <a:ext cx="502920" cy="502920"/>
          </a:xfrm>
          <a:prstGeom prst="ellipse">
            <a:avLst/>
          </a:prstGeom>
          <a:solidFill>
            <a:srgbClr val="0E9AA7"/>
          </a:solidFill>
          <a:ln/>
        </p:spPr>
      </p:sp>
      <p:sp>
        <p:nvSpPr>
          <p:cNvPr id="11" name="Text 9"/>
          <p:cNvSpPr/>
          <p:nvPr/>
        </p:nvSpPr>
        <p:spPr>
          <a:xfrm>
            <a:off x="11137392" y="402336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400507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תנו לו “תפקיד” (Role prompting) — ממקד את הסגנון.</a:t>
            </a:r>
            <a:endParaRPr lang="en-US" sz="1700" dirty="0"/>
          </a:p>
        </p:txBody>
      </p:sp>
      <p:sp>
        <p:nvSpPr>
          <p:cNvPr id="13" name="Text 11"/>
          <p:cNvSpPr/>
          <p:nvPr/>
        </p:nvSpPr>
        <p:spPr>
          <a:xfrm>
            <a:off x="548640" y="521208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בשלושת השקפים הבאים — דוגמה מלאה לכל אחת.</a:t>
            </a:r>
            <a:endParaRPr lang="en-US" sz="14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22 / 35</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טכניקה 1 · 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בקשו מהמודל לשאול שאלות הבהרה</a:t>
            </a:r>
            <a:endParaRPr lang="en-US" sz="3300" dirty="0"/>
          </a:p>
        </p:txBody>
      </p:sp>
      <p:sp>
        <p:nvSpPr>
          <p:cNvPr id="4" name="Shape 2"/>
          <p:cNvSpPr/>
          <p:nvPr/>
        </p:nvSpPr>
        <p:spPr>
          <a:xfrm>
            <a:off x="548640" y="1737360"/>
            <a:ext cx="11091672" cy="1371600"/>
          </a:xfrm>
          <a:prstGeom prst="roundRect">
            <a:avLst>
              <a:gd name="adj" fmla="val 5333"/>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777240" y="187452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הפרומפט שלכם:</a:t>
            </a:r>
            <a:endParaRPr lang="en-US" sz="1250" dirty="0"/>
          </a:p>
        </p:txBody>
      </p:sp>
      <p:sp>
        <p:nvSpPr>
          <p:cNvPr id="6" name="Text 4"/>
          <p:cNvSpPr/>
          <p:nvPr/>
        </p:nvSpPr>
        <p:spPr>
          <a:xfrm>
            <a:off x="804672" y="2240280"/>
            <a:ext cx="10579608" cy="7315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לי מערכת לניהול ספריית ספרים. לפני שאתה כותב קוד — שאל אותי כל מה שאתה צריך כדי להבין לעומק.”</a:t>
            </a:r>
            <a:endParaRPr lang="en-US" sz="1300" dirty="0"/>
          </a:p>
        </p:txBody>
      </p:sp>
      <p:sp>
        <p:nvSpPr>
          <p:cNvPr id="7" name="Text 5"/>
          <p:cNvSpPr/>
          <p:nvPr/>
        </p:nvSpPr>
        <p:spPr>
          <a:xfrm>
            <a:off x="548640" y="3246120"/>
            <a:ext cx="11091672" cy="320040"/>
          </a:xfrm>
          <a:prstGeom prst="rect">
            <a:avLst/>
          </a:prstGeom>
          <a:noFill/>
          <a:ln/>
        </p:spPr>
        <p:txBody>
          <a:bodyPr wrap="square" rtlCol="0" anchor="t"/>
          <a:lstStyle/>
          <a:p>
            <a:pPr rtl="1" algn="r" indent="0" marL="0">
              <a:buNone/>
            </a:pPr>
            <a:r>
              <a:rPr lang="en-US" sz="1350" b="1" dirty="0">
                <a:solidFill>
                  <a:srgbClr val="1E2761"/>
                </a:solidFill>
                <a:latin typeface="Arial" pitchFamily="34" charset="0"/>
                <a:ea typeface="Arial" pitchFamily="34" charset="-122"/>
                <a:cs typeface="Arial" pitchFamily="34" charset="-120"/>
              </a:rPr>
              <a:t>↓ תגובת המודל (שאלות, לפני קוד):</a:t>
            </a:r>
            <a:endParaRPr lang="en-US" sz="1350" dirty="0"/>
          </a:p>
        </p:txBody>
      </p:sp>
      <p:sp>
        <p:nvSpPr>
          <p:cNvPr id="8" name="Shape 6"/>
          <p:cNvSpPr/>
          <p:nvPr/>
        </p:nvSpPr>
        <p:spPr>
          <a:xfrm>
            <a:off x="548640" y="3611880"/>
            <a:ext cx="11091672" cy="1463040"/>
          </a:xfrm>
          <a:prstGeom prst="roundRect">
            <a:avLst>
              <a:gd name="adj" fmla="val 5000"/>
            </a:avLst>
          </a:prstGeom>
          <a:solidFill>
            <a:srgbClr val="1B1B2B"/>
          </a:solidFill>
          <a:ln/>
          <a:effectLst>
            <a:outerShdw sx="100000" sy="100000" kx="0" ky="0" algn="bl" rotWithShape="0" blurRad="76200" dist="25400" dir="5400000">
              <a:srgbClr val="999999">
                <a:alpha val="28000"/>
              </a:srgbClr>
            </a:outerShdw>
          </a:effectLst>
        </p:spPr>
      </p:sp>
      <p:sp>
        <p:nvSpPr>
          <p:cNvPr id="9" name="Text 7"/>
          <p:cNvSpPr/>
          <p:nvPr/>
        </p:nvSpPr>
        <p:spPr>
          <a:xfrm>
            <a:off x="804672" y="3794760"/>
            <a:ext cx="10579608" cy="109728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  אילו פעולות צריך? הוספה, חיפוש, השאלה והחזרה?</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  כמה ספרים בערך — עשרות או אלפים?</a:t>
            </a: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  צריך ממשק גרפי, או מספיק שורת פקודה?</a:t>
            </a:r>
            <a:endParaRPr lang="en-US" sz="1300" dirty="0"/>
          </a:p>
        </p:txBody>
      </p:sp>
      <p:sp>
        <p:nvSpPr>
          <p:cNvPr id="10" name="Shape 8"/>
          <p:cNvSpPr/>
          <p:nvPr/>
        </p:nvSpPr>
        <p:spPr>
          <a:xfrm>
            <a:off x="548640" y="5212080"/>
            <a:ext cx="11091672" cy="731520"/>
          </a:xfrm>
          <a:prstGeom prst="roundRect">
            <a:avLst>
              <a:gd name="adj" fmla="val 12500"/>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5394960"/>
            <a:ext cx="10451592" cy="36576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רק אחרי שעניתם, הוא כותב — והתוצאה מדויקת בהרבה מניחוש חד-פעמי.</a:t>
            </a:r>
            <a:endParaRPr lang="en-US" sz="15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23 / 35</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טכניקה 2 · 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חישבו צעד-אחר-צעד (Chain of Thought)</a:t>
            </a:r>
            <a:endParaRPr lang="en-US" sz="3300" dirty="0"/>
          </a:p>
        </p:txBody>
      </p:sp>
      <p:sp>
        <p:nvSpPr>
          <p:cNvPr id="4" name="Shape 2"/>
          <p:cNvSpPr/>
          <p:nvPr/>
        </p:nvSpPr>
        <p:spPr>
          <a:xfrm>
            <a:off x="548640" y="1737360"/>
            <a:ext cx="11091672" cy="1234440"/>
          </a:xfrm>
          <a:prstGeom prst="roundRect">
            <a:avLst>
              <a:gd name="adj" fmla="val 5926"/>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777240" y="1874520"/>
            <a:ext cx="10634472"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הפרומפט שלכם:</a:t>
            </a:r>
            <a:endParaRPr lang="en-US" sz="1250" dirty="0"/>
          </a:p>
        </p:txBody>
      </p:sp>
      <p:sp>
        <p:nvSpPr>
          <p:cNvPr id="6" name="Text 4"/>
          <p:cNvSpPr/>
          <p:nvPr/>
        </p:nvSpPr>
        <p:spPr>
          <a:xfrm>
            <a:off x="804672" y="2240280"/>
            <a:ext cx="10579608" cy="59436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“לפני שתכתוב קוד למיין רשימה בלי להשתמש ב-sort המובנה, תאר בקצרה את התוכנית שלך — ורק אז כתוב את הקוד.”</a:t>
            </a:r>
            <a:endParaRPr lang="en-US" sz="1300" dirty="0"/>
          </a:p>
        </p:txBody>
      </p:sp>
      <p:sp>
        <p:nvSpPr>
          <p:cNvPr id="7" name="Text 5"/>
          <p:cNvSpPr/>
          <p:nvPr/>
        </p:nvSpPr>
        <p:spPr>
          <a:xfrm>
            <a:off x="548640" y="3108960"/>
            <a:ext cx="11091672" cy="320040"/>
          </a:xfrm>
          <a:prstGeom prst="rect">
            <a:avLst/>
          </a:prstGeom>
          <a:noFill/>
          <a:ln/>
        </p:spPr>
        <p:txBody>
          <a:bodyPr wrap="square" rtlCol="0" anchor="t"/>
          <a:lstStyle/>
          <a:p>
            <a:pPr rtl="1" algn="r" indent="0" marL="0">
              <a:buNone/>
            </a:pPr>
            <a:r>
              <a:rPr lang="en-US" sz="1350" b="1" dirty="0">
                <a:solidFill>
                  <a:srgbClr val="1E2761"/>
                </a:solidFill>
                <a:latin typeface="Arial" pitchFamily="34" charset="0"/>
                <a:ea typeface="Arial" pitchFamily="34" charset="-122"/>
                <a:cs typeface="Arial" pitchFamily="34" charset="-120"/>
              </a:rPr>
              <a:t>↓ תגובת המודל (תוכנית, ואז קוד):</a:t>
            </a:r>
            <a:endParaRPr lang="en-US" sz="1350" dirty="0"/>
          </a:p>
        </p:txBody>
      </p:sp>
      <p:sp>
        <p:nvSpPr>
          <p:cNvPr id="8" name="Shape 6"/>
          <p:cNvSpPr/>
          <p:nvPr/>
        </p:nvSpPr>
        <p:spPr>
          <a:xfrm>
            <a:off x="548640" y="3456432"/>
            <a:ext cx="11091672" cy="1600200"/>
          </a:xfrm>
          <a:prstGeom prst="roundRect">
            <a:avLst>
              <a:gd name="adj" fmla="val 4571"/>
            </a:avLst>
          </a:prstGeom>
          <a:solidFill>
            <a:srgbClr val="1B1B2B"/>
          </a:solidFill>
          <a:ln/>
          <a:effectLst>
            <a:outerShdw sx="100000" sy="100000" kx="0" ky="0" algn="bl" rotWithShape="0" blurRad="76200" dist="25400" dir="5400000">
              <a:srgbClr val="999999">
                <a:alpha val="28000"/>
              </a:srgbClr>
            </a:outerShdw>
          </a:effectLst>
        </p:spPr>
      </p:sp>
      <p:sp>
        <p:nvSpPr>
          <p:cNvPr id="9" name="Text 7"/>
          <p:cNvSpPr/>
          <p:nvPr/>
        </p:nvSpPr>
        <p:spPr>
          <a:xfrm>
            <a:off x="804672" y="3639312"/>
            <a:ext cx="10579608" cy="123444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התוכנית: אשווה כל שני איברים סמוכים, אם צריך אחליף ביניהם, ואחזור על זה שוב ושוב עד שאין יותר החלפות (Bubble Sort).</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def bubble_sort(nums): ...</a:t>
            </a:r>
            <a:endParaRPr lang="en-US" sz="1300" dirty="0"/>
          </a:p>
        </p:txBody>
      </p:sp>
      <p:sp>
        <p:nvSpPr>
          <p:cNvPr id="10" name="Shape 8"/>
          <p:cNvSpPr/>
          <p:nvPr/>
        </p:nvSpPr>
        <p:spPr>
          <a:xfrm>
            <a:off x="548640" y="5212080"/>
            <a:ext cx="11091672" cy="685800"/>
          </a:xfrm>
          <a:prstGeom prst="roundRect">
            <a:avLst>
              <a:gd name="adj" fmla="val 13333"/>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5394960"/>
            <a:ext cx="10451592" cy="32004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תכנון לפני קוד מפחית טעויות בבעיות לוגיות מורכבות.</a:t>
            </a:r>
            <a:endParaRPr lang="en-US" sz="15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24 / 35</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טכניקה 3 · 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תנו למודל “תפקיד” (Role Prompting)</a:t>
            </a:r>
            <a:endParaRPr lang="en-US" sz="3300" dirty="0"/>
          </a:p>
        </p:txBody>
      </p:sp>
      <p:sp>
        <p:nvSpPr>
          <p:cNvPr id="4" name="Shape 2"/>
          <p:cNvSpPr/>
          <p:nvPr/>
        </p:nvSpPr>
        <p:spPr>
          <a:xfrm>
            <a:off x="6277356" y="1737360"/>
            <a:ext cx="5362956" cy="1828800"/>
          </a:xfrm>
          <a:prstGeom prst="roundRect">
            <a:avLst>
              <a:gd name="adj" fmla="val 4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05956" y="1874520"/>
            <a:ext cx="4905756" cy="292608"/>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בלי תפקיד</a:t>
            </a:r>
            <a:endParaRPr lang="en-US" sz="1250" dirty="0"/>
          </a:p>
        </p:txBody>
      </p:sp>
      <p:sp>
        <p:nvSpPr>
          <p:cNvPr id="6" name="Text 4"/>
          <p:cNvSpPr/>
          <p:nvPr/>
        </p:nvSpPr>
        <p:spPr>
          <a:xfrm>
            <a:off x="6533388" y="2240280"/>
            <a:ext cx="4850892" cy="11887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שממיינת רשימה”</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 קוד קצר, בלי תיעוד</a:t>
            </a:r>
            <a:endParaRPr lang="en-US" sz="1300" dirty="0"/>
          </a:p>
        </p:txBody>
      </p:sp>
      <p:sp>
        <p:nvSpPr>
          <p:cNvPr id="7" name="Shape 5"/>
          <p:cNvSpPr/>
          <p:nvPr/>
        </p:nvSpPr>
        <p:spPr>
          <a:xfrm>
            <a:off x="548640" y="1737360"/>
            <a:ext cx="5362956" cy="1828800"/>
          </a:xfrm>
          <a:prstGeom prst="roundRect">
            <a:avLst>
              <a:gd name="adj" fmla="val 4000"/>
            </a:avLst>
          </a:prstGeom>
          <a:solidFill>
            <a:srgbClr val="1B1B2B"/>
          </a:solidFill>
          <a:ln/>
          <a:effectLst>
            <a:outerShdw sx="100000" sy="100000" kx="0" ky="0" algn="bl" rotWithShape="0" blurRad="76200" dist="25400" dir="5400000">
              <a:srgbClr val="999999">
                <a:alpha val="28000"/>
              </a:srgbClr>
            </a:outerShdw>
          </a:effectLst>
        </p:spPr>
      </p:sp>
      <p:sp>
        <p:nvSpPr>
          <p:cNvPr id="8" name="Text 6"/>
          <p:cNvSpPr/>
          <p:nvPr/>
        </p:nvSpPr>
        <p:spPr>
          <a:xfrm>
            <a:off x="777240" y="1874520"/>
            <a:ext cx="4905756" cy="292608"/>
          </a:xfrm>
          <a:prstGeom prst="rect">
            <a:avLst/>
          </a:prstGeom>
          <a:noFill/>
          <a:ln/>
        </p:spPr>
        <p:txBody>
          <a:bodyPr wrap="square" rtlCol="0" anchor="ctr"/>
          <a:lstStyle/>
          <a:p>
            <a:pPr rtl="1" algn="r" indent="0" marL="0">
              <a:buNone/>
            </a:pPr>
            <a:r>
              <a:rPr lang="en-US" sz="1250" b="1" dirty="0">
                <a:solidFill>
                  <a:srgbClr val="82E0AA"/>
                </a:solidFill>
                <a:latin typeface="Arial" pitchFamily="34" charset="0"/>
                <a:ea typeface="Arial" pitchFamily="34" charset="-122"/>
                <a:cs typeface="Arial" pitchFamily="34" charset="-120"/>
              </a:rPr>
              <a:t>עם תפקיד</a:t>
            </a:r>
            <a:endParaRPr lang="en-US" sz="1250" dirty="0"/>
          </a:p>
        </p:txBody>
      </p:sp>
      <p:sp>
        <p:nvSpPr>
          <p:cNvPr id="9" name="Text 7"/>
          <p:cNvSpPr/>
          <p:nvPr/>
        </p:nvSpPr>
        <p:spPr>
          <a:xfrm>
            <a:off x="804672" y="2240280"/>
            <a:ext cx="4850892" cy="1188720"/>
          </a:xfrm>
          <a:prstGeom prst="rect">
            <a:avLst/>
          </a:prstGeom>
          <a:noFill/>
          <a:ln/>
        </p:spPr>
        <p:txBody>
          <a:bodyPr wrap="square" rtlCol="0" anchor="t"/>
          <a:lstStyle/>
          <a:p>
            <a:pPr rtl="1" algn="r" indent="0" marL="0">
              <a:buNone/>
            </a:pPr>
            <a:r>
              <a:rPr lang="en-US" sz="1300" dirty="0">
                <a:solidFill>
                  <a:srgbClr val="E8E8F0"/>
                </a:solidFill>
                <a:latin typeface="Arial" pitchFamily="34" charset="0"/>
                <a:ea typeface="Arial" pitchFamily="34" charset="-122"/>
                <a:cs typeface="Arial" pitchFamily="34" charset="-120"/>
              </a:rPr>
              <a:t>“אתה מפתח Python בכיר שמקפיד על קוד נקי, type hints ותיעוד. כתוב פונקציה שממיינת רשימה.”</a:t>
            </a:r>
            <a:endParaRPr lang="en-US" sz="1300" dirty="0"/>
          </a:p>
          <a:p>
            <a:pPr rtl="1" algn="r" indent="0" marL="0">
              <a:buNone/>
            </a:pPr>
            <a:endParaRPr lang="en-US" sz="1300" dirty="0"/>
          </a:p>
          <a:p>
            <a:pPr rtl="1" algn="r" indent="0" marL="0">
              <a:buNone/>
            </a:pPr>
            <a:r>
              <a:rPr lang="en-US" sz="1300" dirty="0">
                <a:solidFill>
                  <a:srgbClr val="E8E8F0"/>
                </a:solidFill>
                <a:latin typeface="Arial" pitchFamily="34" charset="0"/>
                <a:ea typeface="Arial" pitchFamily="34" charset="-122"/>
                <a:cs typeface="Arial" pitchFamily="34" charset="-120"/>
              </a:rPr>
              <a:t>→ עם docstring וטיפוסים</a:t>
            </a:r>
            <a:endParaRPr lang="en-US" sz="1300" dirty="0"/>
          </a:p>
        </p:txBody>
      </p:sp>
      <p:sp>
        <p:nvSpPr>
          <p:cNvPr id="10" name="Shape 8"/>
          <p:cNvSpPr/>
          <p:nvPr/>
        </p:nvSpPr>
        <p:spPr>
          <a:xfrm>
            <a:off x="548640" y="384048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023360"/>
            <a:ext cx="10451592" cy="5486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התפקיד לא משנה את היכולות של המודל — אבל משנה את הסגנון, רמת הפירוט וההנחות שהוא עושה.</a:t>
            </a:r>
            <a:endParaRPr lang="en-US" sz="16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25 / 35</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מלכודות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טעויות פרומפט נפוצות</a:t>
            </a:r>
            <a:endParaRPr lang="en-US" sz="3300" dirty="0"/>
          </a:p>
        </p:txBody>
      </p:sp>
      <p:sp>
        <p:nvSpPr>
          <p:cNvPr id="4" name="Shape 2"/>
          <p:cNvSpPr/>
          <p:nvPr/>
        </p:nvSpPr>
        <p:spPr>
          <a:xfrm>
            <a:off x="11237976" y="1801368"/>
            <a:ext cx="402336" cy="402336"/>
          </a:xfrm>
          <a:prstGeom prst="ellipse">
            <a:avLst/>
          </a:prstGeom>
          <a:solidFill>
            <a:srgbClr val="9A6A00"/>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מעורפל מדי</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“תעשה לי משהו טוב” — המודל ינחש, ולרוב יטעה.</a:t>
            </a:r>
            <a:endParaRPr lang="en-US" sz="1300" dirty="0"/>
          </a:p>
        </p:txBody>
      </p:sp>
      <p:sp>
        <p:nvSpPr>
          <p:cNvPr id="8" name="Shape 6"/>
          <p:cNvSpPr/>
          <p:nvPr/>
        </p:nvSpPr>
        <p:spPr>
          <a:xfrm>
            <a:off x="11237976" y="2852928"/>
            <a:ext cx="402336" cy="402336"/>
          </a:xfrm>
          <a:prstGeom prst="ellipse">
            <a:avLst/>
          </a:prstGeom>
          <a:solidFill>
            <a:srgbClr val="9A6A00"/>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הכול בבת אחת</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עשר דרישות בפרומפט אחד → המודל מפספס חלק.</a:t>
            </a:r>
            <a:endParaRPr lang="en-US" sz="1300" dirty="0"/>
          </a:p>
        </p:txBody>
      </p:sp>
      <p:sp>
        <p:nvSpPr>
          <p:cNvPr id="12" name="Shape 10"/>
          <p:cNvSpPr/>
          <p:nvPr/>
        </p:nvSpPr>
        <p:spPr>
          <a:xfrm>
            <a:off x="11237976" y="3904488"/>
            <a:ext cx="402336" cy="402336"/>
          </a:xfrm>
          <a:prstGeom prst="ellipse">
            <a:avLst/>
          </a:prstGeom>
          <a:solidFill>
            <a:srgbClr val="9A6A00"/>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בלי אילוצים</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ציינתם מקרי קצה/שפה → מקבלים ברירת מחדל.</a:t>
            </a:r>
            <a:endParaRPr lang="en-US" sz="1300" dirty="0"/>
          </a:p>
        </p:txBody>
      </p:sp>
      <p:sp>
        <p:nvSpPr>
          <p:cNvPr id="16" name="Shape 14"/>
          <p:cNvSpPr/>
          <p:nvPr/>
        </p:nvSpPr>
        <p:spPr>
          <a:xfrm>
            <a:off x="11237976" y="4956048"/>
            <a:ext cx="402336" cy="402336"/>
          </a:xfrm>
          <a:prstGeom prst="ellipse">
            <a:avLst/>
          </a:prstGeom>
          <a:solidFill>
            <a:srgbClr val="9A6A00"/>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מוותרים אחרי ניסיון אחד</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משפרים את הפרומפט → נשארים עם תוצאה בינונית.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26 / 35</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לסיכום המעשי</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מתכון לפרומפט טוב</a:t>
            </a:r>
            <a:endParaRPr lang="en-US" sz="3300" dirty="0"/>
          </a:p>
        </p:txBody>
      </p:sp>
      <p:sp>
        <p:nvSpPr>
          <p:cNvPr id="4" name="Shape 2"/>
          <p:cNvSpPr/>
          <p:nvPr/>
        </p:nvSpPr>
        <p:spPr>
          <a:xfrm>
            <a:off x="11183112" y="1691640"/>
            <a:ext cx="457200" cy="457200"/>
          </a:xfrm>
          <a:prstGeom prst="ellipse">
            <a:avLst/>
          </a:prstGeom>
          <a:solidFill>
            <a:srgbClr val="0E9AA7"/>
          </a:solidFill>
          <a:ln/>
        </p:spPr>
      </p:sp>
      <p:sp>
        <p:nvSpPr>
          <p:cNvPr id="5" name="Text 3"/>
          <p:cNvSpPr/>
          <p:nvPr/>
        </p:nvSpPr>
        <p:spPr>
          <a:xfrm>
            <a:off x="11183112" y="16916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673352"/>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הקשר — מה, למי, איזו טכנולוגיה.</a:t>
            </a:r>
            <a:endParaRPr lang="en-US" sz="1700" dirty="0"/>
          </a:p>
        </p:txBody>
      </p:sp>
      <p:sp>
        <p:nvSpPr>
          <p:cNvPr id="7" name="Shape 5"/>
          <p:cNvSpPr/>
          <p:nvPr/>
        </p:nvSpPr>
        <p:spPr>
          <a:xfrm>
            <a:off x="11183112" y="2624328"/>
            <a:ext cx="457200" cy="457200"/>
          </a:xfrm>
          <a:prstGeom prst="ellipse">
            <a:avLst/>
          </a:prstGeom>
          <a:solidFill>
            <a:srgbClr val="0E9AA7"/>
          </a:solidFill>
          <a:ln/>
        </p:spPr>
      </p:sp>
      <p:sp>
        <p:nvSpPr>
          <p:cNvPr id="8" name="Text 6"/>
          <p:cNvSpPr/>
          <p:nvPr/>
        </p:nvSpPr>
        <p:spPr>
          <a:xfrm>
            <a:off x="11183112" y="262432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606040"/>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מטרה — מה בדיוק שייווצר, במשפט ברור.</a:t>
            </a:r>
            <a:endParaRPr lang="en-US" sz="1700" dirty="0"/>
          </a:p>
        </p:txBody>
      </p:sp>
      <p:sp>
        <p:nvSpPr>
          <p:cNvPr id="10" name="Shape 8"/>
          <p:cNvSpPr/>
          <p:nvPr/>
        </p:nvSpPr>
        <p:spPr>
          <a:xfrm>
            <a:off x="11183112" y="3557016"/>
            <a:ext cx="457200" cy="457200"/>
          </a:xfrm>
          <a:prstGeom prst="ellipse">
            <a:avLst/>
          </a:prstGeom>
          <a:solidFill>
            <a:srgbClr val="0E9AA7"/>
          </a:solidFill>
          <a:ln/>
        </p:spPr>
      </p:sp>
      <p:sp>
        <p:nvSpPr>
          <p:cNvPr id="11" name="Text 9"/>
          <p:cNvSpPr/>
          <p:nvPr/>
        </p:nvSpPr>
        <p:spPr>
          <a:xfrm>
            <a:off x="11183112" y="3557016"/>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538728"/>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אילוצים — שפה, ספריות, מקרי קצה, סגנון.</a:t>
            </a:r>
            <a:endParaRPr lang="en-US" sz="1700" dirty="0"/>
          </a:p>
        </p:txBody>
      </p:sp>
      <p:sp>
        <p:nvSpPr>
          <p:cNvPr id="13" name="Shape 11"/>
          <p:cNvSpPr/>
          <p:nvPr/>
        </p:nvSpPr>
        <p:spPr>
          <a:xfrm>
            <a:off x="11183112" y="4489704"/>
            <a:ext cx="457200" cy="457200"/>
          </a:xfrm>
          <a:prstGeom prst="ellipse">
            <a:avLst/>
          </a:prstGeom>
          <a:solidFill>
            <a:srgbClr val="0E9AA7"/>
          </a:solidFill>
          <a:ln/>
        </p:spPr>
      </p:sp>
      <p:sp>
        <p:nvSpPr>
          <p:cNvPr id="14" name="Text 12"/>
          <p:cNvSpPr/>
          <p:nvPr/>
        </p:nvSpPr>
        <p:spPr>
          <a:xfrm>
            <a:off x="11183112" y="4489704"/>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4471416"/>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פורמט — איך לקבל את התשובה.</a:t>
            </a:r>
            <a:endParaRPr lang="en-US" sz="1700" dirty="0"/>
          </a:p>
        </p:txBody>
      </p:sp>
      <p:sp>
        <p:nvSpPr>
          <p:cNvPr id="16" name="Shape 14"/>
          <p:cNvSpPr/>
          <p:nvPr/>
        </p:nvSpPr>
        <p:spPr>
          <a:xfrm>
            <a:off x="11183112" y="5422392"/>
            <a:ext cx="457200" cy="457200"/>
          </a:xfrm>
          <a:prstGeom prst="ellipse">
            <a:avLst/>
          </a:prstGeom>
          <a:solidFill>
            <a:srgbClr val="0E9AA7"/>
          </a:solidFill>
          <a:ln/>
        </p:spPr>
      </p:sp>
      <p:sp>
        <p:nvSpPr>
          <p:cNvPr id="17" name="Text 15"/>
          <p:cNvSpPr/>
          <p:nvPr/>
        </p:nvSpPr>
        <p:spPr>
          <a:xfrm>
            <a:off x="11183112" y="5422392"/>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8" name="Text 16"/>
          <p:cNvSpPr/>
          <p:nvPr/>
        </p:nvSpPr>
        <p:spPr>
          <a:xfrm>
            <a:off x="548640" y="5404104"/>
            <a:ext cx="1046988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אם מורכב: דוגמאות (few-shot) ו/או פירוק לצעדים — ואז לשפר באיטרציה.</a:t>
            </a:r>
            <a:endParaRPr lang="en-US" sz="170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27 / 35</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בדיקת הבנה (≈ 6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שלוש שאלות — נצביע ונדון</a:t>
            </a:r>
            <a:endParaRPr lang="en-US" sz="3300" dirty="0"/>
          </a:p>
        </p:txBody>
      </p:sp>
      <p:sp>
        <p:nvSpPr>
          <p:cNvPr id="4" name="Shape 2"/>
          <p:cNvSpPr/>
          <p:nvPr/>
        </p:nvSpPr>
        <p:spPr>
          <a:xfrm>
            <a:off x="548640" y="1691640"/>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11091672" y="1856232"/>
            <a:ext cx="457200" cy="457200"/>
          </a:xfrm>
          <a:prstGeom prst="ellipse">
            <a:avLst/>
          </a:prstGeom>
          <a:solidFill>
            <a:srgbClr val="3B3B98"/>
          </a:solidFill>
          <a:ln/>
        </p:spPr>
      </p:sp>
      <p:sp>
        <p:nvSpPr>
          <p:cNvPr id="6" name="Text 4"/>
          <p:cNvSpPr/>
          <p:nvPr/>
        </p:nvSpPr>
        <p:spPr>
          <a:xfrm>
            <a:off x="11091672" y="1856232"/>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822960" y="1874520"/>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מהן 4 אבני היסוד של פרומפט?</a:t>
            </a:r>
            <a:endParaRPr lang="en-US" sz="1600" dirty="0"/>
          </a:p>
        </p:txBody>
      </p:sp>
      <p:sp>
        <p:nvSpPr>
          <p:cNvPr id="8" name="Text 6"/>
          <p:cNvSpPr/>
          <p:nvPr/>
        </p:nvSpPr>
        <p:spPr>
          <a:xfrm>
            <a:off x="822960" y="2313432"/>
            <a:ext cx="10543032" cy="41148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א) שפה/גרסה/עלות/מהירות     ב) הקשר/מטרה/אילוצים/פורמט     ג) קלט/פלט/ריצה/בדיקה</a:t>
            </a:r>
            <a:endParaRPr lang="en-US" sz="1250" dirty="0"/>
          </a:p>
        </p:txBody>
      </p:sp>
      <p:sp>
        <p:nvSpPr>
          <p:cNvPr id="9" name="Shape 7"/>
          <p:cNvSpPr/>
          <p:nvPr/>
        </p:nvSpPr>
        <p:spPr>
          <a:xfrm>
            <a:off x="548640" y="2990088"/>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11091672" y="3154680"/>
            <a:ext cx="457200" cy="457200"/>
          </a:xfrm>
          <a:prstGeom prst="ellipse">
            <a:avLst/>
          </a:prstGeom>
          <a:solidFill>
            <a:srgbClr val="3B3B98"/>
          </a:solidFill>
          <a:ln/>
        </p:spPr>
      </p:sp>
      <p:sp>
        <p:nvSpPr>
          <p:cNvPr id="11" name="Text 9"/>
          <p:cNvSpPr/>
          <p:nvPr/>
        </p:nvSpPr>
        <p:spPr>
          <a:xfrm>
            <a:off x="11091672" y="315468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822960" y="3172968"/>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זה few-shot?</a:t>
            </a:r>
            <a:endParaRPr lang="en-US" sz="1600" dirty="0"/>
          </a:p>
        </p:txBody>
      </p:sp>
      <p:sp>
        <p:nvSpPr>
          <p:cNvPr id="13" name="Text 11"/>
          <p:cNvSpPr/>
          <p:nvPr/>
        </p:nvSpPr>
        <p:spPr>
          <a:xfrm>
            <a:off x="822960" y="3611880"/>
            <a:ext cx="10543032" cy="41148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א) פרומפט קצר     ב) מתן דוגמאות שהמודל ילמד מהן     ג) הרצה מהירה</a:t>
            </a:r>
            <a:endParaRPr lang="en-US" sz="1250" dirty="0"/>
          </a:p>
        </p:txBody>
      </p:sp>
      <p:sp>
        <p:nvSpPr>
          <p:cNvPr id="14" name="Shape 12"/>
          <p:cNvSpPr/>
          <p:nvPr/>
        </p:nvSpPr>
        <p:spPr>
          <a:xfrm>
            <a:off x="548640" y="4288536"/>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11091672" y="4453128"/>
            <a:ext cx="457200" cy="457200"/>
          </a:xfrm>
          <a:prstGeom prst="ellipse">
            <a:avLst/>
          </a:prstGeom>
          <a:solidFill>
            <a:srgbClr val="3B3B98"/>
          </a:solidFill>
          <a:ln/>
        </p:spPr>
      </p:sp>
      <p:sp>
        <p:nvSpPr>
          <p:cNvPr id="16" name="Text 14"/>
          <p:cNvSpPr/>
          <p:nvPr/>
        </p:nvSpPr>
        <p:spPr>
          <a:xfrm>
            <a:off x="11091672" y="445312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822960" y="4471416"/>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עושים עם משימה גדולה ומעורפלת?</a:t>
            </a:r>
            <a:endParaRPr lang="en-US" sz="1600" dirty="0"/>
          </a:p>
        </p:txBody>
      </p:sp>
      <p:sp>
        <p:nvSpPr>
          <p:cNvPr id="18" name="Text 16"/>
          <p:cNvSpPr/>
          <p:nvPr/>
        </p:nvSpPr>
        <p:spPr>
          <a:xfrm>
            <a:off x="822960" y="4910328"/>
            <a:ext cx="10543032" cy="411480"/>
          </a:xfrm>
          <a:prstGeom prst="rect">
            <a:avLst/>
          </a:prstGeom>
          <a:noFill/>
          <a:ln/>
        </p:spPr>
        <p:txBody>
          <a:bodyPr wrap="square" rtlCol="0" anchor="t"/>
          <a:lstStyle/>
          <a:p>
            <a:pPr rtl="1" algn="r" indent="0" marL="0">
              <a:buNone/>
            </a:pPr>
            <a:r>
              <a:rPr lang="en-US" sz="1250" dirty="0">
                <a:solidFill>
                  <a:srgbClr val="222232"/>
                </a:solidFill>
                <a:latin typeface="Arial" pitchFamily="34" charset="0"/>
                <a:ea typeface="Arial" pitchFamily="34" charset="-122"/>
                <a:cs typeface="Arial" pitchFamily="34" charset="-120"/>
              </a:rPr>
              <a:t>א) מבקשים הכול בפרומפט אחד     ב) מפרקים לצעדים קטנים     ג) מוותרים</a:t>
            </a:r>
            <a:endParaRPr lang="en-US" sz="1250" dirty="0"/>
          </a:p>
        </p:txBody>
      </p:sp>
      <p:sp>
        <p:nvSpPr>
          <p:cNvPr id="19" name="Text 17"/>
          <p:cNvSpPr/>
          <p:nvPr/>
        </p:nvSpPr>
        <p:spPr>
          <a:xfrm>
            <a:off x="548640" y="5669280"/>
            <a:ext cx="11091672" cy="320040"/>
          </a:xfrm>
          <a:prstGeom prst="rect">
            <a:avLst/>
          </a:prstGeom>
          <a:noFill/>
          <a:ln/>
        </p:spPr>
        <p:txBody>
          <a:bodyPr wrap="square" rtlCol="0" anchor="t"/>
          <a:lstStyle/>
          <a:p>
            <a:pPr rtl="1" algn="r" indent="0" marL="0">
              <a:buNone/>
            </a:pPr>
            <a:r>
              <a:rPr lang="en-US" sz="1250" i="1" dirty="0">
                <a:solidFill>
                  <a:srgbClr val="6B6B80"/>
                </a:solidFill>
                <a:latin typeface="Arial" pitchFamily="34" charset="0"/>
                <a:ea typeface="Arial" pitchFamily="34" charset="-122"/>
                <a:cs typeface="Arial" pitchFamily="34" charset="-120"/>
              </a:rPr>
              <a:t>התשובות בהערות המרצה — לומדים לבד: ענו לפני שאתם בודקים.</a:t>
            </a:r>
            <a:endParaRPr lang="en-US" sz="125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28 / 35</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סיכום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FFFFFF"/>
                </a:solidFill>
                <a:latin typeface="Arial" pitchFamily="34" charset="0"/>
                <a:ea typeface="Arial" pitchFamily="34" charset="-122"/>
                <a:cs typeface="Arial" pitchFamily="34" charset="-120"/>
              </a:rPr>
              <a:t>מה כיסינו במפגש</a:t>
            </a:r>
            <a:endParaRPr lang="en-US" sz="3300" dirty="0"/>
          </a:p>
        </p:txBody>
      </p:sp>
      <p:sp>
        <p:nvSpPr>
          <p:cNvPr id="4" name="Shape 2"/>
          <p:cNvSpPr/>
          <p:nvPr/>
        </p:nvSpPr>
        <p:spPr>
          <a:xfrm>
            <a:off x="11256264" y="1783080"/>
            <a:ext cx="384048" cy="384048"/>
          </a:xfrm>
          <a:prstGeom prst="ellipse">
            <a:avLst/>
          </a:prstGeom>
          <a:solidFill>
            <a:srgbClr val="0E9AA7"/>
          </a:solidFill>
          <a:ln/>
        </p:spPr>
      </p:sp>
      <p:sp>
        <p:nvSpPr>
          <p:cNvPr id="5" name="Text 3"/>
          <p:cNvSpPr/>
          <p:nvPr/>
        </p:nvSpPr>
        <p:spPr>
          <a:xfrm>
            <a:off x="11256264" y="178308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8640" y="1764792"/>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ניסוח הפרומפט משנה דרמטית את איכות הקוד</a:t>
            </a:r>
            <a:endParaRPr lang="en-US" sz="1650" dirty="0"/>
          </a:p>
        </p:txBody>
      </p:sp>
      <p:sp>
        <p:nvSpPr>
          <p:cNvPr id="7" name="Shape 5"/>
          <p:cNvSpPr/>
          <p:nvPr/>
        </p:nvSpPr>
        <p:spPr>
          <a:xfrm>
            <a:off x="11256264" y="2496312"/>
            <a:ext cx="384048" cy="384048"/>
          </a:xfrm>
          <a:prstGeom prst="ellipse">
            <a:avLst/>
          </a:prstGeom>
          <a:solidFill>
            <a:srgbClr val="0E9AA7"/>
          </a:solidFill>
          <a:ln/>
        </p:spPr>
      </p:sp>
      <p:sp>
        <p:nvSpPr>
          <p:cNvPr id="8" name="Text 6"/>
          <p:cNvSpPr/>
          <p:nvPr/>
        </p:nvSpPr>
        <p:spPr>
          <a:xfrm>
            <a:off x="11256264" y="2496312"/>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548640" y="2478024"/>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4 אבני היסוד: הקשר · מטרה · אילוצים · פורמט</a:t>
            </a:r>
            <a:endParaRPr lang="en-US" sz="1650" dirty="0"/>
          </a:p>
        </p:txBody>
      </p:sp>
      <p:sp>
        <p:nvSpPr>
          <p:cNvPr id="10" name="Shape 8"/>
          <p:cNvSpPr/>
          <p:nvPr/>
        </p:nvSpPr>
        <p:spPr>
          <a:xfrm>
            <a:off x="11256264" y="3209544"/>
            <a:ext cx="384048" cy="384048"/>
          </a:xfrm>
          <a:prstGeom prst="ellipse">
            <a:avLst/>
          </a:prstGeom>
          <a:solidFill>
            <a:srgbClr val="0E9AA7"/>
          </a:solidFill>
          <a:ln/>
        </p:spPr>
      </p:sp>
      <p:sp>
        <p:nvSpPr>
          <p:cNvPr id="11" name="Text 9"/>
          <p:cNvSpPr/>
          <p:nvPr/>
        </p:nvSpPr>
        <p:spPr>
          <a:xfrm>
            <a:off x="11256264" y="3209544"/>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548640" y="3191256"/>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Few-shot — ללמד את המודל דרך דוגמאות</a:t>
            </a:r>
            <a:endParaRPr lang="en-US" sz="1650" dirty="0"/>
          </a:p>
        </p:txBody>
      </p:sp>
      <p:sp>
        <p:nvSpPr>
          <p:cNvPr id="13" name="Shape 11"/>
          <p:cNvSpPr/>
          <p:nvPr/>
        </p:nvSpPr>
        <p:spPr>
          <a:xfrm>
            <a:off x="11256264" y="3922776"/>
            <a:ext cx="384048" cy="384048"/>
          </a:xfrm>
          <a:prstGeom prst="ellipse">
            <a:avLst/>
          </a:prstGeom>
          <a:solidFill>
            <a:srgbClr val="0E9AA7"/>
          </a:solidFill>
          <a:ln/>
        </p:spPr>
      </p:sp>
      <p:sp>
        <p:nvSpPr>
          <p:cNvPr id="14" name="Text 12"/>
          <p:cNvSpPr/>
          <p:nvPr/>
        </p:nvSpPr>
        <p:spPr>
          <a:xfrm>
            <a:off x="11256264" y="3922776"/>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548640" y="3904488"/>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פירוק משימה גדולה לצעדים</a:t>
            </a:r>
            <a:endParaRPr lang="en-US" sz="1650" dirty="0"/>
          </a:p>
        </p:txBody>
      </p:sp>
      <p:sp>
        <p:nvSpPr>
          <p:cNvPr id="16" name="Shape 14"/>
          <p:cNvSpPr/>
          <p:nvPr/>
        </p:nvSpPr>
        <p:spPr>
          <a:xfrm>
            <a:off x="11256264" y="4636008"/>
            <a:ext cx="384048" cy="384048"/>
          </a:xfrm>
          <a:prstGeom prst="ellipse">
            <a:avLst/>
          </a:prstGeom>
          <a:solidFill>
            <a:srgbClr val="0E9AA7"/>
          </a:solidFill>
          <a:ln/>
        </p:spPr>
      </p:sp>
      <p:sp>
        <p:nvSpPr>
          <p:cNvPr id="17" name="Text 15"/>
          <p:cNvSpPr/>
          <p:nvPr/>
        </p:nvSpPr>
        <p:spPr>
          <a:xfrm>
            <a:off x="11256264" y="4636008"/>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548640" y="4617720"/>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שיפור פרומפט באיטרציה — 2-3 סבבים זו הנורמה</a:t>
            </a:r>
            <a:endParaRPr lang="en-US" sz="16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29 / 35</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גשר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תוכנית התרגול — 45 דקות</a:t>
            </a:r>
            <a:endParaRPr lang="en-US" sz="3300" dirty="0"/>
          </a:p>
        </p:txBody>
      </p:sp>
      <p:sp>
        <p:nvSpPr>
          <p:cNvPr id="4" name="Shape 2"/>
          <p:cNvSpPr/>
          <p:nvPr/>
        </p:nvSpPr>
        <p:spPr>
          <a:xfrm>
            <a:off x="2011680" y="1691640"/>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2240280" y="1691640"/>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הקמה · בחירת כלי + כניסה</a:t>
            </a:r>
            <a:endParaRPr lang="en-US" sz="1600" dirty="0"/>
          </a:p>
        </p:txBody>
      </p:sp>
      <p:sp>
        <p:nvSpPr>
          <p:cNvPr id="6" name="Shape 4"/>
          <p:cNvSpPr/>
          <p:nvPr/>
        </p:nvSpPr>
        <p:spPr>
          <a:xfrm>
            <a:off x="548640" y="1691640"/>
            <a:ext cx="1280160" cy="621792"/>
          </a:xfrm>
          <a:prstGeom prst="roundRect">
            <a:avLst>
              <a:gd name="adj" fmla="val 11765"/>
            </a:avLst>
          </a:prstGeom>
          <a:solidFill>
            <a:srgbClr val="3B3B98"/>
          </a:solidFill>
          <a:ln/>
        </p:spPr>
      </p:sp>
      <p:sp>
        <p:nvSpPr>
          <p:cNvPr id="7" name="Text 5"/>
          <p:cNvSpPr/>
          <p:nvPr/>
        </p:nvSpPr>
        <p:spPr>
          <a:xfrm>
            <a:off x="548640" y="1691640"/>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 דק'</a:t>
            </a:r>
            <a:endParaRPr lang="en-US" sz="1500" dirty="0"/>
          </a:p>
        </p:txBody>
      </p:sp>
      <p:sp>
        <p:nvSpPr>
          <p:cNvPr id="8" name="Shape 6"/>
          <p:cNvSpPr/>
          <p:nvPr/>
        </p:nvSpPr>
        <p:spPr>
          <a:xfrm>
            <a:off x="2011680" y="2441448"/>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9" name="Text 7"/>
          <p:cNvSpPr/>
          <p:nvPr/>
        </p:nvSpPr>
        <p:spPr>
          <a:xfrm>
            <a:off x="2240280" y="2441448"/>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א' · שיפור פרומפט “גרוע” נתון</a:t>
            </a:r>
            <a:endParaRPr lang="en-US" sz="1600" dirty="0"/>
          </a:p>
        </p:txBody>
      </p:sp>
      <p:sp>
        <p:nvSpPr>
          <p:cNvPr id="10" name="Shape 8"/>
          <p:cNvSpPr/>
          <p:nvPr/>
        </p:nvSpPr>
        <p:spPr>
          <a:xfrm>
            <a:off x="548640" y="2441448"/>
            <a:ext cx="1280160" cy="621792"/>
          </a:xfrm>
          <a:prstGeom prst="roundRect">
            <a:avLst>
              <a:gd name="adj" fmla="val 11765"/>
            </a:avLst>
          </a:prstGeom>
          <a:solidFill>
            <a:srgbClr val="0E9AA7"/>
          </a:solidFill>
          <a:ln/>
        </p:spPr>
      </p:sp>
      <p:sp>
        <p:nvSpPr>
          <p:cNvPr id="11" name="Text 9"/>
          <p:cNvSpPr/>
          <p:nvPr/>
        </p:nvSpPr>
        <p:spPr>
          <a:xfrm>
            <a:off x="548640" y="2441448"/>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18 דק'</a:t>
            </a:r>
            <a:endParaRPr lang="en-US" sz="1500" dirty="0"/>
          </a:p>
        </p:txBody>
      </p:sp>
      <p:sp>
        <p:nvSpPr>
          <p:cNvPr id="12" name="Shape 10"/>
          <p:cNvSpPr/>
          <p:nvPr/>
        </p:nvSpPr>
        <p:spPr>
          <a:xfrm>
            <a:off x="2011680" y="3191256"/>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2240280" y="3191256"/>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ב' · יישום המבנה על משימה חדשה</a:t>
            </a:r>
            <a:endParaRPr lang="en-US" sz="1600" dirty="0"/>
          </a:p>
        </p:txBody>
      </p:sp>
      <p:sp>
        <p:nvSpPr>
          <p:cNvPr id="14" name="Shape 12"/>
          <p:cNvSpPr/>
          <p:nvPr/>
        </p:nvSpPr>
        <p:spPr>
          <a:xfrm>
            <a:off x="548640" y="3191256"/>
            <a:ext cx="1280160" cy="621792"/>
          </a:xfrm>
          <a:prstGeom prst="roundRect">
            <a:avLst>
              <a:gd name="adj" fmla="val 11765"/>
            </a:avLst>
          </a:prstGeom>
          <a:solidFill>
            <a:srgbClr val="0E9AA7"/>
          </a:solidFill>
          <a:ln/>
        </p:spPr>
      </p:sp>
      <p:sp>
        <p:nvSpPr>
          <p:cNvPr id="15" name="Text 13"/>
          <p:cNvSpPr/>
          <p:nvPr/>
        </p:nvSpPr>
        <p:spPr>
          <a:xfrm>
            <a:off x="548640" y="3191256"/>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12 דק'</a:t>
            </a:r>
            <a:endParaRPr lang="en-US" sz="1500" dirty="0"/>
          </a:p>
        </p:txBody>
      </p:sp>
      <p:sp>
        <p:nvSpPr>
          <p:cNvPr id="16" name="Shape 14"/>
          <p:cNvSpPr/>
          <p:nvPr/>
        </p:nvSpPr>
        <p:spPr>
          <a:xfrm>
            <a:off x="2011680" y="3941064"/>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2240280" y="3941064"/>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תיעוד Before/After + Prompt Log</a:t>
            </a:r>
            <a:endParaRPr lang="en-US" sz="1600" dirty="0"/>
          </a:p>
        </p:txBody>
      </p:sp>
      <p:sp>
        <p:nvSpPr>
          <p:cNvPr id="18" name="Shape 16"/>
          <p:cNvSpPr/>
          <p:nvPr/>
        </p:nvSpPr>
        <p:spPr>
          <a:xfrm>
            <a:off x="548640" y="3941064"/>
            <a:ext cx="1280160" cy="621792"/>
          </a:xfrm>
          <a:prstGeom prst="roundRect">
            <a:avLst>
              <a:gd name="adj" fmla="val 11765"/>
            </a:avLst>
          </a:prstGeom>
          <a:solidFill>
            <a:srgbClr val="3B3B98"/>
          </a:solidFill>
          <a:ln/>
        </p:spPr>
      </p:sp>
      <p:sp>
        <p:nvSpPr>
          <p:cNvPr id="19" name="Text 17"/>
          <p:cNvSpPr/>
          <p:nvPr/>
        </p:nvSpPr>
        <p:spPr>
          <a:xfrm>
            <a:off x="548640" y="3941064"/>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8 דק'</a:t>
            </a:r>
            <a:endParaRPr lang="en-US" sz="1500" dirty="0"/>
          </a:p>
        </p:txBody>
      </p:sp>
      <p:sp>
        <p:nvSpPr>
          <p:cNvPr id="20" name="Shape 18"/>
          <p:cNvSpPr/>
          <p:nvPr/>
        </p:nvSpPr>
        <p:spPr>
          <a:xfrm>
            <a:off x="2011680" y="4690872"/>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2240280" y="4690872"/>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סיכום</a:t>
            </a:r>
            <a:endParaRPr lang="en-US" sz="1600" dirty="0"/>
          </a:p>
        </p:txBody>
      </p:sp>
      <p:sp>
        <p:nvSpPr>
          <p:cNvPr id="22" name="Shape 20"/>
          <p:cNvSpPr/>
          <p:nvPr/>
        </p:nvSpPr>
        <p:spPr>
          <a:xfrm>
            <a:off x="548640" y="4690872"/>
            <a:ext cx="1280160" cy="621792"/>
          </a:xfrm>
          <a:prstGeom prst="roundRect">
            <a:avLst>
              <a:gd name="adj" fmla="val 11765"/>
            </a:avLst>
          </a:prstGeom>
          <a:solidFill>
            <a:srgbClr val="3B3B98"/>
          </a:solidFill>
          <a:ln/>
        </p:spPr>
      </p:sp>
      <p:sp>
        <p:nvSpPr>
          <p:cNvPr id="23" name="Text 21"/>
          <p:cNvSpPr/>
          <p:nvPr/>
        </p:nvSpPr>
        <p:spPr>
          <a:xfrm>
            <a:off x="548640" y="4690872"/>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2 דק'</a:t>
            </a:r>
            <a:endParaRPr lang="en-US" sz="1500" dirty="0"/>
          </a:p>
        </p:txBody>
      </p:sp>
      <p:sp>
        <p:nvSpPr>
          <p:cNvPr id="24" name="Text 22"/>
          <p:cNvSpPr/>
          <p:nvPr/>
        </p:nvSpPr>
        <p:spPr>
          <a:xfrm>
            <a:off x="548640" y="553212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המטרה: להפוך פרומפט חלש לחזק · צריך: חשבון חינמי + דפדפן.</a:t>
            </a:r>
            <a:endParaRPr lang="en-US" sz="135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30 / 35</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א' (18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שפרו את הפרומפט הגרוע</a:t>
            </a:r>
            <a:endParaRPr lang="en-US" sz="3300" dirty="0"/>
          </a:p>
        </p:txBody>
      </p:sp>
      <p:sp>
        <p:nvSpPr>
          <p:cNvPr id="4" name="Shape 2"/>
          <p:cNvSpPr/>
          <p:nvPr/>
        </p:nvSpPr>
        <p:spPr>
          <a:xfrm>
            <a:off x="548640" y="1691640"/>
            <a:ext cx="11091672" cy="822960"/>
          </a:xfrm>
          <a:prstGeom prst="roundRect">
            <a:avLst>
              <a:gd name="adj" fmla="val 8889"/>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531352" y="1783080"/>
            <a:ext cx="2926080" cy="320040"/>
          </a:xfrm>
          <a:prstGeom prst="rect">
            <a:avLst/>
          </a:prstGeom>
          <a:noFill/>
          <a:ln/>
        </p:spPr>
        <p:txBody>
          <a:bodyPr wrap="square" rtlCol="0" anchor="ctr"/>
          <a:lstStyle/>
          <a:p>
            <a:pPr rtl="1" algn="r" indent="0" marL="0">
              <a:buNone/>
            </a:pPr>
            <a:r>
              <a:rPr lang="en-US" sz="1250" b="1" dirty="0">
                <a:solidFill>
                  <a:srgbClr val="F1948A"/>
                </a:solidFill>
                <a:latin typeface="Arial" pitchFamily="34" charset="0"/>
                <a:ea typeface="Arial" pitchFamily="34" charset="-122"/>
                <a:cs typeface="Arial" pitchFamily="34" charset="-120"/>
              </a:rPr>
              <a:t>הפרומפט הגרוע (התחילו ממנו):</a:t>
            </a:r>
            <a:endParaRPr lang="en-US" sz="1250" dirty="0"/>
          </a:p>
        </p:txBody>
      </p:sp>
      <p:sp>
        <p:nvSpPr>
          <p:cNvPr id="6" name="Text 4"/>
          <p:cNvSpPr/>
          <p:nvPr/>
        </p:nvSpPr>
        <p:spPr>
          <a:xfrm>
            <a:off x="822960" y="2121408"/>
            <a:ext cx="10543032" cy="365760"/>
          </a:xfrm>
          <a:prstGeom prst="rect">
            <a:avLst/>
          </a:prstGeom>
          <a:noFill/>
          <a:ln/>
        </p:spPr>
        <p:txBody>
          <a:bodyPr wrap="square" rtlCol="0" anchor="ctr"/>
          <a:lstStyle/>
          <a:p>
            <a:pPr rtl="1" algn="r" indent="0" marL="0">
              <a:buNone/>
            </a:pPr>
            <a:r>
              <a:rPr lang="en-US" sz="1500" dirty="0">
                <a:solidFill>
                  <a:srgbClr val="E8E8F0"/>
                </a:solidFill>
                <a:latin typeface="Arial" pitchFamily="34" charset="0"/>
                <a:ea typeface="Arial" pitchFamily="34" charset="-122"/>
                <a:cs typeface="Arial" pitchFamily="34" charset="-120"/>
              </a:rPr>
              <a:t>“תעשה בדיקת ראשוניות”</a:t>
            </a:r>
            <a:endParaRPr lang="en-US" sz="1500" dirty="0"/>
          </a:p>
        </p:txBody>
      </p:sp>
      <p:sp>
        <p:nvSpPr>
          <p:cNvPr id="7" name="Text 5"/>
          <p:cNvSpPr/>
          <p:nvPr/>
        </p:nvSpPr>
        <p:spPr>
          <a:xfrm>
            <a:off x="548640" y="2697480"/>
            <a:ext cx="11091672" cy="32004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הצעדים:</a:t>
            </a:r>
            <a:endParaRPr lang="en-US" sz="1500" dirty="0"/>
          </a:p>
        </p:txBody>
      </p:sp>
      <p:sp>
        <p:nvSpPr>
          <p:cNvPr id="8" name="Shape 6"/>
          <p:cNvSpPr/>
          <p:nvPr/>
        </p:nvSpPr>
        <p:spPr>
          <a:xfrm>
            <a:off x="11237976" y="3063240"/>
            <a:ext cx="402336" cy="402336"/>
          </a:xfrm>
          <a:prstGeom prst="ellipse">
            <a:avLst/>
          </a:prstGeom>
          <a:solidFill>
            <a:srgbClr val="3B3B98"/>
          </a:solidFill>
          <a:ln/>
        </p:spPr>
      </p:sp>
      <p:sp>
        <p:nvSpPr>
          <p:cNvPr id="9" name="Text 7"/>
          <p:cNvSpPr/>
          <p:nvPr/>
        </p:nvSpPr>
        <p:spPr>
          <a:xfrm>
            <a:off x="11237976" y="30632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0449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הפרומפט הגרוע וקראו את התוצאה — מה חסר/שגוי?</a:t>
            </a:r>
            <a:endParaRPr lang="en-US" sz="1700" dirty="0"/>
          </a:p>
        </p:txBody>
      </p:sp>
      <p:sp>
        <p:nvSpPr>
          <p:cNvPr id="11" name="Shape 9"/>
          <p:cNvSpPr/>
          <p:nvPr/>
        </p:nvSpPr>
        <p:spPr>
          <a:xfrm>
            <a:off x="11237976" y="3611880"/>
            <a:ext cx="402336" cy="402336"/>
          </a:xfrm>
          <a:prstGeom prst="ellipse">
            <a:avLst/>
          </a:prstGeom>
          <a:solidFill>
            <a:srgbClr val="3B3B98"/>
          </a:solidFill>
          <a:ln/>
        </p:spPr>
      </p:sp>
      <p:sp>
        <p:nvSpPr>
          <p:cNvPr id="12" name="Text 10"/>
          <p:cNvSpPr/>
          <p:nvPr/>
        </p:nvSpPr>
        <p:spPr>
          <a:xfrm>
            <a:off x="11237976" y="361188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59359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שפרו בעזרת 4 אבני היסוד (הקשר, מטרה, אילוצים, פורמט).</a:t>
            </a:r>
            <a:endParaRPr lang="en-US" sz="1700" dirty="0"/>
          </a:p>
        </p:txBody>
      </p:sp>
      <p:sp>
        <p:nvSpPr>
          <p:cNvPr id="14" name="Shape 12"/>
          <p:cNvSpPr/>
          <p:nvPr/>
        </p:nvSpPr>
        <p:spPr>
          <a:xfrm>
            <a:off x="11237976" y="4160520"/>
            <a:ext cx="402336" cy="402336"/>
          </a:xfrm>
          <a:prstGeom prst="ellipse">
            <a:avLst/>
          </a:prstGeom>
          <a:solidFill>
            <a:srgbClr val="3B3B98"/>
          </a:solidFill>
          <a:ln/>
        </p:spPr>
      </p:sp>
      <p:sp>
        <p:nvSpPr>
          <p:cNvPr id="15" name="Text 13"/>
          <p:cNvSpPr/>
          <p:nvPr/>
        </p:nvSpPr>
        <p:spPr>
          <a:xfrm>
            <a:off x="11237976" y="416052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14223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שוב, ואם צריך — שפרו עוד (איטרציה), עד לפתרון תקין.</a:t>
            </a:r>
            <a:endParaRPr lang="en-US" sz="1700" dirty="0"/>
          </a:p>
        </p:txBody>
      </p:sp>
      <p:sp>
        <p:nvSpPr>
          <p:cNvPr id="17" name="Shape 15"/>
          <p:cNvSpPr/>
          <p:nvPr/>
        </p:nvSpPr>
        <p:spPr>
          <a:xfrm>
            <a:off x="11237976" y="4709160"/>
            <a:ext cx="402336" cy="402336"/>
          </a:xfrm>
          <a:prstGeom prst="ellipse">
            <a:avLst/>
          </a:prstGeom>
          <a:solidFill>
            <a:srgbClr val="3B3B98"/>
          </a:solidFill>
          <a:ln/>
        </p:spPr>
      </p:sp>
      <p:sp>
        <p:nvSpPr>
          <p:cNvPr id="18" name="Text 16"/>
          <p:cNvSpPr/>
          <p:nvPr/>
        </p:nvSpPr>
        <p:spPr>
          <a:xfrm>
            <a:off x="11237976" y="470916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548640" y="469087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הקוד הסופי ובדקו: מטופל n≤1? נכון?</a:t>
            </a:r>
            <a:endParaRPr lang="en-US" sz="17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31 / 35</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ב' (12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יישמו את המבנה על משימה חדשה</a:t>
            </a:r>
            <a:endParaRPr lang="en-US" sz="3300" dirty="0"/>
          </a:p>
        </p:txBody>
      </p:sp>
      <p:sp>
        <p:nvSpPr>
          <p:cNvPr id="4" name="Shape 2"/>
          <p:cNvSpPr/>
          <p:nvPr/>
        </p:nvSpPr>
        <p:spPr>
          <a:xfrm>
            <a:off x="548640" y="1691640"/>
            <a:ext cx="11091672" cy="914400"/>
          </a:xfrm>
          <a:prstGeom prst="roundRect">
            <a:avLst>
              <a:gd name="adj" fmla="val 8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10177272" y="1783080"/>
            <a:ext cx="128016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המשימה:</a:t>
            </a:r>
            <a:endParaRPr lang="en-US" sz="1250" dirty="0"/>
          </a:p>
        </p:txBody>
      </p:sp>
      <p:sp>
        <p:nvSpPr>
          <p:cNvPr id="6" name="Text 4"/>
          <p:cNvSpPr/>
          <p:nvPr/>
        </p:nvSpPr>
        <p:spPr>
          <a:xfrm>
            <a:off x="822960" y="2103120"/>
            <a:ext cx="10543032" cy="45720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“פונקציה שמקבלת רשימת מילים ומחזירה את המילה הארוכה ביותר”</a:t>
            </a:r>
            <a:endParaRPr lang="en-US" sz="1400" dirty="0"/>
          </a:p>
        </p:txBody>
      </p:sp>
      <p:sp>
        <p:nvSpPr>
          <p:cNvPr id="7" name="Text 5"/>
          <p:cNvSpPr/>
          <p:nvPr/>
        </p:nvSpPr>
        <p:spPr>
          <a:xfrm>
            <a:off x="548640" y="283464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כתבו פרומפט חזק מהתחלה, בעזרת אחת מהטכניקות:</a:t>
            </a:r>
            <a:endParaRPr lang="en-US" sz="1500" dirty="0"/>
          </a:p>
        </p:txBody>
      </p:sp>
      <p:sp>
        <p:nvSpPr>
          <p:cNvPr id="8" name="Shape 6"/>
          <p:cNvSpPr/>
          <p:nvPr/>
        </p:nvSpPr>
        <p:spPr>
          <a:xfrm>
            <a:off x="11237976" y="3246120"/>
            <a:ext cx="402336" cy="402336"/>
          </a:xfrm>
          <a:prstGeom prst="ellipse">
            <a:avLst/>
          </a:prstGeom>
          <a:solidFill>
            <a:srgbClr val="3B3B98"/>
          </a:solidFill>
          <a:ln/>
        </p:spPr>
      </p:sp>
      <p:sp>
        <p:nvSpPr>
          <p:cNvPr id="9" name="Text 7"/>
          <p:cNvSpPr/>
          <p:nvPr/>
        </p:nvSpPr>
        <p:spPr>
          <a:xfrm>
            <a:off x="11237976" y="324612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22783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4 אבני היסוד — הקשר, מטרה, אילוצים (רשימה ריקה? תיקו?), פורמט.</a:t>
            </a:r>
            <a:endParaRPr lang="en-US" sz="1700" dirty="0"/>
          </a:p>
        </p:txBody>
      </p:sp>
      <p:sp>
        <p:nvSpPr>
          <p:cNvPr id="11" name="Shape 9"/>
          <p:cNvSpPr/>
          <p:nvPr/>
        </p:nvSpPr>
        <p:spPr>
          <a:xfrm>
            <a:off x="11237976" y="3904488"/>
            <a:ext cx="402336" cy="402336"/>
          </a:xfrm>
          <a:prstGeom prst="ellipse">
            <a:avLst/>
          </a:prstGeom>
          <a:solidFill>
            <a:srgbClr val="3B3B98"/>
          </a:solidFill>
          <a:ln/>
        </p:spPr>
      </p:sp>
      <p:sp>
        <p:nvSpPr>
          <p:cNvPr id="12" name="Text 10"/>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88620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או few-shot — תנו דוגמה של קלט→פלט.</a:t>
            </a:r>
            <a:endParaRPr lang="en-US" sz="1700" dirty="0"/>
          </a:p>
        </p:txBody>
      </p:sp>
      <p:sp>
        <p:nvSpPr>
          <p:cNvPr id="14" name="Shape 12"/>
          <p:cNvSpPr/>
          <p:nvPr/>
        </p:nvSpPr>
        <p:spPr>
          <a:xfrm>
            <a:off x="11237976" y="4562856"/>
            <a:ext cx="402336" cy="402336"/>
          </a:xfrm>
          <a:prstGeom prst="ellipse">
            <a:avLst/>
          </a:prstGeom>
          <a:solidFill>
            <a:srgbClr val="3B3B98"/>
          </a:solidFill>
          <a:ln/>
        </p:spPr>
      </p:sp>
      <p:sp>
        <p:nvSpPr>
          <p:cNvPr id="15" name="Text 13"/>
          <p:cNvSpPr/>
          <p:nvPr/>
        </p:nvSpPr>
        <p:spPr>
          <a:xfrm>
            <a:off x="11237976" y="4562856"/>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544568"/>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בדקו, ותעדו את הפרומפט שהצליח.</a:t>
            </a:r>
            <a:endParaRPr lang="en-US" sz="1700" dirty="0"/>
          </a:p>
        </p:txBody>
      </p:sp>
      <p:sp>
        <p:nvSpPr>
          <p:cNvPr id="17" name="Text 15"/>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32 / 35</a:t>
            </a:r>
            <a:endParaRPr lang="en-US" sz="950" dirty="0"/>
          </a:p>
        </p:txBody>
      </p:sp>
      <p:sp>
        <p:nvSpPr>
          <p:cNvPr id="18" name="Text 16"/>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התוצר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Before / After של הפרומפט</a:t>
            </a:r>
            <a:endParaRPr lang="en-US" sz="3300" dirty="0"/>
          </a:p>
        </p:txBody>
      </p:sp>
      <p:sp>
        <p:nvSpPr>
          <p:cNvPr id="4" name="Text 2"/>
          <p:cNvSpPr/>
          <p:nvPr/>
        </p:nvSpPr>
        <p:spPr>
          <a:xfrm>
            <a:off x="548640" y="169164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תעדו לכל ניסוי את הפרומפט “לפני” וה“אחרי”, ומה השתפר:</a:t>
            </a:r>
            <a:endParaRPr lang="en-US" sz="1500" dirty="0"/>
          </a:p>
        </p:txBody>
      </p:sp>
      <p:sp>
        <p:nvSpPr>
          <p:cNvPr id="5" name="Shape 3"/>
          <p:cNvSpPr/>
          <p:nvPr/>
        </p:nvSpPr>
        <p:spPr>
          <a:xfrm>
            <a:off x="6277356" y="2148840"/>
            <a:ext cx="5362956" cy="2011680"/>
          </a:xfrm>
          <a:prstGeom prst="roundRect">
            <a:avLst>
              <a:gd name="adj" fmla="val 4091"/>
            </a:avLst>
          </a:prstGeom>
          <a:solidFill>
            <a:srgbClr val="F7EAEA"/>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331720"/>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Before</a:t>
            </a:r>
            <a:endParaRPr lang="en-US" sz="1500" dirty="0"/>
          </a:p>
        </p:txBody>
      </p:sp>
      <p:sp>
        <p:nvSpPr>
          <p:cNvPr id="7" name="Text 5"/>
          <p:cNvSpPr/>
          <p:nvPr/>
        </p:nvSpPr>
        <p:spPr>
          <a:xfrm>
            <a:off x="6551676" y="2807208"/>
            <a:ext cx="4814316" cy="1188720"/>
          </a:xfrm>
          <a:prstGeom prst="rect">
            <a:avLst/>
          </a:prstGeom>
          <a:noFill/>
          <a:ln/>
        </p:spPr>
        <p:txBody>
          <a:bodyPr wrap="square" rtlCol="0" anchor="t"/>
          <a:lstStyle/>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הפרומפט המקורי (החלש)</a:t>
            </a:r>
            <a:endParaRPr lang="en-US" sz="1350" dirty="0"/>
          </a:p>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צילום/העתק של התוצאה הכללית שקיבלתם</a:t>
            </a:r>
            <a:endParaRPr lang="en-US" sz="1350" dirty="0"/>
          </a:p>
        </p:txBody>
      </p:sp>
      <p:sp>
        <p:nvSpPr>
          <p:cNvPr id="8" name="Shape 6"/>
          <p:cNvSpPr/>
          <p:nvPr/>
        </p:nvSpPr>
        <p:spPr>
          <a:xfrm>
            <a:off x="548640" y="2148840"/>
            <a:ext cx="5362956" cy="2011680"/>
          </a:xfrm>
          <a:prstGeom prst="roundRect">
            <a:avLst>
              <a:gd name="adj" fmla="val 4091"/>
            </a:avLst>
          </a:prstGeom>
          <a:solidFill>
            <a:srgbClr val="EAF3EA"/>
          </a:solidFill>
          <a:ln/>
          <a:effectLst>
            <a:outerShdw sx="100000" sy="100000" kx="0" ky="0" algn="bl" rotWithShape="0" blurRad="76200" dist="25400" dir="5400000">
              <a:srgbClr val="999999">
                <a:alpha val="28000"/>
              </a:srgbClr>
            </a:outerShdw>
          </a:effectLst>
        </p:spPr>
      </p:sp>
      <p:sp>
        <p:nvSpPr>
          <p:cNvPr id="9" name="Text 7"/>
          <p:cNvSpPr/>
          <p:nvPr/>
        </p:nvSpPr>
        <p:spPr>
          <a:xfrm>
            <a:off x="822960" y="233172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After</a:t>
            </a:r>
            <a:endParaRPr lang="en-US" sz="1500" dirty="0"/>
          </a:p>
        </p:txBody>
      </p:sp>
      <p:sp>
        <p:nvSpPr>
          <p:cNvPr id="10" name="Text 8"/>
          <p:cNvSpPr/>
          <p:nvPr/>
        </p:nvSpPr>
        <p:spPr>
          <a:xfrm>
            <a:off x="822960" y="2807208"/>
            <a:ext cx="4814316" cy="1188720"/>
          </a:xfrm>
          <a:prstGeom prst="rect">
            <a:avLst/>
          </a:prstGeom>
          <a:noFill/>
          <a:ln/>
        </p:spPr>
        <p:txBody>
          <a:bodyPr wrap="square" rtlCol="0" anchor="t"/>
          <a:lstStyle/>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הפרומפט המשופר</a:t>
            </a:r>
            <a:endParaRPr lang="en-US" sz="1350" dirty="0"/>
          </a:p>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הקוד התקין שהתקבל</a:t>
            </a:r>
            <a:endParaRPr lang="en-US" sz="1350" dirty="0"/>
          </a:p>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שורה: מה בדיוק שיפרתם (איזו אבן יסוד הוספתם)</a:t>
            </a:r>
            <a:endParaRPr lang="en-US" sz="1350" dirty="0"/>
          </a:p>
        </p:txBody>
      </p:sp>
      <p:sp>
        <p:nvSpPr>
          <p:cNvPr id="11" name="Shape 9"/>
          <p:cNvSpPr/>
          <p:nvPr/>
        </p:nvSpPr>
        <p:spPr>
          <a:xfrm>
            <a:off x="548640" y="4389120"/>
            <a:ext cx="11091672" cy="914400"/>
          </a:xfrm>
          <a:prstGeom prst="roundRect">
            <a:avLst>
              <a:gd name="adj" fmla="val 10000"/>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572000"/>
            <a:ext cx="10451592" cy="54864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זה ה-Prompt Log שלכם — תיעוד הפרומפטים המרכזיים שהובילו לפתרון. תלוו אותו לאורך כל הקורס.</a:t>
            </a:r>
            <a:endParaRPr lang="en-US" sz="155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33 / 35</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הגשה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קריטריוני הצלחה ותוצר</a:t>
            </a:r>
            <a:endParaRPr lang="en-US" sz="3300" dirty="0"/>
          </a:p>
        </p:txBody>
      </p:sp>
      <p:sp>
        <p:nvSpPr>
          <p:cNvPr id="4" name="Shape 2"/>
          <p:cNvSpPr/>
          <p:nvPr/>
        </p:nvSpPr>
        <p:spPr>
          <a:xfrm>
            <a:off x="6277356" y="1737360"/>
            <a:ext cx="5362956" cy="1965960"/>
          </a:xfrm>
          <a:prstGeom prst="roundRect">
            <a:avLst>
              <a:gd name="adj" fmla="val 4186"/>
            </a:avLst>
          </a:prstGeom>
          <a:solidFill>
            <a:srgbClr val="EAF3E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2024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הצלחתם אם...</a:t>
            </a:r>
            <a:endParaRPr lang="en-US" sz="1500" dirty="0"/>
          </a:p>
        </p:txBody>
      </p:sp>
      <p:sp>
        <p:nvSpPr>
          <p:cNvPr id="6" name="Text 4"/>
          <p:cNvSpPr/>
          <p:nvPr/>
        </p:nvSpPr>
        <p:spPr>
          <a:xfrm>
            <a:off x="6551676" y="2395728"/>
            <a:ext cx="4814316" cy="1188720"/>
          </a:xfrm>
          <a:prstGeom prst="rect">
            <a:avLst/>
          </a:prstGeom>
          <a:noFill/>
          <a:ln/>
        </p:spPr>
        <p:txBody>
          <a:bodyPr wrap="square" rtlCol="0" anchor="t"/>
          <a:lstStyle/>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הפכתם את הפרומפט הגרוע לקוד תקין</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השתמשתם ב-4 אבני היסוד</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תיעדתם Before/After לשני הניסויים</a:t>
            </a:r>
            <a:endParaRPr lang="en-US" sz="1450" dirty="0"/>
          </a:p>
        </p:txBody>
      </p:sp>
      <p:sp>
        <p:nvSpPr>
          <p:cNvPr id="7" name="Shape 5"/>
          <p:cNvSpPr/>
          <p:nvPr/>
        </p:nvSpPr>
        <p:spPr>
          <a:xfrm>
            <a:off x="548640" y="1737360"/>
            <a:ext cx="5362956" cy="1965960"/>
          </a:xfrm>
          <a:prstGeom prst="roundRect">
            <a:avLst>
              <a:gd name="adj" fmla="val 4186"/>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20240"/>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תוצר להגשה</a:t>
            </a:r>
            <a:endParaRPr lang="en-US" sz="1500" dirty="0"/>
          </a:p>
        </p:txBody>
      </p:sp>
      <p:sp>
        <p:nvSpPr>
          <p:cNvPr id="9" name="Text 7"/>
          <p:cNvSpPr/>
          <p:nvPr/>
        </p:nvSpPr>
        <p:spPr>
          <a:xfrm>
            <a:off x="822960" y="2395728"/>
            <a:ext cx="4814316" cy="1188720"/>
          </a:xfrm>
          <a:prstGeom prst="rect">
            <a:avLst/>
          </a:prstGeom>
          <a:noFill/>
          <a:ln/>
        </p:spPr>
        <p:txBody>
          <a:bodyPr wrap="square" rtlCol="0" anchor="t"/>
          <a:lstStyle/>
          <a:p>
            <a:pPr rtl="1" algn="r" indent="0" marL="0">
              <a:buNone/>
            </a:pPr>
            <a:r>
              <a:rPr lang="en-US" sz="1400" dirty="0">
                <a:solidFill>
                  <a:srgbClr val="222232"/>
                </a:solidFill>
                <a:latin typeface="Arial" pitchFamily="34" charset="0"/>
                <a:ea typeface="Arial" pitchFamily="34" charset="-122"/>
                <a:cs typeface="Arial" pitchFamily="34" charset="-120"/>
              </a:rPr>
              <a:t>מסמך Before/After: לכל ניסוי — הפרומפט לפני, הפרומפט אחרי, הקוד שהתקבל, ומשפט מה שיפרתם. זהו ה-Prompt Log.</a:t>
            </a:r>
            <a:endParaRPr lang="en-US" sz="1400" dirty="0"/>
          </a:p>
        </p:txBody>
      </p:sp>
      <p:sp>
        <p:nvSpPr>
          <p:cNvPr id="10" name="Shape 8"/>
          <p:cNvSpPr/>
          <p:nvPr/>
        </p:nvSpPr>
        <p:spPr>
          <a:xfrm>
            <a:off x="548640" y="3931920"/>
            <a:ext cx="11091672" cy="777240"/>
          </a:xfrm>
          <a:prstGeom prst="roundRect">
            <a:avLst>
              <a:gd name="adj" fmla="val 11765"/>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114800"/>
            <a:ext cx="10451592" cy="411480"/>
          </a:xfrm>
          <a:prstGeom prst="rect">
            <a:avLst/>
          </a:prstGeom>
          <a:noFill/>
          <a:ln/>
        </p:spPr>
        <p:txBody>
          <a:bodyPr wrap="square" rtlCol="0" anchor="ctr"/>
          <a:lstStyle/>
          <a:p>
            <a:pPr rtl="1" algn="r" indent="0" marL="0">
              <a:buNone/>
            </a:pPr>
            <a:r>
              <a:rPr lang="en-US" sz="1450" b="1" dirty="0">
                <a:solidFill>
                  <a:srgbClr val="222232"/>
                </a:solidFill>
                <a:latin typeface="Arial" pitchFamily="34" charset="0"/>
                <a:ea typeface="Arial" pitchFamily="34" charset="-122"/>
                <a:cs typeface="Arial" pitchFamily="34" charset="-120"/>
              </a:rPr>
              <a:t>בונוס: נסו few-shot בניסוי ב' — האם דוגמה נתנה תוצאה טובה יותר מהסבר במילים?</a:t>
            </a:r>
            <a:endParaRPr lang="en-US" sz="1450" dirty="0"/>
          </a:p>
        </p:txBody>
      </p:sp>
      <p:sp>
        <p:nvSpPr>
          <p:cNvPr id="12" name="Shape 10"/>
          <p:cNvSpPr/>
          <p:nvPr/>
        </p:nvSpPr>
        <p:spPr>
          <a:xfrm>
            <a:off x="548640" y="4846320"/>
            <a:ext cx="11091672" cy="685800"/>
          </a:xfrm>
          <a:prstGeom prst="roundRect">
            <a:avLst>
              <a:gd name="adj" fmla="val 13333"/>
            </a:avLst>
          </a:prstGeom>
          <a:solidFill>
            <a:srgbClr val="9A6A00"/>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5029200"/>
            <a:ext cx="10451592" cy="3200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זכרו: פרומפט טוב חוסך סבבי תיקון — ומקטין הזיות.</a:t>
            </a:r>
            <a:endParaRPr lang="en-US" sz="160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34 / 35</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286000"/>
            <a:ext cx="11091672" cy="548640"/>
          </a:xfrm>
          <a:prstGeom prst="rect">
            <a:avLst/>
          </a:prstGeom>
          <a:noFill/>
          <a:ln/>
        </p:spPr>
        <p:txBody>
          <a:bodyPr wrap="square" rtlCol="0" anchor="t"/>
          <a:lstStyle/>
          <a:p>
            <a:pPr rtl="1" algn="r" indent="0" marL="0">
              <a:buNone/>
            </a:pPr>
            <a:r>
              <a:rPr lang="en-US" sz="2000" b="1" dirty="0">
                <a:solidFill>
                  <a:srgbClr val="0E9AA7"/>
                </a:solidFill>
                <a:latin typeface="Arial" pitchFamily="34" charset="0"/>
                <a:ea typeface="Arial" pitchFamily="34" charset="-122"/>
                <a:cs typeface="Arial" pitchFamily="34" charset="-120"/>
              </a:rPr>
              <a:t>סוף מפגש 3</a:t>
            </a:r>
            <a:endParaRPr lang="en-US" sz="2000" dirty="0"/>
          </a:p>
        </p:txBody>
      </p:sp>
      <p:sp>
        <p:nvSpPr>
          <p:cNvPr id="3" name="Text 1"/>
          <p:cNvSpPr/>
          <p:nvPr/>
        </p:nvSpPr>
        <p:spPr>
          <a:xfrm>
            <a:off x="548640" y="2880360"/>
            <a:ext cx="11091672" cy="914400"/>
          </a:xfrm>
          <a:prstGeom prst="rect">
            <a:avLst/>
          </a:prstGeom>
          <a:noFill/>
          <a:ln/>
        </p:spPr>
        <p:txBody>
          <a:bodyPr wrap="square" rtlCol="0" anchor="t"/>
          <a:lstStyle/>
          <a:p>
            <a:pPr rtl="1" algn="r" indent="0" marL="0">
              <a:buNone/>
            </a:pPr>
            <a:r>
              <a:rPr lang="en-US" sz="4400" b="1" dirty="0">
                <a:solidFill>
                  <a:srgbClr val="FFFFFF"/>
                </a:solidFill>
                <a:latin typeface="Arial" pitchFamily="34" charset="0"/>
                <a:ea typeface="Arial" pitchFamily="34" charset="-122"/>
                <a:cs typeface="Arial" pitchFamily="34" charset="-120"/>
              </a:rPr>
              <a:t>נתראה במפגש 4</a:t>
            </a:r>
            <a:endParaRPr lang="en-US" sz="4400" dirty="0"/>
          </a:p>
        </p:txBody>
      </p:sp>
      <p:sp>
        <p:nvSpPr>
          <p:cNvPr id="4" name="Text 2"/>
          <p:cNvSpPr/>
          <p:nvPr/>
        </p:nvSpPr>
        <p:spPr>
          <a:xfrm>
            <a:off x="548640" y="3977640"/>
            <a:ext cx="11091672" cy="548640"/>
          </a:xfrm>
          <a:prstGeom prst="rect">
            <a:avLst/>
          </a:prstGeom>
          <a:noFill/>
          <a:ln/>
        </p:spPr>
        <p:txBody>
          <a:bodyPr wrap="square" rtlCol="0" anchor="t"/>
          <a:lstStyle/>
          <a:p>
            <a:pPr rtl="1" algn="r" indent="0" marL="0">
              <a:buNone/>
            </a:pPr>
            <a:r>
              <a:rPr lang="en-US" sz="1800" dirty="0">
                <a:solidFill>
                  <a:srgbClr val="CADCFC"/>
                </a:solidFill>
                <a:latin typeface="Arial" pitchFamily="34" charset="0"/>
                <a:ea typeface="Arial" pitchFamily="34" charset="-122"/>
                <a:cs typeface="Arial" pitchFamily="34" charset="-120"/>
              </a:rPr>
              <a:t>Context Engineering — לנהל הקשר לאורך פרויקט שלם, לא רק פרומפט בודד</a:t>
            </a:r>
            <a:endParaRPr lang="en-US" sz="1800" dirty="0"/>
          </a:p>
        </p:txBody>
      </p:sp>
      <p:sp>
        <p:nvSpPr>
          <p:cNvPr id="5" name="Text 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35 / 35</a:t>
            </a:r>
            <a:endParaRPr lang="en-US" sz="950" dirty="0"/>
          </a:p>
        </p:txBody>
      </p:sp>
      <p:sp>
        <p:nvSpPr>
          <p:cNvPr id="6" name="Text 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2026-08-01T08:14:06Z</dcterms:created>
  <dcterms:modified xsi:type="dcterms:W3CDTF">2026-08-01T08:14:06Z</dcterms:modified>
</cp:coreProperties>
</file>