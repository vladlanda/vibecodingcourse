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ברוכים הבאים למפגש 2. במפגש הקודם הבנו מה זה Vibe Coding ושהמנוע מאחוריו מנבא את הטוקן הבא. היום נפתח את הקופסה השחורה: איך בעצם מודל שפה 'חושב' קוד. נראה איך טקסט הופך למספרים (טוקניזציה), איך המודל מייצג משמעות (embeddings), איך הוא בוחר את ההמשך (ניבוי + טמפרטורה), מה הוא 'זוכר' (חלון הקשר), ומעל הכול — למה הוא לפעמים ממציא, כלומר מנגנון ההזיות. המסר: זה לא קסם אלא ניחוש סטטיסטי שאפשר להבין — וההבנה הזו היא שתלמד אתכם מתי לסמוך ומתי להיזהר.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ארבע מטרות. ראשית, להבין איך טקסט וקוד מפורקים ל'טוקנים' ומומרים למספרים — כי מחשב לא מבין מילים. שנית, מהם embeddings: הרעיון שמשמעות מיוצגת כמיקום במרחב, כך שמילים דומות קרובות זו לזו. שלישית, מהו חלון הקשר (context window) — הזיכרון לטווח קצר של המודל — ומהי טמפרטורה, שקובעת כמה המודל 'מהמר'. ורביעית, החשובה ביותר: להבין מנגנונית למה קורות הזיות, ומתי הן צפויות יותר. שימו לב: המפגש עוסק ב'למה' AI טועה; איך מונעים (טסטים) ואיך מטפלים (דיבוג) יגיעו במפגשים 8 ו-9.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נתחבר למפגש 1. כבר יודעים: Vibe Coding הוא לתאר בשפה טבעית ולתת ל-AI לכתוב; שהמנוע הוא LLM שמנבא את הטוקן הבא; שלפעמים הוא ממציא בביטחון (הזיה); ולכן חובה לקרוא, להבין ולבדוק. אבל במפגש 1 אמרנו 'הוא מנבא' בלי להסביר איך — והשארנו את ההזיות כתופעה מסתורית. היום נסגור את הפער: מה זה טוקן, איך המודל 'יודע' משמעות, ולמה בדיוק הוא ממציא. המטרה אינה תיאוריה לשמה — אלא להבין את המנגנון כדי לפתח אינטואיציה מתי הכלי אמין ומתי לא.</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לפני שנצלול, הנה מפת הדרך של המפגש — המסע שכל בקשה שלכם עוברת. מתחילים בטקסט (הפרומפט). הוא מפורק לטוקנים. הטוקנים מומרים ל-embeddings — ייצוג מספרי שתופס משמעות. על בסיס זה המודל מנבא את הטוקן הסביר הבא. וכך, טוקן אחרי טוקן, נבנה הפלט — הקוד. שלושת השלבים האמצעיים (המודגשים) הם 'איך המודל חושב', ועליהם נתמקד היום. בסוף נראה איך כל המנגנון הזה מוביל, כמעט בהכרח, גם להזיות. שימו לב שאין כאן שום שלב של 'הבנה' אנושית או בדיקה מול המציאות — וזה יתברר כקריטי.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למה בכלל צריך טוקנים? כי מחשב לא מבין מילים — הוא עובד רק עם מספרים. בשבילנו 'חתול' היא מילה עם משמעות; בשביל המחשב זו רק סדרת תווים חסרת פשר עד שממירים אותה למספרים. השלב הראשון בכל מודל שפה הוא לפרק את הטקסט לחתיכות קטנות שנקראות טוקנים, ואז לתת לכל טוקן מספר מזהה. בדוגמה שעל השקף: שורת הקוד print(x) מפורקת לארבעה טוקנים — print, סוגר פותח, x, וסוגר סוגר — וכל אחד מקבל מספר. מכאן והלאה המודל עובד רק עם המספרים האלה. זה הבסיס להכול.</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אז מהו טוקן? חתיכת טקסט — יכולה להיות מילה שלמה, חלק ממילה, או סימן בודד. חשוב: המודל לא קורא אות-אות ולא משפט שלם, אלא טוקן-טוקן. בדוגמה הראשונה, 'שלום עולם!' מתפרק לשלושה טוקנים — שלום, עולם, וסימן הקריאה. בדוגמת הקוד, def average(numbers) מתפרק ל-def, average, סוגר, numbers, סוגר. הנקודה הכי חשובה שכדאי לזכור: מספר הטוקנים אינו שווה למספר המילים. מילה ארוכה או נדירה יכולה להתפצל לכמה טוקנים, ומילה נפוצה תהיה טוקן אחד. זה נשמע טכני, אבל יש לזה השלכה מעשית: הכול — אורך ההקשר והעלות — נמדד בטוקנים, לא במילים.</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שלוש נקודות מעשיות על טוקנים, שרלוונטיות אליכם. ראשית, עברית לרוב 'יקרה' יותר בטוקנים: רוב המודלים אומנו בעיקר על אנגלית, ולכן מילה בעברית עשויה להתפצל ליותר טוקנים מהמקבילה האנגלית — זו אחת הסיבות שראינו במפגש 1 שלפעמים אנגלית נותנת תוצאה טובה יותר. שנית, קוד מתפצל לפי סימנים: כל סוגר, נקודה ורווח הם טוקנים בפני עצמם, כך שקוד ארוך מתורגם להרבה טוקנים. שלישית, והמעשית ביותר: הכול נמדד בטוקנים — גם כמה 'זיכרון' יש למודל (חלון ההקשר) וגם העלות בכלים בתשלום. הבנה של זה תעזור לכם מאוחר יותר לעבוד עם קבצים גדולים.</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עכשיו לרעיון היפה ביותר במפגש — embeddings. אחרי שיש לנו טוקנים ומספרים, איך המודל 'יודע' שמילים מסוימות דומות? הרעיון: כל טוקן מומר לא סתם למספר אחד, אלא לנקודה במרחב רב-ממדי. והקסם: טוקנים במשמעות דומה ממוקמים קרוב זה לזה. בתרשים שעל השקף, 'כלב', 'חתול' ו'אריה' מתקבצים באזור אחד (חיות), ו'מכונית', 'אופנוע' ו'אוטובוס' באזור אחר (כלי רכב), רחוק מהם. כך, בלי שאף אחד 'לימד' אותו הגדרות, המודל לומד קרבה משמעותית מתוך הדפוסים בטקסט. תחשבו על זה כמפה: מילים קרובות במפה = קרובות במשמעות. זה מה שמאפשר למודל להכליל.</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למה embeddings נותנים למודל כוח בכתיבת קוד? כי הקרבה המשמעותית עובדת גם על קוד. המודל מזהה שפתרונות דומים מתאימים לבעיות דומות — גם אם מעולם לא ראה בדיוק את הקוד שלכם. הוא 'מכליל' מהדוגמאות שראה. בדוגמאות שעל השקף: הוא יודע ש-sum ו-total קרובים במשמעות, ש-list ו-array הם מבני נתונים דומים, ושלולאת for ולולאת while הן ניסוחים של אותו רעיון. זה מה שמאפשר לו לכתוב קוד לבעיה חדשה. אבל — וזו נקודת המפתח לשאר המפגש — לאותו מנגנון יש צד אפל: לפעמים 'קרוב מספיק' אינו 'נכון'. המודל עלול לייצר משהו שנשמע קרוב ונכון אבל שגוי. כאן בדיוק מתחילות ההזיות.</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נעמיק בניבוי הטוקן הבא — הלולאה שבלב המודל. בכל צעד קורים ארבעה דברים: (1) המודל מסתכל על ההקשר — כל הטוקנים עד כה; (2) הוא מחשב הסתברות לכל טוקן אפשרי באוצר המילים שלו — לכל טוקן, מה הסיכוי שהוא הבא; (3) הוא בוחר, בדרך כלל, את הסביר ביותר; (4) הוא מוסיף אותו, וחוזר על התהליך לטוקן הבא. וכך, טוקן אחרי טוקן, נבנה קוד שלם. נקודה חשובה להבנה: המודל לא 'מתכנן' את הקוד מראש כמו מהנדס — הוא בונה אותו צעד-צעד, כל פעם רק הטוקן הבא. זה עובד מדהים של פעמים — ולפעמים מוביל אותו למבוי סתום שהוא ממלא בניחוש.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דוגמה מספרית מוחשית. נניח שהמודל בנה עד עכשיו 'for i in' וצריך את ההמשך. הוא מדרג אפשרויות: 'range(len(x)):' בהסתברות גבוהה (למשל 68%), 'numbers:' נמוכה יותר (18%), 'data.items():' עוד פחות (6%). המספרים להמחשה, אבל הרעיון מדויק: הוא בוחר לרוב את העליונה. עכשיו שימו לב לתובנה: כשיש 'מנצח' ברור (הסתברות אחת גבוהה בהרבה) — הבחירה בטוחה. אבל כשההסתברויות 'שטוחות', כלומר כמה אפשרויות דומות ואף אחת לא בולטת, הסיכוי לבחירה שגויה עולה. איך שולטים כמה המודל 'מהמר' בין האפשרויות? באמצעות פרמטר שנקרא טמפרטורה — וזה השקף הבא.</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עד עכשיו דיברנו על מה שהמודל עושה; עכשיו, לרגע, נציץ במכונה עצמה. כל מודל שפה מודרני בנוי על ארכיטקטורה בשם Transformer, שהוצגה במאמר מ-2017 בשם 'Attention Is All You Need'. זו הפריצה שאיפשרה את כל מה שאנחנו מכירים היום — ChatGPT, Claude וכל השאר. התרשים מימין הוא המקורי מהמאמר, והוא נראה מורכב — אבל אני רוצה להרגיע אתכם: בקורס הזה לא צריך לזכור אף פרט בתרשים. מה שכן צריך זו אינטואיציה אחת מרכזית, שנפרק בשקף הבא — הרעיון של 'קשב' (attention). ההצצה הזו נועדה רק לתת לכם תמונה: כשמישהו אומר 'Transformer' או 'attention', תדעו על מה מדובר.</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הרעיון המרכזי שהפך את ה-Transformer לכל כך חזק נקרא Attention — קשב. הנה האינטואיציה: כשהמודל מנבא את הטוקן הבא, הוא לא מסתכל רק על המילה האחרונה — הוא 'מסתכל אחורה' על כל הטוקנים הקודמים, ולכל אחד נותן 'משקל' לפי כמה הוא רלוונטי לרגע הזה. בדוגמה על השקף, 'החתול ישב על ה___': כדי לנבא את המילה החסרה, המודל שם קשב חזק על 'החתול' (הנושא, הכי רלוונטי) וקשב חלש יותר על מילים אחרות. תחשבו על זה כמו קורא אנושי שמדלג בחזרה למילים החשובות במשפט כדי להבין את ההמשך. זה בדיוק מה שנותן למודל 'הקשר' — היכולת לחבר בין חלקים רחוקים בטקסט, אפילו משפטים שלמים אחורה. שם המאמר, 'Attention Is All You Need', רומז שהמנגנון הזה הוא הלב של הכול. שוב — לא צריך את המתמטיקה, רק את הרעיון: המודל בוחר על מה 'לשים לב'.</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בואו נסגור את הלולאה ונראה שה-Transformer אינו דבר זר — הוא בסך הכול המכונה שמבצעת את מה שכבר הבנתם. נסתכל על התרשים בשלושה חלקים. בתחתית יש Input Embedding — אלה בדיוק ה-embeddings שלמדנו: הפיכת טוקנים לייצוג מספרי של משמעות. באמצע יש שכבות שחוזרות שוב ושוב (מסומן Nx), וכל שכבה מכילה Attention ו-Feed Forward — אלה מעבדות את ההקשר, שכבה על שכבה, וזה שלב ה'קשב' שדיברנו עליו. ובראש יש Softmax — שממיר את החישוב להסתברויות לטוקן הבא, בדיוק מה שראינו בשקף הניבוי עם ה-68%/18%/6%. אז כל הסיפור הוא: embeddings, אחר כך עיבוד הקשר בעזרת קשב, ואז הסתברויות. הבנתם את שלושת החלקים בנפרד — עכשיו אתם יודעים איך קוראים למכונה שמחברת אותם. זה כל ה'סוד'.</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טמפרטורה היא חוגת ה'הימור' של המודל — כמה אקראיות מכניסים לבחירת הטוקן. בטמפרטורה נמוכה המודל כמעט תמיד בוחר את הטוקן בעל ההסתברות הגבוהה ביותר: התוצאה צפויה, עקבית ו'בטוחה'. בטמפרטורה גבוהה הוא מוכן לבחור גם אפשרויות פחות סבירות: התוצאה יצירתית ומגוונת יותר — אבל גם אקראית ומועדת לטעויות. בתרשים: בטמפרטורה נמוכה יש בעצם 'עמודה' אחת דומיננטית; בגבוהה כמה עמודות דומות. ההשלכה המעשית והחשובה לכם: לכתיבת קוד עדיפה טמפרטורה נמוכה — אנחנו רוצים תשובה נכונה ועקבית, לא הפתעות. טמפרטורה גבוהה מתאימה יותר למשימות יצירתיות כמו רעיונות לשמות או טקסט שיווקי. חלק מהכלים חושפים את ההגדרה הזו, חלק לא.</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חלון ההקשר (context window) הוא הזיכרון לטווח קצר של המודל: כמות הטוקנים שהמודל 'רואה' בבת אחת — הפרומפט, הקוד שהדבקתם, וההיסטוריה של השיחה, הכול נספר יחד. רק מה שבתוך החלון משפיע על התשובה; תחשבו על זה כמו שולחן עבודה — מה שמונח עליו זמין, מה שלא, לא קיים מבחינת המודל. מודלים שונים באים עם חלונות בגדלים שונים. עכשיו החלק החשוב: מה קורה כשהחלון מתמלא. שלוש בעיות. ראשונה, המודל 'שוכח' את ההתחלה — טוקנים ישנים נדחקים החוצה, ופרטים שהגדרתם בהתחלה עלולים להיעלם. שנייה, קוד ארוך לא נכנס כולו לחלון, ולכן המודל לא רואה חלקים ממנו ועלול לסתור אותם. שלישית, ככל שהחלון עמוס יותר קשה למודל 'להתמקד', והוא נוטה יותר למלא פערים בניחוש — כלומר הקשר עמוס מגדיל את הסיכוי להזיה. זה בדיוק מוביל אותנו לשאלה של השקף הבא: למה בכלל קורות הזיות.</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זהו לב המפגש — למה קורות הזיות, מבחינה מנגנונית. הבנו שהמודל תמיד מנבא את הטוקן ה'סביר ביותר'. הבעיה: הוא עושה זאת גם כשאין לו מידע אמיתי. אין לו מנגנון פנימי שיודע 'להגיד לא יודע' — במקום להימנע, הוא ממלא את הפער בטוקנים שנשמעים נכון. ואין בתוכו שום שלב שבודק את התוצאה מול המציאות — מול תיעוד, מול הרצה, מול עובדה. שלוש הנקודות על השקף מסכמות: אין 'לא יודע' (הוא תמיד מנבא משהו); אין בדיקת אמת (הוא לא מוודא מול תיעוד); והמטרה שלו היא להישמע נכון, לא להיות נכון. לכן פונקציה שנשמעת הגיונית תיווצר בביטחון — גם אם היא לא קיימת. ההזיה אינה תקלה חריגה; היא תוצאה טבעית של איך המודל בנוי.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אם הזיות הן חלק מהמנגנון, מתי הן צפויות יותר? ארבעה מצבים שכדאי לזהות מראש. ראשון: נושא נדיר או ספרייה חדשה — אם היו מעט דוגמאות באימון, למודל יש פחות על מה להתבסס והוא 'מנחש' יותר. שני: פרומפט מעורפל — בקשה לא ברורה לא מובילה להמשך מובהק, אז יש יותר מקום לטעות. שלישי, והנפוץ ביותר בקוד: פרטים מדויקים מומצאים — שמות פונקציות, פרמטרים, מספרי גרסה, קישורים 'מדויקים'. אלה בדיוק הדברים שהמודל נוטה להמציא בביטחון. רביעי: הקשר עמוס או ארוך — כשהחלון מלא, המודל מאבד עקביות. כשאתם באחד המצבים האלה — הגבירו את הביקורת.</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דמו חי — נתפוס הזיה יחד בזמן אמת. פתחו כלי חינמי על המסך, והזינו את הפרומפט שעל השקף: קוד שמוריד קובץ מ-URL בעזרת הספרייה requests. עכשיו, יחד עם הכיתה, חפשו בפלט שמות פונקציות חשודים — למשל requests.download או פונקציה דומה שאולי לא קיימת (הדרך הנכונה היא requests.get). בדקו: הריצו את הקוד ותראו אם מתקבלת שגיאה, או חפשו את שם הפונקציה בתיעוד הרשמי. ואז הדגימו את התיקון: בקשו מהכלי לתקן, ואמתו שוב. אם אתם לומדים לבד מהמצגת: הריצו את הפרומפט הזה בעצמכם, ובדקו כל שם פונקציה מול התיעוד של requests — זו הדרך הטובה ביותר להפנים איך נראית הזיה אמיתית.</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איך תופסים הזיה בפועל? ארבעה סימני אזהרה. ראשון: שם פונקציה, פרמטר או ספרייה שאתם לא מכירים — אם לא ראיתם אותו בתיעוד, זה חשד ראשון. שני: הקוד לא רץ, או מתקבלת שגיאת AttributeError או ImportError — הרצה חושפת מיד פונקציות שלא קיימות. שלישי: ביטחון מוגזם בפרט ספציפי — מספר גרסה מדויק, פרמטר נדיר, קישור שנראה 'רשמי'; דווקא הדברים הכי ספציפיים הם הכי חשודים. הכלל שמאחד את הכול: אמתו כל דבר מול תיעוד רשמי או מול הרצה. לא ראיתם בתיעוד ולא הרצתם בהצלחה = לא לסמוך. שימו לב שזה בדיוק 'שלב 3' מתהליך העבודה שלמדנו במפגש 1 — הביקורת האנושית.</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נקודה על גבולות הנושא, כדי שהתמונה תהיה מסודרת. המפגש הזה עסק ב'למה' — במנגנון שגורם למודל לטעות ולהזות. הוא לא עסק ב'מניעה' ולא ב'טיפול'. מניעת באגים מראש, בעזרת כתיבת טסטים, תהיה מפגש 8. טיפול בבאג אחרי שהתגלה, בעזרת דיבוג שיטתי, יהיה מפגש 9. למה חשוב להפריד? כי הבנת המנגנון (היום) היא הבסיס לשניהם: אי אפשר למנוע או לתקן ביעילות משהו שלא מבינים למה הוא קורה. אז אם היום הרגשתם 'אוקיי, אבל מה עושים עם זה?' — זה בסדר גמור, לזה נגיע. היום הכלי המרכזי שלכם הוא זיהוי: לדעת מתי ואיפה לחשוד.</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בדיקת הבנה — נעצור ונוודא שהמסרים המרכזיים נקלטו. הציגו כל שאלה, בקשו הצבעה או think-pair-share של דקה, ואז דונו. התשובות הנכונות: שאלה 1 — ב': טוקן הוא חתיכת טקסט (מילה, חלק ממילה, או סימן), לא שורה שלמה ולא קובץ. שאלה 2 — ב': embeddings נותנים ייצוג של משמעות כקרבה במרחב, וזה מה שמאפשר למודל להכליל. שאלה 3 — ב': הזיות קורות כי המודל מנבא את הטוקן הסביר הבא גם כשאין לו מידע אמיתי, ואין בו בדיקה מול המציאות — זה לא באג ולא 'עייפות'. אם אתם לומדים לבד: ענו מהזיכרון לפני שאתם קוראים כאן. טעיתם באחת? חזרו לשקף הרלוונטי — טוקניזציה, embeddings, או 'למה קורות הזיות'.</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נסכם. עברנו על טוקניזציה — טקסט וקוד מפורקים לטוקנים ומומרים למספרים, והכול נמדד בטוקנים. הבנו embeddings — משמעות מיוצגת כקרבה במרחב, וזה מה שנותן למודל כוח הכללה (ולפעמים גם הזיות). ראינו את ניבוי הטוקן הבא ואת הטמפרטורה — חוגת ה'הימור', שלקוד כדאי שתהיה נמוכה. הבנו את חלון ההקשר — הזיכרון לטווח קצר — ואת מגבלותיו. ומעל הכול, הבנו מנגנונית למה קורות הזיות: המודל תמיד מנבא, בלי לדעת 'לא יודע' ובלי לבדוק מול המציאות — ומתי הן צפויות יותר. אם כל זה מסתדר, אתם מוכנים לתרגול: לתפוס הזיות בפועל.</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הנה תוכנית התרגול ל-45 דקות. חמישה שלבים: 5 דקות הקמה (בחירת שני כלים חינמיים והתחברות); 12 דקות ניסוי א' — קוד נתון שיש בו הזיות מכוונות, ואתם מזהים אותן ומאמתים; 15 דקות ניסוי ב', הרחב יותר — אותה בעיה בשני כלים והשוואה, כדי לראות מי הזה ומי לא; 8 דקות לבניית טבלת ניתוח שגיאות מסודרת; ו-5 דקות דוח סיכום. המטרה של כל התרגול היא אחת: לתרגל בפועל את זיהוי ההזיות ואת האימות — הכישור המרכזי שנגזר ממה שלמדנו היום. כל מה שצריך: חשבון חינמי ודפדפן. כל ההנחיות והקוד בשקפים הבאים.</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ניסוי א' — זיהוי הזיה בקוד נתון. על השקף קטע קוד שנוצר כביכול ע"י AI, ובו שלושה שמות 'מומצאים'. המשימה שלכם: למצוא אותם. הקוד משתמש בספרייה requests, וכולל requests.fetch, r.to_list ו-items.count_all — שלושתם לא קיימים בספרייה. איך מאמתים? שתי דרכים, ושתיהן חשובות: קודם, הריצו את הקוד — תקבלו שגיאות (למשל AttributeError) שמצביעות מיד על הפונקציות שלא קיימות. שנית, בדקו בתיעוד הרשמי של requests מהי הדרך הנכונה — רמז: הורדת נתונים נעשית עם requests.get, וקריאת JSON עם המתודה json. המטרה: להרגיש כמה קל 'לבלוע' קוד שנראה סביר, וכמה מהר הרצה או תיעוד חושפים את האמת.</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ניסוי ב' — אותה בעיה, שני כלים. קחו את הפרומפט שעל השקף — קוד שמוריד JSON מ-URL ומדפיס את מספר הפריטים — והריצו אותו בשני כלים חינמיים שונים. עכשיו השוו לפי שלוש שאלות: האם אחד הכלים השתמש בפונקציה שלא קיימת, כלומר הזה? מי מהם כתב את הקוד הנכון (בדרך כלל requests.get של הכתובת, ואז json כדי לפענח)? ואילו הבדלים נוספים יש בין שתי התשובות — טיפול בשגיאות, הסבר, מבנה? המטרה כאן היא לראות בעיניים שכלים שונים אמינים במידה שונה על אותה בקשה — וזו בדיוק הסיבה שלא סומכים על תשובה יחידה בלי אימות. תעדו כל הזיה שמצאתם; היא נכנסת לטבלה בשקף הבא.</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התוצר המרכזי — טבלת ניתוח שגיאות. אספו לתוכה כל הזיה שמצאתם, גם מניסוי א' וגם מניסוי ב'. חמש עמודות: המקור או הכלי שבו נמצאה ההזיה; השורה החשודה; סוג ההזיה — פונקציה, פרמטר, ספרייה או גרסה שלא קיימים; איך אימתתם — הרצה או תיעוד; והתיקון הנכון. הטבלה הזו אינה תרגיל בירוקרטי: היא מאמנת אתכם לחשוב בשיטתיות מול קוד AI — לא 'זה נראה בסדר' אלא 'איפה בדיוק הבעיה, איך ווידאתי, ומה התיקון'. שמרו את הטבלה; פורמט כזה של ניתוח יחזור ויעזור לכם בזיהוי מהיר של הזיות לאורך הקורס ובעבודה אמיתית.</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לסיום, מה מגישים. הצלחתם אם: זיהיתם את שלוש ההזיות בקוד של ניסוי א'; השוויתם שני כלים בניסוי ב'; ואימתתם כל ממצא בהרצה או בתיעוד — לא בניחוש. התוצר הוא טבלת ניתוח השגיאות המלאה, עם עמודת 'איך אימתת' ממולאת לכל שורה, ובתוספת משפט סיכום קצר: מה למדתם על מתי הזיות צפויות יותר (נושא נדיר? פרומפט מעורפל? פרטים ספציפיים?). בונוס למתקדמים: בקשו מהכלי 'להוכיח' שהפונקציה שהוא כתב קיימת — להביא מקור או קטע תיעוד — וראו איך הוא מגיב; לפעמים הוא 'יתקפל' ויתקן, מה שממחיש יפה את מגבלת האמינות. ומעל הכול, הכלל של היום: לא ראיתם בתיעוד ולא הרצתם = לא לסמוך.</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סיימנו את מפגש 2. פתחנו את הקופסה השחורה: הבנו טוקנים, embeddings, ניבוי וטמפרטורה, חלון הקשר, ובעיקר את המנגנון שמאחורי ההזיות. עכשיו יש לכם אינטואיציה מתי לסמוך ומתי לחשוד. במפגש הבא — מפגש 3 — ניקח את זה לכיוון מעשי: Prompt Engineering, איך לנסח בקשה שתיתן קוד טוב יותר ותקטין את הסיכוי להזיות מלכתחילה. אם היום למדנו לזהות טעויות, במפגש הבא נלמד למנוע חלק מהן כבר בשלב הבקשה. נתראה במפגש 3.</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737360"/>
            <a:ext cx="11091672" cy="365760"/>
          </a:xfrm>
          <a:prstGeom prst="rect">
            <a:avLst/>
          </a:prstGeom>
          <a:noFill/>
          <a:ln/>
        </p:spPr>
        <p:txBody>
          <a:bodyPr wrap="square" rtlCol="0" anchor="t"/>
          <a:lstStyle/>
          <a:p>
            <a:pPr rtl="1" algn="r" indent="0" marL="0">
              <a:buNone/>
            </a:pPr>
            <a:r>
              <a:rPr lang="en-US" sz="1500" b="1" spc="100" kern="0" dirty="0">
                <a:solidFill>
                  <a:srgbClr val="0E9AA7"/>
                </a:solidFill>
                <a:latin typeface="Arial" pitchFamily="34" charset="0"/>
                <a:ea typeface="Arial" pitchFamily="34" charset="-122"/>
                <a:cs typeface="Arial" pitchFamily="34" charset="-120"/>
              </a:rPr>
              <a:t>קורס Vibe Coding · מפגש 2 מתוך 13</a:t>
            </a:r>
            <a:endParaRPr lang="en-US" sz="1500" dirty="0"/>
          </a:p>
        </p:txBody>
      </p:sp>
      <p:sp>
        <p:nvSpPr>
          <p:cNvPr id="3" name="Text 1"/>
          <p:cNvSpPr/>
          <p:nvPr/>
        </p:nvSpPr>
        <p:spPr>
          <a:xfrm>
            <a:off x="548640" y="2286000"/>
            <a:ext cx="11091672" cy="1188720"/>
          </a:xfrm>
          <a:prstGeom prst="rect">
            <a:avLst/>
          </a:prstGeom>
          <a:noFill/>
          <a:ln/>
        </p:spPr>
        <p:txBody>
          <a:bodyPr wrap="square" rtlCol="0" anchor="t"/>
          <a:lstStyle/>
          <a:p>
            <a:pPr rtl="1" algn="r" indent="0" marL="0">
              <a:buNone/>
            </a:pPr>
            <a:r>
              <a:rPr lang="en-US" sz="5200" b="1" dirty="0">
                <a:solidFill>
                  <a:srgbClr val="FFFFFF"/>
                </a:solidFill>
                <a:latin typeface="Arial" pitchFamily="34" charset="0"/>
                <a:ea typeface="Arial" pitchFamily="34" charset="-122"/>
                <a:cs typeface="Arial" pitchFamily="34" charset="-120"/>
              </a:rPr>
              <a:t>איך מודל שפה “חושב” קוד?</a:t>
            </a:r>
            <a:endParaRPr lang="en-US" sz="5200" dirty="0"/>
          </a:p>
        </p:txBody>
      </p:sp>
      <p:sp>
        <p:nvSpPr>
          <p:cNvPr id="4" name="Text 2"/>
          <p:cNvSpPr/>
          <p:nvPr/>
        </p:nvSpPr>
        <p:spPr>
          <a:xfrm>
            <a:off x="548640" y="3657600"/>
            <a:ext cx="11091672" cy="548640"/>
          </a:xfrm>
          <a:prstGeom prst="rect">
            <a:avLst/>
          </a:prstGeom>
          <a:noFill/>
          <a:ln/>
        </p:spPr>
        <p:txBody>
          <a:bodyPr wrap="square" rtlCol="0" anchor="t"/>
          <a:lstStyle/>
          <a:p>
            <a:pPr rtl="1" algn="r" indent="0" marL="0">
              <a:buNone/>
            </a:pPr>
            <a:r>
              <a:rPr lang="en-US" sz="2100" dirty="0">
                <a:solidFill>
                  <a:srgbClr val="CADCFC"/>
                </a:solidFill>
                <a:latin typeface="Arial" pitchFamily="34" charset="0"/>
                <a:ea typeface="Arial" pitchFamily="34" charset="-122"/>
                <a:cs typeface="Arial" pitchFamily="34" charset="-120"/>
              </a:rPr>
              <a:t>מבט אל תוך הקופסה השחורה — טוקנים, הקשר, ולמה קורות הזיות</a:t>
            </a:r>
            <a:endParaRPr lang="en-US" sz="2100" dirty="0"/>
          </a:p>
        </p:txBody>
      </p:sp>
      <p:sp>
        <p:nvSpPr>
          <p:cNvPr id="5" name="Text 3"/>
          <p:cNvSpPr/>
          <p:nvPr/>
        </p:nvSpPr>
        <p:spPr>
          <a:xfrm>
            <a:off x="548640" y="4343400"/>
            <a:ext cx="11091672" cy="457200"/>
          </a:xfrm>
          <a:prstGeom prst="rect">
            <a:avLst/>
          </a:prstGeom>
          <a:noFill/>
          <a:ln/>
        </p:spPr>
        <p:txBody>
          <a:bodyPr wrap="square" rtlCol="0" anchor="t"/>
          <a:lstStyle/>
          <a:p>
            <a:pPr rtl="1" algn="r" indent="0" marL="0">
              <a:buNone/>
            </a:pPr>
            <a:r>
              <a:rPr lang="en-US" sz="1600" i="1" dirty="0">
                <a:solidFill>
                  <a:srgbClr val="9AA3D6"/>
                </a:solidFill>
                <a:latin typeface="Arial" pitchFamily="34" charset="0"/>
                <a:ea typeface="Arial" pitchFamily="34" charset="-122"/>
                <a:cs typeface="Arial" pitchFamily="34" charset="-120"/>
              </a:rPr>
              <a:t>לא קסם — ניחוש סטטיסטי שאפשר להבין</a:t>
            </a:r>
            <a:endParaRPr lang="en-US" sz="1600" dirty="0"/>
          </a:p>
        </p:txBody>
      </p:sp>
      <p:sp>
        <p:nvSpPr>
          <p:cNvPr id="6" name="Text 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AEB4D6"/>
                </a:solidFill>
                <a:latin typeface="Arial" pitchFamily="34" charset="0"/>
                <a:ea typeface="Arial" pitchFamily="34" charset="-122"/>
                <a:cs typeface="Arial" pitchFamily="34" charset="-120"/>
              </a:rPr>
              <a:t>01 / 29</a:t>
            </a:r>
            <a:endParaRPr lang="en-US" sz="950" dirty="0"/>
          </a:p>
        </p:txBody>
      </p:sp>
      <p:sp>
        <p:nvSpPr>
          <p:cNvPr id="7" name="Text 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AEB4D6"/>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פתיחה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מטרות המפגש</a:t>
            </a:r>
            <a:endParaRPr lang="en-US" sz="3300" dirty="0"/>
          </a:p>
        </p:txBody>
      </p:sp>
      <p:sp>
        <p:nvSpPr>
          <p:cNvPr id="4" name="Shape 2"/>
          <p:cNvSpPr/>
          <p:nvPr/>
        </p:nvSpPr>
        <p:spPr>
          <a:xfrm>
            <a:off x="11164824" y="1691640"/>
            <a:ext cx="475488" cy="475488"/>
          </a:xfrm>
          <a:prstGeom prst="ellipse">
            <a:avLst/>
          </a:prstGeom>
          <a:solidFill>
            <a:srgbClr val="0E9AA7"/>
          </a:solidFill>
          <a:ln/>
        </p:spPr>
      </p:sp>
      <p:sp>
        <p:nvSpPr>
          <p:cNvPr id="5" name="Text 3"/>
          <p:cNvSpPr/>
          <p:nvPr/>
        </p:nvSpPr>
        <p:spPr>
          <a:xfrm>
            <a:off x="11164824" y="1691640"/>
            <a:ext cx="475488" cy="475488"/>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548640" y="1673352"/>
            <a:ext cx="10451592"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להבין איך טקסט וקוד הופכים ל“טוקנים” ולמספרים.</a:t>
            </a:r>
            <a:endParaRPr lang="en-US" sz="1700" dirty="0"/>
          </a:p>
        </p:txBody>
      </p:sp>
      <p:sp>
        <p:nvSpPr>
          <p:cNvPr id="7" name="Shape 5"/>
          <p:cNvSpPr/>
          <p:nvPr/>
        </p:nvSpPr>
        <p:spPr>
          <a:xfrm>
            <a:off x="11164824" y="2624328"/>
            <a:ext cx="475488" cy="475488"/>
          </a:xfrm>
          <a:prstGeom prst="ellipse">
            <a:avLst/>
          </a:prstGeom>
          <a:solidFill>
            <a:srgbClr val="0E9AA7"/>
          </a:solidFill>
          <a:ln/>
        </p:spPr>
      </p:sp>
      <p:sp>
        <p:nvSpPr>
          <p:cNvPr id="8" name="Text 6"/>
          <p:cNvSpPr/>
          <p:nvPr/>
        </p:nvSpPr>
        <p:spPr>
          <a:xfrm>
            <a:off x="11164824" y="2624328"/>
            <a:ext cx="475488" cy="475488"/>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548640" y="2606040"/>
            <a:ext cx="10451592"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להבין מהם embeddings — ייצוג משמעות כמיקום במרחב.</a:t>
            </a:r>
            <a:endParaRPr lang="en-US" sz="1700" dirty="0"/>
          </a:p>
        </p:txBody>
      </p:sp>
      <p:sp>
        <p:nvSpPr>
          <p:cNvPr id="10" name="Shape 8"/>
          <p:cNvSpPr/>
          <p:nvPr/>
        </p:nvSpPr>
        <p:spPr>
          <a:xfrm>
            <a:off x="11164824" y="3557016"/>
            <a:ext cx="475488" cy="475488"/>
          </a:xfrm>
          <a:prstGeom prst="ellipse">
            <a:avLst/>
          </a:prstGeom>
          <a:solidFill>
            <a:srgbClr val="0E9AA7"/>
          </a:solidFill>
          <a:ln/>
        </p:spPr>
      </p:sp>
      <p:sp>
        <p:nvSpPr>
          <p:cNvPr id="11" name="Text 9"/>
          <p:cNvSpPr/>
          <p:nvPr/>
        </p:nvSpPr>
        <p:spPr>
          <a:xfrm>
            <a:off x="11164824" y="3557016"/>
            <a:ext cx="475488" cy="475488"/>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p:nvPr/>
        </p:nvSpPr>
        <p:spPr>
          <a:xfrm>
            <a:off x="548640" y="3538728"/>
            <a:ext cx="10451592"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לקבל תמונה כללית של ארכיטקטורת ה-Transformer (המנוע) ו-Attention.</a:t>
            </a:r>
            <a:endParaRPr lang="en-US" sz="1700" dirty="0"/>
          </a:p>
        </p:txBody>
      </p:sp>
      <p:sp>
        <p:nvSpPr>
          <p:cNvPr id="13" name="Shape 11"/>
          <p:cNvSpPr/>
          <p:nvPr/>
        </p:nvSpPr>
        <p:spPr>
          <a:xfrm>
            <a:off x="11164824" y="4489704"/>
            <a:ext cx="475488" cy="475488"/>
          </a:xfrm>
          <a:prstGeom prst="ellipse">
            <a:avLst/>
          </a:prstGeom>
          <a:solidFill>
            <a:srgbClr val="0E9AA7"/>
          </a:solidFill>
          <a:ln/>
        </p:spPr>
      </p:sp>
      <p:sp>
        <p:nvSpPr>
          <p:cNvPr id="14" name="Text 12"/>
          <p:cNvSpPr/>
          <p:nvPr/>
        </p:nvSpPr>
        <p:spPr>
          <a:xfrm>
            <a:off x="11164824" y="4489704"/>
            <a:ext cx="475488" cy="475488"/>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p:nvPr/>
        </p:nvSpPr>
        <p:spPr>
          <a:xfrm>
            <a:off x="548640" y="4471416"/>
            <a:ext cx="10451592"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להבין מהו חלון הקשר (context window), מגבלותיו, ומהי טמפרטורה.</a:t>
            </a:r>
            <a:endParaRPr lang="en-US" sz="1700" dirty="0"/>
          </a:p>
        </p:txBody>
      </p:sp>
      <p:sp>
        <p:nvSpPr>
          <p:cNvPr id="16" name="Shape 14"/>
          <p:cNvSpPr/>
          <p:nvPr/>
        </p:nvSpPr>
        <p:spPr>
          <a:xfrm>
            <a:off x="11164824" y="5422392"/>
            <a:ext cx="475488" cy="475488"/>
          </a:xfrm>
          <a:prstGeom prst="ellipse">
            <a:avLst/>
          </a:prstGeom>
          <a:solidFill>
            <a:srgbClr val="0E9AA7"/>
          </a:solidFill>
          <a:ln/>
        </p:spPr>
      </p:sp>
      <p:sp>
        <p:nvSpPr>
          <p:cNvPr id="17" name="Text 15"/>
          <p:cNvSpPr/>
          <p:nvPr/>
        </p:nvSpPr>
        <p:spPr>
          <a:xfrm>
            <a:off x="11164824" y="5422392"/>
            <a:ext cx="475488" cy="475488"/>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p:nvPr/>
        </p:nvSpPr>
        <p:spPr>
          <a:xfrm>
            <a:off x="548640" y="5404104"/>
            <a:ext cx="10451592"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להבין מנגנונית למה קורות הזיות — ומתי הן צפויות יותר.</a:t>
            </a:r>
            <a:endParaRPr lang="en-US" sz="1700" dirty="0"/>
          </a:p>
        </p:txBody>
      </p:sp>
      <p:sp>
        <p:nvSpPr>
          <p:cNvPr id="19" name="Text 17"/>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02 / 29</a:t>
            </a:r>
            <a:endParaRPr lang="en-US" sz="950" dirty="0"/>
          </a:p>
        </p:txBody>
      </p:sp>
      <p:sp>
        <p:nvSpPr>
          <p:cNvPr id="20" name="Text 18"/>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מאיפה המשכנו</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תזכורת ממפגש 1 — והשאלה של היום</a:t>
            </a:r>
            <a:endParaRPr lang="en-US" sz="3300" dirty="0"/>
          </a:p>
        </p:txBody>
      </p:sp>
      <p:sp>
        <p:nvSpPr>
          <p:cNvPr id="4" name="Shape 2"/>
          <p:cNvSpPr/>
          <p:nvPr/>
        </p:nvSpPr>
        <p:spPr>
          <a:xfrm>
            <a:off x="6277356" y="1783080"/>
            <a:ext cx="5362956" cy="2103120"/>
          </a:xfrm>
          <a:prstGeom prst="roundRect">
            <a:avLst>
              <a:gd name="adj" fmla="val 3913"/>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6551676" y="1984248"/>
            <a:ext cx="4814316" cy="36576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מה כבר יודעים</a:t>
            </a:r>
            <a:endParaRPr lang="en-US" sz="1600" dirty="0"/>
          </a:p>
        </p:txBody>
      </p:sp>
      <p:sp>
        <p:nvSpPr>
          <p:cNvPr id="6" name="Text 4"/>
          <p:cNvSpPr/>
          <p:nvPr/>
        </p:nvSpPr>
        <p:spPr>
          <a:xfrm>
            <a:off x="6551676" y="2441448"/>
            <a:ext cx="4814316" cy="1371600"/>
          </a:xfrm>
          <a:prstGeom prst="rect">
            <a:avLst/>
          </a:prstGeom>
          <a:noFill/>
          <a:ln/>
        </p:spPr>
        <p:txBody>
          <a:bodyPr wrap="square" rtlCol="0" anchor="t"/>
          <a:lstStyle/>
          <a:p>
            <a:pPr rtl="1" algn="r" indent="0" marL="0">
              <a:lnSpc>
                <a:spcPct val="125000"/>
              </a:lnSpc>
              <a:buNone/>
            </a:pPr>
            <a:r>
              <a:rPr lang="en-US" sz="1400" dirty="0">
                <a:solidFill>
                  <a:srgbClr val="222232"/>
                </a:solidFill>
                <a:latin typeface="Arial" pitchFamily="34" charset="0"/>
                <a:ea typeface="Arial" pitchFamily="34" charset="-122"/>
                <a:cs typeface="Arial" pitchFamily="34" charset="-120"/>
              </a:rPr>
              <a:t>•  Vibe Coding = מתארים בשפה טבעית, ה-AI כותב</a:t>
            </a:r>
            <a:endParaRPr lang="en-US" sz="1400" dirty="0"/>
          </a:p>
          <a:p>
            <a:pPr rtl="1" algn="r" indent="0" marL="0">
              <a:lnSpc>
                <a:spcPct val="125000"/>
              </a:lnSpc>
              <a:buNone/>
            </a:pPr>
            <a:r>
              <a:rPr lang="en-US" sz="1400" dirty="0">
                <a:solidFill>
                  <a:srgbClr val="222232"/>
                </a:solidFill>
                <a:latin typeface="Arial" pitchFamily="34" charset="0"/>
                <a:ea typeface="Arial" pitchFamily="34" charset="-122"/>
                <a:cs typeface="Arial" pitchFamily="34" charset="-120"/>
              </a:rPr>
              <a:t>•  המנוע הוא LLM — מנבא את הטוקן הבא</a:t>
            </a:r>
            <a:endParaRPr lang="en-US" sz="1400" dirty="0"/>
          </a:p>
          <a:p>
            <a:pPr rtl="1" algn="r" indent="0" marL="0">
              <a:lnSpc>
                <a:spcPct val="125000"/>
              </a:lnSpc>
              <a:buNone/>
            </a:pPr>
            <a:r>
              <a:rPr lang="en-US" sz="1400" dirty="0">
                <a:solidFill>
                  <a:srgbClr val="222232"/>
                </a:solidFill>
                <a:latin typeface="Arial" pitchFamily="34" charset="0"/>
                <a:ea typeface="Arial" pitchFamily="34" charset="-122"/>
                <a:cs typeface="Arial" pitchFamily="34" charset="-120"/>
              </a:rPr>
              <a:t>•  לפעמים הוא “ממציא” בביטחון (הזיה)</a:t>
            </a:r>
            <a:endParaRPr lang="en-US" sz="1400" dirty="0"/>
          </a:p>
          <a:p>
            <a:pPr rtl="1" algn="r" indent="0" marL="0">
              <a:lnSpc>
                <a:spcPct val="125000"/>
              </a:lnSpc>
              <a:buNone/>
            </a:pPr>
            <a:r>
              <a:rPr lang="en-US" sz="1400" dirty="0">
                <a:solidFill>
                  <a:srgbClr val="222232"/>
                </a:solidFill>
                <a:latin typeface="Arial" pitchFamily="34" charset="0"/>
                <a:ea typeface="Arial" pitchFamily="34" charset="-122"/>
                <a:cs typeface="Arial" pitchFamily="34" charset="-120"/>
              </a:rPr>
              <a:t>•  לכן: חובה לקרוא, להבין ולבדוק</a:t>
            </a:r>
            <a:endParaRPr lang="en-US" sz="1400" dirty="0"/>
          </a:p>
        </p:txBody>
      </p:sp>
      <p:sp>
        <p:nvSpPr>
          <p:cNvPr id="7" name="Shape 5"/>
          <p:cNvSpPr/>
          <p:nvPr/>
        </p:nvSpPr>
        <p:spPr>
          <a:xfrm>
            <a:off x="548640" y="1783080"/>
            <a:ext cx="5362956" cy="2103120"/>
          </a:xfrm>
          <a:prstGeom prst="roundRect">
            <a:avLst>
              <a:gd name="adj" fmla="val 4348"/>
            </a:avLst>
          </a:prstGeom>
          <a:solidFill>
            <a:srgbClr val="3B3B98"/>
          </a:solidFill>
          <a:ln/>
          <a:effectLst>
            <a:outerShdw sx="100000" sy="100000" kx="0" ky="0" algn="bl" rotWithShape="0" blurRad="76200" dist="25400" dir="5400000">
              <a:srgbClr val="999999">
                <a:alpha val="28000"/>
              </a:srgbClr>
            </a:outerShdw>
          </a:effectLst>
        </p:spPr>
      </p:sp>
      <p:sp>
        <p:nvSpPr>
          <p:cNvPr id="8" name="Text 6"/>
          <p:cNvSpPr/>
          <p:nvPr/>
        </p:nvSpPr>
        <p:spPr>
          <a:xfrm>
            <a:off x="868680" y="1965960"/>
            <a:ext cx="4722876" cy="173736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היום נפתח את הקופסה: מה זה בכלל “טוקן”, איך המודל “יודע” משמעות, ולמה בדיוק הוא ממציא — ומתי זה צפוי יותר.</a:t>
            </a:r>
            <a:endParaRPr lang="en-US" sz="1800" dirty="0"/>
          </a:p>
        </p:txBody>
      </p:sp>
      <p:sp>
        <p:nvSpPr>
          <p:cNvPr id="9" name="Text 7"/>
          <p:cNvSpPr/>
          <p:nvPr/>
        </p:nvSpPr>
        <p:spPr>
          <a:xfrm>
            <a:off x="548640" y="4114800"/>
            <a:ext cx="11091672" cy="457200"/>
          </a:xfrm>
          <a:prstGeom prst="rect">
            <a:avLst/>
          </a:prstGeom>
          <a:noFill/>
          <a:ln/>
        </p:spPr>
        <p:txBody>
          <a:bodyPr wrap="square" rtlCol="0" anchor="t"/>
          <a:lstStyle/>
          <a:p>
            <a:pPr rtl="1" algn="r" indent="0" marL="0">
              <a:buNone/>
            </a:pPr>
            <a:r>
              <a:rPr lang="en-US" sz="1500" i="1" dirty="0">
                <a:solidFill>
                  <a:srgbClr val="6B6B80"/>
                </a:solidFill>
                <a:latin typeface="Arial" pitchFamily="34" charset="0"/>
                <a:ea typeface="Arial" pitchFamily="34" charset="-122"/>
                <a:cs typeface="Arial" pitchFamily="34" charset="-120"/>
              </a:rPr>
              <a:t>המטרה: להבין את המנגנון, כדי לדעת מתי לסמוך ומתי להיזהר.</a:t>
            </a:r>
            <a:endParaRPr lang="en-US" sz="1500" dirty="0"/>
          </a:p>
        </p:txBody>
      </p:sp>
      <p:sp>
        <p:nvSpPr>
          <p:cNvPr id="10" name="Text 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03 / 29</a:t>
            </a:r>
            <a:endParaRPr lang="en-US" sz="950" dirty="0"/>
          </a:p>
        </p:txBody>
      </p:sp>
      <p:sp>
        <p:nvSpPr>
          <p:cNvPr id="11" name="Text 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מפת המפגש</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המסע: מטקסט לניבוי</a:t>
            </a:r>
            <a:endParaRPr lang="en-US" sz="3300" dirty="0"/>
          </a:p>
        </p:txBody>
      </p:sp>
      <p:sp>
        <p:nvSpPr>
          <p:cNvPr id="4" name="Shape 2"/>
          <p:cNvSpPr/>
          <p:nvPr/>
        </p:nvSpPr>
        <p:spPr>
          <a:xfrm>
            <a:off x="9678010" y="2148840"/>
            <a:ext cx="1962302" cy="1234440"/>
          </a:xfrm>
          <a:prstGeom prst="roundRect">
            <a:avLst>
              <a:gd name="adj" fmla="val 6667"/>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9769450" y="2404872"/>
            <a:ext cx="1779422" cy="365760"/>
          </a:xfrm>
          <a:prstGeom prst="rect">
            <a:avLst/>
          </a:prstGeom>
          <a:noFill/>
          <a:ln/>
        </p:spPr>
        <p:txBody>
          <a:bodyPr wrap="square" rtlCol="0" anchor="t"/>
          <a:lstStyle/>
          <a:p>
            <a:pPr rtl="1" algn="ctr" indent="0" marL="0">
              <a:buNone/>
            </a:pPr>
            <a:r>
              <a:rPr lang="en-US" sz="1450" b="1" dirty="0">
                <a:solidFill>
                  <a:srgbClr val="1E2761"/>
                </a:solidFill>
                <a:latin typeface="Arial" pitchFamily="34" charset="0"/>
                <a:ea typeface="Arial" pitchFamily="34" charset="-122"/>
                <a:cs typeface="Arial" pitchFamily="34" charset="-120"/>
              </a:rPr>
              <a:t>טקסט</a:t>
            </a:r>
            <a:endParaRPr lang="en-US" sz="1450" dirty="0"/>
          </a:p>
        </p:txBody>
      </p:sp>
      <p:sp>
        <p:nvSpPr>
          <p:cNvPr id="6" name="Text 4"/>
          <p:cNvSpPr/>
          <p:nvPr/>
        </p:nvSpPr>
        <p:spPr>
          <a:xfrm>
            <a:off x="9769450" y="2807208"/>
            <a:ext cx="1779422" cy="457200"/>
          </a:xfrm>
          <a:prstGeom prst="rect">
            <a:avLst/>
          </a:prstGeom>
          <a:noFill/>
          <a:ln/>
        </p:spPr>
        <p:txBody>
          <a:bodyPr wrap="square" rtlCol="0" anchor="t"/>
          <a:lstStyle/>
          <a:p>
            <a:pPr rtl="1" algn="ctr" indent="0" marL="0">
              <a:buNone/>
            </a:pPr>
            <a:r>
              <a:rPr lang="en-US" sz="1150" dirty="0">
                <a:solidFill>
                  <a:srgbClr val="222232"/>
                </a:solidFill>
                <a:latin typeface="Arial" pitchFamily="34" charset="0"/>
                <a:ea typeface="Arial" pitchFamily="34" charset="-122"/>
                <a:cs typeface="Arial" pitchFamily="34" charset="-120"/>
              </a:rPr>
              <a:t>הפרומפט שלכם</a:t>
            </a:r>
            <a:endParaRPr lang="en-US" sz="1150" dirty="0"/>
          </a:p>
        </p:txBody>
      </p:sp>
      <p:sp>
        <p:nvSpPr>
          <p:cNvPr id="7" name="Shape 5"/>
          <p:cNvSpPr/>
          <p:nvPr/>
        </p:nvSpPr>
        <p:spPr>
          <a:xfrm>
            <a:off x="9385402" y="2766060"/>
            <a:ext cx="228600" cy="0"/>
          </a:xfrm>
          <a:prstGeom prst="line">
            <a:avLst/>
          </a:prstGeom>
          <a:noFill/>
          <a:ln w="38100">
            <a:solidFill>
              <a:srgbClr val="3B3B98"/>
            </a:solidFill>
            <a:prstDash val="solid"/>
            <a:headEnd type="triangle"/>
          </a:ln>
        </p:spPr>
      </p:sp>
      <p:sp>
        <p:nvSpPr>
          <p:cNvPr id="8" name="Shape 6"/>
          <p:cNvSpPr/>
          <p:nvPr/>
        </p:nvSpPr>
        <p:spPr>
          <a:xfrm>
            <a:off x="7395667" y="2148840"/>
            <a:ext cx="1962302" cy="1234440"/>
          </a:xfrm>
          <a:prstGeom prst="roundRect">
            <a:avLst>
              <a:gd name="adj" fmla="val 6667"/>
            </a:avLst>
          </a:prstGeom>
          <a:solidFill>
            <a:srgbClr val="E7F5F6"/>
          </a:solidFill>
          <a:ln/>
          <a:effectLst>
            <a:outerShdw sx="100000" sy="100000" kx="0" ky="0" algn="bl" rotWithShape="0" blurRad="76200" dist="25400" dir="5400000">
              <a:srgbClr val="999999">
                <a:alpha val="28000"/>
              </a:srgbClr>
            </a:outerShdw>
          </a:effectLst>
        </p:spPr>
      </p:sp>
      <p:sp>
        <p:nvSpPr>
          <p:cNvPr id="9" name="Text 7"/>
          <p:cNvSpPr/>
          <p:nvPr/>
        </p:nvSpPr>
        <p:spPr>
          <a:xfrm>
            <a:off x="7487107" y="2404872"/>
            <a:ext cx="1779422" cy="365760"/>
          </a:xfrm>
          <a:prstGeom prst="rect">
            <a:avLst/>
          </a:prstGeom>
          <a:noFill/>
          <a:ln/>
        </p:spPr>
        <p:txBody>
          <a:bodyPr wrap="square" rtlCol="0" anchor="t"/>
          <a:lstStyle/>
          <a:p>
            <a:pPr rtl="1" algn="ctr" indent="0" marL="0">
              <a:buNone/>
            </a:pPr>
            <a:r>
              <a:rPr lang="en-US" sz="1450" b="1" dirty="0">
                <a:solidFill>
                  <a:srgbClr val="0E9AA7"/>
                </a:solidFill>
                <a:latin typeface="Arial" pitchFamily="34" charset="0"/>
                <a:ea typeface="Arial" pitchFamily="34" charset="-122"/>
                <a:cs typeface="Arial" pitchFamily="34" charset="-120"/>
              </a:rPr>
              <a:t>טוקנים</a:t>
            </a:r>
            <a:endParaRPr lang="en-US" sz="1450" dirty="0"/>
          </a:p>
        </p:txBody>
      </p:sp>
      <p:sp>
        <p:nvSpPr>
          <p:cNvPr id="10" name="Text 8"/>
          <p:cNvSpPr/>
          <p:nvPr/>
        </p:nvSpPr>
        <p:spPr>
          <a:xfrm>
            <a:off x="7487107" y="2807208"/>
            <a:ext cx="1779422" cy="457200"/>
          </a:xfrm>
          <a:prstGeom prst="rect">
            <a:avLst/>
          </a:prstGeom>
          <a:noFill/>
          <a:ln/>
        </p:spPr>
        <p:txBody>
          <a:bodyPr wrap="square" rtlCol="0" anchor="t"/>
          <a:lstStyle/>
          <a:p>
            <a:pPr rtl="1" algn="ctr" indent="0" marL="0">
              <a:buNone/>
            </a:pPr>
            <a:r>
              <a:rPr lang="en-US" sz="1150" dirty="0">
                <a:solidFill>
                  <a:srgbClr val="222232"/>
                </a:solidFill>
                <a:latin typeface="Arial" pitchFamily="34" charset="0"/>
                <a:ea typeface="Arial" pitchFamily="34" charset="-122"/>
                <a:cs typeface="Arial" pitchFamily="34" charset="-120"/>
              </a:rPr>
              <a:t>פירוק לחתיכות</a:t>
            </a:r>
            <a:endParaRPr lang="en-US" sz="1150" dirty="0"/>
          </a:p>
        </p:txBody>
      </p:sp>
      <p:sp>
        <p:nvSpPr>
          <p:cNvPr id="11" name="Shape 9"/>
          <p:cNvSpPr/>
          <p:nvPr/>
        </p:nvSpPr>
        <p:spPr>
          <a:xfrm>
            <a:off x="7103059" y="2766060"/>
            <a:ext cx="228600" cy="0"/>
          </a:xfrm>
          <a:prstGeom prst="line">
            <a:avLst/>
          </a:prstGeom>
          <a:noFill/>
          <a:ln w="38100">
            <a:solidFill>
              <a:srgbClr val="3B3B98"/>
            </a:solidFill>
            <a:prstDash val="solid"/>
            <a:headEnd type="triangle"/>
          </a:ln>
        </p:spPr>
      </p:sp>
      <p:sp>
        <p:nvSpPr>
          <p:cNvPr id="12" name="Shape 10"/>
          <p:cNvSpPr/>
          <p:nvPr/>
        </p:nvSpPr>
        <p:spPr>
          <a:xfrm>
            <a:off x="5113325" y="2148840"/>
            <a:ext cx="1962302" cy="1234440"/>
          </a:xfrm>
          <a:prstGeom prst="roundRect">
            <a:avLst>
              <a:gd name="adj" fmla="val 6667"/>
            </a:avLst>
          </a:prstGeom>
          <a:solidFill>
            <a:srgbClr val="E7F5F6"/>
          </a:solidFill>
          <a:ln/>
          <a:effectLst>
            <a:outerShdw sx="100000" sy="100000" kx="0" ky="0" algn="bl" rotWithShape="0" blurRad="76200" dist="25400" dir="5400000">
              <a:srgbClr val="999999">
                <a:alpha val="28000"/>
              </a:srgbClr>
            </a:outerShdw>
          </a:effectLst>
        </p:spPr>
      </p:sp>
      <p:sp>
        <p:nvSpPr>
          <p:cNvPr id="13" name="Text 11"/>
          <p:cNvSpPr/>
          <p:nvPr/>
        </p:nvSpPr>
        <p:spPr>
          <a:xfrm>
            <a:off x="5204765" y="2404872"/>
            <a:ext cx="1779422" cy="365760"/>
          </a:xfrm>
          <a:prstGeom prst="rect">
            <a:avLst/>
          </a:prstGeom>
          <a:noFill/>
          <a:ln/>
        </p:spPr>
        <p:txBody>
          <a:bodyPr wrap="square" rtlCol="0" anchor="t"/>
          <a:lstStyle/>
          <a:p>
            <a:pPr rtl="1" algn="ctr" indent="0" marL="0">
              <a:buNone/>
            </a:pPr>
            <a:r>
              <a:rPr lang="en-US" sz="1450" b="1" dirty="0">
                <a:solidFill>
                  <a:srgbClr val="0E9AA7"/>
                </a:solidFill>
                <a:latin typeface="Arial" pitchFamily="34" charset="0"/>
                <a:ea typeface="Arial" pitchFamily="34" charset="-122"/>
                <a:cs typeface="Arial" pitchFamily="34" charset="-120"/>
              </a:rPr>
              <a:t>Embeddings</a:t>
            </a:r>
            <a:endParaRPr lang="en-US" sz="1450" dirty="0"/>
          </a:p>
        </p:txBody>
      </p:sp>
      <p:sp>
        <p:nvSpPr>
          <p:cNvPr id="14" name="Text 12"/>
          <p:cNvSpPr/>
          <p:nvPr/>
        </p:nvSpPr>
        <p:spPr>
          <a:xfrm>
            <a:off x="5204765" y="2807208"/>
            <a:ext cx="1779422" cy="457200"/>
          </a:xfrm>
          <a:prstGeom prst="rect">
            <a:avLst/>
          </a:prstGeom>
          <a:noFill/>
          <a:ln/>
        </p:spPr>
        <p:txBody>
          <a:bodyPr wrap="square" rtlCol="0" anchor="t"/>
          <a:lstStyle/>
          <a:p>
            <a:pPr rtl="1" algn="ctr" indent="0" marL="0">
              <a:buNone/>
            </a:pPr>
            <a:r>
              <a:rPr lang="en-US" sz="1150" dirty="0">
                <a:solidFill>
                  <a:srgbClr val="222232"/>
                </a:solidFill>
                <a:latin typeface="Arial" pitchFamily="34" charset="0"/>
                <a:ea typeface="Arial" pitchFamily="34" charset="-122"/>
                <a:cs typeface="Arial" pitchFamily="34" charset="-120"/>
              </a:rPr>
              <a:t>המרה למספרים/משמעות</a:t>
            </a:r>
            <a:endParaRPr lang="en-US" sz="1150" dirty="0"/>
          </a:p>
        </p:txBody>
      </p:sp>
      <p:sp>
        <p:nvSpPr>
          <p:cNvPr id="15" name="Shape 13"/>
          <p:cNvSpPr/>
          <p:nvPr/>
        </p:nvSpPr>
        <p:spPr>
          <a:xfrm>
            <a:off x="4820717" y="2766060"/>
            <a:ext cx="228600" cy="0"/>
          </a:xfrm>
          <a:prstGeom prst="line">
            <a:avLst/>
          </a:prstGeom>
          <a:noFill/>
          <a:ln w="38100">
            <a:solidFill>
              <a:srgbClr val="3B3B98"/>
            </a:solidFill>
            <a:prstDash val="solid"/>
            <a:headEnd type="triangle"/>
          </a:ln>
        </p:spPr>
      </p:sp>
      <p:sp>
        <p:nvSpPr>
          <p:cNvPr id="16" name="Shape 14"/>
          <p:cNvSpPr/>
          <p:nvPr/>
        </p:nvSpPr>
        <p:spPr>
          <a:xfrm>
            <a:off x="2830982" y="2148840"/>
            <a:ext cx="1962302" cy="1234440"/>
          </a:xfrm>
          <a:prstGeom prst="roundRect">
            <a:avLst>
              <a:gd name="adj" fmla="val 6667"/>
            </a:avLst>
          </a:prstGeom>
          <a:solidFill>
            <a:srgbClr val="E7F5F6"/>
          </a:solidFill>
          <a:ln/>
          <a:effectLst>
            <a:outerShdw sx="100000" sy="100000" kx="0" ky="0" algn="bl" rotWithShape="0" blurRad="76200" dist="25400" dir="5400000">
              <a:srgbClr val="999999">
                <a:alpha val="28000"/>
              </a:srgbClr>
            </a:outerShdw>
          </a:effectLst>
        </p:spPr>
      </p:sp>
      <p:sp>
        <p:nvSpPr>
          <p:cNvPr id="17" name="Text 15"/>
          <p:cNvSpPr/>
          <p:nvPr/>
        </p:nvSpPr>
        <p:spPr>
          <a:xfrm>
            <a:off x="2922422" y="2404872"/>
            <a:ext cx="1779422" cy="365760"/>
          </a:xfrm>
          <a:prstGeom prst="rect">
            <a:avLst/>
          </a:prstGeom>
          <a:noFill/>
          <a:ln/>
        </p:spPr>
        <p:txBody>
          <a:bodyPr wrap="square" rtlCol="0" anchor="t"/>
          <a:lstStyle/>
          <a:p>
            <a:pPr rtl="1" algn="ctr" indent="0" marL="0">
              <a:buNone/>
            </a:pPr>
            <a:r>
              <a:rPr lang="en-US" sz="1450" b="1" dirty="0">
                <a:solidFill>
                  <a:srgbClr val="0E9AA7"/>
                </a:solidFill>
                <a:latin typeface="Arial" pitchFamily="34" charset="0"/>
                <a:ea typeface="Arial" pitchFamily="34" charset="-122"/>
                <a:cs typeface="Arial" pitchFamily="34" charset="-120"/>
              </a:rPr>
              <a:t>ניבוי</a:t>
            </a:r>
            <a:endParaRPr lang="en-US" sz="1450" dirty="0"/>
          </a:p>
        </p:txBody>
      </p:sp>
      <p:sp>
        <p:nvSpPr>
          <p:cNvPr id="18" name="Text 16"/>
          <p:cNvSpPr/>
          <p:nvPr/>
        </p:nvSpPr>
        <p:spPr>
          <a:xfrm>
            <a:off x="2922422" y="2807208"/>
            <a:ext cx="1779422" cy="457200"/>
          </a:xfrm>
          <a:prstGeom prst="rect">
            <a:avLst/>
          </a:prstGeom>
          <a:noFill/>
          <a:ln/>
        </p:spPr>
        <p:txBody>
          <a:bodyPr wrap="square" rtlCol="0" anchor="t"/>
          <a:lstStyle/>
          <a:p>
            <a:pPr rtl="1" algn="ctr" indent="0" marL="0">
              <a:buNone/>
            </a:pPr>
            <a:r>
              <a:rPr lang="en-US" sz="1150" dirty="0">
                <a:solidFill>
                  <a:srgbClr val="222232"/>
                </a:solidFill>
                <a:latin typeface="Arial" pitchFamily="34" charset="0"/>
                <a:ea typeface="Arial" pitchFamily="34" charset="-122"/>
                <a:cs typeface="Arial" pitchFamily="34" charset="-120"/>
              </a:rPr>
              <a:t>הטוקן הסביר הבא</a:t>
            </a:r>
            <a:endParaRPr lang="en-US" sz="1150" dirty="0"/>
          </a:p>
        </p:txBody>
      </p:sp>
      <p:sp>
        <p:nvSpPr>
          <p:cNvPr id="19" name="Shape 17"/>
          <p:cNvSpPr/>
          <p:nvPr/>
        </p:nvSpPr>
        <p:spPr>
          <a:xfrm>
            <a:off x="2538374" y="2766060"/>
            <a:ext cx="228600" cy="0"/>
          </a:xfrm>
          <a:prstGeom prst="line">
            <a:avLst/>
          </a:prstGeom>
          <a:noFill/>
          <a:ln w="38100">
            <a:solidFill>
              <a:srgbClr val="3B3B98"/>
            </a:solidFill>
            <a:prstDash val="solid"/>
            <a:headEnd type="triangle"/>
          </a:ln>
        </p:spPr>
      </p:sp>
      <p:sp>
        <p:nvSpPr>
          <p:cNvPr id="20" name="Shape 18"/>
          <p:cNvSpPr/>
          <p:nvPr/>
        </p:nvSpPr>
        <p:spPr>
          <a:xfrm>
            <a:off x="548640" y="2148840"/>
            <a:ext cx="1962302" cy="1234440"/>
          </a:xfrm>
          <a:prstGeom prst="roundRect">
            <a:avLst>
              <a:gd name="adj" fmla="val 6667"/>
            </a:avLst>
          </a:prstGeom>
          <a:solidFill>
            <a:srgbClr val="F2F3FA"/>
          </a:solidFill>
          <a:ln/>
          <a:effectLst>
            <a:outerShdw sx="100000" sy="100000" kx="0" ky="0" algn="bl" rotWithShape="0" blurRad="76200" dist="25400" dir="5400000">
              <a:srgbClr val="999999">
                <a:alpha val="28000"/>
              </a:srgbClr>
            </a:outerShdw>
          </a:effectLst>
        </p:spPr>
      </p:sp>
      <p:sp>
        <p:nvSpPr>
          <p:cNvPr id="21" name="Text 19"/>
          <p:cNvSpPr/>
          <p:nvPr/>
        </p:nvSpPr>
        <p:spPr>
          <a:xfrm>
            <a:off x="640080" y="2404872"/>
            <a:ext cx="1779422" cy="365760"/>
          </a:xfrm>
          <a:prstGeom prst="rect">
            <a:avLst/>
          </a:prstGeom>
          <a:noFill/>
          <a:ln/>
        </p:spPr>
        <p:txBody>
          <a:bodyPr wrap="square" rtlCol="0" anchor="t"/>
          <a:lstStyle/>
          <a:p>
            <a:pPr rtl="1" algn="ctr" indent="0" marL="0">
              <a:buNone/>
            </a:pPr>
            <a:r>
              <a:rPr lang="en-US" sz="1450" b="1" dirty="0">
                <a:solidFill>
                  <a:srgbClr val="1E2761"/>
                </a:solidFill>
                <a:latin typeface="Arial" pitchFamily="34" charset="0"/>
                <a:ea typeface="Arial" pitchFamily="34" charset="-122"/>
                <a:cs typeface="Arial" pitchFamily="34" charset="-120"/>
              </a:rPr>
              <a:t>טקסט</a:t>
            </a:r>
            <a:endParaRPr lang="en-US" sz="1450" dirty="0"/>
          </a:p>
        </p:txBody>
      </p:sp>
      <p:sp>
        <p:nvSpPr>
          <p:cNvPr id="22" name="Text 20"/>
          <p:cNvSpPr/>
          <p:nvPr/>
        </p:nvSpPr>
        <p:spPr>
          <a:xfrm>
            <a:off x="640080" y="2807208"/>
            <a:ext cx="1779422" cy="457200"/>
          </a:xfrm>
          <a:prstGeom prst="rect">
            <a:avLst/>
          </a:prstGeom>
          <a:noFill/>
          <a:ln/>
        </p:spPr>
        <p:txBody>
          <a:bodyPr wrap="square" rtlCol="0" anchor="t"/>
          <a:lstStyle/>
          <a:p>
            <a:pPr rtl="1" algn="ctr" indent="0" marL="0">
              <a:buNone/>
            </a:pPr>
            <a:r>
              <a:rPr lang="en-US" sz="1150" dirty="0">
                <a:solidFill>
                  <a:srgbClr val="222232"/>
                </a:solidFill>
                <a:latin typeface="Arial" pitchFamily="34" charset="0"/>
                <a:ea typeface="Arial" pitchFamily="34" charset="-122"/>
                <a:cs typeface="Arial" pitchFamily="34" charset="-120"/>
              </a:rPr>
              <a:t>הפלט — קוד</a:t>
            </a:r>
            <a:endParaRPr lang="en-US" sz="1150" dirty="0"/>
          </a:p>
        </p:txBody>
      </p:sp>
      <p:sp>
        <p:nvSpPr>
          <p:cNvPr id="23" name="Shape 21"/>
          <p:cNvSpPr/>
          <p:nvPr/>
        </p:nvSpPr>
        <p:spPr>
          <a:xfrm>
            <a:off x="548640" y="4160520"/>
            <a:ext cx="11091672" cy="914400"/>
          </a:xfrm>
          <a:prstGeom prst="roundRect">
            <a:avLst>
              <a:gd name="adj" fmla="val 10000"/>
            </a:avLst>
          </a:prstGeom>
          <a:solidFill>
            <a:srgbClr val="1E2761"/>
          </a:solidFill>
          <a:ln/>
          <a:effectLst>
            <a:outerShdw sx="100000" sy="100000" kx="0" ky="0" algn="bl" rotWithShape="0" blurRad="76200" dist="25400" dir="5400000">
              <a:srgbClr val="999999">
                <a:alpha val="28000"/>
              </a:srgbClr>
            </a:outerShdw>
          </a:effectLst>
        </p:spPr>
      </p:sp>
      <p:sp>
        <p:nvSpPr>
          <p:cNvPr id="24" name="Text 22"/>
          <p:cNvSpPr/>
          <p:nvPr/>
        </p:nvSpPr>
        <p:spPr>
          <a:xfrm>
            <a:off x="868680" y="4343400"/>
            <a:ext cx="10451592" cy="548640"/>
          </a:xfrm>
          <a:prstGeom prst="rect">
            <a:avLst/>
          </a:prstGeom>
          <a:noFill/>
          <a:ln/>
        </p:spPr>
        <p:txBody>
          <a:bodyPr wrap="square"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היום נעבור על שלושת השלבים האמצעיים (הכחולים) — הם הלב של “איך המודל חושב”. בסוף נבין למה כל זה מוביל לפעמים להזיות.</a:t>
            </a:r>
            <a:endParaRPr lang="en-US" sz="1600" dirty="0"/>
          </a:p>
        </p:txBody>
      </p:sp>
      <p:sp>
        <p:nvSpPr>
          <p:cNvPr id="25" name="Text 2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04 / 29</a:t>
            </a:r>
            <a:endParaRPr lang="en-US" sz="950" dirty="0"/>
          </a:p>
        </p:txBody>
      </p:sp>
      <p:sp>
        <p:nvSpPr>
          <p:cNvPr id="26" name="Text 2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למה בכלל צריך טוקנים</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מחשב לא מבין מילים — רק מספרים</a:t>
            </a:r>
            <a:endParaRPr lang="en-US" sz="3300" dirty="0"/>
          </a:p>
        </p:txBody>
      </p:sp>
      <p:sp>
        <p:nvSpPr>
          <p:cNvPr id="4" name="Shape 2"/>
          <p:cNvSpPr/>
          <p:nvPr/>
        </p:nvSpPr>
        <p:spPr>
          <a:xfrm>
            <a:off x="548640" y="1828800"/>
            <a:ext cx="11091672" cy="1371600"/>
          </a:xfrm>
          <a:prstGeom prst="roundRect">
            <a:avLst>
              <a:gd name="adj" fmla="val 6667"/>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2011680"/>
            <a:ext cx="10451592" cy="100584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בשביל בן-אדם “חתול” היא מילה. בשביל מחשב, טקסט הוא חסר משמעות עד שממירים אותו למספרים. השלב הראשון: לפרק את הטקסט לחתיכות קטנות בשם “טוקנים” — ואז להמיר כל טוקן למספר.</a:t>
            </a:r>
            <a:endParaRPr lang="en-US" sz="1800" dirty="0"/>
          </a:p>
        </p:txBody>
      </p:sp>
      <p:sp>
        <p:nvSpPr>
          <p:cNvPr id="6" name="Shape 4"/>
          <p:cNvSpPr/>
          <p:nvPr/>
        </p:nvSpPr>
        <p:spPr>
          <a:xfrm>
            <a:off x="6277356" y="3566160"/>
            <a:ext cx="5362956"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7" name="Text 5"/>
          <p:cNvSpPr/>
          <p:nvPr/>
        </p:nvSpPr>
        <p:spPr>
          <a:xfrm>
            <a:off x="6551676" y="3767328"/>
            <a:ext cx="4814316"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מה אנחנו רואים</a:t>
            </a:r>
            <a:endParaRPr lang="en-US" sz="1500" dirty="0"/>
          </a:p>
        </p:txBody>
      </p:sp>
      <p:sp>
        <p:nvSpPr>
          <p:cNvPr id="8" name="Text 6"/>
          <p:cNvSpPr/>
          <p:nvPr/>
        </p:nvSpPr>
        <p:spPr>
          <a:xfrm>
            <a:off x="6551676" y="4224528"/>
            <a:ext cx="4814316" cy="457200"/>
          </a:xfrm>
          <a:prstGeom prst="rect">
            <a:avLst/>
          </a:prstGeom>
          <a:noFill/>
          <a:ln/>
        </p:spPr>
        <p:txBody>
          <a:bodyPr wrap="square" rtlCol="0" anchor="t"/>
          <a:lstStyle/>
          <a:p>
            <a:pPr rtl="1" algn="r" indent="0" marL="0">
              <a:buNone/>
            </a:pPr>
            <a:r>
              <a:rPr lang="en-US" sz="1500" dirty="0">
                <a:solidFill>
                  <a:srgbClr val="222232"/>
                </a:solidFill>
                <a:latin typeface="Arial" pitchFamily="34" charset="0"/>
                <a:ea typeface="Arial" pitchFamily="34" charset="-122"/>
                <a:cs typeface="Arial" pitchFamily="34" charset="-120"/>
              </a:rPr>
              <a:t>“print(x)” — שורת קוד</a:t>
            </a:r>
            <a:endParaRPr lang="en-US" sz="1500" dirty="0"/>
          </a:p>
        </p:txBody>
      </p:sp>
      <p:sp>
        <p:nvSpPr>
          <p:cNvPr id="9" name="Shape 7"/>
          <p:cNvSpPr/>
          <p:nvPr/>
        </p:nvSpPr>
        <p:spPr>
          <a:xfrm>
            <a:off x="548640" y="3566160"/>
            <a:ext cx="5362956" cy="1371600"/>
          </a:xfrm>
          <a:prstGeom prst="roundRect">
            <a:avLst>
              <a:gd name="adj" fmla="val 6000"/>
            </a:avLst>
          </a:prstGeom>
          <a:solidFill>
            <a:srgbClr val="E7F5F6"/>
          </a:solidFill>
          <a:ln/>
          <a:effectLst>
            <a:outerShdw sx="100000" sy="100000" kx="0" ky="0" algn="bl" rotWithShape="0" blurRad="76200" dist="25400" dir="5400000">
              <a:srgbClr val="999999">
                <a:alpha val="28000"/>
              </a:srgbClr>
            </a:outerShdw>
          </a:effectLst>
        </p:spPr>
      </p:sp>
      <p:sp>
        <p:nvSpPr>
          <p:cNvPr id="10" name="Text 8"/>
          <p:cNvSpPr/>
          <p:nvPr/>
        </p:nvSpPr>
        <p:spPr>
          <a:xfrm>
            <a:off x="822960" y="3767328"/>
            <a:ext cx="4814316" cy="365760"/>
          </a:xfrm>
          <a:prstGeom prst="rect">
            <a:avLst/>
          </a:prstGeom>
          <a:noFill/>
          <a:ln/>
        </p:spPr>
        <p:txBody>
          <a:bodyPr wrap="square" rtlCol="0" anchor="t"/>
          <a:lstStyle/>
          <a:p>
            <a:pPr rtl="1" algn="r" indent="0" marL="0">
              <a:buNone/>
            </a:pPr>
            <a:r>
              <a:rPr lang="en-US" sz="1500" b="1" dirty="0">
                <a:solidFill>
                  <a:srgbClr val="0E9AA7"/>
                </a:solidFill>
                <a:latin typeface="Arial" pitchFamily="34" charset="0"/>
                <a:ea typeface="Arial" pitchFamily="34" charset="-122"/>
                <a:cs typeface="Arial" pitchFamily="34" charset="-120"/>
              </a:rPr>
              <a:t>מה המחשב מקבל</a:t>
            </a:r>
            <a:endParaRPr lang="en-US" sz="1500" dirty="0"/>
          </a:p>
        </p:txBody>
      </p:sp>
      <p:sp>
        <p:nvSpPr>
          <p:cNvPr id="11" name="Text 9"/>
          <p:cNvSpPr/>
          <p:nvPr/>
        </p:nvSpPr>
        <p:spPr>
          <a:xfrm>
            <a:off x="822960" y="4224528"/>
            <a:ext cx="4814316" cy="457200"/>
          </a:xfrm>
          <a:prstGeom prst="rect">
            <a:avLst/>
          </a:prstGeom>
          <a:noFill/>
          <a:ln/>
        </p:spPr>
        <p:txBody>
          <a:bodyPr wrap="square" rtlCol="0" anchor="ctr"/>
          <a:lstStyle/>
          <a:p>
            <a:pPr algn="l" indent="0" marL="0">
              <a:buNone/>
            </a:pPr>
            <a:r>
              <a:rPr lang="en-US" sz="1350" dirty="0">
                <a:solidFill>
                  <a:srgbClr val="222232"/>
                </a:solidFill>
                <a:latin typeface="Courier New" pitchFamily="34" charset="0"/>
                <a:ea typeface="Courier New" pitchFamily="34" charset="-122"/>
                <a:cs typeface="Courier New" pitchFamily="34" charset="-120"/>
              </a:rPr>
              <a:t>[print] [(] [x] [)]  →  [3072, 7, 87, 8]</a:t>
            </a:r>
            <a:endParaRPr lang="en-US" sz="1350" dirty="0"/>
          </a:p>
        </p:txBody>
      </p:sp>
      <p:sp>
        <p:nvSpPr>
          <p:cNvPr id="12" name="Text 1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05 / 29</a:t>
            </a:r>
            <a:endParaRPr lang="en-US" sz="950" dirty="0"/>
          </a:p>
        </p:txBody>
      </p:sp>
      <p:sp>
        <p:nvSpPr>
          <p:cNvPr id="13" name="Text 1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טוקניזציה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מהו טוקן?</a:t>
            </a:r>
            <a:endParaRPr lang="en-US" sz="3300" dirty="0"/>
          </a:p>
        </p:txBody>
      </p:sp>
      <p:sp>
        <p:nvSpPr>
          <p:cNvPr id="4" name="Text 2"/>
          <p:cNvSpPr/>
          <p:nvPr/>
        </p:nvSpPr>
        <p:spPr>
          <a:xfrm>
            <a:off x="548640" y="1737360"/>
            <a:ext cx="11091672" cy="64008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טוקן = חתיכת טקסט (מילה, חלק ממילה, סימן). כך המודל “קורא” — לא אות-אות ולא משפט שלם, אלא טוקן-טוקן.</a:t>
            </a:r>
            <a:endParaRPr lang="en-US" sz="1650" dirty="0"/>
          </a:p>
        </p:txBody>
      </p:sp>
      <p:sp>
        <p:nvSpPr>
          <p:cNvPr id="5" name="Text 3"/>
          <p:cNvSpPr/>
          <p:nvPr/>
        </p:nvSpPr>
        <p:spPr>
          <a:xfrm>
            <a:off x="8897112" y="2606040"/>
            <a:ext cx="2560320" cy="32004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דוגמה — משפט:</a:t>
            </a:r>
            <a:endParaRPr lang="en-US" sz="1400" dirty="0"/>
          </a:p>
        </p:txBody>
      </p:sp>
      <p:sp>
        <p:nvSpPr>
          <p:cNvPr id="6" name="Shape 4"/>
          <p:cNvSpPr/>
          <p:nvPr/>
        </p:nvSpPr>
        <p:spPr>
          <a:xfrm>
            <a:off x="8348472" y="3017520"/>
            <a:ext cx="1737360" cy="457200"/>
          </a:xfrm>
          <a:prstGeom prst="roundRect">
            <a:avLst>
              <a:gd name="adj" fmla="val 16000"/>
            </a:avLst>
          </a:prstGeom>
          <a:solidFill>
            <a:srgbClr val="E3E6F5"/>
          </a:solidFill>
          <a:ln w="12700">
            <a:solidFill>
              <a:srgbClr val="C7CCEA"/>
            </a:solidFill>
            <a:prstDash val="solid"/>
          </a:ln>
        </p:spPr>
      </p:sp>
      <p:sp>
        <p:nvSpPr>
          <p:cNvPr id="7" name="Text 5"/>
          <p:cNvSpPr/>
          <p:nvPr/>
        </p:nvSpPr>
        <p:spPr>
          <a:xfrm>
            <a:off x="8348472" y="3017520"/>
            <a:ext cx="1737360" cy="457200"/>
          </a:xfrm>
          <a:prstGeom prst="rect">
            <a:avLst/>
          </a:prstGeom>
          <a:noFill/>
          <a:ln/>
        </p:spPr>
        <p:txBody>
          <a:bodyPr wrap="square" rtlCol="0" anchor="ctr"/>
          <a:lstStyle/>
          <a:p>
            <a:pPr algn="ctr" indent="0" marL="0">
              <a:buNone/>
            </a:pPr>
            <a:r>
              <a:rPr lang="en-US" sz="1400" b="1" dirty="0">
                <a:solidFill>
                  <a:srgbClr val="222232"/>
                </a:solidFill>
                <a:latin typeface="Courier New" pitchFamily="34" charset="0"/>
                <a:ea typeface="Courier New" pitchFamily="34" charset="-122"/>
                <a:cs typeface="Courier New" pitchFamily="34" charset="-120"/>
              </a:rPr>
              <a:t>שלום</a:t>
            </a:r>
            <a:endParaRPr lang="en-US" sz="1400" dirty="0"/>
          </a:p>
        </p:txBody>
      </p:sp>
      <p:sp>
        <p:nvSpPr>
          <p:cNvPr id="8" name="Shape 6"/>
          <p:cNvSpPr/>
          <p:nvPr/>
        </p:nvSpPr>
        <p:spPr>
          <a:xfrm>
            <a:off x="6473952" y="3017520"/>
            <a:ext cx="1737360" cy="457200"/>
          </a:xfrm>
          <a:prstGeom prst="roundRect">
            <a:avLst>
              <a:gd name="adj" fmla="val 16000"/>
            </a:avLst>
          </a:prstGeom>
          <a:solidFill>
            <a:srgbClr val="E3E6F5"/>
          </a:solidFill>
          <a:ln w="12700">
            <a:solidFill>
              <a:srgbClr val="C7CCEA"/>
            </a:solidFill>
            <a:prstDash val="solid"/>
          </a:ln>
        </p:spPr>
      </p:sp>
      <p:sp>
        <p:nvSpPr>
          <p:cNvPr id="9" name="Text 7"/>
          <p:cNvSpPr/>
          <p:nvPr/>
        </p:nvSpPr>
        <p:spPr>
          <a:xfrm>
            <a:off x="6473952" y="3017520"/>
            <a:ext cx="1737360" cy="457200"/>
          </a:xfrm>
          <a:prstGeom prst="rect">
            <a:avLst/>
          </a:prstGeom>
          <a:noFill/>
          <a:ln/>
        </p:spPr>
        <p:txBody>
          <a:bodyPr wrap="square" rtlCol="0" anchor="ctr"/>
          <a:lstStyle/>
          <a:p>
            <a:pPr algn="ctr" indent="0" marL="0">
              <a:buNone/>
            </a:pPr>
            <a:r>
              <a:rPr lang="en-US" sz="1400" b="1" dirty="0">
                <a:solidFill>
                  <a:srgbClr val="222232"/>
                </a:solidFill>
                <a:latin typeface="Courier New" pitchFamily="34" charset="0"/>
                <a:ea typeface="Courier New" pitchFamily="34" charset="-122"/>
                <a:cs typeface="Courier New" pitchFamily="34" charset="-120"/>
              </a:rPr>
              <a:t>עולם</a:t>
            </a:r>
            <a:endParaRPr lang="en-US" sz="1400" dirty="0"/>
          </a:p>
        </p:txBody>
      </p:sp>
      <p:sp>
        <p:nvSpPr>
          <p:cNvPr id="10" name="Shape 8"/>
          <p:cNvSpPr/>
          <p:nvPr/>
        </p:nvSpPr>
        <p:spPr>
          <a:xfrm>
            <a:off x="5422392" y="3017520"/>
            <a:ext cx="914400" cy="457200"/>
          </a:xfrm>
          <a:prstGeom prst="roundRect">
            <a:avLst>
              <a:gd name="adj" fmla="val 16000"/>
            </a:avLst>
          </a:prstGeom>
          <a:solidFill>
            <a:srgbClr val="E3E6F5"/>
          </a:solidFill>
          <a:ln w="12700">
            <a:solidFill>
              <a:srgbClr val="C7CCEA"/>
            </a:solidFill>
            <a:prstDash val="solid"/>
          </a:ln>
        </p:spPr>
      </p:sp>
      <p:sp>
        <p:nvSpPr>
          <p:cNvPr id="11" name="Text 9"/>
          <p:cNvSpPr/>
          <p:nvPr/>
        </p:nvSpPr>
        <p:spPr>
          <a:xfrm>
            <a:off x="5422392" y="3017520"/>
            <a:ext cx="914400" cy="457200"/>
          </a:xfrm>
          <a:prstGeom prst="rect">
            <a:avLst/>
          </a:prstGeom>
          <a:noFill/>
          <a:ln/>
        </p:spPr>
        <p:txBody>
          <a:bodyPr wrap="square" rtlCol="0" anchor="ctr"/>
          <a:lstStyle/>
          <a:p>
            <a:pPr algn="ctr" indent="0" marL="0">
              <a:buNone/>
            </a:pPr>
            <a:r>
              <a:rPr lang="en-US" sz="1400" b="1" dirty="0">
                <a:solidFill>
                  <a:srgbClr val="222232"/>
                </a:solidFill>
                <a:latin typeface="Courier New" pitchFamily="34" charset="0"/>
                <a:ea typeface="Courier New" pitchFamily="34" charset="-122"/>
                <a:cs typeface="Courier New" pitchFamily="34" charset="-120"/>
              </a:rPr>
              <a:t>!</a:t>
            </a:r>
            <a:endParaRPr lang="en-US" sz="1400" dirty="0"/>
          </a:p>
        </p:txBody>
      </p:sp>
      <p:sp>
        <p:nvSpPr>
          <p:cNvPr id="12" name="Text 10"/>
          <p:cNvSpPr/>
          <p:nvPr/>
        </p:nvSpPr>
        <p:spPr>
          <a:xfrm>
            <a:off x="8897112" y="3749040"/>
            <a:ext cx="2560320" cy="32004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דוגמה — קוד:</a:t>
            </a:r>
            <a:endParaRPr lang="en-US" sz="1400" dirty="0"/>
          </a:p>
        </p:txBody>
      </p:sp>
      <p:sp>
        <p:nvSpPr>
          <p:cNvPr id="13" name="Shape 11"/>
          <p:cNvSpPr/>
          <p:nvPr/>
        </p:nvSpPr>
        <p:spPr>
          <a:xfrm>
            <a:off x="9198864" y="4160520"/>
            <a:ext cx="886968" cy="457200"/>
          </a:xfrm>
          <a:prstGeom prst="roundRect">
            <a:avLst>
              <a:gd name="adj" fmla="val 16000"/>
            </a:avLst>
          </a:prstGeom>
          <a:solidFill>
            <a:srgbClr val="D9F0F2"/>
          </a:solidFill>
          <a:ln w="12700">
            <a:solidFill>
              <a:srgbClr val="C7CCEA"/>
            </a:solidFill>
            <a:prstDash val="solid"/>
          </a:ln>
        </p:spPr>
      </p:sp>
      <p:sp>
        <p:nvSpPr>
          <p:cNvPr id="14" name="Text 12"/>
          <p:cNvSpPr/>
          <p:nvPr/>
        </p:nvSpPr>
        <p:spPr>
          <a:xfrm>
            <a:off x="9198864" y="4160520"/>
            <a:ext cx="886968" cy="457200"/>
          </a:xfrm>
          <a:prstGeom prst="rect">
            <a:avLst/>
          </a:prstGeom>
          <a:noFill/>
          <a:ln/>
        </p:spPr>
        <p:txBody>
          <a:bodyPr wrap="square" rtlCol="0" anchor="ctr"/>
          <a:lstStyle/>
          <a:p>
            <a:pPr algn="ctr" indent="0" marL="0">
              <a:buNone/>
            </a:pPr>
            <a:r>
              <a:rPr lang="en-US" sz="1400" b="1" dirty="0">
                <a:solidFill>
                  <a:srgbClr val="0E9AA7"/>
                </a:solidFill>
                <a:latin typeface="Courier New" pitchFamily="34" charset="0"/>
                <a:ea typeface="Courier New" pitchFamily="34" charset="-122"/>
                <a:cs typeface="Courier New" pitchFamily="34" charset="-120"/>
              </a:rPr>
              <a:t>def</a:t>
            </a:r>
            <a:endParaRPr lang="en-US" sz="1400" dirty="0"/>
          </a:p>
        </p:txBody>
      </p:sp>
      <p:sp>
        <p:nvSpPr>
          <p:cNvPr id="15" name="Shape 13"/>
          <p:cNvSpPr/>
          <p:nvPr/>
        </p:nvSpPr>
        <p:spPr>
          <a:xfrm>
            <a:off x="7534656" y="4160520"/>
            <a:ext cx="1527048" cy="457200"/>
          </a:xfrm>
          <a:prstGeom prst="roundRect">
            <a:avLst>
              <a:gd name="adj" fmla="val 16000"/>
            </a:avLst>
          </a:prstGeom>
          <a:solidFill>
            <a:srgbClr val="D9F0F2"/>
          </a:solidFill>
          <a:ln w="12700">
            <a:solidFill>
              <a:srgbClr val="C7CCEA"/>
            </a:solidFill>
            <a:prstDash val="solid"/>
          </a:ln>
        </p:spPr>
      </p:sp>
      <p:sp>
        <p:nvSpPr>
          <p:cNvPr id="16" name="Text 14"/>
          <p:cNvSpPr/>
          <p:nvPr/>
        </p:nvSpPr>
        <p:spPr>
          <a:xfrm>
            <a:off x="7534656" y="4160520"/>
            <a:ext cx="1527048" cy="457200"/>
          </a:xfrm>
          <a:prstGeom prst="rect">
            <a:avLst/>
          </a:prstGeom>
          <a:noFill/>
          <a:ln/>
        </p:spPr>
        <p:txBody>
          <a:bodyPr wrap="square" rtlCol="0" anchor="ctr"/>
          <a:lstStyle/>
          <a:p>
            <a:pPr algn="ctr" indent="0" marL="0">
              <a:buNone/>
            </a:pPr>
            <a:r>
              <a:rPr lang="en-US" sz="1400" b="1" dirty="0">
                <a:solidFill>
                  <a:srgbClr val="0E9AA7"/>
                </a:solidFill>
                <a:latin typeface="Courier New" pitchFamily="34" charset="0"/>
                <a:ea typeface="Courier New" pitchFamily="34" charset="-122"/>
                <a:cs typeface="Courier New" pitchFamily="34" charset="-120"/>
              </a:rPr>
              <a:t>average</a:t>
            </a:r>
            <a:endParaRPr lang="en-US" sz="1400" dirty="0"/>
          </a:p>
        </p:txBody>
      </p:sp>
      <p:sp>
        <p:nvSpPr>
          <p:cNvPr id="17" name="Shape 15"/>
          <p:cNvSpPr/>
          <p:nvPr/>
        </p:nvSpPr>
        <p:spPr>
          <a:xfrm>
            <a:off x="6574536" y="4160520"/>
            <a:ext cx="822960" cy="457200"/>
          </a:xfrm>
          <a:prstGeom prst="roundRect">
            <a:avLst>
              <a:gd name="adj" fmla="val 16000"/>
            </a:avLst>
          </a:prstGeom>
          <a:solidFill>
            <a:srgbClr val="D9F0F2"/>
          </a:solidFill>
          <a:ln w="12700">
            <a:solidFill>
              <a:srgbClr val="C7CCEA"/>
            </a:solidFill>
            <a:prstDash val="solid"/>
          </a:ln>
        </p:spPr>
      </p:sp>
      <p:sp>
        <p:nvSpPr>
          <p:cNvPr id="18" name="Text 16"/>
          <p:cNvSpPr/>
          <p:nvPr/>
        </p:nvSpPr>
        <p:spPr>
          <a:xfrm>
            <a:off x="6574536" y="4160520"/>
            <a:ext cx="822960" cy="457200"/>
          </a:xfrm>
          <a:prstGeom prst="rect">
            <a:avLst/>
          </a:prstGeom>
          <a:noFill/>
          <a:ln/>
        </p:spPr>
        <p:txBody>
          <a:bodyPr wrap="square" rtlCol="0" anchor="ctr"/>
          <a:lstStyle/>
          <a:p>
            <a:pPr algn="ctr" indent="0" marL="0">
              <a:buNone/>
            </a:pPr>
            <a:r>
              <a:rPr lang="en-US" sz="1400" b="1" dirty="0">
                <a:solidFill>
                  <a:srgbClr val="0E9AA7"/>
                </a:solidFill>
                <a:latin typeface="Courier New" pitchFamily="34" charset="0"/>
                <a:ea typeface="Courier New" pitchFamily="34" charset="-122"/>
                <a:cs typeface="Courier New" pitchFamily="34" charset="-120"/>
              </a:rPr>
              <a:t>(</a:t>
            </a:r>
            <a:endParaRPr lang="en-US" sz="1400" dirty="0"/>
          </a:p>
        </p:txBody>
      </p:sp>
      <p:sp>
        <p:nvSpPr>
          <p:cNvPr id="19" name="Shape 17"/>
          <p:cNvSpPr/>
          <p:nvPr/>
        </p:nvSpPr>
        <p:spPr>
          <a:xfrm>
            <a:off x="5038344" y="4160520"/>
            <a:ext cx="1399032" cy="457200"/>
          </a:xfrm>
          <a:prstGeom prst="roundRect">
            <a:avLst>
              <a:gd name="adj" fmla="val 16000"/>
            </a:avLst>
          </a:prstGeom>
          <a:solidFill>
            <a:srgbClr val="D9F0F2"/>
          </a:solidFill>
          <a:ln w="12700">
            <a:solidFill>
              <a:srgbClr val="C7CCEA"/>
            </a:solidFill>
            <a:prstDash val="solid"/>
          </a:ln>
        </p:spPr>
      </p:sp>
      <p:sp>
        <p:nvSpPr>
          <p:cNvPr id="20" name="Text 18"/>
          <p:cNvSpPr/>
          <p:nvPr/>
        </p:nvSpPr>
        <p:spPr>
          <a:xfrm>
            <a:off x="5038344" y="4160520"/>
            <a:ext cx="1399032" cy="457200"/>
          </a:xfrm>
          <a:prstGeom prst="rect">
            <a:avLst/>
          </a:prstGeom>
          <a:noFill/>
          <a:ln/>
        </p:spPr>
        <p:txBody>
          <a:bodyPr wrap="square" rtlCol="0" anchor="ctr"/>
          <a:lstStyle/>
          <a:p>
            <a:pPr algn="ctr" indent="0" marL="0">
              <a:buNone/>
            </a:pPr>
            <a:r>
              <a:rPr lang="en-US" sz="1400" b="1" dirty="0">
                <a:solidFill>
                  <a:srgbClr val="0E9AA7"/>
                </a:solidFill>
                <a:latin typeface="Courier New" pitchFamily="34" charset="0"/>
                <a:ea typeface="Courier New" pitchFamily="34" charset="-122"/>
                <a:cs typeface="Courier New" pitchFamily="34" charset="-120"/>
              </a:rPr>
              <a:t>numbers</a:t>
            </a:r>
            <a:endParaRPr lang="en-US" sz="1400" dirty="0"/>
          </a:p>
        </p:txBody>
      </p:sp>
      <p:sp>
        <p:nvSpPr>
          <p:cNvPr id="21" name="Shape 19"/>
          <p:cNvSpPr/>
          <p:nvPr/>
        </p:nvSpPr>
        <p:spPr>
          <a:xfrm>
            <a:off x="4078224" y="4160520"/>
            <a:ext cx="822960" cy="457200"/>
          </a:xfrm>
          <a:prstGeom prst="roundRect">
            <a:avLst>
              <a:gd name="adj" fmla="val 16000"/>
            </a:avLst>
          </a:prstGeom>
          <a:solidFill>
            <a:srgbClr val="D9F0F2"/>
          </a:solidFill>
          <a:ln w="12700">
            <a:solidFill>
              <a:srgbClr val="C7CCEA"/>
            </a:solidFill>
            <a:prstDash val="solid"/>
          </a:ln>
        </p:spPr>
      </p:sp>
      <p:sp>
        <p:nvSpPr>
          <p:cNvPr id="22" name="Text 20"/>
          <p:cNvSpPr/>
          <p:nvPr/>
        </p:nvSpPr>
        <p:spPr>
          <a:xfrm>
            <a:off x="4078224" y="4160520"/>
            <a:ext cx="822960" cy="457200"/>
          </a:xfrm>
          <a:prstGeom prst="rect">
            <a:avLst/>
          </a:prstGeom>
          <a:noFill/>
          <a:ln/>
        </p:spPr>
        <p:txBody>
          <a:bodyPr wrap="square" rtlCol="0" anchor="ctr"/>
          <a:lstStyle/>
          <a:p>
            <a:pPr algn="ctr" indent="0" marL="0">
              <a:buNone/>
            </a:pPr>
            <a:r>
              <a:rPr lang="en-US" sz="1400" b="1" dirty="0">
                <a:solidFill>
                  <a:srgbClr val="0E9AA7"/>
                </a:solidFill>
                <a:latin typeface="Courier New" pitchFamily="34" charset="0"/>
                <a:ea typeface="Courier New" pitchFamily="34" charset="-122"/>
                <a:cs typeface="Courier New" pitchFamily="34" charset="-120"/>
              </a:rPr>
              <a:t>)</a:t>
            </a:r>
            <a:endParaRPr lang="en-US" sz="1400" dirty="0"/>
          </a:p>
        </p:txBody>
      </p:sp>
      <p:sp>
        <p:nvSpPr>
          <p:cNvPr id="23" name="Shape 21"/>
          <p:cNvSpPr/>
          <p:nvPr/>
        </p:nvSpPr>
        <p:spPr>
          <a:xfrm>
            <a:off x="548640" y="4983480"/>
            <a:ext cx="11091672" cy="868680"/>
          </a:xfrm>
          <a:prstGeom prst="roundRect">
            <a:avLst>
              <a:gd name="adj" fmla="val 10526"/>
            </a:avLst>
          </a:prstGeom>
          <a:solidFill>
            <a:srgbClr val="9A6A00"/>
          </a:solidFill>
          <a:ln/>
          <a:effectLst>
            <a:outerShdw sx="100000" sy="100000" kx="0" ky="0" algn="bl" rotWithShape="0" blurRad="76200" dist="25400" dir="5400000">
              <a:srgbClr val="999999">
                <a:alpha val="28000"/>
              </a:srgbClr>
            </a:outerShdw>
          </a:effectLst>
        </p:spPr>
      </p:sp>
      <p:sp>
        <p:nvSpPr>
          <p:cNvPr id="24" name="Text 22"/>
          <p:cNvSpPr/>
          <p:nvPr/>
        </p:nvSpPr>
        <p:spPr>
          <a:xfrm>
            <a:off x="868680" y="5166360"/>
            <a:ext cx="10451592" cy="502920"/>
          </a:xfrm>
          <a:prstGeom prst="rect">
            <a:avLst/>
          </a:prstGeom>
          <a:noFill/>
          <a:ln/>
        </p:spPr>
        <p:txBody>
          <a:bodyPr wrap="square" rtlCol="0" anchor="ctr"/>
          <a:lstStyle/>
          <a:p>
            <a:pPr rtl="1" algn="r" indent="0" marL="0">
              <a:buNone/>
            </a:pPr>
            <a:r>
              <a:rPr lang="en-US" sz="1550" b="1" dirty="0">
                <a:solidFill>
                  <a:srgbClr val="FFFFFF"/>
                </a:solidFill>
                <a:latin typeface="Arial" pitchFamily="34" charset="0"/>
                <a:ea typeface="Arial" pitchFamily="34" charset="-122"/>
                <a:cs typeface="Arial" pitchFamily="34" charset="-120"/>
              </a:rPr>
              <a:t>מספר הטוקנים ≠ מספר המילים. מילה ארוכה או נדירה עלולה להתפצל לכמה טוקנים — וזה חשוב כי הכול נמדד בטוקנים.</a:t>
            </a:r>
            <a:endParaRPr lang="en-US" sz="1550" dirty="0"/>
          </a:p>
        </p:txBody>
      </p:sp>
      <p:sp>
        <p:nvSpPr>
          <p:cNvPr id="25" name="Text 2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06 / 29</a:t>
            </a:r>
            <a:endParaRPr lang="en-US" sz="950" dirty="0"/>
          </a:p>
        </p:txBody>
      </p:sp>
      <p:sp>
        <p:nvSpPr>
          <p:cNvPr id="26" name="Text 2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טוקנים — עברית וקוד</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למה זה חשוב לכם</a:t>
            </a:r>
            <a:endParaRPr lang="en-US" sz="3300" dirty="0"/>
          </a:p>
        </p:txBody>
      </p:sp>
      <p:sp>
        <p:nvSpPr>
          <p:cNvPr id="4" name="Shape 2"/>
          <p:cNvSpPr/>
          <p:nvPr/>
        </p:nvSpPr>
        <p:spPr>
          <a:xfrm>
            <a:off x="11237976" y="1892808"/>
            <a:ext cx="402336" cy="402336"/>
          </a:xfrm>
          <a:prstGeom prst="ellipse">
            <a:avLst/>
          </a:prstGeom>
          <a:solidFill>
            <a:srgbClr val="2E7D32"/>
          </a:solidFill>
          <a:ln/>
        </p:spPr>
      </p:sp>
      <p:sp>
        <p:nvSpPr>
          <p:cNvPr id="5" name="Text 3"/>
          <p:cNvSpPr/>
          <p:nvPr/>
        </p:nvSpPr>
        <p:spPr>
          <a:xfrm>
            <a:off x="11237976" y="189280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6" name="Text 4"/>
          <p:cNvSpPr/>
          <p:nvPr/>
        </p:nvSpPr>
        <p:spPr>
          <a:xfrm>
            <a:off x="548640" y="185623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עברית לרוב “יקרה” יותר בטוקנים</a:t>
            </a:r>
            <a:endParaRPr lang="en-US" sz="1650" dirty="0"/>
          </a:p>
        </p:txBody>
      </p:sp>
      <p:sp>
        <p:nvSpPr>
          <p:cNvPr id="7" name="Text 5"/>
          <p:cNvSpPr/>
          <p:nvPr/>
        </p:nvSpPr>
        <p:spPr>
          <a:xfrm>
            <a:off x="548640" y="2203704"/>
            <a:ext cx="10543032" cy="9144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רוב המודלים אומנו בעיקר על אנגלית; מילה בעברית עלולה להתפצל ליותר טוקנים מהמקבילה באנגלית.</a:t>
            </a:r>
            <a:endParaRPr lang="en-US" sz="1300" dirty="0"/>
          </a:p>
        </p:txBody>
      </p:sp>
      <p:sp>
        <p:nvSpPr>
          <p:cNvPr id="8" name="Shape 6"/>
          <p:cNvSpPr/>
          <p:nvPr/>
        </p:nvSpPr>
        <p:spPr>
          <a:xfrm>
            <a:off x="11237976" y="3172968"/>
            <a:ext cx="402336" cy="402336"/>
          </a:xfrm>
          <a:prstGeom prst="ellipse">
            <a:avLst/>
          </a:prstGeom>
          <a:solidFill>
            <a:srgbClr val="2E7D32"/>
          </a:solidFill>
          <a:ln/>
        </p:spPr>
      </p:sp>
      <p:sp>
        <p:nvSpPr>
          <p:cNvPr id="9" name="Text 7"/>
          <p:cNvSpPr/>
          <p:nvPr/>
        </p:nvSpPr>
        <p:spPr>
          <a:xfrm>
            <a:off x="11237976" y="317296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548640" y="313639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קוד מתפצל לפי סימנים</a:t>
            </a:r>
            <a:endParaRPr lang="en-US" sz="1650" dirty="0"/>
          </a:p>
        </p:txBody>
      </p:sp>
      <p:sp>
        <p:nvSpPr>
          <p:cNvPr id="11" name="Text 9"/>
          <p:cNvSpPr/>
          <p:nvPr/>
        </p:nvSpPr>
        <p:spPr>
          <a:xfrm>
            <a:off x="548640" y="3483864"/>
            <a:ext cx="10543032" cy="9144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סוגריים, נקודות ורווחים הם טוקנים בפני עצמם — קוד ארוך = הרבה טוקנים.</a:t>
            </a:r>
            <a:endParaRPr lang="en-US" sz="1300" dirty="0"/>
          </a:p>
        </p:txBody>
      </p:sp>
      <p:sp>
        <p:nvSpPr>
          <p:cNvPr id="12" name="Shape 10"/>
          <p:cNvSpPr/>
          <p:nvPr/>
        </p:nvSpPr>
        <p:spPr>
          <a:xfrm>
            <a:off x="11237976" y="4453128"/>
            <a:ext cx="402336" cy="402336"/>
          </a:xfrm>
          <a:prstGeom prst="ellipse">
            <a:avLst/>
          </a:prstGeom>
          <a:solidFill>
            <a:srgbClr val="2E7D32"/>
          </a:solidFill>
          <a:ln/>
        </p:spPr>
      </p:sp>
      <p:sp>
        <p:nvSpPr>
          <p:cNvPr id="13" name="Text 11"/>
          <p:cNvSpPr/>
          <p:nvPr/>
        </p:nvSpPr>
        <p:spPr>
          <a:xfrm>
            <a:off x="11237976" y="44531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548640" y="44165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הכול נמדד בטוקנים</a:t>
            </a:r>
            <a:endParaRPr lang="en-US" sz="1650" dirty="0"/>
          </a:p>
        </p:txBody>
      </p:sp>
      <p:sp>
        <p:nvSpPr>
          <p:cNvPr id="15" name="Text 13"/>
          <p:cNvSpPr/>
          <p:nvPr/>
        </p:nvSpPr>
        <p:spPr>
          <a:xfrm>
            <a:off x="548640" y="4764024"/>
            <a:ext cx="10543032" cy="9144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אורך ההקשר והעלות (בכלים בתשלום) נספרים בטוקנים, לא במילים.</a:t>
            </a:r>
            <a:endParaRPr lang="en-US" sz="1300" dirty="0"/>
          </a:p>
        </p:txBody>
      </p:sp>
      <p:sp>
        <p:nvSpPr>
          <p:cNvPr id="16" name="Text 1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07 / 29</a:t>
            </a:r>
            <a:endParaRPr lang="en-US" sz="950" dirty="0"/>
          </a:p>
        </p:txBody>
      </p:sp>
      <p:sp>
        <p:nvSpPr>
          <p:cNvPr id="17" name="Text 1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Embeddings</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משמעות = מיקום במרחב</a:t>
            </a:r>
            <a:endParaRPr lang="en-US" sz="3300" dirty="0"/>
          </a:p>
        </p:txBody>
      </p:sp>
      <p:sp>
        <p:nvSpPr>
          <p:cNvPr id="4" name="Text 2"/>
          <p:cNvSpPr/>
          <p:nvPr/>
        </p:nvSpPr>
        <p:spPr>
          <a:xfrm>
            <a:off x="548640" y="1691640"/>
            <a:ext cx="11091672" cy="640080"/>
          </a:xfrm>
          <a:prstGeom prst="rect">
            <a:avLst/>
          </a:prstGeom>
          <a:noFill/>
          <a:ln/>
        </p:spPr>
        <p:txBody>
          <a:bodyPr wrap="square" rtlCol="0" anchor="t"/>
          <a:lstStyle/>
          <a:p>
            <a:pPr rtl="1" algn="r" indent="0" marL="0">
              <a:buNone/>
            </a:pPr>
            <a:r>
              <a:rPr lang="en-US" sz="1600" b="1" dirty="0">
                <a:solidFill>
                  <a:srgbClr val="222232"/>
                </a:solidFill>
                <a:latin typeface="Arial" pitchFamily="34" charset="0"/>
                <a:ea typeface="Arial" pitchFamily="34" charset="-122"/>
                <a:cs typeface="Arial" pitchFamily="34" charset="-120"/>
              </a:rPr>
              <a:t>כל טוקן הופך לנקודה במרחב. טוקנים במשמעות דומה — קרובים זה לזה. כך המודל “יודע” ש“כלב” ו“חתול” דומים.</a:t>
            </a:r>
            <a:endParaRPr lang="en-US" sz="1600" dirty="0"/>
          </a:p>
        </p:txBody>
      </p:sp>
      <p:sp>
        <p:nvSpPr>
          <p:cNvPr id="5" name="Shape 3"/>
          <p:cNvSpPr/>
          <p:nvPr/>
        </p:nvSpPr>
        <p:spPr>
          <a:xfrm>
            <a:off x="548640" y="2468880"/>
            <a:ext cx="11091672" cy="2743200"/>
          </a:xfrm>
          <a:prstGeom prst="roundRect">
            <a:avLst>
              <a:gd name="adj" fmla="val 3000"/>
            </a:avLst>
          </a:prstGeom>
          <a:solidFill>
            <a:srgbClr val="F2F3FA"/>
          </a:solidFill>
          <a:ln/>
          <a:effectLst>
            <a:outerShdw sx="100000" sy="100000" kx="0" ky="0" algn="bl" rotWithShape="0" blurRad="76200" dist="25400" dir="5400000">
              <a:srgbClr val="999999">
                <a:alpha val="28000"/>
              </a:srgbClr>
            </a:outerShdw>
          </a:effectLst>
        </p:spPr>
      </p:sp>
      <p:sp>
        <p:nvSpPr>
          <p:cNvPr id="6" name="Shape 4"/>
          <p:cNvSpPr/>
          <p:nvPr/>
        </p:nvSpPr>
        <p:spPr>
          <a:xfrm>
            <a:off x="9875520" y="3108960"/>
            <a:ext cx="182880" cy="182880"/>
          </a:xfrm>
          <a:prstGeom prst="ellipse">
            <a:avLst/>
          </a:prstGeom>
          <a:solidFill>
            <a:srgbClr val="0E9AA7"/>
          </a:solidFill>
          <a:ln/>
        </p:spPr>
      </p:sp>
      <p:sp>
        <p:nvSpPr>
          <p:cNvPr id="7" name="Text 5"/>
          <p:cNvSpPr/>
          <p:nvPr/>
        </p:nvSpPr>
        <p:spPr>
          <a:xfrm>
            <a:off x="8961120" y="2798064"/>
            <a:ext cx="914400" cy="274320"/>
          </a:xfrm>
          <a:prstGeom prst="rect">
            <a:avLst/>
          </a:prstGeom>
          <a:noFill/>
          <a:ln/>
        </p:spPr>
        <p:txBody>
          <a:bodyPr wrap="square" rtlCol="0" anchor="t"/>
          <a:lstStyle/>
          <a:p>
            <a:pPr rtl="1" algn="ctr" indent="0" marL="0">
              <a:buNone/>
            </a:pPr>
            <a:r>
              <a:rPr lang="en-US" sz="1300" b="1" dirty="0">
                <a:solidFill>
                  <a:srgbClr val="0E9AA7"/>
                </a:solidFill>
                <a:latin typeface="Arial" pitchFamily="34" charset="0"/>
                <a:ea typeface="Arial" pitchFamily="34" charset="-122"/>
                <a:cs typeface="Arial" pitchFamily="34" charset="-120"/>
              </a:rPr>
              <a:t>כלב</a:t>
            </a:r>
            <a:endParaRPr lang="en-US" sz="1300" dirty="0"/>
          </a:p>
        </p:txBody>
      </p:sp>
      <p:sp>
        <p:nvSpPr>
          <p:cNvPr id="8" name="Shape 6"/>
          <p:cNvSpPr/>
          <p:nvPr/>
        </p:nvSpPr>
        <p:spPr>
          <a:xfrm>
            <a:off x="10607040" y="3566160"/>
            <a:ext cx="182880" cy="182880"/>
          </a:xfrm>
          <a:prstGeom prst="ellipse">
            <a:avLst/>
          </a:prstGeom>
          <a:solidFill>
            <a:srgbClr val="0E9AA7"/>
          </a:solidFill>
          <a:ln/>
        </p:spPr>
      </p:sp>
      <p:sp>
        <p:nvSpPr>
          <p:cNvPr id="9" name="Text 7"/>
          <p:cNvSpPr/>
          <p:nvPr/>
        </p:nvSpPr>
        <p:spPr>
          <a:xfrm>
            <a:off x="9692640" y="3255264"/>
            <a:ext cx="914400" cy="274320"/>
          </a:xfrm>
          <a:prstGeom prst="rect">
            <a:avLst/>
          </a:prstGeom>
          <a:noFill/>
          <a:ln/>
        </p:spPr>
        <p:txBody>
          <a:bodyPr wrap="square" rtlCol="0" anchor="t"/>
          <a:lstStyle/>
          <a:p>
            <a:pPr rtl="1" algn="ctr" indent="0" marL="0">
              <a:buNone/>
            </a:pPr>
            <a:r>
              <a:rPr lang="en-US" sz="1300" b="1" dirty="0">
                <a:solidFill>
                  <a:srgbClr val="0E9AA7"/>
                </a:solidFill>
                <a:latin typeface="Arial" pitchFamily="34" charset="0"/>
                <a:ea typeface="Arial" pitchFamily="34" charset="-122"/>
                <a:cs typeface="Arial" pitchFamily="34" charset="-120"/>
              </a:rPr>
              <a:t>חתול</a:t>
            </a:r>
            <a:endParaRPr lang="en-US" sz="1300" dirty="0"/>
          </a:p>
        </p:txBody>
      </p:sp>
      <p:sp>
        <p:nvSpPr>
          <p:cNvPr id="10" name="Shape 8"/>
          <p:cNvSpPr/>
          <p:nvPr/>
        </p:nvSpPr>
        <p:spPr>
          <a:xfrm>
            <a:off x="9692640" y="4023360"/>
            <a:ext cx="182880" cy="182880"/>
          </a:xfrm>
          <a:prstGeom prst="ellipse">
            <a:avLst/>
          </a:prstGeom>
          <a:solidFill>
            <a:srgbClr val="0E9AA7"/>
          </a:solidFill>
          <a:ln/>
        </p:spPr>
      </p:sp>
      <p:sp>
        <p:nvSpPr>
          <p:cNvPr id="11" name="Text 9"/>
          <p:cNvSpPr/>
          <p:nvPr/>
        </p:nvSpPr>
        <p:spPr>
          <a:xfrm>
            <a:off x="8778240" y="3712464"/>
            <a:ext cx="914400" cy="274320"/>
          </a:xfrm>
          <a:prstGeom prst="rect">
            <a:avLst/>
          </a:prstGeom>
          <a:noFill/>
          <a:ln/>
        </p:spPr>
        <p:txBody>
          <a:bodyPr wrap="square" rtlCol="0" anchor="t"/>
          <a:lstStyle/>
          <a:p>
            <a:pPr rtl="1" algn="ctr" indent="0" marL="0">
              <a:buNone/>
            </a:pPr>
            <a:r>
              <a:rPr lang="en-US" sz="1300" b="1" dirty="0">
                <a:solidFill>
                  <a:srgbClr val="0E9AA7"/>
                </a:solidFill>
                <a:latin typeface="Arial" pitchFamily="34" charset="0"/>
                <a:ea typeface="Arial" pitchFamily="34" charset="-122"/>
                <a:cs typeface="Arial" pitchFamily="34" charset="-120"/>
              </a:rPr>
              <a:t>אריה</a:t>
            </a:r>
            <a:endParaRPr lang="en-US" sz="1300" dirty="0"/>
          </a:p>
        </p:txBody>
      </p:sp>
      <p:sp>
        <p:nvSpPr>
          <p:cNvPr id="12" name="Shape 10"/>
          <p:cNvSpPr/>
          <p:nvPr/>
        </p:nvSpPr>
        <p:spPr>
          <a:xfrm>
            <a:off x="2926080" y="4572000"/>
            <a:ext cx="182880" cy="182880"/>
          </a:xfrm>
          <a:prstGeom prst="ellipse">
            <a:avLst/>
          </a:prstGeom>
          <a:solidFill>
            <a:srgbClr val="3B3B98"/>
          </a:solidFill>
          <a:ln/>
        </p:spPr>
      </p:sp>
      <p:sp>
        <p:nvSpPr>
          <p:cNvPr id="13" name="Text 11"/>
          <p:cNvSpPr/>
          <p:nvPr/>
        </p:nvSpPr>
        <p:spPr>
          <a:xfrm>
            <a:off x="2011680" y="4261104"/>
            <a:ext cx="914400" cy="274320"/>
          </a:xfrm>
          <a:prstGeom prst="rect">
            <a:avLst/>
          </a:prstGeom>
          <a:noFill/>
          <a:ln/>
        </p:spPr>
        <p:txBody>
          <a:bodyPr wrap="square" rtlCol="0" anchor="t"/>
          <a:lstStyle/>
          <a:p>
            <a:pPr rtl="1" algn="ctr" indent="0" marL="0">
              <a:buNone/>
            </a:pPr>
            <a:r>
              <a:rPr lang="en-US" sz="1300" b="1" dirty="0">
                <a:solidFill>
                  <a:srgbClr val="3B3B98"/>
                </a:solidFill>
                <a:latin typeface="Arial" pitchFamily="34" charset="0"/>
                <a:ea typeface="Arial" pitchFamily="34" charset="-122"/>
                <a:cs typeface="Arial" pitchFamily="34" charset="-120"/>
              </a:rPr>
              <a:t>מכונית</a:t>
            </a:r>
            <a:endParaRPr lang="en-US" sz="1300" dirty="0"/>
          </a:p>
        </p:txBody>
      </p:sp>
      <p:sp>
        <p:nvSpPr>
          <p:cNvPr id="14" name="Shape 12"/>
          <p:cNvSpPr/>
          <p:nvPr/>
        </p:nvSpPr>
        <p:spPr>
          <a:xfrm>
            <a:off x="2194560" y="4023360"/>
            <a:ext cx="182880" cy="182880"/>
          </a:xfrm>
          <a:prstGeom prst="ellipse">
            <a:avLst/>
          </a:prstGeom>
          <a:solidFill>
            <a:srgbClr val="3B3B98"/>
          </a:solidFill>
          <a:ln/>
        </p:spPr>
      </p:sp>
      <p:sp>
        <p:nvSpPr>
          <p:cNvPr id="15" name="Text 13"/>
          <p:cNvSpPr/>
          <p:nvPr/>
        </p:nvSpPr>
        <p:spPr>
          <a:xfrm>
            <a:off x="1280160" y="3712464"/>
            <a:ext cx="914400" cy="274320"/>
          </a:xfrm>
          <a:prstGeom prst="rect">
            <a:avLst/>
          </a:prstGeom>
          <a:noFill/>
          <a:ln/>
        </p:spPr>
        <p:txBody>
          <a:bodyPr wrap="square" rtlCol="0" anchor="t"/>
          <a:lstStyle/>
          <a:p>
            <a:pPr rtl="1" algn="ctr" indent="0" marL="0">
              <a:buNone/>
            </a:pPr>
            <a:r>
              <a:rPr lang="en-US" sz="1300" b="1" dirty="0">
                <a:solidFill>
                  <a:srgbClr val="3B3B98"/>
                </a:solidFill>
                <a:latin typeface="Arial" pitchFamily="34" charset="0"/>
                <a:ea typeface="Arial" pitchFamily="34" charset="-122"/>
                <a:cs typeface="Arial" pitchFamily="34" charset="-120"/>
              </a:rPr>
              <a:t>אופנוע</a:t>
            </a:r>
            <a:endParaRPr lang="en-US" sz="1300" dirty="0"/>
          </a:p>
        </p:txBody>
      </p:sp>
      <p:sp>
        <p:nvSpPr>
          <p:cNvPr id="16" name="Shape 14"/>
          <p:cNvSpPr/>
          <p:nvPr/>
        </p:nvSpPr>
        <p:spPr>
          <a:xfrm>
            <a:off x="3474720" y="3657600"/>
            <a:ext cx="182880" cy="182880"/>
          </a:xfrm>
          <a:prstGeom prst="ellipse">
            <a:avLst/>
          </a:prstGeom>
          <a:solidFill>
            <a:srgbClr val="3B3B98"/>
          </a:solidFill>
          <a:ln/>
        </p:spPr>
      </p:sp>
      <p:sp>
        <p:nvSpPr>
          <p:cNvPr id="17" name="Text 15"/>
          <p:cNvSpPr/>
          <p:nvPr/>
        </p:nvSpPr>
        <p:spPr>
          <a:xfrm>
            <a:off x="2560320" y="3346704"/>
            <a:ext cx="914400" cy="274320"/>
          </a:xfrm>
          <a:prstGeom prst="rect">
            <a:avLst/>
          </a:prstGeom>
          <a:noFill/>
          <a:ln/>
        </p:spPr>
        <p:txBody>
          <a:bodyPr wrap="square" rtlCol="0" anchor="t"/>
          <a:lstStyle/>
          <a:p>
            <a:pPr rtl="1" algn="ctr" indent="0" marL="0">
              <a:buNone/>
            </a:pPr>
            <a:r>
              <a:rPr lang="en-US" sz="1300" b="1" dirty="0">
                <a:solidFill>
                  <a:srgbClr val="3B3B98"/>
                </a:solidFill>
                <a:latin typeface="Arial" pitchFamily="34" charset="0"/>
                <a:ea typeface="Arial" pitchFamily="34" charset="-122"/>
                <a:cs typeface="Arial" pitchFamily="34" charset="-120"/>
              </a:rPr>
              <a:t>אוטובוס</a:t>
            </a:r>
            <a:endParaRPr lang="en-US" sz="1300" dirty="0"/>
          </a:p>
        </p:txBody>
      </p:sp>
      <p:sp>
        <p:nvSpPr>
          <p:cNvPr id="18" name="Text 16"/>
          <p:cNvSpPr/>
          <p:nvPr/>
        </p:nvSpPr>
        <p:spPr>
          <a:xfrm>
            <a:off x="8961120" y="2651760"/>
            <a:ext cx="1371600" cy="274320"/>
          </a:xfrm>
          <a:prstGeom prst="rect">
            <a:avLst/>
          </a:prstGeom>
          <a:noFill/>
          <a:ln/>
        </p:spPr>
        <p:txBody>
          <a:bodyPr wrap="square" rtlCol="0" anchor="t"/>
          <a:lstStyle/>
          <a:p>
            <a:pPr rtl="1" algn="ctr" indent="0" marL="0">
              <a:buNone/>
            </a:pPr>
            <a:r>
              <a:rPr lang="en-US" sz="1200" i="1" dirty="0">
                <a:solidFill>
                  <a:srgbClr val="6B6B80"/>
                </a:solidFill>
                <a:latin typeface="Arial" pitchFamily="34" charset="0"/>
                <a:ea typeface="Arial" pitchFamily="34" charset="-122"/>
                <a:cs typeface="Arial" pitchFamily="34" charset="-120"/>
              </a:rPr>
              <a:t>חיות</a:t>
            </a:r>
            <a:endParaRPr lang="en-US" sz="1200" dirty="0"/>
          </a:p>
        </p:txBody>
      </p:sp>
      <p:sp>
        <p:nvSpPr>
          <p:cNvPr id="19" name="Text 17"/>
          <p:cNvSpPr/>
          <p:nvPr/>
        </p:nvSpPr>
        <p:spPr>
          <a:xfrm>
            <a:off x="2011680" y="4892040"/>
            <a:ext cx="1645920" cy="274320"/>
          </a:xfrm>
          <a:prstGeom prst="rect">
            <a:avLst/>
          </a:prstGeom>
          <a:noFill/>
          <a:ln/>
        </p:spPr>
        <p:txBody>
          <a:bodyPr wrap="square" rtlCol="0" anchor="t"/>
          <a:lstStyle/>
          <a:p>
            <a:pPr rtl="1" algn="ctr" indent="0" marL="0">
              <a:buNone/>
            </a:pPr>
            <a:r>
              <a:rPr lang="en-US" sz="1200" i="1" dirty="0">
                <a:solidFill>
                  <a:srgbClr val="6B6B80"/>
                </a:solidFill>
                <a:latin typeface="Arial" pitchFamily="34" charset="0"/>
                <a:ea typeface="Arial" pitchFamily="34" charset="-122"/>
                <a:cs typeface="Arial" pitchFamily="34" charset="-120"/>
              </a:rPr>
              <a:t>כלי רכב</a:t>
            </a:r>
            <a:endParaRPr lang="en-US" sz="1200" dirty="0"/>
          </a:p>
        </p:txBody>
      </p:sp>
      <p:sp>
        <p:nvSpPr>
          <p:cNvPr id="20" name="Text 18"/>
          <p:cNvSpPr/>
          <p:nvPr/>
        </p:nvSpPr>
        <p:spPr>
          <a:xfrm>
            <a:off x="548640" y="5349240"/>
            <a:ext cx="11091672" cy="365760"/>
          </a:xfrm>
          <a:prstGeom prst="rect">
            <a:avLst/>
          </a:prstGeom>
          <a:noFill/>
          <a:ln/>
        </p:spPr>
        <p:txBody>
          <a:bodyPr wrap="square" rtlCol="0" anchor="t"/>
          <a:lstStyle/>
          <a:p>
            <a:pPr rtl="1" algn="r" indent="0" marL="0">
              <a:buNone/>
            </a:pPr>
            <a:r>
              <a:rPr lang="en-US" sz="1350" i="1" dirty="0">
                <a:solidFill>
                  <a:srgbClr val="6B6B80"/>
                </a:solidFill>
                <a:latin typeface="Arial" pitchFamily="34" charset="0"/>
                <a:ea typeface="Arial" pitchFamily="34" charset="-122"/>
                <a:cs typeface="Arial" pitchFamily="34" charset="-120"/>
              </a:rPr>
              <a:t>קבוצות של מילים דומות מתקבצות יחד — זו “קרבה משמעותית”.</a:t>
            </a:r>
            <a:endParaRPr lang="en-US" sz="1350" dirty="0"/>
          </a:p>
        </p:txBody>
      </p:sp>
      <p:sp>
        <p:nvSpPr>
          <p:cNvPr id="21" name="Text 19"/>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08 / 29</a:t>
            </a:r>
            <a:endParaRPr lang="en-US" sz="950" dirty="0"/>
          </a:p>
        </p:txBody>
      </p:sp>
      <p:sp>
        <p:nvSpPr>
          <p:cNvPr id="22" name="Text 20"/>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Embeddings בקוד</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למה זה נותן למודל כוח</a:t>
            </a:r>
            <a:endParaRPr lang="en-US" sz="3300" dirty="0"/>
          </a:p>
        </p:txBody>
      </p:sp>
      <p:sp>
        <p:nvSpPr>
          <p:cNvPr id="4" name="Shape 2"/>
          <p:cNvSpPr/>
          <p:nvPr/>
        </p:nvSpPr>
        <p:spPr>
          <a:xfrm>
            <a:off x="548640" y="1828800"/>
            <a:ext cx="11091672" cy="1234440"/>
          </a:xfrm>
          <a:prstGeom prst="roundRect">
            <a:avLst>
              <a:gd name="adj" fmla="val 7407"/>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2011680"/>
            <a:ext cx="10451592" cy="86868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בזכות הקרבה המשמעותית, המודל מזהה שקוד דומה פותר בעיות דומות — גם אם לא ראה בדיוק את הקוד שלכם. כך הוא “מכליל” מדוגמאות שראה לפתרון חדש.</a:t>
            </a:r>
            <a:endParaRPr lang="en-US" sz="1800" dirty="0"/>
          </a:p>
        </p:txBody>
      </p:sp>
      <p:sp>
        <p:nvSpPr>
          <p:cNvPr id="6" name="Shape 4"/>
          <p:cNvSpPr/>
          <p:nvPr/>
        </p:nvSpPr>
        <p:spPr>
          <a:xfrm>
            <a:off x="8125968" y="3291840"/>
            <a:ext cx="3514344"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7" name="Text 5"/>
          <p:cNvSpPr/>
          <p:nvPr/>
        </p:nvSpPr>
        <p:spPr>
          <a:xfrm>
            <a:off x="8308848" y="3566160"/>
            <a:ext cx="3148584" cy="457200"/>
          </a:xfrm>
          <a:prstGeom prst="rect">
            <a:avLst/>
          </a:prstGeom>
          <a:noFill/>
          <a:ln/>
        </p:spPr>
        <p:txBody>
          <a:bodyPr wrap="square" rtlCol="0" anchor="ctr"/>
          <a:lstStyle/>
          <a:p>
            <a:pPr algn="ctr" indent="0" marL="0">
              <a:buNone/>
            </a:pPr>
            <a:r>
              <a:rPr lang="en-US" sz="1600" b="1" dirty="0">
                <a:solidFill>
                  <a:srgbClr val="0E9AA7"/>
                </a:solidFill>
                <a:latin typeface="Courier New" pitchFamily="34" charset="0"/>
                <a:ea typeface="Courier New" pitchFamily="34" charset="-122"/>
                <a:cs typeface="Courier New" pitchFamily="34" charset="-120"/>
              </a:rPr>
              <a:t>sum ≈ total</a:t>
            </a:r>
            <a:endParaRPr lang="en-US" sz="1600" dirty="0"/>
          </a:p>
        </p:txBody>
      </p:sp>
      <p:sp>
        <p:nvSpPr>
          <p:cNvPr id="8" name="Text 6"/>
          <p:cNvSpPr/>
          <p:nvPr/>
        </p:nvSpPr>
        <p:spPr>
          <a:xfrm>
            <a:off x="8308848" y="4069080"/>
            <a:ext cx="3148584" cy="4572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שמות שונים, משמעות דומה</a:t>
            </a:r>
            <a:endParaRPr lang="en-US" sz="1250" dirty="0"/>
          </a:p>
        </p:txBody>
      </p:sp>
      <p:sp>
        <p:nvSpPr>
          <p:cNvPr id="9" name="Shape 7"/>
          <p:cNvSpPr/>
          <p:nvPr/>
        </p:nvSpPr>
        <p:spPr>
          <a:xfrm>
            <a:off x="4337304" y="3291840"/>
            <a:ext cx="3514344"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10" name="Text 8"/>
          <p:cNvSpPr/>
          <p:nvPr/>
        </p:nvSpPr>
        <p:spPr>
          <a:xfrm>
            <a:off x="4520184" y="3566160"/>
            <a:ext cx="3148584" cy="457200"/>
          </a:xfrm>
          <a:prstGeom prst="rect">
            <a:avLst/>
          </a:prstGeom>
          <a:noFill/>
          <a:ln/>
        </p:spPr>
        <p:txBody>
          <a:bodyPr wrap="square" rtlCol="0" anchor="ctr"/>
          <a:lstStyle/>
          <a:p>
            <a:pPr algn="ctr" indent="0" marL="0">
              <a:buNone/>
            </a:pPr>
            <a:r>
              <a:rPr lang="en-US" sz="1600" b="1" dirty="0">
                <a:solidFill>
                  <a:srgbClr val="0E9AA7"/>
                </a:solidFill>
                <a:latin typeface="Courier New" pitchFamily="34" charset="0"/>
                <a:ea typeface="Courier New" pitchFamily="34" charset="-122"/>
                <a:cs typeface="Courier New" pitchFamily="34" charset="-120"/>
              </a:rPr>
              <a:t>list ≈ array</a:t>
            </a:r>
            <a:endParaRPr lang="en-US" sz="1600" dirty="0"/>
          </a:p>
        </p:txBody>
      </p:sp>
      <p:sp>
        <p:nvSpPr>
          <p:cNvPr id="11" name="Text 9"/>
          <p:cNvSpPr/>
          <p:nvPr/>
        </p:nvSpPr>
        <p:spPr>
          <a:xfrm>
            <a:off x="4520184" y="4069080"/>
            <a:ext cx="3148584" cy="4572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מבני נתונים קרובים</a:t>
            </a:r>
            <a:endParaRPr lang="en-US" sz="1250" dirty="0"/>
          </a:p>
        </p:txBody>
      </p:sp>
      <p:sp>
        <p:nvSpPr>
          <p:cNvPr id="12" name="Shape 10"/>
          <p:cNvSpPr/>
          <p:nvPr/>
        </p:nvSpPr>
        <p:spPr>
          <a:xfrm>
            <a:off x="548640" y="3291840"/>
            <a:ext cx="3514344" cy="1371600"/>
          </a:xfrm>
          <a:prstGeom prst="roundRect">
            <a:avLst>
              <a:gd name="adj" fmla="val 6000"/>
            </a:avLst>
          </a:prstGeom>
          <a:solidFill>
            <a:srgbClr val="F2F3FA"/>
          </a:solidFill>
          <a:ln/>
          <a:effectLst>
            <a:outerShdw sx="100000" sy="100000" kx="0" ky="0" algn="bl" rotWithShape="0" blurRad="76200" dist="25400" dir="5400000">
              <a:srgbClr val="999999">
                <a:alpha val="28000"/>
              </a:srgbClr>
            </a:outerShdw>
          </a:effectLst>
        </p:spPr>
      </p:sp>
      <p:sp>
        <p:nvSpPr>
          <p:cNvPr id="13" name="Text 11"/>
          <p:cNvSpPr/>
          <p:nvPr/>
        </p:nvSpPr>
        <p:spPr>
          <a:xfrm>
            <a:off x="731520" y="3566160"/>
            <a:ext cx="3148584" cy="457200"/>
          </a:xfrm>
          <a:prstGeom prst="rect">
            <a:avLst/>
          </a:prstGeom>
          <a:noFill/>
          <a:ln/>
        </p:spPr>
        <p:txBody>
          <a:bodyPr wrap="square" rtlCol="0" anchor="ctr"/>
          <a:lstStyle/>
          <a:p>
            <a:pPr algn="ctr" indent="0" marL="0">
              <a:buNone/>
            </a:pPr>
            <a:r>
              <a:rPr lang="en-US" sz="1600" b="1" dirty="0">
                <a:solidFill>
                  <a:srgbClr val="0E9AA7"/>
                </a:solidFill>
                <a:latin typeface="Courier New" pitchFamily="34" charset="0"/>
                <a:ea typeface="Courier New" pitchFamily="34" charset="-122"/>
                <a:cs typeface="Courier New" pitchFamily="34" charset="-120"/>
              </a:rPr>
              <a:t>loop ≈ for/while</a:t>
            </a:r>
            <a:endParaRPr lang="en-US" sz="1600" dirty="0"/>
          </a:p>
        </p:txBody>
      </p:sp>
      <p:sp>
        <p:nvSpPr>
          <p:cNvPr id="14" name="Text 12"/>
          <p:cNvSpPr/>
          <p:nvPr/>
        </p:nvSpPr>
        <p:spPr>
          <a:xfrm>
            <a:off x="731520" y="4069080"/>
            <a:ext cx="3148584" cy="4572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אותו רעיון, ניסוח אחר</a:t>
            </a:r>
            <a:endParaRPr lang="en-US" sz="1250" dirty="0"/>
          </a:p>
        </p:txBody>
      </p:sp>
      <p:sp>
        <p:nvSpPr>
          <p:cNvPr id="15" name="Text 13"/>
          <p:cNvSpPr/>
          <p:nvPr/>
        </p:nvSpPr>
        <p:spPr>
          <a:xfrm>
            <a:off x="548640" y="4937760"/>
            <a:ext cx="11091672" cy="365760"/>
          </a:xfrm>
          <a:prstGeom prst="rect">
            <a:avLst/>
          </a:prstGeom>
          <a:noFill/>
          <a:ln/>
        </p:spPr>
        <p:txBody>
          <a:bodyPr wrap="square" rtlCol="0" anchor="t"/>
          <a:lstStyle/>
          <a:p>
            <a:pPr rtl="1" algn="r" indent="0" marL="0">
              <a:buNone/>
            </a:pPr>
            <a:r>
              <a:rPr lang="en-US" sz="1400" i="1" dirty="0">
                <a:solidFill>
                  <a:srgbClr val="6B6B80"/>
                </a:solidFill>
                <a:latin typeface="Arial" pitchFamily="34" charset="0"/>
                <a:ea typeface="Arial" pitchFamily="34" charset="-122"/>
                <a:cs typeface="Arial" pitchFamily="34" charset="-120"/>
              </a:rPr>
              <a:t>החיסרון של אותו מנגנון: לפעמים “קרוב מספיק” אינו “נכון” — וכאן מתחילות ההזיות.</a:t>
            </a:r>
            <a:endParaRPr lang="en-US" sz="1400" dirty="0"/>
          </a:p>
        </p:txBody>
      </p:sp>
      <p:sp>
        <p:nvSpPr>
          <p:cNvPr id="16" name="Text 1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09 / 29</a:t>
            </a:r>
            <a:endParaRPr lang="en-US" sz="950" dirty="0"/>
          </a:p>
        </p:txBody>
      </p:sp>
      <p:sp>
        <p:nvSpPr>
          <p:cNvPr id="17" name="Text 1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ניבוי הטוקן הבא</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הלולאה שבלב המודל</a:t>
            </a:r>
            <a:endParaRPr lang="en-US" sz="3300" dirty="0"/>
          </a:p>
        </p:txBody>
      </p:sp>
      <p:sp>
        <p:nvSpPr>
          <p:cNvPr id="4" name="Shape 2"/>
          <p:cNvSpPr/>
          <p:nvPr/>
        </p:nvSpPr>
        <p:spPr>
          <a:xfrm>
            <a:off x="548640" y="1783080"/>
            <a:ext cx="11091672" cy="1097280"/>
          </a:xfrm>
          <a:prstGeom prst="roundRect">
            <a:avLst>
              <a:gd name="adj" fmla="val 8333"/>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65960"/>
            <a:ext cx="10451592" cy="731520"/>
          </a:xfrm>
          <a:prstGeom prst="rect">
            <a:avLst/>
          </a:prstGeom>
          <a:noFill/>
          <a:ln/>
        </p:spPr>
        <p:txBody>
          <a:bodyPr wrap="square" rtlCol="0" anchor="ctr"/>
          <a:lstStyle/>
          <a:p>
            <a:pPr rtl="1" algn="r" indent="0" marL="0">
              <a:buNone/>
            </a:pPr>
            <a:r>
              <a:rPr lang="en-US" sz="1750" b="1" dirty="0">
                <a:solidFill>
                  <a:srgbClr val="FFFFFF"/>
                </a:solidFill>
                <a:latin typeface="Arial" pitchFamily="34" charset="0"/>
                <a:ea typeface="Arial" pitchFamily="34" charset="-122"/>
                <a:cs typeface="Arial" pitchFamily="34" charset="-120"/>
              </a:rPr>
              <a:t>בכל צעד המודל מסתכל על כל הטוקנים עד כה, ומחשב הסתברות לכל טוקן אפשרי כטוקן הבא. הוא בוחר (בדרך כלל) את הסביר ביותר — ואז חוזר על התהליך לטוקן שאחריו.</a:t>
            </a:r>
            <a:endParaRPr lang="en-US" sz="1750" dirty="0"/>
          </a:p>
        </p:txBody>
      </p:sp>
      <p:sp>
        <p:nvSpPr>
          <p:cNvPr id="6" name="Shape 4"/>
          <p:cNvSpPr/>
          <p:nvPr/>
        </p:nvSpPr>
        <p:spPr>
          <a:xfrm>
            <a:off x="9141714" y="3154680"/>
            <a:ext cx="2498598" cy="1188720"/>
          </a:xfrm>
          <a:prstGeom prst="roundRect">
            <a:avLst>
              <a:gd name="adj" fmla="val 6923"/>
            </a:avLst>
          </a:prstGeom>
          <a:solidFill>
            <a:srgbClr val="F2F3FA"/>
          </a:solidFill>
          <a:ln/>
          <a:effectLst>
            <a:outerShdw sx="100000" sy="100000" kx="0" ky="0" algn="bl" rotWithShape="0" blurRad="76200" dist="25400" dir="5400000">
              <a:srgbClr val="999999">
                <a:alpha val="28000"/>
              </a:srgbClr>
            </a:outerShdw>
          </a:effectLst>
        </p:spPr>
      </p:sp>
      <p:sp>
        <p:nvSpPr>
          <p:cNvPr id="7" name="Text 5"/>
          <p:cNvSpPr/>
          <p:nvPr/>
        </p:nvSpPr>
        <p:spPr>
          <a:xfrm>
            <a:off x="9233154" y="3374136"/>
            <a:ext cx="2315718" cy="365760"/>
          </a:xfrm>
          <a:prstGeom prst="rect">
            <a:avLst/>
          </a:prstGeom>
          <a:noFill/>
          <a:ln/>
        </p:spPr>
        <p:txBody>
          <a:bodyPr wrap="square" rtlCol="0" anchor="t"/>
          <a:lstStyle/>
          <a:p>
            <a:pPr rtl="1" algn="ctr" indent="0" marL="0">
              <a:buNone/>
            </a:pPr>
            <a:r>
              <a:rPr lang="en-US" sz="1450" b="1" dirty="0">
                <a:solidFill>
                  <a:srgbClr val="1E2761"/>
                </a:solidFill>
                <a:latin typeface="Arial" pitchFamily="34" charset="0"/>
                <a:ea typeface="Arial" pitchFamily="34" charset="-122"/>
                <a:cs typeface="Arial" pitchFamily="34" charset="-120"/>
              </a:rPr>
              <a:t>הקשר</a:t>
            </a:r>
            <a:endParaRPr lang="en-US" sz="1450" dirty="0"/>
          </a:p>
        </p:txBody>
      </p:sp>
      <p:sp>
        <p:nvSpPr>
          <p:cNvPr id="8" name="Text 6"/>
          <p:cNvSpPr/>
          <p:nvPr/>
        </p:nvSpPr>
        <p:spPr>
          <a:xfrm>
            <a:off x="9233154" y="3758184"/>
            <a:ext cx="2315718" cy="457200"/>
          </a:xfrm>
          <a:prstGeom prst="rect">
            <a:avLst/>
          </a:prstGeom>
          <a:noFill/>
          <a:ln/>
        </p:spPr>
        <p:txBody>
          <a:bodyPr wrap="square" rtlCol="0" anchor="t"/>
          <a:lstStyle/>
          <a:p>
            <a:pPr rtl="1" algn="ctr" indent="0" marL="0">
              <a:buNone/>
            </a:pPr>
            <a:r>
              <a:rPr lang="en-US" sz="1150" dirty="0">
                <a:solidFill>
                  <a:srgbClr val="222232"/>
                </a:solidFill>
                <a:latin typeface="Arial" pitchFamily="34" charset="0"/>
                <a:ea typeface="Arial" pitchFamily="34" charset="-122"/>
                <a:cs typeface="Arial" pitchFamily="34" charset="-120"/>
              </a:rPr>
              <a:t>כל הטוקנים עד כה</a:t>
            </a:r>
            <a:endParaRPr lang="en-US" sz="1150" dirty="0"/>
          </a:p>
        </p:txBody>
      </p:sp>
      <p:sp>
        <p:nvSpPr>
          <p:cNvPr id="9" name="Shape 7"/>
          <p:cNvSpPr/>
          <p:nvPr/>
        </p:nvSpPr>
        <p:spPr>
          <a:xfrm>
            <a:off x="8803386" y="3749040"/>
            <a:ext cx="274320" cy="0"/>
          </a:xfrm>
          <a:prstGeom prst="line">
            <a:avLst/>
          </a:prstGeom>
          <a:noFill/>
          <a:ln w="31750">
            <a:solidFill>
              <a:srgbClr val="3B3B98"/>
            </a:solidFill>
            <a:prstDash val="solid"/>
            <a:headEnd type="triangle"/>
          </a:ln>
        </p:spPr>
      </p:sp>
      <p:sp>
        <p:nvSpPr>
          <p:cNvPr id="10" name="Shape 8"/>
          <p:cNvSpPr/>
          <p:nvPr/>
        </p:nvSpPr>
        <p:spPr>
          <a:xfrm>
            <a:off x="6277356" y="3154680"/>
            <a:ext cx="2498598" cy="1188720"/>
          </a:xfrm>
          <a:prstGeom prst="roundRect">
            <a:avLst>
              <a:gd name="adj" fmla="val 6923"/>
            </a:avLst>
          </a:prstGeom>
          <a:solidFill>
            <a:srgbClr val="F2F3FA"/>
          </a:solidFill>
          <a:ln/>
          <a:effectLst>
            <a:outerShdw sx="100000" sy="100000" kx="0" ky="0" algn="bl" rotWithShape="0" blurRad="76200" dist="25400" dir="5400000">
              <a:srgbClr val="999999">
                <a:alpha val="28000"/>
              </a:srgbClr>
            </a:outerShdw>
          </a:effectLst>
        </p:spPr>
      </p:sp>
      <p:sp>
        <p:nvSpPr>
          <p:cNvPr id="11" name="Text 9"/>
          <p:cNvSpPr/>
          <p:nvPr/>
        </p:nvSpPr>
        <p:spPr>
          <a:xfrm>
            <a:off x="6368796" y="3374136"/>
            <a:ext cx="2315718" cy="365760"/>
          </a:xfrm>
          <a:prstGeom prst="rect">
            <a:avLst/>
          </a:prstGeom>
          <a:noFill/>
          <a:ln/>
        </p:spPr>
        <p:txBody>
          <a:bodyPr wrap="square" rtlCol="0" anchor="t"/>
          <a:lstStyle/>
          <a:p>
            <a:pPr rtl="1" algn="ctr" indent="0" marL="0">
              <a:buNone/>
            </a:pPr>
            <a:r>
              <a:rPr lang="en-US" sz="1450" b="1" dirty="0">
                <a:solidFill>
                  <a:srgbClr val="1E2761"/>
                </a:solidFill>
                <a:latin typeface="Arial" pitchFamily="34" charset="0"/>
                <a:ea typeface="Arial" pitchFamily="34" charset="-122"/>
                <a:cs typeface="Arial" pitchFamily="34" charset="-120"/>
              </a:rPr>
              <a:t>חישוב</a:t>
            </a:r>
            <a:endParaRPr lang="en-US" sz="1450" dirty="0"/>
          </a:p>
        </p:txBody>
      </p:sp>
      <p:sp>
        <p:nvSpPr>
          <p:cNvPr id="12" name="Text 10"/>
          <p:cNvSpPr/>
          <p:nvPr/>
        </p:nvSpPr>
        <p:spPr>
          <a:xfrm>
            <a:off x="6368796" y="3758184"/>
            <a:ext cx="2315718" cy="457200"/>
          </a:xfrm>
          <a:prstGeom prst="rect">
            <a:avLst/>
          </a:prstGeom>
          <a:noFill/>
          <a:ln/>
        </p:spPr>
        <p:txBody>
          <a:bodyPr wrap="square" rtlCol="0" anchor="t"/>
          <a:lstStyle/>
          <a:p>
            <a:pPr rtl="1" algn="ctr" indent="0" marL="0">
              <a:buNone/>
            </a:pPr>
            <a:r>
              <a:rPr lang="en-US" sz="1150" dirty="0">
                <a:solidFill>
                  <a:srgbClr val="222232"/>
                </a:solidFill>
                <a:latin typeface="Arial" pitchFamily="34" charset="0"/>
                <a:ea typeface="Arial" pitchFamily="34" charset="-122"/>
                <a:cs typeface="Arial" pitchFamily="34" charset="-120"/>
              </a:rPr>
              <a:t>הסתברות לכל טוקן</a:t>
            </a:r>
            <a:endParaRPr lang="en-US" sz="1150" dirty="0"/>
          </a:p>
        </p:txBody>
      </p:sp>
      <p:sp>
        <p:nvSpPr>
          <p:cNvPr id="13" name="Shape 11"/>
          <p:cNvSpPr/>
          <p:nvPr/>
        </p:nvSpPr>
        <p:spPr>
          <a:xfrm>
            <a:off x="5939028" y="3749040"/>
            <a:ext cx="274320" cy="0"/>
          </a:xfrm>
          <a:prstGeom prst="line">
            <a:avLst/>
          </a:prstGeom>
          <a:noFill/>
          <a:ln w="31750">
            <a:solidFill>
              <a:srgbClr val="3B3B98"/>
            </a:solidFill>
            <a:prstDash val="solid"/>
            <a:headEnd type="triangle"/>
          </a:ln>
        </p:spPr>
      </p:sp>
      <p:sp>
        <p:nvSpPr>
          <p:cNvPr id="14" name="Shape 12"/>
          <p:cNvSpPr/>
          <p:nvPr/>
        </p:nvSpPr>
        <p:spPr>
          <a:xfrm>
            <a:off x="3412998" y="3154680"/>
            <a:ext cx="2498598" cy="1188720"/>
          </a:xfrm>
          <a:prstGeom prst="roundRect">
            <a:avLst>
              <a:gd name="adj" fmla="val 6923"/>
            </a:avLst>
          </a:prstGeom>
          <a:solidFill>
            <a:srgbClr val="F2F3FA"/>
          </a:solidFill>
          <a:ln/>
          <a:effectLst>
            <a:outerShdw sx="100000" sy="100000" kx="0" ky="0" algn="bl" rotWithShape="0" blurRad="76200" dist="25400" dir="5400000">
              <a:srgbClr val="999999">
                <a:alpha val="28000"/>
              </a:srgbClr>
            </a:outerShdw>
          </a:effectLst>
        </p:spPr>
      </p:sp>
      <p:sp>
        <p:nvSpPr>
          <p:cNvPr id="15" name="Text 13"/>
          <p:cNvSpPr/>
          <p:nvPr/>
        </p:nvSpPr>
        <p:spPr>
          <a:xfrm>
            <a:off x="3504438" y="3374136"/>
            <a:ext cx="2315718" cy="365760"/>
          </a:xfrm>
          <a:prstGeom prst="rect">
            <a:avLst/>
          </a:prstGeom>
          <a:noFill/>
          <a:ln/>
        </p:spPr>
        <p:txBody>
          <a:bodyPr wrap="square" rtlCol="0" anchor="t"/>
          <a:lstStyle/>
          <a:p>
            <a:pPr rtl="1" algn="ctr" indent="0" marL="0">
              <a:buNone/>
            </a:pPr>
            <a:r>
              <a:rPr lang="en-US" sz="1450" b="1" dirty="0">
                <a:solidFill>
                  <a:srgbClr val="1E2761"/>
                </a:solidFill>
                <a:latin typeface="Arial" pitchFamily="34" charset="0"/>
                <a:ea typeface="Arial" pitchFamily="34" charset="-122"/>
                <a:cs typeface="Arial" pitchFamily="34" charset="-120"/>
              </a:rPr>
              <a:t>בחירה</a:t>
            </a:r>
            <a:endParaRPr lang="en-US" sz="1450" dirty="0"/>
          </a:p>
        </p:txBody>
      </p:sp>
      <p:sp>
        <p:nvSpPr>
          <p:cNvPr id="16" name="Text 14"/>
          <p:cNvSpPr/>
          <p:nvPr/>
        </p:nvSpPr>
        <p:spPr>
          <a:xfrm>
            <a:off x="3504438" y="3758184"/>
            <a:ext cx="2315718" cy="457200"/>
          </a:xfrm>
          <a:prstGeom prst="rect">
            <a:avLst/>
          </a:prstGeom>
          <a:noFill/>
          <a:ln/>
        </p:spPr>
        <p:txBody>
          <a:bodyPr wrap="square" rtlCol="0" anchor="t"/>
          <a:lstStyle/>
          <a:p>
            <a:pPr rtl="1" algn="ctr" indent="0" marL="0">
              <a:buNone/>
            </a:pPr>
            <a:r>
              <a:rPr lang="en-US" sz="1150" dirty="0">
                <a:solidFill>
                  <a:srgbClr val="222232"/>
                </a:solidFill>
                <a:latin typeface="Arial" pitchFamily="34" charset="0"/>
                <a:ea typeface="Arial" pitchFamily="34" charset="-122"/>
                <a:cs typeface="Arial" pitchFamily="34" charset="-120"/>
              </a:rPr>
              <a:t>הסביר ביותר</a:t>
            </a:r>
            <a:endParaRPr lang="en-US" sz="1150" dirty="0"/>
          </a:p>
        </p:txBody>
      </p:sp>
      <p:sp>
        <p:nvSpPr>
          <p:cNvPr id="17" name="Shape 15"/>
          <p:cNvSpPr/>
          <p:nvPr/>
        </p:nvSpPr>
        <p:spPr>
          <a:xfrm>
            <a:off x="3074670" y="3749040"/>
            <a:ext cx="274320" cy="0"/>
          </a:xfrm>
          <a:prstGeom prst="line">
            <a:avLst/>
          </a:prstGeom>
          <a:noFill/>
          <a:ln w="31750">
            <a:solidFill>
              <a:srgbClr val="3B3B98"/>
            </a:solidFill>
            <a:prstDash val="solid"/>
            <a:headEnd type="triangle"/>
          </a:ln>
        </p:spPr>
      </p:sp>
      <p:sp>
        <p:nvSpPr>
          <p:cNvPr id="18" name="Shape 16"/>
          <p:cNvSpPr/>
          <p:nvPr/>
        </p:nvSpPr>
        <p:spPr>
          <a:xfrm>
            <a:off x="548640" y="3154680"/>
            <a:ext cx="2498598" cy="1188720"/>
          </a:xfrm>
          <a:prstGeom prst="roundRect">
            <a:avLst>
              <a:gd name="adj" fmla="val 6923"/>
            </a:avLst>
          </a:prstGeom>
          <a:solidFill>
            <a:srgbClr val="F2F3FA"/>
          </a:solidFill>
          <a:ln/>
          <a:effectLst>
            <a:outerShdw sx="100000" sy="100000" kx="0" ky="0" algn="bl" rotWithShape="0" blurRad="76200" dist="25400" dir="5400000">
              <a:srgbClr val="999999">
                <a:alpha val="28000"/>
              </a:srgbClr>
            </a:outerShdw>
          </a:effectLst>
        </p:spPr>
      </p:sp>
      <p:sp>
        <p:nvSpPr>
          <p:cNvPr id="19" name="Text 17"/>
          <p:cNvSpPr/>
          <p:nvPr/>
        </p:nvSpPr>
        <p:spPr>
          <a:xfrm>
            <a:off x="640080" y="3374136"/>
            <a:ext cx="2315718" cy="365760"/>
          </a:xfrm>
          <a:prstGeom prst="rect">
            <a:avLst/>
          </a:prstGeom>
          <a:noFill/>
          <a:ln/>
        </p:spPr>
        <p:txBody>
          <a:bodyPr wrap="square" rtlCol="0" anchor="t"/>
          <a:lstStyle/>
          <a:p>
            <a:pPr rtl="1" algn="ctr" indent="0" marL="0">
              <a:buNone/>
            </a:pPr>
            <a:r>
              <a:rPr lang="en-US" sz="1450" b="1" dirty="0">
                <a:solidFill>
                  <a:srgbClr val="1E2761"/>
                </a:solidFill>
                <a:latin typeface="Arial" pitchFamily="34" charset="0"/>
                <a:ea typeface="Arial" pitchFamily="34" charset="-122"/>
                <a:cs typeface="Arial" pitchFamily="34" charset="-120"/>
              </a:rPr>
              <a:t>הוספה</a:t>
            </a:r>
            <a:endParaRPr lang="en-US" sz="1450" dirty="0"/>
          </a:p>
        </p:txBody>
      </p:sp>
      <p:sp>
        <p:nvSpPr>
          <p:cNvPr id="20" name="Text 18"/>
          <p:cNvSpPr/>
          <p:nvPr/>
        </p:nvSpPr>
        <p:spPr>
          <a:xfrm>
            <a:off x="640080" y="3758184"/>
            <a:ext cx="2315718" cy="457200"/>
          </a:xfrm>
          <a:prstGeom prst="rect">
            <a:avLst/>
          </a:prstGeom>
          <a:noFill/>
          <a:ln/>
        </p:spPr>
        <p:txBody>
          <a:bodyPr wrap="square" rtlCol="0" anchor="t"/>
          <a:lstStyle/>
          <a:p>
            <a:pPr rtl="1" algn="ctr" indent="0" marL="0">
              <a:buNone/>
            </a:pPr>
            <a:r>
              <a:rPr lang="en-US" sz="1150" dirty="0">
                <a:solidFill>
                  <a:srgbClr val="222232"/>
                </a:solidFill>
                <a:latin typeface="Arial" pitchFamily="34" charset="0"/>
                <a:ea typeface="Arial" pitchFamily="34" charset="-122"/>
                <a:cs typeface="Arial" pitchFamily="34" charset="-120"/>
              </a:rPr>
              <a:t>וחוזרים חלילה</a:t>
            </a:r>
            <a:endParaRPr lang="en-US" sz="1150" dirty="0"/>
          </a:p>
        </p:txBody>
      </p:sp>
      <p:sp>
        <p:nvSpPr>
          <p:cNvPr id="21" name="Text 19"/>
          <p:cNvSpPr/>
          <p:nvPr/>
        </p:nvSpPr>
        <p:spPr>
          <a:xfrm>
            <a:off x="548640" y="4709160"/>
            <a:ext cx="11091672" cy="365760"/>
          </a:xfrm>
          <a:prstGeom prst="rect">
            <a:avLst/>
          </a:prstGeom>
          <a:noFill/>
          <a:ln/>
        </p:spPr>
        <p:txBody>
          <a:bodyPr wrap="square" rtlCol="0" anchor="t"/>
          <a:lstStyle/>
          <a:p>
            <a:pPr rtl="1" algn="r" indent="0" marL="0">
              <a:buNone/>
            </a:pPr>
            <a:r>
              <a:rPr lang="en-US" sz="1400" i="1" dirty="0">
                <a:solidFill>
                  <a:srgbClr val="6B6B80"/>
                </a:solidFill>
                <a:latin typeface="Arial" pitchFamily="34" charset="0"/>
                <a:ea typeface="Arial" pitchFamily="34" charset="-122"/>
                <a:cs typeface="Arial" pitchFamily="34" charset="-120"/>
              </a:rPr>
              <a:t>טוקן-אחרי-טוקן — ככה נבנה קוד שלם, בלי שהמודל “מתכנן” אותו מראש.</a:t>
            </a:r>
            <a:endParaRPr lang="en-US" sz="1400" dirty="0"/>
          </a:p>
        </p:txBody>
      </p:sp>
      <p:sp>
        <p:nvSpPr>
          <p:cNvPr id="22" name="Text 2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10 / 29</a:t>
            </a:r>
            <a:endParaRPr lang="en-US" sz="950" dirty="0"/>
          </a:p>
        </p:txBody>
      </p:sp>
      <p:sp>
        <p:nvSpPr>
          <p:cNvPr id="23" name="Text 2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דוגמה מספרית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איך נראית הבחירה</a:t>
            </a:r>
            <a:endParaRPr lang="en-US" sz="3300" dirty="0"/>
          </a:p>
        </p:txBody>
      </p:sp>
      <p:sp>
        <p:nvSpPr>
          <p:cNvPr id="4" name="Shape 2"/>
          <p:cNvSpPr/>
          <p:nvPr/>
        </p:nvSpPr>
        <p:spPr>
          <a:xfrm>
            <a:off x="548640" y="1737360"/>
            <a:ext cx="11091672" cy="822960"/>
          </a:xfrm>
          <a:prstGeom prst="roundRect">
            <a:avLst>
              <a:gd name="adj" fmla="val 10000"/>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822960" y="1737360"/>
            <a:ext cx="10543032" cy="822960"/>
          </a:xfrm>
          <a:prstGeom prst="rect">
            <a:avLst/>
          </a:prstGeom>
          <a:noFill/>
          <a:ln/>
        </p:spPr>
        <p:txBody>
          <a:bodyPr wrap="square" rtlCol="0" anchor="ctr"/>
          <a:lstStyle/>
          <a:p>
            <a:pPr algn="l" indent="0" marL="0">
              <a:buNone/>
            </a:pPr>
            <a:r>
              <a:rPr lang="en-US" sz="1600" dirty="0">
                <a:solidFill>
                  <a:srgbClr val="E8E8F0"/>
                </a:solidFill>
                <a:latin typeface="Courier New" pitchFamily="34" charset="0"/>
                <a:ea typeface="Courier New" pitchFamily="34" charset="-122"/>
                <a:cs typeface="Courier New" pitchFamily="34" charset="-120"/>
              </a:rPr>
              <a:t>שורת קוד עד כה:   for i in ____</a:t>
            </a:r>
            <a:endParaRPr lang="en-US" sz="1600" dirty="0"/>
          </a:p>
        </p:txBody>
      </p:sp>
      <p:sp>
        <p:nvSpPr>
          <p:cNvPr id="6" name="Text 4"/>
          <p:cNvSpPr/>
          <p:nvPr/>
        </p:nvSpPr>
        <p:spPr>
          <a:xfrm>
            <a:off x="548640" y="2743200"/>
            <a:ext cx="11091672" cy="36576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ההמשכים שהמודל שוקל:</a:t>
            </a:r>
            <a:endParaRPr lang="en-US" sz="1400" dirty="0"/>
          </a:p>
        </p:txBody>
      </p:sp>
      <p:sp>
        <p:nvSpPr>
          <p:cNvPr id="7" name="Text 5"/>
          <p:cNvSpPr/>
          <p:nvPr/>
        </p:nvSpPr>
        <p:spPr>
          <a:xfrm>
            <a:off x="8531352" y="3200400"/>
            <a:ext cx="3108960" cy="457200"/>
          </a:xfrm>
          <a:prstGeom prst="rect">
            <a:avLst/>
          </a:prstGeom>
          <a:noFill/>
          <a:ln/>
        </p:spPr>
        <p:txBody>
          <a:bodyPr wrap="square" rtlCol="0" anchor="ctr"/>
          <a:lstStyle/>
          <a:p>
            <a:pPr algn="r" indent="0" marL="0">
              <a:buNone/>
            </a:pPr>
            <a:r>
              <a:rPr lang="en-US" sz="1300" dirty="0">
                <a:solidFill>
                  <a:srgbClr val="222232"/>
                </a:solidFill>
                <a:latin typeface="Courier New" pitchFamily="34" charset="0"/>
                <a:ea typeface="Courier New" pitchFamily="34" charset="-122"/>
                <a:cs typeface="Courier New" pitchFamily="34" charset="-120"/>
              </a:rPr>
              <a:t>range(len(x)):</a:t>
            </a:r>
            <a:endParaRPr lang="en-US" sz="1300" dirty="0"/>
          </a:p>
        </p:txBody>
      </p:sp>
      <p:sp>
        <p:nvSpPr>
          <p:cNvPr id="8" name="Shape 6"/>
          <p:cNvSpPr/>
          <p:nvPr/>
        </p:nvSpPr>
        <p:spPr>
          <a:xfrm>
            <a:off x="3618829" y="3200400"/>
            <a:ext cx="4775363" cy="457200"/>
          </a:xfrm>
          <a:prstGeom prst="roundRect">
            <a:avLst>
              <a:gd name="adj" fmla="val 8000"/>
            </a:avLst>
          </a:prstGeom>
          <a:solidFill>
            <a:srgbClr val="2E7D32"/>
          </a:solidFill>
          <a:ln/>
        </p:spPr>
      </p:sp>
      <p:sp>
        <p:nvSpPr>
          <p:cNvPr id="9" name="Text 7"/>
          <p:cNvSpPr/>
          <p:nvPr/>
        </p:nvSpPr>
        <p:spPr>
          <a:xfrm>
            <a:off x="2905597" y="3200400"/>
            <a:ext cx="640080" cy="457200"/>
          </a:xfrm>
          <a:prstGeom prst="rect">
            <a:avLst/>
          </a:prstGeom>
          <a:noFill/>
          <a:ln/>
        </p:spPr>
        <p:txBody>
          <a:bodyPr wrap="square" rtlCol="0" anchor="ctr"/>
          <a:lstStyle/>
          <a:p>
            <a:pPr rtl="1" algn="l" indent="0" marL="0">
              <a:buNone/>
            </a:pPr>
            <a:r>
              <a:rPr lang="en-US" sz="1400" b="1" dirty="0">
                <a:solidFill>
                  <a:srgbClr val="2E7D32"/>
                </a:solidFill>
                <a:latin typeface="Arial" pitchFamily="34" charset="0"/>
                <a:ea typeface="Arial" pitchFamily="34" charset="-122"/>
                <a:cs typeface="Arial" pitchFamily="34" charset="-120"/>
              </a:rPr>
              <a:t>68%</a:t>
            </a:r>
            <a:endParaRPr lang="en-US" sz="1400" dirty="0"/>
          </a:p>
        </p:txBody>
      </p:sp>
      <p:sp>
        <p:nvSpPr>
          <p:cNvPr id="10" name="Text 8"/>
          <p:cNvSpPr/>
          <p:nvPr/>
        </p:nvSpPr>
        <p:spPr>
          <a:xfrm>
            <a:off x="8531352" y="3877056"/>
            <a:ext cx="3108960" cy="457200"/>
          </a:xfrm>
          <a:prstGeom prst="rect">
            <a:avLst/>
          </a:prstGeom>
          <a:noFill/>
          <a:ln/>
        </p:spPr>
        <p:txBody>
          <a:bodyPr wrap="square" rtlCol="0" anchor="ctr"/>
          <a:lstStyle/>
          <a:p>
            <a:pPr algn="r" indent="0" marL="0">
              <a:buNone/>
            </a:pPr>
            <a:r>
              <a:rPr lang="en-US" sz="1300" dirty="0">
                <a:solidFill>
                  <a:srgbClr val="222232"/>
                </a:solidFill>
                <a:latin typeface="Courier New" pitchFamily="34" charset="0"/>
                <a:ea typeface="Courier New" pitchFamily="34" charset="-122"/>
                <a:cs typeface="Courier New" pitchFamily="34" charset="-120"/>
              </a:rPr>
              <a:t>numbers:</a:t>
            </a:r>
            <a:endParaRPr lang="en-US" sz="1300" dirty="0"/>
          </a:p>
        </p:txBody>
      </p:sp>
      <p:sp>
        <p:nvSpPr>
          <p:cNvPr id="11" name="Shape 9"/>
          <p:cNvSpPr/>
          <p:nvPr/>
        </p:nvSpPr>
        <p:spPr>
          <a:xfrm>
            <a:off x="7130125" y="3877056"/>
            <a:ext cx="1264067" cy="457200"/>
          </a:xfrm>
          <a:prstGeom prst="roundRect">
            <a:avLst>
              <a:gd name="adj" fmla="val 8000"/>
            </a:avLst>
          </a:prstGeom>
          <a:solidFill>
            <a:srgbClr val="6B6B80"/>
          </a:solidFill>
          <a:ln/>
        </p:spPr>
      </p:sp>
      <p:sp>
        <p:nvSpPr>
          <p:cNvPr id="12" name="Text 10"/>
          <p:cNvSpPr/>
          <p:nvPr/>
        </p:nvSpPr>
        <p:spPr>
          <a:xfrm>
            <a:off x="6416893" y="3877056"/>
            <a:ext cx="640080" cy="457200"/>
          </a:xfrm>
          <a:prstGeom prst="rect">
            <a:avLst/>
          </a:prstGeom>
          <a:noFill/>
          <a:ln/>
        </p:spPr>
        <p:txBody>
          <a:bodyPr wrap="square" rtlCol="0" anchor="ctr"/>
          <a:lstStyle/>
          <a:p>
            <a:pPr rtl="1" algn="l" indent="0" marL="0">
              <a:buNone/>
            </a:pPr>
            <a:r>
              <a:rPr lang="en-US" sz="1400" b="1" dirty="0">
                <a:solidFill>
                  <a:srgbClr val="6B6B80"/>
                </a:solidFill>
                <a:latin typeface="Arial" pitchFamily="34" charset="0"/>
                <a:ea typeface="Arial" pitchFamily="34" charset="-122"/>
                <a:cs typeface="Arial" pitchFamily="34" charset="-120"/>
              </a:rPr>
              <a:t>18%</a:t>
            </a:r>
            <a:endParaRPr lang="en-US" sz="1400" dirty="0"/>
          </a:p>
        </p:txBody>
      </p:sp>
      <p:sp>
        <p:nvSpPr>
          <p:cNvPr id="13" name="Text 11"/>
          <p:cNvSpPr/>
          <p:nvPr/>
        </p:nvSpPr>
        <p:spPr>
          <a:xfrm>
            <a:off x="8531352" y="4553712"/>
            <a:ext cx="3108960" cy="457200"/>
          </a:xfrm>
          <a:prstGeom prst="rect">
            <a:avLst/>
          </a:prstGeom>
          <a:noFill/>
          <a:ln/>
        </p:spPr>
        <p:txBody>
          <a:bodyPr wrap="square" rtlCol="0" anchor="ctr"/>
          <a:lstStyle/>
          <a:p>
            <a:pPr algn="r" indent="0" marL="0">
              <a:buNone/>
            </a:pPr>
            <a:r>
              <a:rPr lang="en-US" sz="1300" dirty="0">
                <a:solidFill>
                  <a:srgbClr val="222232"/>
                </a:solidFill>
                <a:latin typeface="Courier New" pitchFamily="34" charset="0"/>
                <a:ea typeface="Courier New" pitchFamily="34" charset="-122"/>
                <a:cs typeface="Courier New" pitchFamily="34" charset="-120"/>
              </a:rPr>
              <a:t>data.items():</a:t>
            </a:r>
            <a:endParaRPr lang="en-US" sz="1300" dirty="0"/>
          </a:p>
        </p:txBody>
      </p:sp>
      <p:sp>
        <p:nvSpPr>
          <p:cNvPr id="14" name="Shape 12"/>
          <p:cNvSpPr/>
          <p:nvPr/>
        </p:nvSpPr>
        <p:spPr>
          <a:xfrm>
            <a:off x="7972836" y="4553712"/>
            <a:ext cx="421356" cy="457200"/>
          </a:xfrm>
          <a:prstGeom prst="roundRect">
            <a:avLst>
              <a:gd name="adj" fmla="val 8681"/>
            </a:avLst>
          </a:prstGeom>
          <a:solidFill>
            <a:srgbClr val="6B6B80"/>
          </a:solidFill>
          <a:ln/>
        </p:spPr>
      </p:sp>
      <p:sp>
        <p:nvSpPr>
          <p:cNvPr id="15" name="Text 13"/>
          <p:cNvSpPr/>
          <p:nvPr/>
        </p:nvSpPr>
        <p:spPr>
          <a:xfrm>
            <a:off x="7259604" y="4553712"/>
            <a:ext cx="640080" cy="457200"/>
          </a:xfrm>
          <a:prstGeom prst="rect">
            <a:avLst/>
          </a:prstGeom>
          <a:noFill/>
          <a:ln/>
        </p:spPr>
        <p:txBody>
          <a:bodyPr wrap="square" rtlCol="0" anchor="ctr"/>
          <a:lstStyle/>
          <a:p>
            <a:pPr rtl="1" algn="l" indent="0" marL="0">
              <a:buNone/>
            </a:pPr>
            <a:r>
              <a:rPr lang="en-US" sz="1400" b="1" dirty="0">
                <a:solidFill>
                  <a:srgbClr val="6B6B80"/>
                </a:solidFill>
                <a:latin typeface="Arial" pitchFamily="34" charset="0"/>
                <a:ea typeface="Arial" pitchFamily="34" charset="-122"/>
                <a:cs typeface="Arial" pitchFamily="34" charset="-120"/>
              </a:rPr>
              <a:t>6%</a:t>
            </a:r>
            <a:endParaRPr lang="en-US" sz="1400" dirty="0"/>
          </a:p>
        </p:txBody>
      </p:sp>
      <p:sp>
        <p:nvSpPr>
          <p:cNvPr id="16" name="Shape 14"/>
          <p:cNvSpPr/>
          <p:nvPr/>
        </p:nvSpPr>
        <p:spPr>
          <a:xfrm>
            <a:off x="548640" y="5029200"/>
            <a:ext cx="11091672" cy="914400"/>
          </a:xfrm>
          <a:prstGeom prst="roundRect">
            <a:avLst>
              <a:gd name="adj" fmla="val 10000"/>
            </a:avLst>
          </a:prstGeom>
          <a:solidFill>
            <a:srgbClr val="9A6A00"/>
          </a:solidFill>
          <a:ln/>
          <a:effectLst>
            <a:outerShdw sx="100000" sy="100000" kx="0" ky="0" algn="bl" rotWithShape="0" blurRad="76200" dist="25400" dir="5400000">
              <a:srgbClr val="999999">
                <a:alpha val="28000"/>
              </a:srgbClr>
            </a:outerShdw>
          </a:effectLst>
        </p:spPr>
      </p:sp>
      <p:sp>
        <p:nvSpPr>
          <p:cNvPr id="17" name="Text 15"/>
          <p:cNvSpPr/>
          <p:nvPr/>
        </p:nvSpPr>
        <p:spPr>
          <a:xfrm>
            <a:off x="868680" y="5212080"/>
            <a:ext cx="10451592" cy="548640"/>
          </a:xfrm>
          <a:prstGeom prst="rect">
            <a:avLst/>
          </a:prstGeom>
          <a:noFill/>
          <a:ln/>
        </p:spPr>
        <p:txBody>
          <a:bodyPr wrap="square" rtlCol="0" anchor="ctr"/>
          <a:lstStyle/>
          <a:p>
            <a:pPr rtl="1" algn="r" indent="0" marL="0">
              <a:buNone/>
            </a:pPr>
            <a:r>
              <a:rPr lang="en-US" sz="1450" b="1" dirty="0">
                <a:solidFill>
                  <a:srgbClr val="FFFFFF"/>
                </a:solidFill>
                <a:latin typeface="Arial" pitchFamily="34" charset="0"/>
                <a:ea typeface="Arial" pitchFamily="34" charset="-122"/>
                <a:cs typeface="Arial" pitchFamily="34" charset="-120"/>
              </a:rPr>
              <a:t>המודל מדרג את כל האפשרויות ובוחר לרוב את העליונה. כשההסתברויות “שטוחות” (אין מנצח ברור) — הסיכוי לבחירה שגויה עולה. איך שולטים במידת ה“הימור”? טמפרטורה — בשקף הבא.</a:t>
            </a:r>
            <a:endParaRPr lang="en-US" sz="1450" dirty="0"/>
          </a:p>
        </p:txBody>
      </p:sp>
      <p:sp>
        <p:nvSpPr>
          <p:cNvPr id="18" name="Text 16"/>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11 / 29</a:t>
            </a:r>
            <a:endParaRPr lang="en-US" sz="950" dirty="0"/>
          </a:p>
        </p:txBody>
      </p:sp>
      <p:sp>
        <p:nvSpPr>
          <p:cNvPr id="19" name="Text 17"/>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העשרה — התמונה הגדולה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מה יש בתוך הקופסה? ארכיטקטורת Transformer</a:t>
            </a:r>
            <a:endParaRPr lang="en-US" sz="3300" dirty="0"/>
          </a:p>
        </p:txBody>
      </p:sp>
      <p:pic>
        <p:nvPicPr>
          <p:cNvPr id="4" name="Image 0" descr="transformer.png">    </p:cNvPr>
          <p:cNvPicPr>
            <a:picLocks noChangeAspect="1"/>
          </p:cNvPicPr>
          <p:nvPr/>
        </p:nvPicPr>
        <p:blipFill>
          <a:blip r:embed="rId1"/>
          <a:stretch>
            <a:fillRect/>
          </a:stretch>
        </p:blipFill>
        <p:spPr>
          <a:xfrm>
            <a:off x="8257032" y="1508760"/>
            <a:ext cx="3383280" cy="4754880"/>
          </a:xfrm>
          <a:prstGeom prst="rect">
            <a:avLst/>
          </a:prstGeom>
        </p:spPr>
      </p:pic>
      <p:sp>
        <p:nvSpPr>
          <p:cNvPr id="5" name="Shape 2"/>
          <p:cNvSpPr/>
          <p:nvPr/>
        </p:nvSpPr>
        <p:spPr>
          <a:xfrm>
            <a:off x="548640" y="1737360"/>
            <a:ext cx="7342632" cy="1554480"/>
          </a:xfrm>
          <a:prstGeom prst="roundRect">
            <a:avLst>
              <a:gd name="adj" fmla="val 5882"/>
            </a:avLst>
          </a:prstGeom>
          <a:solidFill>
            <a:srgbClr val="3B3B98"/>
          </a:solidFill>
          <a:ln/>
          <a:effectLst>
            <a:outerShdw sx="100000" sy="100000" kx="0" ky="0" algn="bl" rotWithShape="0" blurRad="76200" dist="25400" dir="5400000">
              <a:srgbClr val="999999">
                <a:alpha val="28000"/>
              </a:srgbClr>
            </a:outerShdw>
          </a:effectLst>
        </p:spPr>
      </p:sp>
      <p:sp>
        <p:nvSpPr>
          <p:cNvPr id="6" name="Text 3"/>
          <p:cNvSpPr/>
          <p:nvPr/>
        </p:nvSpPr>
        <p:spPr>
          <a:xfrm>
            <a:off x="868680" y="1920240"/>
            <a:ext cx="6702552" cy="118872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המנוע של כל מודל שפה מודרני נקרא Transformer (2017). זו הארכיטקטורה שאיפשרה את כל המהפכה — ChatGPT, Claude וכולם.</a:t>
            </a:r>
            <a:endParaRPr lang="en-US" sz="1700" dirty="0"/>
          </a:p>
        </p:txBody>
      </p:sp>
      <p:sp>
        <p:nvSpPr>
          <p:cNvPr id="7" name="Text 4"/>
          <p:cNvSpPr/>
          <p:nvPr/>
        </p:nvSpPr>
        <p:spPr>
          <a:xfrm>
            <a:off x="548640" y="3520440"/>
            <a:ext cx="7342632" cy="36576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התרשים מימין נראה מפחיד — אל תיבהלו:</a:t>
            </a:r>
            <a:endParaRPr lang="en-US" sz="1600" dirty="0"/>
          </a:p>
        </p:txBody>
      </p:sp>
      <p:sp>
        <p:nvSpPr>
          <p:cNvPr id="8" name="Text 5"/>
          <p:cNvSpPr/>
          <p:nvPr/>
        </p:nvSpPr>
        <p:spPr>
          <a:xfrm>
            <a:off x="548640" y="3977640"/>
            <a:ext cx="7342632" cy="1280160"/>
          </a:xfrm>
          <a:prstGeom prst="rect">
            <a:avLst/>
          </a:prstGeom>
          <a:noFill/>
          <a:ln/>
        </p:spPr>
        <p:txBody>
          <a:bodyPr wrap="square" rtlCol="0" anchor="t"/>
          <a:lstStyle/>
          <a:p>
            <a:pPr rtl="1" algn="r" indent="0" marL="0">
              <a:lnSpc>
                <a:spcPct val="135000"/>
              </a:lnSpc>
              <a:buNone/>
            </a:pPr>
            <a:r>
              <a:rPr lang="en-US" sz="1500" dirty="0">
                <a:solidFill>
                  <a:srgbClr val="222232"/>
                </a:solidFill>
                <a:latin typeface="Arial" pitchFamily="34" charset="0"/>
                <a:ea typeface="Arial" pitchFamily="34" charset="-122"/>
                <a:cs typeface="Arial" pitchFamily="34" charset="-120"/>
              </a:rPr>
              <a:t>•  לא צריך לזכור אף פרט בתרשים</a:t>
            </a:r>
            <a:endParaRPr lang="en-US" sz="1500" dirty="0"/>
          </a:p>
          <a:p>
            <a:pPr rtl="1" algn="r" indent="0" marL="0">
              <a:lnSpc>
                <a:spcPct val="135000"/>
              </a:lnSpc>
              <a:buNone/>
            </a:pPr>
            <a:r>
              <a:rPr lang="en-US" sz="1500" dirty="0">
                <a:solidFill>
                  <a:srgbClr val="222232"/>
                </a:solidFill>
                <a:latin typeface="Arial" pitchFamily="34" charset="0"/>
                <a:ea typeface="Arial" pitchFamily="34" charset="-122"/>
                <a:cs typeface="Arial" pitchFamily="34" charset="-120"/>
              </a:rPr>
              <a:t>•  צריך רק אינטואיציה אחת מרכזית</a:t>
            </a:r>
            <a:endParaRPr lang="en-US" sz="1500" dirty="0"/>
          </a:p>
          <a:p>
            <a:pPr rtl="1" algn="r" indent="0" marL="0">
              <a:lnSpc>
                <a:spcPct val="135000"/>
              </a:lnSpc>
              <a:buNone/>
            </a:pPr>
            <a:r>
              <a:rPr lang="en-US" sz="1500" dirty="0">
                <a:solidFill>
                  <a:srgbClr val="222232"/>
                </a:solidFill>
                <a:latin typeface="Arial" pitchFamily="34" charset="0"/>
                <a:ea typeface="Arial" pitchFamily="34" charset="-122"/>
                <a:cs typeface="Arial" pitchFamily="34" charset="-120"/>
              </a:rPr>
              <a:t>•  בשקפים הבאים נפרק אותו לרעיון פשוט</a:t>
            </a:r>
            <a:endParaRPr lang="en-US" sz="1500" dirty="0"/>
          </a:p>
        </p:txBody>
      </p:sp>
      <p:sp>
        <p:nvSpPr>
          <p:cNvPr id="9" name="Text 6"/>
          <p:cNvSpPr/>
          <p:nvPr/>
        </p:nvSpPr>
        <p:spPr>
          <a:xfrm>
            <a:off x="548640" y="5440680"/>
            <a:ext cx="7342632" cy="365760"/>
          </a:xfrm>
          <a:prstGeom prst="rect">
            <a:avLst/>
          </a:prstGeom>
          <a:noFill/>
          <a:ln/>
        </p:spPr>
        <p:txBody>
          <a:bodyPr wrap="square" rtlCol="0" anchor="t"/>
          <a:lstStyle/>
          <a:p>
            <a:pPr rtl="1" algn="r" indent="0" marL="0">
              <a:buNone/>
            </a:pPr>
            <a:r>
              <a:rPr lang="en-US" sz="1150" i="1" dirty="0">
                <a:solidFill>
                  <a:srgbClr val="6B6B80"/>
                </a:solidFill>
                <a:latin typeface="Arial" pitchFamily="34" charset="0"/>
                <a:ea typeface="Arial" pitchFamily="34" charset="-122"/>
                <a:cs typeface="Arial" pitchFamily="34" charset="-120"/>
              </a:rPr>
              <a:t>מקור: Vaswani et al., “Attention Is All You Need”, 2017.</a:t>
            </a:r>
            <a:endParaRPr lang="en-US" sz="1150" dirty="0"/>
          </a:p>
        </p:txBody>
      </p:sp>
      <p:sp>
        <p:nvSpPr>
          <p:cNvPr id="10" name="Text 7"/>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12 / 29</a:t>
            </a:r>
            <a:endParaRPr lang="en-US" sz="950" dirty="0"/>
          </a:p>
        </p:txBody>
      </p:sp>
      <p:sp>
        <p:nvSpPr>
          <p:cNvPr id="11" name="Text 8"/>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החידוש המרכזי</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Attention — קשב</a:t>
            </a:r>
            <a:endParaRPr lang="en-US" sz="3300" dirty="0"/>
          </a:p>
        </p:txBody>
      </p:sp>
      <p:sp>
        <p:nvSpPr>
          <p:cNvPr id="4" name="Shape 2"/>
          <p:cNvSpPr/>
          <p:nvPr/>
        </p:nvSpPr>
        <p:spPr>
          <a:xfrm>
            <a:off x="548640" y="1737360"/>
            <a:ext cx="11091672" cy="1051560"/>
          </a:xfrm>
          <a:prstGeom prst="roundRect">
            <a:avLst>
              <a:gd name="adj" fmla="val 8696"/>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20240"/>
            <a:ext cx="10451592" cy="68580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הרעיון שמאחורי ה-Transformer: כשהמודל מנבא את הטוקן הבא, הוא “מסתכל אחורה” על כל הטוקנים הקודמים — ונותן לכל אחד “משקל” לפי כמה הוא רלוונטי לרגע הזה. זה נקרא Attention (קשב).</a:t>
            </a:r>
            <a:endParaRPr lang="en-US" sz="1700" dirty="0"/>
          </a:p>
        </p:txBody>
      </p:sp>
      <p:sp>
        <p:nvSpPr>
          <p:cNvPr id="6" name="Text 4"/>
          <p:cNvSpPr/>
          <p:nvPr/>
        </p:nvSpPr>
        <p:spPr>
          <a:xfrm>
            <a:off x="548640" y="2971800"/>
            <a:ext cx="11091672" cy="32004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דוגמה: מנבאים את המילה הבאה במשפט</a:t>
            </a:r>
            <a:endParaRPr lang="en-US" sz="1400" dirty="0"/>
          </a:p>
        </p:txBody>
      </p:sp>
      <p:sp>
        <p:nvSpPr>
          <p:cNvPr id="7" name="Shape 5"/>
          <p:cNvSpPr/>
          <p:nvPr/>
        </p:nvSpPr>
        <p:spPr>
          <a:xfrm>
            <a:off x="7708392" y="3977640"/>
            <a:ext cx="1554480" cy="548640"/>
          </a:xfrm>
          <a:prstGeom prst="roundRect">
            <a:avLst>
              <a:gd name="adj" fmla="val 13333"/>
            </a:avLst>
          </a:prstGeom>
          <a:solidFill>
            <a:srgbClr val="E3E6F5"/>
          </a:solidFill>
          <a:ln w="12700">
            <a:solidFill>
              <a:srgbClr val="C7CCEA"/>
            </a:solidFill>
            <a:prstDash val="solid"/>
          </a:ln>
        </p:spPr>
      </p:sp>
      <p:sp>
        <p:nvSpPr>
          <p:cNvPr id="8" name="Text 6"/>
          <p:cNvSpPr/>
          <p:nvPr/>
        </p:nvSpPr>
        <p:spPr>
          <a:xfrm>
            <a:off x="7708392" y="3977640"/>
            <a:ext cx="1554480" cy="548640"/>
          </a:xfrm>
          <a:prstGeom prst="rect">
            <a:avLst/>
          </a:prstGeom>
          <a:noFill/>
          <a:ln/>
        </p:spPr>
        <p:txBody>
          <a:bodyPr wrap="square" rtlCol="0" anchor="ctr"/>
          <a:lstStyle/>
          <a:p>
            <a:pPr rtl="1" algn="ctr" indent="0" marL="0">
              <a:buNone/>
            </a:pPr>
            <a:r>
              <a:rPr lang="en-US" sz="1500" b="1" dirty="0">
                <a:solidFill>
                  <a:srgbClr val="222232"/>
                </a:solidFill>
                <a:latin typeface="Arial" pitchFamily="34" charset="0"/>
                <a:ea typeface="Arial" pitchFamily="34" charset="-122"/>
                <a:cs typeface="Arial" pitchFamily="34" charset="-120"/>
              </a:rPr>
              <a:t>החתול</a:t>
            </a:r>
            <a:endParaRPr lang="en-US" sz="1500" dirty="0"/>
          </a:p>
        </p:txBody>
      </p:sp>
      <p:sp>
        <p:nvSpPr>
          <p:cNvPr id="9" name="Shape 7"/>
          <p:cNvSpPr/>
          <p:nvPr/>
        </p:nvSpPr>
        <p:spPr>
          <a:xfrm>
            <a:off x="5925312" y="3977640"/>
            <a:ext cx="1554480" cy="548640"/>
          </a:xfrm>
          <a:prstGeom prst="roundRect">
            <a:avLst>
              <a:gd name="adj" fmla="val 13333"/>
            </a:avLst>
          </a:prstGeom>
          <a:solidFill>
            <a:srgbClr val="E3E6F5"/>
          </a:solidFill>
          <a:ln w="12700">
            <a:solidFill>
              <a:srgbClr val="C7CCEA"/>
            </a:solidFill>
            <a:prstDash val="solid"/>
          </a:ln>
        </p:spPr>
      </p:sp>
      <p:sp>
        <p:nvSpPr>
          <p:cNvPr id="10" name="Text 8"/>
          <p:cNvSpPr/>
          <p:nvPr/>
        </p:nvSpPr>
        <p:spPr>
          <a:xfrm>
            <a:off x="5925312" y="3977640"/>
            <a:ext cx="1554480" cy="548640"/>
          </a:xfrm>
          <a:prstGeom prst="rect">
            <a:avLst/>
          </a:prstGeom>
          <a:noFill/>
          <a:ln/>
        </p:spPr>
        <p:txBody>
          <a:bodyPr wrap="square" rtlCol="0" anchor="ctr"/>
          <a:lstStyle/>
          <a:p>
            <a:pPr rtl="1" algn="ctr" indent="0" marL="0">
              <a:buNone/>
            </a:pPr>
            <a:r>
              <a:rPr lang="en-US" sz="1500" b="1" dirty="0">
                <a:solidFill>
                  <a:srgbClr val="222232"/>
                </a:solidFill>
                <a:latin typeface="Arial" pitchFamily="34" charset="0"/>
                <a:ea typeface="Arial" pitchFamily="34" charset="-122"/>
                <a:cs typeface="Arial" pitchFamily="34" charset="-120"/>
              </a:rPr>
              <a:t>ישב</a:t>
            </a:r>
            <a:endParaRPr lang="en-US" sz="1500" dirty="0"/>
          </a:p>
        </p:txBody>
      </p:sp>
      <p:sp>
        <p:nvSpPr>
          <p:cNvPr id="11" name="Shape 9"/>
          <p:cNvSpPr/>
          <p:nvPr/>
        </p:nvSpPr>
        <p:spPr>
          <a:xfrm>
            <a:off x="4142232" y="3977640"/>
            <a:ext cx="1554480" cy="548640"/>
          </a:xfrm>
          <a:prstGeom prst="roundRect">
            <a:avLst>
              <a:gd name="adj" fmla="val 13333"/>
            </a:avLst>
          </a:prstGeom>
          <a:solidFill>
            <a:srgbClr val="E3E6F5"/>
          </a:solidFill>
          <a:ln w="12700">
            <a:solidFill>
              <a:srgbClr val="C7CCEA"/>
            </a:solidFill>
            <a:prstDash val="solid"/>
          </a:ln>
        </p:spPr>
      </p:sp>
      <p:sp>
        <p:nvSpPr>
          <p:cNvPr id="12" name="Text 10"/>
          <p:cNvSpPr/>
          <p:nvPr/>
        </p:nvSpPr>
        <p:spPr>
          <a:xfrm>
            <a:off x="4142232" y="3977640"/>
            <a:ext cx="1554480" cy="548640"/>
          </a:xfrm>
          <a:prstGeom prst="rect">
            <a:avLst/>
          </a:prstGeom>
          <a:noFill/>
          <a:ln/>
        </p:spPr>
        <p:txBody>
          <a:bodyPr wrap="square" rtlCol="0" anchor="ctr"/>
          <a:lstStyle/>
          <a:p>
            <a:pPr rtl="1" algn="ctr" indent="0" marL="0">
              <a:buNone/>
            </a:pPr>
            <a:r>
              <a:rPr lang="en-US" sz="1500" b="1" dirty="0">
                <a:solidFill>
                  <a:srgbClr val="222232"/>
                </a:solidFill>
                <a:latin typeface="Arial" pitchFamily="34" charset="0"/>
                <a:ea typeface="Arial" pitchFamily="34" charset="-122"/>
                <a:cs typeface="Arial" pitchFamily="34" charset="-120"/>
              </a:rPr>
              <a:t>על</a:t>
            </a:r>
            <a:endParaRPr lang="en-US" sz="1500" dirty="0"/>
          </a:p>
        </p:txBody>
      </p:sp>
      <p:sp>
        <p:nvSpPr>
          <p:cNvPr id="13" name="Shape 11"/>
          <p:cNvSpPr/>
          <p:nvPr/>
        </p:nvSpPr>
        <p:spPr>
          <a:xfrm>
            <a:off x="2359152" y="3977640"/>
            <a:ext cx="1554480" cy="548640"/>
          </a:xfrm>
          <a:prstGeom prst="roundRect">
            <a:avLst>
              <a:gd name="adj" fmla="val 13333"/>
            </a:avLst>
          </a:prstGeom>
          <a:solidFill>
            <a:srgbClr val="9A6A00"/>
          </a:solidFill>
          <a:ln w="12700">
            <a:solidFill>
              <a:srgbClr val="C7CCEA"/>
            </a:solidFill>
            <a:prstDash val="solid"/>
          </a:ln>
        </p:spPr>
      </p:sp>
      <p:sp>
        <p:nvSpPr>
          <p:cNvPr id="14" name="Text 12"/>
          <p:cNvSpPr/>
          <p:nvPr/>
        </p:nvSpPr>
        <p:spPr>
          <a:xfrm>
            <a:off x="2359152" y="3977640"/>
            <a:ext cx="1554480" cy="548640"/>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ה___</a:t>
            </a:r>
            <a:endParaRPr lang="en-US" sz="1500" dirty="0"/>
          </a:p>
        </p:txBody>
      </p:sp>
      <p:sp>
        <p:nvSpPr>
          <p:cNvPr id="15" name="Shape 13"/>
          <p:cNvSpPr/>
          <p:nvPr/>
        </p:nvSpPr>
        <p:spPr>
          <a:xfrm>
            <a:off x="3136392" y="3867912"/>
            <a:ext cx="5349240" cy="0"/>
          </a:xfrm>
          <a:prstGeom prst="line">
            <a:avLst/>
          </a:prstGeom>
          <a:noFill/>
          <a:ln w="50800">
            <a:solidFill>
              <a:srgbClr val="2E7D32"/>
            </a:solidFill>
            <a:prstDash val="solid"/>
            <a:tailEnd type="triangle"/>
          </a:ln>
        </p:spPr>
      </p:sp>
      <p:sp>
        <p:nvSpPr>
          <p:cNvPr id="16" name="Shape 14"/>
          <p:cNvSpPr/>
          <p:nvPr/>
        </p:nvSpPr>
        <p:spPr>
          <a:xfrm>
            <a:off x="3136392" y="3593592"/>
            <a:ext cx="3566160" cy="0"/>
          </a:xfrm>
          <a:prstGeom prst="line">
            <a:avLst/>
          </a:prstGeom>
          <a:noFill/>
          <a:ln w="25400">
            <a:solidFill>
              <a:srgbClr val="AAB0C8"/>
            </a:solidFill>
            <a:prstDash val="solid"/>
            <a:tailEnd type="triangle"/>
          </a:ln>
        </p:spPr>
      </p:sp>
      <p:sp>
        <p:nvSpPr>
          <p:cNvPr id="17" name="Text 15"/>
          <p:cNvSpPr/>
          <p:nvPr/>
        </p:nvSpPr>
        <p:spPr>
          <a:xfrm>
            <a:off x="548640" y="4617720"/>
            <a:ext cx="11091672" cy="365760"/>
          </a:xfrm>
          <a:prstGeom prst="rect">
            <a:avLst/>
          </a:prstGeom>
          <a:noFill/>
          <a:ln/>
        </p:spPr>
        <p:txBody>
          <a:bodyPr wrap="square" rtlCol="0" anchor="t"/>
          <a:lstStyle/>
          <a:p>
            <a:pPr rtl="1" algn="ctr" indent="0" marL="0">
              <a:buNone/>
            </a:pPr>
            <a:r>
              <a:rPr lang="en-US" sz="1250" dirty="0">
                <a:solidFill>
                  <a:srgbClr val="6B6B80"/>
                </a:solidFill>
                <a:latin typeface="Arial" pitchFamily="34" charset="0"/>
                <a:ea typeface="Arial" pitchFamily="34" charset="-122"/>
                <a:cs typeface="Arial" pitchFamily="34" charset="-120"/>
              </a:rPr>
              <a:t>קשב חזק ← “החתול” (הכי רלוונטי)     ·     קשב חלש ← “ישב”</a:t>
            </a:r>
            <a:endParaRPr lang="en-US" sz="1250" dirty="0"/>
          </a:p>
        </p:txBody>
      </p:sp>
      <p:sp>
        <p:nvSpPr>
          <p:cNvPr id="18" name="Shape 16"/>
          <p:cNvSpPr/>
          <p:nvPr/>
        </p:nvSpPr>
        <p:spPr>
          <a:xfrm>
            <a:off x="548640" y="5120640"/>
            <a:ext cx="11091672" cy="822960"/>
          </a:xfrm>
          <a:prstGeom prst="roundRect">
            <a:avLst>
              <a:gd name="adj" fmla="val 11111"/>
            </a:avLst>
          </a:prstGeom>
          <a:solidFill>
            <a:srgbClr val="0E9AA7"/>
          </a:solidFill>
          <a:ln/>
          <a:effectLst>
            <a:outerShdw sx="100000" sy="100000" kx="0" ky="0" algn="bl" rotWithShape="0" blurRad="76200" dist="25400" dir="5400000">
              <a:srgbClr val="999999">
                <a:alpha val="28000"/>
              </a:srgbClr>
            </a:outerShdw>
          </a:effectLst>
        </p:spPr>
      </p:sp>
      <p:sp>
        <p:nvSpPr>
          <p:cNvPr id="19" name="Text 17"/>
          <p:cNvSpPr/>
          <p:nvPr/>
        </p:nvSpPr>
        <p:spPr>
          <a:xfrm>
            <a:off x="868680" y="5303520"/>
            <a:ext cx="10451592" cy="457200"/>
          </a:xfrm>
          <a:prstGeom prst="rect">
            <a:avLst/>
          </a:prstGeom>
          <a:noFill/>
          <a:ln/>
        </p:spPr>
        <p:txBody>
          <a:bodyPr wrap="square" rtlCol="0" anchor="ctr"/>
          <a:lstStyle/>
          <a:p>
            <a:pPr rtl="1" algn="r" indent="0" marL="0">
              <a:buNone/>
            </a:pPr>
            <a:r>
              <a:rPr lang="en-US" sz="1550" b="1" dirty="0">
                <a:solidFill>
                  <a:srgbClr val="FFFFFF"/>
                </a:solidFill>
                <a:latin typeface="Arial" pitchFamily="34" charset="0"/>
                <a:ea typeface="Arial" pitchFamily="34" charset="-122"/>
                <a:cs typeface="Arial" pitchFamily="34" charset="-120"/>
              </a:rPr>
              <a:t>בזכות הקשב, המודל מחבר בין חלקים רחוקים בטקסט — וכך “מבין” הקשר. זה מה שהפך את ה-Transformer לכל כך חזק.</a:t>
            </a:r>
            <a:endParaRPr lang="en-US" sz="155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13 / 29</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מתחברים</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איך זה מתחבר למה שכבר למדנו</a:t>
            </a:r>
            <a:endParaRPr lang="en-US" sz="3300" dirty="0"/>
          </a:p>
        </p:txBody>
      </p:sp>
      <p:sp>
        <p:nvSpPr>
          <p:cNvPr id="4" name="Text 2"/>
          <p:cNvSpPr/>
          <p:nvPr/>
        </p:nvSpPr>
        <p:spPr>
          <a:xfrm>
            <a:off x="548640" y="1737360"/>
            <a:ext cx="11091672" cy="41148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ה-Transformer הוא פשוט המכונה שמבצעת את מה שכבר הבנתם:</a:t>
            </a:r>
            <a:endParaRPr lang="en-US" sz="1650" dirty="0"/>
          </a:p>
        </p:txBody>
      </p:sp>
      <p:sp>
        <p:nvSpPr>
          <p:cNvPr id="5" name="Shape 3"/>
          <p:cNvSpPr/>
          <p:nvPr/>
        </p:nvSpPr>
        <p:spPr>
          <a:xfrm>
            <a:off x="548640" y="2377440"/>
            <a:ext cx="11091672" cy="749808"/>
          </a:xfrm>
          <a:prstGeom prst="roundRect">
            <a:avLst>
              <a:gd name="adj" fmla="val 10976"/>
            </a:avLst>
          </a:prstGeom>
          <a:solidFill>
            <a:srgbClr val="F2F3FA"/>
          </a:solidFill>
          <a:ln/>
          <a:effectLst>
            <a:outerShdw sx="100000" sy="100000" kx="0" ky="0" algn="bl" rotWithShape="0" blurRad="76200" dist="25400" dir="5400000">
              <a:srgbClr val="999999">
                <a:alpha val="28000"/>
              </a:srgbClr>
            </a:outerShdw>
          </a:effectLst>
        </p:spPr>
      </p:sp>
      <p:sp>
        <p:nvSpPr>
          <p:cNvPr id="6" name="Text 4"/>
          <p:cNvSpPr/>
          <p:nvPr/>
        </p:nvSpPr>
        <p:spPr>
          <a:xfrm>
            <a:off x="6793992" y="2377440"/>
            <a:ext cx="4663440" cy="749808"/>
          </a:xfrm>
          <a:prstGeom prst="rect">
            <a:avLst/>
          </a:prstGeom>
          <a:noFill/>
          <a:ln/>
        </p:spPr>
        <p:txBody>
          <a:bodyPr wrap="square" rtlCol="0" anchor="ctr"/>
          <a:lstStyle/>
          <a:p>
            <a:pPr rtl="1" algn="r" indent="0" marL="0">
              <a:buNone/>
            </a:pPr>
            <a:r>
              <a:rPr lang="en-US" sz="1400" b="1" dirty="0">
                <a:solidFill>
                  <a:srgbClr val="1E2761"/>
                </a:solidFill>
                <a:latin typeface="Arial" pitchFamily="34" charset="0"/>
                <a:ea typeface="Arial" pitchFamily="34" charset="-122"/>
                <a:cs typeface="Arial" pitchFamily="34" charset="-120"/>
              </a:rPr>
              <a:t>Input Embedding (בתחתית)</a:t>
            </a:r>
            <a:endParaRPr lang="en-US" sz="1400" dirty="0"/>
          </a:p>
        </p:txBody>
      </p:sp>
      <p:sp>
        <p:nvSpPr>
          <p:cNvPr id="7" name="Text 5"/>
          <p:cNvSpPr/>
          <p:nvPr/>
        </p:nvSpPr>
        <p:spPr>
          <a:xfrm>
            <a:off x="822960" y="2377440"/>
            <a:ext cx="5879592" cy="749808"/>
          </a:xfrm>
          <a:prstGeom prst="rect">
            <a:avLst/>
          </a:prstGeom>
          <a:noFill/>
          <a:ln/>
        </p:spPr>
        <p:txBody>
          <a:bodyPr wrap="square" rtlCol="0" anchor="ctr"/>
          <a:lstStyle/>
          <a:p>
            <a:pPr rtl="1" algn="r" indent="0" marL="0">
              <a:buNone/>
            </a:pPr>
            <a:r>
              <a:rPr lang="en-US" sz="1300" dirty="0">
                <a:solidFill>
                  <a:srgbClr val="222232"/>
                </a:solidFill>
                <a:latin typeface="Arial" pitchFamily="34" charset="0"/>
                <a:ea typeface="Arial" pitchFamily="34" charset="-122"/>
                <a:cs typeface="Arial" pitchFamily="34" charset="-120"/>
              </a:rPr>
              <a:t>ה-embeddings שלמדנו — טוקנים הופכים למספרים ומשמעות</a:t>
            </a:r>
            <a:endParaRPr lang="en-US" sz="1300" dirty="0"/>
          </a:p>
        </p:txBody>
      </p:sp>
      <p:sp>
        <p:nvSpPr>
          <p:cNvPr id="8" name="Shape 6"/>
          <p:cNvSpPr/>
          <p:nvPr/>
        </p:nvSpPr>
        <p:spPr>
          <a:xfrm>
            <a:off x="548640" y="3246120"/>
            <a:ext cx="11091672" cy="749808"/>
          </a:xfrm>
          <a:prstGeom prst="roundRect">
            <a:avLst>
              <a:gd name="adj" fmla="val 10976"/>
            </a:avLst>
          </a:prstGeom>
          <a:solidFill>
            <a:srgbClr val="F2F3FA"/>
          </a:solidFill>
          <a:ln/>
          <a:effectLst>
            <a:outerShdw sx="100000" sy="100000" kx="0" ky="0" algn="bl" rotWithShape="0" blurRad="76200" dist="25400" dir="5400000">
              <a:srgbClr val="999999">
                <a:alpha val="28000"/>
              </a:srgbClr>
            </a:outerShdw>
          </a:effectLst>
        </p:spPr>
      </p:sp>
      <p:sp>
        <p:nvSpPr>
          <p:cNvPr id="9" name="Text 7"/>
          <p:cNvSpPr/>
          <p:nvPr/>
        </p:nvSpPr>
        <p:spPr>
          <a:xfrm>
            <a:off x="6793992" y="3246120"/>
            <a:ext cx="4663440" cy="749808"/>
          </a:xfrm>
          <a:prstGeom prst="rect">
            <a:avLst/>
          </a:prstGeom>
          <a:noFill/>
          <a:ln/>
        </p:spPr>
        <p:txBody>
          <a:bodyPr wrap="square" rtlCol="0" anchor="ctr"/>
          <a:lstStyle/>
          <a:p>
            <a:pPr rtl="1" algn="r" indent="0" marL="0">
              <a:buNone/>
            </a:pPr>
            <a:r>
              <a:rPr lang="en-US" sz="1400" b="1" dirty="0">
                <a:solidFill>
                  <a:srgbClr val="1E2761"/>
                </a:solidFill>
                <a:latin typeface="Arial" pitchFamily="34" charset="0"/>
                <a:ea typeface="Arial" pitchFamily="34" charset="-122"/>
                <a:cs typeface="Arial" pitchFamily="34" charset="-120"/>
              </a:rPr>
              <a:t>השכבות החוזרות (Nx: Attention + FF)</a:t>
            </a:r>
            <a:endParaRPr lang="en-US" sz="1400" dirty="0"/>
          </a:p>
        </p:txBody>
      </p:sp>
      <p:sp>
        <p:nvSpPr>
          <p:cNvPr id="10" name="Text 8"/>
          <p:cNvSpPr/>
          <p:nvPr/>
        </p:nvSpPr>
        <p:spPr>
          <a:xfrm>
            <a:off x="822960" y="3246120"/>
            <a:ext cx="5879592" cy="749808"/>
          </a:xfrm>
          <a:prstGeom prst="rect">
            <a:avLst/>
          </a:prstGeom>
          <a:noFill/>
          <a:ln/>
        </p:spPr>
        <p:txBody>
          <a:bodyPr wrap="square" rtlCol="0" anchor="ctr"/>
          <a:lstStyle/>
          <a:p>
            <a:pPr rtl="1" algn="r" indent="0" marL="0">
              <a:buNone/>
            </a:pPr>
            <a:r>
              <a:rPr lang="en-US" sz="1300" dirty="0">
                <a:solidFill>
                  <a:srgbClr val="222232"/>
                </a:solidFill>
                <a:latin typeface="Arial" pitchFamily="34" charset="0"/>
                <a:ea typeface="Arial" pitchFamily="34" charset="-122"/>
                <a:cs typeface="Arial" pitchFamily="34" charset="-120"/>
              </a:rPr>
              <a:t>מעבדות את ההקשר, שכבה על שכבה — זה ה“קשב”</a:t>
            </a:r>
            <a:endParaRPr lang="en-US" sz="1300" dirty="0"/>
          </a:p>
        </p:txBody>
      </p:sp>
      <p:sp>
        <p:nvSpPr>
          <p:cNvPr id="11" name="Shape 9"/>
          <p:cNvSpPr/>
          <p:nvPr/>
        </p:nvSpPr>
        <p:spPr>
          <a:xfrm>
            <a:off x="548640" y="4114800"/>
            <a:ext cx="11091672" cy="749808"/>
          </a:xfrm>
          <a:prstGeom prst="roundRect">
            <a:avLst>
              <a:gd name="adj" fmla="val 10976"/>
            </a:avLst>
          </a:prstGeom>
          <a:solidFill>
            <a:srgbClr val="E7F5F6"/>
          </a:solidFill>
          <a:ln/>
          <a:effectLst>
            <a:outerShdw sx="100000" sy="100000" kx="0" ky="0" algn="bl" rotWithShape="0" blurRad="76200" dist="25400" dir="5400000">
              <a:srgbClr val="999999">
                <a:alpha val="28000"/>
              </a:srgbClr>
            </a:outerShdw>
          </a:effectLst>
        </p:spPr>
      </p:sp>
      <p:sp>
        <p:nvSpPr>
          <p:cNvPr id="12" name="Text 10"/>
          <p:cNvSpPr/>
          <p:nvPr/>
        </p:nvSpPr>
        <p:spPr>
          <a:xfrm>
            <a:off x="6793992" y="4114800"/>
            <a:ext cx="4663440" cy="749808"/>
          </a:xfrm>
          <a:prstGeom prst="rect">
            <a:avLst/>
          </a:prstGeom>
          <a:noFill/>
          <a:ln/>
        </p:spPr>
        <p:txBody>
          <a:bodyPr wrap="square" rtlCol="0" anchor="ctr"/>
          <a:lstStyle/>
          <a:p>
            <a:pPr rtl="1" algn="r" indent="0" marL="0">
              <a:buNone/>
            </a:pPr>
            <a:r>
              <a:rPr lang="en-US" sz="1400" b="1" dirty="0">
                <a:solidFill>
                  <a:srgbClr val="0E9AA7"/>
                </a:solidFill>
                <a:latin typeface="Arial" pitchFamily="34" charset="0"/>
                <a:ea typeface="Arial" pitchFamily="34" charset="-122"/>
                <a:cs typeface="Arial" pitchFamily="34" charset="-120"/>
              </a:rPr>
              <a:t>Softmax (בראש)</a:t>
            </a:r>
            <a:endParaRPr lang="en-US" sz="1400" dirty="0"/>
          </a:p>
        </p:txBody>
      </p:sp>
      <p:sp>
        <p:nvSpPr>
          <p:cNvPr id="13" name="Text 11"/>
          <p:cNvSpPr/>
          <p:nvPr/>
        </p:nvSpPr>
        <p:spPr>
          <a:xfrm>
            <a:off x="822960" y="4114800"/>
            <a:ext cx="5879592" cy="749808"/>
          </a:xfrm>
          <a:prstGeom prst="rect">
            <a:avLst/>
          </a:prstGeom>
          <a:noFill/>
          <a:ln/>
        </p:spPr>
        <p:txBody>
          <a:bodyPr wrap="square" rtlCol="0" anchor="ctr"/>
          <a:lstStyle/>
          <a:p>
            <a:pPr rtl="1" algn="r" indent="0" marL="0">
              <a:buNone/>
            </a:pPr>
            <a:r>
              <a:rPr lang="en-US" sz="1300" dirty="0">
                <a:solidFill>
                  <a:srgbClr val="222232"/>
                </a:solidFill>
                <a:latin typeface="Arial" pitchFamily="34" charset="0"/>
                <a:ea typeface="Arial" pitchFamily="34" charset="-122"/>
                <a:cs typeface="Arial" pitchFamily="34" charset="-120"/>
              </a:rPr>
              <a:t>מייצר את ההסתברויות לטוקן הבא — כמו בשקף הניבוי</a:t>
            </a:r>
            <a:endParaRPr lang="en-US" sz="1300" dirty="0"/>
          </a:p>
        </p:txBody>
      </p:sp>
      <p:sp>
        <p:nvSpPr>
          <p:cNvPr id="14" name="Shape 12"/>
          <p:cNvSpPr/>
          <p:nvPr/>
        </p:nvSpPr>
        <p:spPr>
          <a:xfrm>
            <a:off x="548640" y="5166360"/>
            <a:ext cx="11091672" cy="822960"/>
          </a:xfrm>
          <a:prstGeom prst="roundRect">
            <a:avLst>
              <a:gd name="adj" fmla="val 11111"/>
            </a:avLst>
          </a:prstGeom>
          <a:solidFill>
            <a:srgbClr val="1E2761"/>
          </a:solidFill>
          <a:ln/>
          <a:effectLst>
            <a:outerShdw sx="100000" sy="100000" kx="0" ky="0" algn="bl" rotWithShape="0" blurRad="76200" dist="25400" dir="5400000">
              <a:srgbClr val="999999">
                <a:alpha val="28000"/>
              </a:srgbClr>
            </a:outerShdw>
          </a:effectLst>
        </p:spPr>
      </p:sp>
      <p:sp>
        <p:nvSpPr>
          <p:cNvPr id="15" name="Text 13"/>
          <p:cNvSpPr/>
          <p:nvPr/>
        </p:nvSpPr>
        <p:spPr>
          <a:xfrm>
            <a:off x="868680" y="5349240"/>
            <a:ext cx="10451592" cy="457200"/>
          </a:xfrm>
          <a:prstGeom prst="rect">
            <a:avLst/>
          </a:prstGeom>
          <a:noFill/>
          <a:ln/>
        </p:spPr>
        <p:txBody>
          <a:bodyPr wrap="square" rtlCol="0" anchor="ctr"/>
          <a:lstStyle/>
          <a:p>
            <a:pPr rtl="1" algn="r" indent="0" marL="0">
              <a:buNone/>
            </a:pPr>
            <a:r>
              <a:rPr lang="en-US" sz="1550" b="1" dirty="0">
                <a:solidFill>
                  <a:srgbClr val="FFFFFF"/>
                </a:solidFill>
                <a:latin typeface="Arial" pitchFamily="34" charset="0"/>
                <a:ea typeface="Arial" pitchFamily="34" charset="-122"/>
                <a:cs typeface="Arial" pitchFamily="34" charset="-120"/>
              </a:rPr>
              <a:t>כלומר: embeddings ← עיבוד הקשר (attention) ← הסתברויות. אותו סיפור שלמדנו — עכשיו אתם גם יודעים איך קוראים למכונה.</a:t>
            </a:r>
            <a:endParaRPr lang="en-US" sz="1550" dirty="0"/>
          </a:p>
        </p:txBody>
      </p:sp>
      <p:sp>
        <p:nvSpPr>
          <p:cNvPr id="16" name="Text 1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14 / 29</a:t>
            </a:r>
            <a:endParaRPr lang="en-US" sz="950" dirty="0"/>
          </a:p>
        </p:txBody>
      </p:sp>
      <p:sp>
        <p:nvSpPr>
          <p:cNvPr id="17" name="Text 1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טמפרטורה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חוגת ה“הימור” של המודל</a:t>
            </a:r>
            <a:endParaRPr lang="en-US" sz="3300" dirty="0"/>
          </a:p>
        </p:txBody>
      </p:sp>
      <p:sp>
        <p:nvSpPr>
          <p:cNvPr id="4" name="Text 2"/>
          <p:cNvSpPr/>
          <p:nvPr/>
        </p:nvSpPr>
        <p:spPr>
          <a:xfrm>
            <a:off x="548640" y="1691640"/>
            <a:ext cx="11091672" cy="457200"/>
          </a:xfrm>
          <a:prstGeom prst="rect">
            <a:avLst/>
          </a:prstGeom>
          <a:noFill/>
          <a:ln/>
        </p:spPr>
        <p:txBody>
          <a:bodyPr wrap="square" rtlCol="0" anchor="t"/>
          <a:lstStyle/>
          <a:p>
            <a:pPr rtl="1" algn="r" indent="0" marL="0">
              <a:buNone/>
            </a:pPr>
            <a:r>
              <a:rPr lang="en-US" sz="1600" b="1" dirty="0">
                <a:solidFill>
                  <a:srgbClr val="222232"/>
                </a:solidFill>
                <a:latin typeface="Arial" pitchFamily="34" charset="0"/>
                <a:ea typeface="Arial" pitchFamily="34" charset="-122"/>
                <a:cs typeface="Arial" pitchFamily="34" charset="-120"/>
              </a:rPr>
              <a:t>טמפרטורה קובעת כמה המודל “מהמר”: נמוכה = צפוי ובטוח, גבוהה = יצירתי ואקראי.</a:t>
            </a:r>
            <a:endParaRPr lang="en-US" sz="1600" dirty="0"/>
          </a:p>
        </p:txBody>
      </p:sp>
      <p:sp>
        <p:nvSpPr>
          <p:cNvPr id="5" name="Shape 3"/>
          <p:cNvSpPr/>
          <p:nvPr/>
        </p:nvSpPr>
        <p:spPr>
          <a:xfrm>
            <a:off x="6277356" y="2468880"/>
            <a:ext cx="5362956" cy="1828800"/>
          </a:xfrm>
          <a:prstGeom prst="roundRect">
            <a:avLst>
              <a:gd name="adj" fmla="val 4500"/>
            </a:avLst>
          </a:prstGeom>
          <a:solidFill>
            <a:srgbClr val="EAF3EA"/>
          </a:solidFill>
          <a:ln/>
          <a:effectLst>
            <a:outerShdw sx="100000" sy="100000" kx="0" ky="0" algn="bl" rotWithShape="0" blurRad="76200" dist="25400" dir="5400000">
              <a:srgbClr val="999999">
                <a:alpha val="28000"/>
              </a:srgbClr>
            </a:outerShdw>
          </a:effectLst>
        </p:spPr>
      </p:sp>
      <p:sp>
        <p:nvSpPr>
          <p:cNvPr id="6" name="Text 4"/>
          <p:cNvSpPr/>
          <p:nvPr/>
        </p:nvSpPr>
        <p:spPr>
          <a:xfrm>
            <a:off x="6551676" y="2606040"/>
            <a:ext cx="4814316" cy="320040"/>
          </a:xfrm>
          <a:prstGeom prst="rect">
            <a:avLst/>
          </a:prstGeom>
          <a:noFill/>
          <a:ln/>
        </p:spPr>
        <p:txBody>
          <a:bodyPr wrap="square" rtlCol="0" anchor="t"/>
          <a:lstStyle/>
          <a:p>
            <a:pPr rtl="1" algn="r" indent="0" marL="0">
              <a:buNone/>
            </a:pPr>
            <a:r>
              <a:rPr lang="en-US" sz="1400" b="1" dirty="0">
                <a:solidFill>
                  <a:srgbClr val="2E7D32"/>
                </a:solidFill>
                <a:latin typeface="Arial" pitchFamily="34" charset="0"/>
                <a:ea typeface="Arial" pitchFamily="34" charset="-122"/>
                <a:cs typeface="Arial" pitchFamily="34" charset="-120"/>
              </a:rPr>
              <a:t>טמפרטורה נמוכה</a:t>
            </a:r>
            <a:endParaRPr lang="en-US" sz="1400" dirty="0"/>
          </a:p>
        </p:txBody>
      </p:sp>
      <p:sp>
        <p:nvSpPr>
          <p:cNvPr id="7" name="Shape 5"/>
          <p:cNvSpPr/>
          <p:nvPr/>
        </p:nvSpPr>
        <p:spPr>
          <a:xfrm>
            <a:off x="7374636" y="3474720"/>
            <a:ext cx="640080" cy="822960"/>
          </a:xfrm>
          <a:prstGeom prst="rect">
            <a:avLst/>
          </a:prstGeom>
          <a:solidFill>
            <a:srgbClr val="2E7D32"/>
          </a:solidFill>
          <a:ln/>
        </p:spPr>
      </p:sp>
      <p:sp>
        <p:nvSpPr>
          <p:cNvPr id="8" name="Shape 6"/>
          <p:cNvSpPr/>
          <p:nvPr/>
        </p:nvSpPr>
        <p:spPr>
          <a:xfrm>
            <a:off x="8380476" y="4069080"/>
            <a:ext cx="640080" cy="228600"/>
          </a:xfrm>
          <a:prstGeom prst="rect">
            <a:avLst/>
          </a:prstGeom>
          <a:solidFill>
            <a:srgbClr val="BBBBBB"/>
          </a:solidFill>
          <a:ln/>
        </p:spPr>
      </p:sp>
      <p:sp>
        <p:nvSpPr>
          <p:cNvPr id="9" name="Shape 7"/>
          <p:cNvSpPr/>
          <p:nvPr/>
        </p:nvSpPr>
        <p:spPr>
          <a:xfrm>
            <a:off x="9386316" y="4160520"/>
            <a:ext cx="640080" cy="137160"/>
          </a:xfrm>
          <a:prstGeom prst="rect">
            <a:avLst/>
          </a:prstGeom>
          <a:solidFill>
            <a:srgbClr val="BBBBBB"/>
          </a:solidFill>
          <a:ln/>
        </p:spPr>
      </p:sp>
      <p:sp>
        <p:nvSpPr>
          <p:cNvPr id="10" name="Text 8"/>
          <p:cNvSpPr/>
          <p:nvPr/>
        </p:nvSpPr>
        <p:spPr>
          <a:xfrm>
            <a:off x="6551676" y="4343400"/>
            <a:ext cx="4814316" cy="36576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בחירה אחת ברורה · לקוד</a:t>
            </a:r>
            <a:endParaRPr lang="en-US" sz="1250" dirty="0"/>
          </a:p>
        </p:txBody>
      </p:sp>
      <p:sp>
        <p:nvSpPr>
          <p:cNvPr id="11" name="Shape 9"/>
          <p:cNvSpPr/>
          <p:nvPr/>
        </p:nvSpPr>
        <p:spPr>
          <a:xfrm>
            <a:off x="548640" y="2468880"/>
            <a:ext cx="5362956" cy="1828800"/>
          </a:xfrm>
          <a:prstGeom prst="roundRect">
            <a:avLst>
              <a:gd name="adj" fmla="val 4500"/>
            </a:avLst>
          </a:prstGeom>
          <a:solidFill>
            <a:srgbClr val="F7EAEA"/>
          </a:solidFill>
          <a:ln/>
          <a:effectLst>
            <a:outerShdw sx="100000" sy="100000" kx="0" ky="0" algn="bl" rotWithShape="0" blurRad="76200" dist="25400" dir="5400000">
              <a:srgbClr val="999999">
                <a:alpha val="28000"/>
              </a:srgbClr>
            </a:outerShdw>
          </a:effectLst>
        </p:spPr>
      </p:sp>
      <p:sp>
        <p:nvSpPr>
          <p:cNvPr id="12" name="Text 10"/>
          <p:cNvSpPr/>
          <p:nvPr/>
        </p:nvSpPr>
        <p:spPr>
          <a:xfrm>
            <a:off x="822960" y="2606040"/>
            <a:ext cx="4814316" cy="320040"/>
          </a:xfrm>
          <a:prstGeom prst="rect">
            <a:avLst/>
          </a:prstGeom>
          <a:noFill/>
          <a:ln/>
        </p:spPr>
        <p:txBody>
          <a:bodyPr wrap="square" rtlCol="0" anchor="t"/>
          <a:lstStyle/>
          <a:p>
            <a:pPr rtl="1" algn="r" indent="0" marL="0">
              <a:buNone/>
            </a:pPr>
            <a:r>
              <a:rPr lang="en-US" sz="1400" b="1" dirty="0">
                <a:solidFill>
                  <a:srgbClr val="C62828"/>
                </a:solidFill>
                <a:latin typeface="Arial" pitchFamily="34" charset="0"/>
                <a:ea typeface="Arial" pitchFamily="34" charset="-122"/>
                <a:cs typeface="Arial" pitchFamily="34" charset="-120"/>
              </a:rPr>
              <a:t>טמפרטורה גבוהה</a:t>
            </a:r>
            <a:endParaRPr lang="en-US" sz="1400" dirty="0"/>
          </a:p>
        </p:txBody>
      </p:sp>
      <p:sp>
        <p:nvSpPr>
          <p:cNvPr id="13" name="Shape 11"/>
          <p:cNvSpPr/>
          <p:nvPr/>
        </p:nvSpPr>
        <p:spPr>
          <a:xfrm>
            <a:off x="1645920" y="3794760"/>
            <a:ext cx="640080" cy="502920"/>
          </a:xfrm>
          <a:prstGeom prst="rect">
            <a:avLst/>
          </a:prstGeom>
          <a:solidFill>
            <a:srgbClr val="C0392B"/>
          </a:solidFill>
          <a:ln/>
        </p:spPr>
      </p:sp>
      <p:sp>
        <p:nvSpPr>
          <p:cNvPr id="14" name="Shape 12"/>
          <p:cNvSpPr/>
          <p:nvPr/>
        </p:nvSpPr>
        <p:spPr>
          <a:xfrm>
            <a:off x="2651760" y="3730752"/>
            <a:ext cx="640080" cy="566928"/>
          </a:xfrm>
          <a:prstGeom prst="rect">
            <a:avLst/>
          </a:prstGeom>
          <a:solidFill>
            <a:srgbClr val="C0392B"/>
          </a:solidFill>
          <a:ln/>
        </p:spPr>
      </p:sp>
      <p:sp>
        <p:nvSpPr>
          <p:cNvPr id="15" name="Shape 13"/>
          <p:cNvSpPr/>
          <p:nvPr/>
        </p:nvSpPr>
        <p:spPr>
          <a:xfrm>
            <a:off x="3657600" y="3858768"/>
            <a:ext cx="640080" cy="438912"/>
          </a:xfrm>
          <a:prstGeom prst="rect">
            <a:avLst/>
          </a:prstGeom>
          <a:solidFill>
            <a:srgbClr val="C0392B"/>
          </a:solidFill>
          <a:ln/>
        </p:spPr>
      </p:sp>
      <p:sp>
        <p:nvSpPr>
          <p:cNvPr id="16" name="Text 14"/>
          <p:cNvSpPr/>
          <p:nvPr/>
        </p:nvSpPr>
        <p:spPr>
          <a:xfrm>
            <a:off x="822960" y="4343400"/>
            <a:ext cx="4814316" cy="36576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כמה אפשרויות · לרעיונות</a:t>
            </a:r>
            <a:endParaRPr lang="en-US" sz="1250" dirty="0"/>
          </a:p>
        </p:txBody>
      </p:sp>
      <p:sp>
        <p:nvSpPr>
          <p:cNvPr id="17" name="Shape 15"/>
          <p:cNvSpPr/>
          <p:nvPr/>
        </p:nvSpPr>
        <p:spPr>
          <a:xfrm>
            <a:off x="548640" y="4892040"/>
            <a:ext cx="11091672" cy="685800"/>
          </a:xfrm>
          <a:prstGeom prst="roundRect">
            <a:avLst>
              <a:gd name="adj" fmla="val 13333"/>
            </a:avLst>
          </a:prstGeom>
          <a:solidFill>
            <a:srgbClr val="1E2761"/>
          </a:solidFill>
          <a:ln/>
          <a:effectLst>
            <a:outerShdw sx="100000" sy="100000" kx="0" ky="0" algn="bl" rotWithShape="0" blurRad="76200" dist="25400" dir="5400000">
              <a:srgbClr val="999999">
                <a:alpha val="28000"/>
              </a:srgbClr>
            </a:outerShdw>
          </a:effectLst>
        </p:spPr>
      </p:sp>
      <p:sp>
        <p:nvSpPr>
          <p:cNvPr id="18" name="Text 16"/>
          <p:cNvSpPr/>
          <p:nvPr/>
        </p:nvSpPr>
        <p:spPr>
          <a:xfrm>
            <a:off x="868680" y="5074920"/>
            <a:ext cx="10451592" cy="320040"/>
          </a:xfrm>
          <a:prstGeom prst="rect">
            <a:avLst/>
          </a:prstGeom>
          <a:noFill/>
          <a:ln/>
        </p:spPr>
        <p:txBody>
          <a:bodyPr wrap="square" rtlCol="0" anchor="ctr"/>
          <a:lstStyle/>
          <a:p>
            <a:pPr rtl="1" algn="r" indent="0" marL="0">
              <a:buNone/>
            </a:pPr>
            <a:r>
              <a:rPr lang="en-US" sz="1550" b="1" dirty="0">
                <a:solidFill>
                  <a:srgbClr val="FFFFFF"/>
                </a:solidFill>
                <a:latin typeface="Arial" pitchFamily="34" charset="0"/>
                <a:ea typeface="Arial" pitchFamily="34" charset="-122"/>
                <a:cs typeface="Arial" pitchFamily="34" charset="-120"/>
              </a:rPr>
              <a:t>לכתיבת קוד עדיף טמפרטורה נמוכה — רוצים תשובה עקבית ונכונה, לא הפתעות.</a:t>
            </a:r>
            <a:endParaRPr lang="en-US" sz="1550" dirty="0"/>
          </a:p>
        </p:txBody>
      </p:sp>
      <p:sp>
        <p:nvSpPr>
          <p:cNvPr id="19" name="Text 17"/>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15 / 29</a:t>
            </a:r>
            <a:endParaRPr lang="en-US" sz="950" dirty="0"/>
          </a:p>
        </p:txBody>
      </p:sp>
      <p:sp>
        <p:nvSpPr>
          <p:cNvPr id="20" name="Text 18"/>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הזיכרון של המודל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חלון הקשר (Context Window) ומגבלותיו</a:t>
            </a:r>
            <a:endParaRPr lang="en-US" sz="3300" dirty="0"/>
          </a:p>
        </p:txBody>
      </p:sp>
      <p:sp>
        <p:nvSpPr>
          <p:cNvPr id="4" name="Shape 2"/>
          <p:cNvSpPr/>
          <p:nvPr/>
        </p:nvSpPr>
        <p:spPr>
          <a:xfrm>
            <a:off x="548640" y="1664208"/>
            <a:ext cx="11091672" cy="960120"/>
          </a:xfrm>
          <a:prstGeom prst="roundRect">
            <a:avLst>
              <a:gd name="adj" fmla="val 9524"/>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847088"/>
            <a:ext cx="10451592" cy="594360"/>
          </a:xfrm>
          <a:prstGeom prst="rect">
            <a:avLst/>
          </a:prstGeom>
          <a:noFill/>
          <a:ln/>
        </p:spPr>
        <p:txBody>
          <a:bodyPr wrap="square" rtlCol="0" anchor="ctr"/>
          <a:lstStyle/>
          <a:p>
            <a:pPr rtl="1" algn="r" indent="0" marL="0">
              <a:buNone/>
            </a:pPr>
            <a:r>
              <a:rPr lang="en-US" sz="1650" b="1" dirty="0">
                <a:solidFill>
                  <a:srgbClr val="FFFFFF"/>
                </a:solidFill>
                <a:latin typeface="Arial" pitchFamily="34" charset="0"/>
                <a:ea typeface="Arial" pitchFamily="34" charset="-122"/>
                <a:cs typeface="Arial" pitchFamily="34" charset="-120"/>
              </a:rPr>
              <a:t>חלון ההקשר = כמות הטוקנים שהמודל “רואה” בבת אחת (פרומפט + קוד + היסטוריית השיחה). רק מה שבתוכו משפיע על התשובה — זה הזיכרון לטווח קצר שלו.</a:t>
            </a:r>
            <a:endParaRPr lang="en-US" sz="1650" dirty="0"/>
          </a:p>
        </p:txBody>
      </p:sp>
      <p:sp>
        <p:nvSpPr>
          <p:cNvPr id="6" name="Shape 4"/>
          <p:cNvSpPr/>
          <p:nvPr/>
        </p:nvSpPr>
        <p:spPr>
          <a:xfrm>
            <a:off x="10743438" y="3063240"/>
            <a:ext cx="869442" cy="502920"/>
          </a:xfrm>
          <a:prstGeom prst="rect">
            <a:avLst/>
          </a:prstGeom>
          <a:solidFill>
            <a:srgbClr val="E7F5F6"/>
          </a:solidFill>
          <a:ln w="12700">
            <a:solidFill>
              <a:srgbClr val="D3D8EC"/>
            </a:solidFill>
            <a:prstDash val="solid"/>
          </a:ln>
        </p:spPr>
      </p:sp>
      <p:sp>
        <p:nvSpPr>
          <p:cNvPr id="7" name="Text 5"/>
          <p:cNvSpPr/>
          <p:nvPr/>
        </p:nvSpPr>
        <p:spPr>
          <a:xfrm>
            <a:off x="10716006" y="3172968"/>
            <a:ext cx="924306" cy="274320"/>
          </a:xfrm>
          <a:prstGeom prst="rect">
            <a:avLst/>
          </a:prstGeom>
          <a:noFill/>
          <a:ln/>
        </p:spPr>
        <p:txBody>
          <a:bodyPr wrap="square" rtlCol="0" anchor="t"/>
          <a:lstStyle/>
          <a:p>
            <a:pPr rtl="1" algn="ctr" indent="0" marL="0">
              <a:buNone/>
            </a:pPr>
            <a:r>
              <a:rPr lang="en-US" sz="900" dirty="0">
                <a:solidFill>
                  <a:srgbClr val="0E9AA7"/>
                </a:solidFill>
                <a:latin typeface="Arial" pitchFamily="34" charset="0"/>
                <a:ea typeface="Arial" pitchFamily="34" charset="-122"/>
                <a:cs typeface="Arial" pitchFamily="34" charset="-120"/>
              </a:rPr>
              <a:t>tok</a:t>
            </a:r>
            <a:endParaRPr lang="en-US" sz="900" dirty="0"/>
          </a:p>
        </p:txBody>
      </p:sp>
      <p:sp>
        <p:nvSpPr>
          <p:cNvPr id="8" name="Shape 6"/>
          <p:cNvSpPr/>
          <p:nvPr/>
        </p:nvSpPr>
        <p:spPr>
          <a:xfrm>
            <a:off x="9819132" y="3063240"/>
            <a:ext cx="869442" cy="502920"/>
          </a:xfrm>
          <a:prstGeom prst="rect">
            <a:avLst/>
          </a:prstGeom>
          <a:solidFill>
            <a:srgbClr val="E7F5F6"/>
          </a:solidFill>
          <a:ln w="12700">
            <a:solidFill>
              <a:srgbClr val="D3D8EC"/>
            </a:solidFill>
            <a:prstDash val="solid"/>
          </a:ln>
        </p:spPr>
      </p:sp>
      <p:sp>
        <p:nvSpPr>
          <p:cNvPr id="9" name="Text 7"/>
          <p:cNvSpPr/>
          <p:nvPr/>
        </p:nvSpPr>
        <p:spPr>
          <a:xfrm>
            <a:off x="9791700" y="3172968"/>
            <a:ext cx="924306" cy="274320"/>
          </a:xfrm>
          <a:prstGeom prst="rect">
            <a:avLst/>
          </a:prstGeom>
          <a:noFill/>
          <a:ln/>
        </p:spPr>
        <p:txBody>
          <a:bodyPr wrap="square" rtlCol="0" anchor="t"/>
          <a:lstStyle/>
          <a:p>
            <a:pPr rtl="1" algn="ctr" indent="0" marL="0">
              <a:buNone/>
            </a:pPr>
            <a:r>
              <a:rPr lang="en-US" sz="900" dirty="0">
                <a:solidFill>
                  <a:srgbClr val="0E9AA7"/>
                </a:solidFill>
                <a:latin typeface="Arial" pitchFamily="34" charset="0"/>
                <a:ea typeface="Arial" pitchFamily="34" charset="-122"/>
                <a:cs typeface="Arial" pitchFamily="34" charset="-120"/>
              </a:rPr>
              <a:t>tok</a:t>
            </a:r>
            <a:endParaRPr lang="en-US" sz="900" dirty="0"/>
          </a:p>
        </p:txBody>
      </p:sp>
      <p:sp>
        <p:nvSpPr>
          <p:cNvPr id="10" name="Shape 8"/>
          <p:cNvSpPr/>
          <p:nvPr/>
        </p:nvSpPr>
        <p:spPr>
          <a:xfrm>
            <a:off x="8894826" y="3063240"/>
            <a:ext cx="869442" cy="502920"/>
          </a:xfrm>
          <a:prstGeom prst="rect">
            <a:avLst/>
          </a:prstGeom>
          <a:solidFill>
            <a:srgbClr val="E7F5F6"/>
          </a:solidFill>
          <a:ln w="12700">
            <a:solidFill>
              <a:srgbClr val="D3D8EC"/>
            </a:solidFill>
            <a:prstDash val="solid"/>
          </a:ln>
        </p:spPr>
      </p:sp>
      <p:sp>
        <p:nvSpPr>
          <p:cNvPr id="11" name="Text 9"/>
          <p:cNvSpPr/>
          <p:nvPr/>
        </p:nvSpPr>
        <p:spPr>
          <a:xfrm>
            <a:off x="8867394" y="3172968"/>
            <a:ext cx="924306" cy="274320"/>
          </a:xfrm>
          <a:prstGeom prst="rect">
            <a:avLst/>
          </a:prstGeom>
          <a:noFill/>
          <a:ln/>
        </p:spPr>
        <p:txBody>
          <a:bodyPr wrap="square" rtlCol="0" anchor="t"/>
          <a:lstStyle/>
          <a:p>
            <a:pPr rtl="1" algn="ctr" indent="0" marL="0">
              <a:buNone/>
            </a:pPr>
            <a:r>
              <a:rPr lang="en-US" sz="900" dirty="0">
                <a:solidFill>
                  <a:srgbClr val="0E9AA7"/>
                </a:solidFill>
                <a:latin typeface="Arial" pitchFamily="34" charset="0"/>
                <a:ea typeface="Arial" pitchFamily="34" charset="-122"/>
                <a:cs typeface="Arial" pitchFamily="34" charset="-120"/>
              </a:rPr>
              <a:t>tok</a:t>
            </a:r>
            <a:endParaRPr lang="en-US" sz="900" dirty="0"/>
          </a:p>
        </p:txBody>
      </p:sp>
      <p:sp>
        <p:nvSpPr>
          <p:cNvPr id="12" name="Shape 10"/>
          <p:cNvSpPr/>
          <p:nvPr/>
        </p:nvSpPr>
        <p:spPr>
          <a:xfrm>
            <a:off x="7970520" y="3063240"/>
            <a:ext cx="869442" cy="502920"/>
          </a:xfrm>
          <a:prstGeom prst="rect">
            <a:avLst/>
          </a:prstGeom>
          <a:solidFill>
            <a:srgbClr val="E7F5F6"/>
          </a:solidFill>
          <a:ln w="12700">
            <a:solidFill>
              <a:srgbClr val="D3D8EC"/>
            </a:solidFill>
            <a:prstDash val="solid"/>
          </a:ln>
        </p:spPr>
      </p:sp>
      <p:sp>
        <p:nvSpPr>
          <p:cNvPr id="13" name="Text 11"/>
          <p:cNvSpPr/>
          <p:nvPr/>
        </p:nvSpPr>
        <p:spPr>
          <a:xfrm>
            <a:off x="7943088" y="3172968"/>
            <a:ext cx="924306" cy="274320"/>
          </a:xfrm>
          <a:prstGeom prst="rect">
            <a:avLst/>
          </a:prstGeom>
          <a:noFill/>
          <a:ln/>
        </p:spPr>
        <p:txBody>
          <a:bodyPr wrap="square" rtlCol="0" anchor="t"/>
          <a:lstStyle/>
          <a:p>
            <a:pPr rtl="1" algn="ctr" indent="0" marL="0">
              <a:buNone/>
            </a:pPr>
            <a:r>
              <a:rPr lang="en-US" sz="900" dirty="0">
                <a:solidFill>
                  <a:srgbClr val="0E9AA7"/>
                </a:solidFill>
                <a:latin typeface="Arial" pitchFamily="34" charset="0"/>
                <a:ea typeface="Arial" pitchFamily="34" charset="-122"/>
                <a:cs typeface="Arial" pitchFamily="34" charset="-120"/>
              </a:rPr>
              <a:t>tok</a:t>
            </a:r>
            <a:endParaRPr lang="en-US" sz="900" dirty="0"/>
          </a:p>
        </p:txBody>
      </p:sp>
      <p:sp>
        <p:nvSpPr>
          <p:cNvPr id="14" name="Shape 12"/>
          <p:cNvSpPr/>
          <p:nvPr/>
        </p:nvSpPr>
        <p:spPr>
          <a:xfrm>
            <a:off x="7046214" y="3063240"/>
            <a:ext cx="869442" cy="502920"/>
          </a:xfrm>
          <a:prstGeom prst="rect">
            <a:avLst/>
          </a:prstGeom>
          <a:solidFill>
            <a:srgbClr val="E7F5F6"/>
          </a:solidFill>
          <a:ln w="12700">
            <a:solidFill>
              <a:srgbClr val="D3D8EC"/>
            </a:solidFill>
            <a:prstDash val="solid"/>
          </a:ln>
        </p:spPr>
      </p:sp>
      <p:sp>
        <p:nvSpPr>
          <p:cNvPr id="15" name="Text 13"/>
          <p:cNvSpPr/>
          <p:nvPr/>
        </p:nvSpPr>
        <p:spPr>
          <a:xfrm>
            <a:off x="7018782" y="3172968"/>
            <a:ext cx="924306" cy="274320"/>
          </a:xfrm>
          <a:prstGeom prst="rect">
            <a:avLst/>
          </a:prstGeom>
          <a:noFill/>
          <a:ln/>
        </p:spPr>
        <p:txBody>
          <a:bodyPr wrap="square" rtlCol="0" anchor="t"/>
          <a:lstStyle/>
          <a:p>
            <a:pPr rtl="1" algn="ctr" indent="0" marL="0">
              <a:buNone/>
            </a:pPr>
            <a:r>
              <a:rPr lang="en-US" sz="900" dirty="0">
                <a:solidFill>
                  <a:srgbClr val="0E9AA7"/>
                </a:solidFill>
                <a:latin typeface="Arial" pitchFamily="34" charset="0"/>
                <a:ea typeface="Arial" pitchFamily="34" charset="-122"/>
                <a:cs typeface="Arial" pitchFamily="34" charset="-120"/>
              </a:rPr>
              <a:t>tok</a:t>
            </a:r>
            <a:endParaRPr lang="en-US" sz="900" dirty="0"/>
          </a:p>
        </p:txBody>
      </p:sp>
      <p:sp>
        <p:nvSpPr>
          <p:cNvPr id="16" name="Shape 14"/>
          <p:cNvSpPr/>
          <p:nvPr/>
        </p:nvSpPr>
        <p:spPr>
          <a:xfrm>
            <a:off x="6121908" y="3063240"/>
            <a:ext cx="869442" cy="502920"/>
          </a:xfrm>
          <a:prstGeom prst="rect">
            <a:avLst/>
          </a:prstGeom>
          <a:solidFill>
            <a:srgbClr val="E7F5F6"/>
          </a:solidFill>
          <a:ln w="12700">
            <a:solidFill>
              <a:srgbClr val="D3D8EC"/>
            </a:solidFill>
            <a:prstDash val="solid"/>
          </a:ln>
        </p:spPr>
      </p:sp>
      <p:sp>
        <p:nvSpPr>
          <p:cNvPr id="17" name="Text 15"/>
          <p:cNvSpPr/>
          <p:nvPr/>
        </p:nvSpPr>
        <p:spPr>
          <a:xfrm>
            <a:off x="6094476" y="3172968"/>
            <a:ext cx="924306" cy="274320"/>
          </a:xfrm>
          <a:prstGeom prst="rect">
            <a:avLst/>
          </a:prstGeom>
          <a:noFill/>
          <a:ln/>
        </p:spPr>
        <p:txBody>
          <a:bodyPr wrap="square" rtlCol="0" anchor="t"/>
          <a:lstStyle/>
          <a:p>
            <a:pPr rtl="1" algn="ctr" indent="0" marL="0">
              <a:buNone/>
            </a:pPr>
            <a:r>
              <a:rPr lang="en-US" sz="900" dirty="0">
                <a:solidFill>
                  <a:srgbClr val="0E9AA7"/>
                </a:solidFill>
                <a:latin typeface="Arial" pitchFamily="34" charset="0"/>
                <a:ea typeface="Arial" pitchFamily="34" charset="-122"/>
                <a:cs typeface="Arial" pitchFamily="34" charset="-120"/>
              </a:rPr>
              <a:t>tok</a:t>
            </a:r>
            <a:endParaRPr lang="en-US" sz="900" dirty="0"/>
          </a:p>
        </p:txBody>
      </p:sp>
      <p:sp>
        <p:nvSpPr>
          <p:cNvPr id="18" name="Shape 16"/>
          <p:cNvSpPr/>
          <p:nvPr/>
        </p:nvSpPr>
        <p:spPr>
          <a:xfrm>
            <a:off x="5197602" y="3063240"/>
            <a:ext cx="869442" cy="502920"/>
          </a:xfrm>
          <a:prstGeom prst="rect">
            <a:avLst/>
          </a:prstGeom>
          <a:solidFill>
            <a:srgbClr val="E7F5F6"/>
          </a:solidFill>
          <a:ln w="12700">
            <a:solidFill>
              <a:srgbClr val="D3D8EC"/>
            </a:solidFill>
            <a:prstDash val="solid"/>
          </a:ln>
        </p:spPr>
      </p:sp>
      <p:sp>
        <p:nvSpPr>
          <p:cNvPr id="19" name="Text 17"/>
          <p:cNvSpPr/>
          <p:nvPr/>
        </p:nvSpPr>
        <p:spPr>
          <a:xfrm>
            <a:off x="5170170" y="3172968"/>
            <a:ext cx="924306" cy="274320"/>
          </a:xfrm>
          <a:prstGeom prst="rect">
            <a:avLst/>
          </a:prstGeom>
          <a:noFill/>
          <a:ln/>
        </p:spPr>
        <p:txBody>
          <a:bodyPr wrap="square" rtlCol="0" anchor="t"/>
          <a:lstStyle/>
          <a:p>
            <a:pPr rtl="1" algn="ctr" indent="0" marL="0">
              <a:buNone/>
            </a:pPr>
            <a:r>
              <a:rPr lang="en-US" sz="900" dirty="0">
                <a:solidFill>
                  <a:srgbClr val="0E9AA7"/>
                </a:solidFill>
                <a:latin typeface="Arial" pitchFamily="34" charset="0"/>
                <a:ea typeface="Arial" pitchFamily="34" charset="-122"/>
                <a:cs typeface="Arial" pitchFamily="34" charset="-120"/>
              </a:rPr>
              <a:t>tok</a:t>
            </a:r>
            <a:endParaRPr lang="en-US" sz="900" dirty="0"/>
          </a:p>
        </p:txBody>
      </p:sp>
      <p:sp>
        <p:nvSpPr>
          <p:cNvPr id="20" name="Shape 18"/>
          <p:cNvSpPr/>
          <p:nvPr/>
        </p:nvSpPr>
        <p:spPr>
          <a:xfrm>
            <a:off x="4273296" y="3063240"/>
            <a:ext cx="869442" cy="502920"/>
          </a:xfrm>
          <a:prstGeom prst="rect">
            <a:avLst/>
          </a:prstGeom>
          <a:solidFill>
            <a:srgbClr val="E7F5F6"/>
          </a:solidFill>
          <a:ln w="12700">
            <a:solidFill>
              <a:srgbClr val="D3D8EC"/>
            </a:solidFill>
            <a:prstDash val="solid"/>
          </a:ln>
        </p:spPr>
      </p:sp>
      <p:sp>
        <p:nvSpPr>
          <p:cNvPr id="21" name="Text 19"/>
          <p:cNvSpPr/>
          <p:nvPr/>
        </p:nvSpPr>
        <p:spPr>
          <a:xfrm>
            <a:off x="4245864" y="3172968"/>
            <a:ext cx="924306" cy="274320"/>
          </a:xfrm>
          <a:prstGeom prst="rect">
            <a:avLst/>
          </a:prstGeom>
          <a:noFill/>
          <a:ln/>
        </p:spPr>
        <p:txBody>
          <a:bodyPr wrap="square" rtlCol="0" anchor="t"/>
          <a:lstStyle/>
          <a:p>
            <a:pPr rtl="1" algn="ctr" indent="0" marL="0">
              <a:buNone/>
            </a:pPr>
            <a:r>
              <a:rPr lang="en-US" sz="900" dirty="0">
                <a:solidFill>
                  <a:srgbClr val="0E9AA7"/>
                </a:solidFill>
                <a:latin typeface="Arial" pitchFamily="34" charset="0"/>
                <a:ea typeface="Arial" pitchFamily="34" charset="-122"/>
                <a:cs typeface="Arial" pitchFamily="34" charset="-120"/>
              </a:rPr>
              <a:t>tok</a:t>
            </a:r>
            <a:endParaRPr lang="en-US" sz="900" dirty="0"/>
          </a:p>
        </p:txBody>
      </p:sp>
      <p:sp>
        <p:nvSpPr>
          <p:cNvPr id="22" name="Shape 20"/>
          <p:cNvSpPr/>
          <p:nvPr/>
        </p:nvSpPr>
        <p:spPr>
          <a:xfrm>
            <a:off x="3348990" y="3063240"/>
            <a:ext cx="869442" cy="502920"/>
          </a:xfrm>
          <a:prstGeom prst="rect">
            <a:avLst/>
          </a:prstGeom>
          <a:solidFill>
            <a:srgbClr val="F0F0F4"/>
          </a:solidFill>
          <a:ln w="12700">
            <a:solidFill>
              <a:srgbClr val="D3D8EC"/>
            </a:solidFill>
            <a:prstDash val="solid"/>
          </a:ln>
        </p:spPr>
      </p:sp>
      <p:sp>
        <p:nvSpPr>
          <p:cNvPr id="23" name="Shape 21"/>
          <p:cNvSpPr/>
          <p:nvPr/>
        </p:nvSpPr>
        <p:spPr>
          <a:xfrm>
            <a:off x="2424684" y="3063240"/>
            <a:ext cx="869442" cy="502920"/>
          </a:xfrm>
          <a:prstGeom prst="rect">
            <a:avLst/>
          </a:prstGeom>
          <a:solidFill>
            <a:srgbClr val="F0F0F4"/>
          </a:solidFill>
          <a:ln w="12700">
            <a:solidFill>
              <a:srgbClr val="D3D8EC"/>
            </a:solidFill>
            <a:prstDash val="solid"/>
          </a:ln>
        </p:spPr>
      </p:sp>
      <p:sp>
        <p:nvSpPr>
          <p:cNvPr id="24" name="Shape 22"/>
          <p:cNvSpPr/>
          <p:nvPr/>
        </p:nvSpPr>
        <p:spPr>
          <a:xfrm>
            <a:off x="1500378" y="3063240"/>
            <a:ext cx="869442" cy="502920"/>
          </a:xfrm>
          <a:prstGeom prst="rect">
            <a:avLst/>
          </a:prstGeom>
          <a:solidFill>
            <a:srgbClr val="F0F0F4"/>
          </a:solidFill>
          <a:ln w="12700">
            <a:solidFill>
              <a:srgbClr val="D3D8EC"/>
            </a:solidFill>
            <a:prstDash val="solid"/>
          </a:ln>
        </p:spPr>
      </p:sp>
      <p:sp>
        <p:nvSpPr>
          <p:cNvPr id="25" name="Shape 23"/>
          <p:cNvSpPr/>
          <p:nvPr/>
        </p:nvSpPr>
        <p:spPr>
          <a:xfrm>
            <a:off x="576072" y="3063240"/>
            <a:ext cx="869442" cy="502920"/>
          </a:xfrm>
          <a:prstGeom prst="rect">
            <a:avLst/>
          </a:prstGeom>
          <a:solidFill>
            <a:srgbClr val="F0F0F4"/>
          </a:solidFill>
          <a:ln w="12700">
            <a:solidFill>
              <a:srgbClr val="D3D8EC"/>
            </a:solidFill>
            <a:prstDash val="solid"/>
          </a:ln>
        </p:spPr>
      </p:sp>
      <p:sp>
        <p:nvSpPr>
          <p:cNvPr id="26" name="Text 24"/>
          <p:cNvSpPr/>
          <p:nvPr/>
        </p:nvSpPr>
        <p:spPr>
          <a:xfrm>
            <a:off x="4245864" y="3611880"/>
            <a:ext cx="7394448" cy="256032"/>
          </a:xfrm>
          <a:prstGeom prst="rect">
            <a:avLst/>
          </a:prstGeom>
          <a:noFill/>
          <a:ln/>
        </p:spPr>
        <p:txBody>
          <a:bodyPr wrap="square" rtlCol="0" anchor="t"/>
          <a:lstStyle/>
          <a:p>
            <a:pPr rtl="1" algn="ctr" indent="0" marL="0">
              <a:buNone/>
            </a:pPr>
            <a:r>
              <a:rPr lang="en-US" sz="1000" dirty="0">
                <a:solidFill>
                  <a:srgbClr val="0E9AA7"/>
                </a:solidFill>
                <a:latin typeface="Arial" pitchFamily="34" charset="0"/>
                <a:ea typeface="Arial" pitchFamily="34" charset="-122"/>
                <a:cs typeface="Arial" pitchFamily="34" charset="-120"/>
              </a:rPr>
              <a:t>מלא</a:t>
            </a:r>
            <a:endParaRPr lang="en-US" sz="1000" dirty="0"/>
          </a:p>
        </p:txBody>
      </p:sp>
      <p:sp>
        <p:nvSpPr>
          <p:cNvPr id="27" name="Text 25"/>
          <p:cNvSpPr/>
          <p:nvPr/>
        </p:nvSpPr>
        <p:spPr>
          <a:xfrm>
            <a:off x="548640" y="3611880"/>
            <a:ext cx="3697224" cy="256032"/>
          </a:xfrm>
          <a:prstGeom prst="rect">
            <a:avLst/>
          </a:prstGeom>
          <a:noFill/>
          <a:ln/>
        </p:spPr>
        <p:txBody>
          <a:bodyPr wrap="square" rtlCol="0" anchor="t"/>
          <a:lstStyle/>
          <a:p>
            <a:pPr rtl="1" algn="ctr" indent="0" marL="0">
              <a:buNone/>
            </a:pPr>
            <a:r>
              <a:rPr lang="en-US" sz="1000" dirty="0">
                <a:solidFill>
                  <a:srgbClr val="6B6B80"/>
                </a:solidFill>
                <a:latin typeface="Arial" pitchFamily="34" charset="0"/>
                <a:ea typeface="Arial" pitchFamily="34" charset="-122"/>
                <a:cs typeface="Arial" pitchFamily="34" charset="-120"/>
              </a:rPr>
              <a:t>פנוי</a:t>
            </a:r>
            <a:endParaRPr lang="en-US" sz="1000" dirty="0"/>
          </a:p>
        </p:txBody>
      </p:sp>
      <p:sp>
        <p:nvSpPr>
          <p:cNvPr id="28" name="Text 26"/>
          <p:cNvSpPr/>
          <p:nvPr/>
        </p:nvSpPr>
        <p:spPr>
          <a:xfrm>
            <a:off x="548640" y="4023360"/>
            <a:ext cx="11091672" cy="320040"/>
          </a:xfrm>
          <a:prstGeom prst="rect">
            <a:avLst/>
          </a:prstGeom>
          <a:noFill/>
          <a:ln/>
        </p:spPr>
        <p:txBody>
          <a:bodyPr wrap="square" rtlCol="0" anchor="t"/>
          <a:lstStyle/>
          <a:p>
            <a:pPr rtl="1" algn="r" indent="0" marL="0">
              <a:buNone/>
            </a:pPr>
            <a:r>
              <a:rPr lang="en-US" sz="1450" b="1" dirty="0">
                <a:solidFill>
                  <a:srgbClr val="C62828"/>
                </a:solidFill>
                <a:latin typeface="Arial" pitchFamily="34" charset="0"/>
                <a:ea typeface="Arial" pitchFamily="34" charset="-122"/>
                <a:cs typeface="Arial" pitchFamily="34" charset="-120"/>
              </a:rPr>
              <a:t>כשהחלון מתמלא:</a:t>
            </a:r>
            <a:endParaRPr lang="en-US" sz="1450" dirty="0"/>
          </a:p>
        </p:txBody>
      </p:sp>
      <p:sp>
        <p:nvSpPr>
          <p:cNvPr id="29" name="Text 27"/>
          <p:cNvSpPr/>
          <p:nvPr/>
        </p:nvSpPr>
        <p:spPr>
          <a:xfrm>
            <a:off x="548640" y="4389120"/>
            <a:ext cx="11091672" cy="1188720"/>
          </a:xfrm>
          <a:prstGeom prst="rect">
            <a:avLst/>
          </a:prstGeom>
          <a:noFill/>
          <a:ln/>
        </p:spPr>
        <p:txBody>
          <a:bodyPr wrap="square" rtlCol="0" anchor="t"/>
          <a:lstStyle/>
          <a:p>
            <a:pPr rtl="1" algn="r" indent="0" marL="0">
              <a:lnSpc>
                <a:spcPct val="135000"/>
              </a:lnSpc>
              <a:buNone/>
            </a:pPr>
            <a:r>
              <a:rPr lang="en-US" sz="1350" dirty="0">
                <a:solidFill>
                  <a:srgbClr val="222232"/>
                </a:solidFill>
                <a:latin typeface="Arial" pitchFamily="34" charset="0"/>
                <a:ea typeface="Arial" pitchFamily="34" charset="-122"/>
                <a:cs typeface="Arial" pitchFamily="34" charset="-120"/>
              </a:rPr>
              <a:t>•  המודל “שוכח” את ההתחלה — טוקנים ישנים נדחקים החוצה</a:t>
            </a:r>
            <a:endParaRPr lang="en-US" sz="1350" dirty="0"/>
          </a:p>
          <a:p>
            <a:pPr rtl="1" algn="r" indent="0" marL="0">
              <a:lnSpc>
                <a:spcPct val="135000"/>
              </a:lnSpc>
              <a:buNone/>
            </a:pPr>
            <a:r>
              <a:rPr lang="en-US" sz="1350" dirty="0">
                <a:solidFill>
                  <a:srgbClr val="222232"/>
                </a:solidFill>
                <a:latin typeface="Arial" pitchFamily="34" charset="0"/>
                <a:ea typeface="Arial" pitchFamily="34" charset="-122"/>
                <a:cs typeface="Arial" pitchFamily="34" charset="-120"/>
              </a:rPr>
              <a:t>•  קוד ארוך לא נכנס כולו ← המודל לא רואה חלקים ועלול לסתור אותם</a:t>
            </a:r>
            <a:endParaRPr lang="en-US" sz="1350" dirty="0"/>
          </a:p>
          <a:p>
            <a:pPr rtl="1" algn="r" indent="0" marL="0">
              <a:lnSpc>
                <a:spcPct val="135000"/>
              </a:lnSpc>
              <a:buNone/>
            </a:pPr>
            <a:r>
              <a:rPr lang="en-US" sz="1350" dirty="0">
                <a:solidFill>
                  <a:srgbClr val="222232"/>
                </a:solidFill>
                <a:latin typeface="Arial" pitchFamily="34" charset="0"/>
                <a:ea typeface="Arial" pitchFamily="34" charset="-122"/>
                <a:cs typeface="Arial" pitchFamily="34" charset="-120"/>
              </a:rPr>
              <a:t>•  ככל שהחלון עמוס, קשה לו “להתמקד” ← יותר השלמות בניחוש (הזיות)</a:t>
            </a:r>
            <a:endParaRPr lang="en-US" sz="1350" dirty="0"/>
          </a:p>
        </p:txBody>
      </p:sp>
      <p:sp>
        <p:nvSpPr>
          <p:cNvPr id="30" name="Text 2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16 / 29</a:t>
            </a:r>
            <a:endParaRPr lang="en-US" sz="950" dirty="0"/>
          </a:p>
        </p:txBody>
      </p:sp>
      <p:sp>
        <p:nvSpPr>
          <p:cNvPr id="31" name="Text 2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לב המפגש</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למה קורות הזיות — מנגנונית</a:t>
            </a:r>
            <a:endParaRPr lang="en-US" sz="3300" dirty="0"/>
          </a:p>
        </p:txBody>
      </p:sp>
      <p:sp>
        <p:nvSpPr>
          <p:cNvPr id="4" name="Shape 2"/>
          <p:cNvSpPr/>
          <p:nvPr/>
        </p:nvSpPr>
        <p:spPr>
          <a:xfrm>
            <a:off x="548640" y="1737360"/>
            <a:ext cx="11091672" cy="1463040"/>
          </a:xfrm>
          <a:prstGeom prst="roundRect">
            <a:avLst>
              <a:gd name="adj" fmla="val 6250"/>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20240"/>
            <a:ext cx="10451592" cy="109728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המודל תמיד מנבא את הטוקן ה“סביר ביותר” — גם כשאין לו מידע אמיתי. הוא לא יודע “להגיד לא יודע”: במקום זה הוא ממלא את הפער בטוקנים שנשמעים נכון. אין בתוכו שלב שבודק מול המציאות. לכן פונקציה שנשמעת הגיונית תיווצר — גם אם אינה קיימת.</a:t>
            </a:r>
            <a:endParaRPr lang="en-US" sz="1800" dirty="0"/>
          </a:p>
        </p:txBody>
      </p:sp>
      <p:sp>
        <p:nvSpPr>
          <p:cNvPr id="6" name="Shape 4"/>
          <p:cNvSpPr/>
          <p:nvPr/>
        </p:nvSpPr>
        <p:spPr>
          <a:xfrm>
            <a:off x="8125968" y="3520440"/>
            <a:ext cx="3514344" cy="1280160"/>
          </a:xfrm>
          <a:prstGeom prst="roundRect">
            <a:avLst>
              <a:gd name="adj" fmla="val 6429"/>
            </a:avLst>
          </a:prstGeom>
          <a:solidFill>
            <a:srgbClr val="F7EAEA"/>
          </a:solidFill>
          <a:ln/>
          <a:effectLst>
            <a:outerShdw sx="100000" sy="100000" kx="0" ky="0" algn="bl" rotWithShape="0" blurRad="76200" dist="25400" dir="5400000">
              <a:srgbClr val="999999">
                <a:alpha val="28000"/>
              </a:srgbClr>
            </a:outerShdw>
          </a:effectLst>
        </p:spPr>
      </p:sp>
      <p:sp>
        <p:nvSpPr>
          <p:cNvPr id="7" name="Text 5"/>
          <p:cNvSpPr/>
          <p:nvPr/>
        </p:nvSpPr>
        <p:spPr>
          <a:xfrm>
            <a:off x="8308848" y="3776472"/>
            <a:ext cx="3148584" cy="457200"/>
          </a:xfrm>
          <a:prstGeom prst="rect">
            <a:avLst/>
          </a:prstGeom>
          <a:noFill/>
          <a:ln/>
        </p:spPr>
        <p:txBody>
          <a:bodyPr wrap="square" rtlCol="0" anchor="t"/>
          <a:lstStyle/>
          <a:p>
            <a:pPr rtl="1" algn="ctr" indent="0" marL="0">
              <a:buNone/>
            </a:pPr>
            <a:r>
              <a:rPr lang="en-US" sz="1500" b="1" dirty="0">
                <a:solidFill>
                  <a:srgbClr val="C62828"/>
                </a:solidFill>
                <a:latin typeface="Arial" pitchFamily="34" charset="0"/>
                <a:ea typeface="Arial" pitchFamily="34" charset="-122"/>
                <a:cs typeface="Arial" pitchFamily="34" charset="-120"/>
              </a:rPr>
              <a:t>אין “לא יודע”</a:t>
            </a:r>
            <a:endParaRPr lang="en-US" sz="1500" dirty="0"/>
          </a:p>
        </p:txBody>
      </p:sp>
      <p:sp>
        <p:nvSpPr>
          <p:cNvPr id="8" name="Text 6"/>
          <p:cNvSpPr/>
          <p:nvPr/>
        </p:nvSpPr>
        <p:spPr>
          <a:xfrm>
            <a:off x="8308848" y="4251960"/>
            <a:ext cx="3148584" cy="41148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תמיד מנבא משהו</a:t>
            </a:r>
            <a:endParaRPr lang="en-US" sz="1250" dirty="0"/>
          </a:p>
        </p:txBody>
      </p:sp>
      <p:sp>
        <p:nvSpPr>
          <p:cNvPr id="9" name="Shape 7"/>
          <p:cNvSpPr/>
          <p:nvPr/>
        </p:nvSpPr>
        <p:spPr>
          <a:xfrm>
            <a:off x="4337304" y="3520440"/>
            <a:ext cx="3514344" cy="1280160"/>
          </a:xfrm>
          <a:prstGeom prst="roundRect">
            <a:avLst>
              <a:gd name="adj" fmla="val 6429"/>
            </a:avLst>
          </a:prstGeom>
          <a:solidFill>
            <a:srgbClr val="F7EAEA"/>
          </a:solidFill>
          <a:ln/>
          <a:effectLst>
            <a:outerShdw sx="100000" sy="100000" kx="0" ky="0" algn="bl" rotWithShape="0" blurRad="76200" dist="25400" dir="5400000">
              <a:srgbClr val="999999">
                <a:alpha val="28000"/>
              </a:srgbClr>
            </a:outerShdw>
          </a:effectLst>
        </p:spPr>
      </p:sp>
      <p:sp>
        <p:nvSpPr>
          <p:cNvPr id="10" name="Text 8"/>
          <p:cNvSpPr/>
          <p:nvPr/>
        </p:nvSpPr>
        <p:spPr>
          <a:xfrm>
            <a:off x="4520184" y="3776472"/>
            <a:ext cx="3148584" cy="457200"/>
          </a:xfrm>
          <a:prstGeom prst="rect">
            <a:avLst/>
          </a:prstGeom>
          <a:noFill/>
          <a:ln/>
        </p:spPr>
        <p:txBody>
          <a:bodyPr wrap="square" rtlCol="0" anchor="t"/>
          <a:lstStyle/>
          <a:p>
            <a:pPr rtl="1" algn="ctr" indent="0" marL="0">
              <a:buNone/>
            </a:pPr>
            <a:r>
              <a:rPr lang="en-US" sz="1500" b="1" dirty="0">
                <a:solidFill>
                  <a:srgbClr val="C62828"/>
                </a:solidFill>
                <a:latin typeface="Arial" pitchFamily="34" charset="0"/>
                <a:ea typeface="Arial" pitchFamily="34" charset="-122"/>
                <a:cs typeface="Arial" pitchFamily="34" charset="-120"/>
              </a:rPr>
              <a:t>אין בדיקת אמת</a:t>
            </a:r>
            <a:endParaRPr lang="en-US" sz="1500" dirty="0"/>
          </a:p>
        </p:txBody>
      </p:sp>
      <p:sp>
        <p:nvSpPr>
          <p:cNvPr id="11" name="Text 9"/>
          <p:cNvSpPr/>
          <p:nvPr/>
        </p:nvSpPr>
        <p:spPr>
          <a:xfrm>
            <a:off x="4520184" y="4251960"/>
            <a:ext cx="3148584" cy="41148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לא מוודא מול תיעוד</a:t>
            </a:r>
            <a:endParaRPr lang="en-US" sz="1250" dirty="0"/>
          </a:p>
        </p:txBody>
      </p:sp>
      <p:sp>
        <p:nvSpPr>
          <p:cNvPr id="12" name="Shape 10"/>
          <p:cNvSpPr/>
          <p:nvPr/>
        </p:nvSpPr>
        <p:spPr>
          <a:xfrm>
            <a:off x="548640" y="3520440"/>
            <a:ext cx="3514344" cy="1280160"/>
          </a:xfrm>
          <a:prstGeom prst="roundRect">
            <a:avLst>
              <a:gd name="adj" fmla="val 6429"/>
            </a:avLst>
          </a:prstGeom>
          <a:solidFill>
            <a:srgbClr val="F7EAEA"/>
          </a:solidFill>
          <a:ln/>
          <a:effectLst>
            <a:outerShdw sx="100000" sy="100000" kx="0" ky="0" algn="bl" rotWithShape="0" blurRad="76200" dist="25400" dir="5400000">
              <a:srgbClr val="999999">
                <a:alpha val="28000"/>
              </a:srgbClr>
            </a:outerShdw>
          </a:effectLst>
        </p:spPr>
      </p:sp>
      <p:sp>
        <p:nvSpPr>
          <p:cNvPr id="13" name="Text 11"/>
          <p:cNvSpPr/>
          <p:nvPr/>
        </p:nvSpPr>
        <p:spPr>
          <a:xfrm>
            <a:off x="731520" y="3776472"/>
            <a:ext cx="3148584" cy="457200"/>
          </a:xfrm>
          <a:prstGeom prst="rect">
            <a:avLst/>
          </a:prstGeom>
          <a:noFill/>
          <a:ln/>
        </p:spPr>
        <p:txBody>
          <a:bodyPr wrap="square" rtlCol="0" anchor="t"/>
          <a:lstStyle/>
          <a:p>
            <a:pPr rtl="1" algn="ctr" indent="0" marL="0">
              <a:buNone/>
            </a:pPr>
            <a:r>
              <a:rPr lang="en-US" sz="1500" b="1" dirty="0">
                <a:solidFill>
                  <a:srgbClr val="C62828"/>
                </a:solidFill>
                <a:latin typeface="Arial" pitchFamily="34" charset="0"/>
                <a:ea typeface="Arial" pitchFamily="34" charset="-122"/>
                <a:cs typeface="Arial" pitchFamily="34" charset="-120"/>
              </a:rPr>
              <a:t>מטרה: להישמע נכון</a:t>
            </a:r>
            <a:endParaRPr lang="en-US" sz="1500" dirty="0"/>
          </a:p>
        </p:txBody>
      </p:sp>
      <p:sp>
        <p:nvSpPr>
          <p:cNvPr id="14" name="Text 12"/>
          <p:cNvSpPr/>
          <p:nvPr/>
        </p:nvSpPr>
        <p:spPr>
          <a:xfrm>
            <a:off x="731520" y="4251960"/>
            <a:ext cx="3148584" cy="41148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לא: להיות נכון</a:t>
            </a:r>
            <a:endParaRPr lang="en-US" sz="1250" dirty="0"/>
          </a:p>
        </p:txBody>
      </p:sp>
      <p:sp>
        <p:nvSpPr>
          <p:cNvPr id="15" name="Text 1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17 / 29</a:t>
            </a:r>
            <a:endParaRPr lang="en-US" sz="950" dirty="0"/>
          </a:p>
        </p:txBody>
      </p:sp>
      <p:sp>
        <p:nvSpPr>
          <p:cNvPr id="16" name="Text 1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מתי להיזהר במיוחד</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מתי הזיות צפויות יותר</a:t>
            </a:r>
            <a:endParaRPr lang="en-US" sz="3300" dirty="0"/>
          </a:p>
        </p:txBody>
      </p:sp>
      <p:sp>
        <p:nvSpPr>
          <p:cNvPr id="4" name="Shape 2"/>
          <p:cNvSpPr/>
          <p:nvPr/>
        </p:nvSpPr>
        <p:spPr>
          <a:xfrm>
            <a:off x="11237976" y="1801368"/>
            <a:ext cx="402336" cy="402336"/>
          </a:xfrm>
          <a:prstGeom prst="ellipse">
            <a:avLst/>
          </a:prstGeom>
          <a:solidFill>
            <a:srgbClr val="9A6A00"/>
          </a:solidFill>
          <a:ln/>
        </p:spPr>
      </p:sp>
      <p:sp>
        <p:nvSpPr>
          <p:cNvPr id="5" name="Text 3"/>
          <p:cNvSpPr/>
          <p:nvPr/>
        </p:nvSpPr>
        <p:spPr>
          <a:xfrm>
            <a:off x="11237976" y="180136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6" name="Text 4"/>
          <p:cNvSpPr/>
          <p:nvPr/>
        </p:nvSpPr>
        <p:spPr>
          <a:xfrm>
            <a:off x="548640" y="176479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נושא נדיר או ספרייה חדשה</a:t>
            </a:r>
            <a:endParaRPr lang="en-US" sz="1650" dirty="0"/>
          </a:p>
        </p:txBody>
      </p:sp>
      <p:sp>
        <p:nvSpPr>
          <p:cNvPr id="7" name="Text 5"/>
          <p:cNvSpPr/>
          <p:nvPr/>
        </p:nvSpPr>
        <p:spPr>
          <a:xfrm>
            <a:off x="548640" y="211226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מעט דוגמאות באימון → המודל “מנחש” יותר.</a:t>
            </a:r>
            <a:endParaRPr lang="en-US" sz="1300" dirty="0"/>
          </a:p>
        </p:txBody>
      </p:sp>
      <p:sp>
        <p:nvSpPr>
          <p:cNvPr id="8" name="Shape 6"/>
          <p:cNvSpPr/>
          <p:nvPr/>
        </p:nvSpPr>
        <p:spPr>
          <a:xfrm>
            <a:off x="11237976" y="2852928"/>
            <a:ext cx="402336" cy="402336"/>
          </a:xfrm>
          <a:prstGeom prst="ellipse">
            <a:avLst/>
          </a:prstGeom>
          <a:solidFill>
            <a:srgbClr val="9A6A00"/>
          </a:solidFill>
          <a:ln/>
        </p:spPr>
      </p:sp>
      <p:sp>
        <p:nvSpPr>
          <p:cNvPr id="9" name="Text 7"/>
          <p:cNvSpPr/>
          <p:nvPr/>
        </p:nvSpPr>
        <p:spPr>
          <a:xfrm>
            <a:off x="11237976" y="28529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548640" y="28163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פרומפט מעורפל</a:t>
            </a:r>
            <a:endParaRPr lang="en-US" sz="1650" dirty="0"/>
          </a:p>
        </p:txBody>
      </p:sp>
      <p:sp>
        <p:nvSpPr>
          <p:cNvPr id="11" name="Text 9"/>
          <p:cNvSpPr/>
          <p:nvPr/>
        </p:nvSpPr>
        <p:spPr>
          <a:xfrm>
            <a:off x="548640" y="316382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בקשה לא ברורה → אין המשך מובהק → יותר סיכוי לשגיאה.</a:t>
            </a:r>
            <a:endParaRPr lang="en-US" sz="1300" dirty="0"/>
          </a:p>
        </p:txBody>
      </p:sp>
      <p:sp>
        <p:nvSpPr>
          <p:cNvPr id="12" name="Shape 10"/>
          <p:cNvSpPr/>
          <p:nvPr/>
        </p:nvSpPr>
        <p:spPr>
          <a:xfrm>
            <a:off x="11237976" y="3904488"/>
            <a:ext cx="402336" cy="402336"/>
          </a:xfrm>
          <a:prstGeom prst="ellipse">
            <a:avLst/>
          </a:prstGeom>
          <a:solidFill>
            <a:srgbClr val="9A6A00"/>
          </a:solidFill>
          <a:ln/>
        </p:spPr>
      </p:sp>
      <p:sp>
        <p:nvSpPr>
          <p:cNvPr id="13" name="Text 11"/>
          <p:cNvSpPr/>
          <p:nvPr/>
        </p:nvSpPr>
        <p:spPr>
          <a:xfrm>
            <a:off x="11237976" y="3904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548640" y="386791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פרטים מדויקים מומצאים</a:t>
            </a:r>
            <a:endParaRPr lang="en-US" sz="1650" dirty="0"/>
          </a:p>
        </p:txBody>
      </p:sp>
      <p:sp>
        <p:nvSpPr>
          <p:cNvPr id="15" name="Text 13"/>
          <p:cNvSpPr/>
          <p:nvPr/>
        </p:nvSpPr>
        <p:spPr>
          <a:xfrm>
            <a:off x="548640" y="421538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שמות פונקציות, פרמטרים, גרסאות, מספרי גרסה — קרקע פורייה להמצאה.</a:t>
            </a:r>
            <a:endParaRPr lang="en-US" sz="1300" dirty="0"/>
          </a:p>
        </p:txBody>
      </p:sp>
      <p:sp>
        <p:nvSpPr>
          <p:cNvPr id="16" name="Shape 14"/>
          <p:cNvSpPr/>
          <p:nvPr/>
        </p:nvSpPr>
        <p:spPr>
          <a:xfrm>
            <a:off x="11237976" y="4956048"/>
            <a:ext cx="402336" cy="402336"/>
          </a:xfrm>
          <a:prstGeom prst="ellipse">
            <a:avLst/>
          </a:prstGeom>
          <a:solidFill>
            <a:srgbClr val="9A6A00"/>
          </a:solidFill>
          <a:ln/>
        </p:spPr>
      </p:sp>
      <p:sp>
        <p:nvSpPr>
          <p:cNvPr id="17" name="Text 15"/>
          <p:cNvSpPr/>
          <p:nvPr/>
        </p:nvSpPr>
        <p:spPr>
          <a:xfrm>
            <a:off x="11237976" y="49560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548640" y="491947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הקשר עמוס / ארוך</a:t>
            </a:r>
            <a:endParaRPr lang="en-US" sz="1650" dirty="0"/>
          </a:p>
        </p:txBody>
      </p:sp>
      <p:sp>
        <p:nvSpPr>
          <p:cNvPr id="19" name="Text 17"/>
          <p:cNvSpPr/>
          <p:nvPr/>
        </p:nvSpPr>
        <p:spPr>
          <a:xfrm>
            <a:off x="548640" y="526694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כשהחלון מלא, קל יותר למודל לאבד עקביות.</a:t>
            </a:r>
            <a:endParaRPr lang="en-US" sz="130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18 / 29</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דמו חי (≈ 7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נתפוס הזיה יחד</a:t>
            </a:r>
            <a:endParaRPr lang="en-US" sz="3300" dirty="0"/>
          </a:p>
        </p:txBody>
      </p:sp>
      <p:sp>
        <p:nvSpPr>
          <p:cNvPr id="4" name="Shape 2"/>
          <p:cNvSpPr/>
          <p:nvPr/>
        </p:nvSpPr>
        <p:spPr>
          <a:xfrm>
            <a:off x="548640" y="1645920"/>
            <a:ext cx="11091672" cy="914400"/>
          </a:xfrm>
          <a:prstGeom prst="roundRect">
            <a:avLst>
              <a:gd name="adj" fmla="val 8000"/>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9628632" y="1737360"/>
            <a:ext cx="1828800" cy="320040"/>
          </a:xfrm>
          <a:prstGeom prst="rect">
            <a:avLst/>
          </a:prstGeom>
          <a:noFill/>
          <a:ln/>
        </p:spPr>
        <p:txBody>
          <a:bodyPr wrap="square" rtlCol="0" anchor="ctr"/>
          <a:lstStyle/>
          <a:p>
            <a:pPr rtl="1" algn="r" indent="0" marL="0">
              <a:buNone/>
            </a:pPr>
            <a:r>
              <a:rPr lang="en-US" sz="1250" b="1" dirty="0">
                <a:solidFill>
                  <a:srgbClr val="0E9AA7"/>
                </a:solidFill>
                <a:latin typeface="Arial" pitchFamily="34" charset="0"/>
                <a:ea typeface="Arial" pitchFamily="34" charset="-122"/>
                <a:cs typeface="Arial" pitchFamily="34" charset="-120"/>
              </a:rPr>
              <a:t>פרומפט לדמו:</a:t>
            </a:r>
            <a:endParaRPr lang="en-US" sz="1250" dirty="0"/>
          </a:p>
        </p:txBody>
      </p:sp>
      <p:sp>
        <p:nvSpPr>
          <p:cNvPr id="6" name="Text 4"/>
          <p:cNvSpPr/>
          <p:nvPr/>
        </p:nvSpPr>
        <p:spPr>
          <a:xfrm>
            <a:off x="822960" y="2084832"/>
            <a:ext cx="10543032" cy="411480"/>
          </a:xfrm>
          <a:prstGeom prst="rect">
            <a:avLst/>
          </a:prstGeom>
          <a:noFill/>
          <a:ln/>
        </p:spPr>
        <p:txBody>
          <a:bodyPr wrap="square" rtlCol="0" anchor="ctr"/>
          <a:lstStyle/>
          <a:p>
            <a:pPr rtl="1" algn="r" indent="0" marL="0">
              <a:buNone/>
            </a:pPr>
            <a:r>
              <a:rPr lang="en-US" sz="1400" dirty="0">
                <a:solidFill>
                  <a:srgbClr val="E8E8F0"/>
                </a:solidFill>
                <a:latin typeface="Arial" pitchFamily="34" charset="0"/>
                <a:ea typeface="Arial" pitchFamily="34" charset="-122"/>
                <a:cs typeface="Arial" pitchFamily="34" charset="-120"/>
              </a:rPr>
              <a:t>“כתוב קוד שמוריד קובץ מ-URL ושומר אותו למחשב, בעזרת הספרייה requests.”</a:t>
            </a:r>
            <a:endParaRPr lang="en-US" sz="1400" dirty="0"/>
          </a:p>
        </p:txBody>
      </p:sp>
      <p:sp>
        <p:nvSpPr>
          <p:cNvPr id="7" name="Text 5"/>
          <p:cNvSpPr/>
          <p:nvPr/>
        </p:nvSpPr>
        <p:spPr>
          <a:xfrm>
            <a:off x="548640" y="2743200"/>
            <a:ext cx="11091672" cy="32004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צעדי הדמו:</a:t>
            </a:r>
            <a:endParaRPr lang="en-US" sz="1500" dirty="0"/>
          </a:p>
        </p:txBody>
      </p:sp>
      <p:sp>
        <p:nvSpPr>
          <p:cNvPr id="8" name="Shape 6"/>
          <p:cNvSpPr/>
          <p:nvPr/>
        </p:nvSpPr>
        <p:spPr>
          <a:xfrm>
            <a:off x="11237976" y="3108960"/>
            <a:ext cx="402336" cy="402336"/>
          </a:xfrm>
          <a:prstGeom prst="ellipse">
            <a:avLst/>
          </a:prstGeom>
          <a:solidFill>
            <a:srgbClr val="3B3B98"/>
          </a:solidFill>
          <a:ln/>
        </p:spPr>
      </p:sp>
      <p:sp>
        <p:nvSpPr>
          <p:cNvPr id="9" name="Text 7"/>
          <p:cNvSpPr/>
          <p:nvPr/>
        </p:nvSpPr>
        <p:spPr>
          <a:xfrm>
            <a:off x="11237976" y="310896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548640" y="309067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נזין את הפרומפט בכלי חינמי על המסך.</a:t>
            </a:r>
            <a:endParaRPr lang="en-US" sz="1700" dirty="0"/>
          </a:p>
        </p:txBody>
      </p:sp>
      <p:sp>
        <p:nvSpPr>
          <p:cNvPr id="11" name="Shape 9"/>
          <p:cNvSpPr/>
          <p:nvPr/>
        </p:nvSpPr>
        <p:spPr>
          <a:xfrm>
            <a:off x="11237976" y="3621024"/>
            <a:ext cx="402336" cy="402336"/>
          </a:xfrm>
          <a:prstGeom prst="ellipse">
            <a:avLst/>
          </a:prstGeom>
          <a:solidFill>
            <a:srgbClr val="3B3B98"/>
          </a:solidFill>
          <a:ln/>
        </p:spPr>
      </p:sp>
      <p:sp>
        <p:nvSpPr>
          <p:cNvPr id="12" name="Text 10"/>
          <p:cNvSpPr/>
          <p:nvPr/>
        </p:nvSpPr>
        <p:spPr>
          <a:xfrm>
            <a:off x="11237976" y="3621024"/>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548640" y="3602736"/>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נחפש בפלט שמות פונקציות חשודים (למשל requests.download).</a:t>
            </a:r>
            <a:endParaRPr lang="en-US" sz="1700" dirty="0"/>
          </a:p>
        </p:txBody>
      </p:sp>
      <p:sp>
        <p:nvSpPr>
          <p:cNvPr id="14" name="Shape 12"/>
          <p:cNvSpPr/>
          <p:nvPr/>
        </p:nvSpPr>
        <p:spPr>
          <a:xfrm>
            <a:off x="11237976" y="4133088"/>
            <a:ext cx="402336" cy="402336"/>
          </a:xfrm>
          <a:prstGeom prst="ellipse">
            <a:avLst/>
          </a:prstGeom>
          <a:solidFill>
            <a:srgbClr val="3B3B98"/>
          </a:solidFill>
          <a:ln/>
        </p:spPr>
      </p:sp>
      <p:sp>
        <p:nvSpPr>
          <p:cNvPr id="15" name="Text 13"/>
          <p:cNvSpPr/>
          <p:nvPr/>
        </p:nvSpPr>
        <p:spPr>
          <a:xfrm>
            <a:off x="11237976" y="41330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548640" y="4114800"/>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נבדוק בתיעוד/בהרצה — האם הפונקציה קיימת?</a:t>
            </a:r>
            <a:endParaRPr lang="en-US" sz="1700" dirty="0"/>
          </a:p>
        </p:txBody>
      </p:sp>
      <p:sp>
        <p:nvSpPr>
          <p:cNvPr id="17" name="Shape 15"/>
          <p:cNvSpPr/>
          <p:nvPr/>
        </p:nvSpPr>
        <p:spPr>
          <a:xfrm>
            <a:off x="11237976" y="4645152"/>
            <a:ext cx="402336" cy="402336"/>
          </a:xfrm>
          <a:prstGeom prst="ellipse">
            <a:avLst/>
          </a:prstGeom>
          <a:solidFill>
            <a:srgbClr val="3B3B98"/>
          </a:solidFill>
          <a:ln/>
        </p:spPr>
      </p:sp>
      <p:sp>
        <p:nvSpPr>
          <p:cNvPr id="18" name="Text 16"/>
          <p:cNvSpPr/>
          <p:nvPr/>
        </p:nvSpPr>
        <p:spPr>
          <a:xfrm>
            <a:off x="11237976" y="4645152"/>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548640" y="4626864"/>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נראה איך מבקשים תיקון ומאמתים שוב.</a:t>
            </a:r>
            <a:endParaRPr lang="en-US" sz="1700" dirty="0"/>
          </a:p>
        </p:txBody>
      </p:sp>
      <p:sp>
        <p:nvSpPr>
          <p:cNvPr id="20" name="Shape 18"/>
          <p:cNvSpPr/>
          <p:nvPr/>
        </p:nvSpPr>
        <p:spPr>
          <a:xfrm>
            <a:off x="548640" y="5257800"/>
            <a:ext cx="11091672" cy="868680"/>
          </a:xfrm>
          <a:prstGeom prst="roundRect">
            <a:avLst>
              <a:gd name="adj" fmla="val 10526"/>
            </a:avLst>
          </a:prstGeom>
          <a:solidFill>
            <a:srgbClr val="1E2761"/>
          </a:solidFill>
          <a:ln/>
          <a:effectLst>
            <a:outerShdw sx="100000" sy="100000" kx="0" ky="0" algn="bl" rotWithShape="0" blurRad="76200" dist="25400" dir="5400000">
              <a:srgbClr val="999999">
                <a:alpha val="28000"/>
              </a:srgbClr>
            </a:outerShdw>
          </a:effectLst>
        </p:spPr>
      </p:sp>
      <p:sp>
        <p:nvSpPr>
          <p:cNvPr id="21" name="Text 19"/>
          <p:cNvSpPr/>
          <p:nvPr/>
        </p:nvSpPr>
        <p:spPr>
          <a:xfrm>
            <a:off x="868680" y="5440680"/>
            <a:ext cx="10451592" cy="502920"/>
          </a:xfrm>
          <a:prstGeom prst="rect">
            <a:avLst/>
          </a:prstGeom>
          <a:noFill/>
          <a:ln/>
        </p:spPr>
        <p:txBody>
          <a:bodyPr wrap="square"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המטרה: לזהות הזיה בזמן אמת, ולתרגל את האימות. (לומדים לבד? הריצו את הפרומפט ובדקו כל שם פונקציה מול התיעוד.)</a:t>
            </a:r>
            <a:endParaRPr lang="en-US" sz="1500" dirty="0"/>
          </a:p>
        </p:txBody>
      </p:sp>
      <p:sp>
        <p:nvSpPr>
          <p:cNvPr id="22" name="Text 2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19 / 29</a:t>
            </a:r>
            <a:endParaRPr lang="en-US" sz="950" dirty="0"/>
          </a:p>
        </p:txBody>
      </p:sp>
      <p:sp>
        <p:nvSpPr>
          <p:cNvPr id="23" name="Text 2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איך תופסים הזיה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סימני אזהרה שכדאי לזהות</a:t>
            </a:r>
            <a:endParaRPr lang="en-US" sz="3300" dirty="0"/>
          </a:p>
        </p:txBody>
      </p:sp>
      <p:sp>
        <p:nvSpPr>
          <p:cNvPr id="4" name="Shape 2"/>
          <p:cNvSpPr/>
          <p:nvPr/>
        </p:nvSpPr>
        <p:spPr>
          <a:xfrm>
            <a:off x="11237976" y="1801368"/>
            <a:ext cx="402336" cy="402336"/>
          </a:xfrm>
          <a:prstGeom prst="ellipse">
            <a:avLst/>
          </a:prstGeom>
          <a:solidFill>
            <a:srgbClr val="0E9AA7"/>
          </a:solidFill>
          <a:ln/>
        </p:spPr>
      </p:sp>
      <p:sp>
        <p:nvSpPr>
          <p:cNvPr id="5" name="Text 3"/>
          <p:cNvSpPr/>
          <p:nvPr/>
        </p:nvSpPr>
        <p:spPr>
          <a:xfrm>
            <a:off x="11237976" y="180136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6" name="Text 4"/>
          <p:cNvSpPr/>
          <p:nvPr/>
        </p:nvSpPr>
        <p:spPr>
          <a:xfrm>
            <a:off x="548640" y="176479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שם פונקציה/פרמטר שלא מוכר</a:t>
            </a:r>
            <a:endParaRPr lang="en-US" sz="1650" dirty="0"/>
          </a:p>
        </p:txBody>
      </p:sp>
      <p:sp>
        <p:nvSpPr>
          <p:cNvPr id="7" name="Text 5"/>
          <p:cNvSpPr/>
          <p:nvPr/>
        </p:nvSpPr>
        <p:spPr>
          <a:xfrm>
            <a:off x="548640" y="211226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אם לא ראיתם אותו בתיעוד — חשד ראשון.</a:t>
            </a:r>
            <a:endParaRPr lang="en-US" sz="1300" dirty="0"/>
          </a:p>
        </p:txBody>
      </p:sp>
      <p:sp>
        <p:nvSpPr>
          <p:cNvPr id="8" name="Shape 6"/>
          <p:cNvSpPr/>
          <p:nvPr/>
        </p:nvSpPr>
        <p:spPr>
          <a:xfrm>
            <a:off x="11237976" y="2852928"/>
            <a:ext cx="402336" cy="402336"/>
          </a:xfrm>
          <a:prstGeom prst="ellipse">
            <a:avLst/>
          </a:prstGeom>
          <a:solidFill>
            <a:srgbClr val="0E9AA7"/>
          </a:solidFill>
          <a:ln/>
        </p:spPr>
      </p:sp>
      <p:sp>
        <p:nvSpPr>
          <p:cNvPr id="9" name="Text 7"/>
          <p:cNvSpPr/>
          <p:nvPr/>
        </p:nvSpPr>
        <p:spPr>
          <a:xfrm>
            <a:off x="11237976" y="28529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548640" y="28163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הקוד לא רץ / שגיאת Attribute/Import</a:t>
            </a:r>
            <a:endParaRPr lang="en-US" sz="1650" dirty="0"/>
          </a:p>
        </p:txBody>
      </p:sp>
      <p:sp>
        <p:nvSpPr>
          <p:cNvPr id="11" name="Text 9"/>
          <p:cNvSpPr/>
          <p:nvPr/>
        </p:nvSpPr>
        <p:spPr>
          <a:xfrm>
            <a:off x="548640" y="316382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הרצה חושפת מיד פונקציות שלא קיימות.</a:t>
            </a:r>
            <a:endParaRPr lang="en-US" sz="1300" dirty="0"/>
          </a:p>
        </p:txBody>
      </p:sp>
      <p:sp>
        <p:nvSpPr>
          <p:cNvPr id="12" name="Shape 10"/>
          <p:cNvSpPr/>
          <p:nvPr/>
        </p:nvSpPr>
        <p:spPr>
          <a:xfrm>
            <a:off x="11237976" y="3904488"/>
            <a:ext cx="402336" cy="402336"/>
          </a:xfrm>
          <a:prstGeom prst="ellipse">
            <a:avLst/>
          </a:prstGeom>
          <a:solidFill>
            <a:srgbClr val="0E9AA7"/>
          </a:solidFill>
          <a:ln/>
        </p:spPr>
      </p:sp>
      <p:sp>
        <p:nvSpPr>
          <p:cNvPr id="13" name="Text 11"/>
          <p:cNvSpPr/>
          <p:nvPr/>
        </p:nvSpPr>
        <p:spPr>
          <a:xfrm>
            <a:off x="11237976" y="3904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548640" y="386791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ביטחון מוגזם בפרט ספציפי</a:t>
            </a:r>
            <a:endParaRPr lang="en-US" sz="1650" dirty="0"/>
          </a:p>
        </p:txBody>
      </p:sp>
      <p:sp>
        <p:nvSpPr>
          <p:cNvPr id="15" name="Text 13"/>
          <p:cNvSpPr/>
          <p:nvPr/>
        </p:nvSpPr>
        <p:spPr>
          <a:xfrm>
            <a:off x="548640" y="421538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מספר גרסה, פרמטר נדיר, קישור “מדויק” — בדקו.</a:t>
            </a:r>
            <a:endParaRPr lang="en-US" sz="1300" dirty="0"/>
          </a:p>
        </p:txBody>
      </p:sp>
      <p:sp>
        <p:nvSpPr>
          <p:cNvPr id="16" name="Shape 14"/>
          <p:cNvSpPr/>
          <p:nvPr/>
        </p:nvSpPr>
        <p:spPr>
          <a:xfrm>
            <a:off x="11237976" y="4956048"/>
            <a:ext cx="402336" cy="402336"/>
          </a:xfrm>
          <a:prstGeom prst="ellipse">
            <a:avLst/>
          </a:prstGeom>
          <a:solidFill>
            <a:srgbClr val="0E9AA7"/>
          </a:solidFill>
          <a:ln/>
        </p:spPr>
      </p:sp>
      <p:sp>
        <p:nvSpPr>
          <p:cNvPr id="17" name="Text 15"/>
          <p:cNvSpPr/>
          <p:nvPr/>
        </p:nvSpPr>
        <p:spPr>
          <a:xfrm>
            <a:off x="11237976" y="49560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548640" y="491947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הכלל: אמת מול תיעוד או הרצה</a:t>
            </a:r>
            <a:endParaRPr lang="en-US" sz="1650" dirty="0"/>
          </a:p>
        </p:txBody>
      </p:sp>
      <p:sp>
        <p:nvSpPr>
          <p:cNvPr id="19" name="Text 17"/>
          <p:cNvSpPr/>
          <p:nvPr/>
        </p:nvSpPr>
        <p:spPr>
          <a:xfrm>
            <a:off x="548640" y="526694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לא ראיתם / לא הרצתם = לא לסמוך.</a:t>
            </a:r>
            <a:endParaRPr lang="en-US" sz="130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20 / 29</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גבול נושא</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מה במפגש הזה — ומה לא</a:t>
            </a:r>
            <a:endParaRPr lang="en-US" sz="3300" dirty="0"/>
          </a:p>
        </p:txBody>
      </p:sp>
      <p:sp>
        <p:nvSpPr>
          <p:cNvPr id="4" name="Shape 2"/>
          <p:cNvSpPr/>
          <p:nvPr/>
        </p:nvSpPr>
        <p:spPr>
          <a:xfrm>
            <a:off x="8186928" y="1965960"/>
            <a:ext cx="3453384" cy="1828800"/>
          </a:xfrm>
          <a:prstGeom prst="roundRect">
            <a:avLst>
              <a:gd name="adj" fmla="val 4500"/>
            </a:avLst>
          </a:prstGeom>
          <a:solidFill>
            <a:srgbClr val="E7F5F6"/>
          </a:solidFill>
          <a:ln/>
          <a:effectLst>
            <a:outerShdw sx="100000" sy="100000" kx="0" ky="0" algn="bl" rotWithShape="0" blurRad="76200" dist="25400" dir="5400000">
              <a:srgbClr val="999999">
                <a:alpha val="28000"/>
              </a:srgbClr>
            </a:outerShdw>
          </a:effectLst>
        </p:spPr>
      </p:sp>
      <p:sp>
        <p:nvSpPr>
          <p:cNvPr id="5" name="Text 3"/>
          <p:cNvSpPr/>
          <p:nvPr/>
        </p:nvSpPr>
        <p:spPr>
          <a:xfrm>
            <a:off x="8369808" y="2240280"/>
            <a:ext cx="3087624" cy="457200"/>
          </a:xfrm>
          <a:prstGeom prst="rect">
            <a:avLst/>
          </a:prstGeom>
          <a:noFill/>
          <a:ln/>
        </p:spPr>
        <p:txBody>
          <a:bodyPr wrap="square" rtlCol="0" anchor="t"/>
          <a:lstStyle/>
          <a:p>
            <a:pPr rtl="1" algn="ctr" indent="0" marL="0">
              <a:buNone/>
            </a:pPr>
            <a:r>
              <a:rPr lang="en-US" sz="1600" b="1" dirty="0">
                <a:solidFill>
                  <a:srgbClr val="0E9AA7"/>
                </a:solidFill>
                <a:latin typeface="Arial" pitchFamily="34" charset="0"/>
                <a:ea typeface="Arial" pitchFamily="34" charset="-122"/>
                <a:cs typeface="Arial" pitchFamily="34" charset="-120"/>
              </a:rPr>
              <a:t>מפגש 2 · היום</a:t>
            </a:r>
            <a:endParaRPr lang="en-US" sz="1600" dirty="0"/>
          </a:p>
        </p:txBody>
      </p:sp>
      <p:sp>
        <p:nvSpPr>
          <p:cNvPr id="6" name="Text 4"/>
          <p:cNvSpPr/>
          <p:nvPr/>
        </p:nvSpPr>
        <p:spPr>
          <a:xfrm>
            <a:off x="8369808" y="2880360"/>
            <a:ext cx="3087624" cy="731520"/>
          </a:xfrm>
          <a:prstGeom prst="rect">
            <a:avLst/>
          </a:prstGeom>
          <a:noFill/>
          <a:ln/>
        </p:spPr>
        <p:txBody>
          <a:bodyPr wrap="square" rtlCol="0" anchor="t"/>
          <a:lstStyle/>
          <a:p>
            <a:pPr rtl="1" algn="ctr" indent="0" marL="0">
              <a:buNone/>
            </a:pPr>
            <a:r>
              <a:rPr lang="en-US" sz="1300" dirty="0">
                <a:solidFill>
                  <a:srgbClr val="222232"/>
                </a:solidFill>
                <a:latin typeface="Arial" pitchFamily="34" charset="0"/>
                <a:ea typeface="Arial" pitchFamily="34" charset="-122"/>
                <a:cs typeface="Arial" pitchFamily="34" charset="-120"/>
              </a:rPr>
              <a:t>“למה” — המנגנון של הטעות</a:t>
            </a:r>
            <a:endParaRPr lang="en-US" sz="1300" dirty="0"/>
          </a:p>
        </p:txBody>
      </p:sp>
      <p:sp>
        <p:nvSpPr>
          <p:cNvPr id="7" name="Shape 5"/>
          <p:cNvSpPr/>
          <p:nvPr/>
        </p:nvSpPr>
        <p:spPr>
          <a:xfrm>
            <a:off x="4367784" y="1965960"/>
            <a:ext cx="3453384" cy="1828800"/>
          </a:xfrm>
          <a:prstGeom prst="roundRect">
            <a:avLst>
              <a:gd name="adj" fmla="val 4500"/>
            </a:avLst>
          </a:prstGeom>
          <a:solidFill>
            <a:srgbClr val="F2F3FA"/>
          </a:solidFill>
          <a:ln/>
          <a:effectLst>
            <a:outerShdw sx="100000" sy="100000" kx="0" ky="0" algn="bl" rotWithShape="0" blurRad="76200" dist="25400" dir="5400000">
              <a:srgbClr val="999999">
                <a:alpha val="28000"/>
              </a:srgbClr>
            </a:outerShdw>
          </a:effectLst>
        </p:spPr>
      </p:sp>
      <p:sp>
        <p:nvSpPr>
          <p:cNvPr id="8" name="Text 6"/>
          <p:cNvSpPr/>
          <p:nvPr/>
        </p:nvSpPr>
        <p:spPr>
          <a:xfrm>
            <a:off x="4550664" y="2240280"/>
            <a:ext cx="3087624" cy="457200"/>
          </a:xfrm>
          <a:prstGeom prst="rect">
            <a:avLst/>
          </a:prstGeom>
          <a:noFill/>
          <a:ln/>
        </p:spPr>
        <p:txBody>
          <a:bodyPr wrap="square" rtlCol="0" anchor="t"/>
          <a:lstStyle/>
          <a:p>
            <a:pPr rtl="1" algn="ctr" indent="0" marL="0">
              <a:buNone/>
            </a:pPr>
            <a:r>
              <a:rPr lang="en-US" sz="1600" b="1" dirty="0">
                <a:solidFill>
                  <a:srgbClr val="6B6B80"/>
                </a:solidFill>
                <a:latin typeface="Arial" pitchFamily="34" charset="0"/>
                <a:ea typeface="Arial" pitchFamily="34" charset="-122"/>
                <a:cs typeface="Arial" pitchFamily="34" charset="-120"/>
              </a:rPr>
              <a:t>מפגש 8</a:t>
            </a:r>
            <a:endParaRPr lang="en-US" sz="1600" dirty="0"/>
          </a:p>
        </p:txBody>
      </p:sp>
      <p:sp>
        <p:nvSpPr>
          <p:cNvPr id="9" name="Text 7"/>
          <p:cNvSpPr/>
          <p:nvPr/>
        </p:nvSpPr>
        <p:spPr>
          <a:xfrm>
            <a:off x="4550664" y="2880360"/>
            <a:ext cx="3087624" cy="731520"/>
          </a:xfrm>
          <a:prstGeom prst="rect">
            <a:avLst/>
          </a:prstGeom>
          <a:noFill/>
          <a:ln/>
        </p:spPr>
        <p:txBody>
          <a:bodyPr wrap="square" rtlCol="0" anchor="t"/>
          <a:lstStyle/>
          <a:p>
            <a:pPr rtl="1" algn="ctr" indent="0" marL="0">
              <a:buNone/>
            </a:pPr>
            <a:r>
              <a:rPr lang="en-US" sz="1300" dirty="0">
                <a:solidFill>
                  <a:srgbClr val="222232"/>
                </a:solidFill>
                <a:latin typeface="Arial" pitchFamily="34" charset="0"/>
                <a:ea typeface="Arial" pitchFamily="34" charset="-122"/>
                <a:cs typeface="Arial" pitchFamily="34" charset="-120"/>
              </a:rPr>
              <a:t>“מניעה” — טסטים לפני שהבאג קורה</a:t>
            </a:r>
            <a:endParaRPr lang="en-US" sz="1300" dirty="0"/>
          </a:p>
        </p:txBody>
      </p:sp>
      <p:sp>
        <p:nvSpPr>
          <p:cNvPr id="10" name="Shape 8"/>
          <p:cNvSpPr/>
          <p:nvPr/>
        </p:nvSpPr>
        <p:spPr>
          <a:xfrm>
            <a:off x="548640" y="1965960"/>
            <a:ext cx="3453384" cy="1828800"/>
          </a:xfrm>
          <a:prstGeom prst="roundRect">
            <a:avLst>
              <a:gd name="adj" fmla="val 4500"/>
            </a:avLst>
          </a:prstGeom>
          <a:solidFill>
            <a:srgbClr val="F2F3FA"/>
          </a:solidFill>
          <a:ln/>
          <a:effectLst>
            <a:outerShdw sx="100000" sy="100000" kx="0" ky="0" algn="bl" rotWithShape="0" blurRad="76200" dist="25400" dir="5400000">
              <a:srgbClr val="999999">
                <a:alpha val="28000"/>
              </a:srgbClr>
            </a:outerShdw>
          </a:effectLst>
        </p:spPr>
      </p:sp>
      <p:sp>
        <p:nvSpPr>
          <p:cNvPr id="11" name="Text 9"/>
          <p:cNvSpPr/>
          <p:nvPr/>
        </p:nvSpPr>
        <p:spPr>
          <a:xfrm>
            <a:off x="731520" y="2240280"/>
            <a:ext cx="3087624" cy="457200"/>
          </a:xfrm>
          <a:prstGeom prst="rect">
            <a:avLst/>
          </a:prstGeom>
          <a:noFill/>
          <a:ln/>
        </p:spPr>
        <p:txBody>
          <a:bodyPr wrap="square" rtlCol="0" anchor="t"/>
          <a:lstStyle/>
          <a:p>
            <a:pPr rtl="1" algn="ctr" indent="0" marL="0">
              <a:buNone/>
            </a:pPr>
            <a:r>
              <a:rPr lang="en-US" sz="1600" b="1" dirty="0">
                <a:solidFill>
                  <a:srgbClr val="6B6B80"/>
                </a:solidFill>
                <a:latin typeface="Arial" pitchFamily="34" charset="0"/>
                <a:ea typeface="Arial" pitchFamily="34" charset="-122"/>
                <a:cs typeface="Arial" pitchFamily="34" charset="-120"/>
              </a:rPr>
              <a:t>מפגש 9</a:t>
            </a:r>
            <a:endParaRPr lang="en-US" sz="1600" dirty="0"/>
          </a:p>
        </p:txBody>
      </p:sp>
      <p:sp>
        <p:nvSpPr>
          <p:cNvPr id="12" name="Text 10"/>
          <p:cNvSpPr/>
          <p:nvPr/>
        </p:nvSpPr>
        <p:spPr>
          <a:xfrm>
            <a:off x="731520" y="2880360"/>
            <a:ext cx="3087624" cy="731520"/>
          </a:xfrm>
          <a:prstGeom prst="rect">
            <a:avLst/>
          </a:prstGeom>
          <a:noFill/>
          <a:ln/>
        </p:spPr>
        <p:txBody>
          <a:bodyPr wrap="square" rtlCol="0" anchor="t"/>
          <a:lstStyle/>
          <a:p>
            <a:pPr rtl="1" algn="ctr" indent="0" marL="0">
              <a:buNone/>
            </a:pPr>
            <a:r>
              <a:rPr lang="en-US" sz="1300" dirty="0">
                <a:solidFill>
                  <a:srgbClr val="222232"/>
                </a:solidFill>
                <a:latin typeface="Arial" pitchFamily="34" charset="0"/>
                <a:ea typeface="Arial" pitchFamily="34" charset="-122"/>
                <a:cs typeface="Arial" pitchFamily="34" charset="-120"/>
              </a:rPr>
              <a:t>“טיפול” — דיבוג אחרי שהתגלה</a:t>
            </a:r>
            <a:endParaRPr lang="en-US" sz="1300" dirty="0"/>
          </a:p>
        </p:txBody>
      </p:sp>
      <p:sp>
        <p:nvSpPr>
          <p:cNvPr id="13" name="Shape 11"/>
          <p:cNvSpPr/>
          <p:nvPr/>
        </p:nvSpPr>
        <p:spPr>
          <a:xfrm>
            <a:off x="548640" y="4206240"/>
            <a:ext cx="11091672" cy="914400"/>
          </a:xfrm>
          <a:prstGeom prst="roundRect">
            <a:avLst>
              <a:gd name="adj" fmla="val 10000"/>
            </a:avLst>
          </a:prstGeom>
          <a:solidFill>
            <a:srgbClr val="1E2761"/>
          </a:solidFill>
          <a:ln/>
          <a:effectLst>
            <a:outerShdw sx="100000" sy="100000" kx="0" ky="0" algn="bl" rotWithShape="0" blurRad="76200" dist="25400" dir="5400000">
              <a:srgbClr val="999999">
                <a:alpha val="28000"/>
              </a:srgbClr>
            </a:outerShdw>
          </a:effectLst>
        </p:spPr>
      </p:sp>
      <p:sp>
        <p:nvSpPr>
          <p:cNvPr id="14" name="Text 12"/>
          <p:cNvSpPr/>
          <p:nvPr/>
        </p:nvSpPr>
        <p:spPr>
          <a:xfrm>
            <a:off x="868680" y="4389120"/>
            <a:ext cx="10451592" cy="548640"/>
          </a:xfrm>
          <a:prstGeom prst="rect">
            <a:avLst/>
          </a:prstGeom>
          <a:noFill/>
          <a:ln/>
        </p:spPr>
        <p:txBody>
          <a:bodyPr wrap="square"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היום הבנו את *הסיבה* להזיות. איך למנוע ואיך לטפל — בהמשך הקורס. הבנת המנגנון היא הבסיס לשניהם.</a:t>
            </a:r>
            <a:endParaRPr lang="en-US" sz="1600" dirty="0"/>
          </a:p>
        </p:txBody>
      </p:sp>
      <p:sp>
        <p:nvSpPr>
          <p:cNvPr id="15" name="Text 1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21 / 29</a:t>
            </a:r>
            <a:endParaRPr lang="en-US" sz="950" dirty="0"/>
          </a:p>
        </p:txBody>
      </p:sp>
      <p:sp>
        <p:nvSpPr>
          <p:cNvPr id="16" name="Text 1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בדיקת הבנה (≈ 6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שלוש שאלות — נצביע ונדון</a:t>
            </a:r>
            <a:endParaRPr lang="en-US" sz="3300" dirty="0"/>
          </a:p>
        </p:txBody>
      </p:sp>
      <p:sp>
        <p:nvSpPr>
          <p:cNvPr id="4" name="Shape 2"/>
          <p:cNvSpPr/>
          <p:nvPr/>
        </p:nvSpPr>
        <p:spPr>
          <a:xfrm>
            <a:off x="548640" y="1691640"/>
            <a:ext cx="11091672" cy="1097280"/>
          </a:xfrm>
          <a:prstGeom prst="roundRect">
            <a:avLst>
              <a:gd name="adj" fmla="val 7500"/>
            </a:avLst>
          </a:prstGeom>
          <a:solidFill>
            <a:srgbClr val="F2F3FA"/>
          </a:solidFill>
          <a:ln/>
          <a:effectLst>
            <a:outerShdw sx="100000" sy="100000" kx="0" ky="0" algn="bl" rotWithShape="0" blurRad="76200" dist="25400" dir="5400000">
              <a:srgbClr val="999999">
                <a:alpha val="28000"/>
              </a:srgbClr>
            </a:outerShdw>
          </a:effectLst>
        </p:spPr>
      </p:sp>
      <p:sp>
        <p:nvSpPr>
          <p:cNvPr id="5" name="Shape 3"/>
          <p:cNvSpPr/>
          <p:nvPr/>
        </p:nvSpPr>
        <p:spPr>
          <a:xfrm>
            <a:off x="11091672" y="1856232"/>
            <a:ext cx="457200" cy="457200"/>
          </a:xfrm>
          <a:prstGeom prst="ellipse">
            <a:avLst/>
          </a:prstGeom>
          <a:solidFill>
            <a:srgbClr val="3B3B98"/>
          </a:solidFill>
          <a:ln/>
        </p:spPr>
      </p:sp>
      <p:sp>
        <p:nvSpPr>
          <p:cNvPr id="6" name="Text 4"/>
          <p:cNvSpPr/>
          <p:nvPr/>
        </p:nvSpPr>
        <p:spPr>
          <a:xfrm>
            <a:off x="11091672" y="1856232"/>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822960" y="1874520"/>
            <a:ext cx="10085832" cy="41148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מהו “טוקן”?</a:t>
            </a:r>
            <a:endParaRPr lang="en-US" sz="1600" dirty="0"/>
          </a:p>
        </p:txBody>
      </p:sp>
      <p:sp>
        <p:nvSpPr>
          <p:cNvPr id="8" name="Text 6"/>
          <p:cNvSpPr/>
          <p:nvPr/>
        </p:nvSpPr>
        <p:spPr>
          <a:xfrm>
            <a:off x="822960" y="2313432"/>
            <a:ext cx="10543032" cy="411480"/>
          </a:xfrm>
          <a:prstGeom prst="rect">
            <a:avLst/>
          </a:prstGeom>
          <a:noFill/>
          <a:ln/>
        </p:spPr>
        <p:txBody>
          <a:bodyPr wrap="square" rtlCol="0" anchor="t"/>
          <a:lstStyle/>
          <a:p>
            <a:pPr rtl="1" algn="r" indent="0" marL="0">
              <a:buNone/>
            </a:pPr>
            <a:r>
              <a:rPr lang="en-US" sz="1300" dirty="0">
                <a:solidFill>
                  <a:srgbClr val="222232"/>
                </a:solidFill>
                <a:latin typeface="Arial" pitchFamily="34" charset="0"/>
                <a:ea typeface="Arial" pitchFamily="34" charset="-122"/>
                <a:cs typeface="Arial" pitchFamily="34" charset="-120"/>
              </a:rPr>
              <a:t>א) שורת קוד שלמה     ב) חתיכת טקסט (מילה/חלק/סימן)     ג) קובץ</a:t>
            </a:r>
            <a:endParaRPr lang="en-US" sz="1300" dirty="0"/>
          </a:p>
        </p:txBody>
      </p:sp>
      <p:sp>
        <p:nvSpPr>
          <p:cNvPr id="9" name="Shape 7"/>
          <p:cNvSpPr/>
          <p:nvPr/>
        </p:nvSpPr>
        <p:spPr>
          <a:xfrm>
            <a:off x="548640" y="2990088"/>
            <a:ext cx="11091672" cy="1097280"/>
          </a:xfrm>
          <a:prstGeom prst="roundRect">
            <a:avLst>
              <a:gd name="adj" fmla="val 7500"/>
            </a:avLst>
          </a:prstGeom>
          <a:solidFill>
            <a:srgbClr val="F2F3FA"/>
          </a:solidFill>
          <a:ln/>
          <a:effectLst>
            <a:outerShdw sx="100000" sy="100000" kx="0" ky="0" algn="bl" rotWithShape="0" blurRad="76200" dist="25400" dir="5400000">
              <a:srgbClr val="999999">
                <a:alpha val="28000"/>
              </a:srgbClr>
            </a:outerShdw>
          </a:effectLst>
        </p:spPr>
      </p:sp>
      <p:sp>
        <p:nvSpPr>
          <p:cNvPr id="10" name="Shape 8"/>
          <p:cNvSpPr/>
          <p:nvPr/>
        </p:nvSpPr>
        <p:spPr>
          <a:xfrm>
            <a:off x="11091672" y="3154680"/>
            <a:ext cx="457200" cy="457200"/>
          </a:xfrm>
          <a:prstGeom prst="ellipse">
            <a:avLst/>
          </a:prstGeom>
          <a:solidFill>
            <a:srgbClr val="3B3B98"/>
          </a:solidFill>
          <a:ln/>
        </p:spPr>
      </p:sp>
      <p:sp>
        <p:nvSpPr>
          <p:cNvPr id="11" name="Text 9"/>
          <p:cNvSpPr/>
          <p:nvPr/>
        </p:nvSpPr>
        <p:spPr>
          <a:xfrm>
            <a:off x="11091672" y="315468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822960" y="3172968"/>
            <a:ext cx="10085832" cy="41148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מה נותנים embeddings למודל?</a:t>
            </a:r>
            <a:endParaRPr lang="en-US" sz="1600" dirty="0"/>
          </a:p>
        </p:txBody>
      </p:sp>
      <p:sp>
        <p:nvSpPr>
          <p:cNvPr id="13" name="Text 11"/>
          <p:cNvSpPr/>
          <p:nvPr/>
        </p:nvSpPr>
        <p:spPr>
          <a:xfrm>
            <a:off x="822960" y="3611880"/>
            <a:ext cx="10543032" cy="411480"/>
          </a:xfrm>
          <a:prstGeom prst="rect">
            <a:avLst/>
          </a:prstGeom>
          <a:noFill/>
          <a:ln/>
        </p:spPr>
        <p:txBody>
          <a:bodyPr wrap="square" rtlCol="0" anchor="t"/>
          <a:lstStyle/>
          <a:p>
            <a:pPr rtl="1" algn="r" indent="0" marL="0">
              <a:buNone/>
            </a:pPr>
            <a:r>
              <a:rPr lang="en-US" sz="1300" dirty="0">
                <a:solidFill>
                  <a:srgbClr val="222232"/>
                </a:solidFill>
                <a:latin typeface="Arial" pitchFamily="34" charset="0"/>
                <a:ea typeface="Arial" pitchFamily="34" charset="-122"/>
                <a:cs typeface="Arial" pitchFamily="34" charset="-120"/>
              </a:rPr>
              <a:t>א) מהירות     ב) ייצוג משמעות כקרבה במרחב     ג) אבטחה</a:t>
            </a:r>
            <a:endParaRPr lang="en-US" sz="1300" dirty="0"/>
          </a:p>
        </p:txBody>
      </p:sp>
      <p:sp>
        <p:nvSpPr>
          <p:cNvPr id="14" name="Shape 12"/>
          <p:cNvSpPr/>
          <p:nvPr/>
        </p:nvSpPr>
        <p:spPr>
          <a:xfrm>
            <a:off x="548640" y="4288536"/>
            <a:ext cx="11091672" cy="1097280"/>
          </a:xfrm>
          <a:prstGeom prst="roundRect">
            <a:avLst>
              <a:gd name="adj" fmla="val 7500"/>
            </a:avLst>
          </a:prstGeom>
          <a:solidFill>
            <a:srgbClr val="F2F3FA"/>
          </a:solidFill>
          <a:ln/>
          <a:effectLst>
            <a:outerShdw sx="100000" sy="100000" kx="0" ky="0" algn="bl" rotWithShape="0" blurRad="76200" dist="25400" dir="5400000">
              <a:srgbClr val="999999">
                <a:alpha val="28000"/>
              </a:srgbClr>
            </a:outerShdw>
          </a:effectLst>
        </p:spPr>
      </p:sp>
      <p:sp>
        <p:nvSpPr>
          <p:cNvPr id="15" name="Shape 13"/>
          <p:cNvSpPr/>
          <p:nvPr/>
        </p:nvSpPr>
        <p:spPr>
          <a:xfrm>
            <a:off x="11091672" y="4453128"/>
            <a:ext cx="457200" cy="457200"/>
          </a:xfrm>
          <a:prstGeom prst="ellipse">
            <a:avLst/>
          </a:prstGeom>
          <a:solidFill>
            <a:srgbClr val="3B3B98"/>
          </a:solidFill>
          <a:ln/>
        </p:spPr>
      </p:sp>
      <p:sp>
        <p:nvSpPr>
          <p:cNvPr id="16" name="Text 14"/>
          <p:cNvSpPr/>
          <p:nvPr/>
        </p:nvSpPr>
        <p:spPr>
          <a:xfrm>
            <a:off x="11091672" y="4453128"/>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822960" y="4471416"/>
            <a:ext cx="10085832" cy="41148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למה קורות הזיות, מנגנונית?</a:t>
            </a:r>
            <a:endParaRPr lang="en-US" sz="1600" dirty="0"/>
          </a:p>
        </p:txBody>
      </p:sp>
      <p:sp>
        <p:nvSpPr>
          <p:cNvPr id="18" name="Text 16"/>
          <p:cNvSpPr/>
          <p:nvPr/>
        </p:nvSpPr>
        <p:spPr>
          <a:xfrm>
            <a:off x="822960" y="4910328"/>
            <a:ext cx="10543032" cy="411480"/>
          </a:xfrm>
          <a:prstGeom prst="rect">
            <a:avLst/>
          </a:prstGeom>
          <a:noFill/>
          <a:ln/>
        </p:spPr>
        <p:txBody>
          <a:bodyPr wrap="square" rtlCol="0" anchor="t"/>
          <a:lstStyle/>
          <a:p>
            <a:pPr rtl="1" algn="r" indent="0" marL="0">
              <a:buNone/>
            </a:pPr>
            <a:r>
              <a:rPr lang="en-US" sz="1300" dirty="0">
                <a:solidFill>
                  <a:srgbClr val="222232"/>
                </a:solidFill>
                <a:latin typeface="Arial" pitchFamily="34" charset="0"/>
                <a:ea typeface="Arial" pitchFamily="34" charset="-122"/>
                <a:cs typeface="Arial" pitchFamily="34" charset="-120"/>
              </a:rPr>
              <a:t>א) המודל עייף     ב) הוא מנבא טוקן סביר גם בלי מידע אמיתי     ג) באג בתוכנה</a:t>
            </a:r>
            <a:endParaRPr lang="en-US" sz="1300" dirty="0"/>
          </a:p>
        </p:txBody>
      </p:sp>
      <p:sp>
        <p:nvSpPr>
          <p:cNvPr id="19" name="Text 17"/>
          <p:cNvSpPr/>
          <p:nvPr/>
        </p:nvSpPr>
        <p:spPr>
          <a:xfrm>
            <a:off x="548640" y="5669280"/>
            <a:ext cx="11091672" cy="320040"/>
          </a:xfrm>
          <a:prstGeom prst="rect">
            <a:avLst/>
          </a:prstGeom>
          <a:noFill/>
          <a:ln/>
        </p:spPr>
        <p:txBody>
          <a:bodyPr wrap="square" rtlCol="0" anchor="t"/>
          <a:lstStyle/>
          <a:p>
            <a:pPr rtl="1" algn="r" indent="0" marL="0">
              <a:buNone/>
            </a:pPr>
            <a:r>
              <a:rPr lang="en-US" sz="1250" i="1" dirty="0">
                <a:solidFill>
                  <a:srgbClr val="6B6B80"/>
                </a:solidFill>
                <a:latin typeface="Arial" pitchFamily="34" charset="0"/>
                <a:ea typeface="Arial" pitchFamily="34" charset="-122"/>
                <a:cs typeface="Arial" pitchFamily="34" charset="-120"/>
              </a:rPr>
              <a:t>התשובות הנכונות בהערות המרצה — לומדים לבד: ענו לפני שאתם בודקים.</a:t>
            </a:r>
            <a:endParaRPr lang="en-US" sz="125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22 / 29</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סיכום</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FFFFFF"/>
                </a:solidFill>
                <a:latin typeface="Arial" pitchFamily="34" charset="0"/>
                <a:ea typeface="Arial" pitchFamily="34" charset="-122"/>
                <a:cs typeface="Arial" pitchFamily="34" charset="-120"/>
              </a:rPr>
              <a:t>מה כיסינו במפגש</a:t>
            </a:r>
            <a:endParaRPr lang="en-US" sz="3300" dirty="0"/>
          </a:p>
        </p:txBody>
      </p:sp>
      <p:sp>
        <p:nvSpPr>
          <p:cNvPr id="4" name="Shape 2"/>
          <p:cNvSpPr/>
          <p:nvPr/>
        </p:nvSpPr>
        <p:spPr>
          <a:xfrm>
            <a:off x="11256264" y="1371600"/>
            <a:ext cx="384048" cy="384048"/>
          </a:xfrm>
          <a:prstGeom prst="ellipse">
            <a:avLst/>
          </a:prstGeom>
          <a:solidFill>
            <a:srgbClr val="0E9AA7"/>
          </a:solidFill>
          <a:ln/>
        </p:spPr>
      </p:sp>
      <p:sp>
        <p:nvSpPr>
          <p:cNvPr id="5" name="Text 3"/>
          <p:cNvSpPr/>
          <p:nvPr/>
        </p:nvSpPr>
        <p:spPr>
          <a:xfrm>
            <a:off x="11256264" y="1371600"/>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548640" y="1353312"/>
            <a:ext cx="10451592" cy="548640"/>
          </a:xfrm>
          <a:prstGeom prst="rect">
            <a:avLst/>
          </a:prstGeom>
          <a:noFill/>
          <a:ln/>
        </p:spPr>
        <p:txBody>
          <a:bodyPr wrap="square" rtlCol="0" anchor="ctr"/>
          <a:lstStyle/>
          <a:p>
            <a:pPr rtl="1" algn="r" indent="0" marL="0">
              <a:buNone/>
            </a:pPr>
            <a:r>
              <a:rPr lang="en-US" sz="1550" dirty="0">
                <a:solidFill>
                  <a:srgbClr val="EDEFFA"/>
                </a:solidFill>
                <a:latin typeface="Arial" pitchFamily="34" charset="0"/>
                <a:ea typeface="Arial" pitchFamily="34" charset="-122"/>
                <a:cs typeface="Arial" pitchFamily="34" charset="-120"/>
              </a:rPr>
              <a:t>טוקניזציה — טקסט וקוד מפורקים לטוקנים ומומרים למספרים</a:t>
            </a:r>
            <a:endParaRPr lang="en-US" sz="1550" dirty="0"/>
          </a:p>
        </p:txBody>
      </p:sp>
      <p:sp>
        <p:nvSpPr>
          <p:cNvPr id="7" name="Shape 5"/>
          <p:cNvSpPr/>
          <p:nvPr/>
        </p:nvSpPr>
        <p:spPr>
          <a:xfrm>
            <a:off x="11256264" y="2029968"/>
            <a:ext cx="384048" cy="384048"/>
          </a:xfrm>
          <a:prstGeom prst="ellipse">
            <a:avLst/>
          </a:prstGeom>
          <a:solidFill>
            <a:srgbClr val="0E9AA7"/>
          </a:solidFill>
          <a:ln/>
        </p:spPr>
      </p:sp>
      <p:sp>
        <p:nvSpPr>
          <p:cNvPr id="8" name="Text 6"/>
          <p:cNvSpPr/>
          <p:nvPr/>
        </p:nvSpPr>
        <p:spPr>
          <a:xfrm>
            <a:off x="11256264" y="2029968"/>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2</a:t>
            </a:r>
            <a:endParaRPr lang="en-US" sz="1500" dirty="0"/>
          </a:p>
        </p:txBody>
      </p:sp>
      <p:sp>
        <p:nvSpPr>
          <p:cNvPr id="9" name="Text 7"/>
          <p:cNvSpPr/>
          <p:nvPr/>
        </p:nvSpPr>
        <p:spPr>
          <a:xfrm>
            <a:off x="548640" y="2011680"/>
            <a:ext cx="10451592" cy="548640"/>
          </a:xfrm>
          <a:prstGeom prst="rect">
            <a:avLst/>
          </a:prstGeom>
          <a:noFill/>
          <a:ln/>
        </p:spPr>
        <p:txBody>
          <a:bodyPr wrap="square" rtlCol="0" anchor="ctr"/>
          <a:lstStyle/>
          <a:p>
            <a:pPr rtl="1" algn="r" indent="0" marL="0">
              <a:buNone/>
            </a:pPr>
            <a:r>
              <a:rPr lang="en-US" sz="1550" dirty="0">
                <a:solidFill>
                  <a:srgbClr val="EDEFFA"/>
                </a:solidFill>
                <a:latin typeface="Arial" pitchFamily="34" charset="0"/>
                <a:ea typeface="Arial" pitchFamily="34" charset="-122"/>
                <a:cs typeface="Arial" pitchFamily="34" charset="-120"/>
              </a:rPr>
              <a:t>Embeddings — משמעות מיוצגת כקרבה במרחב</a:t>
            </a:r>
            <a:endParaRPr lang="en-US" sz="1550" dirty="0"/>
          </a:p>
        </p:txBody>
      </p:sp>
      <p:sp>
        <p:nvSpPr>
          <p:cNvPr id="10" name="Shape 8"/>
          <p:cNvSpPr/>
          <p:nvPr/>
        </p:nvSpPr>
        <p:spPr>
          <a:xfrm>
            <a:off x="11256264" y="2688336"/>
            <a:ext cx="384048" cy="384048"/>
          </a:xfrm>
          <a:prstGeom prst="ellipse">
            <a:avLst/>
          </a:prstGeom>
          <a:solidFill>
            <a:srgbClr val="0E9AA7"/>
          </a:solidFill>
          <a:ln/>
        </p:spPr>
      </p:sp>
      <p:sp>
        <p:nvSpPr>
          <p:cNvPr id="11" name="Text 9"/>
          <p:cNvSpPr/>
          <p:nvPr/>
        </p:nvSpPr>
        <p:spPr>
          <a:xfrm>
            <a:off x="11256264" y="2688336"/>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3</a:t>
            </a:r>
            <a:endParaRPr lang="en-US" sz="1500" dirty="0"/>
          </a:p>
        </p:txBody>
      </p:sp>
      <p:sp>
        <p:nvSpPr>
          <p:cNvPr id="12" name="Text 10"/>
          <p:cNvSpPr/>
          <p:nvPr/>
        </p:nvSpPr>
        <p:spPr>
          <a:xfrm>
            <a:off x="548640" y="2670048"/>
            <a:ext cx="10451592" cy="548640"/>
          </a:xfrm>
          <a:prstGeom prst="rect">
            <a:avLst/>
          </a:prstGeom>
          <a:noFill/>
          <a:ln/>
        </p:spPr>
        <p:txBody>
          <a:bodyPr wrap="square" rtlCol="0" anchor="ctr"/>
          <a:lstStyle/>
          <a:p>
            <a:pPr rtl="1" algn="r" indent="0" marL="0">
              <a:buNone/>
            </a:pPr>
            <a:r>
              <a:rPr lang="en-US" sz="1550" dirty="0">
                <a:solidFill>
                  <a:srgbClr val="EDEFFA"/>
                </a:solidFill>
                <a:latin typeface="Arial" pitchFamily="34" charset="0"/>
                <a:ea typeface="Arial" pitchFamily="34" charset="-122"/>
                <a:cs typeface="Arial" pitchFamily="34" charset="-120"/>
              </a:rPr>
              <a:t>Transformer + Attention — המכונה שמחברת הכול (קשב על ההקשר)</a:t>
            </a:r>
            <a:endParaRPr lang="en-US" sz="1550" dirty="0"/>
          </a:p>
        </p:txBody>
      </p:sp>
      <p:sp>
        <p:nvSpPr>
          <p:cNvPr id="13" name="Shape 11"/>
          <p:cNvSpPr/>
          <p:nvPr/>
        </p:nvSpPr>
        <p:spPr>
          <a:xfrm>
            <a:off x="11256264" y="3346704"/>
            <a:ext cx="384048" cy="384048"/>
          </a:xfrm>
          <a:prstGeom prst="ellipse">
            <a:avLst/>
          </a:prstGeom>
          <a:solidFill>
            <a:srgbClr val="0E9AA7"/>
          </a:solidFill>
          <a:ln/>
        </p:spPr>
      </p:sp>
      <p:sp>
        <p:nvSpPr>
          <p:cNvPr id="14" name="Text 12"/>
          <p:cNvSpPr/>
          <p:nvPr/>
        </p:nvSpPr>
        <p:spPr>
          <a:xfrm>
            <a:off x="11256264" y="3346704"/>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4</a:t>
            </a:r>
            <a:endParaRPr lang="en-US" sz="1500" dirty="0"/>
          </a:p>
        </p:txBody>
      </p:sp>
      <p:sp>
        <p:nvSpPr>
          <p:cNvPr id="15" name="Text 13"/>
          <p:cNvSpPr/>
          <p:nvPr/>
        </p:nvSpPr>
        <p:spPr>
          <a:xfrm>
            <a:off x="548640" y="3328416"/>
            <a:ext cx="10451592" cy="548640"/>
          </a:xfrm>
          <a:prstGeom prst="rect">
            <a:avLst/>
          </a:prstGeom>
          <a:noFill/>
          <a:ln/>
        </p:spPr>
        <p:txBody>
          <a:bodyPr wrap="square" rtlCol="0" anchor="ctr"/>
          <a:lstStyle/>
          <a:p>
            <a:pPr rtl="1" algn="r" indent="0" marL="0">
              <a:buNone/>
            </a:pPr>
            <a:r>
              <a:rPr lang="en-US" sz="1550" dirty="0">
                <a:solidFill>
                  <a:srgbClr val="EDEFFA"/>
                </a:solidFill>
                <a:latin typeface="Arial" pitchFamily="34" charset="0"/>
                <a:ea typeface="Arial" pitchFamily="34" charset="-122"/>
                <a:cs typeface="Arial" pitchFamily="34" charset="-120"/>
              </a:rPr>
              <a:t>ניבוי הטוקן הבא + טמפרטורה (חוגת ה“הימור”)</a:t>
            </a:r>
            <a:endParaRPr lang="en-US" sz="1550" dirty="0"/>
          </a:p>
        </p:txBody>
      </p:sp>
      <p:sp>
        <p:nvSpPr>
          <p:cNvPr id="16" name="Shape 14"/>
          <p:cNvSpPr/>
          <p:nvPr/>
        </p:nvSpPr>
        <p:spPr>
          <a:xfrm>
            <a:off x="11256264" y="4005072"/>
            <a:ext cx="384048" cy="384048"/>
          </a:xfrm>
          <a:prstGeom prst="ellipse">
            <a:avLst/>
          </a:prstGeom>
          <a:solidFill>
            <a:srgbClr val="0E9AA7"/>
          </a:solidFill>
          <a:ln/>
        </p:spPr>
      </p:sp>
      <p:sp>
        <p:nvSpPr>
          <p:cNvPr id="17" name="Text 15"/>
          <p:cNvSpPr/>
          <p:nvPr/>
        </p:nvSpPr>
        <p:spPr>
          <a:xfrm>
            <a:off x="11256264" y="4005072"/>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5</a:t>
            </a:r>
            <a:endParaRPr lang="en-US" sz="1500" dirty="0"/>
          </a:p>
        </p:txBody>
      </p:sp>
      <p:sp>
        <p:nvSpPr>
          <p:cNvPr id="18" name="Text 16"/>
          <p:cNvSpPr/>
          <p:nvPr/>
        </p:nvSpPr>
        <p:spPr>
          <a:xfrm>
            <a:off x="548640" y="3986784"/>
            <a:ext cx="10451592" cy="548640"/>
          </a:xfrm>
          <a:prstGeom prst="rect">
            <a:avLst/>
          </a:prstGeom>
          <a:noFill/>
          <a:ln/>
        </p:spPr>
        <p:txBody>
          <a:bodyPr wrap="square" rtlCol="0" anchor="ctr"/>
          <a:lstStyle/>
          <a:p>
            <a:pPr rtl="1" algn="r" indent="0" marL="0">
              <a:buNone/>
            </a:pPr>
            <a:r>
              <a:rPr lang="en-US" sz="1550" dirty="0">
                <a:solidFill>
                  <a:srgbClr val="EDEFFA"/>
                </a:solidFill>
                <a:latin typeface="Arial" pitchFamily="34" charset="0"/>
                <a:ea typeface="Arial" pitchFamily="34" charset="-122"/>
                <a:cs typeface="Arial" pitchFamily="34" charset="-120"/>
              </a:rPr>
              <a:t>חלון הקשר ומגבלותיו — הזיכרון לטווח קצר של המודל</a:t>
            </a:r>
            <a:endParaRPr lang="en-US" sz="1550" dirty="0"/>
          </a:p>
        </p:txBody>
      </p:sp>
      <p:sp>
        <p:nvSpPr>
          <p:cNvPr id="19" name="Shape 17"/>
          <p:cNvSpPr/>
          <p:nvPr/>
        </p:nvSpPr>
        <p:spPr>
          <a:xfrm>
            <a:off x="11256264" y="4663440"/>
            <a:ext cx="384048" cy="384048"/>
          </a:xfrm>
          <a:prstGeom prst="ellipse">
            <a:avLst/>
          </a:prstGeom>
          <a:solidFill>
            <a:srgbClr val="0E9AA7"/>
          </a:solidFill>
          <a:ln/>
        </p:spPr>
      </p:sp>
      <p:sp>
        <p:nvSpPr>
          <p:cNvPr id="20" name="Text 18"/>
          <p:cNvSpPr/>
          <p:nvPr/>
        </p:nvSpPr>
        <p:spPr>
          <a:xfrm>
            <a:off x="11256264" y="4663440"/>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6</a:t>
            </a:r>
            <a:endParaRPr lang="en-US" sz="1500" dirty="0"/>
          </a:p>
        </p:txBody>
      </p:sp>
      <p:sp>
        <p:nvSpPr>
          <p:cNvPr id="21" name="Text 19"/>
          <p:cNvSpPr/>
          <p:nvPr/>
        </p:nvSpPr>
        <p:spPr>
          <a:xfrm>
            <a:off x="548640" y="4645152"/>
            <a:ext cx="10451592" cy="548640"/>
          </a:xfrm>
          <a:prstGeom prst="rect">
            <a:avLst/>
          </a:prstGeom>
          <a:noFill/>
          <a:ln/>
        </p:spPr>
        <p:txBody>
          <a:bodyPr wrap="square" rtlCol="0" anchor="ctr"/>
          <a:lstStyle/>
          <a:p>
            <a:pPr rtl="1" algn="r" indent="0" marL="0">
              <a:buNone/>
            </a:pPr>
            <a:r>
              <a:rPr lang="en-US" sz="1550" dirty="0">
                <a:solidFill>
                  <a:srgbClr val="EDEFFA"/>
                </a:solidFill>
                <a:latin typeface="Arial" pitchFamily="34" charset="0"/>
                <a:ea typeface="Arial" pitchFamily="34" charset="-122"/>
                <a:cs typeface="Arial" pitchFamily="34" charset="-120"/>
              </a:rPr>
              <a:t>למה הזיות קורות מנגנונית — ומתי הן צפויות יותר</a:t>
            </a:r>
            <a:endParaRPr lang="en-US" sz="1550" dirty="0"/>
          </a:p>
        </p:txBody>
      </p:sp>
      <p:sp>
        <p:nvSpPr>
          <p:cNvPr id="22" name="Text 2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AEB4D6"/>
                </a:solidFill>
                <a:latin typeface="Arial" pitchFamily="34" charset="0"/>
                <a:ea typeface="Arial" pitchFamily="34" charset="-122"/>
                <a:cs typeface="Arial" pitchFamily="34" charset="-120"/>
              </a:rPr>
              <a:t>23 / 29</a:t>
            </a:r>
            <a:endParaRPr lang="en-US" sz="950" dirty="0"/>
          </a:p>
        </p:txBody>
      </p:sp>
      <p:sp>
        <p:nvSpPr>
          <p:cNvPr id="23" name="Text 2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AEB4D6"/>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גשר לתרגול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תוכנית התרגול — 45 דקות</a:t>
            </a:r>
            <a:endParaRPr lang="en-US" sz="3300" dirty="0"/>
          </a:p>
        </p:txBody>
      </p:sp>
      <p:sp>
        <p:nvSpPr>
          <p:cNvPr id="4" name="Shape 2"/>
          <p:cNvSpPr/>
          <p:nvPr/>
        </p:nvSpPr>
        <p:spPr>
          <a:xfrm>
            <a:off x="2011680" y="1691640"/>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2240280" y="1691640"/>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הקמה · בחירת 2 כלים + כניסה</a:t>
            </a:r>
            <a:endParaRPr lang="en-US" sz="1600" dirty="0"/>
          </a:p>
        </p:txBody>
      </p:sp>
      <p:sp>
        <p:nvSpPr>
          <p:cNvPr id="6" name="Shape 4"/>
          <p:cNvSpPr/>
          <p:nvPr/>
        </p:nvSpPr>
        <p:spPr>
          <a:xfrm>
            <a:off x="548640" y="1691640"/>
            <a:ext cx="1280160" cy="621792"/>
          </a:xfrm>
          <a:prstGeom prst="roundRect">
            <a:avLst>
              <a:gd name="adj" fmla="val 11765"/>
            </a:avLst>
          </a:prstGeom>
          <a:solidFill>
            <a:srgbClr val="3B3B98"/>
          </a:solidFill>
          <a:ln/>
        </p:spPr>
      </p:sp>
      <p:sp>
        <p:nvSpPr>
          <p:cNvPr id="7" name="Text 5"/>
          <p:cNvSpPr/>
          <p:nvPr/>
        </p:nvSpPr>
        <p:spPr>
          <a:xfrm>
            <a:off x="548640" y="1691640"/>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5 דק'</a:t>
            </a:r>
            <a:endParaRPr lang="en-US" sz="1500" dirty="0"/>
          </a:p>
        </p:txBody>
      </p:sp>
      <p:sp>
        <p:nvSpPr>
          <p:cNvPr id="8" name="Shape 6"/>
          <p:cNvSpPr/>
          <p:nvPr/>
        </p:nvSpPr>
        <p:spPr>
          <a:xfrm>
            <a:off x="2011680" y="2441448"/>
            <a:ext cx="9628632" cy="621792"/>
          </a:xfrm>
          <a:prstGeom prst="roundRect">
            <a:avLst>
              <a:gd name="adj" fmla="val 13235"/>
            </a:avLst>
          </a:prstGeom>
          <a:solidFill>
            <a:srgbClr val="E7F5F6"/>
          </a:solidFill>
          <a:ln/>
          <a:effectLst>
            <a:outerShdw sx="100000" sy="100000" kx="0" ky="0" algn="bl" rotWithShape="0" blurRad="76200" dist="25400" dir="5400000">
              <a:srgbClr val="999999">
                <a:alpha val="28000"/>
              </a:srgbClr>
            </a:outerShdw>
          </a:effectLst>
        </p:spPr>
      </p:sp>
      <p:sp>
        <p:nvSpPr>
          <p:cNvPr id="9" name="Text 7"/>
          <p:cNvSpPr/>
          <p:nvPr/>
        </p:nvSpPr>
        <p:spPr>
          <a:xfrm>
            <a:off x="2240280" y="2441448"/>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ניסוי א' · זיהוי הזיה בקוד נתון</a:t>
            </a:r>
            <a:endParaRPr lang="en-US" sz="1600" dirty="0"/>
          </a:p>
        </p:txBody>
      </p:sp>
      <p:sp>
        <p:nvSpPr>
          <p:cNvPr id="10" name="Shape 8"/>
          <p:cNvSpPr/>
          <p:nvPr/>
        </p:nvSpPr>
        <p:spPr>
          <a:xfrm>
            <a:off x="548640" y="2441448"/>
            <a:ext cx="1280160" cy="621792"/>
          </a:xfrm>
          <a:prstGeom prst="roundRect">
            <a:avLst>
              <a:gd name="adj" fmla="val 11765"/>
            </a:avLst>
          </a:prstGeom>
          <a:solidFill>
            <a:srgbClr val="0E9AA7"/>
          </a:solidFill>
          <a:ln/>
        </p:spPr>
      </p:sp>
      <p:sp>
        <p:nvSpPr>
          <p:cNvPr id="11" name="Text 9"/>
          <p:cNvSpPr/>
          <p:nvPr/>
        </p:nvSpPr>
        <p:spPr>
          <a:xfrm>
            <a:off x="548640" y="2441448"/>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12 דק'</a:t>
            </a:r>
            <a:endParaRPr lang="en-US" sz="1500" dirty="0"/>
          </a:p>
        </p:txBody>
      </p:sp>
      <p:sp>
        <p:nvSpPr>
          <p:cNvPr id="12" name="Shape 10"/>
          <p:cNvSpPr/>
          <p:nvPr/>
        </p:nvSpPr>
        <p:spPr>
          <a:xfrm>
            <a:off x="2011680" y="3191256"/>
            <a:ext cx="9628632" cy="621792"/>
          </a:xfrm>
          <a:prstGeom prst="roundRect">
            <a:avLst>
              <a:gd name="adj" fmla="val 13235"/>
            </a:avLst>
          </a:prstGeom>
          <a:solidFill>
            <a:srgbClr val="E7F5F6"/>
          </a:solidFill>
          <a:ln/>
          <a:effectLst>
            <a:outerShdw sx="100000" sy="100000" kx="0" ky="0" algn="bl" rotWithShape="0" blurRad="76200" dist="25400" dir="5400000">
              <a:srgbClr val="999999">
                <a:alpha val="28000"/>
              </a:srgbClr>
            </a:outerShdw>
          </a:effectLst>
        </p:spPr>
      </p:sp>
      <p:sp>
        <p:nvSpPr>
          <p:cNvPr id="13" name="Text 11"/>
          <p:cNvSpPr/>
          <p:nvPr/>
        </p:nvSpPr>
        <p:spPr>
          <a:xfrm>
            <a:off x="2240280" y="3191256"/>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ניסוי ב' · אותה בעיה ב-2 כלים</a:t>
            </a:r>
            <a:endParaRPr lang="en-US" sz="1600" dirty="0"/>
          </a:p>
        </p:txBody>
      </p:sp>
      <p:sp>
        <p:nvSpPr>
          <p:cNvPr id="14" name="Shape 12"/>
          <p:cNvSpPr/>
          <p:nvPr/>
        </p:nvSpPr>
        <p:spPr>
          <a:xfrm>
            <a:off x="548640" y="3191256"/>
            <a:ext cx="1280160" cy="621792"/>
          </a:xfrm>
          <a:prstGeom prst="roundRect">
            <a:avLst>
              <a:gd name="adj" fmla="val 11765"/>
            </a:avLst>
          </a:prstGeom>
          <a:solidFill>
            <a:srgbClr val="0E9AA7"/>
          </a:solidFill>
          <a:ln/>
        </p:spPr>
      </p:sp>
      <p:sp>
        <p:nvSpPr>
          <p:cNvPr id="15" name="Text 13"/>
          <p:cNvSpPr/>
          <p:nvPr/>
        </p:nvSpPr>
        <p:spPr>
          <a:xfrm>
            <a:off x="548640" y="3191256"/>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15 דק'</a:t>
            </a:r>
            <a:endParaRPr lang="en-US" sz="1500" dirty="0"/>
          </a:p>
        </p:txBody>
      </p:sp>
      <p:sp>
        <p:nvSpPr>
          <p:cNvPr id="16" name="Shape 14"/>
          <p:cNvSpPr/>
          <p:nvPr/>
        </p:nvSpPr>
        <p:spPr>
          <a:xfrm>
            <a:off x="2011680" y="3941064"/>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17" name="Text 15"/>
          <p:cNvSpPr/>
          <p:nvPr/>
        </p:nvSpPr>
        <p:spPr>
          <a:xfrm>
            <a:off x="2240280" y="3941064"/>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בניית טבלת ניתוח שגיאות</a:t>
            </a:r>
            <a:endParaRPr lang="en-US" sz="1600" dirty="0"/>
          </a:p>
        </p:txBody>
      </p:sp>
      <p:sp>
        <p:nvSpPr>
          <p:cNvPr id="18" name="Shape 16"/>
          <p:cNvSpPr/>
          <p:nvPr/>
        </p:nvSpPr>
        <p:spPr>
          <a:xfrm>
            <a:off x="548640" y="3941064"/>
            <a:ext cx="1280160" cy="621792"/>
          </a:xfrm>
          <a:prstGeom prst="roundRect">
            <a:avLst>
              <a:gd name="adj" fmla="val 11765"/>
            </a:avLst>
          </a:prstGeom>
          <a:solidFill>
            <a:srgbClr val="3B3B98"/>
          </a:solidFill>
          <a:ln/>
        </p:spPr>
      </p:sp>
      <p:sp>
        <p:nvSpPr>
          <p:cNvPr id="19" name="Text 17"/>
          <p:cNvSpPr/>
          <p:nvPr/>
        </p:nvSpPr>
        <p:spPr>
          <a:xfrm>
            <a:off x="548640" y="3941064"/>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8 דק'</a:t>
            </a:r>
            <a:endParaRPr lang="en-US" sz="1500" dirty="0"/>
          </a:p>
        </p:txBody>
      </p:sp>
      <p:sp>
        <p:nvSpPr>
          <p:cNvPr id="20" name="Shape 18"/>
          <p:cNvSpPr/>
          <p:nvPr/>
        </p:nvSpPr>
        <p:spPr>
          <a:xfrm>
            <a:off x="2011680" y="4690872"/>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21" name="Text 19"/>
          <p:cNvSpPr/>
          <p:nvPr/>
        </p:nvSpPr>
        <p:spPr>
          <a:xfrm>
            <a:off x="2240280" y="4690872"/>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דוח קצר · סיכום</a:t>
            </a:r>
            <a:endParaRPr lang="en-US" sz="1600" dirty="0"/>
          </a:p>
        </p:txBody>
      </p:sp>
      <p:sp>
        <p:nvSpPr>
          <p:cNvPr id="22" name="Shape 20"/>
          <p:cNvSpPr/>
          <p:nvPr/>
        </p:nvSpPr>
        <p:spPr>
          <a:xfrm>
            <a:off x="548640" y="4690872"/>
            <a:ext cx="1280160" cy="621792"/>
          </a:xfrm>
          <a:prstGeom prst="roundRect">
            <a:avLst>
              <a:gd name="adj" fmla="val 11765"/>
            </a:avLst>
          </a:prstGeom>
          <a:solidFill>
            <a:srgbClr val="3B3B98"/>
          </a:solidFill>
          <a:ln/>
        </p:spPr>
      </p:sp>
      <p:sp>
        <p:nvSpPr>
          <p:cNvPr id="23" name="Text 21"/>
          <p:cNvSpPr/>
          <p:nvPr/>
        </p:nvSpPr>
        <p:spPr>
          <a:xfrm>
            <a:off x="548640" y="4690872"/>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5 דק'</a:t>
            </a:r>
            <a:endParaRPr lang="en-US" sz="1500" dirty="0"/>
          </a:p>
        </p:txBody>
      </p:sp>
      <p:sp>
        <p:nvSpPr>
          <p:cNvPr id="24" name="Text 22"/>
          <p:cNvSpPr/>
          <p:nvPr/>
        </p:nvSpPr>
        <p:spPr>
          <a:xfrm>
            <a:off x="548640" y="5532120"/>
            <a:ext cx="11091672" cy="365760"/>
          </a:xfrm>
          <a:prstGeom prst="rect">
            <a:avLst/>
          </a:prstGeom>
          <a:noFill/>
          <a:ln/>
        </p:spPr>
        <p:txBody>
          <a:bodyPr wrap="square" rtlCol="0" anchor="t"/>
          <a:lstStyle/>
          <a:p>
            <a:pPr rtl="1" algn="r" indent="0" marL="0">
              <a:buNone/>
            </a:pPr>
            <a:r>
              <a:rPr lang="en-US" sz="1350" i="1" dirty="0">
                <a:solidFill>
                  <a:srgbClr val="6B6B80"/>
                </a:solidFill>
                <a:latin typeface="Arial" pitchFamily="34" charset="0"/>
                <a:ea typeface="Arial" pitchFamily="34" charset="-122"/>
                <a:cs typeface="Arial" pitchFamily="34" charset="-120"/>
              </a:rPr>
              <a:t>המטרה: לזהות הזיות בקוד ולנתח אותן · צריך: חשבון חינמי + דפדפן.</a:t>
            </a:r>
            <a:endParaRPr lang="en-US" sz="1350" dirty="0"/>
          </a:p>
        </p:txBody>
      </p:sp>
      <p:sp>
        <p:nvSpPr>
          <p:cNvPr id="25" name="Text 2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24 / 29</a:t>
            </a:r>
            <a:endParaRPr lang="en-US" sz="950" dirty="0"/>
          </a:p>
        </p:txBody>
      </p:sp>
      <p:sp>
        <p:nvSpPr>
          <p:cNvPr id="26" name="Text 2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ניסוי א' (12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זיהוי הזיה בקוד נתון</a:t>
            </a:r>
            <a:endParaRPr lang="en-US" sz="3300" dirty="0"/>
          </a:p>
        </p:txBody>
      </p:sp>
      <p:sp>
        <p:nvSpPr>
          <p:cNvPr id="4" name="Text 2"/>
          <p:cNvSpPr/>
          <p:nvPr/>
        </p:nvSpPr>
        <p:spPr>
          <a:xfrm>
            <a:off x="548640" y="1645920"/>
            <a:ext cx="11091672"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לפניכם קוד שנוצר ע"i AI. שלושה שמות בו “מומצאים” — מצאו אותם:</a:t>
            </a:r>
            <a:endParaRPr lang="en-US" sz="1500" dirty="0"/>
          </a:p>
        </p:txBody>
      </p:sp>
      <p:sp>
        <p:nvSpPr>
          <p:cNvPr id="5" name="Shape 3"/>
          <p:cNvSpPr/>
          <p:nvPr/>
        </p:nvSpPr>
        <p:spPr>
          <a:xfrm>
            <a:off x="548640" y="2057400"/>
            <a:ext cx="11091672" cy="1554480"/>
          </a:xfrm>
          <a:prstGeom prst="roundRect">
            <a:avLst>
              <a:gd name="adj" fmla="val 4706"/>
            </a:avLst>
          </a:prstGeom>
          <a:solidFill>
            <a:srgbClr val="1B1B2B"/>
          </a:solidFill>
          <a:ln/>
          <a:effectLst>
            <a:outerShdw sx="100000" sy="100000" kx="0" ky="0" algn="bl" rotWithShape="0" blurRad="76200" dist="25400" dir="5400000">
              <a:srgbClr val="999999">
                <a:alpha val="28000"/>
              </a:srgbClr>
            </a:outerShdw>
          </a:effectLst>
        </p:spPr>
      </p:sp>
      <p:sp>
        <p:nvSpPr>
          <p:cNvPr id="6" name="Text 4"/>
          <p:cNvSpPr/>
          <p:nvPr/>
        </p:nvSpPr>
        <p:spPr>
          <a:xfrm>
            <a:off x="914400" y="2240280"/>
            <a:ext cx="10360152" cy="1188720"/>
          </a:xfrm>
          <a:prstGeom prst="rect">
            <a:avLst/>
          </a:prstGeom>
          <a:noFill/>
          <a:ln/>
        </p:spPr>
        <p:txBody>
          <a:bodyPr wrap="square" rtlCol="0" anchor="t"/>
          <a:lstStyle/>
          <a:p>
            <a:pPr algn="l" indent="0" marL="0">
              <a:buNone/>
            </a:pPr>
            <a:r>
              <a:rPr lang="en-US" sz="1500" dirty="0">
                <a:solidFill>
                  <a:srgbClr val="E8E8F0"/>
                </a:solidFill>
                <a:latin typeface="Courier New" pitchFamily="34" charset="0"/>
                <a:ea typeface="Courier New" pitchFamily="34" charset="-122"/>
                <a:cs typeface="Courier New" pitchFamily="34" charset="-120"/>
              </a:rPr>
              <a:t>import requests</a:t>
            </a:r>
            <a:endParaRPr lang="en-US" sz="1500" dirty="0"/>
          </a:p>
          <a:p>
            <a:pPr algn="l" indent="0" marL="0">
              <a:buNone/>
            </a:pPr>
            <a:endParaRPr lang="en-US" sz="1500" dirty="0"/>
          </a:p>
          <a:p>
            <a:pPr algn="l" indent="0" marL="0">
              <a:buNone/>
            </a:pPr>
            <a:r>
              <a:rPr lang="en-US" sz="1500" dirty="0">
                <a:solidFill>
                  <a:srgbClr val="E8E8F0"/>
                </a:solidFill>
                <a:latin typeface="Courier New" pitchFamily="34" charset="0"/>
                <a:ea typeface="Courier New" pitchFamily="34" charset="-122"/>
                <a:cs typeface="Courier New" pitchFamily="34" charset="-120"/>
              </a:rPr>
              <a:t>r = requests.fetch("https://api.site.com/data")</a:t>
            </a:r>
            <a:endParaRPr lang="en-US" sz="1500" dirty="0"/>
          </a:p>
          <a:p>
            <a:pPr algn="l" indent="0" marL="0">
              <a:buNone/>
            </a:pPr>
            <a:r>
              <a:rPr lang="en-US" sz="1500" dirty="0">
                <a:solidFill>
                  <a:srgbClr val="E8E8F0"/>
                </a:solidFill>
                <a:latin typeface="Courier New" pitchFamily="34" charset="0"/>
                <a:ea typeface="Courier New" pitchFamily="34" charset="-122"/>
                <a:cs typeface="Courier New" pitchFamily="34" charset="-120"/>
              </a:rPr>
              <a:t>items = r.to_list()</a:t>
            </a:r>
            <a:endParaRPr lang="en-US" sz="1500" dirty="0"/>
          </a:p>
          <a:p>
            <a:pPr algn="l" indent="0" marL="0">
              <a:buNone/>
            </a:pPr>
            <a:r>
              <a:rPr lang="en-US" sz="1500" dirty="0">
                <a:solidFill>
                  <a:srgbClr val="E8E8F0"/>
                </a:solidFill>
                <a:latin typeface="Courier New" pitchFamily="34" charset="0"/>
                <a:ea typeface="Courier New" pitchFamily="34" charset="-122"/>
                <a:cs typeface="Courier New" pitchFamily="34" charset="-120"/>
              </a:rPr>
              <a:t>print(items.count_all())</a:t>
            </a:r>
            <a:endParaRPr lang="en-US" sz="1500" dirty="0"/>
          </a:p>
        </p:txBody>
      </p:sp>
      <p:sp>
        <p:nvSpPr>
          <p:cNvPr id="7" name="Text 5"/>
          <p:cNvSpPr/>
          <p:nvPr/>
        </p:nvSpPr>
        <p:spPr>
          <a:xfrm>
            <a:off x="548640" y="3794760"/>
            <a:ext cx="11091672" cy="320040"/>
          </a:xfrm>
          <a:prstGeom prst="rect">
            <a:avLst/>
          </a:prstGeom>
          <a:noFill/>
          <a:ln/>
        </p:spPr>
        <p:txBody>
          <a:bodyPr wrap="square" rtlCol="0" anchor="t"/>
          <a:lstStyle/>
          <a:p>
            <a:pPr rtl="1" algn="r" indent="0" marL="0">
              <a:buNone/>
            </a:pPr>
            <a:r>
              <a:rPr lang="en-US" sz="1400" b="1" dirty="0">
                <a:solidFill>
                  <a:srgbClr val="1E2761"/>
                </a:solidFill>
                <a:latin typeface="Arial" pitchFamily="34" charset="0"/>
                <a:ea typeface="Arial" pitchFamily="34" charset="-122"/>
                <a:cs typeface="Arial" pitchFamily="34" charset="-120"/>
              </a:rPr>
              <a:t>איך מאמתים:</a:t>
            </a:r>
            <a:endParaRPr lang="en-US" sz="1400" dirty="0"/>
          </a:p>
        </p:txBody>
      </p:sp>
      <p:sp>
        <p:nvSpPr>
          <p:cNvPr id="8" name="Shape 6"/>
          <p:cNvSpPr/>
          <p:nvPr/>
        </p:nvSpPr>
        <p:spPr>
          <a:xfrm>
            <a:off x="11256264" y="4114800"/>
            <a:ext cx="384048" cy="384048"/>
          </a:xfrm>
          <a:prstGeom prst="ellipse">
            <a:avLst/>
          </a:prstGeom>
          <a:solidFill>
            <a:srgbClr val="3B3B98"/>
          </a:solidFill>
          <a:ln/>
        </p:spPr>
      </p:sp>
      <p:sp>
        <p:nvSpPr>
          <p:cNvPr id="9" name="Text 7"/>
          <p:cNvSpPr/>
          <p:nvPr/>
        </p:nvSpPr>
        <p:spPr>
          <a:xfrm>
            <a:off x="11256264" y="4114800"/>
            <a:ext cx="384048" cy="384048"/>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548640" y="4096512"/>
            <a:ext cx="10543032"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הריצו את הקוד — אילו שגיאות מתקבלות? (AttributeError?)</a:t>
            </a:r>
            <a:endParaRPr lang="en-US" sz="1700" dirty="0"/>
          </a:p>
        </p:txBody>
      </p:sp>
      <p:sp>
        <p:nvSpPr>
          <p:cNvPr id="11" name="Shape 9"/>
          <p:cNvSpPr/>
          <p:nvPr/>
        </p:nvSpPr>
        <p:spPr>
          <a:xfrm>
            <a:off x="11256264" y="4681728"/>
            <a:ext cx="384048" cy="384048"/>
          </a:xfrm>
          <a:prstGeom prst="ellipse">
            <a:avLst/>
          </a:prstGeom>
          <a:solidFill>
            <a:srgbClr val="3B3B98"/>
          </a:solidFill>
          <a:ln/>
        </p:spPr>
      </p:sp>
      <p:sp>
        <p:nvSpPr>
          <p:cNvPr id="12" name="Text 10"/>
          <p:cNvSpPr/>
          <p:nvPr/>
        </p:nvSpPr>
        <p:spPr>
          <a:xfrm>
            <a:off x="11256264" y="4681728"/>
            <a:ext cx="384048" cy="384048"/>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548640" y="4663440"/>
            <a:ext cx="10543032"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בדקו בתיעוד requests: מהי הדרך הנכונה? (רמז: get / .json)</a:t>
            </a:r>
            <a:endParaRPr lang="en-US" sz="1700" dirty="0"/>
          </a:p>
        </p:txBody>
      </p:sp>
      <p:sp>
        <p:nvSpPr>
          <p:cNvPr id="14" name="Text 12"/>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25 / 29</a:t>
            </a:r>
            <a:endParaRPr lang="en-US" sz="950" dirty="0"/>
          </a:p>
        </p:txBody>
      </p:sp>
      <p:sp>
        <p:nvSpPr>
          <p:cNvPr id="15" name="Text 13"/>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ניסוי ב' (15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אותה בעיה — שני כלים</a:t>
            </a:r>
            <a:endParaRPr lang="en-US" sz="3300" dirty="0"/>
          </a:p>
        </p:txBody>
      </p:sp>
      <p:sp>
        <p:nvSpPr>
          <p:cNvPr id="4" name="Shape 2"/>
          <p:cNvSpPr/>
          <p:nvPr/>
        </p:nvSpPr>
        <p:spPr>
          <a:xfrm>
            <a:off x="548640" y="1691640"/>
            <a:ext cx="11091672" cy="960120"/>
          </a:xfrm>
          <a:prstGeom prst="roundRect">
            <a:avLst>
              <a:gd name="adj" fmla="val 7619"/>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9994392" y="1783080"/>
            <a:ext cx="1463040" cy="320040"/>
          </a:xfrm>
          <a:prstGeom prst="rect">
            <a:avLst/>
          </a:prstGeom>
          <a:noFill/>
          <a:ln/>
        </p:spPr>
        <p:txBody>
          <a:bodyPr wrap="square" rtlCol="0" anchor="ctr"/>
          <a:lstStyle/>
          <a:p>
            <a:pPr rtl="1" algn="r" indent="0" marL="0">
              <a:buNone/>
            </a:pPr>
            <a:r>
              <a:rPr lang="en-US" sz="1250" b="1" dirty="0">
                <a:solidFill>
                  <a:srgbClr val="0E9AA7"/>
                </a:solidFill>
                <a:latin typeface="Arial" pitchFamily="34" charset="0"/>
                <a:ea typeface="Arial" pitchFamily="34" charset="-122"/>
                <a:cs typeface="Arial" pitchFamily="34" charset="-120"/>
              </a:rPr>
              <a:t>הפרומפט:</a:t>
            </a:r>
            <a:endParaRPr lang="en-US" sz="1250" dirty="0"/>
          </a:p>
        </p:txBody>
      </p:sp>
      <p:sp>
        <p:nvSpPr>
          <p:cNvPr id="6" name="Text 4"/>
          <p:cNvSpPr/>
          <p:nvPr/>
        </p:nvSpPr>
        <p:spPr>
          <a:xfrm>
            <a:off x="822960" y="2103120"/>
            <a:ext cx="10543032" cy="457200"/>
          </a:xfrm>
          <a:prstGeom prst="rect">
            <a:avLst/>
          </a:prstGeom>
          <a:noFill/>
          <a:ln/>
        </p:spPr>
        <p:txBody>
          <a:bodyPr wrap="square" rtlCol="0" anchor="ctr"/>
          <a:lstStyle/>
          <a:p>
            <a:pPr rtl="1" algn="r" indent="0" marL="0">
              <a:buNone/>
            </a:pPr>
            <a:r>
              <a:rPr lang="en-US" sz="1400" dirty="0">
                <a:solidFill>
                  <a:srgbClr val="E8E8F0"/>
                </a:solidFill>
                <a:latin typeface="Arial" pitchFamily="34" charset="0"/>
                <a:ea typeface="Arial" pitchFamily="34" charset="-122"/>
                <a:cs typeface="Arial" pitchFamily="34" charset="-120"/>
              </a:rPr>
              <a:t>“כתוב קוד בפייתון שמוריד JSON מכתובת URL ומדפיס את מספר הפריטים שהתקבלו.”</a:t>
            </a:r>
            <a:endParaRPr lang="en-US" sz="1400" dirty="0"/>
          </a:p>
        </p:txBody>
      </p:sp>
      <p:sp>
        <p:nvSpPr>
          <p:cNvPr id="7" name="Text 5"/>
          <p:cNvSpPr/>
          <p:nvPr/>
        </p:nvSpPr>
        <p:spPr>
          <a:xfrm>
            <a:off x="548640" y="2880360"/>
            <a:ext cx="11091672"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הריצו את הפרומפט בשני כלים חינמיים שונים, והשוו:</a:t>
            </a:r>
            <a:endParaRPr lang="en-US" sz="1500" dirty="0"/>
          </a:p>
        </p:txBody>
      </p:sp>
      <p:sp>
        <p:nvSpPr>
          <p:cNvPr id="8" name="Shape 6"/>
          <p:cNvSpPr/>
          <p:nvPr/>
        </p:nvSpPr>
        <p:spPr>
          <a:xfrm>
            <a:off x="11237976" y="3291840"/>
            <a:ext cx="402336" cy="402336"/>
          </a:xfrm>
          <a:prstGeom prst="ellipse">
            <a:avLst/>
          </a:prstGeom>
          <a:solidFill>
            <a:srgbClr val="3B3B98"/>
          </a:solidFill>
          <a:ln/>
        </p:spPr>
      </p:sp>
      <p:sp>
        <p:nvSpPr>
          <p:cNvPr id="9" name="Text 7"/>
          <p:cNvSpPr/>
          <p:nvPr/>
        </p:nvSpPr>
        <p:spPr>
          <a:xfrm>
            <a:off x="11237976" y="329184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548640" y="327355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האם אחד הכלים השתמש בפונקציה שלא קיימת (הזיה)?</a:t>
            </a:r>
            <a:endParaRPr lang="en-US" sz="1700" dirty="0"/>
          </a:p>
        </p:txBody>
      </p:sp>
      <p:sp>
        <p:nvSpPr>
          <p:cNvPr id="11" name="Shape 9"/>
          <p:cNvSpPr/>
          <p:nvPr/>
        </p:nvSpPr>
        <p:spPr>
          <a:xfrm>
            <a:off x="11237976" y="3931920"/>
            <a:ext cx="402336" cy="402336"/>
          </a:xfrm>
          <a:prstGeom prst="ellipse">
            <a:avLst/>
          </a:prstGeom>
          <a:solidFill>
            <a:srgbClr val="3B3B98"/>
          </a:solidFill>
          <a:ln/>
        </p:spPr>
      </p:sp>
      <p:sp>
        <p:nvSpPr>
          <p:cNvPr id="12" name="Text 10"/>
          <p:cNvSpPr/>
          <p:nvPr/>
        </p:nvSpPr>
        <p:spPr>
          <a:xfrm>
            <a:off x="11237976" y="393192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548640" y="391363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מי כתב את הקוד הנכון (requests.get(...).json())?</a:t>
            </a:r>
            <a:endParaRPr lang="en-US" sz="1700" dirty="0"/>
          </a:p>
        </p:txBody>
      </p:sp>
      <p:sp>
        <p:nvSpPr>
          <p:cNvPr id="14" name="Shape 12"/>
          <p:cNvSpPr/>
          <p:nvPr/>
        </p:nvSpPr>
        <p:spPr>
          <a:xfrm>
            <a:off x="11237976" y="4572000"/>
            <a:ext cx="402336" cy="402336"/>
          </a:xfrm>
          <a:prstGeom prst="ellipse">
            <a:avLst/>
          </a:prstGeom>
          <a:solidFill>
            <a:srgbClr val="3B3B98"/>
          </a:solidFill>
          <a:ln/>
        </p:spPr>
      </p:sp>
      <p:sp>
        <p:nvSpPr>
          <p:cNvPr id="15" name="Text 13"/>
          <p:cNvSpPr/>
          <p:nvPr/>
        </p:nvSpPr>
        <p:spPr>
          <a:xfrm>
            <a:off x="11237976" y="457200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548640" y="455371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אילו הבדלים נוספים יש בין שתי התשובות?</a:t>
            </a:r>
            <a:endParaRPr lang="en-US" sz="1700" dirty="0"/>
          </a:p>
        </p:txBody>
      </p:sp>
      <p:sp>
        <p:nvSpPr>
          <p:cNvPr id="17" name="Text 15"/>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26 / 29</a:t>
            </a:r>
            <a:endParaRPr lang="en-US" sz="950" dirty="0"/>
          </a:p>
        </p:txBody>
      </p:sp>
      <p:sp>
        <p:nvSpPr>
          <p:cNvPr id="18" name="Text 16"/>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התוצר</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טבלת ניתוח שגיאות</a:t>
            </a:r>
            <a:endParaRPr lang="en-US" sz="3300" dirty="0"/>
          </a:p>
        </p:txBody>
      </p:sp>
      <p:sp>
        <p:nvSpPr>
          <p:cNvPr id="4" name="Text 2"/>
          <p:cNvSpPr/>
          <p:nvPr/>
        </p:nvSpPr>
        <p:spPr>
          <a:xfrm>
            <a:off x="548640" y="1691640"/>
            <a:ext cx="11091672"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מלאו טבלה עם כל הזיה שמצאתם (בניסוי א' וגם ב'):</a:t>
            </a:r>
            <a:endParaRPr lang="en-US" sz="1500" dirty="0"/>
          </a:p>
        </p:txBody>
      </p:sp>
      <p:sp>
        <p:nvSpPr>
          <p:cNvPr id="5" name="Shape 3"/>
          <p:cNvSpPr/>
          <p:nvPr/>
        </p:nvSpPr>
        <p:spPr>
          <a:xfrm>
            <a:off x="9449410" y="2148840"/>
            <a:ext cx="2163470" cy="548640"/>
          </a:xfrm>
          <a:prstGeom prst="rect">
            <a:avLst/>
          </a:prstGeom>
          <a:solidFill>
            <a:srgbClr val="1E2761"/>
          </a:solidFill>
          <a:ln/>
        </p:spPr>
      </p:sp>
      <p:sp>
        <p:nvSpPr>
          <p:cNvPr id="6" name="Text 4"/>
          <p:cNvSpPr/>
          <p:nvPr/>
        </p:nvSpPr>
        <p:spPr>
          <a:xfrm>
            <a:off x="9467698" y="2148840"/>
            <a:ext cx="2126894" cy="548640"/>
          </a:xfrm>
          <a:prstGeom prst="rect">
            <a:avLst/>
          </a:prstGeom>
          <a:noFill/>
          <a:ln/>
        </p:spPr>
        <p:txBody>
          <a:bodyPr wrap="square"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המקור/הכלי</a:t>
            </a:r>
            <a:endParaRPr lang="en-US" sz="1250" dirty="0"/>
          </a:p>
        </p:txBody>
      </p:sp>
      <p:sp>
        <p:nvSpPr>
          <p:cNvPr id="7" name="Shape 5"/>
          <p:cNvSpPr/>
          <p:nvPr/>
        </p:nvSpPr>
        <p:spPr>
          <a:xfrm>
            <a:off x="7231075" y="2148840"/>
            <a:ext cx="2163470" cy="548640"/>
          </a:xfrm>
          <a:prstGeom prst="rect">
            <a:avLst/>
          </a:prstGeom>
          <a:solidFill>
            <a:srgbClr val="1E2761"/>
          </a:solidFill>
          <a:ln/>
        </p:spPr>
      </p:sp>
      <p:sp>
        <p:nvSpPr>
          <p:cNvPr id="8" name="Text 6"/>
          <p:cNvSpPr/>
          <p:nvPr/>
        </p:nvSpPr>
        <p:spPr>
          <a:xfrm>
            <a:off x="7249363" y="2148840"/>
            <a:ext cx="2126894" cy="548640"/>
          </a:xfrm>
          <a:prstGeom prst="rect">
            <a:avLst/>
          </a:prstGeom>
          <a:noFill/>
          <a:ln/>
        </p:spPr>
        <p:txBody>
          <a:bodyPr wrap="square"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השורה החשודה</a:t>
            </a:r>
            <a:endParaRPr lang="en-US" sz="1250" dirty="0"/>
          </a:p>
        </p:txBody>
      </p:sp>
      <p:sp>
        <p:nvSpPr>
          <p:cNvPr id="9" name="Shape 7"/>
          <p:cNvSpPr/>
          <p:nvPr/>
        </p:nvSpPr>
        <p:spPr>
          <a:xfrm>
            <a:off x="5012741" y="2148840"/>
            <a:ext cx="2163470" cy="548640"/>
          </a:xfrm>
          <a:prstGeom prst="rect">
            <a:avLst/>
          </a:prstGeom>
          <a:solidFill>
            <a:srgbClr val="1E2761"/>
          </a:solidFill>
          <a:ln/>
        </p:spPr>
      </p:sp>
      <p:sp>
        <p:nvSpPr>
          <p:cNvPr id="10" name="Text 8"/>
          <p:cNvSpPr/>
          <p:nvPr/>
        </p:nvSpPr>
        <p:spPr>
          <a:xfrm>
            <a:off x="5031029" y="2148840"/>
            <a:ext cx="2126894" cy="548640"/>
          </a:xfrm>
          <a:prstGeom prst="rect">
            <a:avLst/>
          </a:prstGeom>
          <a:noFill/>
          <a:ln/>
        </p:spPr>
        <p:txBody>
          <a:bodyPr wrap="square"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סוג ההזיה</a:t>
            </a:r>
            <a:endParaRPr lang="en-US" sz="1250" dirty="0"/>
          </a:p>
        </p:txBody>
      </p:sp>
      <p:sp>
        <p:nvSpPr>
          <p:cNvPr id="11" name="Shape 9"/>
          <p:cNvSpPr/>
          <p:nvPr/>
        </p:nvSpPr>
        <p:spPr>
          <a:xfrm>
            <a:off x="2794406" y="2148840"/>
            <a:ext cx="2163470" cy="548640"/>
          </a:xfrm>
          <a:prstGeom prst="rect">
            <a:avLst/>
          </a:prstGeom>
          <a:solidFill>
            <a:srgbClr val="1E2761"/>
          </a:solidFill>
          <a:ln/>
        </p:spPr>
      </p:sp>
      <p:sp>
        <p:nvSpPr>
          <p:cNvPr id="12" name="Text 10"/>
          <p:cNvSpPr/>
          <p:nvPr/>
        </p:nvSpPr>
        <p:spPr>
          <a:xfrm>
            <a:off x="2812694" y="2148840"/>
            <a:ext cx="2126894" cy="548640"/>
          </a:xfrm>
          <a:prstGeom prst="rect">
            <a:avLst/>
          </a:prstGeom>
          <a:noFill/>
          <a:ln/>
        </p:spPr>
        <p:txBody>
          <a:bodyPr wrap="square"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איך אימתת</a:t>
            </a:r>
            <a:endParaRPr lang="en-US" sz="1250" dirty="0"/>
          </a:p>
        </p:txBody>
      </p:sp>
      <p:sp>
        <p:nvSpPr>
          <p:cNvPr id="13" name="Shape 11"/>
          <p:cNvSpPr/>
          <p:nvPr/>
        </p:nvSpPr>
        <p:spPr>
          <a:xfrm>
            <a:off x="576072" y="2148840"/>
            <a:ext cx="2163470" cy="548640"/>
          </a:xfrm>
          <a:prstGeom prst="rect">
            <a:avLst/>
          </a:prstGeom>
          <a:solidFill>
            <a:srgbClr val="1E2761"/>
          </a:solidFill>
          <a:ln/>
        </p:spPr>
      </p:sp>
      <p:sp>
        <p:nvSpPr>
          <p:cNvPr id="14" name="Text 12"/>
          <p:cNvSpPr/>
          <p:nvPr/>
        </p:nvSpPr>
        <p:spPr>
          <a:xfrm>
            <a:off x="594360" y="2148840"/>
            <a:ext cx="2126894" cy="548640"/>
          </a:xfrm>
          <a:prstGeom prst="rect">
            <a:avLst/>
          </a:prstGeom>
          <a:noFill/>
          <a:ln/>
        </p:spPr>
        <p:txBody>
          <a:bodyPr wrap="square" rtlCol="0" anchor="ctr"/>
          <a:lstStyle/>
          <a:p>
            <a:pPr rtl="1" algn="ctr" indent="0" marL="0">
              <a:buNone/>
            </a:pPr>
            <a:r>
              <a:rPr lang="en-US" sz="1250" b="1" dirty="0">
                <a:solidFill>
                  <a:srgbClr val="FFFFFF"/>
                </a:solidFill>
                <a:latin typeface="Arial" pitchFamily="34" charset="0"/>
                <a:ea typeface="Arial" pitchFamily="34" charset="-122"/>
                <a:cs typeface="Arial" pitchFamily="34" charset="-120"/>
              </a:rPr>
              <a:t>התיקון</a:t>
            </a:r>
            <a:endParaRPr lang="en-US" sz="1250" dirty="0"/>
          </a:p>
        </p:txBody>
      </p:sp>
      <p:sp>
        <p:nvSpPr>
          <p:cNvPr id="15" name="Shape 13"/>
          <p:cNvSpPr/>
          <p:nvPr/>
        </p:nvSpPr>
        <p:spPr>
          <a:xfrm>
            <a:off x="9449410" y="2697480"/>
            <a:ext cx="2163470" cy="530352"/>
          </a:xfrm>
          <a:prstGeom prst="rect">
            <a:avLst/>
          </a:prstGeom>
          <a:solidFill>
            <a:srgbClr val="FFFFFF"/>
          </a:solidFill>
          <a:ln w="12700">
            <a:solidFill>
              <a:srgbClr val="D3D8EC"/>
            </a:solidFill>
            <a:prstDash val="solid"/>
          </a:ln>
        </p:spPr>
      </p:sp>
      <p:sp>
        <p:nvSpPr>
          <p:cNvPr id="16" name="Shape 14"/>
          <p:cNvSpPr/>
          <p:nvPr/>
        </p:nvSpPr>
        <p:spPr>
          <a:xfrm>
            <a:off x="7231075" y="2697480"/>
            <a:ext cx="2163470" cy="530352"/>
          </a:xfrm>
          <a:prstGeom prst="rect">
            <a:avLst/>
          </a:prstGeom>
          <a:solidFill>
            <a:srgbClr val="FFFFFF"/>
          </a:solidFill>
          <a:ln w="12700">
            <a:solidFill>
              <a:srgbClr val="D3D8EC"/>
            </a:solidFill>
            <a:prstDash val="solid"/>
          </a:ln>
        </p:spPr>
      </p:sp>
      <p:sp>
        <p:nvSpPr>
          <p:cNvPr id="17" name="Shape 15"/>
          <p:cNvSpPr/>
          <p:nvPr/>
        </p:nvSpPr>
        <p:spPr>
          <a:xfrm>
            <a:off x="5012741" y="2697480"/>
            <a:ext cx="2163470" cy="530352"/>
          </a:xfrm>
          <a:prstGeom prst="rect">
            <a:avLst/>
          </a:prstGeom>
          <a:solidFill>
            <a:srgbClr val="FFFFFF"/>
          </a:solidFill>
          <a:ln w="12700">
            <a:solidFill>
              <a:srgbClr val="D3D8EC"/>
            </a:solidFill>
            <a:prstDash val="solid"/>
          </a:ln>
        </p:spPr>
      </p:sp>
      <p:sp>
        <p:nvSpPr>
          <p:cNvPr id="18" name="Shape 16"/>
          <p:cNvSpPr/>
          <p:nvPr/>
        </p:nvSpPr>
        <p:spPr>
          <a:xfrm>
            <a:off x="2794406" y="2697480"/>
            <a:ext cx="2163470" cy="530352"/>
          </a:xfrm>
          <a:prstGeom prst="rect">
            <a:avLst/>
          </a:prstGeom>
          <a:solidFill>
            <a:srgbClr val="FFFFFF"/>
          </a:solidFill>
          <a:ln w="12700">
            <a:solidFill>
              <a:srgbClr val="D3D8EC"/>
            </a:solidFill>
            <a:prstDash val="solid"/>
          </a:ln>
        </p:spPr>
      </p:sp>
      <p:sp>
        <p:nvSpPr>
          <p:cNvPr id="19" name="Shape 17"/>
          <p:cNvSpPr/>
          <p:nvPr/>
        </p:nvSpPr>
        <p:spPr>
          <a:xfrm>
            <a:off x="576072" y="2697480"/>
            <a:ext cx="2163470" cy="530352"/>
          </a:xfrm>
          <a:prstGeom prst="rect">
            <a:avLst/>
          </a:prstGeom>
          <a:solidFill>
            <a:srgbClr val="FFFFFF"/>
          </a:solidFill>
          <a:ln w="12700">
            <a:solidFill>
              <a:srgbClr val="D3D8EC"/>
            </a:solidFill>
            <a:prstDash val="solid"/>
          </a:ln>
        </p:spPr>
      </p:sp>
      <p:sp>
        <p:nvSpPr>
          <p:cNvPr id="20" name="Shape 18"/>
          <p:cNvSpPr/>
          <p:nvPr/>
        </p:nvSpPr>
        <p:spPr>
          <a:xfrm>
            <a:off x="9449410" y="3264408"/>
            <a:ext cx="2163470" cy="530352"/>
          </a:xfrm>
          <a:prstGeom prst="rect">
            <a:avLst/>
          </a:prstGeom>
          <a:solidFill>
            <a:srgbClr val="F2F3FA"/>
          </a:solidFill>
          <a:ln w="12700">
            <a:solidFill>
              <a:srgbClr val="D3D8EC"/>
            </a:solidFill>
            <a:prstDash val="solid"/>
          </a:ln>
        </p:spPr>
      </p:sp>
      <p:sp>
        <p:nvSpPr>
          <p:cNvPr id="21" name="Shape 19"/>
          <p:cNvSpPr/>
          <p:nvPr/>
        </p:nvSpPr>
        <p:spPr>
          <a:xfrm>
            <a:off x="7231075" y="3264408"/>
            <a:ext cx="2163470" cy="530352"/>
          </a:xfrm>
          <a:prstGeom prst="rect">
            <a:avLst/>
          </a:prstGeom>
          <a:solidFill>
            <a:srgbClr val="F2F3FA"/>
          </a:solidFill>
          <a:ln w="12700">
            <a:solidFill>
              <a:srgbClr val="D3D8EC"/>
            </a:solidFill>
            <a:prstDash val="solid"/>
          </a:ln>
        </p:spPr>
      </p:sp>
      <p:sp>
        <p:nvSpPr>
          <p:cNvPr id="22" name="Shape 20"/>
          <p:cNvSpPr/>
          <p:nvPr/>
        </p:nvSpPr>
        <p:spPr>
          <a:xfrm>
            <a:off x="5012741" y="3264408"/>
            <a:ext cx="2163470" cy="530352"/>
          </a:xfrm>
          <a:prstGeom prst="rect">
            <a:avLst/>
          </a:prstGeom>
          <a:solidFill>
            <a:srgbClr val="F2F3FA"/>
          </a:solidFill>
          <a:ln w="12700">
            <a:solidFill>
              <a:srgbClr val="D3D8EC"/>
            </a:solidFill>
            <a:prstDash val="solid"/>
          </a:ln>
        </p:spPr>
      </p:sp>
      <p:sp>
        <p:nvSpPr>
          <p:cNvPr id="23" name="Shape 21"/>
          <p:cNvSpPr/>
          <p:nvPr/>
        </p:nvSpPr>
        <p:spPr>
          <a:xfrm>
            <a:off x="2794406" y="3264408"/>
            <a:ext cx="2163470" cy="530352"/>
          </a:xfrm>
          <a:prstGeom prst="rect">
            <a:avLst/>
          </a:prstGeom>
          <a:solidFill>
            <a:srgbClr val="F2F3FA"/>
          </a:solidFill>
          <a:ln w="12700">
            <a:solidFill>
              <a:srgbClr val="D3D8EC"/>
            </a:solidFill>
            <a:prstDash val="solid"/>
          </a:ln>
        </p:spPr>
      </p:sp>
      <p:sp>
        <p:nvSpPr>
          <p:cNvPr id="24" name="Shape 22"/>
          <p:cNvSpPr/>
          <p:nvPr/>
        </p:nvSpPr>
        <p:spPr>
          <a:xfrm>
            <a:off x="576072" y="3264408"/>
            <a:ext cx="2163470" cy="530352"/>
          </a:xfrm>
          <a:prstGeom prst="rect">
            <a:avLst/>
          </a:prstGeom>
          <a:solidFill>
            <a:srgbClr val="F2F3FA"/>
          </a:solidFill>
          <a:ln w="12700">
            <a:solidFill>
              <a:srgbClr val="D3D8EC"/>
            </a:solidFill>
            <a:prstDash val="solid"/>
          </a:ln>
        </p:spPr>
      </p:sp>
      <p:sp>
        <p:nvSpPr>
          <p:cNvPr id="25" name="Shape 23"/>
          <p:cNvSpPr/>
          <p:nvPr/>
        </p:nvSpPr>
        <p:spPr>
          <a:xfrm>
            <a:off x="9449410" y="3831336"/>
            <a:ext cx="2163470" cy="530352"/>
          </a:xfrm>
          <a:prstGeom prst="rect">
            <a:avLst/>
          </a:prstGeom>
          <a:solidFill>
            <a:srgbClr val="FFFFFF"/>
          </a:solidFill>
          <a:ln w="12700">
            <a:solidFill>
              <a:srgbClr val="D3D8EC"/>
            </a:solidFill>
            <a:prstDash val="solid"/>
          </a:ln>
        </p:spPr>
      </p:sp>
      <p:sp>
        <p:nvSpPr>
          <p:cNvPr id="26" name="Shape 24"/>
          <p:cNvSpPr/>
          <p:nvPr/>
        </p:nvSpPr>
        <p:spPr>
          <a:xfrm>
            <a:off x="7231075" y="3831336"/>
            <a:ext cx="2163470" cy="530352"/>
          </a:xfrm>
          <a:prstGeom prst="rect">
            <a:avLst/>
          </a:prstGeom>
          <a:solidFill>
            <a:srgbClr val="FFFFFF"/>
          </a:solidFill>
          <a:ln w="12700">
            <a:solidFill>
              <a:srgbClr val="D3D8EC"/>
            </a:solidFill>
            <a:prstDash val="solid"/>
          </a:ln>
        </p:spPr>
      </p:sp>
      <p:sp>
        <p:nvSpPr>
          <p:cNvPr id="27" name="Shape 25"/>
          <p:cNvSpPr/>
          <p:nvPr/>
        </p:nvSpPr>
        <p:spPr>
          <a:xfrm>
            <a:off x="5012741" y="3831336"/>
            <a:ext cx="2163470" cy="530352"/>
          </a:xfrm>
          <a:prstGeom prst="rect">
            <a:avLst/>
          </a:prstGeom>
          <a:solidFill>
            <a:srgbClr val="FFFFFF"/>
          </a:solidFill>
          <a:ln w="12700">
            <a:solidFill>
              <a:srgbClr val="D3D8EC"/>
            </a:solidFill>
            <a:prstDash val="solid"/>
          </a:ln>
        </p:spPr>
      </p:sp>
      <p:sp>
        <p:nvSpPr>
          <p:cNvPr id="28" name="Shape 26"/>
          <p:cNvSpPr/>
          <p:nvPr/>
        </p:nvSpPr>
        <p:spPr>
          <a:xfrm>
            <a:off x="2794406" y="3831336"/>
            <a:ext cx="2163470" cy="530352"/>
          </a:xfrm>
          <a:prstGeom prst="rect">
            <a:avLst/>
          </a:prstGeom>
          <a:solidFill>
            <a:srgbClr val="FFFFFF"/>
          </a:solidFill>
          <a:ln w="12700">
            <a:solidFill>
              <a:srgbClr val="D3D8EC"/>
            </a:solidFill>
            <a:prstDash val="solid"/>
          </a:ln>
        </p:spPr>
      </p:sp>
      <p:sp>
        <p:nvSpPr>
          <p:cNvPr id="29" name="Shape 27"/>
          <p:cNvSpPr/>
          <p:nvPr/>
        </p:nvSpPr>
        <p:spPr>
          <a:xfrm>
            <a:off x="576072" y="3831336"/>
            <a:ext cx="2163470" cy="530352"/>
          </a:xfrm>
          <a:prstGeom prst="rect">
            <a:avLst/>
          </a:prstGeom>
          <a:solidFill>
            <a:srgbClr val="FFFFFF"/>
          </a:solidFill>
          <a:ln w="12700">
            <a:solidFill>
              <a:srgbClr val="D3D8EC"/>
            </a:solidFill>
            <a:prstDash val="solid"/>
          </a:ln>
        </p:spPr>
      </p:sp>
      <p:sp>
        <p:nvSpPr>
          <p:cNvPr id="30" name="Text 28"/>
          <p:cNvSpPr/>
          <p:nvPr/>
        </p:nvSpPr>
        <p:spPr>
          <a:xfrm>
            <a:off x="548640" y="4617720"/>
            <a:ext cx="11091672" cy="365760"/>
          </a:xfrm>
          <a:prstGeom prst="rect">
            <a:avLst/>
          </a:prstGeom>
          <a:noFill/>
          <a:ln/>
        </p:spPr>
        <p:txBody>
          <a:bodyPr wrap="square" rtlCol="0" anchor="t"/>
          <a:lstStyle/>
          <a:p>
            <a:pPr rtl="1" algn="r" indent="0" marL="0">
              <a:buNone/>
            </a:pPr>
            <a:r>
              <a:rPr lang="en-US" sz="1300" i="1" dirty="0">
                <a:solidFill>
                  <a:srgbClr val="6B6B80"/>
                </a:solidFill>
                <a:latin typeface="Arial" pitchFamily="34" charset="0"/>
                <a:ea typeface="Arial" pitchFamily="34" charset="-122"/>
                <a:cs typeface="Arial" pitchFamily="34" charset="-120"/>
              </a:rPr>
              <a:t>סוג ההזיה = פונקציה / פרמטר / ספרייה / גרסה שלא קיימים. איך אימתת = הרצה / תיעוד.</a:t>
            </a:r>
            <a:endParaRPr lang="en-US" sz="1300" dirty="0"/>
          </a:p>
        </p:txBody>
      </p:sp>
      <p:sp>
        <p:nvSpPr>
          <p:cNvPr id="31" name="Shape 29"/>
          <p:cNvSpPr/>
          <p:nvPr/>
        </p:nvSpPr>
        <p:spPr>
          <a:xfrm>
            <a:off x="548640" y="5074920"/>
            <a:ext cx="11091672" cy="685800"/>
          </a:xfrm>
          <a:prstGeom prst="roundRect">
            <a:avLst>
              <a:gd name="adj" fmla="val 13333"/>
            </a:avLst>
          </a:prstGeom>
          <a:solidFill>
            <a:srgbClr val="1E2761"/>
          </a:solidFill>
          <a:ln/>
          <a:effectLst>
            <a:outerShdw sx="100000" sy="100000" kx="0" ky="0" algn="bl" rotWithShape="0" blurRad="76200" dist="25400" dir="5400000">
              <a:srgbClr val="999999">
                <a:alpha val="28000"/>
              </a:srgbClr>
            </a:outerShdw>
          </a:effectLst>
        </p:spPr>
      </p:sp>
      <p:sp>
        <p:nvSpPr>
          <p:cNvPr id="32" name="Text 30"/>
          <p:cNvSpPr/>
          <p:nvPr/>
        </p:nvSpPr>
        <p:spPr>
          <a:xfrm>
            <a:off x="868680" y="5257800"/>
            <a:ext cx="10451592" cy="320040"/>
          </a:xfrm>
          <a:prstGeom prst="rect">
            <a:avLst/>
          </a:prstGeom>
          <a:noFill/>
          <a:ln/>
        </p:spPr>
        <p:txBody>
          <a:bodyPr wrap="square" rtlCol="0" anchor="ctr"/>
          <a:lstStyle/>
          <a:p>
            <a:pPr rtl="1" algn="r" indent="0" marL="0">
              <a:buNone/>
            </a:pPr>
            <a:r>
              <a:rPr lang="en-US" sz="1550" b="1" dirty="0">
                <a:solidFill>
                  <a:srgbClr val="FFFFFF"/>
                </a:solidFill>
                <a:latin typeface="Arial" pitchFamily="34" charset="0"/>
                <a:ea typeface="Arial" pitchFamily="34" charset="-122"/>
                <a:cs typeface="Arial" pitchFamily="34" charset="-120"/>
              </a:rPr>
              <a:t>הטבלה הזו היא הבסיס לזיהוי מהיר של הזיות בהמשך — שמרו אותה.</a:t>
            </a:r>
            <a:endParaRPr lang="en-US" sz="1550" dirty="0"/>
          </a:p>
        </p:txBody>
      </p:sp>
      <p:sp>
        <p:nvSpPr>
          <p:cNvPr id="33" name="Text 31"/>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27 / 29</a:t>
            </a:r>
            <a:endParaRPr lang="en-US" sz="950" dirty="0"/>
          </a:p>
        </p:txBody>
      </p:sp>
      <p:sp>
        <p:nvSpPr>
          <p:cNvPr id="34" name="Text 32"/>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הגשה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קריטריוני הצלחה ותוצר</a:t>
            </a:r>
            <a:endParaRPr lang="en-US" sz="3300" dirty="0"/>
          </a:p>
        </p:txBody>
      </p:sp>
      <p:sp>
        <p:nvSpPr>
          <p:cNvPr id="4" name="Shape 2"/>
          <p:cNvSpPr/>
          <p:nvPr/>
        </p:nvSpPr>
        <p:spPr>
          <a:xfrm>
            <a:off x="6277356" y="1737360"/>
            <a:ext cx="5362956" cy="1965960"/>
          </a:xfrm>
          <a:prstGeom prst="roundRect">
            <a:avLst>
              <a:gd name="adj" fmla="val 4186"/>
            </a:avLst>
          </a:prstGeom>
          <a:solidFill>
            <a:srgbClr val="EAF3EA"/>
          </a:solidFill>
          <a:ln/>
          <a:effectLst>
            <a:outerShdw sx="100000" sy="100000" kx="0" ky="0" algn="bl" rotWithShape="0" blurRad="76200" dist="25400" dir="5400000">
              <a:srgbClr val="999999">
                <a:alpha val="28000"/>
              </a:srgbClr>
            </a:outerShdw>
          </a:effectLst>
        </p:spPr>
      </p:sp>
      <p:sp>
        <p:nvSpPr>
          <p:cNvPr id="5" name="Text 3"/>
          <p:cNvSpPr/>
          <p:nvPr/>
        </p:nvSpPr>
        <p:spPr>
          <a:xfrm>
            <a:off x="6551676" y="1920240"/>
            <a:ext cx="4814316" cy="365760"/>
          </a:xfrm>
          <a:prstGeom prst="rect">
            <a:avLst/>
          </a:prstGeom>
          <a:noFill/>
          <a:ln/>
        </p:spPr>
        <p:txBody>
          <a:bodyPr wrap="square" rtlCol="0" anchor="t"/>
          <a:lstStyle/>
          <a:p>
            <a:pPr rtl="1" algn="r" indent="0" marL="0">
              <a:buNone/>
            </a:pPr>
            <a:r>
              <a:rPr lang="en-US" sz="1500" b="1" dirty="0">
                <a:solidFill>
                  <a:srgbClr val="2E7D32"/>
                </a:solidFill>
                <a:latin typeface="Arial" pitchFamily="34" charset="0"/>
                <a:ea typeface="Arial" pitchFamily="34" charset="-122"/>
                <a:cs typeface="Arial" pitchFamily="34" charset="-120"/>
              </a:rPr>
              <a:t>הצלחתם אם...</a:t>
            </a:r>
            <a:endParaRPr lang="en-US" sz="1500" dirty="0"/>
          </a:p>
        </p:txBody>
      </p:sp>
      <p:sp>
        <p:nvSpPr>
          <p:cNvPr id="6" name="Text 4"/>
          <p:cNvSpPr/>
          <p:nvPr/>
        </p:nvSpPr>
        <p:spPr>
          <a:xfrm>
            <a:off x="6551676" y="2395728"/>
            <a:ext cx="4814316" cy="1188720"/>
          </a:xfrm>
          <a:prstGeom prst="rect">
            <a:avLst/>
          </a:prstGeom>
          <a:noFill/>
          <a:ln/>
        </p:spPr>
        <p:txBody>
          <a:bodyPr wrap="square" rtlCol="0" anchor="t"/>
          <a:lstStyle/>
          <a:p>
            <a:pPr rtl="1" algn="r" indent="0" marL="0">
              <a:lnSpc>
                <a:spcPct val="135000"/>
              </a:lnSpc>
              <a:buNone/>
            </a:pPr>
            <a:r>
              <a:rPr lang="en-US" sz="1450" dirty="0">
                <a:solidFill>
                  <a:srgbClr val="222232"/>
                </a:solidFill>
                <a:latin typeface="Arial" pitchFamily="34" charset="0"/>
                <a:ea typeface="Arial" pitchFamily="34" charset="-122"/>
                <a:cs typeface="Arial" pitchFamily="34" charset="-120"/>
              </a:rPr>
              <a:t>✓  זיהיתם את 3 ההזיות בניסוי א'</a:t>
            </a:r>
            <a:endParaRPr lang="en-US" sz="1450" dirty="0"/>
          </a:p>
          <a:p>
            <a:pPr rtl="1" algn="r" indent="0" marL="0">
              <a:lnSpc>
                <a:spcPct val="135000"/>
              </a:lnSpc>
              <a:buNone/>
            </a:pPr>
            <a:r>
              <a:rPr lang="en-US" sz="1450" dirty="0">
                <a:solidFill>
                  <a:srgbClr val="222232"/>
                </a:solidFill>
                <a:latin typeface="Arial" pitchFamily="34" charset="0"/>
                <a:ea typeface="Arial" pitchFamily="34" charset="-122"/>
                <a:cs typeface="Arial" pitchFamily="34" charset="-120"/>
              </a:rPr>
              <a:t>✓  השוויתם 2 כלים בניסוי ב'</a:t>
            </a:r>
            <a:endParaRPr lang="en-US" sz="1450" dirty="0"/>
          </a:p>
          <a:p>
            <a:pPr rtl="1" algn="r" indent="0" marL="0">
              <a:lnSpc>
                <a:spcPct val="135000"/>
              </a:lnSpc>
              <a:buNone/>
            </a:pPr>
            <a:r>
              <a:rPr lang="en-US" sz="1450" dirty="0">
                <a:solidFill>
                  <a:srgbClr val="222232"/>
                </a:solidFill>
                <a:latin typeface="Arial" pitchFamily="34" charset="0"/>
                <a:ea typeface="Arial" pitchFamily="34" charset="-122"/>
                <a:cs typeface="Arial" pitchFamily="34" charset="-120"/>
              </a:rPr>
              <a:t>✓  אימתתם בהרצה או בתיעוד</a:t>
            </a:r>
            <a:endParaRPr lang="en-US" sz="1450" dirty="0"/>
          </a:p>
        </p:txBody>
      </p:sp>
      <p:sp>
        <p:nvSpPr>
          <p:cNvPr id="7" name="Shape 5"/>
          <p:cNvSpPr/>
          <p:nvPr/>
        </p:nvSpPr>
        <p:spPr>
          <a:xfrm>
            <a:off x="548640" y="1737360"/>
            <a:ext cx="5362956" cy="1965960"/>
          </a:xfrm>
          <a:prstGeom prst="roundRect">
            <a:avLst>
              <a:gd name="adj" fmla="val 4186"/>
            </a:avLst>
          </a:prstGeom>
          <a:solidFill>
            <a:srgbClr val="F2F3FA"/>
          </a:solidFill>
          <a:ln/>
          <a:effectLst>
            <a:outerShdw sx="100000" sy="100000" kx="0" ky="0" algn="bl" rotWithShape="0" blurRad="76200" dist="25400" dir="5400000">
              <a:srgbClr val="999999">
                <a:alpha val="28000"/>
              </a:srgbClr>
            </a:outerShdw>
          </a:effectLst>
        </p:spPr>
      </p:sp>
      <p:sp>
        <p:nvSpPr>
          <p:cNvPr id="8" name="Text 6"/>
          <p:cNvSpPr/>
          <p:nvPr/>
        </p:nvSpPr>
        <p:spPr>
          <a:xfrm>
            <a:off x="822960" y="1920240"/>
            <a:ext cx="4814316"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תוצר להגשה</a:t>
            </a:r>
            <a:endParaRPr lang="en-US" sz="1500" dirty="0"/>
          </a:p>
        </p:txBody>
      </p:sp>
      <p:sp>
        <p:nvSpPr>
          <p:cNvPr id="9" name="Text 7"/>
          <p:cNvSpPr/>
          <p:nvPr/>
        </p:nvSpPr>
        <p:spPr>
          <a:xfrm>
            <a:off x="822960" y="2395728"/>
            <a:ext cx="4814316" cy="1188720"/>
          </a:xfrm>
          <a:prstGeom prst="rect">
            <a:avLst/>
          </a:prstGeom>
          <a:noFill/>
          <a:ln/>
        </p:spPr>
        <p:txBody>
          <a:bodyPr wrap="square" rtlCol="0" anchor="t"/>
          <a:lstStyle/>
          <a:p>
            <a:pPr rtl="1" algn="r" indent="0" marL="0">
              <a:buNone/>
            </a:pPr>
            <a:r>
              <a:rPr lang="en-US" sz="1400" dirty="0">
                <a:solidFill>
                  <a:srgbClr val="222232"/>
                </a:solidFill>
                <a:latin typeface="Arial" pitchFamily="34" charset="0"/>
                <a:ea typeface="Arial" pitchFamily="34" charset="-122"/>
                <a:cs typeface="Arial" pitchFamily="34" charset="-120"/>
              </a:rPr>
              <a:t>טבלת ניתוח שגיאות מלאה (מניסוי א' + ב'), עם עמודת “איך אימתת” לכל שורה + משפט סיכום: מה למדתם על מתי הזיות צפויות.</a:t>
            </a:r>
            <a:endParaRPr lang="en-US" sz="1400" dirty="0"/>
          </a:p>
        </p:txBody>
      </p:sp>
      <p:sp>
        <p:nvSpPr>
          <p:cNvPr id="10" name="Shape 8"/>
          <p:cNvSpPr/>
          <p:nvPr/>
        </p:nvSpPr>
        <p:spPr>
          <a:xfrm>
            <a:off x="548640" y="3931920"/>
            <a:ext cx="11091672" cy="777240"/>
          </a:xfrm>
          <a:prstGeom prst="roundRect">
            <a:avLst>
              <a:gd name="adj" fmla="val 11765"/>
            </a:avLst>
          </a:prstGeom>
          <a:solidFill>
            <a:srgbClr val="E7F5F6"/>
          </a:solidFill>
          <a:ln/>
          <a:effectLst>
            <a:outerShdw sx="100000" sy="100000" kx="0" ky="0" algn="bl" rotWithShape="0" blurRad="76200" dist="25400" dir="5400000">
              <a:srgbClr val="999999">
                <a:alpha val="28000"/>
              </a:srgbClr>
            </a:outerShdw>
          </a:effectLst>
        </p:spPr>
      </p:sp>
      <p:sp>
        <p:nvSpPr>
          <p:cNvPr id="11" name="Text 9"/>
          <p:cNvSpPr/>
          <p:nvPr/>
        </p:nvSpPr>
        <p:spPr>
          <a:xfrm>
            <a:off x="868680" y="4114800"/>
            <a:ext cx="10451592" cy="411480"/>
          </a:xfrm>
          <a:prstGeom prst="rect">
            <a:avLst/>
          </a:prstGeom>
          <a:noFill/>
          <a:ln/>
        </p:spPr>
        <p:txBody>
          <a:bodyPr wrap="square" rtlCol="0" anchor="ctr"/>
          <a:lstStyle/>
          <a:p>
            <a:pPr rtl="1" algn="r" indent="0" marL="0">
              <a:buNone/>
            </a:pPr>
            <a:r>
              <a:rPr lang="en-US" sz="1450" b="1" dirty="0">
                <a:solidFill>
                  <a:srgbClr val="222232"/>
                </a:solidFill>
                <a:latin typeface="Arial" pitchFamily="34" charset="0"/>
                <a:ea typeface="Arial" pitchFamily="34" charset="-122"/>
                <a:cs typeface="Arial" pitchFamily="34" charset="-120"/>
              </a:rPr>
              <a:t>בונוס: בקשו מהכלי “להוכיח” שהפונקציה קיימת (מקור/תיעוד) — וראו איך הוא מגיב.</a:t>
            </a:r>
            <a:endParaRPr lang="en-US" sz="1450" dirty="0"/>
          </a:p>
        </p:txBody>
      </p:sp>
      <p:sp>
        <p:nvSpPr>
          <p:cNvPr id="12" name="Shape 10"/>
          <p:cNvSpPr/>
          <p:nvPr/>
        </p:nvSpPr>
        <p:spPr>
          <a:xfrm>
            <a:off x="548640" y="4846320"/>
            <a:ext cx="11091672" cy="685800"/>
          </a:xfrm>
          <a:prstGeom prst="roundRect">
            <a:avLst>
              <a:gd name="adj" fmla="val 13333"/>
            </a:avLst>
          </a:prstGeom>
          <a:solidFill>
            <a:srgbClr val="9A6A00"/>
          </a:solidFill>
          <a:ln/>
          <a:effectLst>
            <a:outerShdw sx="100000" sy="100000" kx="0" ky="0" algn="bl" rotWithShape="0" blurRad="76200" dist="25400" dir="5400000">
              <a:srgbClr val="999999">
                <a:alpha val="28000"/>
              </a:srgbClr>
            </a:outerShdw>
          </a:effectLst>
        </p:spPr>
      </p:sp>
      <p:sp>
        <p:nvSpPr>
          <p:cNvPr id="13" name="Text 11"/>
          <p:cNvSpPr/>
          <p:nvPr/>
        </p:nvSpPr>
        <p:spPr>
          <a:xfrm>
            <a:off x="868680" y="5029200"/>
            <a:ext cx="10451592" cy="320040"/>
          </a:xfrm>
          <a:prstGeom prst="rect">
            <a:avLst/>
          </a:prstGeom>
          <a:noFill/>
          <a:ln/>
        </p:spPr>
        <p:txBody>
          <a:bodyPr wrap="square"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זכרו: לא ראיתם בתיעוד / לא הרצתם = לא לסמוך.</a:t>
            </a:r>
            <a:endParaRPr lang="en-US" sz="1600" dirty="0"/>
          </a:p>
        </p:txBody>
      </p:sp>
      <p:sp>
        <p:nvSpPr>
          <p:cNvPr id="14" name="Text 12"/>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28 / 29</a:t>
            </a:r>
            <a:endParaRPr lang="en-US" sz="950" dirty="0"/>
          </a:p>
        </p:txBody>
      </p:sp>
      <p:sp>
        <p:nvSpPr>
          <p:cNvPr id="15" name="Text 13"/>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2286000"/>
            <a:ext cx="11091672" cy="548640"/>
          </a:xfrm>
          <a:prstGeom prst="rect">
            <a:avLst/>
          </a:prstGeom>
          <a:noFill/>
          <a:ln/>
        </p:spPr>
        <p:txBody>
          <a:bodyPr wrap="square" rtlCol="0" anchor="t"/>
          <a:lstStyle/>
          <a:p>
            <a:pPr rtl="1" algn="r" indent="0" marL="0">
              <a:buNone/>
            </a:pPr>
            <a:r>
              <a:rPr lang="en-US" sz="2000" b="1" dirty="0">
                <a:solidFill>
                  <a:srgbClr val="0E9AA7"/>
                </a:solidFill>
                <a:latin typeface="Arial" pitchFamily="34" charset="0"/>
                <a:ea typeface="Arial" pitchFamily="34" charset="-122"/>
                <a:cs typeface="Arial" pitchFamily="34" charset="-120"/>
              </a:rPr>
              <a:t>סוף מפגש 2</a:t>
            </a:r>
            <a:endParaRPr lang="en-US" sz="2000" dirty="0"/>
          </a:p>
        </p:txBody>
      </p:sp>
      <p:sp>
        <p:nvSpPr>
          <p:cNvPr id="3" name="Text 1"/>
          <p:cNvSpPr/>
          <p:nvPr/>
        </p:nvSpPr>
        <p:spPr>
          <a:xfrm>
            <a:off x="548640" y="2880360"/>
            <a:ext cx="11091672" cy="914400"/>
          </a:xfrm>
          <a:prstGeom prst="rect">
            <a:avLst/>
          </a:prstGeom>
          <a:noFill/>
          <a:ln/>
        </p:spPr>
        <p:txBody>
          <a:bodyPr wrap="square" rtlCol="0" anchor="t"/>
          <a:lstStyle/>
          <a:p>
            <a:pPr rtl="1" algn="r" indent="0" marL="0">
              <a:buNone/>
            </a:pPr>
            <a:r>
              <a:rPr lang="en-US" sz="4400" b="1" dirty="0">
                <a:solidFill>
                  <a:srgbClr val="FFFFFF"/>
                </a:solidFill>
                <a:latin typeface="Arial" pitchFamily="34" charset="0"/>
                <a:ea typeface="Arial" pitchFamily="34" charset="-122"/>
                <a:cs typeface="Arial" pitchFamily="34" charset="-120"/>
              </a:rPr>
              <a:t>נתראה במפגש 3</a:t>
            </a:r>
            <a:endParaRPr lang="en-US" sz="4400" dirty="0"/>
          </a:p>
        </p:txBody>
      </p:sp>
      <p:sp>
        <p:nvSpPr>
          <p:cNvPr id="4" name="Text 2"/>
          <p:cNvSpPr/>
          <p:nvPr/>
        </p:nvSpPr>
        <p:spPr>
          <a:xfrm>
            <a:off x="548640" y="3977640"/>
            <a:ext cx="11091672" cy="548640"/>
          </a:xfrm>
          <a:prstGeom prst="rect">
            <a:avLst/>
          </a:prstGeom>
          <a:noFill/>
          <a:ln/>
        </p:spPr>
        <p:txBody>
          <a:bodyPr wrap="square" rtlCol="0" anchor="t"/>
          <a:lstStyle/>
          <a:p>
            <a:pPr rtl="1" algn="r" indent="0" marL="0">
              <a:buNone/>
            </a:pPr>
            <a:r>
              <a:rPr lang="en-US" sz="1800" dirty="0">
                <a:solidFill>
                  <a:srgbClr val="CADCFC"/>
                </a:solidFill>
                <a:latin typeface="Arial" pitchFamily="34" charset="0"/>
                <a:ea typeface="Arial" pitchFamily="34" charset="-122"/>
                <a:cs typeface="Arial" pitchFamily="34" charset="-120"/>
              </a:rPr>
              <a:t>Prompt Engineering — איך לנסח בקשה שתיתן קוד טוב, ולהקטין הזיות</a:t>
            </a:r>
            <a:endParaRPr lang="en-US" sz="1800" dirty="0"/>
          </a:p>
        </p:txBody>
      </p:sp>
      <p:sp>
        <p:nvSpPr>
          <p:cNvPr id="5" name="Text 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AEB4D6"/>
                </a:solidFill>
                <a:latin typeface="Arial" pitchFamily="34" charset="0"/>
                <a:ea typeface="Arial" pitchFamily="34" charset="-122"/>
                <a:cs typeface="Arial" pitchFamily="34" charset="-120"/>
              </a:rPr>
              <a:t>29 / 29</a:t>
            </a:r>
            <a:endParaRPr lang="en-US" sz="950" dirty="0"/>
          </a:p>
        </p:txBody>
      </p:sp>
      <p:sp>
        <p:nvSpPr>
          <p:cNvPr id="6" name="Text 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AEB4D6"/>
                </a:solidFill>
                <a:latin typeface="Arial" pitchFamily="34" charset="0"/>
                <a:ea typeface="Arial" pitchFamily="34" charset="-122"/>
                <a:cs typeface="Arial" pitchFamily="34" charset="-120"/>
              </a:rPr>
              <a:t>Vibe Coding · מפגש 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2026-07-28T20:48:18Z</dcterms:created>
  <dcterms:modified xsi:type="dcterms:W3CDTF">2026-07-28T20:48:18Z</dcterms:modified>
</cp:coreProperties>
</file>