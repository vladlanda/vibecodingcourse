
<file path=[Content_Types].xml><?xml version="1.0" encoding="utf-8"?>
<Types xmlns="http://schemas.openxmlformats.org/package/2006/content-types">
  <Default Extension="fntdata" ContentType="application/x-fontdata"/>
  <Default Extension="rels" ContentType="application/vnd.openxmlformats-package.relationships+xml"/>
  <Default Extension="xlsx" ContentType="application/vnd.openxmlformats-officedocument.spreadsheetml.sheet"/>
  <Default Extension="xml" ContentType="application/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11"/>
    <p:sldId id="257" r:id="rId12"/>
    <p:sldId id="258" r:id="rId13"/>
    <p:sldId id="320" r:id="rId65"/>
    <p:sldId id="321" r:id="rId66"/>
    <p:sldId id="259" r:id="rId14"/>
    <p:sldId id="260" r:id="rId15"/>
    <p:sldId id="261" r:id="rId16"/>
    <p:sldId id="262" r:id="rId17"/>
    <p:sldId id="263" r:id="rId18"/>
    <p:sldId id="264" r:id="rId19"/>
    <p:sldId id="265" r:id="rId20"/>
    <p:sldId id="266" r:id="rId21"/>
    <p:sldId id="267" r:id="rId22"/>
    <p:sldId id="310" r:id="rId53"/>
    <p:sldId id="311" r:id="rId52"/>
    <p:sldId id="312" r:id="rId50"/>
    <p:sldId id="313" r:id="rId41"/>
    <p:sldId id="314" r:id="rId40"/>
    <p:sldId id="322" r:id="rId67"/>
    <p:sldId id="268" r:id="rId23"/>
    <p:sldId id="305" r:id="rId7"/>
    <p:sldId id="270" r:id="rId25"/>
    <p:sldId id="271" r:id="rId26"/>
    <p:sldId id="306" r:id="rId61"/>
    <p:sldId id="274" r:id="rId29"/>
    <p:sldId id="275" r:id="rId30"/>
    <p:sldId id="276" r:id="rId31"/>
    <p:sldId id="277" r:id="rId32"/>
    <p:sldId id="278" r:id="rId33"/>
    <p:sldId id="315" r:id="rId39"/>
    <p:sldId id="279" r:id="rId34"/>
    <p:sldId id="280" r:id="rId35"/>
    <p:sldId id="281" r:id="rId36"/>
    <p:sldId id="316" r:id="rId38"/>
    <p:sldId id="323" r:id="rId68"/>
    <p:sldId id="282" r:id="rId37"/>
    <p:sldId id="307" r:id="rId62"/>
    <p:sldId id="287" r:id="rId42"/>
    <p:sldId id="317" r:id="rId28"/>
    <p:sldId id="288" r:id="rId43"/>
    <p:sldId id="289" r:id="rId44"/>
    <p:sldId id="290" r:id="rId45"/>
    <p:sldId id="291" r:id="rId46"/>
    <p:sldId id="292" r:id="rId47"/>
    <p:sldId id="293" r:id="rId48"/>
    <p:sldId id="318" r:id="rId27"/>
    <p:sldId id="324" r:id="rId69"/>
    <p:sldId id="294" r:id="rId49"/>
    <p:sldId id="296" r:id="rId51"/>
    <p:sldId id="308" r:id="rId63"/>
    <p:sldId id="309" r:id="rId64"/>
    <p:sldId id="299" r:id="rId54"/>
    <p:sldId id="300" r:id="rId55"/>
    <p:sldId id="301" r:id="rId56"/>
    <p:sldId id="302" r:id="rId10"/>
    <p:sldId id="303" r:id="rId9"/>
    <p:sldId id="319" r:id="rId24"/>
    <p:sldId id="304" r:id="rId8"/>
  </p:sldIdLst>
  <p:sldSz cy="5143500" cx="9144000"/>
  <p:notesSz cx="6858000" cy="9144000"/>
  <p:embeddedFontLst>
    <p:embeddedFont>
      <p:font typeface="Roboto Mono"/>
      <p:regular r:id="rId57"/>
      <p:bold r:id="rId58"/>
      <p:italic r:id="rId59"/>
      <p:boldItalic r:id="rId6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9DD8FB8-E6A7-485A-9FB0-3124AB043D13}">
  <a:tblStyle styleId="{E9DD8FB8-E6A7-485A-9FB0-3124AB043D13}"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22.xml"/><Relationship Id="rId8" Type="http://schemas.openxmlformats.org/officeDocument/2006/relationships/slide" Target="slides/slide59.xml"/><Relationship Id="rId9" Type="http://schemas.openxmlformats.org/officeDocument/2006/relationships/slide" Target="slides/slide57.xml"/><Relationship Id="rId10" Type="http://schemas.openxmlformats.org/officeDocument/2006/relationships/slide" Target="slides/slide56.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21.xml"/><Relationship Id="rId24" Type="http://schemas.openxmlformats.org/officeDocument/2006/relationships/slide" Target="slides/slide58.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47.xml"/><Relationship Id="rId28" Type="http://schemas.openxmlformats.org/officeDocument/2006/relationships/slide" Target="slides/slide40.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7.xml"/><Relationship Id="rId38" Type="http://schemas.openxmlformats.org/officeDocument/2006/relationships/slide" Target="slides/slide35.xml"/><Relationship Id="rId39" Type="http://schemas.openxmlformats.org/officeDocument/2006/relationships/slide" Target="slides/slide31.xml"/><Relationship Id="rId40" Type="http://schemas.openxmlformats.org/officeDocument/2006/relationships/slide" Target="slides/slide19.xml"/><Relationship Id="rId41" Type="http://schemas.openxmlformats.org/officeDocument/2006/relationships/slide" Target="slides/slide18.xml"/><Relationship Id="rId42" Type="http://schemas.openxmlformats.org/officeDocument/2006/relationships/slide" Target="slides/slide39.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9.xml"/><Relationship Id="rId50" Type="http://schemas.openxmlformats.org/officeDocument/2006/relationships/slide" Target="slides/slide17.xml"/><Relationship Id="rId51" Type="http://schemas.openxmlformats.org/officeDocument/2006/relationships/slide" Target="slides/slide50.xml"/><Relationship Id="rId52" Type="http://schemas.openxmlformats.org/officeDocument/2006/relationships/slide" Target="slides/slide16.xml"/><Relationship Id="rId53" Type="http://schemas.openxmlformats.org/officeDocument/2006/relationships/slide" Target="slides/slide15.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font" Target="fonts/RobotoMono-regular.fntdata"/><Relationship Id="rId58" Type="http://schemas.openxmlformats.org/officeDocument/2006/relationships/font" Target="fonts/RobotoMono-bold.fntdata"/><Relationship Id="rId59" Type="http://schemas.openxmlformats.org/officeDocument/2006/relationships/font" Target="fonts/RobotoMono-italic.fntdata"/><Relationship Id="rId60" Type="http://schemas.openxmlformats.org/officeDocument/2006/relationships/font" Target="fonts/RobotoMono-boldItalic.fntdata"/><Relationship Id="rId61" Type="http://schemas.openxmlformats.org/officeDocument/2006/relationships/slide" Target="slides/slide25.xml"/><Relationship Id="rId62" Type="http://schemas.openxmlformats.org/officeDocument/2006/relationships/slide" Target="slides/slide38.xml"/><Relationship Id="rId63" Type="http://schemas.openxmlformats.org/officeDocument/2006/relationships/slide" Target="slides/slide51.xml"/><Relationship Id="rId64" Type="http://schemas.openxmlformats.org/officeDocument/2006/relationships/slide" Target="slides/slide52.xml"/><Relationship Id="rId65" Type="http://schemas.openxmlformats.org/officeDocument/2006/relationships/slide" Target="slides/slide4.xml"/><Relationship Id="rId66" Type="http://schemas.openxmlformats.org/officeDocument/2006/relationships/slide" Target="slides/slide5.xml"/><Relationship Id="rId67" Type="http://schemas.openxmlformats.org/officeDocument/2006/relationships/slide" Target="slides/slide20.xml"/><Relationship Id="rId68" Type="http://schemas.openxmlformats.org/officeDocument/2006/relationships/slide" Target="slides/slide36.xml"/><Relationship Id="rId69" Type="http://schemas.openxmlformats.org/officeDocument/2006/relationships/slide" Target="slides/slide4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c:v>
                </c:pt>
              </c:strCache>
            </c:strRef>
          </c:tx>
          <c:spPr>
            <a:solidFill>
              <a:srgbClr val="EA4335"/>
            </a:solidFill>
          </c:spPr>
          <c:cat>
            <c:strRef>
              <c:f>Sheet1!$A$2:$A$4</c:f>
              <c:strCache>
                <c:ptCount val="3"/>
                <c:pt idx="0">
                  <c:v>3,000</c:v>
                </c:pt>
                <c:pt idx="1">
                  <c:v>30,000</c:v>
                </c:pt>
                <c:pt idx="2">
                  <c:v>300,000</c:v>
                </c:pt>
              </c:strCache>
            </c:strRef>
          </c:cat>
          <c:val>
            <c:numRef>
              <c:f>Sheet1!$B$2:$B$4</c:f>
              <c:numCache>
                <c:formatCode>General</c:formatCode>
                <c:ptCount val="3"/>
                <c:pt idx="0">
                  <c:v>0.042</c:v>
                </c:pt>
                <c:pt idx="1">
                  <c:v>0.403</c:v>
                </c:pt>
                <c:pt idx="2">
                  <c:v>3.836</c:v>
                </c:pt>
              </c:numCache>
            </c:numRef>
          </c:val>
        </c:ser>
        <c:dLbls>
          <c:numFmt formatCode="0.00" sourceLinked="0"/>
          <c:txPr>
            <a:bodyPr/>
            <a:lstStyle/>
            <a:p>
              <a:pPr>
                <a:defRPr sz="14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txPr>
          <a:bodyPr/>
          <a:lstStyle/>
          <a:p>
            <a:pPr>
              <a:defRPr sz="1400"/>
            </a:pPr>
          </a:p>
        </c:txPr>
        <c:crossAx val="-2113994440"/>
        <c:crosses val="autoZero"/>
        <c:auto val="1"/>
        <c:lblAlgn val="ctr"/>
        <c:lblOffset val="100"/>
        <c:noMultiLvlLbl val="0"/>
      </c:catAx>
      <c:valAx>
        <c:axId val="-2113994440"/>
        <c:scaling/>
        <c:delete val="0"/>
        <c:axPos val="l"/>
        <c:majorTickMark val="out"/>
        <c:minorTickMark val="none"/>
        <c:tickLblPos val="nextTo"/>
        <c:txPr>
          <a:bodyPr/>
          <a:lstStyle/>
          <a:p>
            <a:pPr>
              <a:defRPr sz="1100"/>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פתיחה (7 דקות כולל מטרות ומפת המפגש).</a:t>
            </a:r>
          </a:p>
          <a:p>
            <a:pPr rtl="1" algn="r" marL="0" indent="0">
              <a:buNone/>
            </a:pPr>
            <a:r>
              <a:rPr b="1" sz="1200" lang="he-IL"/>
              <a:t>מה אומרים</a:t>
            </a:r>
          </a:p>
          <a:p>
            <a:pPr rtl="1" algn="r" marL="0" indent="0">
              <a:buNone/>
            </a:pPr>
            <a:r>
              <a:rPr sz="1200" lang="he-IL"/>
              <a:t>•  מטרת השקף: ליצור זיהוי רגשי לפני שמגדירים מושגים.</a:t>
            </a:r>
          </a:p>
          <a:p>
            <a:pPr rtl="1" algn="r" marL="0" indent="0">
              <a:buNone/>
            </a:pPr>
            <a:r>
              <a:rPr sz="1200" lang="he-IL"/>
              <a:t>•  הציגו את התיקייה וצביעו על כל שורה: קובץ בשם final_v3_REAL_fix, תיקיית backup, קובץ שאולי לא בשימוש, README ריק.</a:t>
            </a:r>
          </a:p>
          <a:p>
            <a:pPr rtl="1" algn="r" marL="0" indent="0">
              <a:buNone/>
            </a:pPr>
            <a:r>
              <a:rPr b="1" sz="1200" lang="he-IL"/>
              <a:t>שאלה לכיתה</a:t>
            </a:r>
          </a:p>
          <a:p>
            <a:pPr rtl="1" algn="r" marL="0" indent="0">
              <a:buNone/>
            </a:pPr>
            <a:r>
              <a:rPr sz="1200" lang="he-IL"/>
              <a:t>•  מי נתקל בזה?</a:t>
            </a:r>
          </a:p>
          <a:p>
            <a:pPr rtl="1" algn="r" marL="0" indent="0">
              <a:buNone/>
            </a:pPr>
            <a:r>
              <a:rPr sz="1200" lang="he-IL"/>
              <a:t>•  מה הרגשתם?</a:t>
            </a:r>
          </a:p>
          <a:p>
            <a:pPr rtl="1" algn="r" marL="0" indent="0">
              <a:buNone/>
            </a:pPr>
            <a:r>
              <a:rPr sz="1200" lang="he-IL"/>
              <a:t>•  אנלוגיה מהתעשייה: נוהל עבודה בקו ייצור שנכתב לפני חצי שנה ואף אחד לא מבין אותו, ולכן אף אחד לא מעז לשנות אותו.</a:t>
            </a:r>
          </a:p>
          <a:p>
            <a:pPr rtl="1" algn="r" marL="0" indent="0">
              <a:buNone/>
            </a:pPr>
            <a:r>
              <a:rPr sz="1200" lang="he-IL"/>
              <a:t>•  למה אף אחד לא מעז לגעת בקוד הזה?</a:t>
            </a:r>
          </a:p>
          <a:p>
            <a:pPr rtl="1" algn="r" marL="0" indent="0">
              <a:buNone/>
            </a:pPr>
            <a:r>
              <a:rPr b="1" sz="1200" lang="he-IL"/>
              <a:t>תשובה</a:t>
            </a:r>
          </a:p>
          <a:p>
            <a:pPr rtl="1" algn="r" marL="0" indent="0">
              <a:buNone/>
            </a:pPr>
            <a:r>
              <a:rPr sz="1200" lang="he-IL"/>
              <a:t>•  אין בדיקות, לא ברור מה קשור למה, ולא ברור מה ישבר.</a:t>
            </a:r>
          </a:p>
          <a:p>
            <a:pPr rtl="1" algn="r" marL="0" indent="0">
              <a:buNone/>
            </a:pPr>
            <a:r>
              <a:rPr sz="1200" lang="he-IL"/>
              <a:t>•  הסבירו שבשיעור הזה לומדים לסדר קוד בלי לשבור אותו, לתכנן מבנה שמחזיק כשהפרויקט גדל, ולקלוט קוד של מישהו אחר.</a:t>
            </a:r>
          </a:p>
          <a:p>
            <a:pPr rtl="1" algn="r" marL="0" indent="0">
              <a:buNone/>
            </a:pPr>
            <a:r>
              <a:rPr sz="1200" lang="he-IL"/>
              <a:t>•  עם AI הקוד נוצר מהר יותר, ולכן גם הבלגן נוצר מהר יותר, וזו הסיבה שהשיעור הזה חשוב דווקא עכשיו.</a:t>
            </a:r>
          </a:p>
          <a:p>
            <a:pPr rtl="1" algn="r" marL="0" indent="0">
              <a:buNone/>
            </a:pPr>
            <a:r>
              <a:rPr sz="1200" lang="he-IL"/>
              <a:t>•  גשר: הקוד המבולגן הוא גם נקודת המעבר מהמפגש הקודם.</a:t>
            </a:r>
          </a:p>
          <a:p>
            <a:pPr rtl="1" algn="r" marL="0" indent="0">
              <a:buNone/>
            </a:pPr>
            <a:r>
              <a:rPr sz="1200" lang="he-IL"/>
              <a:t>•  בסוף מפגש 10 ביקשנו מכם לחשוב איזה חלק בקוד גדל והתבלגן, וכאן רואים איך נראה חלק כזה.</a:t>
            </a:r>
          </a:p>
          <a:p>
            <a:pPr rtl="1" algn="r" marL="0" indent="0">
              <a:buNone/>
            </a:pPr>
            <a:r>
              <a:rPr sz="1200" lang="he-IL"/>
              <a:t>•  מבנה הפתיחה (7 דקות): שקף זה כדקה וחצי, מטרות כדקה, מפת המפגש כדקה, ״במפגשים הקודמים״ כשתי דקות וחצי ו״השאלה של היום״ כדקה.</a:t>
            </a:r>
          </a:p>
          <a:p>
            <a:pPr rtl="1" algn="r" marL="0" indent="0">
              <a:buNone/>
            </a:pPr>
            <a:r>
              <a:rPr sz="1200" lang="he-IL"/>
              <a:t>•  בלי בדיקות, בלי commit ובלי README, זה בדיוק המצב שהכלים של מפגשים 6, 8 ו־9 נועדו לשפר.</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מטרות המפגש (כדקה, חלק מהפתיחה).</a:t>
            </a:r>
          </a:p>
          <a:p>
            <a:pPr rtl="1" algn="r" marL="0" indent="0">
              <a:buNone/>
            </a:pPr>
            <a:r>
              <a:rPr b="1" sz="1200" lang="he-IL"/>
              <a:t>מה אומרים</a:t>
            </a:r>
          </a:p>
          <a:p>
            <a:pPr rtl="1" algn="r" marL="0" indent="0">
              <a:buNone/>
            </a:pPr>
            <a:r>
              <a:rPr sz="1200" lang="he-IL"/>
              <a:t>•  עברו על ארבעת היעדים לפי הסדר וקשרו כל אחד למילה אחת: להגדיר, לזהות, להסביר, לקלוט.</a:t>
            </a:r>
          </a:p>
          <a:p>
            <a:pPr rtl="1" algn="r" marL="0" indent="0">
              <a:buNone/>
            </a:pPr>
            <a:r>
              <a:rPr sz="1200" lang="he-IL"/>
              <a:t>•  הדגישו שהמפגש מעשי: שלוש מעבדות, וכולן במחברת Colab אחת (HM_11) שזמינה בקישור (QR) במעבדות.</a:t>
            </a:r>
          </a:p>
          <a:p>
            <a:pPr rtl="1" algn="r" marL="0" indent="0">
              <a:buNone/>
            </a:pPr>
            <a:r>
              <a:rPr sz="1200" lang="he-IL"/>
              <a:t>•  אל תיכנסו עדיין להגדרת Refactoring, רק הכינו את הקרקע.</a:t>
            </a:r>
          </a:p>
          <a:p>
            <a:pPr rtl="1" algn="r" marL="0" indent="0">
              <a:buNone/>
            </a:pPr>
            <a:r>
              <a:rPr b="1" sz="1200" lang="he-IL"/>
              <a:t>שאלה לכיתה</a:t>
            </a:r>
          </a:p>
          <a:p>
            <a:pPr rtl="1" algn="r" marL="0" indent="0">
              <a:buNone/>
            </a:pPr>
            <a:r>
              <a:rPr sz="1200" lang="he-IL"/>
              <a:t>•  מי מרגיש בטוח לקרוא קוד שכתב מישהו אחר?</a:t>
            </a:r>
          </a:p>
          <a:p>
            <a:pPr rtl="1" algn="r" marL="0" indent="0">
              <a:buNone/>
            </a:pPr>
            <a:r>
              <a:rPr sz="1200" lang="he-IL"/>
              <a:t>•  בדרך כלל מעטים, וזה בסדר.</a:t>
            </a:r>
          </a:p>
          <a:p>
            <a:pPr rtl="1" algn="r" marL="0" indent="0">
              <a:buNone/>
            </a:pPr>
            <a:r>
              <a:rPr sz="1200" lang="he-IL"/>
              <a:t>•  הבטיחו שבסוף יהיה בידיהם תהליך של חמישה צעדים שאפשר לחזור עליו.</a:t>
            </a:r>
          </a:p>
          <a:p>
            <a:pPr rtl="1" algn="r" marL="0" indent="0">
              <a:buNone/>
            </a:pPr>
            <a:r>
              <a:rPr sz="1200" lang="he-IL"/>
              <a:t>•  קישור לסילבוס: נושאי השיעור הם Refactoring בעזרת AI, עקרונות מעבר ל׳זה עובד׳ (תחזוקתיות, עיצוב API וקנה מידה) וקליטת קוד של אחרים.</a:t>
            </a:r>
          </a:p>
          <a:p>
            <a:pPr rtl="1" algn="r" marL="0" indent="0">
              <a:buNone/>
            </a:pPr>
            <a:r>
              <a:rPr sz="1200" lang="he-IL"/>
              <a:t>•  יעדי העשרה (אופציונליים, לא נדרשים בבחינה): להכיר את קטלוג ה־Refactoring של Fowler ולשייך לכל צעד במעבדה שם מקובל</a:t>
            </a:r>
          </a:p>
          <a:p>
            <a:pPr rtl="1" algn="r" marL="0" indent="0">
              <a:buNone/>
            </a:pPr>
            <a:r>
              <a:rPr sz="1200" lang="he-IL"/>
              <a:t>•  להבחין בין בדיקה רגילה לבין מבחן אפיון (golden master)</a:t>
            </a:r>
          </a:p>
          <a:p>
            <a:pPr rtl="1" algn="r" marL="0" indent="0">
              <a:buNone/>
            </a:pPr>
            <a:r>
              <a:rPr sz="1200" lang="he-IL"/>
              <a:t>•  להסביר חוב טכני ואת הקשר בין ארכיטקטורה, עיצוב וארגון הצוות (חוק Conway)</a:t>
            </a:r>
          </a:p>
          <a:p>
            <a:pPr rtl="1" algn="r" marL="0" indent="0">
              <a:buNone/>
            </a:pPr>
            <a:r>
              <a:rPr sz="1200" lang="he-IL"/>
              <a:t>•  לדעת מה המחקר הראשוני אומר על איכות קוד שנכתב עם AI, ועל מה הוא לא יכול לטעון</a:t>
            </a:r>
          </a:p>
          <a:p>
            <a:pPr rtl="1" algn="r" marL="0" indent="0">
              <a:buNone/>
            </a:pPr>
            <a:r>
              <a:rPr sz="1200" lang="he-IL"/>
              <a:t>•  ולהכיר מסמך החלטה (ADR) כהשלמה למסמך העברה.</a:t>
            </a:r>
          </a:p>
          <a:p>
            <a:pPr rtl="1" algn="r" marL="0" indent="0">
              <a:buNone/>
            </a:pPr>
            <a:r>
              <a:rPr sz="1200" lang="he-IL"/>
              <a:t>•  שקפי ההעשרה מסומנים בתג כחול בפינה ומופיעים בסוף כל בלוק תיאוריה, לפני המעבדה.</a:t>
            </a:r>
          </a:p>
          <a:p>
            <a:pPr rtl="1" algn="r" marL="0" indent="0">
              <a:buNone/>
            </a:pPr>
            <a:r>
              <a:rPr sz="1200" lang="he-IL"/>
              <a:t>•  כשהזמן קצר מדלגים עליהם ללא פגיעה ביעדי המפגש.</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מפת המפגש, כדקה, 90 דקות.</a:t>
            </a:r>
          </a:p>
          <a:p>
            <a:pPr rtl="1" algn="r" marL="0" indent="0">
              <a:buNone/>
            </a:pPr>
            <a:r>
              <a:rPr b="1" sz="1200" lang="he-IL"/>
              <a:t>מה אומרים</a:t>
            </a:r>
          </a:p>
          <a:p>
            <a:pPr rtl="1" algn="r" marL="0" indent="0">
              <a:buNone/>
            </a:pPr>
            <a:r>
              <a:rPr sz="1200" lang="he-IL"/>
              <a:t>•  אחריה שני שקפי גשר: טבלת ״במפגשים הקודמים״ ו״השאלה של היום״, שנכנסים לתוך 7 דקות הפתיחה.</a:t>
            </a:r>
          </a:p>
          <a:p>
            <a:pPr rtl="1" algn="r" marL="0" indent="0">
              <a:buNone/>
            </a:pPr>
            <a:r>
              <a:rPr sz="1200" lang="he-IL"/>
              <a:t>•  פתיחה 7 (מי כתב את זה כדקה וחצי, מטרות כדקה, המפה כדקה, ״במפגשים הקודמים״ כשתי דקות וחצי ו״השאלה של היום״ כדקה), חלק א׳ (Refactoring) 12, מעבדה א׳ 18 (חלקים א׳ ו־ב׳ במחברת: רשת ביטחון וסידור קוד), חלק ב׳ (שכבות, API וקנה מידה) 11, מעבדה ב׳ 8 (חלק ג׳ במחברת: קנה מידה), חלק ג׳ (קליטת קוד של אחרים) 9, מעבדה ג׳ 13 (חלק ד׳ ומסקנה במחברת) וסיכום 12 (שקף ״להשלים בבית״ 1, בדיקת מוכנות 2, הכלל 1, חידון 5, סיכום 2, הכנה לשיעור הבא 1).</a:t>
            </a:r>
          </a:p>
          <a:p>
            <a:pPr rtl="1" algn="r" marL="0" indent="0">
              <a:buNone/>
            </a:pPr>
            <a:r>
              <a:rPr sz="1200" lang="he-IL"/>
              <a:t>•  סך זמני המעבדות הוא 39 דקות: יותר ממחצית הזמן הסטודנטים עובדים בעצמם.</a:t>
            </a:r>
          </a:p>
          <a:p>
            <a:pPr rtl="1" algn="r" marL="0" indent="0">
              <a:buNone/>
            </a:pPr>
            <a:r>
              <a:rPr sz="1200" lang="he-IL"/>
              <a:t>•  כחול הוא הסבר קצר וכתום הוא עבודה שלהם.</a:t>
            </a:r>
          </a:p>
          <a:p>
            <a:pPr rtl="1" algn="r" marL="0" indent="0">
              <a:buNone/>
            </a:pPr>
            <a:r>
              <a:rPr sz="1200" lang="he-IL"/>
              <a:t>•  תקציב ההרצאה בלי שקפים אופציונליים (הערכה לפי כדקה לשקף תוכן, 1.5 עד 2 לשקף מורכב, 2 לשאלת בדיקה עם דיון): חלק א׳ כ־11.5 דקות (הגדרה 1.5, למה זה חשוב 1, ריחות 1.5, לפני ואחרי 1.5, צעד קטן 2, golden master 2, שאלת בדיקה 2)</a:t>
            </a:r>
          </a:p>
          <a:p>
            <a:pPr rtl="1" algn="r" marL="0" indent="0">
              <a:buNone/>
            </a:pPr>
            <a:r>
              <a:rPr sz="1200" lang="he-IL"/>
              <a:t>•  חלק ב׳ כ־10.5 (שכבות 1.5, איפה כל פונקציה 1.5, כיוון תלות 1, API 2, קנה מידה 1, למה הלולאה איטית 1.5, שאלת בדיקה 2)</a:t>
            </a:r>
          </a:p>
          <a:p>
            <a:pPr rtl="1" algn="r" marL="0" indent="0">
              <a:buNone/>
            </a:pPr>
            <a:r>
              <a:rPr sz="1200" lang="he-IL"/>
              <a:t>•  חלק ג׳ כ־9 (חמישה צעדים 1.5, זרימה ב־legacy-repo 1.5, קוד־בייס גדול 1.5, מסמך העברה 1.5, README 1, שאלת בדיקה 1.5).</a:t>
            </a:r>
          </a:p>
          <a:p>
            <a:pPr rtl="1" algn="r" marL="0" indent="0">
              <a:buNone/>
            </a:pPr>
            <a:r>
              <a:rPr sz="1200" lang="he-IL"/>
              <a:t>•  שקף ״מהרעיון לפונקציה״ בתחילת מעבדה א׳ לוקח כדקה מתוך 18 דקות המעבדה.</a:t>
            </a:r>
          </a:p>
          <a:p>
            <a:pPr rtl="1" algn="r" marL="0" indent="0">
              <a:buNone/>
            </a:pPr>
            <a:r>
              <a:rPr sz="1200" lang="he-IL"/>
              <a:t>•  שקפים אופציונליים (תג ״אופציונלי״): טעות נפוצה בחלק א׳ (דקה), מה נשבר כשהנתונים גדלים בחלק ב׳ (דקה), ולבקש מה־AI להסביר מאגר בחלק ג׳ (1.5 דקות).</a:t>
            </a:r>
          </a:p>
          <a:p>
            <a:pPr rtl="1" algn="r" marL="0" indent="0">
              <a:buNone/>
            </a:pPr>
            <a:r>
              <a:rPr sz="1200" lang="he-IL"/>
              <a:t>•  שקפי העשרה (תג ״העשרה״, כ־1.5 דקות כל אחד): קטלוג Refactoring של Fowler, מבחן אפיון, חוב טכני ומה אומר המחקר על קוד AI (חלק א׳); ארכיטקטורה מול עיצוב וחוק Conway (חלק ב׳); מסמך החלטה ADR (חלק ג׳); וסוף השקפים: מקורות להעמקה (לקריאה בבית).</a:t>
            </a:r>
          </a:p>
          <a:p>
            <a:pPr rtl="1" algn="r" marL="0" indent="0">
              <a:buNone/>
            </a:pPr>
            <a:r>
              <a:rPr sz="1200" lang="he-IL"/>
              <a:t>•  עם כל האופציונלי וההעשרה מגיעים לכ־102 דקות, ועם בחירה של 3 עד 4 שקפים לכ־95 עד 97.</a:t>
            </a:r>
          </a:p>
          <a:p>
            <a:pPr rtl="1" algn="r" marL="0" indent="0">
              <a:buNone/>
            </a:pPr>
            <a:r>
              <a:rPr sz="1200" lang="he-IL"/>
              <a:t>•  אם מאחרים, סדר הקיצוץ הוא: קודם שקף המקורות (נשאר לקריאה בבית), אחר כך שקפי ההעשרה (מהסוף להתחלה), אחר כך האופציונליים, ורק אז מקצרים הסברים.</a:t>
            </a:r>
          </a:p>
          <a:p>
            <a:pPr rtl="1" algn="r" marL="0" indent="0">
              <a:buNone/>
            </a:pPr>
            <a:r>
              <a:rPr sz="1200" lang="he-IL"/>
              <a:t>•  לא מקצרים מעבדות.</a:t>
            </a:r>
          </a:p>
          <a:p>
            <a:pPr rtl="1" algn="r" marL="0" indent="0">
              <a:buNone/>
            </a:pPr>
            <a:r>
              <a:rPr sz="1200" lang="he-IL"/>
              <a:t>•  אם חייבים לקצר מעבדה, מקצרים את מעבדה א׳: מוותרים על שלבים 4 ו־5 של חלק ב׳, שהם מומלצים.</a:t>
            </a:r>
          </a:p>
          <a:p>
            <a:pPr rtl="1" algn="r" marL="0" indent="0">
              <a:buNone/>
            </a:pPr>
            <a:r>
              <a:rPr sz="1200" lang="he-IL"/>
              <a:t>•  לא מקצרים את מעבדה ב׳, כי המדידה היא הלב שלה.</a:t>
            </a:r>
          </a:p>
          <a:p>
            <a:pPr rtl="1" algn="r" marL="0" indent="0">
              <a:buNone/>
            </a:pPr>
            <a:r>
              <a:rPr sz="1200" lang="he-IL"/>
              <a:t>•  בקשו מכולם לוודא כבר עכשיו שהמחברת HM_11 נפתחת ב־Colab עם חשבון Google.</a:t>
            </a:r>
          </a:p>
          <a:p>
            <a:pPr rtl="1" algn="r" marL="0" indent="0">
              <a:buNone/>
            </a:pPr>
            <a:r>
              <a:rPr b="1" sz="1200" lang="he-IL"/>
              <a:t>שאלה לכיתה</a:t>
            </a:r>
          </a:p>
          <a:p>
            <a:pPr rtl="1" algn="r" marL="0" indent="0">
              <a:buNone/>
            </a:pPr>
            <a:r>
              <a:rPr sz="1200" lang="he-IL"/>
              <a:t>•  איזה חלק לדעתכם יהיה הכי קשה?</a:t>
            </a:r>
          </a:p>
          <a:p>
            <a:pPr rtl="1" algn="r" marL="0" indent="0">
              <a:buNone/>
            </a:pPr>
            <a:r>
              <a:rPr sz="1200" lang="he-IL"/>
              <a:t>•  ענו בקצרה ועברו הלאה.</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חלק א׳ (12 דקות כולל שאלת בדיקה).</a:t>
            </a:r>
          </a:p>
          <a:p>
            <a:pPr rtl="1" algn="r" marL="0" indent="0">
              <a:buNone/>
            </a:pPr>
            <a:r>
              <a:rPr b="1" sz="1200" lang="he-IL"/>
              <a:t>מה אומרים</a:t>
            </a:r>
          </a:p>
          <a:p>
            <a:pPr rtl="1" algn="r" marL="0" indent="0">
              <a:buNone/>
            </a:pPr>
            <a:r>
              <a:rPr sz="1200" lang="he-IL"/>
              <a:t>•  זה שקף ההגדרה.</a:t>
            </a:r>
          </a:p>
          <a:p>
            <a:pPr rtl="1" algn="r" marL="0" indent="0">
              <a:buNone/>
            </a:pPr>
            <a:r>
              <a:rPr sz="1200" lang="he-IL"/>
              <a:t>•  לפי Fowler (2018), הספר שבביבליוגרפיה של הקורס, Refactoring הוא שינוי במבנה הפנימי של הקוד כדי שיהיה קל יותר להבין אותו ולשנות אותו, בלי לשנות את ההתנהגות שנראית כלפי חוץ.</a:t>
            </a:r>
          </a:p>
          <a:p>
            <a:pPr rtl="1" algn="r" marL="0" indent="0">
              <a:buNone/>
            </a:pPr>
            <a:r>
              <a:rPr sz="1200" lang="he-IL"/>
              <a:t>•  הצביעו על הציור: מימין קובץ אחד גדול ומעורבב, משמאל חלקים קטנים וברורים, והחץ אומר שהתוצאה זהה בדיוק.</a:t>
            </a:r>
          </a:p>
          <a:p>
            <a:pPr rtl="1" algn="r" marL="0" indent="0">
              <a:buNone/>
            </a:pPr>
            <a:r>
              <a:rPr b="1" sz="1200" lang="he-IL"/>
              <a:t>אנלוגיה</a:t>
            </a:r>
          </a:p>
          <a:p>
            <a:pPr rtl="1" algn="r" marL="0" indent="0">
              <a:buNone/>
            </a:pPr>
            <a:r>
              <a:rPr sz="1200" lang="he-IL"/>
              <a:t>•  סידור מחסן.</a:t>
            </a:r>
          </a:p>
          <a:p>
            <a:pPr rtl="1" algn="r" marL="0" indent="0">
              <a:buNone/>
            </a:pPr>
            <a:r>
              <a:rPr sz="1200" lang="he-IL"/>
              <a:t>•  אותם פריטים ואותה כמות, אבל עכשיו אפשר למצוא כל פריט והמלאי לא השתנה.</a:t>
            </a:r>
          </a:p>
          <a:p>
            <a:pPr rtl="1" algn="r" marL="0" indent="0">
              <a:buNone/>
            </a:pPr>
            <a:r>
              <a:rPr sz="1200" lang="he-IL"/>
              <a:t>•  הדגישו ש׳זה עובד׳ לא מספיק: קוד יכול לעבוד ועדיין להיות יקר ומסוכן לשינוי.</a:t>
            </a:r>
          </a:p>
          <a:p>
            <a:pPr rtl="1" algn="r" marL="0" indent="0">
              <a:buNone/>
            </a:pPr>
            <a:r>
              <a:rPr b="1" sz="1200" lang="he-IL"/>
              <a:t>שאלה לכיתה</a:t>
            </a:r>
          </a:p>
          <a:p>
            <a:pPr rtl="1" algn="r" marL="0" indent="0">
              <a:buNone/>
            </a:pPr>
            <a:r>
              <a:rPr sz="1200" lang="he-IL"/>
              <a:t>•  אם הוספתי פיצ׳ר חדש תוך כדי הסידור, זה עדיין Refactoring?</a:t>
            </a:r>
          </a:p>
          <a:p>
            <a:pPr rtl="1" algn="r" marL="0" indent="0">
              <a:buNone/>
            </a:pPr>
            <a:r>
              <a:rPr b="1" sz="1200" lang="he-IL"/>
              <a:t>תשובה</a:t>
            </a:r>
          </a:p>
          <a:p>
            <a:pPr rtl="1" algn="r" marL="0" indent="0">
              <a:buNone/>
            </a:pPr>
            <a:r>
              <a:rPr sz="1200" lang="he-IL"/>
              <a:t>•  לא, כי ההתנהגות השתנתה.</a:t>
            </a:r>
          </a:p>
          <a:p>
            <a:pPr rtl="1" algn="r" marL="0" indent="0">
              <a:buNone/>
            </a:pPr>
            <a:r>
              <a:rPr sz="1200" lang="he-IL"/>
              <a:t>•  מכאן נובע שצריך דרך להוכיח שההתנהגות לא השתנתה, כלומר בדיקות (שיעור 8).</a:t>
            </a:r>
          </a:p>
          <a:p>
            <a:pPr rtl="1" algn="r" marL="0" indent="0">
              <a:buNone/>
            </a:pPr>
            <a:r>
              <a:rPr b="1" sz="1200" lang="he-IL"/>
              <a:t>טעות נפוצה</a:t>
            </a:r>
          </a:p>
          <a:p>
            <a:pPr rtl="1" algn="r" marL="0" indent="0">
              <a:buNone/>
            </a:pPr>
            <a:r>
              <a:rPr sz="1200" lang="he-IL"/>
              <a:t>•  לערבב סידור והוספת פיצ׳ר באותו צעד.</a:t>
            </a:r>
          </a:p>
          <a:p>
            <a:pPr rtl="1" algn="r" marL="0" indent="0">
              <a:buNone/>
            </a:pPr>
            <a:r>
              <a:rPr sz="1200" lang="he-IL"/>
              <a:t>•  ניסוח מדויק (Fowler, 2018; refactoring.com): Refactoring הוא שינוי במבנה הפנימי של התוכנה שמקל על ההבנה ומוזיל שינוי, בלי לשנות את ההתנהגות הנצפית.</a:t>
            </a:r>
          </a:p>
          <a:p>
            <a:pPr rtl="1" algn="r" marL="0" indent="0">
              <a:buNone/>
            </a:pPr>
            <a:r>
              <a:rPr sz="1200" lang="he-IL"/>
              <a:t>•  המילה ״נצפית״ חשובה: אם משתמש או קוד אחר תלוי בהתנהגות (למשל בסדר העמודות או השורות בפלט), שינוי שלה הוא שינוי התנהגות גם אם לא תיעדנו אותה.</a:t>
            </a:r>
          </a:p>
          <a:p>
            <a:pPr rtl="1" algn="r" marL="0" indent="0">
              <a:buNone/>
            </a:pPr>
            <a:r>
              <a:rPr sz="1200" lang="he-IL"/>
              <a:t>•  זה מה שקורה במעבדה כשה־golden נהפך לאדום אחרי שינוי שם עמודה.</a:t>
            </a:r>
          </a:p>
          <a:p>
            <a:pPr rtl="1" algn="r" marL="0" indent="0">
              <a:buNone/>
            </a:pPr>
            <a:r>
              <a:rPr sz="1200" lang="he-IL"/>
              <a:t>•  Kent Beck מציע מטפורה של ״שני כובעים״ (Fowler מציג אותה בספרו): בכל רגע עובדים עם כובע אחד, מוסיפים פונקציה או עושים Refactoring, ולא מערבבים.</a:t>
            </a:r>
          </a:p>
          <a:p>
            <a:pPr rtl="1" algn="r" marL="0" indent="0">
              <a:buNone/>
            </a:pPr>
            <a:r>
              <a:rPr b="1" sz="1200" lang="he-IL"/>
              <a:t>להעמקה</a:t>
            </a:r>
          </a:p>
          <a:p>
            <a:pPr rtl="1" algn="r" marL="0" indent="0">
              <a:buNone/>
            </a:pPr>
            <a:r>
              <a:rPr sz="1200" lang="he-IL"/>
              <a:t>•  Refactoring אינו שכתוב מאפס ואינו אופטימיזציה, אף שגם ייעול אפשר ורצוי לבדוק כך (מעבדה ב׳).</a:t>
            </a:r>
          </a:p>
          <a:p>
            <a:pPr rtl="1" algn="r" marL="0" indent="0">
              <a:buNone/>
            </a:pPr>
            <a:r>
              <a:rPr sz="1200" lang="he-IL"/>
              <a:t>•  זו הגדרה מבוססת ספרות; ״בצעדים קטנים״ היא המלצת פרקטיקה של Fowler ושל קהילת ה־XP.</a:t>
            </a:r>
          </a:p>
          <a:p>
            <a:pPr rtl="1" algn="r" marL="0" indent="0">
              <a:buNone/>
            </a:pPr>
            <a:r>
              <a:rPr sz="1200" lang="he-IL"/>
              <a:t>•  חזרה לפני שממשיכים: בדיקות נלמדו במפגש 8, ושם גם נאמר שבדיקות הן רשת ביטחון ושהנושא של מפגש 11 הוא שינוי קוד בצורה בטוחה.</a:t>
            </a:r>
          </a:p>
          <a:p>
            <a:pPr rtl="1" algn="r" marL="0" indent="0">
              <a:buNone/>
            </a:pPr>
            <a:r>
              <a:rPr sz="1200" lang="he-IL"/>
              <a:t>•  Git נלמד במפגש 6: commit לפני שהסוכן פועל ו־diff אחרי.</a:t>
            </a:r>
          </a:p>
          <a:p>
            <a:pPr rtl="1" algn="r" marL="0" indent="0">
              <a:buNone/>
            </a:pPr>
            <a:r>
              <a:rPr b="1" sz="1200" lang="he-IL"/>
              <a:t>שאלה לכיתה</a:t>
            </a:r>
          </a:p>
          <a:p>
            <a:pPr rtl="1" algn="r" marL="0" indent="0">
              <a:buNone/>
            </a:pPr>
            <a:r>
              <a:rPr sz="1200" lang="he-IL"/>
              <a:t>•  מי זוכר מה רשת הביטחון של סוכן ששינה קוד?</a:t>
            </a:r>
          </a:p>
          <a:p>
            <a:pPr rtl="1" algn="r" marL="0" indent="0">
              <a:buNone/>
            </a:pPr>
            <a:r>
              <a:rPr b="1" sz="1200" lang="he-IL"/>
              <a:t>תשובה</a:t>
            </a:r>
          </a:p>
          <a:p>
            <a:pPr rtl="1" algn="r" marL="0" indent="0">
              <a:buNone/>
            </a:pPr>
            <a:r>
              <a:rPr sz="1200" lang="he-IL"/>
              <a:t>•  commit לפני ובדיקות אחרי.</a:t>
            </a:r>
          </a:p>
          <a:p>
            <a:pPr rtl="1" algn="r" marL="0" indent="0">
              <a:buNone/>
            </a:pPr>
            <a:r>
              <a:rPr sz="1200" lang="he-IL"/>
              <a:t>•  אם הכיתה לא זוכרת, אמרו את שני המשפטים בעצמכם (הכלל של מפגש 6 והתפקיד ״רשת ביטחון״ של בדיקה ממפגש 8) והמשיכו.</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שקף על שלוש סיבות לסדר קוד.</a:t>
            </a:r>
          </a:p>
          <a:p>
            <a:pPr rtl="1" algn="r" marL="0" indent="0">
              <a:buNone/>
            </a:pPr>
            <a:r>
              <a:rPr b="1" sz="1200" lang="he-IL"/>
              <a:t>מה אומרים</a:t>
            </a:r>
          </a:p>
          <a:p>
            <a:pPr rtl="1" algn="r" marL="0" indent="0">
              <a:buNone/>
            </a:pPr>
            <a:r>
              <a:rPr sz="1200" lang="he-IL"/>
              <a:t>•  עברו על הכרטיסים מימין לשמאל.</a:t>
            </a:r>
          </a:p>
          <a:p>
            <a:pPr rtl="1" algn="r" marL="0" indent="0">
              <a:buNone/>
            </a:pPr>
            <a:r>
              <a:rPr sz="1200" lang="he-IL"/>
              <a:t>•  תחזוקתיות: היכולת לתקן ולהרחיב קוד בלי פחד.</a:t>
            </a:r>
          </a:p>
          <a:p>
            <a:pPr rtl="1" algn="r" marL="0" indent="0">
              <a:buNone/>
            </a:pPr>
            <a:r>
              <a:rPr sz="1200" lang="he-IL"/>
              <a:t>•  זה ההבדל בין ׳זה עובד׳ ל׳זה מוכן לחיים אמיתיים׳, ובדיוק מה שהסילבוס מבקש ללמוד מעבר לריצה תקינה.</a:t>
            </a:r>
          </a:p>
          <a:p>
            <a:pPr rtl="1" algn="r" marL="0" indent="0">
              <a:buNone/>
            </a:pPr>
            <a:r>
              <a:rPr sz="1200" lang="he-IL"/>
              <a:t>•  שינוי קל: תיקון או תוספת נוגעים בחלק קטן ולא בכל הקובץ.</a:t>
            </a:r>
          </a:p>
          <a:p>
            <a:pPr rtl="1" algn="r" marL="0" indent="0">
              <a:buNone/>
            </a:pPr>
            <a:r>
              <a:rPr sz="1200" lang="he-IL"/>
              <a:t>•  עבודה עם AI: הוא מוסיף קוד בקלות, ולכן הקובץ גדל מהר, ובשיחה חדשה הוא רואה רק חלק ממנו (שיעור 2, חלון הקשר).</a:t>
            </a:r>
          </a:p>
          <a:p>
            <a:pPr rtl="1" algn="r" marL="0" indent="0">
              <a:buNone/>
            </a:pPr>
            <a:r>
              <a:rPr b="1" sz="1200" lang="he-IL"/>
              <a:t>אנלוגיה</a:t>
            </a:r>
          </a:p>
          <a:p>
            <a:pPr rtl="1" algn="r" marL="0" indent="0">
              <a:buNone/>
            </a:pPr>
            <a:r>
              <a:rPr sz="1200" lang="he-IL"/>
              <a:t>•  מכונה בקו ייצור שתוכננה בלי גישה למסנן, וכל תחזוקה דורשת פירוק מלא.</a:t>
            </a:r>
          </a:p>
          <a:p>
            <a:pPr rtl="1" algn="r" marL="0" indent="0">
              <a:buNone/>
            </a:pPr>
            <a:r>
              <a:rPr b="1" sz="1200" lang="he-IL"/>
              <a:t>שאלה לכיתה</a:t>
            </a:r>
          </a:p>
          <a:p>
            <a:pPr rtl="1" algn="r" marL="0" indent="0">
              <a:buNone/>
            </a:pPr>
            <a:r>
              <a:rPr sz="1200" lang="he-IL"/>
              <a:t>•  מי יקרא את הקוד שלכם בעוד שלושה חודשים?</a:t>
            </a:r>
          </a:p>
          <a:p>
            <a:pPr rtl="1" algn="r" marL="0" indent="0">
              <a:buNone/>
            </a:pPr>
            <a:r>
              <a:rPr b="1" sz="1200" lang="he-IL"/>
              <a:t>תשובה</a:t>
            </a:r>
          </a:p>
          <a:p>
            <a:pPr rtl="1" algn="r" marL="0" indent="0">
              <a:buNone/>
            </a:pPr>
            <a:r>
              <a:rPr sz="1200" lang="he-IL"/>
              <a:t>•  אתם עצמכם, כאילו אתם אדם זר.</a:t>
            </a:r>
          </a:p>
          <a:p>
            <a:pPr rtl="1" algn="r" marL="0" indent="0">
              <a:buNone/>
            </a:pPr>
            <a:r>
              <a:rPr b="1" sz="1200" lang="he-IL"/>
              <a:t>מסר מרכזי</a:t>
            </a:r>
          </a:p>
          <a:p>
            <a:pPr rtl="1" algn="r" marL="0" indent="0">
              <a:buNone/>
            </a:pPr>
            <a:r>
              <a:rPr sz="1200" lang="he-IL"/>
              <a:t>•  בלגן בקוד עולה כסף בכל שינוי עתידי, גם כשהוא לא נראה כבעיה היום.</a:t>
            </a:r>
          </a:p>
          <a:p>
            <a:pPr rtl="1" algn="r" marL="0" indent="0">
              <a:buNone/>
            </a:pPr>
            <a:r>
              <a:rPr sz="1200" lang="he-IL"/>
              <a:t>•  נתון מחקרי: מחקר שדה על 78 מפתחים מקצועיים (3,148 שעות עבודה, שבעה פרויקטים) מצא שהם מקדישים כ־58% מזמנם להבנת תוכנית (Xia, Bao, Lo, Xing, Hassan ו־Li, IEEE Transactions on Software Engineering, 2018).</a:t>
            </a:r>
          </a:p>
          <a:p>
            <a:pPr rtl="1" algn="r" marL="0" indent="0">
              <a:buNone/>
            </a:pPr>
            <a:r>
              <a:rPr sz="1200" lang="he-IL"/>
              <a:t>•  המשמעות: עלות הקריאה גדולה מעלות הכתיבה, ולכן קוד שמסביר את עצמו חוסך זמן.</a:t>
            </a:r>
          </a:p>
          <a:p>
            <a:pPr rtl="1" algn="r" marL="0" indent="0">
              <a:buNone/>
            </a:pPr>
            <a:r>
              <a:rPr b="1" sz="1200" lang="he-IL"/>
              <a:t>להעמקה</a:t>
            </a:r>
          </a:p>
          <a:p>
            <a:pPr rtl="1" algn="r" marL="0" indent="0">
              <a:buNone/>
            </a:pPr>
            <a:r>
              <a:rPr sz="1200" lang="he-IL"/>
              <a:t>•  זה ממוצע במדגם מסוים ולא חוק טבע.</a:t>
            </a:r>
          </a:p>
          <a:p>
            <a:pPr rtl="1" algn="r" marL="0" indent="0">
              <a:buNone/>
            </a:pPr>
            <a:r>
              <a:rPr sz="1200" lang="he-IL"/>
              <a:t>•  מה שמבוסס הוא שהבנה היא חלק גדול מהעבודה; ההמלצה לסדר קוד היא פרקטיקה סבירה, לא הוכחה כמותית.</a:t>
            </a:r>
          </a:p>
          <a:p>
            <a:pPr rtl="1" algn="r" marL="0" indent="0">
              <a:buNone/>
            </a:pPr>
            <a:r>
              <a:rPr sz="1200" lang="he-IL"/>
              <a:t>•  שקף ההעשרה על מחקר קוד AI מציג עדויות ראשוניות לכך שכתיבה מהירה מגדילה שינויים ושכפול.</a:t>
            </a:r>
          </a:p>
          <a:p>
            <a:pPr rtl="1" algn="r" marL="0" indent="0">
              <a:buNone/>
            </a:pPr>
            <a:r>
              <a:rPr b="1" sz="1200" lang="he-IL"/>
              <a:t>חיבור לשיעורים קודמים</a:t>
            </a:r>
          </a:p>
          <a:p>
            <a:pPr rtl="1" algn="r" marL="0" indent="0">
              <a:buNone/>
            </a:pPr>
            <a:r>
              <a:rPr sz="1200" lang="he-IL"/>
              <a:t>•  הכרטיס ״עבודה עם AI״ מתחבר למפגש 2.</a:t>
            </a:r>
          </a:p>
          <a:p>
            <a:pPr rtl="1" algn="r" marL="0" indent="0">
              <a:buNone/>
            </a:pPr>
            <a:r>
              <a:rPr sz="1200" lang="he-IL"/>
              <a:t>•  במפגש 2 למדנו שהמודל רואה רק את חלון ההקשר, ולכן בשיחה חדשה הוא עלול להוסיף קוד חדש במקום להשתמש בקוד קיים שלא רואה; כך הבלגן גדל מהר.</a:t>
            </a:r>
          </a:p>
          <a:p>
            <a:pPr rtl="1" algn="r" marL="0" indent="0">
              <a:buNone/>
            </a:pPr>
            <a:r>
              <a:rPr b="1" sz="1200" lang="he-IL"/>
              <a:t>שאלה לכיתה</a:t>
            </a:r>
          </a:p>
          <a:p>
            <a:pPr rtl="1" algn="r" marL="0" indent="0">
              <a:buNone/>
            </a:pPr>
            <a:r>
              <a:rPr sz="1200" lang="he-IL"/>
              <a:t>•  מי זוכר מה נמצא בחלון ההקשר?</a:t>
            </a:r>
          </a:p>
          <a:p>
            <a:pPr rtl="1" algn="r" marL="0" indent="0">
              <a:buNone/>
            </a:pPr>
            <a:r>
              <a:rPr b="1" sz="1200" lang="he-IL"/>
              <a:t>תשובה</a:t>
            </a:r>
          </a:p>
          <a:p>
            <a:pPr rtl="1" algn="r" marL="0" indent="0">
              <a:buNone/>
            </a:pPr>
            <a:r>
              <a:rPr sz="1200" lang="he-IL"/>
              <a:t>•  הוראות המערכת של הכלי, ההודעות הקודמות, קבצים והבקשה הנוכחית.</a:t>
            </a:r>
          </a:p>
          <a:p>
            <a:pPr rtl="1" algn="r" marL="0" indent="0">
              <a:buNone/>
            </a:pPr>
            <a:r>
              <a:rPr sz="1200" lang="he-IL"/>
              <a:t>•  אל תוסיפו פרטים מעבר לכך אם הכיתה לא זוכרת: ההמשך (פרוסות, קובץ הנחיה) מגיע בחלק ג׳.</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חמישה ׳ריחות קוד׳.</a:t>
            </a:r>
          </a:p>
          <a:p>
            <a:pPr rtl="1" algn="r" marL="0" indent="0">
              <a:buNone/>
            </a:pPr>
            <a:r>
              <a:rPr b="1" sz="1200" lang="he-IL"/>
              <a:t>מה אומרים</a:t>
            </a:r>
          </a:p>
          <a:p>
            <a:pPr rtl="1" algn="r" marL="0" indent="0">
              <a:buNone/>
            </a:pPr>
            <a:r>
              <a:rPr sz="1200" lang="he-IL"/>
              <a:t>•  המונח (code smell) מופיע בספרו של Fowler, והוא סימן אזהרה לבעיית מבנה ולא באג: הקוד עדיין עובד.</a:t>
            </a:r>
          </a:p>
          <a:p>
            <a:pPr rtl="1" algn="r" marL="0" indent="0">
              <a:buNone/>
            </a:pPr>
            <a:r>
              <a:rPr sz="1200" lang="he-IL"/>
              <a:t>•  עברו בקצרה על חמש השורות: פונקציה ארוכה שעושה הכל (טעינה, חישוב, הדפסה), שכפול של אותו קוד בכמה מקומות, מספר קסם כמו 365 או 3 בלי שם, שם לא ברור כמו x או tmp2, וקובץ אחד שמחזיק את הכל.</a:t>
            </a:r>
          </a:p>
          <a:p>
            <a:pPr rtl="1" algn="r" marL="0" indent="0">
              <a:buNone/>
            </a:pPr>
            <a:r>
              <a:rPr sz="1200" lang="he-IL"/>
              <a:t>•  דוגמה לסטודנטים: המספר 3 בנוסחת נקודת הזמנה מחדש.</a:t>
            </a:r>
          </a:p>
          <a:p>
            <a:pPr rtl="1" algn="r" marL="0" indent="0">
              <a:buNone/>
            </a:pPr>
            <a:r>
              <a:rPr sz="1200" lang="he-IL"/>
              <a:t>•  האם זה ימי ביטחון?</a:t>
            </a:r>
          </a:p>
          <a:p>
            <a:pPr rtl="1" algn="r" marL="0" indent="0">
              <a:buNone/>
            </a:pPr>
            <a:r>
              <a:rPr sz="1200" lang="he-IL"/>
              <a:t>•  כמות?</a:t>
            </a:r>
          </a:p>
          <a:p>
            <a:pPr rtl="1" algn="r" marL="0" indent="0">
              <a:buNone/>
            </a:pPr>
            <a:r>
              <a:rPr sz="1200" lang="he-IL"/>
              <a:t>•  אף אחד לא יודע בלי לנחש.</a:t>
            </a:r>
          </a:p>
          <a:p>
            <a:pPr rtl="1" algn="r" marL="0" indent="0">
              <a:buNone/>
            </a:pPr>
            <a:r>
              <a:rPr b="1" sz="1200" lang="he-IL"/>
              <a:t>שאלה לכיתה</a:t>
            </a:r>
          </a:p>
          <a:p>
            <a:pPr rtl="1" algn="r" marL="0" indent="0">
              <a:buNone/>
            </a:pPr>
            <a:r>
              <a:rPr sz="1200" lang="he-IL"/>
              <a:t>•  איזה ריח הכי מסוכן?</a:t>
            </a:r>
          </a:p>
          <a:p>
            <a:pPr rtl="1" algn="r" marL="0" indent="0">
              <a:buNone/>
            </a:pPr>
            <a:r>
              <a:rPr sz="1200" lang="he-IL"/>
              <a:t>•  אין תשובה אחת, אבל פונקציה ארוכה וקובץ יחיד באדום כי הם מונעים בדיקה.</a:t>
            </a:r>
          </a:p>
          <a:p>
            <a:pPr rtl="1" algn="r" marL="0" indent="0">
              <a:buNone/>
            </a:pPr>
            <a:r>
              <a:rPr sz="1200" lang="he-IL"/>
              <a:t>•  טיפ: אפשר לבקש מה־AI לאתר ריחות ולהציע רשימה, בלי לתקן, ולבחור צעד אחד בכל פעם.</a:t>
            </a:r>
          </a:p>
          <a:p>
            <a:pPr rtl="1" algn="r" marL="0" indent="0">
              <a:buNone/>
            </a:pPr>
            <a:r>
              <a:rPr sz="1200" lang="he-IL"/>
              <a:t>•  רוב הריחות האלה נמצאים בקובץ messy_report.py של מעבדה א׳.</a:t>
            </a:r>
          </a:p>
          <a:p>
            <a:pPr rtl="1" algn="r" marL="0" indent="0">
              <a:buNone/>
            </a:pPr>
            <a:r>
              <a:rPr sz="1200" lang="he-IL"/>
              <a:t>•  מונח ומקור: code smell הוטבע על ידי Kent Beck, כפי ש־Fowler מציין באתר שלו (bliki, 2006), והוא סימן שטחי שבדרך כלל מצביע על בעיה עמוקה יותר, ולא באג.</a:t>
            </a:r>
          </a:p>
          <a:p>
            <a:pPr rtl="1" algn="r" marL="0" indent="0">
              <a:buNone/>
            </a:pPr>
            <a:r>
              <a:rPr sz="1200" lang="he-IL"/>
              <a:t>•  בפרק הריחות של Fowler (2018) מופיעים 24 ריחות, ביניהם Mysterious Name (שם לא ברור), Duplicated Code (שכפול) ו־Long Function (פונקציה ארוכה).</a:t>
            </a:r>
          </a:p>
          <a:p>
            <a:pPr rtl="1" algn="r" marL="0" indent="0">
              <a:buNone/>
            </a:pPr>
            <a:r>
              <a:rPr sz="1200" lang="he-IL"/>
              <a:t>•  ״מספר קסם״ אינו ריח בשם הזה בספר; בקטלוג המקוון הוא מטופל בטכניקה Replace Magic Literal.</a:t>
            </a:r>
          </a:p>
          <a:p>
            <a:pPr rtl="1" algn="r" marL="0" indent="0">
              <a:buNone/>
            </a:pPr>
            <a:r>
              <a:rPr sz="1200" lang="he-IL"/>
              <a:t>•  לכן ההגדרה בשקף היא מקובלת בפרקטיקה ולא ציטוט מהספר.</a:t>
            </a:r>
          </a:p>
          <a:p>
            <a:pPr rtl="1" algn="r" marL="0" indent="0">
              <a:buNone/>
            </a:pPr>
            <a:r>
              <a:rPr b="1" sz="1200" lang="he-IL"/>
              <a:t>להעמקה</a:t>
            </a:r>
          </a:p>
          <a:p>
            <a:pPr rtl="1" algn="r" marL="0" indent="0">
              <a:buNone/>
            </a:pPr>
            <a:r>
              <a:rPr sz="1200" lang="he-IL"/>
              <a:t>•  ריח הוא היוריסטיקה ולא הוכחה.</a:t>
            </a:r>
          </a:p>
          <a:p>
            <a:pPr rtl="1" algn="r" marL="0" indent="0">
              <a:buNone/>
            </a:pPr>
            <a:r>
              <a:rPr sz="1200" lang="he-IL"/>
              <a:t>•  פונקציה ארוכה אחת אינה בהכרח בעיה, ושיקול הדעת נשאר שלנו.</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דוגמה אמיתית מ־messy_report.py.</a:t>
            </a:r>
          </a:p>
          <a:p>
            <a:pPr rtl="1" algn="r" marL="0" indent="0">
              <a:buNone/>
            </a:pPr>
            <a:r>
              <a:rPr b="1" sz="1200" lang="he-IL"/>
              <a:t>מה אומרים</a:t>
            </a:r>
          </a:p>
          <a:p>
            <a:pPr rtl="1" algn="r" marL="0" indent="0">
              <a:buNone/>
            </a:pPr>
            <a:r>
              <a:rPr sz="1200" lang="he-IL"/>
              <a:t>•  מימין, באדום, הקוד לפני: d, o, x הם שמות שלא אומרים כלום, ו־365 ו־3 הם מספרי קסם.</a:t>
            </a:r>
          </a:p>
          <a:p>
            <a:pPr rtl="1" algn="r" marL="0" indent="0">
              <a:buNone/>
            </a:pPr>
            <a:r>
              <a:rPr sz="1200" lang="he-IL"/>
              <a:t>•  משמאל, בירוק, אותו חישוב אחרי: SAFETY_DAYS ו־DAYS_IN_YEAR הם קבועים עם שם, והחישוב עטוף בפונקציה low_stock_alerts שמקבלת את הנתונים כפרמטרים.</a:t>
            </a:r>
          </a:p>
          <a:p>
            <a:pPr rtl="1" algn="r" marL="0" indent="0">
              <a:buNone/>
            </a:pPr>
            <a:r>
              <a:rPr sz="1200" lang="he-IL"/>
              <a:t>•  החישוב עצמו הוא נקודת הזמנה מחדש: ביקוש יומי כפול (זמן אספקה ועוד ימי ביטחון), נושא שהסטודנטים מכירים מניהול מלאי.</a:t>
            </a:r>
          </a:p>
          <a:p>
            <a:pPr rtl="1" algn="r" marL="0" indent="0">
              <a:buNone/>
            </a:pPr>
            <a:r>
              <a:rPr sz="1200" lang="he-IL"/>
              <a:t>•  הפלט זהה אות באות, והשיפור הוא רק בקריאות.</a:t>
            </a:r>
          </a:p>
          <a:p>
            <a:pPr rtl="1" algn="r" marL="0" indent="0">
              <a:buNone/>
            </a:pPr>
            <a:r>
              <a:rPr b="1" sz="1200" lang="he-IL"/>
              <a:t>שאלה לכיתה</a:t>
            </a:r>
          </a:p>
          <a:p>
            <a:pPr rtl="1" algn="r" marL="0" indent="0">
              <a:buNone/>
            </a:pPr>
            <a:r>
              <a:rPr sz="1200" lang="he-IL"/>
              <a:t>•  מה זה 3 בשורה הישנה?</a:t>
            </a:r>
          </a:p>
          <a:p>
            <a:pPr rtl="1" algn="r" marL="0" indent="0">
              <a:buNone/>
            </a:pPr>
            <a:r>
              <a:rPr b="1" sz="1200" lang="he-IL"/>
              <a:t>תשובה</a:t>
            </a:r>
          </a:p>
          <a:p>
            <a:pPr rtl="1" algn="r" marL="0" indent="0">
              <a:buNone/>
            </a:pPr>
            <a:r>
              <a:rPr sz="1200" lang="he-IL"/>
              <a:t>•  לא ברור.</a:t>
            </a:r>
          </a:p>
          <a:p>
            <a:pPr rtl="1" algn="r" marL="0" indent="0">
              <a:buNone/>
            </a:pPr>
            <a:r>
              <a:rPr sz="1200" lang="he-IL"/>
              <a:t>•  ומה בקוד החדש?</a:t>
            </a:r>
          </a:p>
          <a:p>
            <a:pPr rtl="1" algn="r" marL="0" indent="0">
              <a:buNone/>
            </a:pPr>
            <a:r>
              <a:rPr sz="1200" lang="he-IL"/>
              <a:t>•  SAFETY_DAYS, ימי ביטחון.</a:t>
            </a:r>
          </a:p>
          <a:p>
            <a:pPr rtl="1" algn="r" marL="0" indent="0">
              <a:buNone/>
            </a:pPr>
            <a:r>
              <a:rPr sz="1200" lang="he-IL"/>
              <a:t>•  שימו לב שהקטעים מקוצרים ואינם הקוד המלא.</a:t>
            </a:r>
          </a:p>
          <a:p>
            <a:pPr rtl="1" algn="r" marL="0" indent="0">
              <a:buNone/>
            </a:pPr>
            <a:r>
              <a:rPr sz="1200" lang="he-IL"/>
              <a:t>•  אין צורך שיבינו את Pandas, רק את הרעיון ששם ברור מסביר את הכוונה.</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זה שקף התהליך המרכזי של החלק.</a:t>
            </a:r>
          </a:p>
          <a:p>
            <a:pPr rtl="1" algn="r" marL="0" indent="0">
              <a:buNone/>
            </a:pPr>
            <a:r>
              <a:rPr b="1" sz="1200" lang="he-IL"/>
              <a:t>מה אומרים</a:t>
            </a:r>
          </a:p>
          <a:p>
            <a:pPr rtl="1" algn="r" marL="0" indent="0">
              <a:buNone/>
            </a:pPr>
            <a:r>
              <a:rPr sz="1200" lang="he-IL"/>
              <a:t>•  עברו על המעגל מימין לשמאל: מתחילים מבדיקות ירוקות, מבקשים מה־AI צעד ממוקד אחד, קוראים את ה־diff (רשימת השינויים), מריצים שוב את הבדיקות, ורק אם הן ירוקות עושים commit.</a:t>
            </a:r>
          </a:p>
          <a:p>
            <a:pPr rtl="1" algn="r" marL="0" indent="0">
              <a:buNone/>
            </a:pPr>
            <a:r>
              <a:rPr sz="1200" lang="he-IL"/>
              <a:t>•  אחר כך חוזרים על המעגל לצעד הבא.</a:t>
            </a:r>
          </a:p>
          <a:p>
            <a:pPr rtl="1" algn="r" marL="0" indent="0">
              <a:buNone/>
            </a:pPr>
            <a:r>
              <a:rPr sz="1200" lang="he-IL"/>
              <a:t>•  אם הבדיקות אדומות באמצע, מבטלים את הצעד האחרון (חוזרים ל־commit האחרון, כלי משיעור 6) ולא מתקנים על גבי תקלה, כי אז כבר לא ברור מה גרם למה.</a:t>
            </a:r>
          </a:p>
          <a:p>
            <a:pPr rtl="1" algn="r" marL="0" indent="0">
              <a:buNone/>
            </a:pPr>
            <a:r>
              <a:rPr b="1" sz="1200" lang="he-IL"/>
              <a:t>אנלוגיה</a:t>
            </a:r>
          </a:p>
          <a:p>
            <a:pPr rtl="1" algn="r" marL="0" indent="0">
              <a:buNone/>
            </a:pPr>
            <a:r>
              <a:rPr sz="1200" lang="he-IL"/>
              <a:t>•  שינוי בקו ייצור בשלבים קטנים עם בקרת איכות אחרי כל שלב, ולא החלפת כל הקו בסוף שבוע.</a:t>
            </a:r>
          </a:p>
          <a:p>
            <a:pPr rtl="1" algn="r" marL="0" indent="0">
              <a:buNone/>
            </a:pPr>
            <a:r>
              <a:rPr b="1" sz="1200" lang="he-IL"/>
              <a:t>שאלה לכיתה</a:t>
            </a:r>
          </a:p>
          <a:p>
            <a:pPr rtl="1" algn="r" marL="0" indent="0">
              <a:buNone/>
            </a:pPr>
            <a:r>
              <a:rPr sz="1200" lang="he-IL"/>
              <a:t>•  למה צריך לקרוא את ה־diff אם ה־AI כתב אותו?</a:t>
            </a:r>
          </a:p>
          <a:p>
            <a:pPr rtl="1" algn="r" marL="0" indent="0">
              <a:buNone/>
            </a:pPr>
            <a:r>
              <a:rPr b="1" sz="1200" lang="he-IL"/>
              <a:t>תשובה</a:t>
            </a:r>
          </a:p>
          <a:p>
            <a:pPr rtl="1" algn="r" marL="0" indent="0">
              <a:buNone/>
            </a:pPr>
            <a:r>
              <a:rPr sz="1200" lang="he-IL"/>
              <a:t>•  הוא עלול לשנות דברים שלא ביקשתם.</a:t>
            </a:r>
          </a:p>
          <a:p>
            <a:pPr rtl="1" algn="r" marL="0" indent="0">
              <a:buNone/>
            </a:pPr>
            <a:r>
              <a:rPr b="1" sz="1200" lang="he-IL"/>
              <a:t>חיבור לשיעורים קודמים</a:t>
            </a:r>
          </a:p>
          <a:p>
            <a:pPr rtl="1" algn="r" marL="0" indent="0">
              <a:buNone/>
            </a:pPr>
            <a:r>
              <a:rPr sz="1200" lang="he-IL"/>
              <a:t>•  Git הוא כפתור הביטול שמאפשר את כל התהליך.</a:t>
            </a:r>
          </a:p>
          <a:p>
            <a:pPr rtl="1" algn="r" marL="0" indent="0">
              <a:buNone/>
            </a:pPr>
            <a:r>
              <a:rPr sz="1200" lang="he-IL"/>
              <a:t>•  במחברת HM_11 אין Git אמיתי: ה־commit הוא רישום בקוד (COMMITS) שנוצר רק כשה־golden ירוק, כמו git commit אחרי בדיקות ירוקות.</a:t>
            </a:r>
          </a:p>
          <a:p>
            <a:pPr rtl="1" algn="r" marL="0" indent="0">
              <a:buNone/>
            </a:pPr>
            <a:r>
              <a:rPr sz="1200" lang="he-IL"/>
              <a:t>•  הבחנה בין עובדה להמלצה: שאפשר לחזור לגרסה ירוקה אחרי צעד אדום הוא עובדה מכנית (זה מה ש־commit נותן).</a:t>
            </a:r>
          </a:p>
          <a:p>
            <a:pPr rtl="1" algn="r" marL="0" indent="0">
              <a:buNone/>
            </a:pPr>
            <a:r>
              <a:rPr sz="1200" lang="he-IL"/>
              <a:t>•  שהצעד צריך להיות ״קטן״, ושחמישה צעדים עדיפים על אחד גדול, היא המלצת פרקטיקה מבוססת ניסיון, ולא תוצאה של מחקר כמותי.</a:t>
            </a:r>
          </a:p>
          <a:p>
            <a:pPr rtl="1" algn="r" marL="0" indent="0">
              <a:buNone/>
            </a:pPr>
            <a:r>
              <a:rPr sz="1200" lang="he-IL"/>
              <a:t>•  גם הטענה ש־AI נוטה לשנות דברים שלא ביקשתם נשענת על ניסיון נפוץ ועל מה שתראו במעבדה, ולא על מדידה שיטתית.</a:t>
            </a:r>
          </a:p>
          <a:p>
            <a:pPr rtl="1" algn="r" marL="0" indent="0">
              <a:buNone/>
            </a:pPr>
            <a:r>
              <a:rPr sz="1200" lang="he-IL"/>
              <a:t>•  המעגל הזה הוא הכלל של מפגש 6 (commit לפני, diff אחרי) בתוספת בדיקות ממפגש 8.</a:t>
            </a:r>
          </a:p>
          <a:p>
            <a:pPr rtl="1" algn="r" marL="0" indent="0">
              <a:buNone/>
            </a:pPr>
            <a:r>
              <a:rPr sz="1200" lang="he-IL"/>
              <a:t>•  הצעד ״קוראים את ה־diff״ הוא חמש השאלות לסקירת שינוי של סוכן ממפגש 8: קבצים שלא התבקשו, התנהגות שהשתנתה בשקט, בדיקות שנמחקו או נחלשו, ערכים קבועים וסודות, מקרי קצה שחסרים.</a:t>
            </a:r>
          </a:p>
          <a:p>
            <a:pPr rtl="1" algn="r" marL="0" indent="0">
              <a:buNone/>
            </a:pPr>
            <a:r>
              <a:rPr b="1" sz="1200" lang="he-IL"/>
              <a:t>שאלה לכיתה</a:t>
            </a:r>
          </a:p>
          <a:p>
            <a:pPr rtl="1" algn="r" marL="0" indent="0">
              <a:buNone/>
            </a:pPr>
            <a:r>
              <a:rPr sz="1200" lang="he-IL"/>
              <a:t>•  מי זוכר איזה סימן ב־diff מגלה שסוכן מחק בדיקה?</a:t>
            </a:r>
          </a:p>
          <a:p>
            <a:pPr rtl="1" algn="r" marL="0" indent="0">
              <a:buNone/>
            </a:pPr>
            <a:r>
              <a:rPr b="1" sz="1200" lang="he-IL"/>
              <a:t>תשובה</a:t>
            </a:r>
          </a:p>
          <a:p>
            <a:pPr rtl="1" algn="r" marL="0" indent="0">
              <a:buNone/>
            </a:pPr>
            <a:r>
              <a:rPr sz="1200" lang="he-IL"/>
              <a:t>•  שורות שנמחקו בקובץ הבדיקות, ומספר ה־passed שירד.</a:t>
            </a:r>
          </a:p>
          <a:p>
            <a:pPr rtl="1" algn="r" marL="0" indent="0">
              <a:buNone/>
            </a:pPr>
            <a:r>
              <a:rPr b="1" sz="1200" lang="he-IL"/>
              <a:t>אם הכיתה לא זוכרת</a:t>
            </a:r>
          </a:p>
          <a:p>
            <a:pPr rtl="1" algn="r" marL="0" indent="0">
              <a:buNone/>
            </a:pPr>
            <a:r>
              <a:rPr sz="1200" lang="he-IL"/>
              <a:t>•  ״ירוק זה לא מספיק״, 4 passed לפני ו־3 אחרי.</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מה עושים כשאין בדיקות?</a:t>
            </a:r>
          </a:p>
          <a:p>
            <a:pPr rtl="1" algn="r" marL="0" indent="0">
              <a:buNone/>
            </a:pPr>
            <a:r>
              <a:rPr b="1" sz="1200" lang="he-IL"/>
              <a:t>מה אומרים</a:t>
            </a:r>
          </a:p>
          <a:p>
            <a:pPr rtl="1" algn="r" marL="0" indent="0">
              <a:buNone/>
            </a:pPr>
            <a:r>
              <a:rPr sz="1200" lang="he-IL"/>
              <a:t>•  יוצרים רשת ביטחון זמנית.</a:t>
            </a:r>
          </a:p>
          <a:p>
            <a:pPr rtl="1" algn="r" marL="0" indent="0">
              <a:buNone/>
            </a:pPr>
            <a:r>
              <a:rPr sz="1200" lang="he-IL"/>
              <a:t>•  מריצים את התוכנית כפי שהיא היום ושומרים את הפלט לקובץ (בשקף: expected_output.txt), ובדיקה אחת משווה כל פעם את הפלט החדש לפלט השמור.</a:t>
            </a:r>
          </a:p>
          <a:p>
            <a:pPr rtl="1" algn="r" marL="0" indent="0">
              <a:buNone/>
            </a:pPr>
            <a:r>
              <a:rPr sz="1200" lang="he-IL"/>
              <a:t>•  זה נקרא golden master.</a:t>
            </a:r>
          </a:p>
          <a:p>
            <a:pPr rtl="1" algn="r" marL="0" indent="0">
              <a:buNone/>
            </a:pPr>
            <a:r>
              <a:rPr sz="1200" lang="he-IL"/>
              <a:t>•  הוא לא בודק שהקוד נכון, אלא שלא שינינו אותו תוך כדי סידור, ולכן הוא מתאים בדיוק ל־Refactoring.</a:t>
            </a:r>
          </a:p>
          <a:p>
            <a:pPr rtl="1" algn="r" marL="0" indent="0">
              <a:buNone/>
            </a:pPr>
            <a:r>
              <a:rPr sz="1200" lang="he-IL"/>
              <a:t>•  מגבלות לציין: הוא רגיש לכל שינוי בפלט, כולל פורמט, ולכן לא מתאים לפלט שמכיל תאריך או מספר אקראי; והוא שומר גם באגים קיימים, וזה בסדר כי המטרה היא התנהגות זהה.</a:t>
            </a:r>
          </a:p>
          <a:p>
            <a:pPr rtl="1" algn="r" marL="0" indent="0">
              <a:buNone/>
            </a:pPr>
            <a:r>
              <a:rPr b="1" sz="1200" lang="he-IL"/>
              <a:t>אנלוגיה</a:t>
            </a:r>
          </a:p>
          <a:p>
            <a:pPr rtl="1" algn="r" marL="0" indent="0">
              <a:buNone/>
            </a:pPr>
            <a:r>
              <a:rPr sz="1200" lang="he-IL"/>
              <a:t>•  צילום מצב של מחסן לפני הסידור ובדיקה בסוף שהכל באותו מקום.</a:t>
            </a:r>
          </a:p>
          <a:p>
            <a:pPr rtl="1" algn="r" marL="0" indent="0">
              <a:buNone/>
            </a:pPr>
            <a:r>
              <a:rPr b="1" sz="1200" lang="he-IL"/>
              <a:t>שאלה לכיתה</a:t>
            </a:r>
          </a:p>
          <a:p>
            <a:pPr rtl="1" algn="r" marL="0" indent="0">
              <a:buNone/>
            </a:pPr>
            <a:r>
              <a:rPr sz="1200" lang="he-IL"/>
              <a:t>•  האם פלט שנשמר כאמת הוא בהכרח נכון?</a:t>
            </a:r>
          </a:p>
          <a:p>
            <a:pPr rtl="1" algn="r" marL="0" indent="0">
              <a:buNone/>
            </a:pPr>
            <a:r>
              <a:rPr b="1" sz="1200" lang="he-IL"/>
              <a:t>תשובה</a:t>
            </a:r>
          </a:p>
          <a:p>
            <a:pPr rtl="1" algn="r" marL="0" indent="0">
              <a:buNone/>
            </a:pPr>
            <a:r>
              <a:rPr sz="1200" lang="he-IL"/>
              <a:t>•  לא, הוא רק מה שהיה.</a:t>
            </a:r>
          </a:p>
          <a:p>
            <a:pPr rtl="1" algn="r" marL="0" indent="0">
              <a:buNone/>
            </a:pPr>
            <a:r>
              <a:rPr b="1" sz="1200" lang="he-IL"/>
              <a:t>חיבור לשיעורים קודמים</a:t>
            </a:r>
          </a:p>
          <a:p>
            <a:pPr rtl="1" algn="r" marL="0" indent="0">
              <a:buNone/>
            </a:pPr>
            <a:r>
              <a:rPr sz="1200" lang="he-IL"/>
              <a:t>•  בדיקות מסודרות נלמדו בשיעור 8, וכאן זו גרסה מינימלית שמספיקה לצעד הזה.</a:t>
            </a:r>
          </a:p>
          <a:p>
            <a:pPr rtl="1" algn="r" marL="0" indent="0">
              <a:buNone/>
            </a:pPr>
            <a:r>
              <a:rPr sz="1200" lang="he-IL"/>
              <a:t>•  במחברת HM_11 עושים אותו דבר בפייתון: golden_snapshot שומרת את הפלט בקובץ expected_output.txt, ו־is_green משווה אליו, בלי pytest ובלי שורת פקודה.</a:t>
            </a:r>
          </a:p>
          <a:p>
            <a:pPr rtl="1" algn="r" marL="0" indent="0">
              <a:buNone/>
            </a:pPr>
            <a:r>
              <a:rPr sz="1200" lang="he-IL"/>
              <a:t>•  במינוח של Michael Feathers (Working Effectively with Legacy Code, 2004) זה נקרא מבחן אפיון (characterization test): בדיקה שמתארת מה הקוד עושה בפועל ולא מה הוא אמור לעשות.</a:t>
            </a:r>
          </a:p>
          <a:p>
            <a:pPr rtl="1" algn="r" marL="0" indent="0">
              <a:buNone/>
            </a:pPr>
            <a:r>
              <a:rPr sz="1200" lang="he-IL"/>
              <a:t>•  Golden master (נקרא גם snapshot test) הוא מבחן אפיון בגרגיר גס: משווים את כל הפלט.</a:t>
            </a:r>
          </a:p>
          <a:p>
            <a:pPr rtl="1" algn="r" marL="0" indent="0">
              <a:buNone/>
            </a:pPr>
            <a:r>
              <a:rPr sz="1200" lang="he-IL"/>
              <a:t>•  שקף ההעשרה ״מבחן אפיון מול בדיקה רגילה״ מרחיב על ההבדלים ועל המגבלות.</a:t>
            </a:r>
          </a:p>
          <a:p>
            <a:pPr rtl="1" algn="r" marL="0" indent="0">
              <a:buNone/>
            </a:pPr>
            <a:r>
              <a:rPr sz="1200" lang="he-IL"/>
              <a:t>•  חזרה, שלושה קישורים.</a:t>
            </a:r>
          </a:p>
          <a:p>
            <a:pPr rtl="1" algn="r" marL="0" indent="0">
              <a:buNone/>
            </a:pPr>
            <a:r>
              <a:rPr sz="1200" lang="he-IL"/>
              <a:t>•  (1) מפגש 8: שם הציפייה נגזרה ממפרט (17 מול 20), ואדם קבע מה נכון.</a:t>
            </a:r>
          </a:p>
          <a:p>
            <a:pPr rtl="1" algn="r" marL="0" indent="0">
              <a:buNone/>
            </a:pPr>
            <a:r>
              <a:rPr sz="1200" lang="he-IL"/>
              <a:t>•  כאן אין מפרט, והאורקל הוא הפלט של הקוד עצמו: זו ״בדיקה מעגלית״ במכוון, ולכן golden מתאים רק לשינוי מבנה, שבו רוצים התנהגות זהה, ולא כדי להוכיח נכונות.</a:t>
            </a:r>
          </a:p>
          <a:p>
            <a:pPr rtl="1" algn="r" marL="0" indent="0">
              <a:buNone/>
            </a:pPr>
            <a:r>
              <a:rPr sz="1200" lang="he-IL"/>
              <a:t>•  (2) מפגש 9: ה־golden הוא בדיקת רגרסיה בגודל של כל הפלט.</a:t>
            </a:r>
          </a:p>
          <a:p>
            <a:pPr rtl="1" algn="r" marL="0" indent="0">
              <a:buNone/>
            </a:pPr>
            <a:r>
              <a:rPr sz="1200" lang="he-IL"/>
              <a:t>•  בדיקת הרגרסיה של מפגש 9 (סכום 177,598) הגנה על תיקון מסוים; ה־golden מגן על כל מה שהקוד הדפיס.</a:t>
            </a:r>
          </a:p>
          <a:p>
            <a:pPr rtl="1" algn="r" marL="0" indent="0">
              <a:buNone/>
            </a:pPr>
            <a:r>
              <a:rPr b="1" sz="1200" lang="he-IL"/>
              <a:t>שאלה לכיתה</a:t>
            </a:r>
          </a:p>
          <a:p>
            <a:pPr rtl="1" algn="r" marL="0" indent="0">
              <a:buNone/>
            </a:pPr>
            <a:r>
              <a:rPr sz="1200" lang="he-IL"/>
              <a:t>•  מי זוכר מה בדיקת רגרסיה בודקת?</a:t>
            </a:r>
          </a:p>
          <a:p>
            <a:pPr rtl="1" algn="r" marL="0" indent="0">
              <a:buNone/>
            </a:pPr>
            <a:r>
              <a:rPr b="1" sz="1200" lang="he-IL"/>
              <a:t>תשובה</a:t>
            </a:r>
          </a:p>
          <a:p>
            <a:pPr rtl="1" algn="r" marL="0" indent="0">
              <a:buNone/>
            </a:pPr>
            <a:r>
              <a:rPr sz="1200" lang="he-IL"/>
              <a:t>•  שדבר שעבד לא נשבר אחרי שינוי.</a:t>
            </a:r>
          </a:p>
          <a:p>
            <a:pPr rtl="1" algn="r" marL="0" indent="0">
              <a:buNone/>
            </a:pPr>
            <a:r>
              <a:rPr b="1" sz="1200" lang="he-IL"/>
              <a:t>אם הכיתה לא זוכרת</a:t>
            </a:r>
          </a:p>
          <a:p>
            <a:pPr rtl="1" algn="r" marL="0" indent="0">
              <a:buNone/>
            </a:pPr>
            <a:r>
              <a:rPr sz="1200" lang="he-IL"/>
              <a:t>•  הזכירו את דוח הרבעון ממפגש 9 ואת סכום הביקורת שנשאר כבדיקה אחרי התיקון.</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הטעות הנפוצה ביותר בעבודה עם AI: ׳נבקש שישכתב את כל הקובץ׳.</a:t>
            </a:r>
          </a:p>
          <a:p>
            <a:pPr rtl="1" algn="r" marL="0" indent="0">
              <a:buNone/>
            </a:pPr>
            <a:r>
              <a:rPr b="1" sz="1200" lang="he-IL"/>
              <a:t>מה אומרים</a:t>
            </a:r>
          </a:p>
          <a:p>
            <a:pPr rtl="1" algn="r" marL="0" indent="0">
              <a:buNone/>
            </a:pPr>
            <a:r>
              <a:rPr sz="1200" lang="he-IL"/>
              <a:t>•  עברו על שתי התיבות: מימין שכתוב אחד גדול שמייצר diff של 400 שורות שאי אפשר לקרוא, אי אפשר לבדוק ואי אפשר לבטל חלק ממנו.</a:t>
            </a:r>
          </a:p>
          <a:p>
            <a:pPr rtl="1" algn="r" marL="0" indent="0">
              <a:buNone/>
            </a:pPr>
            <a:r>
              <a:rPr sz="1200" lang="he-IL"/>
              <a:t>•  משמאל חמישה צעדים קטנים, כל אחד עם diff קצר, בדיקות ו־commit שאפשר לחזור אליו.</a:t>
            </a:r>
          </a:p>
          <a:p>
            <a:pPr rtl="1" algn="r" marL="0" indent="0">
              <a:buNone/>
            </a:pPr>
            <a:r>
              <a:rPr b="1" sz="1200" lang="he-IL"/>
              <a:t>אנלוגיה</a:t>
            </a:r>
          </a:p>
          <a:p>
            <a:pPr rtl="1" algn="r" marL="0" indent="0">
              <a:buNone/>
            </a:pPr>
            <a:r>
              <a:rPr sz="1200" lang="he-IL"/>
              <a:t>•  להחליף את כל המכונות במפעל בבת אחת במקום מכונה אחת בכל פעם.</a:t>
            </a:r>
          </a:p>
          <a:p>
            <a:pPr rtl="1" algn="r" marL="0" indent="0">
              <a:buNone/>
            </a:pPr>
            <a:r>
              <a:rPr b="1" sz="1200" lang="he-IL"/>
              <a:t>שאלה לכיתה</a:t>
            </a:r>
          </a:p>
          <a:p>
            <a:pPr rtl="1" algn="r" marL="0" indent="0">
              <a:buNone/>
            </a:pPr>
            <a:r>
              <a:rPr sz="1200" lang="he-IL"/>
              <a:t>•  ה־AI שכתב הכל והבדיקות ירוקות, אפשר להירגע?</a:t>
            </a:r>
          </a:p>
          <a:p>
            <a:pPr rtl="1" algn="r" marL="0" indent="0">
              <a:buNone/>
            </a:pPr>
            <a:r>
              <a:rPr b="1" sz="1200" lang="he-IL"/>
              <a:t>תשובה</a:t>
            </a:r>
          </a:p>
          <a:p>
            <a:pPr rtl="1" algn="r" marL="0" indent="0">
              <a:buNone/>
            </a:pPr>
            <a:r>
              <a:rPr sz="1200" lang="he-IL"/>
              <a:t>•  רק אם הבדיקות מכסות את כל ההתנהגות, ולרוב הן לא; ובכל מקרה לא קראתם מה השתנה.</a:t>
            </a:r>
          </a:p>
          <a:p>
            <a:pPr rtl="1" algn="r" marL="0" indent="0">
              <a:buNone/>
            </a:pPr>
            <a:r>
              <a:rPr sz="1200" lang="he-IL"/>
              <a:t>•  הוסיפו שבשכתוב גדול ה־AI עלול לשנות בדרך גם שמות או לוגיקה שלא ביקשתם.</a:t>
            </a:r>
          </a:p>
          <a:p>
            <a:pPr rtl="1" algn="r" marL="0" indent="0">
              <a:buNone/>
            </a:pPr>
            <a:r>
              <a:rPr b="1" sz="1200" lang="he-IL"/>
              <a:t>חיבור לשיעורים קודמים</a:t>
            </a:r>
          </a:p>
          <a:p>
            <a:pPr rtl="1" algn="r" marL="0" indent="0">
              <a:buNone/>
            </a:pPr>
            <a:r>
              <a:rPr sz="1200" lang="he-IL"/>
              <a:t>•  ה־commit אחרי כל צעד הוא כלי Git משיעור 6.</a:t>
            </a:r>
          </a:p>
          <a:p>
            <a:pPr rtl="1" algn="r" marL="0" indent="0">
              <a:buNone/>
            </a:pPr>
            <a:r>
              <a:rPr sz="1200" lang="he-IL"/>
              <a:t>•  שקף אופציונלי (כדקה): הרעיון כבר עבר בשקף הצעד הקטן ובשאלת הבדיקה, ולכן אפשר לדלג אם הזמן קצר.</a:t>
            </a:r>
          </a:p>
          <a:p>
            <a:pPr rtl="1" algn="r" marL="0" indent="0">
              <a:buNone/>
            </a:pPr>
            <a:r>
              <a:rPr b="1" sz="1200" lang="he-IL"/>
              <a:t>להעמקה</a:t>
            </a:r>
          </a:p>
          <a:p>
            <a:pPr rtl="1" algn="r" marL="0" indent="0">
              <a:buNone/>
            </a:pPr>
            <a:r>
              <a:rPr sz="1200" lang="he-IL"/>
              <a:t>•  הטענה ש־diff של 400 שורות קשה לבדיקה היא ניסיון נפוץ ולא מדידה.</a:t>
            </a:r>
          </a:p>
          <a:p>
            <a:pPr rtl="1" algn="r" marL="0" indent="0">
              <a:buNone/>
            </a:pPr>
            <a:r>
              <a:rPr sz="1200" lang="he-IL"/>
              <a:t>•  מה שאפשר להראות הוא שה־diff בכלי כמו Git מציג כל שורה, וכל שורה שלא קראנו היא סיכון.</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שאלת בדיקה לסיום חלק א׳ (כדקה).</a:t>
            </a:r>
          </a:p>
          <a:p>
            <a:pPr rtl="1" algn="r" marL="0" indent="0">
              <a:buNone/>
            </a:pPr>
            <a:r>
              <a:rPr b="1" sz="1200" lang="he-IL"/>
              <a:t>מה אומרים</a:t>
            </a:r>
          </a:p>
          <a:p>
            <a:pPr rtl="1" algn="r" marL="0" indent="0">
              <a:buNone/>
            </a:pPr>
            <a:r>
              <a:rPr sz="1200" lang="he-IL"/>
              <a:t>•  הקריאו את השאלה ותנו חצי דקה לחשוב בזוגות לפני שחושפים תשובה.</a:t>
            </a:r>
          </a:p>
          <a:p>
            <a:pPr rtl="1" algn="r" marL="0" indent="0">
              <a:buNone/>
            </a:pPr>
            <a:r>
              <a:rPr sz="1200" lang="he-IL"/>
              <a:t>•  תרחיש: ביקשתם מהסוכן להפריד פונקציה לשתיים, הרצתם בדיקות, ופתאום הכל אדום.</a:t>
            </a:r>
          </a:p>
          <a:p>
            <a:pPr rtl="1" algn="r" marL="0" indent="0">
              <a:buNone/>
            </a:pPr>
            <a:r>
              <a:rPr sz="1200" lang="he-IL"/>
              <a:t>•  התשובה שרוצים לשנות היא ׳נבקש מה־AI לתקן׳.</a:t>
            </a:r>
          </a:p>
          <a:p>
            <a:pPr rtl="1" algn="r" marL="0" indent="0">
              <a:buNone/>
            </a:pPr>
            <a:r>
              <a:rPr b="1" sz="1200" lang="he-IL"/>
              <a:t>שאלה לכיתה</a:t>
            </a:r>
          </a:p>
          <a:p>
            <a:pPr rtl="1" algn="r" marL="0" indent="0">
              <a:buNone/>
            </a:pPr>
            <a:r>
              <a:rPr sz="1200" lang="he-IL"/>
              <a:t>•  מה ההבדל בין לתקן קדימה לבין לחזור אחורה?</a:t>
            </a:r>
          </a:p>
          <a:p>
            <a:pPr rtl="1" algn="r" marL="0" indent="0">
              <a:buNone/>
            </a:pPr>
            <a:r>
              <a:rPr sz="1200" lang="he-IL"/>
              <a:t>•  שימו לב שסטודנטים נוטים להתבייש לבטל, והדגישו שביטול הוא חלק רגיל ובריא מהתהליך.</a:t>
            </a:r>
          </a:p>
          <a:p>
            <a:pPr rtl="1" algn="r" marL="0" indent="0">
              <a:buNone/>
            </a:pPr>
            <a:r>
              <a:rPr sz="1200" lang="he-IL"/>
              <a:t>•  אל תגלו את התשובה עדיין.</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200" lang="he-IL"/>
              <a:t>תשובה</a:t>
            </a:r>
          </a:p>
          <a:p>
            <a:pPr rtl="1" algn="r" marL="0" indent="0">
              <a:buNone/>
            </a:pPr>
            <a:r>
              <a:rPr sz="1200" lang="he-IL"/>
              <a:t>•  מבטלים את הצעד האחרון וחוזרים ל־commit האחרון, שהיה ירוק.</a:t>
            </a:r>
          </a:p>
          <a:p>
            <a:pPr rtl="1" algn="r" marL="0" indent="0">
              <a:buNone/>
            </a:pPr>
            <a:r>
              <a:rPr sz="1200" lang="he-IL"/>
              <a:t>•  אחר כך מנסים שוב עם בקשה קטנה וממוקדת יותר.</a:t>
            </a:r>
          </a:p>
          <a:p>
            <a:pPr rtl="1" algn="r" marL="0" indent="0">
              <a:buNone/>
            </a:pPr>
            <a:r>
              <a:rPr sz="1200" lang="he-IL"/>
              <a:t>•  הסיבה: אם מתקנים על גבי תקלה, מקבלים שתי בעיות מעורבבות וקשה להבין מה שבר מה.</a:t>
            </a:r>
          </a:p>
          <a:p>
            <a:pPr rtl="1" algn="r" marL="0" indent="0">
              <a:buNone/>
            </a:pPr>
            <a:r>
              <a:rPr sz="1200" lang="he-IL"/>
              <a:t>•  דוגמה למעבדה הבאה: שם תראו אדום אמיתי, כשמשנים את ימי הביטחון מ־3 ל־2 בפונקציה low_stock_oops, והמחברת לא רושמת את הצעד וחוזרים לגרסה הקודמת.</a:t>
            </a:r>
          </a:p>
          <a:p>
            <a:pPr rtl="1" algn="r" marL="0" indent="0">
              <a:buNone/>
            </a:pPr>
            <a:r>
              <a:rPr sz="1200" lang="he-IL"/>
              <a:t>•  טעות שכיחה בתשובות: ׳מבקשים מה־AI לתקן את האדום׳.</a:t>
            </a:r>
          </a:p>
          <a:p>
            <a:pPr rtl="1" algn="r" marL="0" indent="0">
              <a:buNone/>
            </a:pPr>
            <a:r>
              <a:rPr sz="1200" lang="he-IL"/>
              <a:t>•  לפעמים זה עובד, אבל הדבר מצטבר לבלגן.</a:t>
            </a:r>
          </a:p>
          <a:p>
            <a:pPr rtl="1" algn="r" marL="0" indent="0">
              <a:buNone/>
            </a:pPr>
            <a:r>
              <a:rPr b="1" sz="1200" lang="he-IL"/>
              <a:t>חיבור לשיעורים קודמים</a:t>
            </a:r>
          </a:p>
          <a:p>
            <a:pPr rtl="1" algn="r" marL="0" indent="0">
              <a:buNone/>
            </a:pPr>
            <a:r>
              <a:rPr sz="1200" lang="he-IL"/>
              <a:t>•  בשיעור 6 למדנו ש־commit קטן הופך ביטול לזול.</a:t>
            </a:r>
          </a:p>
          <a:p>
            <a:pPr rtl="1" algn="r" marL="0" indent="0">
              <a:buNone/>
            </a:pPr>
            <a:r>
              <a:rPr sz="1200" lang="he-IL"/>
              <a:t>•  עוברים עכשיו למעבדה א׳, שבה מתרגלים את זה בפועל.</a:t>
            </a:r>
          </a:p>
          <a:p>
            <a:pPr rtl="1" algn="r" marL="0" indent="0">
              <a:buNone/>
            </a:pPr>
            <a:r>
              <a:rPr sz="1200" lang="he-IL"/>
              <a:t>•  מי זוכר איזה כלי החזיר קובץ ל־commit האחרון?</a:t>
            </a:r>
          </a:p>
          <a:p>
            <a:pPr rtl="1" algn="r" marL="0" indent="0">
              <a:buNone/>
            </a:pPr>
            <a:r>
              <a:rPr sz="1200" lang="he-IL"/>
              <a:t>•  במפגש 6 במעבדה השתמשנו ב־restore: הוא מחזיר קובץ למצב שנשמר ב־commit האחרון, ומוחק שינויים שלא נשמרו.</a:t>
            </a:r>
          </a:p>
          <a:p>
            <a:pPr rtl="1" algn="r" marL="0" indent="0">
              <a:buNone/>
            </a:pPr>
            <a:r>
              <a:rPr sz="1200" lang="he-IL"/>
              <a:t>•  בלי commit אין לאן לחזור, וזה הנימוק ל־״commit לפני״.</a:t>
            </a:r>
          </a:p>
          <a:p>
            <a:pPr rtl="1" algn="r" marL="0" indent="0">
              <a:buNone/>
            </a:pPr>
            <a:r>
              <a:rPr b="1" sz="1200" lang="he-IL"/>
              <a:t>אם הכיתה לא זוכרת</a:t>
            </a:r>
          </a:p>
          <a:p>
            <a:pPr rtl="1" algn="r" marL="0" indent="0">
              <a:buNone/>
            </a:pPr>
            <a:r>
              <a:rPr sz="1200" lang="he-IL"/>
              <a:t>•  אמרו שזה בדיוק הכלל של מפגש 6, ושבמחברת של היום ה־commit הוא רישום בקוד.</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200" lang="he-IL"/>
              <a:t>מה אומרים</a:t>
            </a:r>
          </a:p>
          <a:p>
            <a:pPr rtl="1" algn="r" marL="0" indent="0">
              <a:buNone/>
            </a:pPr>
            <a:r>
              <a:rPr sz="1200" lang="he-IL"/>
              <a:t>•  מעבדה א׳, 18 דקות, בזוגות: חלק א׳ של המחברת (6 דקות) וחלק ב׳ (12 דקות), בתוך מחברת Colab אחת, HM_11, שמלווה את כל המעבדות של המפגש.</a:t>
            </a:r>
          </a:p>
          <a:p>
            <a:pPr rtl="1" algn="r" marL="0" indent="0">
              <a:buNone/>
            </a:pPr>
            <a:r>
              <a:rPr sz="1200" lang="he-IL"/>
              <a:t>•  כל הקוד רץ בפייתון בתוך Colab, בלי Git ובלי pytest: ״commit״ במחברת הוא רישום בקוד, וצעד נרשם רק אם הפלט של הדוח זהה לפלט השמור.</a:t>
            </a:r>
          </a:p>
          <a:p>
            <a:pPr rtl="1" algn="r" marL="0" indent="0">
              <a:buNone/>
            </a:pPr>
            <a:r>
              <a:rPr sz="1200" lang="he-IL"/>
              <a:t>•  חלק א׳: ממשים golden_snapshot ו־is_green, ובתא ההדגמה רואים ארבעה ״שיפורים״ של הקובץ: שינוי שם עמודה והערות נשארים ירוקים, ואילו ימי ביטחון 2 במקום 3 ועיגול לשתי ספרות הופכים לאדום.</a:t>
            </a:r>
          </a:p>
          <a:p>
            <a:pPr rtl="1" algn="r" marL="0" indent="0">
              <a:buNone/>
            </a:pPr>
            <a:r>
              <a:rPr sz="1200" lang="he-IL"/>
              <a:t>•  חלק ב׳: שלבים 1 עד 3 הם חובה (low_stock_v1 עם שמות ברורים, חילוץ revenue_by_category ו־top_products, והסרת השכפול עם add_revenue), ושלבים 4 ו־5 מומלצים.</a:t>
            </a:r>
          </a:p>
          <a:p>
            <a:pPr rtl="1" algn="r" marL="0" indent="0">
              <a:buNone/>
            </a:pPr>
            <a:r>
              <a:rPr b="1" sz="1200" lang="he-IL"/>
              <a:t>הכנה לפני השיעור</a:t>
            </a:r>
          </a:p>
          <a:p>
            <a:pPr rtl="1" algn="r" marL="0" indent="0">
              <a:buNone/>
            </a:pPr>
            <a:r>
              <a:rPr sz="1200" lang="he-IL"/>
              <a:t>•  להעלות את HM_11.ipynb ל־Colab או ל־Drive ולהחליף את ה־QR (מקום שמור) בקישור אמיתי, ולפתוח את HM_11_SOLUTION ולהריץ Run all פעם אחת.</a:t>
            </a:r>
          </a:p>
          <a:p>
            <a:pPr rtl="1" algn="r" marL="0" indent="0">
              <a:buNone/>
            </a:pPr>
            <a:r>
              <a:rPr sz="1200" lang="he-IL"/>
              <a:t>•  הערות מפורטות בקובץ הערות_למרצה_HM_11.md.</a:t>
            </a:r>
          </a:p>
          <a:p>
            <a:pPr rtl="1" algn="r" marL="0" indent="0">
              <a:buNone/>
            </a:pPr>
            <a:r>
              <a:rPr b="1" sz="1200" lang="he-IL"/>
              <a:t>חיבור לשיעורים קודמים</a:t>
            </a:r>
          </a:p>
          <a:p>
            <a:pPr rtl="1" algn="r" marL="0" indent="0">
              <a:buNone/>
            </a:pPr>
            <a:r>
              <a:rPr sz="1200" lang="he-IL"/>
              <a:t>•  במעבדה זו משתמשים בשלושה כלים מהקורס. golden_snapshot ו־is_green הם בדיקה במובן של מפגש 8, אבל בלי מפרט.</a:t>
            </a:r>
          </a:p>
          <a:p>
            <a:pPr rtl="1" algn="r" marL="0" indent="0">
              <a:buNone/>
            </a:pPr>
            <a:r>
              <a:rPr sz="1200" lang="he-IL"/>
              <a:t>•  COMMITS הוא ה־commit ממפגש 6, כרישום בקוד.</a:t>
            </a:r>
          </a:p>
          <a:p>
            <a:pPr rtl="1" algn="r" marL="0" indent="0">
              <a:buNone/>
            </a:pPr>
            <a:r>
              <a:rPr sz="1200" lang="he-IL"/>
              <a:t>•  וצעד 3 (my_ai_alerts) הוא צעד עם עוזר AI שבו קוראים diff ומחליטים לפי ה־golden, כפי שלמדנו במפגשים 6 ו־8.</a:t>
            </a:r>
          </a:p>
          <a:p>
            <a:pPr rtl="1" algn="r" marL="0" indent="0">
              <a:buNone/>
            </a:pPr>
            <a:r>
              <a:rPr b="1" sz="1200" lang="he-IL"/>
              <a:t>שאלה לכיתה</a:t>
            </a:r>
          </a:p>
          <a:p>
            <a:pPr rtl="1" algn="r" marL="0" indent="0">
              <a:buNone/>
            </a:pPr>
            <a:r>
              <a:rPr sz="1200" lang="he-IL"/>
              <a:t>•  מי זוכר מה עושים כשהבדיקה אדומה?</a:t>
            </a:r>
          </a:p>
          <a:p>
            <a:pPr rtl="1" algn="r" marL="0" indent="0">
              <a:buNone/>
            </a:pPr>
            <a:r>
              <a:rPr b="1" sz="1200" lang="he-IL"/>
              <a:t>תשובה</a:t>
            </a:r>
          </a:p>
          <a:p>
            <a:pPr rtl="1" algn="r" marL="0" indent="0">
              <a:buNone/>
            </a:pPr>
            <a:r>
              <a:rPr sz="1200" lang="he-IL"/>
              <a:t>•  מבטלים את הצעד ומנסים צעד קטן יותר.</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שקף אופציונלי, לקריאה בבית (כ־30 שניות בכיתה, או לדלג).</a:t>
            </a:r>
          </a:p>
          <a:p>
            <a:pPr rtl="1" algn="r" marL="0" indent="0">
              <a:buNone/>
            </a:pPr>
            <a:r>
              <a:rPr b="1" sz="1200" lang="he-IL"/>
              <a:t>מה אומרים</a:t>
            </a:r>
          </a:p>
          <a:p>
            <a:pPr rtl="1" algn="r" marL="0" indent="0">
              <a:buNone/>
            </a:pPr>
            <a:r>
              <a:rPr sz="1200" lang="he-IL"/>
              <a:t>•  שמונה מקורות שנבדקו בפועל מול הדף או הפרסום עצמו.</a:t>
            </a:r>
          </a:p>
          <a:p>
            <a:pPr rtl="1" algn="r" marL="0" indent="0">
              <a:buNone/>
            </a:pPr>
            <a:r>
              <a:rPr sz="1200" lang="he-IL"/>
              <a:t>•  (1) Fowler (2018), הספר שבביבליוגרפיה של הקורס, והקטלוג באתר refactoring.com.</a:t>
            </a:r>
          </a:p>
          <a:p>
            <a:pPr rtl="1" algn="r" marL="0" indent="0">
              <a:buNone/>
            </a:pPr>
            <a:r>
              <a:rPr sz="1200" lang="he-IL"/>
              <a:t>•  (2) Feathers (2004), מבחני אפיון וההגדרה של קוד ירושה כקוד בלי בדיקות.</a:t>
            </a:r>
          </a:p>
          <a:p>
            <a:pPr rtl="1" algn="r" marL="0" indent="0">
              <a:buNone/>
            </a:pPr>
            <a:r>
              <a:rPr sz="1200" lang="he-IL"/>
              <a:t>•  (3) Cunningham (1992), דו״ח הניסיון שבו הוצג הדימוי של חוב טכני.</a:t>
            </a:r>
          </a:p>
          <a:p>
            <a:pPr rtl="1" algn="r" marL="0" indent="0">
              <a:buNone/>
            </a:pPr>
            <a:r>
              <a:rPr sz="1200" lang="he-IL"/>
              <a:t>•  (4) Conway (1968), נמצא באתר של המחבר.</a:t>
            </a:r>
          </a:p>
          <a:p>
            <a:pPr rtl="1" algn="r" marL="0" indent="0">
              <a:buNone/>
            </a:pPr>
            <a:r>
              <a:rPr sz="1200" lang="he-IL"/>
              <a:t>•  (5) Nygard (2011), בלוג של Cognitect, פורמט ה־ADR.</a:t>
            </a:r>
          </a:p>
          <a:p>
            <a:pPr rtl="1" algn="r" marL="0" indent="0">
              <a:buNone/>
            </a:pPr>
            <a:r>
              <a:rPr sz="1200" lang="he-IL"/>
              <a:t>•  (6) Xia ועמיתים (2018), מחקר שדה על 78 מפתחים, כ־58% מהזמן הוקדש להבנת קוד.</a:t>
            </a:r>
          </a:p>
          <a:p>
            <a:pPr rtl="1" algn="r" marL="0" indent="0">
              <a:buNone/>
            </a:pPr>
            <a:r>
              <a:rPr sz="1200" lang="he-IL"/>
              <a:t>•  (7) Cordeiro, Noei ו־Zou (2024), מאמר arXiv, עדיין לא ברור אם עבר ביקורת עמיתים.</a:t>
            </a:r>
          </a:p>
          <a:p>
            <a:pPr rtl="1" algn="r" marL="0" indent="0">
              <a:buNone/>
            </a:pPr>
            <a:r>
              <a:rPr sz="1200" lang="he-IL"/>
              <a:t>•  (8) דוח DORA 2024 על AI בפיתוח תוכנה.</a:t>
            </a:r>
          </a:p>
          <a:p>
            <a:pPr rtl="1" algn="r" marL="0" indent="0">
              <a:buNone/>
            </a:pPr>
            <a:r>
              <a:rPr sz="1200" lang="he-IL"/>
              <a:t>•  מקורות נוספים שהוזכרו בהערות: Parnas (1972), On the Criteria To Be Used in Decomposing Systems into Modules, Communications of the ACM 15(12)</a:t>
            </a:r>
          </a:p>
          <a:p>
            <a:pPr rtl="1" algn="r" marL="0" indent="0">
              <a:buNone/>
            </a:pPr>
            <a:r>
              <a:rPr sz="1200" lang="he-IL"/>
              <a:t>•  Bloch (2006), How to Design a Good API and Why it Matters, OOPSLA</a:t>
            </a:r>
          </a:p>
          <a:p>
            <a:pPr rtl="1" algn="r" marL="0" indent="0">
              <a:buNone/>
            </a:pPr>
            <a:r>
              <a:rPr sz="1200" lang="he-IL"/>
              <a:t>•  Winters, Manshreck ו־Wright (2020), Software Engineering at Google, O'Reilly (חוק Hyrum, פרק 1, זמין חינם ב־abseil.io/resources/swe-book)</a:t>
            </a:r>
          </a:p>
          <a:p>
            <a:pPr rtl="1" algn="r" marL="0" indent="0">
              <a:buNone/>
            </a:pPr>
            <a:r>
              <a:rPr sz="1200" lang="he-IL"/>
              <a:t>•  Knuth (1974), Structured Programming with go to Statements, Computing Surveys</a:t>
            </a:r>
          </a:p>
          <a:p>
            <a:pPr rtl="1" algn="r" marL="0" indent="0">
              <a:buNone/>
            </a:pPr>
            <a:r>
              <a:rPr sz="1200" lang="he-IL"/>
              <a:t>•  Fowler (2009), Technical Debt Quadrant, martinfowler.com</a:t>
            </a:r>
          </a:p>
          <a:p>
            <a:pPr rtl="1" algn="r" marL="0" indent="0">
              <a:buNone/>
            </a:pPr>
            <a:r>
              <a:rPr sz="1200" lang="he-IL"/>
              <a:t>•  דוח GitClear (2025), AI Copilot Code Quality (דוח של חברה מסחרית, נבדק רק דרך סיקורים של הדוח).</a:t>
            </a:r>
          </a:p>
          <a:p>
            <a:pPr rtl="1" algn="r" marL="0" indent="0">
              <a:buNone/>
            </a:pPr>
            <a:r>
              <a:rPr sz="1200" lang="he-IL"/>
              <a:t>•  המלצה לסטודנטים שרוצים להעמיק: לקרוא את הפרקים הראשונים של Fowler ואת עמוד ה־ADR של Nygard (קצר מאוד), ולנסות את הקטלוג על קוד שלהם.</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חמשת הצעדים של חלק ב׳ במחברת, כל אחד קטן, ואחרי כל אחד תא בדיקה שמריץ את ה־golden.</a:t>
            </a:r>
          </a:p>
          <a:p>
            <a:pPr rtl="1" algn="r" marL="0" indent="0">
              <a:buNone/>
            </a:pPr>
            <a:r>
              <a:rPr b="1" sz="1200" lang="he-IL"/>
              <a:t>מה אומרים</a:t>
            </a:r>
          </a:p>
          <a:p>
            <a:pPr rtl="1" algn="r" marL="0" indent="0">
              <a:buNone/>
            </a:pPr>
            <a:r>
              <a:rPr sz="1200" lang="he-IL"/>
              <a:t>•  שלב 1: low_stock_v1, אותה פונקציה עם שמות ברורים (daily_demand במקום d וכן הלאה), בלי לגעת במספרים, בעמודות המוחזרות או בסדר השורות.</a:t>
            </a:r>
          </a:p>
          <a:p>
            <a:pPr rtl="1" algn="r" marL="0" indent="0">
              <a:buNone/>
            </a:pPr>
            <a:r>
              <a:rPr sz="1200" lang="he-IL"/>
              <a:t>•  שלב 2: revenue_by_category ו־top_products, שמחזירות ערך ולא מדפיסות.</a:t>
            </a:r>
          </a:p>
          <a:p>
            <a:pPr rtl="1" algn="r" marL="0" indent="0">
              <a:buNone/>
            </a:pPr>
            <a:r>
              <a:rPr sz="1200" lang="he-IL"/>
              <a:t>•  שלב 3: add_revenue שמחזירה עותק עם עמודה revenue, ושתי הפונקציות החדשות קוראות לה.</a:t>
            </a:r>
          </a:p>
          <a:p>
            <a:pPr rtl="1" algn="r" marL="0" indent="0">
              <a:buNone/>
            </a:pPr>
            <a:r>
              <a:rPr sz="1200" lang="he-IL"/>
              <a:t>•  שלב 4: הקבועים SAFETY_DAYS ו־DAYS_IN_YEAR.</a:t>
            </a:r>
          </a:p>
          <a:p>
            <a:pPr rtl="1" algn="r" marL="0" indent="0">
              <a:buNone/>
            </a:pPr>
            <a:r>
              <a:rPr sz="1200" lang="he-IL"/>
              <a:t>•  שלב 5: צעד שנכתב על ידי עוזר AI.</a:t>
            </a:r>
          </a:p>
          <a:p>
            <a:pPr rtl="1" algn="r" marL="0" indent="0">
              <a:buNone/>
            </a:pPr>
            <a:r>
              <a:rPr sz="1200" lang="he-IL"/>
              <a:t>•  שלבים 1 עד 3 חובה, 4 ו־5 מומלצים.</a:t>
            </a:r>
          </a:p>
          <a:p>
            <a:pPr rtl="1" algn="r" marL="0" indent="0">
              <a:buNone/>
            </a:pPr>
            <a:r>
              <a:rPr sz="1200" lang="he-IL"/>
              <a:t>•  טעויות צפויות: שינוי שם העמודה name_x או rop (ה־golden אדום, כי זה ה״ממשק״ של הפונקציה), הדפסה בתוך פונקציה (הפלט מוכפל), שינוי טבלת orders המקורית במקום עותק, ו־add_revenue שלא בשימוש בשתי הפונקציות.</a:t>
            </a:r>
          </a:p>
          <a:p>
            <a:pPr rtl="1" algn="r" marL="0" indent="0">
              <a:buNone/>
            </a:pPr>
            <a:r>
              <a:rPr sz="1200" lang="he-IL"/>
              <a:t>•  קבוצה איטית: מספיקים שלבים 1 עד 3 והשאר בבית.</a:t>
            </a:r>
          </a:p>
          <a:p>
            <a:pPr rtl="1" algn="r" marL="0" indent="0">
              <a:buNone/>
            </a:pPr>
            <a:r>
              <a:rPr sz="1200" lang="he-IL"/>
              <a:t>•  הסדר חשוב: קודם שמות, אחר כך פונקציות, ורק אחר כך קבועים.</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בקשה ממוקדת ל־AI, זה הפרומפט של שלב 5 בחלק ב׳ (מומלץ).</a:t>
            </a:r>
          </a:p>
          <a:p>
            <a:pPr rtl="1" algn="r" marL="0" indent="0">
              <a:buNone/>
            </a:pPr>
            <a:r>
              <a:rPr b="1" sz="1200" lang="he-IL"/>
              <a:t>מה אומרים</a:t>
            </a:r>
          </a:p>
          <a:p>
            <a:pPr rtl="1" algn="r" marL="0" indent="0">
              <a:buNone/>
            </a:pPr>
            <a:r>
              <a:rPr sz="1200" lang="he-IL"/>
              <a:t>•  הנוסח בשקף מקוצר מעט, והנוסח המלא במחברת.</a:t>
            </a:r>
          </a:p>
          <a:p>
            <a:pPr rtl="1" algn="r" marL="0" indent="0">
              <a:buNone/>
            </a:pPr>
            <a:r>
              <a:rPr sz="1200" lang="he-IL"/>
              <a:t>•  הסטודנטים פותחים את עוזר ה־AI של Colab (כפתור Gemini) או כל צ׳אט, מדביקים את הפרומפט ואחריו את הפונקציה low_stock_messy מהתא שבמחברת, ומדביקים את התשובה בתא תחת השם my_ai_alerts.</a:t>
            </a:r>
          </a:p>
          <a:p>
            <a:pPr rtl="1" algn="r" marL="0" indent="0">
              <a:buNone/>
            </a:pPr>
            <a:r>
              <a:rPr sz="1200" lang="he-IL"/>
              <a:t>•  שלושה מרכיבים בפרומפט: היקף ממוקד (ONLY), אילוץ (אותם ארגומנטים, אותן עמודות מוחזרות ואותו סדר שורות) ובקשה להראות רק קוד.</a:t>
            </a:r>
          </a:p>
          <a:p>
            <a:pPr rtl="1" algn="r" marL="0" indent="0">
              <a:buNone/>
            </a:pPr>
            <a:r>
              <a:rPr sz="1200" lang="he-IL"/>
              <a:t>•  אחר כך קוראים את ה־diff שהמחברת מציגה, מריצים את ה־golden, וכותבים ai_decision: accepted רק אם ירוק, אחרת rejected, ומשפט ב־ai_note על מה שהכלי שינה בלי שביקשו.</a:t>
            </a:r>
          </a:p>
          <a:p>
            <a:pPr rtl="1" algn="r" marL="0" indent="0">
              <a:buNone/>
            </a:pPr>
            <a:r>
              <a:rPr sz="1200" lang="he-IL"/>
              <a:t>•  הבדיקה בודקת עקביות ההחלטה, לא את תוכן ההצעה.</a:t>
            </a:r>
          </a:p>
          <a:p>
            <a:pPr rtl="1" algn="r" marL="0" indent="0">
              <a:buNone/>
            </a:pPr>
            <a:r>
              <a:rPr sz="1200" lang="he-IL"/>
              <a:t>•  אם הגישה ל־Gemini לא זמינה, מותר להדביק פונקציה שכתבו בעצמם כ־my_ai_alerts.</a:t>
            </a:r>
          </a:p>
          <a:p>
            <a:pPr rtl="1" algn="r" marL="0" indent="0">
              <a:buNone/>
            </a:pPr>
            <a:r>
              <a:rPr sz="1200" lang="he-IL"/>
              <a:t>•  אין להדביק מידע רגיש: זה קוד הקורס בלבד.</a:t>
            </a:r>
          </a:p>
          <a:p>
            <a:pPr rtl="1" algn="r" marL="0" indent="0">
              <a:buNone/>
            </a:pPr>
            <a:r>
              <a:rPr b="1" sz="1200" lang="he-IL"/>
              <a:t>שאלה לכיתה</a:t>
            </a:r>
          </a:p>
          <a:p>
            <a:pPr rtl="1" algn="r" marL="0" indent="0">
              <a:buNone/>
            </a:pPr>
            <a:r>
              <a:rPr sz="1200" lang="he-IL"/>
              <a:t>•  אם ה־golden ירוק, האם ההצעה טובה?</a:t>
            </a:r>
          </a:p>
          <a:p>
            <a:pPr rtl="1" algn="r" marL="0" indent="0">
              <a:buNone/>
            </a:pPr>
            <a:r>
              <a:rPr b="1" sz="1200" lang="he-IL"/>
              <a:t>תשובה</a:t>
            </a:r>
          </a:p>
          <a:p>
            <a:pPr rtl="1" algn="r" marL="0" indent="0">
              <a:buNone/>
            </a:pPr>
            <a:r>
              <a:rPr sz="1200" lang="he-IL"/>
              <a:t>•  היא רק זהה בפלט על הנתונים האלה, ולכן קוראים diff.</a:t>
            </a:r>
          </a:p>
          <a:p>
            <a:pPr rtl="1" algn="r" marL="0" indent="0">
              <a:buNone/>
            </a:pPr>
            <a:r>
              <a:rPr sz="1200" lang="he-IL"/>
              <a:t>•  חזרה, שלושה כללים ממפגשים קודמים.</a:t>
            </a:r>
          </a:p>
          <a:p>
            <a:pPr rtl="1" algn="r" marL="0" indent="0">
              <a:buNone/>
            </a:pPr>
            <a:r>
              <a:rPr sz="1200" lang="he-IL"/>
              <a:t>•  (6) קוראים את ה־diff לפני שמקבלים שינוי של כלי.</a:t>
            </a:r>
          </a:p>
          <a:p>
            <a:pPr rtl="1" algn="r" marL="0" indent="0">
              <a:buNone/>
            </a:pPr>
            <a:r>
              <a:rPr sz="1200" lang="he-IL"/>
              <a:t>•  (8) ״ירוק זה לא מספיק״ והשאלה השנייה מחמש שאלות הסקירה: האם ההתנהגות השתנתה בשקט?</a:t>
            </a:r>
          </a:p>
          <a:p>
            <a:pPr rtl="1" algn="r" marL="0" indent="0">
              <a:buNone/>
            </a:pPr>
            <a:r>
              <a:rPr sz="1200" lang="he-IL"/>
              <a:t>•  כאן ה־golden הוא ההגנה, והוא ממילא תופס רק מה שהוא מכסה.</a:t>
            </a:r>
          </a:p>
          <a:p>
            <a:pPr rtl="1" algn="r" marL="0" indent="0">
              <a:buNone/>
            </a:pPr>
            <a:r>
              <a:rPr sz="1200" lang="he-IL"/>
              <a:t>•  (10) רמזור ההדבקה: לא מדביקים מפתחות, נתוני לקוחות אמיתיים או קוד סודי, ולכן מדביקים רק את low_stock_messy מהמחברת.</a:t>
            </a:r>
          </a:p>
          <a:p>
            <a:pPr rtl="1" algn="r" marL="0" indent="0">
              <a:buNone/>
            </a:pPr>
            <a:r>
              <a:rPr b="1" sz="1200" lang="he-IL"/>
              <a:t>שאלה לכיתה</a:t>
            </a:r>
          </a:p>
          <a:p>
            <a:pPr rtl="1" algn="r" marL="0" indent="0">
              <a:buNone/>
            </a:pPr>
            <a:r>
              <a:rPr sz="1200" lang="he-IL"/>
              <a:t>•  מי זוכר מה אסור להדביק לכלי AI?</a:t>
            </a:r>
          </a:p>
          <a:p>
            <a:pPr rtl="1" algn="r" marL="0" indent="0">
              <a:buNone/>
            </a:pPr>
            <a:r>
              <a:rPr b="1" sz="1200" lang="he-IL"/>
              <a:t>תשובה</a:t>
            </a:r>
          </a:p>
          <a:p>
            <a:pPr rtl="1" algn="r" marL="0" indent="0">
              <a:buNone/>
            </a:pPr>
            <a:r>
              <a:rPr sz="1200" lang="he-IL"/>
              <a:t>•  מפתחות וסיסמאות, נתוני לקוחות אמיתיים וקוד סודי.</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שקף העשרה (אופציונלי, כ־1.5 דקות).</a:t>
            </a:r>
          </a:p>
          <a:p>
            <a:pPr rtl="1" algn="r" marL="0" indent="0">
              <a:buNone/>
            </a:pPr>
            <a:r>
              <a:rPr b="1" sz="1200" lang="he-IL"/>
              <a:t>מה אומרים</a:t>
            </a:r>
          </a:p>
          <a:p>
            <a:pPr rtl="1" algn="r" marL="0" indent="0">
              <a:buNone/>
            </a:pPr>
            <a:r>
              <a:rPr sz="1200" lang="he-IL"/>
              <a:t>•  קוד מראה מה נעשה, אבל לא למה.</a:t>
            </a:r>
          </a:p>
          <a:p>
            <a:pPr rtl="1" algn="r" marL="0" indent="0">
              <a:buNone/>
            </a:pPr>
            <a:r>
              <a:rPr sz="1200" lang="he-IL"/>
              <a:t>•  ב־2011 הציע Michael Nygard (Documenting Architecture Decisions, בלוג של Cognitect) לתעד כל החלטה ארכיטקטונית חשובה בעמוד קצר, שנקרא Architecture Decision Record.</a:t>
            </a:r>
          </a:p>
          <a:p>
            <a:pPr rtl="1" algn="r" marL="0" indent="0">
              <a:buNone/>
            </a:pPr>
            <a:r>
              <a:rPr sz="1200" lang="he-IL"/>
              <a:t>•  הפורמט שלו כולל כותרת, הקשר (הכוחות שפועלים), החלטה (במשפטים מלאים), סטטוס (למשל מוצע, אושר, או הוחלף על ידי החלטה מאוחרת יותר) והשלכות.</a:t>
            </a:r>
          </a:p>
          <a:p>
            <a:pPr rtl="1" algn="r" marL="0" indent="0">
              <a:buNone/>
            </a:pPr>
            <a:r>
              <a:rPr sz="1200" lang="he-IL"/>
              <a:t>•  חשוב לרשום את כל ההשלכות, גם השליליות.</a:t>
            </a:r>
          </a:p>
          <a:p>
            <a:pPr rtl="1" algn="r" marL="0" indent="0">
              <a:buNone/>
            </a:pPr>
            <a:r>
              <a:rPr sz="1200" lang="he-IL"/>
              <a:t>•  הקבצים נשמרים במאגר לצד הקוד, ולכן הם עוברים עם הפרויקט.</a:t>
            </a:r>
          </a:p>
          <a:p>
            <a:pPr rtl="1" algn="r" marL="0" indent="0">
              <a:buNone/>
            </a:pPr>
            <a:r>
              <a:rPr sz="1200" lang="he-IL"/>
              <a:t>•  דוגמה מהחנות בשקף מקשרת לקנה מידה: ההחלטה לשמור ב־CSV זולה ונכונה בהתחלה, וההשלכה ״איטי מעל מאות אלפי שורות״ מסבירה מתי כדאי לשנות אותה (ראו מעבדה ב׳).</a:t>
            </a:r>
          </a:p>
          <a:p>
            <a:pPr rtl="1" algn="r" marL="0" indent="0">
              <a:buNone/>
            </a:pPr>
            <a:r>
              <a:rPr sz="1200" lang="he-IL"/>
              <a:t>•  הקשר למעבדה ג׳: תבנית מסמך ההעברה במחברת (מה זה עושה, איך מריצים, מבנה, מה שבור או חסר, נקודות סיכון, שאלות פתוחות) מיועדת למי שקולט קוד זר ולכן אין בה ״החלטות״.</a:t>
            </a:r>
          </a:p>
          <a:p>
            <a:pPr rtl="1" algn="r" marL="0" indent="0">
              <a:buNone/>
            </a:pPr>
            <a:r>
              <a:rPr sz="1200" lang="he-IL"/>
              <a:t>•  בפרויקט הקבוצתי, שאתם כתבתם, כדאי להוסיף לה ADR קצר לכל החלטה גדולה אחת.</a:t>
            </a:r>
          </a:p>
          <a:p>
            <a:pPr rtl="1" algn="r" marL="0" indent="0">
              <a:buNone/>
            </a:pPr>
            <a:r>
              <a:rPr b="1" sz="1200" lang="he-IL"/>
              <a:t>טעות נפוצה</a:t>
            </a:r>
          </a:p>
          <a:p>
            <a:pPr rtl="1" algn="r" marL="0" indent="0">
              <a:buNone/>
            </a:pPr>
            <a:r>
              <a:rPr sz="1200" lang="he-IL"/>
              <a:t>•  לכתוב ADR אחרי שנה, כשכבר שכחו למה.</a:t>
            </a:r>
          </a:p>
          <a:p>
            <a:pPr rtl="1" algn="r" marL="0" indent="0">
              <a:buNone/>
            </a:pPr>
            <a:r>
              <a:rPr b="1" sz="1200" lang="he-IL"/>
              <a:t>שאלה לכיתה</a:t>
            </a:r>
          </a:p>
          <a:p>
            <a:pPr rtl="1" algn="r" marL="0" indent="0">
              <a:buNone/>
            </a:pPr>
            <a:r>
              <a:rPr sz="1200" lang="he-IL"/>
              <a:t>•  איזו החלטה בפרויקט שלכם הייתם מתעדים הכי מהר?</a:t>
            </a:r>
          </a:p>
          <a:p>
            <a:pPr rtl="1" algn="r" marL="0" indent="0">
              <a:buNone/>
            </a:pPr>
            <a:r>
              <a:rPr sz="1200" lang="he-IL"/>
              <a:t>•  לדלג כשחסר זמן.</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דוגמה לצעדים 3 ו־4 מחמשת הצעדים, כ־1.5 דקות, על המאגר legacy-repo שהסטודנטים יקבלו במעבדה.</a:t>
            </a:r>
          </a:p>
          <a:p>
            <a:pPr rtl="1" algn="r" marL="0" indent="0">
              <a:buNone/>
            </a:pPr>
            <a:r>
              <a:rPr b="1" sz="1200" lang="he-IL"/>
              <a:t>מה אומרים</a:t>
            </a:r>
          </a:p>
          <a:p>
            <a:pPr rtl="1" algn="r" marL="0" indent="0">
              <a:buNone/>
            </a:pPr>
            <a:r>
              <a:rPr sz="1200" lang="he-IL"/>
              <a:t>•  נקודת כניסה: הקובץ main.py, שמקבל ארגומנט אופציונלי אחד, ציון מינימלי.</a:t>
            </a:r>
          </a:p>
          <a:p>
            <a:pPr rtl="1" algn="r" marL="0" indent="0">
              <a:buNone/>
            </a:pPr>
            <a:r>
              <a:rPr sz="1200" lang="he-IL"/>
              <a:t>•  הוא קורא ל־load_suppliers מ־loader.py, שקורא את suppliers.csv (הנתיב נלקח מ־config.py), ואז מחשב ציון לכל ספק בעזרת score מ־scoring.py.</a:t>
            </a:r>
          </a:p>
          <a:p>
            <a:pPr rtl="1" algn="r" marL="0" indent="0">
              <a:buNone/>
            </a:pPr>
            <a:r>
              <a:rPr sz="1200" lang="he-IL"/>
              <a:t>•  המשקלים והתקרה נמצאים ב־config.py: 0.6 לשיעור אספקה בזמן, 0.4 לזמן האספקה, ותקרה של 21 ימים.</a:t>
            </a:r>
          </a:p>
          <a:p>
            <a:pPr rtl="1" algn="r" marL="0" indent="0">
              <a:buNone/>
            </a:pPr>
            <a:r>
              <a:rPr sz="1200" lang="he-IL"/>
              <a:t>•  אחר כך המערכת ממיינת מהגבוה לנמוך ומציגה רק ספקים שהציון שלהם לפחות כמו הארגומנט.</a:t>
            </a:r>
          </a:p>
          <a:p>
            <a:pPr rtl="1" algn="r" marL="0" indent="0">
              <a:buNone/>
            </a:pPr>
            <a:r>
              <a:rPr sz="1200" lang="he-IL"/>
              <a:t>•  הנוסחה: ציון שווה 0.6 כפול שיעור אספקה בזמן, ועוד 0.4 כפול (1 פחות זמן אספקה חלקי 21, כשזמן האספקה מוגבל ל־21).</a:t>
            </a:r>
          </a:p>
          <a:p>
            <a:pPr rtl="1" algn="r" marL="0" indent="0">
              <a:buNone/>
            </a:pPr>
            <a:r>
              <a:rPr sz="1200" lang="he-IL"/>
              <a:t>•  דוגמה לחישוב ביד, כמו שעושים כשמאמתים הבנה: ספק C עם שיעור 0.95 וזמן אספקה של 3 ימים: 0.6 כפול 0.95 הוא 0.57, ועוד 0.4 כפול (1 פחות 3 חלקי 21), כלומר 0.4 כפול 0.857 שזה 0.343, ביחד 0.913, בדיוק מה שמודפס בהרצה.</a:t>
            </a:r>
          </a:p>
          <a:p>
            <a:pPr rtl="1" algn="r" marL="0" indent="0">
              <a:buNone/>
            </a:pPr>
            <a:r>
              <a:rPr sz="1200" lang="he-IL"/>
              <a:t>•  זו שיטה טובה לאימות הבנה של קוד זר: חזרו על חישוב אחד בעצמכם.</a:t>
            </a:r>
          </a:p>
          <a:p>
            <a:pPr rtl="1" algn="r" marL="0" indent="0">
              <a:buNone/>
            </a:pPr>
            <a:r>
              <a:rPr sz="1200" lang="he-IL"/>
              <a:t>•  הקשר למעבדה: שלב 0 (הרצה) ושלב 1 (מיפוי) במחברת.</a:t>
            </a:r>
          </a:p>
          <a:p>
            <a:pPr rtl="1" algn="r" marL="0" indent="0">
              <a:buNone/>
            </a:pPr>
            <a:r>
              <a:rPr sz="1200" lang="he-IL"/>
              <a:t>•  שימו לב ש־DATA_DIR הוא נקודה ולכן ההרצה מתיקייה אחרת נכשלת.</a:t>
            </a:r>
          </a:p>
          <a:p>
            <a:pPr rtl="1" algn="r" marL="0" indent="0">
              <a:buNone/>
            </a:pPr>
            <a:r>
              <a:rPr b="1" sz="1200" lang="he-IL"/>
              <a:t>אנלוגיה</a:t>
            </a:r>
          </a:p>
          <a:p>
            <a:pPr rtl="1" algn="r" marL="0" indent="0">
              <a:buNone/>
            </a:pPr>
            <a:r>
              <a:rPr sz="1200" lang="he-IL"/>
              <a:t>•  מעקב אחרי הזמנה אחת לאורך קו הייצור.</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חלק ב׳ (11 דקות כולל שאלת בדיקה): מבנה, API וקנה מידה.</a:t>
            </a:r>
          </a:p>
          <a:p>
            <a:pPr rtl="1" algn="r" marL="0" indent="0">
              <a:buNone/>
            </a:pPr>
            <a:r>
              <a:rPr b="1" sz="1200" lang="he-IL"/>
              <a:t>מה אומרים</a:t>
            </a:r>
          </a:p>
          <a:p>
            <a:pPr rtl="1" algn="r" marL="0" indent="0">
              <a:buNone/>
            </a:pPr>
            <a:r>
              <a:rPr sz="1200" lang="he-IL"/>
              <a:t>•  השקף הראשון הוא שלוש שכבות.</a:t>
            </a:r>
          </a:p>
          <a:p>
            <a:pPr rtl="1" algn="r" marL="0" indent="0">
              <a:buNone/>
            </a:pPr>
            <a:r>
              <a:rPr sz="1200" lang="he-IL"/>
              <a:t>•  ממשק: מה המשתמש רואה ומקליד (הדפסה, כפתורים, דף).</a:t>
            </a:r>
          </a:p>
          <a:p>
            <a:pPr rtl="1" algn="r" marL="0" indent="0">
              <a:buNone/>
            </a:pPr>
            <a:r>
              <a:rPr sz="1200" lang="he-IL"/>
              <a:t>•  לוגיקה: חישובים וכללים עסקיים, כמו נקודת הזמנה או ציון ספק.</a:t>
            </a:r>
          </a:p>
          <a:p>
            <a:pPr rtl="1" algn="r" marL="0" indent="0">
              <a:buNone/>
            </a:pPr>
            <a:r>
              <a:rPr sz="1200" lang="he-IL"/>
              <a:t>•  נתונים: קריאה וכתיבה של מידע (CSV, מסד, API).</a:t>
            </a:r>
          </a:p>
          <a:p>
            <a:pPr rtl="1" algn="r" marL="0" indent="0">
              <a:buNone/>
            </a:pPr>
            <a:r>
              <a:rPr b="1" sz="1200" lang="he-IL"/>
              <a:t>אנלוגיה</a:t>
            </a:r>
          </a:p>
          <a:p>
            <a:pPr rtl="1" algn="r" marL="0" indent="0">
              <a:buNone/>
            </a:pPr>
            <a:r>
              <a:rPr sz="1200" lang="he-IL"/>
              <a:t>•  מסעדה.</a:t>
            </a:r>
          </a:p>
          <a:p>
            <a:pPr rtl="1" algn="r" marL="0" indent="0">
              <a:buNone/>
            </a:pPr>
            <a:r>
              <a:rPr sz="1200" lang="he-IL"/>
              <a:t>•  הלקוח והמלצר הם הממשק, המטבח והמתכונים הם הלוגיקה, והמחסן הוא הנתונים.</a:t>
            </a:r>
          </a:p>
          <a:p>
            <a:pPr rtl="1" algn="r" marL="0" indent="0">
              <a:buNone/>
            </a:pPr>
            <a:r>
              <a:rPr sz="1200" lang="he-IL"/>
              <a:t>•  אפשר לשנות תפריט בלי לבנות מחסן מחדש.</a:t>
            </a:r>
          </a:p>
          <a:p>
            <a:pPr rtl="1" algn="r" marL="0" indent="0">
              <a:buNone/>
            </a:pPr>
            <a:r>
              <a:rPr b="1" sz="1200" lang="he-IL"/>
              <a:t>שאלה לכיתה</a:t>
            </a:r>
          </a:p>
          <a:p>
            <a:pPr rtl="1" algn="r" marL="0" indent="0">
              <a:buNone/>
            </a:pPr>
            <a:r>
              <a:rPr sz="1200" lang="he-IL"/>
              <a:t>•  למה זה עוזר?</a:t>
            </a:r>
          </a:p>
          <a:p>
            <a:pPr rtl="1" algn="r" marL="0" indent="0">
              <a:buNone/>
            </a:pPr>
            <a:r>
              <a:rPr b="1" sz="1200" lang="he-IL"/>
              <a:t>תשובה</a:t>
            </a:r>
          </a:p>
          <a:p>
            <a:pPr rtl="1" algn="r" marL="0" indent="0">
              <a:buNone/>
            </a:pPr>
            <a:r>
              <a:rPr sz="1200" lang="he-IL"/>
              <a:t>•  אפשר לשנות שכבה אחת בלי לגעת בשאר, ולבדוק כל שכבה לבד.</a:t>
            </a:r>
          </a:p>
          <a:p>
            <a:pPr rtl="1" algn="r" marL="0" indent="0">
              <a:buNone/>
            </a:pPr>
            <a:r>
              <a:rPr b="1" sz="1200" lang="he-IL"/>
              <a:t>חיבור לשיעורים קודמים</a:t>
            </a:r>
          </a:p>
          <a:p>
            <a:pPr rtl="1" algn="r" marL="0" indent="0">
              <a:buNone/>
            </a:pPr>
            <a:r>
              <a:rPr sz="1200" lang="he-IL"/>
              <a:t>•  שכבות, API ומסד נתונים נלמדו בשיעור 7, וכאן משתמשים בהן כדי לסדר קוד קיים.</a:t>
            </a:r>
          </a:p>
          <a:p>
            <a:pPr rtl="1" algn="r" marL="0" indent="0">
              <a:buNone/>
            </a:pPr>
            <a:r>
              <a:rPr b="1" sz="1200" lang="he-IL"/>
              <a:t>שימו לב</a:t>
            </a:r>
          </a:p>
          <a:p>
            <a:pPr rtl="1" algn="r" marL="0" indent="0">
              <a:buNone/>
            </a:pPr>
            <a:r>
              <a:rPr sz="1200" lang="he-IL"/>
              <a:t>•  זה כלי חשיבה ולא חוק; בפרויקט קטן מספיקים כמה קבצים נפרדים.</a:t>
            </a:r>
          </a:p>
          <a:p>
            <a:pPr rtl="1" algn="r" marL="0" indent="0">
              <a:buNone/>
            </a:pPr>
            <a:r>
              <a:rPr b="1" sz="1200" lang="he-IL"/>
              <a:t>חיבור לשיעורים קודמים</a:t>
            </a:r>
          </a:p>
          <a:p>
            <a:pPr rtl="1" algn="r" marL="0" indent="0">
              <a:buNone/>
            </a:pPr>
            <a:r>
              <a:rPr sz="1200" lang="he-IL"/>
              <a:t>•  שכבות ו־API נלמדו במפגש 7 (שקף ״שכבות ותפקידים״: ממשק, API, נתונים), ושם נאמר שמפגש 11 יעמיק בהן.</a:t>
            </a:r>
          </a:p>
          <a:p>
            <a:pPr rtl="1" algn="r" marL="0" indent="0">
              <a:buNone/>
            </a:pPr>
            <a:r>
              <a:rPr b="1" sz="1200" lang="he-IL"/>
              <a:t>שאלה לכיתה</a:t>
            </a:r>
          </a:p>
          <a:p>
            <a:pPr rtl="1" algn="r" marL="0" indent="0">
              <a:buNone/>
            </a:pPr>
            <a:r>
              <a:rPr sz="1200" lang="he-IL"/>
              <a:t>•  מי זוכר איזו שכבה היא השער היחיד אל המסד?</a:t>
            </a:r>
          </a:p>
          <a:p>
            <a:pPr rtl="1" algn="r" marL="0" indent="0">
              <a:buNone/>
            </a:pPr>
            <a:r>
              <a:rPr b="1" sz="1200" lang="he-IL"/>
              <a:t>תשובה</a:t>
            </a:r>
          </a:p>
          <a:p>
            <a:pPr rtl="1" algn="r" marL="0" indent="0">
              <a:buNone/>
            </a:pPr>
            <a:r>
              <a:rPr sz="1200" lang="he-IL"/>
              <a:t>•  ה־API.</a:t>
            </a:r>
          </a:p>
          <a:p>
            <a:pPr rtl="1" algn="r" marL="0" indent="0">
              <a:buNone/>
            </a:pPr>
            <a:r>
              <a:rPr b="1" sz="1200" lang="he-IL"/>
              <a:t>אם הכיתה לא זוכרת</a:t>
            </a:r>
          </a:p>
          <a:p>
            <a:pPr rtl="1" algn="r" marL="0" indent="0">
              <a:buNone/>
            </a:pPr>
            <a:r>
              <a:rPr sz="1200" lang="he-IL"/>
              <a:t>•  זה בדיוק הרעיון של השקף הבא, כיוון אחד של תלות.</a:t>
            </a:r>
          </a:p>
          <a:p>
            <a:pPr rtl="1" algn="r" marL="0" indent="0">
              <a:buNone/>
            </a:pPr>
            <a:r>
              <a:rPr sz="1200" lang="he-IL"/>
              <a:t>•  הקישור למפגש 8: פונקציית לוגיקה שמחזירה ערך קלה לבדיקה בשורה אחת.</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200" lang="he-IL"/>
              <a:t>מה אומרים</a:t>
            </a:r>
          </a:p>
          <a:p>
            <a:pPr rtl="1" algn="r" marL="0" indent="0">
              <a:buNone/>
            </a:pPr>
            <a:r>
              <a:rPr sz="1200" lang="he-IL"/>
              <a:t>•  תרגיל קצר במליאה (כשתי דקות): שאלו בקול לאיזו שכבה שייכת כל פונקציה לפני שמצביעים על העמודה הימנית. load_data שייכת לנתונים. revenue_by_category ו־low_stock_alerts שייכות ללוגיקה. print_report שייכת לממשק.</a:t>
            </a:r>
          </a:p>
          <a:p>
            <a:pPr rtl="1" algn="r" marL="0" indent="0">
              <a:buNone/>
            </a:pPr>
            <a:r>
              <a:rPr sz="1200" lang="he-IL"/>
              <a:t>•  SAFETY_DAYS = 3 הוא כלל עסקי ולכן שייך ללוגיקה (או לקובץ הגדרות).</a:t>
            </a:r>
          </a:p>
          <a:p>
            <a:pPr rtl="1" algn="r" marL="0" indent="0">
              <a:buNone/>
            </a:pPr>
            <a:r>
              <a:rPr sz="1200" lang="he-IL"/>
              <a:t>•  זו הנקודה העדינה בשקף.</a:t>
            </a:r>
          </a:p>
          <a:p>
            <a:pPr rtl="1" algn="r" marL="0" indent="0">
              <a:buNone/>
            </a:pPr>
            <a:r>
              <a:rPr sz="1200" lang="he-IL"/>
              <a:t>•  בשורת הסיכום: פונקציה שגם מחשבת וגם מדפיסה מערבבת שכבות, ולכן קשה לבדוק אותה (הבדיקה צריכה לקרוא פלט מהמסך) וקשה לשנות.</a:t>
            </a:r>
          </a:p>
          <a:p>
            <a:pPr rtl="1" algn="r" marL="0" indent="0">
              <a:buNone/>
            </a:pPr>
            <a:r>
              <a:rPr sz="1200" lang="he-IL"/>
              <a:t>•  דוגמה: messy_report.py המקורי הוא main אחד שעושה את שלוש השכבות.</a:t>
            </a:r>
          </a:p>
          <a:p>
            <a:pPr rtl="1" algn="r" marL="0" indent="0">
              <a:buNone/>
            </a:pPr>
            <a:r>
              <a:rPr b="1" sz="1200" lang="he-IL"/>
              <a:t>טעות נפוצה</a:t>
            </a:r>
          </a:p>
          <a:p>
            <a:pPr rtl="1" algn="r" marL="0" indent="0">
              <a:buNone/>
            </a:pPr>
            <a:r>
              <a:rPr sz="1200" lang="he-IL"/>
              <a:t>•  להשאיר print בתוך פונקציית חישוב אחרי דיבוג.</a:t>
            </a:r>
          </a:p>
          <a:p>
            <a:pPr rtl="1" algn="r" marL="0" indent="0">
              <a:buNone/>
            </a:pPr>
            <a:r>
              <a:rPr b="1" sz="1200" lang="he-IL"/>
              <a:t>חיבור לשיעורים קודמים</a:t>
            </a:r>
          </a:p>
          <a:p>
            <a:pPr rtl="1" algn="r" marL="0" indent="0">
              <a:buNone/>
            </a:pPr>
            <a:r>
              <a:rPr sz="1200" lang="he-IL"/>
              <a:t>•  בדיקות יחידה (שיעור 8) קלות הרבה יותר לפונקציות שמקבלות נתונים ומחזירות ערך.</a:t>
            </a:r>
          </a:p>
          <a:p>
            <a:pPr rtl="1" algn="r" marL="0" indent="0">
              <a:buNone/>
            </a:pPr>
            <a:r>
              <a:rPr b="1" sz="1200" lang="he-IL"/>
              <a:t>להעמקה</a:t>
            </a:r>
          </a:p>
          <a:p>
            <a:pPr rtl="1" algn="r" marL="0" indent="0">
              <a:buNone/>
            </a:pPr>
            <a:r>
              <a:rPr sz="1200" lang="he-IL"/>
              <a:t>•  ההפרדה לשלוש שכבות היא כלי חשיבה מקובל (Parnas, 1972, והפרדת תחומי אחריות), לא חוק.</a:t>
            </a:r>
          </a:p>
          <a:p>
            <a:pPr rtl="1" algn="r" marL="0" indent="0">
              <a:buNone/>
            </a:pPr>
            <a:r>
              <a:rPr sz="1200" lang="he-IL"/>
              <a:t>•  בפרויקט קטן מספיקות פונקציות נפרדות בקובץ אחד.</a:t>
            </a:r>
          </a:p>
          <a:p>
            <a:pPr rtl="1" algn="r" marL="0" indent="0">
              <a:buNone/>
            </a:pPr>
            <a:r>
              <a:rPr sz="1200" lang="he-IL"/>
              <a:t>•  מה שחשוב הוא שהחישוב לא מדפיס ולא קורא קובץ בעצמו, כי רק אז אפשר לבדוק אותו על שלוש שורות נתונים, כמו שעשיתם במעבדה בשלב 2.</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כיוון אחד של תלות: הממשק קורא ללוגיקה והלוגיקה קוראת לנתונים, ולא להפך.</a:t>
            </a:r>
          </a:p>
          <a:p>
            <a:pPr rtl="1" algn="r" marL="0" indent="0">
              <a:buNone/>
            </a:pPr>
            <a:r>
              <a:rPr b="1" sz="1200" lang="he-IL"/>
              <a:t>מה אומרים</a:t>
            </a:r>
          </a:p>
          <a:p>
            <a:pPr rtl="1" algn="r" marL="0" indent="0">
              <a:buNone/>
            </a:pPr>
            <a:r>
              <a:rPr sz="1200" lang="he-IL"/>
              <a:t>•  כלומר שכבת הנתונים לא מכירה את המסך, והלוגיקה לא יודעת איך מציגים את התוצאה.</a:t>
            </a:r>
          </a:p>
          <a:p>
            <a:pPr rtl="1" algn="r" marL="0" indent="0">
              <a:buNone/>
            </a:pPr>
            <a:r>
              <a:rPr sz="1200" lang="he-IL"/>
              <a:t>•  התועלת: אפשר להחליף קובץ CSV במסד נתונים בלי לגעת בחישובים, או להחליף הדפסה בדף אינטרנט (קשר לשיעור 7).</a:t>
            </a:r>
          </a:p>
          <a:p>
            <a:pPr rtl="1" algn="r" marL="0" indent="0">
              <a:buNone/>
            </a:pPr>
            <a:r>
              <a:rPr b="1" sz="1200" lang="he-IL"/>
              <a:t>אנלוגיה</a:t>
            </a:r>
          </a:p>
          <a:p>
            <a:pPr rtl="1" algn="r" marL="0" indent="0">
              <a:buNone/>
            </a:pPr>
            <a:r>
              <a:rPr sz="1200" lang="he-IL"/>
              <a:t>•  ספק חומרי גלם ומפעל.</a:t>
            </a:r>
          </a:p>
          <a:p>
            <a:pPr rtl="1" algn="r" marL="0" indent="0">
              <a:buNone/>
            </a:pPr>
            <a:r>
              <a:rPr sz="1200" lang="he-IL"/>
              <a:t>•  כשמחליפים ספק, קו הייצור לא משתנה.</a:t>
            </a:r>
          </a:p>
          <a:p>
            <a:pPr rtl="1" algn="r" marL="0" indent="0">
              <a:buNone/>
            </a:pPr>
            <a:r>
              <a:rPr b="1" sz="1200" lang="he-IL"/>
              <a:t>שאלה לכיתה</a:t>
            </a:r>
          </a:p>
          <a:p>
            <a:pPr rtl="1" algn="r" marL="0" indent="0">
              <a:buNone/>
            </a:pPr>
            <a:r>
              <a:rPr sz="1200" lang="he-IL"/>
              <a:t>•  מה יקרה אם load_data תדפיס הודעה למשתמש?</a:t>
            </a:r>
          </a:p>
          <a:p>
            <a:pPr rtl="1" algn="r" marL="0" indent="0">
              <a:buNone/>
            </a:pPr>
            <a:r>
              <a:rPr b="1" sz="1200" lang="he-IL"/>
              <a:t>תשובה</a:t>
            </a:r>
          </a:p>
          <a:p>
            <a:pPr rtl="1" algn="r" marL="0" indent="0">
              <a:buNone/>
            </a:pPr>
            <a:r>
              <a:rPr sz="1200" lang="he-IL"/>
              <a:t>•  שכבת הנתונים תכיר את הממשק, והתלות הופכת דו־כיוונית.</a:t>
            </a:r>
          </a:p>
          <a:p>
            <a:pPr rtl="1" algn="r" marL="0" indent="0">
              <a:buNone/>
            </a:pPr>
            <a:r>
              <a:rPr sz="1200" lang="he-IL"/>
              <a:t>•  עיקרון מעשי לעבודה עם AI: הוא נוטה לכתוב פונקציה אחת שעושה הכל כי זה ׳פשוט׳, ולכן מבקשים ממנו במפורש להפריד.</a:t>
            </a:r>
          </a:p>
          <a:p>
            <a:pPr rtl="1" algn="r" marL="0" indent="0">
              <a:buNone/>
            </a:pPr>
            <a:r>
              <a:rPr sz="1200" lang="he-IL"/>
              <a:t>•  זה מה שעשיתם בשלב 2 של מעבדה א׳: revenue_by_category, top_products מחזירות ערך ולא מדפיסות, וההדפסה נעשית במקום אחר.</a:t>
            </a:r>
          </a:p>
          <a:p>
            <a:pPr rtl="1" algn="r" marL="0" indent="0">
              <a:buNone/>
            </a:pPr>
            <a:r>
              <a:rPr sz="1200" lang="he-IL"/>
              <a:t>•  בסיס תיאורטי: Parnas (1972, On the Criteria To Be Used in Decomposing Systems into Modules, Communications of the ACM) הציע לחלק מערכת למודולים לפי החלטות שעשויות להשתנות, ולהסתיר כל החלטה כזו מאחורי ממשק.</a:t>
            </a:r>
          </a:p>
          <a:p>
            <a:pPr rtl="1" algn="r" marL="0" indent="0">
              <a:buNone/>
            </a:pPr>
            <a:r>
              <a:rPr sz="1200" lang="he-IL"/>
              <a:t>•  כאן, פורמט הנתונים (CSV או מסד) הוא החלטה כזו, ולכן הלוגיקה לא צריכה לדעת אותה.</a:t>
            </a:r>
          </a:p>
          <a:p>
            <a:pPr rtl="1" algn="r" marL="0" indent="0">
              <a:buNone/>
            </a:pPr>
            <a:r>
              <a:rPr sz="1200" lang="he-IL"/>
              <a:t>•  השקף הזה הוא כלל פרקטי, ולא חוק מתמטי: אפשר לשבור אותו בעלות, ויש לדעת מה העלות.</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פונקציה היא API קטן: ההבטחה שלה לשאר הקוד, כלומר מה נכנס, מה יוצא ומה קורה בשגיאה.</a:t>
            </a:r>
          </a:p>
          <a:p>
            <a:pPr rtl="1" algn="r" marL="0" indent="0">
              <a:buNone/>
            </a:pPr>
            <a:r>
              <a:rPr b="1" sz="1200" lang="he-IL"/>
              <a:t>מה אומרים</a:t>
            </a:r>
          </a:p>
          <a:p>
            <a:pPr rtl="1" algn="r" marL="0" indent="0">
              <a:buNone/>
            </a:pPr>
            <a:r>
              <a:rPr sz="1200" lang="he-IL"/>
              <a:t>•  עברו על הטבלה שורה שורה.</a:t>
            </a:r>
          </a:p>
          <a:p>
            <a:pPr rtl="1" algn="r" marL="0" indent="0">
              <a:buNone/>
            </a:pPr>
            <a:r>
              <a:rPr sz="1200" lang="he-IL"/>
              <a:t>•  שם: process(x) לעומת calc_reorder_point(daily_demand, lead_time_days) שמסביר את עצמו.</a:t>
            </a:r>
          </a:p>
          <a:p>
            <a:pPr rtl="1" algn="r" marL="0" indent="0">
              <a:buNone/>
            </a:pPr>
            <a:r>
              <a:rPr sz="1200" lang="he-IL"/>
              <a:t>•  פלט: טיפוס אחד קבוע ולא לפעמים מספר ולפעמים טקסט.</a:t>
            </a:r>
          </a:p>
          <a:p>
            <a:pPr rtl="1" algn="r" marL="0" indent="0">
              <a:buNone/>
            </a:pPr>
            <a:r>
              <a:rPr sz="1200" lang="he-IL"/>
              <a:t>•  שגיאה: להיכשל בקול עם ValueError והסבר, ולא להחזיר 0 בשקט.</a:t>
            </a:r>
          </a:p>
          <a:p>
            <a:pPr rtl="1" algn="r" marL="0" indent="0">
              <a:buNone/>
            </a:pPr>
            <a:r>
              <a:rPr sz="1200" lang="he-IL"/>
              <a:t>•  תיעוד: docstring של כמה שורות.</a:t>
            </a:r>
          </a:p>
          <a:p>
            <a:pPr rtl="1" algn="r" marL="0" indent="0">
              <a:buNone/>
            </a:pPr>
            <a:r>
              <a:rPr b="1" sz="1200" lang="he-IL"/>
              <a:t>אנלוגיה</a:t>
            </a:r>
          </a:p>
          <a:p>
            <a:pPr rtl="1" algn="r" marL="0" indent="0">
              <a:buNone/>
            </a:pPr>
            <a:r>
              <a:rPr sz="1200" lang="he-IL"/>
              <a:t>•  טופס הזמנה ברור במחלקת רכש, עם שדות מוגדרים ומה קורה אם שדה חסר.</a:t>
            </a:r>
          </a:p>
          <a:p>
            <a:pPr rtl="1" algn="r" marL="0" indent="0">
              <a:buNone/>
            </a:pPr>
            <a:r>
              <a:rPr b="1" sz="1200" lang="he-IL"/>
              <a:t>שאלה לכיתה</a:t>
            </a:r>
          </a:p>
          <a:p>
            <a:pPr rtl="1" algn="r" marL="0" indent="0">
              <a:buNone/>
            </a:pPr>
            <a:r>
              <a:rPr sz="1200" lang="he-IL"/>
              <a:t>•  מה הסכנה בפונקציה שמחזירה 0 בשקט?</a:t>
            </a:r>
          </a:p>
          <a:p>
            <a:pPr rtl="1" algn="r" marL="0" indent="0">
              <a:buNone/>
            </a:pPr>
            <a:r>
              <a:rPr b="1" sz="1200" lang="he-IL"/>
              <a:t>תשובה</a:t>
            </a:r>
          </a:p>
          <a:p>
            <a:pPr rtl="1" algn="r" marL="0" indent="0">
              <a:buNone/>
            </a:pPr>
            <a:r>
              <a:rPr sz="1200" lang="he-IL"/>
              <a:t>•  מישהו יחשוב שהביקוש אפס ויזמין אפס יחידות.</a:t>
            </a:r>
          </a:p>
          <a:p>
            <a:pPr rtl="1" algn="r" marL="0" indent="0">
              <a:buNone/>
            </a:pPr>
            <a:r>
              <a:rPr b="1" sz="1200" lang="he-IL"/>
              <a:t>חיבור לשיעורים קודמים</a:t>
            </a:r>
          </a:p>
          <a:p>
            <a:pPr rtl="1" algn="r" marL="0" indent="0">
              <a:buNone/>
            </a:pPr>
            <a:r>
              <a:rPr sz="1200" lang="he-IL"/>
              <a:t>•  API של שירות (שיעור 7) הוא אותו רעיון בקנה מידה גדול יותר.</a:t>
            </a:r>
          </a:p>
          <a:p>
            <a:pPr rtl="1" algn="r" marL="0" indent="0">
              <a:buNone/>
            </a:pPr>
            <a:r>
              <a:rPr sz="1200" lang="he-IL"/>
              <a:t>•  טיפ: אפשר לבקש מה־AI להציע שם, חתימה ו־docstring לפני שכותבים את גוף הפונקציה, ואז לבדוק אם ההבטחה הגיונית.</a:t>
            </a:r>
          </a:p>
          <a:p>
            <a:pPr rtl="1" algn="r" marL="0" indent="0">
              <a:buNone/>
            </a:pPr>
            <a:r>
              <a:rPr b="1" sz="1200" lang="he-IL"/>
              <a:t>להעמקה</a:t>
            </a:r>
          </a:p>
          <a:p>
            <a:pPr rtl="1" algn="r" marL="0" indent="0">
              <a:buNone/>
            </a:pPr>
            <a:r>
              <a:rPr sz="1200" lang="he-IL"/>
              <a:t>•  Joshua Bloch (OOPSLA 2006, How to Design a Good API and Why it Matters) מסכם ש־API צריך להיות קל לשימוש וקשה לשימוש שגוי.</a:t>
            </a:r>
          </a:p>
          <a:p>
            <a:pPr rtl="1" algn="r" marL="0" indent="0">
              <a:buNone/>
            </a:pPr>
            <a:r>
              <a:rPr sz="1200" lang="he-IL"/>
              <a:t>•  חוק Hyrum, כפי שהוא מנוסח בספר Software Engineering at Google (Winters, Manshreck ו־Wright, 2020): כשיש מספיק משתמשים ב־API, כל ההתנהגויות הנצפות של המערכת ייתלו בהן על ידי מישהו, גם אם לא הובטחו.</a:t>
            </a:r>
          </a:p>
          <a:p>
            <a:pPr rtl="1" algn="r" marL="0" indent="0">
              <a:buNone/>
            </a:pPr>
            <a:r>
              <a:rPr sz="1200" lang="he-IL"/>
              <a:t>•  זו הסיבה שפונקציה שהחזירה 0 בשקט לא ״מתוקנת״ בקלות: מישהו כבר סמך עליה.</a:t>
            </a:r>
          </a:p>
          <a:p>
            <a:pPr rtl="1" algn="r" marL="0" indent="0">
              <a:buNone/>
            </a:pPr>
            <a:r>
              <a:rPr b="1" sz="1200" lang="he-IL"/>
              <a:t>קישור למעבדה</a:t>
            </a:r>
          </a:p>
          <a:p>
            <a:pPr rtl="1" algn="r" marL="0" indent="0">
              <a:buNone/>
            </a:pPr>
            <a:r>
              <a:rPr sz="1200" lang="he-IL"/>
              <a:t>•  write_handoff נכשלת בקול (ValueError) כשמקבלת מספר סיכונים שונה מ־3, ולא מחזירה מסמך חלקי.</a:t>
            </a:r>
          </a:p>
          <a:p>
            <a:pPr rtl="1" algn="r" marL="0" indent="0">
              <a:buNone/>
            </a:pPr>
            <a:r>
              <a:rPr b="1" sz="1200" lang="he-IL"/>
              <a:t>חיבור לשיעורים קודמים</a:t>
            </a:r>
          </a:p>
          <a:p>
            <a:pPr rtl="1" algn="r" marL="0" indent="0">
              <a:buNone/>
            </a:pPr>
            <a:r>
              <a:rPr sz="1200" lang="he-IL"/>
              <a:t>•  חוזה ה־API במפגש 7 כלל גם תגובות שגויות (למשל 422 על קלט לא חוקי), כדי שמי שקורא ל־API יידע מה לצפות.</a:t>
            </a:r>
          </a:p>
          <a:p>
            <a:pPr rtl="1" algn="r" marL="0" indent="0">
              <a:buNone/>
            </a:pPr>
            <a:r>
              <a:rPr sz="1200" lang="he-IL"/>
              <a:t>•  ValueError בפונקציה הוא אותו רעיון בקטן.</a:t>
            </a:r>
          </a:p>
          <a:p>
            <a:pPr rtl="1" algn="r" marL="0" indent="0">
              <a:buNone/>
            </a:pPr>
            <a:r>
              <a:rPr sz="1200" lang="he-IL"/>
              <a:t>•  ובמפגש 9 למדנו שבאג שקט הוא הבאג המסוכן ביותר: פונקציה שמחזירה 0 במקום להיכשל מייצרת בדיוק באג כזה.</a:t>
            </a:r>
          </a:p>
          <a:p>
            <a:pPr rtl="1" algn="r" marL="0" indent="0">
              <a:buNone/>
            </a:pPr>
            <a:r>
              <a:rPr b="1" sz="1200" lang="he-IL"/>
              <a:t>שאלה לכיתה</a:t>
            </a:r>
          </a:p>
          <a:p>
            <a:pPr rtl="1" algn="r" marL="0" indent="0">
              <a:buNone/>
            </a:pPr>
            <a:r>
              <a:rPr sz="1200" lang="he-IL"/>
              <a:t>•  מי זוכר מה קוד סטטוס 422 אומר?</a:t>
            </a:r>
          </a:p>
          <a:p>
            <a:pPr rtl="1" algn="r" marL="0" indent="0">
              <a:buNone/>
            </a:pPr>
            <a:r>
              <a:rPr b="1" sz="1200" lang="he-IL"/>
              <a:t>תשובה</a:t>
            </a:r>
          </a:p>
          <a:p>
            <a:pPr rtl="1" algn="r" marL="0" indent="0">
              <a:buNone/>
            </a:pPr>
            <a:r>
              <a:rPr sz="1200" lang="he-IL"/>
              <a:t>•  קלט לא חוקי.</a:t>
            </a:r>
          </a:p>
          <a:p>
            <a:pPr rtl="1" algn="r" marL="0" indent="0">
              <a:buNone/>
            </a:pPr>
            <a:r>
              <a:rPr b="1" sz="1200" lang="he-IL"/>
              <a:t>אם הכיתה לא זוכרת</a:t>
            </a:r>
          </a:p>
          <a:p>
            <a:pPr rtl="1" algn="r" marL="0" indent="0">
              <a:buNone/>
            </a:pPr>
            <a:r>
              <a:rPr sz="1200" lang="he-IL"/>
              <a:t>•  אמרו שזו השגיאה שהחוזה מגדיר כשהערך מחוץ לגבולות.</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קנה מידה.</a:t>
            </a:r>
          </a:p>
          <a:p>
            <a:pPr rtl="1" algn="r" marL="0" indent="0">
              <a:buNone/>
            </a:pPr>
            <a:r>
              <a:rPr b="1" sz="1200" lang="he-IL"/>
              <a:t>מה אומרים</a:t>
            </a:r>
          </a:p>
          <a:p>
            <a:pPr rtl="1" algn="r" marL="0" indent="0">
              <a:buNone/>
            </a:pPr>
            <a:r>
              <a:rPr sz="1200" lang="he-IL"/>
              <a:t>•  הנתונים אמיתיים מהסקריפט scale_demo.py של המרצה (הוא לא חלק מהמחברת), שמחשב את אותו סכום בשתי דרכים: לולאה שורה אחרי שורה, ופעולה על כל העמודה בבת אחת.</a:t>
            </a:r>
          </a:p>
          <a:p>
            <a:pPr rtl="1" algn="r" marL="0" indent="0">
              <a:buNone/>
            </a:pPr>
            <a:r>
              <a:rPr sz="1200" lang="he-IL"/>
              <a:t>•  עם 3,000 שורות הלולאה לוקחת 0.042 שניות, עם 30,000 שורות 0.403 ועם 300,000 שורות 3.836, כלומר בערך פי עשרה בכל פעם שהנתונים גדלים פי עשרה.</a:t>
            </a:r>
          </a:p>
          <a:p>
            <a:pPr rtl="1" algn="r" marL="0" indent="0">
              <a:buNone/>
            </a:pPr>
            <a:r>
              <a:rPr sz="1200" lang="he-IL"/>
              <a:t>•  הפעולה על העמודה נשארת מתחת לאלפית שנייה.</a:t>
            </a:r>
          </a:p>
          <a:p>
            <a:pPr rtl="1" algn="r" marL="0" indent="0">
              <a:buNone/>
            </a:pPr>
            <a:r>
              <a:rPr sz="1200" lang="he-IL"/>
              <a:t>•  המספרים תלויים במחשב, המגמה היא העיקר.</a:t>
            </a:r>
          </a:p>
          <a:p>
            <a:pPr rtl="1" algn="r" marL="0" indent="0">
              <a:buNone/>
            </a:pPr>
            <a:r>
              <a:rPr b="1" sz="1200" lang="he-IL"/>
              <a:t>מסר מרכזי</a:t>
            </a:r>
          </a:p>
          <a:p>
            <a:pPr rtl="1" algn="r" marL="0" indent="0">
              <a:buNone/>
            </a:pPr>
            <a:r>
              <a:rPr sz="1200" lang="he-IL"/>
              <a:t>•  קוד שעבד על דוגמה קטנה עלול להיות איטי מאוד על נתונים אמיתיים, ולכן שואלים מוקדם ׳מה אם הנתונים יגדלו פי 100?׳.</a:t>
            </a:r>
          </a:p>
          <a:p>
            <a:pPr rtl="1" algn="r" marL="0" indent="0">
              <a:buNone/>
            </a:pPr>
            <a:r>
              <a:rPr b="1" sz="1200" lang="he-IL"/>
              <a:t>אנלוגיה</a:t>
            </a:r>
          </a:p>
          <a:p>
            <a:pPr rtl="1" algn="r" marL="0" indent="0">
              <a:buNone/>
            </a:pPr>
            <a:r>
              <a:rPr sz="1200" lang="he-IL"/>
              <a:t>•  מחסן שמטפל בעשר הזמנות ביום ידנית ופתאום מקבל אלפים.</a:t>
            </a:r>
          </a:p>
          <a:p>
            <a:pPr rtl="1" algn="r" marL="0" indent="0">
              <a:buNone/>
            </a:pPr>
            <a:r>
              <a:rPr b="1" sz="1200" lang="he-IL"/>
              <a:t>שאלה לכיתה</a:t>
            </a:r>
          </a:p>
          <a:p>
            <a:pPr rtl="1" algn="r" marL="0" indent="0">
              <a:buNone/>
            </a:pPr>
            <a:r>
              <a:rPr sz="1200" lang="he-IL"/>
              <a:t>•  האם צריך תמיד לייעל?</a:t>
            </a:r>
          </a:p>
          <a:p>
            <a:pPr rtl="1" algn="r" marL="0" indent="0">
              <a:buNone/>
            </a:pPr>
            <a:r>
              <a:rPr b="1" sz="1200" lang="he-IL"/>
              <a:t>תשובה</a:t>
            </a:r>
          </a:p>
          <a:p>
            <a:pPr rtl="1" algn="r" marL="0" indent="0">
              <a:buNone/>
            </a:pPr>
            <a:r>
              <a:rPr sz="1200" lang="he-IL"/>
              <a:t>•  לא.</a:t>
            </a:r>
          </a:p>
          <a:p>
            <a:pPr rtl="1" algn="r" marL="0" indent="0">
              <a:buNone/>
            </a:pPr>
            <a:r>
              <a:rPr sz="1200" lang="he-IL"/>
              <a:t>•  קודם מודדים, ורק אם יש בעיה מייעלים.</a:t>
            </a:r>
          </a:p>
          <a:p>
            <a:pPr rtl="1" algn="r" marL="0" indent="0">
              <a:buNone/>
            </a:pPr>
            <a:r>
              <a:rPr sz="1200" lang="he-IL"/>
              <a:t>•  במעבדה ב׳ הסטודנטים מודדים בעצמם תופעה דומה עם totals_slow, totals_fast.</a:t>
            </a:r>
          </a:p>
          <a:p>
            <a:pPr rtl="1" algn="r" marL="0" indent="0">
              <a:buNone/>
            </a:pPr>
            <a:r>
              <a:rPr sz="1200" lang="he-IL"/>
              <a:t>•  הנושא יחזור בפריסה (שיעור 12).</a:t>
            </a:r>
          </a:p>
          <a:p>
            <a:pPr rtl="1" algn="r" marL="0" indent="0">
              <a:buNone/>
            </a:pPr>
            <a:r>
              <a:rPr b="1" sz="1200" lang="he-IL"/>
              <a:t>להעמקה</a:t>
            </a:r>
          </a:p>
          <a:p>
            <a:pPr rtl="1" algn="r" marL="0" indent="0">
              <a:buNone/>
            </a:pPr>
            <a:r>
              <a:rPr sz="1200" lang="he-IL"/>
              <a:t>•  Knuth (1974, Structured Programming with go to Statements, Computing Surveys) כתב ש״אופטימיזציה מוקדמת היא שורש כל רע״, אבל בהקשר שבו המליץ לא להתעלם מ־3% הקריטיים ולמדוד כדי לדעת מהם.</a:t>
            </a:r>
          </a:p>
          <a:p>
            <a:pPr rtl="1" algn="r" marL="0" indent="0">
              <a:buNone/>
            </a:pPr>
            <a:r>
              <a:rPr sz="1200" lang="he-IL"/>
              <a:t>•  לכן הכלל כאן הוא למדוד קודם.</a:t>
            </a:r>
          </a:p>
          <a:p>
            <a:pPr rtl="1" algn="r" marL="0" indent="0">
              <a:buNone/>
            </a:pPr>
            <a:r>
              <a:rPr sz="1200" lang="he-IL"/>
              <a:t>•  הבחנה חשובה: בגרף הלולאה על שורות (iterrows) גדלה בערך לינארית (פי 10 לפי 10), אבל קבוע הזמן גדול, והפעולה על העמודה גם היא לינארית עם קבוע קטן בהרבה.</a:t>
            </a:r>
          </a:p>
          <a:p>
            <a:pPr rtl="1" algn="r" marL="0" indent="0">
              <a:buNone/>
            </a:pPr>
            <a:r>
              <a:rPr sz="1200" lang="he-IL"/>
              <a:t>•  במעבדה ב׳ מופיעה תופעה חמורה יותר, ריבועית, והיא מוסברת בשקף הבא.</a:t>
            </a:r>
          </a:p>
          <a:p>
            <a:pPr rtl="1" algn="r" marL="0" indent="0">
              <a:buNone/>
            </a:pPr>
            <a:r>
              <a:rPr b="1" sz="1200" lang="he-IL"/>
              <a:t>חיבור לשיעורים קודמים</a:t>
            </a:r>
          </a:p>
          <a:p>
            <a:pPr rtl="1" algn="r" marL="0" indent="0">
              <a:buNone/>
            </a:pPr>
            <a:r>
              <a:rPr sz="1200" lang="he-IL"/>
              <a:t>•  ״מודדים לפני שמייעלים״ מתחבר לשיטת הדיבוג ממפגש 9, שבה משערים, גוזרים תחזית וכך בודקים בניסוי.</a:t>
            </a:r>
          </a:p>
          <a:p>
            <a:pPr rtl="1" algn="r" marL="0" indent="0">
              <a:buNone/>
            </a:pPr>
            <a:r>
              <a:rPr sz="1200" lang="he-IL"/>
              <a:t>•  לכן גם כאן כותבים תחזית לפני המדידה.</a:t>
            </a:r>
          </a:p>
          <a:p>
            <a:pPr rtl="1" algn="r" marL="0" indent="0">
              <a:buNone/>
            </a:pPr>
            <a:r>
              <a:rPr sz="1200" lang="he-IL"/>
              <a:t>•  ובדיקה שהתשובה לא השתנתה אחרי ייעול היא golden של הייעול: בדיוק מה שנעשה במעבדה ב׳ עם same_answer.</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שלוש תקלות נפוצות בקוד שנכתב על נתוני דוגמה.</a:t>
            </a:r>
          </a:p>
          <a:p>
            <a:pPr rtl="1" algn="r" marL="0" indent="0">
              <a:buNone/>
            </a:pPr>
            <a:r>
              <a:rPr b="1" sz="1200" lang="he-IL"/>
              <a:t>מה אומרים</a:t>
            </a:r>
          </a:p>
          <a:p>
            <a:pPr rtl="1" algn="r" marL="0" indent="0">
              <a:buNone/>
            </a:pPr>
            <a:r>
              <a:rPr sz="1200" lang="he-IL"/>
              <a:t>•  לולאות איטיות: שורה אחרי שורה, כמו בדוגמת iterrows, במקום פעולה על עמודה שלמה.</a:t>
            </a:r>
          </a:p>
          <a:p>
            <a:pPr rtl="1" algn="r" marL="0" indent="0">
              <a:buNone/>
            </a:pPr>
            <a:r>
              <a:rPr sz="1200" lang="he-IL"/>
              <a:t>•  זיכרון: טוענים את כל הקובץ לזיכרון גם כשצריך חלק, וכשהקובץ גדול המחשב נתקע.</a:t>
            </a:r>
          </a:p>
          <a:p>
            <a:pPr rtl="1" algn="r" marL="0" indent="0">
              <a:buNone/>
            </a:pPr>
            <a:r>
              <a:rPr sz="1200" lang="he-IL"/>
              <a:t>•  שאילתות חוזרות: שאילתה למסד בתוך לולאה, שמייצרת אלפי קריאות במקום אחת.</a:t>
            </a:r>
          </a:p>
          <a:p>
            <a:pPr rtl="1" algn="r" marL="0" indent="0">
              <a:buNone/>
            </a:pPr>
            <a:r>
              <a:rPr b="1" sz="1200" lang="he-IL"/>
              <a:t>אנלוגיה</a:t>
            </a:r>
          </a:p>
          <a:p>
            <a:pPr rtl="1" algn="r" marL="0" indent="0">
              <a:buNone/>
            </a:pPr>
            <a:r>
              <a:rPr sz="1200" lang="he-IL"/>
              <a:t>•  שליח שנוסע למחסן פעם אחת לכל פריט במקום לקחת עגלה.</a:t>
            </a:r>
          </a:p>
          <a:p>
            <a:pPr rtl="1" algn="r" marL="0" indent="0">
              <a:buNone/>
            </a:pPr>
            <a:r>
              <a:rPr b="1" sz="1200" lang="he-IL"/>
              <a:t>שאלה לכיתה</a:t>
            </a:r>
          </a:p>
          <a:p>
            <a:pPr rtl="1" algn="r" marL="0" indent="0">
              <a:buNone/>
            </a:pPr>
            <a:r>
              <a:rPr sz="1200" lang="he-IL"/>
              <a:t>•  איפה בפרויקט שלכם יש לולאה על שורות?</a:t>
            </a:r>
          </a:p>
          <a:p>
            <a:pPr rtl="1" algn="r" marL="0" indent="0">
              <a:buNone/>
            </a:pPr>
            <a:r>
              <a:rPr sz="1200" lang="he-IL"/>
              <a:t>•  מי טוען את כל הנתונים?</a:t>
            </a:r>
          </a:p>
          <a:p>
            <a:pPr rtl="1" algn="r" marL="0" indent="0">
              <a:buNone/>
            </a:pPr>
            <a:r>
              <a:rPr sz="1200" lang="he-IL"/>
              <a:t>•  זו הכנה למעבדה ב׳, שבה מודדים לולאה כזו (totals_slow) מול מילון (totals_fast).</a:t>
            </a:r>
          </a:p>
          <a:p>
            <a:pPr rtl="1" algn="r" marL="0" indent="0">
              <a:buNone/>
            </a:pPr>
            <a:r>
              <a:rPr b="1" sz="1200" lang="he-IL"/>
              <a:t>שימו לב</a:t>
            </a:r>
          </a:p>
          <a:p>
            <a:pPr rtl="1" algn="r" marL="0" indent="0">
              <a:buNone/>
            </a:pPr>
            <a:r>
              <a:rPr sz="1200" lang="he-IL"/>
              <a:t>•  אלה סימנים לחשוד בהם ולא חוקים.</a:t>
            </a:r>
          </a:p>
          <a:p>
            <a:pPr rtl="1" algn="r" marL="0" indent="0">
              <a:buNone/>
            </a:pPr>
            <a:r>
              <a:rPr sz="1200" lang="he-IL"/>
              <a:t>•  ה־AI נוטה לכתוב לולאות כי הן פשוטות, ואפשר לשאול אותו במפורש איפה הקוד לא יעמוד בפי 100 נתונים, אבל מודדים ולא סומכים רק על תשובתו.</a:t>
            </a:r>
          </a:p>
          <a:p>
            <a:pPr rtl="1" algn="r" marL="0" indent="0">
              <a:buNone/>
            </a:pPr>
            <a:r>
              <a:rPr sz="1200" lang="he-IL"/>
              <a:t>•  שקף אופציונלי (כדקה).</a:t>
            </a:r>
          </a:p>
          <a:p>
            <a:pPr rtl="1" algn="r" marL="0" indent="0">
              <a:buNone/>
            </a:pPr>
            <a:r>
              <a:rPr b="1" sz="1200" lang="he-IL"/>
              <a:t>להעמקה</a:t>
            </a:r>
          </a:p>
          <a:p>
            <a:pPr rtl="1" algn="r" marL="0" indent="0">
              <a:buNone/>
            </a:pPr>
            <a:r>
              <a:rPr sz="1200" lang="he-IL"/>
              <a:t>•  שלוש התקלות הן סימנים לחשוד בהם, ולא חוקים.</a:t>
            </a:r>
          </a:p>
          <a:p>
            <a:pPr rtl="1" algn="r" marL="0" indent="0">
              <a:buNone/>
            </a:pPr>
            <a:r>
              <a:rPr sz="1200" lang="he-IL"/>
              <a:t>•  הלולאה היא המקרה היחיד שמודדים במעבדה.</a:t>
            </a:r>
          </a:p>
          <a:p>
            <a:pPr rtl="1" algn="r" marL="0" indent="0">
              <a:buNone/>
            </a:pPr>
            <a:r>
              <a:rPr sz="1200" lang="he-IL"/>
              <a:t>•  את הזיכרון והשאילתות החוזרות אפשר להשאיר לדיון קצר או לדלג.</a:t>
            </a:r>
          </a:p>
          <a:p>
            <a:pPr rtl="1" algn="r" marL="0" indent="0">
              <a:buNone/>
            </a:pPr>
            <a:r>
              <a:rPr sz="1200" lang="he-IL"/>
              <a:t>•  מקור להרחבה: תיעוד pandas על ביצועים (עדיף פעולה על עמודה מאשר iterrows) ו־Knuth (1974) על מדידה לפני ייעול.</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שאלת בדיקה לחלק ב׳ (כדקה).</a:t>
            </a:r>
          </a:p>
          <a:p>
            <a:pPr rtl="1" algn="r" marL="0" indent="0">
              <a:buNone/>
            </a:pPr>
            <a:r>
              <a:rPr b="1" sz="1200" lang="he-IL"/>
              <a:t>מה אומרים</a:t>
            </a:r>
          </a:p>
          <a:p>
            <a:pPr rtl="1" algn="r" marL="0" indent="0">
              <a:buNone/>
            </a:pPr>
            <a:r>
              <a:rPr sz="1200" lang="he-IL"/>
              <a:t>•  הציגו: פונקציה אחת קוראת קובץ, מחשבת ומדפיסה, למה זו בעיה?</a:t>
            </a:r>
          </a:p>
          <a:p>
            <a:pPr rtl="1" algn="r" marL="0" indent="0">
              <a:buNone/>
            </a:pPr>
            <a:r>
              <a:rPr sz="1200" lang="he-IL"/>
              <a:t>•  תנו חצי דקה בזוגות.</a:t>
            </a:r>
          </a:p>
          <a:p>
            <a:pPr rtl="1" algn="r" marL="0" indent="0">
              <a:buNone/>
            </a:pPr>
            <a:r>
              <a:rPr sz="1200" lang="he-IL"/>
              <a:t>•  אם מישהו אומר ׳היא ארוכה׳, שאלו מה הבעיה המעשית.</a:t>
            </a:r>
          </a:p>
          <a:p>
            <a:pPr rtl="1" algn="r" marL="0" indent="0">
              <a:buNone/>
            </a:pPr>
            <a:r>
              <a:rPr sz="1200" lang="he-IL"/>
              <a:t>•  רמז: נסו לכתוב לה בדיקה, מה צריך כדי להריץ אותה?</a:t>
            </a:r>
          </a:p>
          <a:p>
            <a:pPr rtl="1" algn="r" marL="0" indent="0">
              <a:buNone/>
            </a:pPr>
            <a:r>
              <a:rPr b="1" sz="1200" lang="he-IL"/>
              <a:t>מטרה</a:t>
            </a:r>
          </a:p>
          <a:p>
            <a:pPr rtl="1" algn="r" marL="0" indent="0">
              <a:buNone/>
            </a:pPr>
            <a:r>
              <a:rPr sz="1200" lang="he-IL"/>
              <a:t>•  לחבר בין שכבות לבדיקות.</a:t>
            </a:r>
          </a:p>
          <a:p>
            <a:pPr rtl="1" algn="r" marL="0" indent="0">
              <a:buNone/>
            </a:pPr>
            <a:r>
              <a:rPr b="1" sz="1200" lang="he-IL"/>
              <a:t>אנלוגיה</a:t>
            </a:r>
          </a:p>
          <a:p>
            <a:pPr rtl="1" algn="r" marL="0" indent="0">
              <a:buNone/>
            </a:pPr>
            <a:r>
              <a:rPr sz="1200" lang="he-IL"/>
              <a:t>•  תחנת עבודה אחת שגם מקבלת חומר, גם מייצרת וגם אורזת, ואי אפשר לבדוק רק את שלב הייצור.</a:t>
            </a:r>
          </a:p>
          <a:p>
            <a:pPr rtl="1" algn="r" marL="0" indent="0">
              <a:buNone/>
            </a:pPr>
            <a:r>
              <a:rPr sz="1200" lang="he-IL"/>
              <a:t>•  אל תחשפו את התשובה לפני שלפחות שני זוגות הציעו נימוק.</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200" lang="he-IL"/>
              <a:t>תשובה</a:t>
            </a:r>
          </a:p>
          <a:p>
            <a:pPr rtl="1" algn="r" marL="0" indent="0">
              <a:buNone/>
            </a:pPr>
            <a:r>
              <a:rPr sz="1200" lang="he-IL"/>
              <a:t>•  קשה לבדוק, כי בדיקה דורשת קובץ אמיתי וקריאת פלט מהמסך, וקשה לשנות חלק אחד (למשל פורמט ההדפסה) בלי לסכן את החישוב.</a:t>
            </a:r>
          </a:p>
          <a:p>
            <a:pPr rtl="1" algn="r" marL="0" indent="0">
              <a:buNone/>
            </a:pPr>
            <a:r>
              <a:rPr sz="1200" lang="he-IL"/>
              <a:t>•  הפתרון: להפריד לנתונים, לוגיקה וממשק, וכל אחד לבדו.</a:t>
            </a:r>
          </a:p>
          <a:p>
            <a:pPr rtl="1" algn="r" marL="0" indent="0">
              <a:buNone/>
            </a:pPr>
            <a:r>
              <a:rPr sz="1200" lang="he-IL"/>
              <a:t>•  דוגמה: לוגיקה בפונקציה שמקבלת נתונים ומחזירה תוצאה אפשר לבדוק בשורה אחת (שיעור 8).</a:t>
            </a:r>
          </a:p>
          <a:p>
            <a:pPr rtl="1" algn="r" marL="0" indent="0">
              <a:buNone/>
            </a:pPr>
            <a:r>
              <a:rPr sz="1200" lang="he-IL"/>
              <a:t>•  אם הסטודנטים עונים ׳ארוכה מדי׳, קבלו, אבל הדגישו שהבעיה היא ערבוב אחריות, גם בפונקציה קצרה.</a:t>
            </a:r>
          </a:p>
          <a:p>
            <a:pPr rtl="1" algn="r" marL="0" indent="0">
              <a:buNone/>
            </a:pPr>
            <a:r>
              <a:rPr sz="1200" lang="he-IL"/>
              <a:t>•  עוברים למעבדה ב׳.</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מעבדה ב׳, 8 דקות, בזוגות, חלק ג׳ במחברת HM_11: קנה מידה.</a:t>
            </a:r>
          </a:p>
          <a:p>
            <a:pPr rtl="1" algn="r" marL="0" indent="0">
              <a:buNone/>
            </a:pPr>
            <a:r>
              <a:rPr b="1" sz="1200" lang="he-IL"/>
              <a:t>מה אומרים</a:t>
            </a:r>
          </a:p>
          <a:p>
            <a:pPr rtl="1" algn="r" marL="0" indent="0">
              <a:buNone/>
            </a:pPr>
            <a:r>
              <a:rPr sz="1200" lang="he-IL"/>
              <a:t>•  זה מחליף את סקירת העיצוב על הפרויקט הקבוצתי, ובמקום להשוות מבנים הסטודנטים מודדים בעצמם את מה שראו בשקף הקנה מידה.</a:t>
            </a:r>
          </a:p>
          <a:p>
            <a:pPr rtl="1" algn="r" marL="0" indent="0">
              <a:buNone/>
            </a:pPr>
            <a:r>
              <a:rPr sz="1200" lang="he-IL"/>
              <a:t>•  המשימה: לכל לקוח, סך הכמויות שהזמין.</a:t>
            </a:r>
          </a:p>
          <a:p>
            <a:pPr rtl="1" algn="r" marL="0" indent="0">
              <a:buNone/>
            </a:pPr>
            <a:r>
              <a:rPr sz="1200" lang="he-IL"/>
              <a:t>•  נתונים סינתטיים (make_rows) וגרסה איטית ששייכת למישהו אחר (totals_slow), שמחפשת את הלקוח ברשימה בכל שורה.</a:t>
            </a:r>
          </a:p>
          <a:p>
            <a:pPr rtl="1" algn="r" marL="0" indent="0">
              <a:buNone/>
            </a:pPr>
            <a:r>
              <a:rPr sz="1200" lang="he-IL"/>
              <a:t>•  שלב 1: measure, שעון עצר שמחזיר את הזמן הקצר ביותר מכמה הרצות.</a:t>
            </a:r>
          </a:p>
          <a:p>
            <a:pPr rtl="1" algn="r" marL="0" indent="0">
              <a:buNone/>
            </a:pPr>
            <a:r>
              <a:rPr sz="1200" lang="he-IL"/>
              <a:t>•  שלב 2: totals_fast, עם מילון ומעבר אחד.</a:t>
            </a:r>
          </a:p>
          <a:p>
            <a:pPr rtl="1" algn="r" marL="0" indent="0">
              <a:buNone/>
            </a:pPr>
            <a:r>
              <a:rPr sz="1200" lang="he-IL"/>
              <a:t>•  שלב 3: same_answer, ה־golden של הייעול.</a:t>
            </a:r>
          </a:p>
          <a:p>
            <a:pPr rtl="1" algn="r" marL="0" indent="0">
              <a:buNone/>
            </a:pPr>
            <a:r>
              <a:rPr sz="1200" lang="he-IL"/>
              <a:t>•  שלב 4: מדידה על 1,000 ו־10,000 שורות וחישוב גורמי הגידול.</a:t>
            </a:r>
          </a:p>
          <a:p>
            <a:pPr rtl="1" algn="r" marL="0" indent="0">
              <a:buNone/>
            </a:pPr>
            <a:r>
              <a:rPr sz="1200" lang="he-IL"/>
              <a:t>•  כל השלבים חובה, ובעייתי לקצר את החלק הזה כי המדידה היא הלב.</a:t>
            </a:r>
          </a:p>
          <a:p>
            <a:pPr rtl="1" algn="r" marL="0" indent="0">
              <a:buNone/>
            </a:pPr>
            <a:r>
              <a:rPr sz="1200" lang="he-IL"/>
              <a:t>•  כתיבת תחזית לפני המדידה היא חלק מהמטרה.</a:t>
            </a:r>
          </a:p>
          <a:p>
            <a:pPr rtl="1" algn="r" marL="0" indent="0">
              <a:buNone/>
            </a:pPr>
            <a:r>
              <a:rPr b="1" sz="1200" lang="he-IL"/>
              <a:t>הכנה לפני השיעור</a:t>
            </a:r>
          </a:p>
          <a:p>
            <a:pPr rtl="1" algn="r" marL="0" indent="0">
              <a:buNone/>
            </a:pPr>
            <a:r>
              <a:rPr sz="1200" lang="he-IL"/>
              <a:t>•  לוודא ש־HM_11 פתוחה ב־Colab ושה־QR הוחלף בקישור אמיתי.</a:t>
            </a:r>
          </a:p>
          <a:p>
            <a:pPr rtl="1" algn="r" marL="0" indent="0">
              <a:buNone/>
            </a:pPr>
            <a:r>
              <a:rPr sz="1200" lang="he-IL"/>
              <a:t>•  אל תנחו להריץ את totals_slow על 100,000 שורות, כי זה לוקח דקות.</a:t>
            </a:r>
          </a:p>
          <a:p>
            <a:pPr rtl="1" algn="r" marL="0" indent="0">
              <a:buNone/>
            </a:pPr>
            <a:r>
              <a:rPr sz="1200" lang="he-IL"/>
              <a:t>•  למה מחזירים את הזמן הקצר ביותר ולא ממוצע: לפי תיעוד timeit של פייתון, הערכים הגבוהים נובעים בדרך כלל מתהליכים אחרים שמפריעים למדידה ולא ממהירות הקוד, ולכן המינימום הוא המספר שמעניין.</a:t>
            </a:r>
          </a:p>
          <a:p>
            <a:pPr rtl="1" algn="r" marL="0" indent="0">
              <a:buNone/>
            </a:pPr>
            <a:r>
              <a:rPr sz="1200" lang="he-IL"/>
              <a:t>•  זה גם הסבר טוב לשאלה ״למה כל פעם יוצא מספר אחר״.</a:t>
            </a:r>
          </a:p>
          <a:p>
            <a:pPr rtl="1" algn="r" marL="0" indent="0">
              <a:buNone/>
            </a:pPr>
            <a:r>
              <a:rPr sz="1200" lang="he-IL"/>
              <a:t>•  הקישור לתיאוריה: שקף ״למה הלולאה איטית״ מסביר מה בדיוק מודדים.</a:t>
            </a:r>
          </a:p>
          <a:p>
            <a:pPr rtl="1" algn="r" marL="0" indent="0">
              <a:buNone/>
            </a:pPr>
            <a:r>
              <a:rPr b="1" sz="1200" lang="he-IL"/>
              <a:t>חיבור לשיעורים קודמים</a:t>
            </a:r>
          </a:p>
          <a:p>
            <a:pPr rtl="1" algn="r" marL="0" indent="0">
              <a:buNone/>
            </a:pPr>
            <a:r>
              <a:rPr sz="1200" lang="he-IL"/>
              <a:t>•  שלושה קישורים.</a:t>
            </a:r>
          </a:p>
          <a:p>
            <a:pPr rtl="1" algn="r" marL="0" indent="0">
              <a:buNone/>
            </a:pPr>
            <a:r>
              <a:rPr sz="1200" lang="he-IL"/>
              <a:t>•  תחזית לפני מדידה: כמו בשיטת הדיבוג ממפגש 9 (משערים, גוזרים תחזית, בודקים). same_answer: ה־golden של הייעול, רעיון של בדיקות ממפגש 8, ולכן ״ייעול״ שמפיל שורה נתפס.</a:t>
            </a:r>
          </a:p>
          <a:p>
            <a:pPr rtl="1" algn="r" marL="0" indent="0">
              <a:buNone/>
            </a:pPr>
            <a:r>
              <a:rPr sz="1200" lang="he-IL"/>
              <a:t>•  ו־totals_slow היא קוד שאינו שלכם: צעד קטן ובדוק, כמו בחלק א׳.</a:t>
            </a:r>
          </a:p>
          <a:p>
            <a:pPr rtl="1" algn="r" marL="0" indent="0">
              <a:buNone/>
            </a:pPr>
            <a:r>
              <a:rPr b="1" sz="1200" lang="he-IL"/>
              <a:t>שאלה לכיתה</a:t>
            </a:r>
          </a:p>
          <a:p>
            <a:pPr rtl="1" algn="r" marL="0" indent="0">
              <a:buNone/>
            </a:pPr>
            <a:r>
              <a:rPr sz="1200" lang="he-IL"/>
              <a:t>•  מי זוכר למה כותבים תחזית לפני הרצה?</a:t>
            </a:r>
          </a:p>
          <a:p>
            <a:pPr rtl="1" algn="r" marL="0" indent="0">
              <a:buNone/>
            </a:pPr>
            <a:r>
              <a:rPr b="1" sz="1200" lang="he-IL"/>
              <a:t>תשובה</a:t>
            </a:r>
          </a:p>
          <a:p>
            <a:pPr rtl="1" algn="r" marL="0" indent="0">
              <a:buNone/>
            </a:pPr>
            <a:r>
              <a:rPr sz="1200" lang="he-IL"/>
              <a:t>•  כדי שנדע אם הבנו את מה שקורה, ולא נתאים הסבר אחרי שראינו תוצאה.</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שקף העשרה (אופציונלי, כ־1.5 דקות).</a:t>
            </a:r>
          </a:p>
          <a:p>
            <a:pPr rtl="1" algn="r" marL="0" indent="0">
              <a:buNone/>
            </a:pPr>
            <a:r>
              <a:rPr b="1" sz="1200" lang="he-IL"/>
              <a:t>מה אומרים</a:t>
            </a:r>
          </a:p>
          <a:p>
            <a:pPr rtl="1" algn="r" marL="0" indent="0">
              <a:buNone/>
            </a:pPr>
            <a:r>
              <a:rPr sz="1200" lang="he-IL"/>
              <a:t>•  אין הגדרה אחת מוסכמת של ארכיטקטורה.</a:t>
            </a:r>
          </a:p>
          <a:p>
            <a:pPr rtl="1" algn="r" marL="0" indent="0">
              <a:buNone/>
            </a:pPr>
            <a:r>
              <a:rPr sz="1200" lang="he-IL"/>
              <a:t>•  Martin Fowler, באתר שלו על ארכיטקטורה, מצטט את Ralph Johnson: ״ארכיטקטורה היא העניין החשוב, מה שזה לא יהיה״, ומסיק שזה ההחלטות שהיינו רוצים לקבל נכון מוקדם בפרויקט.</a:t>
            </a:r>
          </a:p>
          <a:p>
            <a:pPr rtl="1" algn="r" marL="0" indent="0">
              <a:buNone/>
            </a:pPr>
            <a:r>
              <a:rPr sz="1200" lang="he-IL"/>
              <a:t>•  הניסוח הפרקטי בשקף (מה שיקר לשנות) הוא הכללה שלנו על בסיס זה.</a:t>
            </a:r>
          </a:p>
          <a:p>
            <a:pPr rtl="1" algn="r" marL="0" indent="0">
              <a:buNone/>
            </a:pPr>
            <a:r>
              <a:rPr sz="1200" lang="he-IL"/>
              <a:t>•  עיצוב, לעומת זאת, הוא החלטות מקומיות, זולות לשינוי, שאותן עושים ב־Refactoring.</a:t>
            </a:r>
          </a:p>
          <a:p>
            <a:pPr rtl="1" algn="r" marL="0" indent="0">
              <a:buNone/>
            </a:pPr>
            <a:r>
              <a:rPr sz="1200" lang="he-IL"/>
              <a:t>•  דוגמה מהחנות: לשנות שם משתנה או פונקציה זה זול.</a:t>
            </a:r>
          </a:p>
          <a:p>
            <a:pPr rtl="1" algn="r" marL="0" indent="0">
              <a:buNone/>
            </a:pPr>
            <a:r>
              <a:rPr sz="1200" lang="he-IL"/>
              <a:t>•  לעבור מקובץ CSV למסד נתונים זה יקר, ולכן ההפרדה לשכבות (שקפים קודמים) מצמצמת את המחיר.</a:t>
            </a:r>
          </a:p>
          <a:p>
            <a:pPr rtl="1" algn="r" marL="0" indent="0">
              <a:buNone/>
            </a:pPr>
            <a:r>
              <a:rPr sz="1200" lang="he-IL"/>
              <a:t>•  Parnas (1972) טען שמחלקים למודולים לפי החלטות שעשויות להשתנות.</a:t>
            </a:r>
          </a:p>
          <a:p>
            <a:pPr rtl="1" algn="r" marL="0" indent="0">
              <a:buNone/>
            </a:pPr>
            <a:r>
              <a:rPr sz="1200" lang="he-IL"/>
              <a:t>•  חוק Conway (1968, How Do Committees Invent?, Datamation): ארגון שמתכנן מערכת ייצר תכנון שהוא עותק של מבנה התקשורת בארגון.</a:t>
            </a:r>
          </a:p>
          <a:p>
            <a:pPr rtl="1" algn="r" marL="0" indent="0">
              <a:buNone/>
            </a:pPr>
            <a:r>
              <a:rPr sz="1200" lang="he-IL"/>
              <a:t>•  דוגמה: שלושה צוותים (נתונים, לוגיקה, ממשק) יובילו בדרך כלל לשלוש שכבות עם ממשקים ביניהן.</a:t>
            </a:r>
          </a:p>
          <a:p>
            <a:pPr rtl="1" algn="r" marL="0" indent="0">
              <a:buNone/>
            </a:pPr>
            <a:r>
              <a:rPr sz="1200" lang="he-IL"/>
              <a:t>•  Conway תיאר זאת כהשערה, ובמשך השנים נאספו ממצאים התומכים בה, אבל היא לא חוק טבע.</a:t>
            </a:r>
          </a:p>
          <a:p>
            <a:pPr rtl="1" algn="r" marL="0" indent="0">
              <a:buNone/>
            </a:pPr>
            <a:r>
              <a:rPr sz="1200" lang="he-IL"/>
              <a:t>•  מסקנה מעשית: כשמתכננים חלוקת עבודה בקבוצת הפרויקט, חושבים גם על המבנה שיוצא ממנה.</a:t>
            </a:r>
          </a:p>
          <a:p>
            <a:pPr rtl="1" algn="r" marL="0" indent="0">
              <a:buNone/>
            </a:pPr>
            <a:r>
              <a:rPr b="1" sz="1200" lang="he-IL"/>
              <a:t>שאלה לכיתה</a:t>
            </a:r>
          </a:p>
          <a:p>
            <a:pPr rtl="1" algn="r" marL="0" indent="0">
              <a:buNone/>
            </a:pPr>
            <a:r>
              <a:rPr sz="1200" lang="he-IL"/>
              <a:t>•  איזו החלטה בפרויקט שלכם תהיה הכי יקרה לשינוי?</a:t>
            </a:r>
          </a:p>
          <a:p>
            <a:pPr rtl="1" algn="r" marL="0" indent="0">
              <a:buNone/>
            </a:pPr>
            <a:r>
              <a:rPr sz="1200" lang="he-IL"/>
              <a:t>•  לדלג כשחסר זמן.</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הסבר לפני מעבדה ב׳, כ־1.5 דקות.</a:t>
            </a:r>
          </a:p>
          <a:p>
            <a:pPr rtl="1" algn="r" marL="0" indent="0">
              <a:buNone/>
            </a:pPr>
            <a:r>
              <a:rPr b="1" sz="1200" lang="he-IL"/>
              <a:t>מה אומרים</a:t>
            </a:r>
          </a:p>
          <a:p>
            <a:pPr rtl="1" algn="r" marL="0" indent="0">
              <a:buNone/>
            </a:pPr>
            <a:r>
              <a:rPr sz="1200" lang="he-IL"/>
              <a:t>•  בשקף הקודם ראינו שלולאה על שורות איטית.</a:t>
            </a:r>
          </a:p>
          <a:p>
            <a:pPr rtl="1" algn="r" marL="0" indent="0">
              <a:buNone/>
            </a:pPr>
            <a:r>
              <a:rPr sz="1200" lang="he-IL"/>
              <a:t>•  כאן מסבירים תופעה חמורה יותר, שהסטודנטים ימדדו במעבדה. totals_slow מחפשת בכל שורה את הלקוח ברשימה (in ו־index).</a:t>
            </a:r>
          </a:p>
          <a:p>
            <a:pPr rtl="1" algn="r" marL="0" indent="0">
              <a:buNone/>
            </a:pPr>
            <a:r>
              <a:rPr sz="1200" lang="he-IL"/>
              <a:t>•  חיפוש ברשימה עובר על האיברים אחד אחד, ולכן הוא לוקח זמן יחסי לאורך הרשימה, O(n) לפי תיעוד פייתון (Time complexity of operations on built-in types).</a:t>
            </a:r>
          </a:p>
          <a:p>
            <a:pPr rtl="1" algn="r" marL="0" indent="0">
              <a:buNone/>
            </a:pPr>
            <a:r>
              <a:rPr sz="1200" lang="he-IL"/>
              <a:t>•  אורך הרשימה עצמה גדל עם הנתונים (במחברת מחצית השורות בקירוב הן לקוחות שונים), ולכן העבודה הכוללת היא שורות כפול לקוחות ידועים, כלומר ריבועית: פי 10 בנתונים הופך לפי 100 בעבודה.</a:t>
            </a:r>
          </a:p>
          <a:p>
            <a:pPr rtl="1" algn="r" marL="0" indent="0">
              <a:buNone/>
            </a:pPr>
            <a:r>
              <a:rPr sz="1200" lang="he-IL"/>
              <a:t>•  מילון, לעומת זאת, קופץ למפתח לפי הערך המגובב שלו, וזה O(1) בממוצע (בתיעוד: במקרה הגרוע O(n), אם כל המפתחות מתנגשים, וזה נדיר).</a:t>
            </a:r>
          </a:p>
          <a:p>
            <a:pPr rtl="1" algn="r" marL="0" indent="0">
              <a:buNone/>
            </a:pPr>
            <a:r>
              <a:rPr sz="1200" lang="he-IL"/>
              <a:t>•  לכן בשורה אחת של עבודה לשורה, פי 10 בנתונים הוא פי 10 בעבודה.</a:t>
            </a:r>
          </a:p>
          <a:p>
            <a:pPr rtl="1" algn="r" marL="0" indent="0">
              <a:buNone/>
            </a:pPr>
            <a:r>
              <a:rPr sz="1200" lang="he-IL"/>
              <a:t>•  במדידה במעבדה: גורם גידול של בערך 78 לגרסה האיטית ו־10 למהירה (ההפרש מ־100 נובע מקבועים, מטמון ורעש).</a:t>
            </a:r>
          </a:p>
          <a:p>
            <a:pPr rtl="1" algn="r" marL="0" indent="0">
              <a:buNone/>
            </a:pPr>
            <a:r>
              <a:rPr sz="1200" lang="he-IL"/>
              <a:t>•  דוגמה מספרית לשרטוט על הלוח: 1,000 שורות ובערך 430 לקוחות שונים, מול 10,000 שורות ובערך 4,300 לקוחות שונים: בערך פי 100.</a:t>
            </a:r>
          </a:p>
          <a:p>
            <a:pPr rtl="1" algn="r" marL="0" indent="0">
              <a:buNone/>
            </a:pPr>
            <a:r>
              <a:rPr b="1" sz="1200" lang="he-IL"/>
              <a:t>אנלוגיה</a:t>
            </a:r>
          </a:p>
          <a:p>
            <a:pPr rtl="1" algn="r" marL="0" indent="0">
              <a:buNone/>
            </a:pPr>
            <a:r>
              <a:rPr sz="1200" lang="he-IL"/>
              <a:t>•  מחסנאי שבודק כל מדף כדי למצוא פריט, מול מחסנאי עם מפה.</a:t>
            </a:r>
          </a:p>
          <a:p>
            <a:pPr rtl="1" algn="r" marL="0" indent="0">
              <a:buNone/>
            </a:pPr>
            <a:r>
              <a:rPr b="1" sz="1200" lang="he-IL"/>
              <a:t>שאלה לכיתה</a:t>
            </a:r>
          </a:p>
          <a:p>
            <a:pPr rtl="1" algn="r" marL="0" indent="0">
              <a:buNone/>
            </a:pPr>
            <a:r>
              <a:rPr sz="1200" lang="he-IL"/>
              <a:t>•  מה גודל הנתונים שבו ההבדל כבר לא מורגש?</a:t>
            </a:r>
          </a:p>
          <a:p>
            <a:pPr rtl="1" algn="r" marL="0" indent="0">
              <a:buNone/>
            </a:pPr>
            <a:r>
              <a:rPr b="1" sz="1200" lang="he-IL"/>
              <a:t>תשובה</a:t>
            </a:r>
          </a:p>
          <a:p>
            <a:pPr rtl="1" algn="r" marL="0" indent="0">
              <a:buNone/>
            </a:pPr>
            <a:r>
              <a:rPr sz="1200" lang="he-IL"/>
              <a:t>•  קטן מאוד, ולכן לא מייעלים נתונים קטנים.</a:t>
            </a:r>
          </a:p>
          <a:p>
            <a:pPr rtl="1" algn="r" marL="0" indent="0">
              <a:buNone/>
            </a:pPr>
            <a:r>
              <a:rPr b="1" sz="1200" lang="he-IL"/>
              <a:t>שימו לב</a:t>
            </a:r>
          </a:p>
          <a:p>
            <a:pPr rtl="1" algn="r" marL="0" indent="0">
              <a:buNone/>
            </a:pPr>
            <a:r>
              <a:rPr sz="1200" lang="he-IL"/>
              <a:t>•  זה גם ההסבר למה same_answer נחוץ לפני שמחליפים גרסה.</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שקף ״למה עושים את זה״, כדקה בתחילת מעבדה א׳ (הזמן כלול ב־18 הדקות של המעבדה).</a:t>
            </a:r>
          </a:p>
          <a:p>
            <a:pPr rtl="1" algn="r" marL="0" indent="0">
              <a:buNone/>
            </a:pPr>
            <a:r>
              <a:rPr b="1" sz="1200" lang="he-IL"/>
              <a:t>מה אומרים</a:t>
            </a:r>
          </a:p>
          <a:p>
            <a:pPr rtl="1" algn="r" marL="0" indent="0">
              <a:buNone/>
            </a:pPr>
            <a:r>
              <a:rPr sz="1200" lang="he-IL"/>
              <a:t>•  כל שורה מקשרת רעיון מההרצאה לפונקציה שהסטודנטים יכתבו או יפעילו במחברת HM_11 ולמה שהבדיקה שלה מוכיחה. golden master: golden_snapshot שומרת את הפלט ו־is_green בודקת שהוא זהה.</a:t>
            </a:r>
          </a:p>
          <a:p>
            <a:pPr rtl="1" algn="r" marL="0" indent="0">
              <a:buNone/>
            </a:pPr>
            <a:r>
              <a:rPr sz="1200" lang="he-IL"/>
              <a:t>•  צעד קטן ו־commit: במחברת אין Git אמיתי, ו־COMMITS הוא רישום בקוד שנכתב רק כשה־golden ירוק, ולכן צעד אדום לא נרשם.</a:t>
            </a:r>
          </a:p>
          <a:p>
            <a:pPr rtl="1" algn="r" marL="0" indent="0">
              <a:buNone/>
            </a:pPr>
            <a:r>
              <a:rPr sz="1200" lang="he-IL"/>
              <a:t>•  ריחות קוד: שמות ברורים (low_stock_v1), הסרת שכפול (add_revenue) וקבועים עם שם (SAFETY_DAYS, DAYS_IN_YEAR).</a:t>
            </a:r>
          </a:p>
          <a:p>
            <a:pPr rtl="1" algn="r" marL="0" indent="0">
              <a:buNone/>
            </a:pPr>
            <a:r>
              <a:rPr sz="1200" lang="he-IL"/>
              <a:t>•  שכבות: revenue_by_category ו־top_products מחזירות ערך, וההדפסה נעשית במקום אחר.</a:t>
            </a:r>
          </a:p>
          <a:p>
            <a:pPr rtl="1" algn="r" marL="0" indent="0">
              <a:buNone/>
            </a:pPr>
            <a:r>
              <a:rPr sz="1200" lang="he-IL"/>
              <a:t>•  קנה מידה: measure מודדת, totals_fast מייעלת ו־same_answer היא ה־golden של הייעול.</a:t>
            </a:r>
          </a:p>
          <a:p>
            <a:pPr rtl="1" algn="r" marL="0" indent="0">
              <a:buNone/>
            </a:pPr>
            <a:r>
              <a:rPr sz="1200" lang="he-IL"/>
              <a:t>•  קליטת קוד זר: run_repo מריצה, inventory_repo ממפה ו־write_handoff בונה מסמך לפי התבנית.</a:t>
            </a:r>
          </a:p>
          <a:p>
            <a:pPr rtl="1" algn="r" marL="0" indent="0">
              <a:buNone/>
            </a:pPr>
            <a:r>
              <a:rPr sz="1200" lang="he-IL"/>
              <a:t>•  אם סטודנט שואל למה כותבים פונקציות ולא רק קוראים על זה: כי הכלל נבדק רק כשרואים אדום וירוק בעיניים.</a:t>
            </a:r>
          </a:p>
          <a:p>
            <a:pPr rtl="1" algn="r" marL="0" indent="0">
              <a:buNone/>
            </a:pPr>
            <a:r>
              <a:rPr sz="1200" lang="he-IL"/>
              <a:t>•  שימו לב שכל ההפעלה במחברת היא בפייתון בתוך Colab, בלי Git ובלי pytest.</a:t>
            </a:r>
          </a:p>
          <a:p>
            <a:pPr rtl="1" algn="r" marL="0" indent="0">
              <a:buNone/>
            </a:pPr>
            <a:r>
              <a:rPr sz="1200" lang="he-IL"/>
              <a:t>•  אם הזמן קצר, אפשר להסתפק בקריאת העמודה השמאלית.</a:t>
            </a:r>
          </a:p>
          <a:p>
            <a:pPr rtl="1" algn="r" marL="0" indent="0">
              <a:buNone/>
            </a:pPr>
            <a:r>
              <a:rPr b="1" sz="1200" lang="he-IL"/>
              <a:t>חיבור לשיעורים קודמים</a:t>
            </a:r>
          </a:p>
          <a:p>
            <a:pPr rtl="1" algn="r" marL="0" indent="0">
              <a:buNone/>
            </a:pPr>
            <a:r>
              <a:rPr sz="1200" lang="he-IL"/>
              <a:t>•  כל שורה בטבלה נשענת על כלי קודם.</a:t>
            </a:r>
          </a:p>
          <a:p>
            <a:pPr rtl="1" algn="r" marL="0" indent="0">
              <a:buNone/>
            </a:pPr>
            <a:r>
              <a:rPr sz="1200" lang="he-IL"/>
              <a:t>•  שורת ה־golden נשענת על בדיקות ממפגש 8, שורת COMMITS על Git ממפגש 6, והכלל ״תחזית לפני הרצה״ (חוזר גם במעבדה ב׳) על שיטת הדיבוג ממפגש 9, שבה מנסחים השערה ותחזית לפני הניסוי.</a:t>
            </a:r>
          </a:p>
          <a:p>
            <a:pPr rtl="1" algn="r" marL="0" indent="0">
              <a:buNone/>
            </a:pPr>
            <a:r>
              <a:rPr sz="1200" lang="he-IL"/>
              <a:t>•  שורת השכבות מחזירה אותנו למפגש 7, ושורת קליטת הקוד הזר לאחריות לבדוק ולא רק לקרוא (מפגש 1).</a:t>
            </a: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שקף העשרה (אופציונלי, כ־1.5 דקות).</a:t>
            </a:r>
          </a:p>
          <a:p>
            <a:pPr rtl="1" algn="r" marL="0" indent="0">
              <a:buNone/>
            </a:pPr>
            <a:r>
              <a:rPr b="1" sz="1200" lang="he-IL"/>
              <a:t>מטרה</a:t>
            </a:r>
          </a:p>
          <a:p>
            <a:pPr rtl="1" algn="r" marL="0" indent="0">
              <a:buNone/>
            </a:pPr>
            <a:r>
              <a:rPr sz="1200" lang="he-IL"/>
              <a:t>•  להציג עדויות ראשוניות, ולהיות כנים לגבי מה שהן לא מוכיחות.</a:t>
            </a:r>
          </a:p>
          <a:p>
            <a:pPr rtl="1" algn="r" marL="0" indent="0">
              <a:buNone/>
            </a:pPr>
            <a:r>
              <a:rPr sz="1200" lang="he-IL"/>
              <a:t>•  (1) GitClear (דוח 2025): ניתוח של כ־211 מיליון שורות קוד ששונו בין 2020 ל־2024, בעיקר ממאגרים פרטיים של לקוחות החברה.</a:t>
            </a:r>
          </a:p>
          <a:p>
            <a:pPr rtl="1" algn="r" marL="0" indent="0">
              <a:buNone/>
            </a:pPr>
            <a:r>
              <a:rPr sz="1200" lang="he-IL"/>
              <a:t>•  לפי הדיווח, ב־2024 לראשונה יותר שורות היו העתק־הדבק מאשר שורות שהוזזו (מדד עקיף ל־Refactoring), ומספר הבלוקים הכפולים בני 5 שורות ומעלה גדל פי 8 באותה שנה.</a:t>
            </a:r>
          </a:p>
          <a:p>
            <a:pPr rtl="1" algn="r" marL="0" indent="0">
              <a:buNone/>
            </a:pPr>
            <a:r>
              <a:rPr sz="1200" lang="he-IL"/>
              <a:t>•  זה דוח של חברה מסחרית, לא מאמר שעבר ביקורת עמיתים, והאחוזים המדויקים משתנים בין הפרסומים, ולכן אין בשקף אחוזים.</a:t>
            </a:r>
          </a:p>
          <a:p>
            <a:pPr rtl="1" algn="r" marL="0" indent="0">
              <a:buNone/>
            </a:pPr>
            <a:r>
              <a:rPr sz="1200" lang="he-IL"/>
              <a:t>•  (2) DORA (2024, סקר של יותר מ־39,000 אנשי מקצוע): עלייה של 25% באימוץ AI נקשרה לירידה משוערת של 1.5% בתפוקת המסירה ושל 7.2% ביציבות המסירה, וגם לעלייה של כ־2.1% בפריון האישי.</a:t>
            </a:r>
          </a:p>
          <a:p>
            <a:pPr rtl="1" algn="r" marL="0" indent="0">
              <a:buNone/>
            </a:pPr>
            <a:r>
              <a:rPr sz="1200" lang="he-IL"/>
              <a:t>•  ההסבר שהוצע: AI מגדיל את גודל השינויים, ושינויים גדולים מסוכנים יותר.</a:t>
            </a:r>
          </a:p>
          <a:p>
            <a:pPr rtl="1" algn="r" marL="0" indent="0">
              <a:buNone/>
            </a:pPr>
            <a:r>
              <a:rPr sz="1200" lang="he-IL"/>
              <a:t>•  זה קשר סטטיסטי ולא הוכחת סיבתיות.</a:t>
            </a:r>
          </a:p>
          <a:p>
            <a:pPr rtl="1" algn="r" marL="0" indent="0">
              <a:buNone/>
            </a:pPr>
            <a:r>
              <a:rPr sz="1200" lang="he-IL"/>
              <a:t>•  בדוח 2025 התפוקה כבר נקשרה לאימוץ AI באופן חיובי, אבל אי־היציבות נשארה, ו־AI תואר כמגבר של מה שכבר קיים בארגון.</a:t>
            </a:r>
          </a:p>
          <a:p>
            <a:pPr rtl="1" algn="r" marL="0" indent="0">
              <a:buNone/>
            </a:pPr>
            <a:r>
              <a:rPr sz="1200" lang="he-IL"/>
              <a:t>•  (3) Cordeiro, Noei ו־Zou (arXiv, 2024): מודל קוד (StarCoder2) על 30 פרויקטי Java הפחית ריחות קוד ב־20.1% יותר ממפתחים, בעיקר בבעיות שיטתיות כמו מספר קסם, ואילו מפתחים טיפלו טוב יותר בבעיות מורכבות ותלויות הקשר.</a:t>
            </a:r>
          </a:p>
          <a:p>
            <a:pPr rtl="1" algn="r" marL="0" indent="0">
              <a:buNone/>
            </a:pPr>
            <a:r>
              <a:rPr sz="1200" lang="he-IL"/>
              <a:t>•  נכונות נמדדה לפי אחוז מעבר בדיקות יחידה, כלומר מדד עקיף.</a:t>
            </a:r>
          </a:p>
          <a:p>
            <a:pPr rtl="1" algn="r" marL="0" indent="0">
              <a:buNone/>
            </a:pPr>
            <a:r>
              <a:rPr sz="1200" lang="he-IL"/>
              <a:t>•  מה לא ידוע: אין עדיין מחקר מבוקר על תחזוקתיות לאורך שנים של קוד שנכתב עם AI.</a:t>
            </a:r>
          </a:p>
          <a:p>
            <a:pPr rtl="1" algn="r" marL="0" indent="0">
              <a:buNone/>
            </a:pPr>
            <a:r>
              <a:rPr b="1" sz="1200" lang="he-IL"/>
              <a:t>קישור למעבדה</a:t>
            </a:r>
          </a:p>
          <a:p>
            <a:pPr rtl="1" algn="r" marL="0" indent="0">
              <a:buNone/>
            </a:pPr>
            <a:r>
              <a:rPr sz="1200" lang="he-IL"/>
              <a:t>•  ה־AI טוב בסידור שיטתי כמו קבועים, ולכן צעד 5 במחברת בודק אותו מול ה־golden.</a:t>
            </a:r>
          </a:p>
          <a:p>
            <a:pPr rtl="1" algn="r" marL="0" indent="0">
              <a:buNone/>
            </a:pPr>
            <a:r>
              <a:rPr sz="1200" lang="he-IL"/>
              <a:t>•  שאלה פתוחה לכיתה: איך הייתם מודדים אם קוד תחזוקתי?</a:t>
            </a:r>
          </a:p>
          <a:p>
            <a:pPr rtl="1" algn="r" marL="0" indent="0">
              <a:buNone/>
            </a:pPr>
            <a:r>
              <a:rPr sz="1200" lang="he-IL"/>
              <a:t>•  לדלג כשחסר זמן.</a:t>
            </a: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חלק ג׳ (9 דקות כולל שאלת בדיקה): קליטת קוד של מישהו אחר.</a:t>
            </a:r>
          </a:p>
          <a:p>
            <a:pPr rtl="1" algn="r" marL="0" indent="0">
              <a:buNone/>
            </a:pPr>
            <a:r>
              <a:rPr b="1" sz="1200" lang="he-IL"/>
              <a:t>מה אומרים</a:t>
            </a:r>
          </a:p>
          <a:p>
            <a:pPr rtl="1" algn="r" marL="0" indent="0">
              <a:buNone/>
            </a:pPr>
            <a:r>
              <a:rPr sz="1200" lang="he-IL"/>
              <a:t>•  התרחיש: מקבלים פרויקט ממפתח שעזב, מקבוצה אחרת, או קוד ש־AI יצר לפני שבוע.</a:t>
            </a:r>
          </a:p>
          <a:p>
            <a:pPr rtl="1" algn="r" marL="0" indent="0">
              <a:buNone/>
            </a:pPr>
            <a:r>
              <a:rPr sz="1200" lang="he-IL"/>
              <a:t>•  חמישה צעדים: README והרצה, מיפוי מבנה (קבצים ותפקידים), איתור נקודת כניסה, מעקב אחר זרימה אחת מקלט ועד פלט, וכתיבת מסמך העברה.</a:t>
            </a:r>
          </a:p>
          <a:p>
            <a:pPr rtl="1" algn="r" marL="0" indent="0">
              <a:buNone/>
            </a:pPr>
            <a:r>
              <a:rPr b="1" sz="1200" lang="he-IL"/>
              <a:t>מסר מרכזי</a:t>
            </a:r>
          </a:p>
          <a:p>
            <a:pPr rtl="1" algn="r" marL="0" indent="0">
              <a:buNone/>
            </a:pPr>
            <a:r>
              <a:rPr sz="1200" lang="he-IL"/>
              <a:t>•  קודם מריצים ורק אחר כך קוראים, כי מה שרץ אפשר להבין ומה שלא רץ צריך קודם לתקן.</a:t>
            </a:r>
          </a:p>
          <a:p>
            <a:pPr rtl="1" algn="r" marL="0" indent="0">
              <a:buNone/>
            </a:pPr>
            <a:r>
              <a:rPr b="1" sz="1200" lang="he-IL"/>
              <a:t>אנלוגיה</a:t>
            </a:r>
          </a:p>
          <a:p>
            <a:pPr rtl="1" algn="r" marL="0" indent="0">
              <a:buNone/>
            </a:pPr>
            <a:r>
              <a:rPr sz="1200" lang="he-IL"/>
              <a:t>•  מהנדס שמקבל קו ייצור חדש.</a:t>
            </a:r>
          </a:p>
          <a:p>
            <a:pPr rtl="1" algn="r" marL="0" indent="0">
              <a:buNone/>
            </a:pPr>
            <a:r>
              <a:rPr sz="1200" lang="he-IL"/>
              <a:t>•  קודם מפעילים אותו בפיקוח ורק אחר כך לומדים את השרטוטים.</a:t>
            </a:r>
          </a:p>
          <a:p>
            <a:pPr rtl="1" algn="r" marL="0" indent="0">
              <a:buNone/>
            </a:pPr>
            <a:r>
              <a:rPr b="1" sz="1200" lang="he-IL"/>
              <a:t>שאלה לכיתה</a:t>
            </a:r>
          </a:p>
          <a:p>
            <a:pPr rtl="1" algn="r" marL="0" indent="0">
              <a:buNone/>
            </a:pPr>
            <a:r>
              <a:rPr sz="1200" lang="he-IL"/>
              <a:t>•  למה לא מתחילים לקרוא קובץ אחרי קובץ?</a:t>
            </a:r>
          </a:p>
          <a:p>
            <a:pPr rtl="1" algn="r" marL="0" indent="0">
              <a:buNone/>
            </a:pPr>
            <a:r>
              <a:rPr b="1" sz="1200" lang="he-IL"/>
              <a:t>תשובה</a:t>
            </a:r>
          </a:p>
          <a:p>
            <a:pPr rtl="1" algn="r" marL="0" indent="0">
              <a:buNone/>
            </a:pPr>
            <a:r>
              <a:rPr sz="1200" lang="he-IL"/>
              <a:t>•  מקבלים הרבה פרטים בלי תמונה כוללת ולא יודעים מה חשוב.</a:t>
            </a:r>
          </a:p>
          <a:p>
            <a:pPr rtl="1" algn="r" marL="0" indent="0">
              <a:buNone/>
            </a:pPr>
            <a:r>
              <a:rPr sz="1200" lang="he-IL"/>
              <a:t>•  ציינו שזה בדיוק מה שעושים במעבדה ג׳.</a:t>
            </a:r>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בפרויקט אמיתי יש אלפי קבצים ומאות אלפי שורות, וזה לא נכנס לחלון הקשר (מפגש 2).</a:t>
            </a:r>
          </a:p>
          <a:p>
            <a:pPr rtl="1" algn="r" marL="0" indent="0">
              <a:buNone/>
            </a:pPr>
            <a:r>
              <a:rPr b="1" sz="1200" lang="he-IL"/>
              <a:t>מה אומרים</a:t>
            </a:r>
          </a:p>
          <a:p>
            <a:pPr rtl="1" algn="r" marL="0" indent="0">
              <a:buNone/>
            </a:pPr>
            <a:r>
              <a:rPr sz="1200" lang="he-IL"/>
              <a:t>•  לכן עובדים אחרת מאשר עם סקריפט קטן.</a:t>
            </a:r>
          </a:p>
          <a:p>
            <a:pPr rtl="1" algn="r" marL="0" indent="0">
              <a:buNone/>
            </a:pPr>
            <a:r>
              <a:rPr sz="1200" lang="he-IL"/>
              <a:t>•  אסטרטגיות: (1) מפה: מבקשים מה-AI או בונים בעצמכם רשימת קבצים ותפקידים.</a:t>
            </a:r>
          </a:p>
          <a:p>
            <a:pPr rtl="1" algn="r" marL="0" indent="0">
              <a:buNone/>
            </a:pPr>
            <a:r>
              <a:rPr sz="1200" lang="he-IL"/>
              <a:t>•  (2) פרוסות: עובדים על חלק אחד, עם הקבצים הרלוונטיים בלבד.</a:t>
            </a:r>
          </a:p>
          <a:p>
            <a:pPr rtl="1" algn="r" marL="0" indent="0">
              <a:buNone/>
            </a:pPr>
            <a:r>
              <a:rPr sz="1200" lang="he-IL"/>
              <a:t>•  (3) קובץ הנחיה (AGENTS.md או דומה, מפגש 4) שמסביר מבנה, פקודות הרצה וכללים, כדי שכל שיחה תתחיל מההקשר הנכון.</a:t>
            </a:r>
          </a:p>
          <a:p>
            <a:pPr rtl="1" algn="r" marL="0" indent="0">
              <a:buNone/>
            </a:pPr>
            <a:r>
              <a:rPr sz="1200" lang="he-IL"/>
              <a:t>•  (4) כלי חיפוש: סוכנים מחפשים בקוד במקום לקרוא הכל.</a:t>
            </a:r>
          </a:p>
          <a:p>
            <a:pPr rtl="1" algn="r" marL="0" indent="0">
              <a:buNone/>
            </a:pPr>
            <a:r>
              <a:rPr sz="1200" lang="he-IL"/>
              <a:t>•  (5) בדיקות: ללא בדיקות, אי אפשר לדעת אם שינוי שבר משהו רחוק.</a:t>
            </a:r>
          </a:p>
          <a:p>
            <a:pPr rtl="1" algn="r" marL="0" indent="0">
              <a:buNone/>
            </a:pPr>
            <a:r>
              <a:rPr sz="1200" lang="he-IL"/>
              <a:t>•  הסכנה: ה-AI לא רואה חלק מהקוד, ולכן כותב פונקציה שכבר קיימת או קורא לחתימה שגויה.</a:t>
            </a:r>
          </a:p>
          <a:p>
            <a:pPr rtl="1" algn="r" marL="0" indent="0">
              <a:buNone/>
            </a:pPr>
            <a:r>
              <a:rPr b="1" sz="1200" lang="he-IL"/>
              <a:t>שאלה לכיתה</a:t>
            </a:r>
          </a:p>
          <a:p>
            <a:pPr rtl="1" algn="r" marL="0" indent="0">
              <a:buNone/>
            </a:pPr>
            <a:r>
              <a:rPr sz="1200" lang="he-IL"/>
              <a:t>•  מה קורה כשסוכן לא רואה קובץ שבו כבר יש פונקציית עזר?</a:t>
            </a:r>
          </a:p>
          <a:p>
            <a:pPr rtl="1" algn="r" marL="0" indent="0">
              <a:buNone/>
            </a:pPr>
            <a:r>
              <a:rPr b="1" sz="1200" lang="he-IL"/>
              <a:t>תשובה</a:t>
            </a:r>
          </a:p>
          <a:p>
            <a:pPr rtl="1" algn="r" marL="0" indent="0">
              <a:buNone/>
            </a:pPr>
            <a:r>
              <a:rPr sz="1200" lang="he-IL"/>
              <a:t>•  הוא כותב אחת חדשה, ונוצר שכפול.</a:t>
            </a:r>
          </a:p>
          <a:p>
            <a:pPr rtl="1" algn="r" marL="0" indent="0">
              <a:buNone/>
            </a:pPr>
            <a:r>
              <a:rPr sz="1200" lang="he-IL"/>
              <a:t>•  נסו להפנות אותו לקובץ הרלוונטי מראש.</a:t>
            </a:r>
          </a:p>
          <a:p>
            <a:pPr rtl="1" algn="r" marL="0" indent="0">
              <a:buNone/>
            </a:pPr>
            <a:r>
              <a:rPr sz="1200" lang="he-IL"/>
              <a:t>•  זמן: כשתי דקות בחלק ג׳.</a:t>
            </a:r>
          </a:p>
          <a:p>
            <a:pPr rtl="1" algn="r" marL="0" indent="0">
              <a:buNone/>
            </a:pPr>
            <a:r>
              <a:rPr sz="1200" lang="he-IL"/>
              <a:t>•  הערה אקדמית: מגבלת חלון ההקשר היא עובדה טכנית של כל מודל (שיעור 2).</a:t>
            </a:r>
          </a:p>
          <a:p>
            <a:pPr rtl="1" algn="r" marL="0" indent="0">
              <a:buNone/>
            </a:pPr>
            <a:r>
              <a:rPr sz="1200" lang="he-IL"/>
              <a:t>•  האסטרטגיות (מפה, פרוסות, קובץ הנחיה, חיפוש ממוקד) הן פרקטיקות מקובלות בכלי הסוכנים, ולא תוצאות מחקר.</a:t>
            </a:r>
          </a:p>
          <a:p>
            <a:pPr rtl="1" algn="r" marL="0" indent="0">
              <a:buNone/>
            </a:pPr>
            <a:r>
              <a:rPr sz="1200" lang="he-IL"/>
              <a:t>•  ההשפעה על שכפול פונקציות קיימות מוכרת מניסיון ומדוחות כמו GitClear, אך הם לא מוכיחים סיבתיות (ראו שקף ההעשרה).</a:t>
            </a:r>
          </a:p>
          <a:p>
            <a:pPr rtl="1" algn="r" marL="0" indent="0">
              <a:buNone/>
            </a:pPr>
            <a:r>
              <a:rPr b="1" sz="1200" lang="he-IL"/>
              <a:t>חיבור לשיעורים קודמים</a:t>
            </a:r>
          </a:p>
          <a:p>
            <a:pPr rtl="1" algn="r" marL="0" indent="0">
              <a:buNone/>
            </a:pPr>
            <a:r>
              <a:rPr sz="1200" lang="he-IL"/>
              <a:t>•  מי זוכר למה ה־AI לא רואה את כל הקוד?</a:t>
            </a:r>
          </a:p>
          <a:p>
            <a:pPr rtl="1" algn="r" marL="0" indent="0">
              <a:buNone/>
            </a:pPr>
            <a:r>
              <a:rPr b="1" sz="1200" lang="he-IL"/>
              <a:t>תשובה</a:t>
            </a:r>
          </a:p>
          <a:p>
            <a:pPr rtl="1" algn="r" marL="0" indent="0">
              <a:buNone/>
            </a:pPr>
            <a:r>
              <a:rPr sz="1200" lang="he-IL"/>
              <a:t>•  חלון ההקשר מוגבל (מפגש 2).</a:t>
            </a:r>
          </a:p>
          <a:p>
            <a:pPr rtl="1" algn="r" marL="0" indent="0">
              <a:buNone/>
            </a:pPr>
            <a:r>
              <a:rPr sz="1200" lang="he-IL"/>
              <a:t>•  ומה זה AGENTS.md?</a:t>
            </a:r>
          </a:p>
          <a:p>
            <a:pPr rtl="1" algn="r" marL="0" indent="0">
              <a:buNone/>
            </a:pPr>
            <a:r>
              <a:rPr sz="1200" lang="he-IL"/>
              <a:t>•  קובץ הנחיה שמסביר מבנה, הרצה וכללים (מפגש 4, לפי הנושא בסילבוס: קבצי הנחיה וניהול הקשר לאורך פרויקט).</a:t>
            </a:r>
          </a:p>
          <a:p>
            <a:pPr rtl="1" algn="r" marL="0" indent="0">
              <a:buNone/>
            </a:pPr>
            <a:r>
              <a:rPr sz="1200" lang="he-IL"/>
              <a:t>•  אם הכיתה לא זוכרת מפגש 4, אל תפרטו מעבר לכך: אמרו שקובץ כזה מתחיל כל שיחה מההקשר הנכון, והמשיכו.</a:t>
            </a:r>
          </a:p>
          <a:p>
            <a:pPr rtl="1" algn="r" marL="0" indent="0">
              <a:buNone/>
            </a:pPr>
            <a:r>
              <a:rPr sz="1200" lang="he-IL"/>
              <a:t>•  הקישור להיום: מפה ופרוסות הם דרך לתת לסוכן רק את מה שנכנס לחלון.</a:t>
            </a:r>
          </a:p>
        </p:txBody>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200" lang="he-IL"/>
              <a:t>מה אומרים</a:t>
            </a:r>
          </a:p>
          <a:p>
            <a:pPr rtl="1" algn="r" marL="0" indent="0">
              <a:buNone/>
            </a:pPr>
            <a:r>
              <a:rPr sz="1200" lang="he-IL"/>
              <a:t>•  מבקשים מה־AI להסביר מאגר: מדביקים רשימת קבצים ואת main.py ומבקשים ארבעה דברים: מה זה עושה, מה נקודת הכניסה, איך הנתונים זורמים מקלט לפלט, ואיך מריצים, ועם ציטוט שמות קבצים כדי שאפשר יהיה לאמת.</a:t>
            </a:r>
          </a:p>
          <a:p>
            <a:pPr rtl="1" algn="r" marL="0" indent="0">
              <a:buNone/>
            </a:pPr>
            <a:r>
              <a:rPr sz="1200" lang="he-IL"/>
              <a:t>•  אחר כך הכלל החשוב: מאמתים.</a:t>
            </a:r>
          </a:p>
          <a:p>
            <a:pPr rtl="1" algn="r" marL="0" indent="0">
              <a:buNone/>
            </a:pPr>
            <a:r>
              <a:rPr sz="1200" lang="he-IL"/>
              <a:t>•  הסבר משכנע יכול להיות שגוי (שיעור 2, הזיות).</a:t>
            </a:r>
          </a:p>
          <a:p>
            <a:pPr rtl="1" algn="r" marL="0" indent="0">
              <a:buNone/>
            </a:pPr>
            <a:r>
              <a:rPr sz="1200" lang="he-IL"/>
              <a:t>•  דוגמה אפשרית: ה־AI טוען שהציון מחושב בקובץ שאינו קיים בכלל.</a:t>
            </a:r>
          </a:p>
          <a:p>
            <a:pPr rtl="1" algn="r" marL="0" indent="0">
              <a:buNone/>
            </a:pPr>
            <a:r>
              <a:rPr sz="1200" lang="he-IL"/>
              <a:t>•  בדיקה: מריצים את הפקודה שהוא נתן ופותחים את הקובץ שהוא הזכיר.</a:t>
            </a:r>
          </a:p>
          <a:p>
            <a:pPr rtl="1" algn="r" marL="0" indent="0">
              <a:buNone/>
            </a:pPr>
            <a:r>
              <a:rPr b="1" sz="1200" lang="he-IL"/>
              <a:t>שאלה לכיתה</a:t>
            </a:r>
          </a:p>
          <a:p>
            <a:pPr rtl="1" algn="r" marL="0" indent="0">
              <a:buNone/>
            </a:pPr>
            <a:r>
              <a:rPr sz="1200" lang="he-IL"/>
              <a:t>•  איך מגלים הזיה בהסבר?</a:t>
            </a:r>
          </a:p>
          <a:p>
            <a:pPr rtl="1" algn="r" marL="0" indent="0">
              <a:buNone/>
            </a:pPr>
            <a:r>
              <a:rPr b="1" sz="1200" lang="he-IL"/>
              <a:t>תשובה</a:t>
            </a:r>
          </a:p>
          <a:p>
            <a:pPr rtl="1" algn="r" marL="0" indent="0">
              <a:buNone/>
            </a:pPr>
            <a:r>
              <a:rPr sz="1200" lang="he-IL"/>
              <a:t>•  מבקשים ציטוט של שם קובץ ושורה ובודקים.</a:t>
            </a:r>
          </a:p>
          <a:p>
            <a:pPr rtl="1" algn="r" marL="0" indent="0">
              <a:buNone/>
            </a:pPr>
            <a:r>
              <a:rPr sz="1200" lang="he-IL"/>
              <a:t>•  כשל: מדביקים את כל הקוד בלי רשימת קבצים ועוברים את חלון ההקשר.</a:t>
            </a:r>
          </a:p>
          <a:p>
            <a:pPr rtl="1" algn="r" marL="0" indent="0">
              <a:buNone/>
            </a:pPr>
            <a:r>
              <a:rPr sz="1200" lang="he-IL"/>
              <a:t>•  אין להדביק נתונים רגישים או סודות (שיעור 10).</a:t>
            </a:r>
          </a:p>
          <a:p>
            <a:pPr rtl="1" algn="r" marL="0" indent="0">
              <a:buNone/>
            </a:pPr>
            <a:r>
              <a:rPr sz="1200" lang="he-IL"/>
              <a:t>•  שקף אופציונלי (כ־1.5 דקות).</a:t>
            </a:r>
          </a:p>
          <a:p>
            <a:pPr rtl="1" algn="r" marL="0" indent="0">
              <a:buNone/>
            </a:pPr>
            <a:r>
              <a:rPr sz="1200" lang="he-IL"/>
              <a:t>•  המעבדה אינה כוללת שלב שבו ה־AI מסביר מאגר, ולכן אפשר לדלג ולהשאיר לקריאה בבית.</a:t>
            </a:r>
          </a:p>
          <a:p>
            <a:pPr rtl="1" algn="r" marL="0" indent="0">
              <a:buNone/>
            </a:pPr>
            <a:r>
              <a:rPr sz="1200" lang="he-IL"/>
              <a:t>•  אם מציגים אותו, הדגישו את כלל האימות.</a:t>
            </a:r>
          </a:p>
        </p:txBody>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מסמך העברה (Code Handoff) הוא עמוד אחד שמאפשר למישהו אחר להמשיך בלי לשאול אתכם.</a:t>
            </a:r>
          </a:p>
          <a:p>
            <a:pPr rtl="1" algn="r" marL="0" indent="0">
              <a:buNone/>
            </a:pPr>
            <a:r>
              <a:rPr b="1" sz="1200" lang="he-IL"/>
              <a:t>מה אומרים</a:t>
            </a:r>
          </a:p>
          <a:p>
            <a:pPr rtl="1" algn="r" marL="0" indent="0">
              <a:buNone/>
            </a:pPr>
            <a:r>
              <a:rPr sz="1200" lang="he-IL"/>
              <a:t>•  שישה חלקים, בדיוק כמו התבנית ש־write_handoff בונה במחברת: מה זה עושה (משפט אחד), איך מריצים (פקודה אחת ומה מצפים לראות), מבנה (קבצים ותפקידים), מה שבור או חסר (מה לא עובד, אין בדיקות, מה חסר ב־README), נקודות סיכון (מה שביר</a:t>
            </a:r>
          </a:p>
          <a:p>
            <a:pPr rtl="1" algn="r" marL="0" indent="0">
              <a:buNone/>
            </a:pPr>
            <a:r>
              <a:rPr sz="1200" lang="he-IL"/>
              <a:t>•  במחברת בדיוק שלושה, כדי להכריח סדר עדיפויות) ושאלות פתוחות (מה עוד לא ידוע ולמי לפנות).</a:t>
            </a:r>
          </a:p>
          <a:p>
            <a:pPr rtl="1" algn="r" marL="0" indent="0">
              <a:buNone/>
            </a:pPr>
            <a:r>
              <a:rPr sz="1200" lang="he-IL"/>
              <a:t>•  למה לא ״החלטות״ בתבנית: מי שמקבל קוד זר לא יכול לדעת למה נבחר פתרון, ולכן מה שלא ברור נכנס לשאלות פתוחות.</a:t>
            </a:r>
          </a:p>
          <a:p>
            <a:pPr rtl="1" algn="r" marL="0" indent="0">
              <a:buNone/>
            </a:pPr>
            <a:r>
              <a:rPr sz="1200" lang="he-IL"/>
              <a:t>•  מי שכתב את הקוד כן יכול לתעד החלטות, וזה נעשה בפורמט נפרד, מסמך החלטה (ADR), שמוצג בשקף העשרה.</a:t>
            </a:r>
          </a:p>
          <a:p>
            <a:pPr rtl="1" algn="r" marL="0" indent="0">
              <a:buNone/>
            </a:pPr>
            <a:r>
              <a:rPr sz="1200" lang="he-IL"/>
              <a:t>•  ההבדל מ־README: README פונה לכל משתמש ומסביר מה זה ואיך מריצים, ומסמך ההעברה מוסיף את מה שאינו כתוב בקוד: מה שבור, סיכונים וחוסרים.</a:t>
            </a:r>
          </a:p>
          <a:p>
            <a:pPr rtl="1" algn="r" marL="0" indent="0">
              <a:buNone/>
            </a:pPr>
            <a:r>
              <a:rPr b="1" sz="1200" lang="he-IL"/>
              <a:t>אנלוגיה</a:t>
            </a:r>
          </a:p>
          <a:p>
            <a:pPr rtl="1" algn="r" marL="0" indent="0">
              <a:buNone/>
            </a:pPr>
            <a:r>
              <a:rPr sz="1200" lang="he-IL"/>
              <a:t>•  דוח חפיפה בין משמרות במפעל, עם מצב, חריגים ומה שנשאר פתוח.</a:t>
            </a:r>
          </a:p>
          <a:p>
            <a:pPr rtl="1" algn="r" marL="0" indent="0">
              <a:buNone/>
            </a:pPr>
            <a:r>
              <a:rPr b="1" sz="1200" lang="he-IL"/>
              <a:t>שאלה לכיתה</a:t>
            </a:r>
          </a:p>
          <a:p>
            <a:pPr rtl="1" algn="r" marL="0" indent="0">
              <a:buNone/>
            </a:pPr>
            <a:r>
              <a:rPr sz="1200" lang="he-IL"/>
              <a:t>•  איזה חלק נוטים לדלג עליו?</a:t>
            </a:r>
          </a:p>
          <a:p>
            <a:pPr rtl="1" algn="r" marL="0" indent="0">
              <a:buNone/>
            </a:pPr>
            <a:r>
              <a:rPr sz="1200" lang="he-IL"/>
              <a:t>•  צפוי: מה שבור וסיכונים, כי לא נעים להודות בחולשה.</a:t>
            </a:r>
          </a:p>
          <a:p>
            <a:pPr rtl="1" algn="r" marL="0" indent="0">
              <a:buNone/>
            </a:pPr>
            <a:r>
              <a:rPr b="1" sz="1200" lang="he-IL"/>
              <a:t>חיבור לשיעורים קודמים</a:t>
            </a:r>
          </a:p>
          <a:p>
            <a:pPr rtl="1" algn="r" marL="0" indent="0">
              <a:buNone/>
            </a:pPr>
            <a:r>
              <a:rPr sz="1200" lang="he-IL"/>
              <a:t>•  AGENTS.md (שיעור 4) משרת גם AI וגם בני אדם.</a:t>
            </a:r>
          </a:p>
          <a:p>
            <a:pPr rtl="1" algn="r" marL="0" indent="0">
              <a:buNone/>
            </a:pPr>
            <a:r>
              <a:rPr sz="1200" lang="he-IL"/>
              <a:t>•  אפשר לבקש מה־AI טיוטה של מבנה והרצה, אבל סיכונים ושאלות פתוחות יכול לכתוב רק מי שהריץ ובדק, ותמיד מריצים את הפקודה לפני שמגישים.</a:t>
            </a:r>
          </a:p>
        </p:txBody>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השוואה בין README חלש לחזק, על כלי ציון הספקים שב־legacy-repo של מעבדה ג׳.</a:t>
            </a:r>
          </a:p>
          <a:p>
            <a:pPr rtl="1" algn="r" marL="0" indent="0">
              <a:buNone/>
            </a:pPr>
            <a:r>
              <a:rPr b="1" sz="1200" lang="he-IL"/>
              <a:t>מה אומרים</a:t>
            </a:r>
          </a:p>
          <a:p>
            <a:pPr rtl="1" algn="r" marL="0" indent="0">
              <a:buNone/>
            </a:pPr>
            <a:r>
              <a:rPr sz="1200" lang="he-IL"/>
              <a:t>•  חלש (מימין): שתי שורות בלבד, scorecard ו־Run main.py, בלי תיאור, בלי ארגומנט ובלי תלויות.</a:t>
            </a:r>
          </a:p>
          <a:p>
            <a:pPr rtl="1" algn="r" marL="0" indent="0">
              <a:buNone/>
            </a:pPr>
            <a:r>
              <a:rPr sz="1200" lang="he-IL"/>
              <a:t>•  חזק (משמאל): מה הכלי עושה, איך מריצים (python main.py 0.7), מה צריך (pandas ו־suppliers.csv), מה הפלט, ואיפה הכללים (config.py).</a:t>
            </a:r>
          </a:p>
          <a:p>
            <a:pPr rtl="1" algn="r" marL="0" indent="0">
              <a:buNone/>
            </a:pPr>
            <a:r>
              <a:rPr b="1" sz="1200" lang="he-IL"/>
              <a:t>שאלה לכיתה</a:t>
            </a:r>
          </a:p>
          <a:p>
            <a:pPr rtl="1" algn="r" marL="0" indent="0">
              <a:buNone/>
            </a:pPr>
            <a:r>
              <a:rPr sz="1200" lang="he-IL"/>
              <a:t>•  מה חסר ל־README החלש כדי שתוכלו להריץ?</a:t>
            </a:r>
          </a:p>
          <a:p>
            <a:pPr rtl="1" algn="r" marL="0" indent="0">
              <a:buNone/>
            </a:pPr>
            <a:r>
              <a:rPr sz="1200" lang="he-IL"/>
              <a:t>•  צפוי: הארגומנט, התלות ומה לצפות.</a:t>
            </a:r>
          </a:p>
          <a:p>
            <a:pPr rtl="1" algn="r" marL="0" indent="0">
              <a:buNone/>
            </a:pPr>
            <a:r>
              <a:rPr sz="1200" lang="he-IL"/>
              <a:t>•  טיפ: ה־README של הפרויקט הקבוצתי ייבדק על ידי מי שלא ישב אתכם, ולכן כבר במעבדה ג׳ מריצים את legacy-repo ומתעדים מה חסר ב־README שלו.</a:t>
            </a:r>
          </a:p>
          <a:p>
            <a:pPr rtl="1" algn="r" marL="0" indent="0">
              <a:buNone/>
            </a:pPr>
            <a:r>
              <a:rPr sz="1200" lang="he-IL"/>
              <a:t>•  אפשר להשתמש ב־AI לשיפור הטיוטה, אבל חייבים לוודא שהפקודות שבה עובדות בפועל.</a:t>
            </a:r>
          </a:p>
          <a:p>
            <a:pPr rtl="1" algn="r" marL="0" indent="0">
              <a:buNone/>
            </a:pPr>
            <a:r>
              <a:rPr b="1" sz="1200" lang="he-IL"/>
              <a:t>חיבור לשיעורים קודמים</a:t>
            </a:r>
          </a:p>
          <a:p>
            <a:pPr rtl="1" algn="r" marL="0" indent="0">
              <a:buNone/>
            </a:pPr>
            <a:r>
              <a:rPr sz="1200" lang="he-IL"/>
              <a:t>•  פריסה (שיעור 12) דורשת הוראות הרצה ברורות.</a:t>
            </a:r>
          </a:p>
          <a:p>
            <a:pPr rtl="1" algn="r" marL="0" indent="0">
              <a:buNone/>
            </a:pPr>
            <a:r>
              <a:rPr b="1" sz="1200" lang="he-IL"/>
              <a:t>להעמקה</a:t>
            </a:r>
          </a:p>
          <a:p>
            <a:pPr rtl="1" algn="r" marL="0" indent="0">
              <a:buNone/>
            </a:pPr>
            <a:r>
              <a:rPr sz="1200" lang="he-IL"/>
              <a:t>•  ש־README ברור חוסך זמן הוא ניסיון מקובל, ולא תוצאה כמותית; מה שמודד אותו הוא ניסוי פשוט שאפשר לעשות: לתת את המאגר למי שלא ישב אתכם ולמדוד כמה זמן לוקח לו להריץ.</a:t>
            </a:r>
          </a:p>
        </p:txBody>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שאלת בדיקה לחלק ג׳ (כדקה).</a:t>
            </a:r>
          </a:p>
          <a:p>
            <a:pPr rtl="1" algn="r" marL="0" indent="0">
              <a:buNone/>
            </a:pPr>
            <a:r>
              <a:rPr b="1" sz="1200" lang="he-IL"/>
              <a:t>מה אומרים</a:t>
            </a:r>
          </a:p>
          <a:p>
            <a:pPr rtl="1" algn="r" marL="0" indent="0">
              <a:buNone/>
            </a:pPr>
            <a:r>
              <a:rPr sz="1200" lang="he-IL"/>
              <a:t>•  תרחיש: קיבלתם תיקייה של מישהו אחר ואין זמן.</a:t>
            </a:r>
          </a:p>
          <a:p>
            <a:pPr rtl="1" algn="r" marL="0" indent="0">
              <a:buNone/>
            </a:pPr>
            <a:r>
              <a:rPr sz="1200" lang="he-IL"/>
              <a:t>•  מה הצעד הראשון?</a:t>
            </a:r>
          </a:p>
          <a:p>
            <a:pPr rtl="1" algn="r" marL="0" indent="0">
              <a:buNone/>
            </a:pPr>
            <a:r>
              <a:rPr sz="1200" lang="he-IL"/>
              <a:t>•  תנו חצי דקה בזוגות.</a:t>
            </a:r>
          </a:p>
          <a:p>
            <a:pPr rtl="1" algn="r" marL="0" indent="0">
              <a:buNone/>
            </a:pPr>
            <a:r>
              <a:rPr sz="1200" lang="he-IL"/>
              <a:t>•  תשובות שגויות צפויות: ׳קוראים את כל הקבצים׳ או ׳מבקשים מה־AI לשכתב׳.</a:t>
            </a:r>
          </a:p>
          <a:p>
            <a:pPr rtl="1" algn="r" marL="0" indent="0">
              <a:buNone/>
            </a:pPr>
            <a:r>
              <a:rPr sz="1200" lang="he-IL"/>
              <a:t>•  רשמו תשובות על הלוח לפני שחושפים.</a:t>
            </a:r>
          </a:p>
          <a:p>
            <a:pPr rtl="1" algn="r" marL="0" indent="0">
              <a:buNone/>
            </a:pPr>
            <a:r>
              <a:rPr b="1" sz="1200" lang="he-IL"/>
              <a:t>מטרה</a:t>
            </a:r>
          </a:p>
          <a:p>
            <a:pPr rtl="1" algn="r" marL="0" indent="0">
              <a:buNone/>
            </a:pPr>
            <a:r>
              <a:rPr sz="1200" lang="he-IL"/>
              <a:t>•  לחזק את הכלל ׳קודם מריצים׳.</a:t>
            </a:r>
          </a:p>
          <a:p>
            <a:pPr rtl="1" algn="r" marL="0" indent="0">
              <a:buNone/>
            </a:pPr>
            <a:r>
              <a:rPr sz="1200" lang="he-IL"/>
              <a:t>•  זה גם מקדים את מעבדה ג׳, שבה הם יצטרכו לעשות בדיוק את זה.</a:t>
            </a:r>
          </a:p>
          <a:p>
            <a:pPr rtl="1" algn="r" marL="0" indent="0">
              <a:buNone/>
            </a:pPr>
            <a:r>
              <a:rPr sz="1200" lang="he-IL"/>
              <a:t>•  אם מישהו מציע לשאול את הכותבים, אמרו שבמציאות הם לא תמיד זמינים, ושאלו מה עושים אז.</a:t>
            </a:r>
          </a:p>
        </p:txBody>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200" lang="he-IL"/>
              <a:t>תשובה</a:t>
            </a:r>
          </a:p>
          <a:p>
            <a:pPr rtl="1" algn="r" marL="0" indent="0">
              <a:buNone/>
            </a:pPr>
            <a:r>
              <a:rPr sz="1200" lang="he-IL"/>
              <a:t>•  קוראים את ה־README ומריצים, כדי לראות שהקוד עובד ומה הפלט.</a:t>
            </a:r>
          </a:p>
          <a:p>
            <a:pPr rtl="1" algn="r" marL="0" indent="0">
              <a:buNone/>
            </a:pPr>
            <a:r>
              <a:rPr sz="1200" lang="he-IL"/>
              <a:t>•  אחר כך ממפים מבנה ונקודת כניסה, ועוקבים אחר זרימה אחת מקלט ועד פלט.</a:t>
            </a:r>
          </a:p>
          <a:p>
            <a:pPr rtl="1" algn="r" marL="0" indent="0">
              <a:buNone/>
            </a:pPr>
            <a:r>
              <a:rPr sz="1200" lang="he-IL"/>
              <a:t>•  הסבר: הרצה נותנת עוגן, כי אפשר לשנות משהו ולראות מה קרה.</a:t>
            </a:r>
          </a:p>
          <a:p>
            <a:pPr rtl="1" algn="r" marL="0" indent="0">
              <a:buNone/>
            </a:pPr>
            <a:r>
              <a:rPr sz="1200" lang="he-IL"/>
              <a:t>•  דוגמה: ב־legacy-repo הפקודה python main.py 0.7 מדפיסה טבלת ספקים עם ציון.</a:t>
            </a:r>
          </a:p>
          <a:p>
            <a:pPr rtl="1" algn="r" marL="0" indent="0">
              <a:buNone/>
            </a:pPr>
            <a:r>
              <a:rPr sz="1200" lang="he-IL"/>
              <a:t>•  אם הסטודנטים אומרים ׳מבקשים מה־AI להסביר׳, זה מותר, אבל אחרי הרצה ועם אימות.</a:t>
            </a:r>
          </a:p>
          <a:p>
            <a:pPr rtl="1" algn="r" marL="0" indent="0">
              <a:buNone/>
            </a:pPr>
            <a:r>
              <a:rPr sz="1200" lang="he-IL"/>
              <a:t>•  עוברים למעבדה ג׳.</a:t>
            </a:r>
          </a:p>
        </p:txBody>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מעבדה ג׳, 13 דקות, בזוגות, חלק ד׳ במחברת HM_11 (11 דקות) ועוד חלק ה׳, מסקנה (2 דקות).</a:t>
            </a:r>
          </a:p>
          <a:p>
            <a:pPr rtl="1" algn="r" marL="0" indent="0">
              <a:buNone/>
            </a:pPr>
            <a:r>
              <a:rPr b="1" sz="1200" lang="he-IL"/>
              <a:t>מה אומרים</a:t>
            </a:r>
          </a:p>
          <a:p>
            <a:pPr rtl="1" algn="r" marL="0" indent="0">
              <a:buNone/>
            </a:pPr>
            <a:r>
              <a:rPr sz="1200" lang="he-IL"/>
              <a:t>•  המאגר הזר הוא legacy-repo: כלי שנותן ציון לספקים, עם README של שתי שורות, והוא מוטמע בתוך המחברת, בלי הורדות.</a:t>
            </a:r>
          </a:p>
          <a:p>
            <a:pPr rtl="1" algn="r" marL="0" indent="0">
              <a:buNone/>
            </a:pPr>
            <a:r>
              <a:rPr sz="1200" lang="he-IL"/>
              <a:t>•  שלב 0: מריצים את run_repo עם הארגומנט 0.7, בלי ארגומנט, ומתיקייה אחרת, אחרי תחזית כתובה.</a:t>
            </a:r>
          </a:p>
          <a:p>
            <a:pPr rtl="1" algn="r" marL="0" indent="0">
              <a:buNone/>
            </a:pPr>
            <a:r>
              <a:rPr sz="1200" lang="he-IL"/>
              <a:t>•  שלב 1: inventory_repo, חובה, ממפה קבצים, פונקציות, קבצים ללא בדיקות ושורות TODO או FIXME.</a:t>
            </a:r>
          </a:p>
          <a:p>
            <a:pPr rtl="1" algn="r" marL="0" indent="0">
              <a:buNone/>
            </a:pPr>
            <a:r>
              <a:rPr sz="1200" lang="he-IL"/>
              <a:t>•  שלב 2: write_handoff, חובה, בונה מסמך לפי תבנית, ונכשלת בקול עם ValueError אם יש מספר סיכונים שונה מ־3 (זה כלל ה־API מהשקף על עיצוב API).</a:t>
            </a:r>
          </a:p>
          <a:p>
            <a:pPr rtl="1" algn="r" marL="0" indent="0">
              <a:buNone/>
            </a:pPr>
            <a:r>
              <a:rPr sz="1200" lang="he-IL"/>
              <a:t>•  שלב 3, מומלץ: מסמך אמיתי ל־legacy-repo, ויכול להישאר לבית.</a:t>
            </a:r>
          </a:p>
          <a:p>
            <a:pPr rtl="1" algn="r" marL="0" indent="0">
              <a:buNone/>
            </a:pPr>
            <a:r>
              <a:rPr b="1" sz="1200" lang="he-IL"/>
              <a:t>הכנה לפני השיעור</a:t>
            </a:r>
          </a:p>
          <a:p>
            <a:pPr rtl="1" algn="r" marL="0" indent="0">
              <a:buNone/>
            </a:pPr>
            <a:r>
              <a:rPr sz="1200" lang="he-IL"/>
              <a:t>•  להעלות את HM_11.ipynb ל־Colab או ל־Drive ולהחליף את ה־QR (מקום שמור) בקישור אמיתי, ולהריץ Run all על HM_11_SOLUTION.</a:t>
            </a:r>
          </a:p>
          <a:p>
            <a:pPr rtl="1" algn="r" marL="0" indent="0">
              <a:buNone/>
            </a:pPr>
            <a:r>
              <a:rPr sz="1200" lang="he-IL"/>
              <a:t>•  מפתח התשובות לשלב 3 בקובץ HANDOFF_ANSWERS.md בתיקיית instructor.</a:t>
            </a:r>
          </a:p>
          <a:p>
            <a:pPr rtl="1" algn="r" marL="0" indent="0">
              <a:buNone/>
            </a:pPr>
            <a:r>
              <a:rPr sz="1200" lang="he-IL"/>
              <a:t>•  הערות מפורטות בקובץ הערות_למרצה_HM_11.md.</a:t>
            </a:r>
          </a:p>
          <a:p>
            <a:pPr rtl="1" algn="r" marL="0" indent="0">
              <a:buNone/>
            </a:pPr>
            <a:r>
              <a:rPr b="1" sz="1200" lang="he-IL"/>
              <a:t>חיבור לשיעורים קודמים</a:t>
            </a:r>
          </a:p>
          <a:p>
            <a:pPr rtl="1" algn="r" marL="0" indent="0">
              <a:buNone/>
            </a:pPr>
            <a:r>
              <a:rPr sz="1200" lang="he-IL"/>
              <a:t>•  מי זוכר מה הצעד הראשון בדיבוג?</a:t>
            </a:r>
          </a:p>
          <a:p>
            <a:pPr rtl="1" algn="r" marL="0" indent="0">
              <a:buNone/>
            </a:pPr>
            <a:r>
              <a:rPr b="1" sz="1200" lang="he-IL"/>
              <a:t>תשובה</a:t>
            </a:r>
          </a:p>
          <a:p>
            <a:pPr rtl="1" algn="r" marL="0" indent="0">
              <a:buNone/>
            </a:pPr>
            <a:r>
              <a:rPr sz="1200" lang="he-IL"/>
              <a:t>•  משחזרים, כלומר גורמים לבאג לקרות שוב (מפגש 9).</a:t>
            </a:r>
          </a:p>
          <a:p>
            <a:pPr rtl="1" algn="r" marL="0" indent="0">
              <a:buNone/>
            </a:pPr>
            <a:r>
              <a:rPr sz="1200" lang="he-IL"/>
              <a:t>•  ״קודם מריצים״ בקוד זר הוא אותו רעיון: אי אפשר להבין או לשנות מה שלא רץ.</a:t>
            </a:r>
          </a:p>
          <a:p>
            <a:pPr rtl="1" algn="r" marL="0" indent="0">
              <a:buNone/>
            </a:pPr>
            <a:r>
              <a:rPr sz="1200" lang="he-IL"/>
              <a:t>•  בעבודה על legacy-repo תראו גם את מפגש 8 (אין בדיקות, ולכן אי אפשר לשנות בלי חשש), את מפגש 2 (אם מבקשים מ־AI להסביר את המאגר, הסבר משכנע יכול להיות שגוי, ולכן מריצים ובודקים) ואת מפגש 7 (write_handoff נכשלת בקול, כמו תגובת שגיאה ברורה בחוזה).</a:t>
            </a:r>
          </a:p>
        </p:txBody>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שקף העשרה (אופציונלי, כ־1.5 דקות).</a:t>
            </a:r>
          </a:p>
          <a:p>
            <a:pPr rtl="1" algn="r" marL="0" indent="0">
              <a:buNone/>
            </a:pPr>
            <a:r>
              <a:rPr b="1" sz="1200" lang="he-IL"/>
              <a:t>מה אומרים</a:t>
            </a:r>
          </a:p>
          <a:p>
            <a:pPr rtl="1" algn="r" marL="0" indent="0">
              <a:buNone/>
            </a:pPr>
            <a:r>
              <a:rPr sz="1200" lang="he-IL"/>
              <a:t>•  הדימוי ״חוב טכני״ הוצג על ידי Ward Cunningham בדו״ח הניסיון The WyCash Portfolio Management System (OOPSLA 1992).</a:t>
            </a:r>
          </a:p>
          <a:p>
            <a:pPr rtl="1" algn="r" marL="0" indent="0">
              <a:buNone/>
            </a:pPr>
            <a:r>
              <a:rPr sz="1200" lang="he-IL"/>
              <a:t>•  הוא כתב שהוצאת קוד ראשון לאוויר היא כמו כניסה לחוב.</a:t>
            </a:r>
          </a:p>
          <a:p>
            <a:pPr rtl="1" algn="r" marL="0" indent="0">
              <a:buNone/>
            </a:pPr>
            <a:r>
              <a:rPr sz="1200" lang="he-IL"/>
              <a:t>•  חוב קטן מאיץ פיתוח כל עוד מחזירים אותו מהר, באמצעות שכתוב, והסכנה היא חוב שלא נפרע, כי כל דקה שמושקעת בקוד שאינו מדויק מוסיפה לריבית.</a:t>
            </a:r>
          </a:p>
          <a:p>
            <a:pPr rtl="1" algn="r" marL="0" indent="0">
              <a:buNone/>
            </a:pPr>
            <a:r>
              <a:rPr sz="1200" lang="he-IL"/>
              <a:t>•  במעבדה: הדוח המבולגן הוא חוב, כל שינוי עתידי בו משלם ריבית (קשה להבין, קשה לבדוק), והצעדים שאתם עושים הם פירעון.</a:t>
            </a:r>
          </a:p>
          <a:p>
            <a:pPr rtl="1" algn="r" marL="0" indent="0">
              <a:buNone/>
            </a:pPr>
            <a:r>
              <a:rPr sz="1200" lang="he-IL"/>
              <a:t>•  המספרים בשקף הם דוגמה להמחשה ולא מדידה: אם שינוי עולה שעה בקוד נקי ושלוש שעות בקוד מבולגן, הריבית היא שעתיים בכל שינוי, ואחרי עשרה שינויים שילמנו 20 שעות, יותר מכל מה שעולה לסדר את הקוד.</a:t>
            </a:r>
          </a:p>
          <a:p>
            <a:pPr rtl="1" algn="r" marL="0" indent="0">
              <a:buNone/>
            </a:pPr>
            <a:r>
              <a:rPr b="1" sz="1200" lang="he-IL"/>
              <a:t>להעמקה</a:t>
            </a:r>
          </a:p>
          <a:p>
            <a:pPr rtl="1" algn="r" marL="0" indent="0">
              <a:buNone/>
            </a:pPr>
            <a:r>
              <a:rPr sz="1200" lang="he-IL"/>
              <a:t>•  Fowler (2009) הוסיף רבעון: חוב יכול להיות זהיר או פזיז, ומכוון או לא מכוון.</a:t>
            </a:r>
          </a:p>
          <a:p>
            <a:pPr rtl="1" algn="r" marL="0" indent="0">
              <a:buNone/>
            </a:pPr>
            <a:r>
              <a:rPr sz="1200" lang="he-IL"/>
              <a:t>•  לדוגמה, צוות שיודע שהוא חותך פינות כדי לעמוד במועד ומתכנן לחזור, לוקח חוב זהיר ומכוון.</a:t>
            </a:r>
          </a:p>
          <a:p>
            <a:pPr rtl="1" algn="r" marL="0" indent="0">
              <a:buNone/>
            </a:pPr>
            <a:r>
              <a:rPr sz="1200" lang="he-IL"/>
              <a:t>•  צוות שלא מכיר עיצוב טוב לוקח חוב פזיז ולא מכוון.</a:t>
            </a:r>
          </a:p>
          <a:p>
            <a:pPr rtl="1" algn="r" marL="0" indent="0">
              <a:buNone/>
            </a:pPr>
            <a:r>
              <a:rPr sz="1200" lang="he-IL"/>
              <a:t>•  גבולות הדימוי: חוב כספי הוא מוגדר ומתוזמן, וחוב טכני הוא הערכה, והריבית אינה ידועה מראש.</a:t>
            </a:r>
          </a:p>
          <a:p>
            <a:pPr rtl="1" algn="r" marL="0" indent="0">
              <a:buNone/>
            </a:pPr>
            <a:r>
              <a:rPr b="1" sz="1200" lang="he-IL"/>
              <a:t>שאלה לכיתה</a:t>
            </a:r>
          </a:p>
          <a:p>
            <a:pPr rtl="1" algn="r" marL="0" indent="0">
              <a:buNone/>
            </a:pPr>
            <a:r>
              <a:rPr sz="1200" lang="he-IL"/>
              <a:t>•  האם כל קיצור דרך הוא חוב רע?</a:t>
            </a:r>
          </a:p>
          <a:p>
            <a:pPr rtl="1" algn="r" marL="0" indent="0">
              <a:buNone/>
            </a:pPr>
            <a:r>
              <a:rPr b="1" sz="1200" lang="he-IL"/>
              <a:t>תשובה</a:t>
            </a:r>
          </a:p>
          <a:p>
            <a:pPr rtl="1" algn="r" marL="0" indent="0">
              <a:buNone/>
            </a:pPr>
            <a:r>
              <a:rPr sz="1200" lang="he-IL"/>
              <a:t>•  לא, אם הוא מכוון, מתועד ומוחזר.</a:t>
            </a:r>
          </a:p>
          <a:p>
            <a:pPr rtl="1" algn="r" marL="0" indent="0">
              <a:buNone/>
            </a:pPr>
            <a:r>
              <a:rPr sz="1200" lang="he-IL"/>
              <a:t>•  לדלג כשחסר זמן.</a:t>
            </a:r>
          </a:p>
        </p:txBody>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הרצת legacy-repo, זה שלב 0 בחלק ד׳, כשלוש דקות, אחרי שהסטודנטים כתבו תחזית.</a:t>
            </a:r>
          </a:p>
          <a:p>
            <a:pPr rtl="1" algn="r" marL="0" indent="0">
              <a:buNone/>
            </a:pPr>
            <a:r>
              <a:rPr b="1" sz="1200" lang="he-IL"/>
              <a:t>מה אומרים</a:t>
            </a:r>
          </a:p>
          <a:p>
            <a:pPr rtl="1" algn="r" marL="0" indent="0">
              <a:buNone/>
            </a:pPr>
            <a:r>
              <a:rPr sz="1200" lang="he-IL"/>
              <a:t>•  הפלט בשקף הוא של python main.py 0.7: ארבעה ספקים עם ציון 0.7 ומעלה, Supplier C 0.913, A 0.823, E 0.762 ו־G 0.762, ממוינים מהגבוה לנמוך.</a:t>
            </a:r>
          </a:p>
          <a:p>
            <a:pPr rtl="1" algn="r" marL="0" indent="0">
              <a:buNone/>
            </a:pPr>
            <a:r>
              <a:rPr sz="1200" lang="he-IL"/>
              <a:t>•  בלי ארגומנט מופיעים שמונה ספקים (נוספים F 0.697, B 0.667, D 0.661 ו־H 0.631).</a:t>
            </a:r>
          </a:p>
          <a:p>
            <a:pPr rtl="1" algn="r" marL="0" indent="0">
              <a:buNone/>
            </a:pPr>
            <a:r>
              <a:rPr sz="1200" lang="he-IL"/>
              <a:t>•  ההרצה מתיקייה אחרת, דרך run_repo עם cwd שונה, נכשלת בכוונה עם FileNotFoundError על suppliers.csv, כי הנתיב לקובץ הנתונים יחסי לתיקיית ההרצה.</a:t>
            </a:r>
          </a:p>
          <a:p>
            <a:pPr rtl="1" algn="r" marL="0" indent="0">
              <a:buNone/>
            </a:pPr>
            <a:r>
              <a:rPr sz="1200" lang="he-IL"/>
              <a:t>•  זו נקודת סיכון אמיתית שנכנסת למסמך ההעברה.</a:t>
            </a:r>
          </a:p>
          <a:p>
            <a:pPr rtl="1" algn="r" marL="0" indent="0">
              <a:buNone/>
            </a:pPr>
            <a:r>
              <a:rPr b="1" sz="1200" lang="he-IL"/>
              <a:t>מסר מרכזי</a:t>
            </a:r>
          </a:p>
          <a:p>
            <a:pPr rtl="1" algn="r" marL="0" indent="0">
              <a:buNone/>
            </a:pPr>
            <a:r>
              <a:rPr sz="1200" lang="he-IL"/>
              <a:t>•  קודם מריצים, ורק אחר כך קוראים.</a:t>
            </a:r>
          </a:p>
          <a:p>
            <a:pPr rtl="1" algn="r" marL="0" indent="0">
              <a:buNone/>
            </a:pPr>
            <a:r>
              <a:rPr sz="1200" lang="he-IL"/>
              <a:t>•  מה לבדוק בסיור: שהסטודנטים הריצו לפני שהם מנסחים את המסמך, ושהפקודה ב־my_run מתחילה ב־python ורצה מתוך תיקיית legacy-repo.</a:t>
            </a:r>
          </a:p>
          <a:p>
            <a:pPr rtl="1" algn="r" marL="0" indent="0">
              <a:buNone/>
            </a:pPr>
            <a:r>
              <a:rPr b="1" sz="1200" lang="he-IL"/>
              <a:t>טעות נפוצה</a:t>
            </a:r>
          </a:p>
          <a:p>
            <a:pPr rtl="1" algn="r" marL="0" indent="0">
              <a:buNone/>
            </a:pPr>
            <a:r>
              <a:rPr sz="1200" lang="he-IL"/>
              <a:t>•  פקודה שמתחילה בנתיב, כמו python legacy-repo/main.py, ולכן נכשלת.</a:t>
            </a:r>
          </a:p>
          <a:p>
            <a:pPr rtl="1" algn="r" marL="0" indent="0">
              <a:buNone/>
            </a:pPr>
            <a:r>
              <a:rPr b="1" sz="1200" lang="he-IL"/>
              <a:t>שאלה לכיתה</a:t>
            </a:r>
          </a:p>
          <a:p>
            <a:pPr rtl="1" algn="r" marL="0" indent="0">
              <a:buNone/>
            </a:pPr>
            <a:r>
              <a:rPr sz="1200" lang="he-IL"/>
              <a:t>•  מה ההרצה מתיקייה אחרת לימדה אתכם שה־README לא סיפר?</a:t>
            </a:r>
          </a:p>
        </p:txBody>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שקף העשרה (אופציונלי, כ־1.5 דקות).</a:t>
            </a:r>
          </a:p>
          <a:p>
            <a:pPr rtl="1" algn="r" marL="0" indent="0">
              <a:buNone/>
            </a:pPr>
            <a:r>
              <a:rPr b="1" sz="1200" lang="he-IL"/>
              <a:t>מה אומרים</a:t>
            </a:r>
          </a:p>
          <a:p>
            <a:pPr rtl="1" algn="r" marL="0" indent="0">
              <a:buNone/>
            </a:pPr>
            <a:r>
              <a:rPr sz="1200" lang="he-IL"/>
              <a:t>•  מבחן אפיון (characterization test) הוא מושג של Michael Feathers בספרו Working Effectively with Legacy Code (2004): בדיקה שמתארת מה הקוד עושה בפועל, לא מה הוא אמור לעשות.</a:t>
            </a:r>
          </a:p>
          <a:p>
            <a:pPr rtl="1" algn="r" marL="0" indent="0">
              <a:buNone/>
            </a:pPr>
            <a:r>
              <a:rPr sz="1200" lang="he-IL"/>
              <a:t>•  Feathers מגדיר קוד ירושה (legacy code) כקוד בלי בדיקות, והמבחן נותן רשת ביטחון לפני שמשנים אותו.</a:t>
            </a:r>
          </a:p>
          <a:p>
            <a:pPr rtl="1" algn="r" marL="0" indent="0">
              <a:buNone/>
            </a:pPr>
            <a:r>
              <a:rPr sz="1200" lang="he-IL"/>
              <a:t>•  Golden master, שנקרא גם snapshot test, הוא מבחן אפיון בגרגיר גס: שומרים את כל הפלט ומשווים אליו.</a:t>
            </a:r>
          </a:p>
          <a:p>
            <a:pPr rtl="1" algn="r" marL="0" indent="0">
              <a:buNone/>
            </a:pPr>
            <a:r>
              <a:rPr sz="1200" lang="he-IL"/>
              <a:t>•  הנוהל שמתאר Feathers: כותבים בדיקה, מריצים, מגלים מה הקוד מחזיר בפועל, ושמים את הערך הזה כצפוי.</a:t>
            </a:r>
          </a:p>
          <a:p>
            <a:pPr rtl="1" algn="r" marL="0" indent="0">
              <a:buNone/>
            </a:pPr>
            <a:r>
              <a:rPr sz="1200" lang="he-IL"/>
              <a:t>•  ההבדל מבדיקה רגילה: בבדיקה רגילה אדם קובע את הצפוי לפי דרישה, ובמבחן אפיון הקוד הקיים קובע.</a:t>
            </a:r>
          </a:p>
          <a:p>
            <a:pPr rtl="1" algn="r" marL="0" indent="0">
              <a:buNone/>
            </a:pPr>
            <a:r>
              <a:rPr sz="1200" lang="he-IL"/>
              <a:t>•  לכן המבחן משמר גם באגים, וזה בכוונה כשהמטרה היא Refactoring.</a:t>
            </a:r>
          </a:p>
          <a:p>
            <a:pPr rtl="1" algn="r" marL="0" indent="0">
              <a:buNone/>
            </a:pPr>
            <a:r>
              <a:rPr sz="1200" lang="he-IL"/>
              <a:t>•  מגבלות: הוא רגיש לפלט לא דטרמיניסטי (תאריך, מספר אקראי), מכסה רק את הקלטים שהרצנו, ואינו מחליף בדיקות נכונות.</a:t>
            </a:r>
          </a:p>
          <a:p>
            <a:pPr rtl="1" algn="r" marL="0" indent="0">
              <a:buNone/>
            </a:pPr>
            <a:r>
              <a:rPr b="1" sz="1200" lang="he-IL"/>
              <a:t>קישור למעבדה</a:t>
            </a:r>
          </a:p>
          <a:p>
            <a:pPr rtl="1" algn="r" marL="0" indent="0">
              <a:buNone/>
            </a:pPr>
            <a:r>
              <a:rPr sz="1200" lang="he-IL"/>
              <a:t>•  חלק א׳, golden_snapshot ו־is_green, ותא ארבעת ה״שיפורים״ שמראה מה נשאר ירוק ומה הופך לאדום.</a:t>
            </a:r>
          </a:p>
          <a:p>
            <a:pPr rtl="1" algn="r" marL="0" indent="0">
              <a:buNone/>
            </a:pPr>
            <a:r>
              <a:rPr b="1" sz="1200" lang="he-IL"/>
              <a:t>שאלה לכיתה</a:t>
            </a:r>
          </a:p>
          <a:p>
            <a:pPr rtl="1" algn="r" marL="0" indent="0">
              <a:buNone/>
            </a:pPr>
            <a:r>
              <a:rPr sz="1200" lang="he-IL"/>
              <a:t>•  מתי תחליפו מבחן אפיון בבדיקות רגילות?</a:t>
            </a:r>
          </a:p>
          <a:p>
            <a:pPr rtl="1" algn="r" marL="0" indent="0">
              <a:buNone/>
            </a:pPr>
            <a:r>
              <a:rPr b="1" sz="1200" lang="he-IL"/>
              <a:t>תשובה</a:t>
            </a:r>
          </a:p>
          <a:p>
            <a:pPr rtl="1" algn="r" marL="0" indent="0">
              <a:buNone/>
            </a:pPr>
            <a:r>
              <a:rPr sz="1200" lang="he-IL"/>
              <a:t>•  כשמבינים מה הקוד אמור לעשות, כותבים בדיקות לפי הדרישה ומפסיקים להסתמך על הפלט הישן.</a:t>
            </a:r>
          </a:p>
          <a:p>
            <a:pPr rtl="1" algn="r" marL="0" indent="0">
              <a:buNone/>
            </a:pPr>
            <a:r>
              <a:rPr sz="1200" lang="he-IL"/>
              <a:t>•  לדלג כשחסר זמן.</a:t>
            </a:r>
          </a:p>
        </p:txBody>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שקף העשרה (אופציונלי, כ־1.5 דקות; לדלג אם הזמן קצר).</a:t>
            </a:r>
          </a:p>
          <a:p>
            <a:pPr rtl="1" algn="r" marL="0" indent="0">
              <a:buNone/>
            </a:pPr>
            <a:r>
              <a:rPr b="1" sz="1200" lang="he-IL"/>
              <a:t>מטרה</a:t>
            </a:r>
          </a:p>
          <a:p>
            <a:pPr rtl="1" algn="r" marL="0" indent="0">
              <a:buNone/>
            </a:pPr>
            <a:r>
              <a:rPr sz="1200" lang="he-IL"/>
              <a:t>•  להראות שלכל סידור קוד יש שם מקובל ומנגנון מוגדר, ושצעדי המעבדה אינם המצאה שלנו.</a:t>
            </a:r>
          </a:p>
          <a:p>
            <a:pPr rtl="1" algn="r" marL="0" indent="0">
              <a:buNone/>
            </a:pPr>
            <a:r>
              <a:rPr sz="1200" lang="he-IL"/>
              <a:t>•  Fowler (2018, מהדורה שנייה) מחזיק קטלוג של טכניקות, וגם אתר refactoring.com/catalog.</a:t>
            </a:r>
          </a:p>
          <a:p>
            <a:pPr rtl="1" algn="r" marL="0" indent="0">
              <a:buNone/>
            </a:pPr>
            <a:r>
              <a:rPr sz="1200" lang="he-IL"/>
              <a:t>•  שמות הטכניקות בשקף נבדקו מול הקטלוג המקוון: Rename Variable, Extract Function (שם קודם: Extract Method), Replace Magic Literal (שם קודם: Replace Magic Number with Symbolic Constant) ו־Split Phase, שמפרידה בלוק שעושה שני דברים לשני שלבים עוקבים.</a:t>
            </a:r>
          </a:p>
          <a:p>
            <a:pPr rtl="1" algn="r" marL="0" indent="0">
              <a:buNone/>
            </a:pPr>
            <a:r>
              <a:rPr sz="1200" lang="he-IL"/>
              <a:t>•  התאמה למעבדה: שלב 1 הוא Rename Variable.</a:t>
            </a:r>
          </a:p>
          <a:p>
            <a:pPr rtl="1" algn="r" marL="0" indent="0">
              <a:buNone/>
            </a:pPr>
            <a:r>
              <a:rPr sz="1200" lang="he-IL"/>
              <a:t>•  שלב 2 הוא Extract Function.</a:t>
            </a:r>
          </a:p>
          <a:p>
            <a:pPr rtl="1" algn="r" marL="0" indent="0">
              <a:buNone/>
            </a:pPr>
            <a:r>
              <a:rPr sz="1200" lang="he-IL"/>
              <a:t>•  שלב 3, הסרת השכפול, הוא Extract Function של הנוסחה המשותפת, והוא מממש את עקרון DRY של Hunt ו־Thomas (The Pragmatic Programmer, 1999): כל פיסת ידע מיוצגת במקום אחד.</a:t>
            </a:r>
          </a:p>
          <a:p>
            <a:pPr rtl="1" algn="r" marL="0" indent="0">
              <a:buNone/>
            </a:pPr>
            <a:r>
              <a:rPr sz="1200" lang="he-IL"/>
              <a:t>•  שלב 4 הוא Replace Magic Literal.</a:t>
            </a:r>
          </a:p>
          <a:p>
            <a:pPr rtl="1" algn="r" marL="0" indent="0">
              <a:buNone/>
            </a:pPr>
            <a:r>
              <a:rPr sz="1200" lang="he-IL"/>
              <a:t>•  ההפרדה בין חישוב להדפסה דומה ל־Split Phase, אך זו התאמה מושגית ולא זהות מלאה.</a:t>
            </a:r>
          </a:p>
          <a:p>
            <a:pPr rtl="1" algn="r" marL="0" indent="0">
              <a:buNone/>
            </a:pPr>
            <a:r>
              <a:rPr sz="1200" lang="he-IL"/>
              <a:t>•  למה זה חשוב עם AI: בקשה כללית כמו ״סדר לי את הקוד״ נותנת תוצאה בלתי צפויה, ובקשה כמו ״הפעל Extract Function על שורות 10 עד 25 בלבד״ ממוקדת וקל לבדוק אותה ב־diff.</a:t>
            </a:r>
          </a:p>
          <a:p>
            <a:pPr rtl="1" algn="r" marL="0" indent="0">
              <a:buNone/>
            </a:pPr>
            <a:r>
              <a:rPr b="1" sz="1200" lang="he-IL"/>
              <a:t>טעות נפוצה</a:t>
            </a:r>
          </a:p>
          <a:p>
            <a:pPr rtl="1" algn="r" marL="0" indent="0">
              <a:buNone/>
            </a:pPr>
            <a:r>
              <a:rPr sz="1200" lang="he-IL"/>
              <a:t>•  לחשוב שהקטלוג הוא רשימה לשינון.</a:t>
            </a:r>
          </a:p>
          <a:p>
            <a:pPr rtl="1" algn="r" marL="0" indent="0">
              <a:buNone/>
            </a:pPr>
            <a:r>
              <a:rPr sz="1200" lang="he-IL"/>
              <a:t>•  הוא אוצר מילים לבקשות ולשיחות.</a:t>
            </a:r>
          </a:p>
          <a:p>
            <a:pPr rtl="1" algn="r" marL="0" indent="0">
              <a:buNone/>
            </a:pPr>
            <a:r>
              <a:rPr b="1" sz="1200" lang="he-IL"/>
              <a:t>שאלה לכיתה</a:t>
            </a:r>
          </a:p>
          <a:p>
            <a:pPr rtl="1" algn="r" marL="0" indent="0">
              <a:buNone/>
            </a:pPr>
            <a:r>
              <a:rPr sz="1200" lang="he-IL"/>
              <a:t>•  איזו טכניקה תבקשו כדי להיפטר מהמספר 365?</a:t>
            </a:r>
          </a:p>
          <a:p>
            <a:pPr rtl="1" algn="r" marL="0" indent="0">
              <a:buNone/>
            </a:pPr>
            <a:r>
              <a:rPr b="1" sz="1200" lang="he-IL"/>
              <a:t>תשובה</a:t>
            </a:r>
          </a:p>
          <a:p>
            <a:pPr rtl="1" algn="r" marL="0" indent="0">
              <a:buNone/>
            </a:pPr>
            <a:r>
              <a:rPr sz="1200" lang="he-IL"/>
              <a:t>•  Replace Magic Literal.</a:t>
            </a:r>
          </a:p>
        </p:txBody>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בדיקת מוכנות לפרויקט (כשתי דקות).</a:t>
            </a:r>
          </a:p>
          <a:p>
            <a:pPr rtl="1" algn="r" marL="0" indent="0">
              <a:buNone/>
            </a:pPr>
            <a:r>
              <a:rPr b="1" sz="1200" lang="he-IL"/>
              <a:t>מה אומרים</a:t>
            </a:r>
          </a:p>
          <a:p>
            <a:pPr rtl="1" algn="r" marL="0" indent="0">
              <a:buNone/>
            </a:pPr>
            <a:r>
              <a:rPr sz="1200" lang="he-IL"/>
              <a:t>•  הרשימה מרכזת את תוצרי שיעורים 5 עד 11: כלי נבחר ויומן AI, מאגר עם commits של כולם (שיעור 6), מפרט ו־API או נתונים (7), בדיקות לפונקציית הליבה (8), יומן באגים ותחקיר (9), כרטיס אבטחה (10), README ומסמך העברה (11).</a:t>
            </a:r>
          </a:p>
          <a:p>
            <a:pPr rtl="1" algn="r" marL="0" indent="0">
              <a:buNone/>
            </a:pPr>
            <a:r>
              <a:rPr sz="1200" lang="he-IL"/>
              <a:t>•  כל קבוצה עוברת על הרשימה ומסמנת.</a:t>
            </a:r>
          </a:p>
          <a:p>
            <a:pPr rtl="1" algn="r" marL="0" indent="0">
              <a:buNone/>
            </a:pPr>
            <a:r>
              <a:rPr sz="1200" lang="he-IL"/>
              <a:t>•  מה לבדוק: שכל קבוצה יודעת מה חסר לה ומה הפעולה הבאה.</a:t>
            </a:r>
          </a:p>
          <a:p>
            <a:pPr rtl="1" algn="r" marL="0" indent="0">
              <a:buNone/>
            </a:pPr>
            <a:r>
              <a:rPr b="1" sz="1200" lang="he-IL"/>
              <a:t>שאלה לכיתה</a:t>
            </a:r>
          </a:p>
          <a:p>
            <a:pPr rtl="1" algn="r" marL="0" indent="0">
              <a:buNone/>
            </a:pPr>
            <a:r>
              <a:rPr sz="1200" lang="he-IL"/>
              <a:t>•  איזה סעיף הכי חסר?</a:t>
            </a:r>
          </a:p>
          <a:p>
            <a:pPr rtl="1" algn="r" marL="0" indent="0">
              <a:buNone/>
            </a:pPr>
            <a:r>
              <a:rPr sz="1200" lang="he-IL"/>
              <a:t>•  בדרך כלל בדיקות או כרטיס אבטחה.</a:t>
            </a:r>
          </a:p>
          <a:p>
            <a:pPr rtl="1" algn="r" marL="0" indent="0">
              <a:buNone/>
            </a:pPr>
            <a:r>
              <a:rPr sz="1200" lang="he-IL"/>
              <a:t>•  הדגישו שהשיעור הבא עוסק בפריסה, ולכן ה־README חייב להיות נכון.</a:t>
            </a:r>
          </a:p>
          <a:p>
            <a:pPr rtl="1" algn="r" marL="0" indent="0">
              <a:buNone/>
            </a:pPr>
            <a:r>
              <a:rPr sz="1200" lang="he-IL"/>
              <a:t>•  לא מתחילים משימות חדשות עכשיו, רק מזהים פערים.</a:t>
            </a:r>
          </a:p>
          <a:p>
            <a:pPr rtl="1" algn="r" marL="0" indent="0">
              <a:buNone/>
            </a:pPr>
            <a:r>
              <a:rPr b="1" sz="1200" lang="he-IL"/>
              <a:t>חיבור לשיעורים קודמים</a:t>
            </a:r>
          </a:p>
          <a:p>
            <a:pPr rtl="1" algn="r" marL="0" indent="0">
              <a:buNone/>
            </a:pPr>
            <a:r>
              <a:rPr sz="1200" lang="he-IL"/>
              <a:t>•  הרשימה היא שרשרת תוצרי הקורס, כל שורה מפגש אחד: כלי ויומן AI (5), מאגר ו־commits (6), מפרט ו־API (7), בדיקות (8), יומן באגים (9), כרטיס אבטחה (10), README ומסמך העברה (11).</a:t>
            </a:r>
          </a:p>
          <a:p>
            <a:pPr rtl="1" algn="r" marL="0" indent="0">
              <a:buNone/>
            </a:pPr>
            <a:r>
              <a:rPr sz="1200" lang="he-IL"/>
              <a:t>•  במפגש 12 היא הופכת לצ׳קליסט לפני חשיפה, ולכן שורת מפגש 11 צריכה להיות מלאה היום.</a:t>
            </a:r>
          </a:p>
        </p:txBody>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הכלל של השיעור: משנים מבנה רק כשהבדיקות ירוקות ובצעדים קטנים, ובקוד של מישהו אחר קודם מריצים ואחר כך קוראים.</a:t>
            </a:r>
          </a:p>
          <a:p>
            <a:pPr rtl="1" algn="r" marL="0" indent="0">
              <a:buNone/>
            </a:pPr>
            <a:r>
              <a:rPr b="1" sz="1200" lang="he-IL"/>
              <a:t>מה אומרים</a:t>
            </a:r>
          </a:p>
          <a:p>
            <a:pPr rtl="1" algn="r" marL="0" indent="0">
              <a:buNone/>
            </a:pPr>
            <a:r>
              <a:rPr sz="1200" lang="he-IL"/>
              <a:t>•  הקריאו אותו בקול ובקשו מהכיתה לחזור עליו.</a:t>
            </a:r>
          </a:p>
          <a:p>
            <a:pPr rtl="1" algn="r" marL="0" indent="0">
              <a:buNone/>
            </a:pPr>
            <a:r>
              <a:rPr b="1" sz="1200" lang="he-IL"/>
              <a:t>אנלוגיה</a:t>
            </a:r>
          </a:p>
          <a:p>
            <a:pPr rtl="1" algn="r" marL="0" indent="0">
              <a:buNone/>
            </a:pPr>
            <a:r>
              <a:rPr sz="1200" lang="he-IL"/>
              <a:t>•  שינוי בקו ייצור רק כשיש בקרת איכות שמראה שהקו תקין, ובשלבים קטנים.</a:t>
            </a:r>
          </a:p>
          <a:p>
            <a:pPr rtl="1" algn="r" marL="0" indent="0">
              <a:buNone/>
            </a:pPr>
            <a:r>
              <a:rPr b="1" sz="1200" lang="he-IL"/>
              <a:t>שאלה לכיתה</a:t>
            </a:r>
          </a:p>
          <a:p>
            <a:pPr rtl="1" algn="r" marL="0" indent="0">
              <a:buNone/>
            </a:pPr>
            <a:r>
              <a:rPr sz="1200" lang="he-IL"/>
              <a:t>•  מה יקרה אם נעשה Refactoring בלי בדיקות?</a:t>
            </a:r>
          </a:p>
          <a:p>
            <a:pPr rtl="1" algn="r" marL="0" indent="0">
              <a:buNone/>
            </a:pPr>
            <a:r>
              <a:rPr b="1" sz="1200" lang="he-IL"/>
              <a:t>תשובה</a:t>
            </a:r>
          </a:p>
          <a:p>
            <a:pPr rtl="1" algn="r" marL="0" indent="0">
              <a:buNone/>
            </a:pPr>
            <a:r>
              <a:rPr sz="1200" lang="he-IL"/>
              <a:t>•  נוכל לשבור משהו ולא נדע.</a:t>
            </a:r>
          </a:p>
          <a:p>
            <a:pPr rtl="1" algn="r" marL="0" indent="0">
              <a:buNone/>
            </a:pPr>
            <a:r>
              <a:rPr sz="1200" lang="he-IL"/>
              <a:t>•  הוסיפו: ה־AI יכול לעזור, אבל האחריות לבדיקות ולקריאת ה־diff נשארת אצלנו.</a:t>
            </a:r>
          </a:p>
          <a:p>
            <a:pPr rtl="1" algn="r" marL="0" indent="0">
              <a:buNone/>
            </a:pPr>
            <a:r>
              <a:rPr sz="1200" lang="he-IL"/>
              <a:t>•  הכלל מחבר את שיעורים 6 (Git) ו־8 (בדיקות) לשיעור הזה.</a:t>
            </a:r>
          </a:p>
          <a:p>
            <a:pPr rtl="1" algn="r" marL="0" indent="0">
              <a:buNone/>
            </a:pPr>
            <a:r>
              <a:rPr sz="1200" lang="he-IL"/>
              <a:t>•  עוברים לחידון של חמש דקות.</a:t>
            </a:r>
          </a:p>
          <a:p>
            <a:pPr rtl="1" algn="r" marL="0" indent="0">
              <a:buNone/>
            </a:pPr>
            <a:r>
              <a:rPr sz="1200" lang="he-IL"/>
              <a:t>•  הכלל של היום נוסף לשרשרת (השורה הקטנה בתחתית השקף): commit לפני (מפגש 6), בדיקה ירוקה (8), בדיקת רגרסיה (9), בלי סודות (10).</a:t>
            </a:r>
          </a:p>
          <a:p>
            <a:pPr rtl="1" algn="r" marL="0" indent="0">
              <a:buNone/>
            </a:pPr>
            <a:r>
              <a:rPr b="1" sz="1200" lang="he-IL"/>
              <a:t>שאלה לכיתה</a:t>
            </a:r>
          </a:p>
          <a:p>
            <a:pPr rtl="1" algn="r" marL="0" indent="0">
              <a:buNone/>
            </a:pPr>
            <a:r>
              <a:rPr sz="1200" lang="he-IL"/>
              <a:t>•  מי זוכר את הכלל של מפגש 8?</a:t>
            </a:r>
          </a:p>
          <a:p>
            <a:pPr rtl="1" algn="r" marL="0" indent="0">
              <a:buNone/>
            </a:pPr>
            <a:r>
              <a:rPr b="1" sz="1200" lang="he-IL"/>
              <a:t>תשובה</a:t>
            </a:r>
          </a:p>
          <a:p>
            <a:pPr rtl="1" algn="r" marL="0" indent="0">
              <a:buNone/>
            </a:pPr>
            <a:r>
              <a:rPr sz="1200" lang="he-IL"/>
              <a:t>•  קוד בלי בדיקה הוא השערה, ובדיקה שלא ראיתם נכשלת היא השערה.</a:t>
            </a:r>
          </a:p>
          <a:p>
            <a:pPr rtl="1" algn="r" marL="0" indent="0">
              <a:buNone/>
            </a:pPr>
            <a:r>
              <a:rPr sz="1200" lang="he-IL"/>
              <a:t>•  ושל מפגש 6? commit לפני, diff אחרי.</a:t>
            </a:r>
          </a:p>
          <a:p>
            <a:pPr rtl="1" algn="r" marL="0" indent="0">
              <a:buNone/>
            </a:pPr>
            <a:r>
              <a:rPr sz="1200" lang="he-IL"/>
              <a:t>•  הכלל של היום משלב אותם: משנים מבנה רק כשהכול ירוק, בצעדים קטנים.</a:t>
            </a:r>
          </a:p>
          <a:p>
            <a:pPr rtl="1" algn="r" marL="0" indent="0">
              <a:buNone/>
            </a:pPr>
            <a:r>
              <a:rPr sz="1200" lang="he-IL"/>
              <a:t>•  ומפגש 1 עדיין חל: סומכים, אבל בודקים.</a:t>
            </a:r>
          </a:p>
        </p:txBody>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חידון סיום (5 דקות).</a:t>
            </a:r>
          </a:p>
          <a:p>
            <a:pPr rtl="1" algn="r" marL="0" indent="0">
              <a:buNone/>
            </a:pPr>
            <a:r>
              <a:rPr b="1" sz="1200" lang="he-IL"/>
              <a:t>מה אומרים</a:t>
            </a:r>
          </a:p>
          <a:p>
            <a:pPr rtl="1" algn="r" marL="0" indent="0">
              <a:buNone/>
            </a:pPr>
            <a:r>
              <a:rPr sz="1200" lang="he-IL"/>
              <a:t>•  הקריאו שאלה אחרי שאלה; אפשר בזוגות או בהצבעת יד, וחצי דקה לכל שאלה.</a:t>
            </a:r>
          </a:p>
          <a:p>
            <a:pPr rtl="1" algn="r" marL="0" indent="0">
              <a:buNone/>
            </a:pPr>
            <a:r>
              <a:rPr sz="1200" lang="he-IL"/>
              <a:t>•  החמש שאלות מכסות: הגדרה (Fowler), רשת הביטחון, שכבות ו־API, קנה מידה וקליטת קוד זר.</a:t>
            </a:r>
          </a:p>
          <a:p>
            <a:pPr rtl="1" algn="r" marL="0" indent="0">
              <a:buNone/>
            </a:pPr>
            <a:r>
              <a:rPr sz="1200" lang="he-IL"/>
              <a:t>•  אל תחשפו תשובות לפני שהוצעו כמה תשובות.</a:t>
            </a:r>
          </a:p>
          <a:p>
            <a:pPr rtl="1" algn="r" marL="0" indent="0">
              <a:buNone/>
            </a:pPr>
            <a:r>
              <a:rPr sz="1200" lang="he-IL"/>
              <a:t>•  אם חסר זמן, עברו על שלוש שאלות לפי בחירתכם.</a:t>
            </a:r>
          </a:p>
          <a:p>
            <a:pPr rtl="1" algn="r" marL="0" indent="0">
              <a:buNone/>
            </a:pPr>
            <a:r>
              <a:rPr sz="1200" lang="he-IL"/>
              <a:t>•  השאלות משמשות גם כבנק שאלות לחזרה.</a:t>
            </a:r>
          </a:p>
        </p:txBody>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200" lang="he-IL"/>
              <a:t>תשובה</a:t>
            </a:r>
          </a:p>
          <a:p>
            <a:pPr rtl="1" algn="r" marL="0" indent="0">
              <a:buNone/>
            </a:pPr>
            <a:r>
              <a:rPr sz="1200" lang="he-IL"/>
              <a:t>•  Refactoring הוא שינוי מבנה בלי שינוי התנהגות (Fowler, 2018).</a:t>
            </a:r>
          </a:p>
          <a:p>
            <a:pPr rtl="1" algn="r" marL="0" indent="0">
              <a:buNone/>
            </a:pPr>
            <a:r>
              <a:rPr sz="1200" lang="he-IL"/>
              <a:t>•  רשת הביטחון: בדיקות ירוקות ו־commit לפני כל צעד, ו־golden master אם אין בדיקות.</a:t>
            </a:r>
          </a:p>
          <a:p>
            <a:pPr rtl="1" algn="r" marL="0" indent="0">
              <a:buNone/>
            </a:pPr>
            <a:r>
              <a:rPr sz="1200" lang="he-IL"/>
              <a:t>•  ערבוב חישוב והדפסה: קשה לבדוק ולשנות, ולכן מפרידים לשכבות.</a:t>
            </a:r>
          </a:p>
          <a:p>
            <a:pPr rtl="1" algn="r" marL="0" indent="0">
              <a:buNone/>
            </a:pPr>
            <a:r>
              <a:rPr sz="1200" lang="he-IL"/>
              <a:t>•  קנה מידה: בדוגמת scale_demo לולאה על 300,000 שורות לקחה 3.8 שניות לעומת פחות מאלפית שנייה לפעולה על עמודה; המספרים תלויים במחשב.</a:t>
            </a:r>
          </a:p>
          <a:p>
            <a:pPr rtl="1" algn="r" marL="0" indent="0">
              <a:buNone/>
            </a:pPr>
            <a:r>
              <a:rPr sz="1200" lang="he-IL"/>
              <a:t>•  קליטת קוד: README והרצה, מיפוי מבנה ונקודת כניסה ומעקב אחר זרימה אחת.</a:t>
            </a:r>
          </a:p>
          <a:p>
            <a:pPr rtl="1" algn="r" marL="0" indent="0">
              <a:buNone/>
            </a:pPr>
            <a:r>
              <a:rPr sz="1200" lang="he-IL"/>
              <a:t>•  אם רבים שגו, חזרו לשקף הרלוונטי.</a:t>
            </a:r>
          </a:p>
          <a:p>
            <a:pPr rtl="1" algn="r" marL="0" indent="0">
              <a:buNone/>
            </a:pPr>
            <a:r>
              <a:rPr sz="1200" lang="he-IL"/>
              <a:t>•  אם נשאר זמן: שאלת העמקה (לא בחידון) - מה ההבדל בין בדיקה רגילה למבחן אפיון?</a:t>
            </a:r>
          </a:p>
          <a:p>
            <a:pPr rtl="1" algn="r" marL="0" indent="0">
              <a:buNone/>
            </a:pPr>
            <a:r>
              <a:rPr sz="1200" lang="he-IL"/>
              <a:t>•  (ראו שקף ההעשרה).</a:t>
            </a:r>
          </a:p>
          <a:p>
            <a:pPr rtl="1" algn="r" marL="0" indent="0">
              <a:buNone/>
            </a:pPr>
            <a:r>
              <a:rPr sz="1200" lang="he-IL"/>
              <a:t>•  ומה ההבדל בין ארכיטקטורה לעיצוב?</a:t>
            </a:r>
          </a:p>
        </p:txBody>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סיכום (כשתי דקות).</a:t>
            </a:r>
          </a:p>
          <a:p>
            <a:pPr rtl="1" algn="r" marL="0" indent="0">
              <a:buNone/>
            </a:pPr>
            <a:r>
              <a:rPr b="1" sz="1200" lang="he-IL"/>
              <a:t>מה אומרים</a:t>
            </a:r>
          </a:p>
          <a:p>
            <a:pPr rtl="1" algn="r" marL="0" indent="0">
              <a:buNone/>
            </a:pPr>
            <a:r>
              <a:rPr sz="1200" lang="he-IL"/>
              <a:t>•  עברו על ארבע הנקודות וחברו כל אחת לשקף: Refactoring הוא אותו פלט עם מבנה טוב יותר, בצעדים קטנים עם בדיקות ו־commit; שלוש שכבות עם תלות בכיוון אחד ו־API ברור לכל פונקציה; קנה מידה, כלומר 3,000 שורות מול 300,000; וקליטת קוד זר בחמישה צעדים.</a:t>
            </a:r>
          </a:p>
          <a:p>
            <a:pPr rtl="1" algn="r" marL="0" indent="0">
              <a:buNone/>
            </a:pPr>
            <a:r>
              <a:rPr sz="1200" lang="he-IL"/>
              <a:t>•  בקשו מכל סטודנט להשלים משפט: הדבר שאקח איתי מהשיעור הוא...</a:t>
            </a:r>
          </a:p>
          <a:p>
            <a:pPr rtl="1" algn="r" marL="0" indent="0">
              <a:buNone/>
            </a:pPr>
            <a:r>
              <a:rPr sz="1200" lang="he-IL"/>
              <a:t>•  חזרו על הקשרים לשיעורים אחרים: Git (6), שכבות ו־API (7), בדיקות (8), הקשר ו־AGENTS.md (2 ו־4).</a:t>
            </a:r>
          </a:p>
          <a:p>
            <a:pPr rtl="1" algn="r" marL="0" indent="0">
              <a:buNone/>
            </a:pPr>
            <a:r>
              <a:rPr sz="1200" lang="he-IL"/>
              <a:t>•  הדגישו שהמחברת HM_11 היא תרגול, והצעד הבא הוא לעשות אותו דבר בפרויקט הקבוצתי: golden לפני שינוי מבנה, מדידה לפני ייעול, ומסמך העברה אמיתי.</a:t>
            </a:r>
          </a:p>
          <a:p>
            <a:pPr rtl="1" algn="r" marL="0" indent="0">
              <a:buNone/>
            </a:pPr>
            <a:r>
              <a:rPr sz="1200" lang="he-IL"/>
              <a:t>•  חיבור קדימה ואחורה: הכלל של היום נוסף לשרשרת, ומחבר את מפגש 6 (commit לפני, diff אחרי), מפגש 8 (בדיקות כרשת ביטחון), מפגש 9 (בדיקת רגרסיה) ומפגש 10 (בלי סודות; מה אסור להדביק ל־AI).</a:t>
            </a:r>
          </a:p>
          <a:p>
            <a:pPr rtl="1" algn="r" marL="0" indent="0">
              <a:buNone/>
            </a:pPr>
            <a:r>
              <a:rPr sz="1200" lang="he-IL"/>
              <a:t>•  שאלו כל סטודנט איזה קישור היה הכי מפתיע.</a:t>
            </a:r>
          </a:p>
          <a:p>
            <a:pPr rtl="1" algn="r" marL="0" indent="0">
              <a:buNone/>
            </a:pPr>
            <a:r>
              <a:rPr sz="1200" lang="he-IL"/>
              <a:t>•  קדימה: בשיעור הבא ה־README ומסמך ההעברה נכנסים לצ׳קליסט לפני חשיפה.</a:t>
            </a:r>
          </a:p>
        </p:txBody>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הכנה לשיעור הבא.</a:t>
            </a:r>
          </a:p>
          <a:p>
            <a:pPr rtl="1" algn="r" marL="0" indent="0">
              <a:buNone/>
            </a:pPr>
            <a:r>
              <a:rPr b="1" sz="1200" lang="he-IL"/>
              <a:t>מה אומרים</a:t>
            </a:r>
          </a:p>
          <a:p>
            <a:pPr rtl="1" algn="r" marL="0" indent="0">
              <a:buNone/>
            </a:pPr>
            <a:r>
              <a:rPr sz="1200" lang="he-IL"/>
              <a:t>•  שלוש משימות: להשלים README ומסמך העברה לפרויקט, לעבור על בדיקת המוכנות עם הקבוצה, ולחשוב איך הפרויקט יעלה לאוויר.</a:t>
            </a:r>
          </a:p>
          <a:p>
            <a:pPr rtl="1" algn="r" marL="0" indent="0">
              <a:buNone/>
            </a:pPr>
            <a:r>
              <a:rPr sz="1200" lang="he-IL"/>
              <a:t>•  השיעור הבא: Deployment, אתיקה ומשפט, כלומר מהקוד לעולם האמיתי: פריסה, זכויות יוצרים ומדיניות ארגונית.</a:t>
            </a:r>
          </a:p>
          <a:p>
            <a:pPr rtl="1" algn="r" marL="0" indent="0">
              <a:buNone/>
            </a:pPr>
            <a:r>
              <a:rPr b="1" sz="1200" lang="he-IL"/>
              <a:t>שאלה לכיתה</a:t>
            </a:r>
          </a:p>
          <a:p>
            <a:pPr rtl="1" algn="r" marL="0" indent="0">
              <a:buNone/>
            </a:pPr>
            <a:r>
              <a:rPr sz="1200" lang="he-IL"/>
              <a:t>•  מה צריך כדי שמישהו אחר יריץ את הפרויקט שלכם על מחשב אחר?</a:t>
            </a:r>
          </a:p>
          <a:p>
            <a:pPr rtl="1" algn="r" marL="0" indent="0">
              <a:buNone/>
            </a:pPr>
            <a:r>
              <a:rPr b="1" sz="1200" lang="he-IL"/>
              <a:t>תשובה</a:t>
            </a:r>
          </a:p>
          <a:p>
            <a:pPr rtl="1" algn="r" marL="0" indent="0">
              <a:buNone/>
            </a:pPr>
            <a:r>
              <a:rPr sz="1200" lang="he-IL"/>
              <a:t>•  הוראות הרצה, תלויות והגדרות.</a:t>
            </a:r>
          </a:p>
          <a:p>
            <a:pPr rtl="1" algn="r" marL="0" indent="0">
              <a:buNone/>
            </a:pPr>
            <a:r>
              <a:rPr sz="1200" lang="he-IL"/>
              <a:t>•  זה מתחבר ישירות ל־README שכתבתם היום.</a:t>
            </a:r>
          </a:p>
          <a:p>
            <a:pPr rtl="1" algn="r" marL="0" indent="0">
              <a:buNone/>
            </a:pPr>
            <a:r>
              <a:rPr sz="1200" lang="he-IL"/>
              <a:t>•  מומלץ לא להוסיף פיצ׳רים לפני השיעור הבא, אלא לתקן ולהבהיר.</a:t>
            </a:r>
          </a:p>
          <a:p>
            <a:pPr rtl="1" algn="r" marL="0" indent="0">
              <a:buNone/>
            </a:pPr>
            <a:r>
              <a:rPr sz="1200" lang="he-IL"/>
              <a:t>•  הזכירו להביא את הפרויקט ופרטי המאגר.</a:t>
            </a:r>
          </a:p>
          <a:p>
            <a:pPr rtl="1" algn="r" marL="0" indent="0">
              <a:buNone/>
            </a:pPr>
            <a:r>
              <a:rPr sz="1200" lang="he-IL"/>
              <a:t>•  מי שלא סיים את החלקים המומלצים במחברת HM_11 (חלק ב׳ שלבים 4 ו־5, חלק ד׳ שלב 3) משלים אותם בבית, ומגיש את הקובץ אחרי Restart session and run all.</a:t>
            </a:r>
          </a:p>
          <a:p>
            <a:pPr rtl="1" algn="r" marL="0" indent="0">
              <a:buNone/>
            </a:pPr>
            <a:r>
              <a:rPr sz="1200" lang="he-IL"/>
              <a:t>•  חיבור קדימה: בשיעור הבא (מפגש 12) הצ׳קליסט לפני חשיפה מחבר את כל הקורס, ובקבוצת האיכות שלו יש בדיקות ירוקות, README ומסמך העברה, ובקבוצת האבטחה כרטיס האבטחה ממפגש 10.</a:t>
            </a:r>
          </a:p>
          <a:p>
            <a:pPr rtl="1" algn="r" marL="0" indent="0">
              <a:buNone/>
            </a:pPr>
            <a:r>
              <a:rPr sz="1200" lang="he-IL"/>
              <a:t>•  לכן מה שמשלימים היום משמש מיד בשבוע הבא.</a:t>
            </a:r>
          </a:p>
          <a:p>
            <a:pPr rtl="1" algn="r" marL="0" indent="0">
              <a:buNone/>
            </a:pPr>
            <a:r>
              <a:rPr b="1" sz="1200" lang="he-IL"/>
              <a:t>שאלה לכיתה</a:t>
            </a:r>
          </a:p>
          <a:p>
            <a:pPr rtl="1" algn="r" marL="0" indent="0">
              <a:buNone/>
            </a:pPr>
            <a:r>
              <a:rPr sz="1200" lang="he-IL"/>
              <a:t>•  איזה סעיף מהצ׳קליסט הכי חסר לכם עכשיו?</a:t>
            </a:r>
          </a:p>
          <a:p>
            <a:pPr rtl="1" algn="r" marL="0" indent="0">
              <a:buNone/>
            </a:pPr>
            <a:r>
              <a:rPr sz="1200" lang="he-IL"/>
              <a:t>•  ואם אין להם README אמיתי, זה הזמן להשלים.</a:t>
            </a:r>
          </a:p>
        </p:txBody>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איך עובדים עם המחברת, כדקה וחצי, בתחילת מעבדה א׳.</a:t>
            </a:r>
          </a:p>
          <a:p>
            <a:pPr rtl="1" algn="r" marL="0" indent="0">
              <a:buNone/>
            </a:pPr>
            <a:r>
              <a:rPr b="1" sz="1200" lang="he-IL"/>
              <a:t>מה אומרים</a:t>
            </a:r>
          </a:p>
          <a:p>
            <a:pPr rtl="1" algn="r" marL="0" indent="0">
              <a:buNone/>
            </a:pPr>
            <a:r>
              <a:rPr sz="1200" lang="he-IL"/>
              <a:t>•  השקף הזה חוזר, בגרסה דומה, בכל מפגש, ולכן שווה להזכיר אותו גם כאן.</a:t>
            </a:r>
          </a:p>
          <a:p>
            <a:pPr rtl="1" algn="r" marL="0" indent="0">
              <a:buNone/>
            </a:pPr>
            <a:r>
              <a:rPr sz="1200" lang="he-IL"/>
              <a:t>•  שלושה כללים.</a:t>
            </a:r>
          </a:p>
          <a:p>
            <a:pPr rtl="1" algn="r" marL="0" indent="0">
              <a:buNone/>
            </a:pPr>
            <a:r>
              <a:rPr sz="1200" lang="he-IL"/>
              <a:t>•  אחד: ממלאים את הפונקציות שמסומנות TODO בעצמכם, בלי כלי AI, כי המטרה היא להבין את התהליך ולא לקבל קוד.</a:t>
            </a:r>
          </a:p>
          <a:p>
            <a:pPr rtl="1" algn="r" marL="0" indent="0">
              <a:buNone/>
            </a:pPr>
            <a:r>
              <a:rPr sz="1200" lang="he-IL"/>
              <a:t>•  החריג היחיד הוא שלב 5 בחלק ב׳, שהוא ניסוי עם עוזר AI.</a:t>
            </a:r>
          </a:p>
          <a:p>
            <a:pPr rtl="1" algn="r" marL="0" indent="0">
              <a:buNone/>
            </a:pPr>
            <a:r>
              <a:rPr sz="1200" lang="he-IL"/>
              <a:t>•  שניים: אחרי כל פונקציה יש תא בדיקה, וכשהוא נכון מודפס ✓, וכשלא מודפסת הודעה שמכוונת.</a:t>
            </a:r>
          </a:p>
          <a:p>
            <a:pPr rtl="1" algn="r" marL="0" indent="0">
              <a:buNone/>
            </a:pPr>
            <a:r>
              <a:rPr sz="1200" lang="he-IL"/>
              <a:t>•  שלושה: לפני כל מדידה או הרצה מפתיעה כותבים תחזית, ובסוף כל חלק עונים על שאלות ניתוח.</a:t>
            </a:r>
          </a:p>
          <a:p>
            <a:pPr rtl="1" algn="r" marL="0" indent="0">
              <a:buNone/>
            </a:pPr>
            <a:r>
              <a:rPr sz="1200" lang="he-IL"/>
              <a:t>•  תחזית שגויה עם ניתוח טוב שווה יותר מתחזית נכונה בלי הסבר.</a:t>
            </a:r>
          </a:p>
          <a:p>
            <a:pPr rtl="1" algn="r" marL="0" indent="0">
              <a:buNone/>
            </a:pPr>
            <a:r>
              <a:rPr sz="1200" lang="he-IL"/>
              <a:t>•  נקודה חשובה במחברת הזו: יש תא מנוע מוסתר בחלק ב׳, ולכן צריך להריץ את כל התאים לפי הסדר; מי שעשה Restart בלי Run all יקבל שגיאה ש־refactor_step_check לא מוגדר.</a:t>
            </a:r>
          </a:p>
          <a:p>
            <a:pPr rtl="1" algn="r" marL="0" indent="0">
              <a:buNone/>
            </a:pPr>
            <a:r>
              <a:rPr b="1" sz="1200" lang="he-IL"/>
              <a:t>הגשה</a:t>
            </a:r>
          </a:p>
          <a:p>
            <a:pPr rtl="1" algn="r" marL="0" indent="0">
              <a:buNone/>
            </a:pPr>
            <a:r>
              <a:rPr sz="1200" lang="he-IL"/>
              <a:t>•  Restart session and run all, ואז Download .ipynb.</a:t>
            </a:r>
          </a:p>
        </p:txBody>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מה אמור לצאת במעבדה א׳, כדקה, לשימוש בזמן הסיור בין הזוגות.</a:t>
            </a:r>
          </a:p>
          <a:p>
            <a:pPr rtl="1" algn="r" marL="0" indent="0">
              <a:buNone/>
            </a:pPr>
            <a:r>
              <a:rPr b="1" sz="1200" lang="he-IL"/>
              <a:t>מה אומרים</a:t>
            </a:r>
          </a:p>
          <a:p>
            <a:pPr rtl="1" algn="r" marL="0" indent="0">
              <a:buNone/>
            </a:pPr>
            <a:r>
              <a:rPr sz="1200" lang="he-IL"/>
              <a:t>•  אחרי חלק א׳ כולם צריכים לראות ✓ על שני השלבים, והקובץ expected_output.txt נוצר (חלק ב׳ תלוי בו, ובלעדיו המנוע מדפיס שצריך לחזור לחלק א׳).</a:t>
            </a:r>
          </a:p>
          <a:p>
            <a:pPr rtl="1" algn="r" marL="0" indent="0">
              <a:buNone/>
            </a:pPr>
            <a:r>
              <a:rPr sz="1200" lang="he-IL"/>
              <a:t>•  בתא ההדגמה: שינוי שם העמודה rop והערות ושורות ריקות נשארים ירוקים, ואילו ימי ביטחון 3 ל־2 ועיגול ההכנסות לשתי ספרות נותנים אדום.</a:t>
            </a:r>
          </a:p>
          <a:p>
            <a:pPr rtl="1" algn="r" marL="0" indent="0">
              <a:buNone/>
            </a:pPr>
            <a:r>
              <a:rPr sz="1200" lang="he-IL"/>
              <a:t>•  הפלט הנעול כולל 57 התראות מלאי נמוך, והמוצר הראשון בטבלת המוצרים המובילים הוא Plant Pot Plus עם 33596.</a:t>
            </a:r>
          </a:p>
          <a:p>
            <a:pPr rtl="1" algn="r" marL="0" indent="0">
              <a:buNone/>
            </a:pPr>
            <a:r>
              <a:rPr sz="1200" lang="he-IL"/>
              <a:t>•  בחלק ב׳ שימו לב מי ״מתקן קדימה״ אחרי אדום: המנוע לא שומר צעד אדום, וזו נקודת ההוראה.</a:t>
            </a:r>
          </a:p>
          <a:p>
            <a:pPr rtl="1" algn="r" marL="0" indent="0">
              <a:buNone/>
            </a:pPr>
            <a:r>
              <a:rPr sz="1200" lang="he-IL"/>
              <a:t>•  בסוף החלק רשימת ה־commits בפתרון היא 7 (Start, חמישה צעדים ו־Final), ומי שדילג על שלבים 4 ו־5 יקבל פחות.</a:t>
            </a:r>
          </a:p>
          <a:p>
            <a:pPr rtl="1" algn="r" marL="0" indent="0">
              <a:buNone/>
            </a:pPr>
            <a:r>
              <a:rPr sz="1200" lang="he-IL"/>
              <a:t>•  בצעד ה־AI בודקים עקביות: accepted רק אם ה־golden ירוק, וכלי ששינה גם את סדר העמודות או הנוסחה יוצא אדום.</a:t>
            </a:r>
          </a:p>
          <a:p>
            <a:pPr rtl="1" algn="r" marL="0" indent="0">
              <a:buNone/>
            </a:pPr>
            <a:r>
              <a:rPr sz="1200" lang="he-IL"/>
              <a:t>•  בקשו מכמה סטודנטים להקריא את ה־diff.</a:t>
            </a:r>
          </a:p>
          <a:p>
            <a:pPr rtl="1" algn="r" marL="0" indent="0">
              <a:buNone/>
            </a:pPr>
            <a:r>
              <a:rPr sz="1200" lang="he-IL"/>
              <a:t>•  ירוק מוכיח זהות פלט על הנתונים האלה בלבד.</a:t>
            </a:r>
          </a:p>
          <a:p>
            <a:pPr rtl="1" algn="r" marL="0" indent="0">
              <a:buNone/>
            </a:pPr>
            <a:r>
              <a:rPr b="1" sz="1200" lang="he-IL"/>
              <a:t>חיבור לשיעורים קודמים</a:t>
            </a:r>
          </a:p>
          <a:p>
            <a:pPr rtl="1" algn="r" marL="0" indent="0">
              <a:buNone/>
            </a:pPr>
            <a:r>
              <a:rPr sz="1200" lang="he-IL"/>
              <a:t>•  ״ירוק פירושו לא שברנו, לא נכון״ מבדיל בין ה־golden לבדיקה ממפגש 8: שם הציפייה בא ממפרט, כאן הציפייה היא הפלט הקיים, כולל באגים קיימים.</a:t>
            </a:r>
          </a:p>
          <a:p>
            <a:pPr rtl="1" algn="r" marL="0" indent="0">
              <a:buNone/>
            </a:pPr>
            <a:r>
              <a:rPr sz="1200" lang="he-IL"/>
              <a:t>•  סטודנט שראה אדום קיבל בדיוק את מה שמפגשים 6 ו־8 נועדו לתת: מבטלים את הצעד האחרון ומנסים צעד קטן יותר, ולא מתקנים על גבי תקלה.</a:t>
            </a:r>
          </a:p>
        </p:txBody>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מה אמור לצאת במעבדה ב׳, כדקה, לשימוש בזמן הסיור.</a:t>
            </a:r>
          </a:p>
          <a:p>
            <a:pPr rtl="1" algn="r" marL="0" indent="0">
              <a:buNone/>
            </a:pPr>
            <a:r>
              <a:rPr b="1" sz="1200" lang="he-IL"/>
              <a:t>מה אומרים</a:t>
            </a:r>
          </a:p>
          <a:p>
            <a:pPr rtl="1" algn="r" marL="0" indent="0">
              <a:buNone/>
            </a:pPr>
            <a:r>
              <a:rPr sz="1200" lang="he-IL"/>
              <a:t>•  בהרצה של הפתרון: ב־1,000 שורות totals_slow לקחה כ־0.0033 שניות ו־totals_fast כ־0.00006, וב־10,000 שורות totals_slow לקחה כ־0.26 שניות ו־totals_fast כ־0.0006.</a:t>
            </a:r>
          </a:p>
          <a:p>
            <a:pPr rtl="1" algn="r" marL="0" indent="0">
              <a:buNone/>
            </a:pPr>
            <a:r>
              <a:rPr sz="1200" lang="he-IL"/>
              <a:t>•  גורם הגידול של totals_slow היה בערך 78 (פי 10 בנתונים, פי כמעט 100 בזמן, כי הקוד עובר על רשימה בכל שורה), וזה של totals_fast בערך 10.</a:t>
            </a:r>
          </a:p>
          <a:p>
            <a:pPr rtl="1" algn="r" marL="0" indent="0">
              <a:buNone/>
            </a:pPr>
            <a:r>
              <a:rPr sz="1200" lang="he-IL"/>
              <a:t>•  ב־Colab המספרים המוחלטים איטיים יותר ממחשב רגיל, והבדיקה דורשת רק גורם גידול מעל 20 לגרסה האיטית.</a:t>
            </a:r>
          </a:p>
          <a:p>
            <a:pPr rtl="1" algn="r" marL="0" indent="0">
              <a:buNone/>
            </a:pPr>
            <a:r>
              <a:rPr sz="1200" lang="he-IL"/>
              <a:t>•  טעויות צפויות: measure שמחזירה את הזמן האחרון ולא המינימום, וגורם גידול שמחושב הפוך.</a:t>
            </a:r>
          </a:p>
          <a:p>
            <a:pPr rtl="1" algn="r" marL="0" indent="0">
              <a:buNone/>
            </a:pPr>
            <a:r>
              <a:rPr sz="1200" lang="he-IL"/>
              <a:t>•  בדיקת same_answer צריכה לתפוס ״ייעול״ שמפיל את השורה האחרונה.</a:t>
            </a:r>
          </a:p>
          <a:p>
            <a:pPr rtl="1" algn="r" marL="0" indent="0">
              <a:buNone/>
            </a:pPr>
            <a:r>
              <a:rPr b="1" sz="1200" lang="he-IL"/>
              <a:t>שאלה לכיתה</a:t>
            </a:r>
          </a:p>
          <a:p>
            <a:pPr rtl="1" algn="r" marL="0" indent="0">
              <a:buNone/>
            </a:pPr>
            <a:r>
              <a:rPr sz="1200" lang="he-IL"/>
              <a:t>•  אם 10,000 שורות לקחו X שניות, מה תחזית ל־100,000?</a:t>
            </a:r>
          </a:p>
          <a:p>
            <a:pPr rtl="1" algn="r" marL="0" indent="0">
              <a:buNone/>
            </a:pPr>
            <a:r>
              <a:rPr sz="1200" lang="he-IL"/>
              <a:t>•  תשובה גסה: מאות שניות.</a:t>
            </a:r>
          </a:p>
          <a:p>
            <a:pPr rtl="1" algn="r" marL="0" indent="0">
              <a:buNone/>
            </a:pPr>
            <a:r>
              <a:rPr sz="1200" lang="he-IL"/>
              <a:t>•  ומתי לא מייעלים?</a:t>
            </a:r>
          </a:p>
          <a:p>
            <a:pPr rtl="1" algn="r" marL="0" indent="0">
              <a:buNone/>
            </a:pPr>
            <a:r>
              <a:rPr sz="1200" lang="he-IL"/>
              <a:t>•  כשהנתונים קטנים, ואחרי שמדדו.</a:t>
            </a:r>
          </a:p>
        </p:txBody>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מה אמור לצאת במעבדה ג׳, כדקה.</a:t>
            </a:r>
          </a:p>
          <a:p>
            <a:pPr rtl="1" algn="r" marL="0" indent="0">
              <a:buNone/>
            </a:pPr>
            <a:r>
              <a:rPr b="1" sz="1200" lang="he-IL"/>
              <a:t>מה אומרים</a:t>
            </a:r>
          </a:p>
          <a:p>
            <a:pPr rtl="1" algn="r" marL="0" indent="0">
              <a:buNone/>
            </a:pPr>
            <a:r>
              <a:rPr sz="1200" lang="he-IL"/>
              <a:t>•  ההרצה: עם הארגומנט 0.7 נכנסים ארבעה ספקים, ובלי ארגומנט שמונה.</a:t>
            </a:r>
          </a:p>
          <a:p>
            <a:pPr rtl="1" algn="r" marL="0" indent="0">
              <a:buNone/>
            </a:pPr>
            <a:r>
              <a:rPr sz="1200" lang="he-IL"/>
              <a:t>•  המיפוי של inventory_repo על legacy-repo: ארבעה קבצי .py (config.py, loader.py, main.py, scoring.py), הפונקציות load_suppliers, run ו־score, אין בדיקות בכלל, ואין שורות TODO.</a:t>
            </a:r>
          </a:p>
          <a:p>
            <a:pPr rtl="1" algn="r" marL="0" indent="0">
              <a:buNone/>
            </a:pPr>
            <a:r>
              <a:rPr sz="1200" lang="he-IL"/>
              <a:t>•  בבדיקה של write_handoff: המסמך כולל כותרת ושישה חלקים: מה זה עושה, איך מריצים, מבנה, מה שבור או חסר, נקודות סיכון ושאלות פתוחות.</a:t>
            </a:r>
          </a:p>
          <a:p>
            <a:pPr rtl="1" algn="r" marL="0" indent="0">
              <a:buNone/>
            </a:pPr>
            <a:r>
              <a:rPr sz="1200" lang="he-IL"/>
              <a:t>•  התבנית במחברת זהה לשקף ״מסמך העברה״ (מה שבור או חסר במקום ״החלטות״), כי על קוד של מישהו אחר אי אפשר לדעת למה נבחר פתרון, ומה שלא ברור נכנס לשאלות פתוחות.</a:t>
            </a:r>
          </a:p>
          <a:p>
            <a:pPr rtl="1" algn="r" marL="0" indent="0">
              <a:buNone/>
            </a:pPr>
            <a:r>
              <a:rPr sz="1200" lang="he-IL"/>
              <a:t>•  החלטות מתעדים מי שכתבו את הקוד, בפורמט ADR.</a:t>
            </a:r>
          </a:p>
          <a:p>
            <a:pPr rtl="1" algn="r" marL="0" indent="0">
              <a:buNone/>
            </a:pPr>
            <a:r>
              <a:rPr sz="1200" lang="he-IL"/>
              <a:t>•  סיכונים טובים לפי הפתרון: DATA_DIR הוא נקודה וליחסי לתיקיית ההרצה, אין בדיקות ולכן אי אפשר לשנות את הנוסחה בלי חשש, ואין טיפול בקובץ חסר.</a:t>
            </a:r>
          </a:p>
          <a:p>
            <a:pPr rtl="1" algn="r" marL="0" indent="0">
              <a:buNone/>
            </a:pPr>
            <a:r>
              <a:rPr sz="1200" lang="he-IL"/>
              <a:t>•  שאלות חזקות: למה המשקלים 0.6 ו־0.4?</a:t>
            </a:r>
          </a:p>
          <a:p>
            <a:pPr rtl="1" algn="r" marL="0" indent="0">
              <a:buNone/>
            </a:pPr>
            <a:r>
              <a:rPr sz="1200" lang="he-IL"/>
              <a:t>•  מה קורה אם on_time_rate חסר?</a:t>
            </a:r>
          </a:p>
          <a:p>
            <a:pPr rtl="1" algn="r" marL="0" indent="0">
              <a:buNone/>
            </a:pPr>
            <a:r>
              <a:rPr sz="1200" lang="he-IL"/>
              <a:t>•  האם 21 ימים הוא מקסימום עסקי?</a:t>
            </a:r>
          </a:p>
          <a:p>
            <a:pPr rtl="1" algn="r" marL="0" indent="0">
              <a:buNone/>
            </a:pPr>
            <a:r>
              <a:rPr sz="1200" lang="he-IL"/>
              <a:t>•  שאלה חלשה: מה זה עושה?</a:t>
            </a:r>
          </a:p>
          <a:p>
            <a:pPr rtl="1" algn="r" marL="0" indent="0">
              <a:buNone/>
            </a:pPr>
            <a:r>
              <a:rPr b="1" sz="1200" lang="he-IL"/>
              <a:t>חיבור לשיעורים קודמים</a:t>
            </a:r>
          </a:p>
          <a:p>
            <a:pPr rtl="1" algn="r" marL="0" indent="0">
              <a:buNone/>
            </a:pPr>
            <a:r>
              <a:rPr sz="1200" lang="he-IL"/>
              <a:t>•  הממצא ״אין בדיקות״ הוא הסיבה שאף אחד לא מעז לגעת בקוד הזה, כמו בשקף הפתיחה.</a:t>
            </a:r>
          </a:p>
          <a:p>
            <a:pPr rtl="1" algn="r" marL="0" indent="0">
              <a:buNone/>
            </a:pPr>
            <a:r>
              <a:rPr sz="1200" lang="he-IL"/>
              <a:t>•  הצעד הראשון, לפני שינוי מבנה, יהיה golden כמו בחלק א׳ (מפגשים 8 ו־9).</a:t>
            </a:r>
          </a:p>
          <a:p>
            <a:pPr rtl="1" algn="r" marL="0" indent="0">
              <a:buNone/>
            </a:pPr>
            <a:r>
              <a:rPr sz="1200" lang="he-IL"/>
              <a:t>•  והרצה מתיקייה אחרת שנכשלה היא שחזור של תקלה במובן של מפגש 9, ונקודת סיכון אמיתית שנכנסת למסמך.</a:t>
            </a:r>
          </a:p>
          <a:p>
            <a:pPr rtl="1" algn="r" marL="0" indent="0">
              <a:buNone/>
            </a:pPr>
            <a:r>
              <a:rPr b="1" sz="1200" lang="he-IL"/>
              <a:t>שאלה לכיתה</a:t>
            </a:r>
          </a:p>
          <a:p>
            <a:pPr rtl="1" algn="r" marL="0" indent="0">
              <a:buNone/>
            </a:pPr>
            <a:r>
              <a:rPr sz="1200" lang="he-IL"/>
              <a:t>•  מי זוכר מה ההבדל בין סימפטום לשורש?</a:t>
            </a:r>
          </a:p>
          <a:p>
            <a:pPr rtl="1" algn="r" marL="0" indent="0">
              <a:buNone/>
            </a:pPr>
            <a:r>
              <a:rPr sz="1200" lang="he-IL"/>
              <a:t>•  תשובה (מפגש 9): הסימפטום הוא מה שרואים, והשורש הוא הסיבה.</a:t>
            </a:r>
          </a:p>
        </p:txBody>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להשלים בבית, דקה בסוף המעבדות.</a:t>
            </a:r>
          </a:p>
          <a:p>
            <a:pPr rtl="1" algn="r" marL="0" indent="0">
              <a:buNone/>
            </a:pPr>
            <a:r>
              <a:rPr b="1" sz="1200" lang="he-IL"/>
              <a:t>מה אומרים</a:t>
            </a:r>
          </a:p>
          <a:p>
            <a:pPr rtl="1" algn="r" marL="0" indent="0">
              <a:buNone/>
            </a:pPr>
            <a:r>
              <a:rPr sz="1200" lang="he-IL"/>
              <a:t>•  כל מה שחובה כבר נעשה בכיתה, והמחברת שומרת את החלקים המומלצים להשלמה: חלק ב׳ שלבים 4 ו־5 (הקבועים SAFETY_DAYS ו־DAYS_IN_YEAR בפונקציה low_stock_v2, וצעד עוזר ה־AI עם my_ai_alerts, ההחלטה accepted או rejected והמשפט ai_note), וחלק ד׳ שלב 3, מסמך העברה אמיתי ל־legacy-repo: my_what (משפט על מה שהכלי עושה כולל איך מחושב הציון), my_run (פקודה שמריצים מתוך תיקיית legacy-repo), my_broken, בדיוק שלושה סיכונים ב־my_risks, ולפחות שלוש שאלות ב־my_questions.</a:t>
            </a:r>
          </a:p>
          <a:p>
            <a:pPr rtl="1" algn="r" marL="0" indent="0">
              <a:buNone/>
            </a:pPr>
            <a:r>
              <a:rPr sz="1200" lang="he-IL"/>
              <a:t>•  הבונוס השלישי מחבר לפרויקט הקבוצתי: מכניסים שניים או שלושה קבצים למילון ומריצים עליהם inventory_repo, וסופרים כמה קבצים בלי בדיקות.</a:t>
            </a:r>
          </a:p>
          <a:p>
            <a:pPr rtl="1" algn="r" marL="0" indent="0">
              <a:buNone/>
            </a:pPr>
            <a:r>
              <a:rPr b="1" sz="1200" lang="he-IL"/>
              <a:t>הגשה</a:t>
            </a:r>
          </a:p>
          <a:p>
            <a:pPr rtl="1" algn="r" marL="0" indent="0">
              <a:buNone/>
            </a:pPr>
            <a:r>
              <a:rPr sz="1200" lang="he-IL"/>
              <a:t>•  Restart session and run all, ווידוא שכל השורות בבדיקה המסכמת מסומנות ✓, והורדת הקובץ.</a:t>
            </a:r>
          </a:p>
          <a:p>
            <a:pPr rtl="1" algn="r" marL="0" indent="0">
              <a:buNone/>
            </a:pPr>
            <a:r>
              <a:rPr sz="1200" lang="he-IL"/>
              <a:t>•  מי שסיים הכול בכיתה יכול לעשות את הבונוסים.</a:t>
            </a:r>
          </a:p>
          <a:p>
            <a:pPr rtl="1" algn="r" marL="0" indent="0">
              <a:buNone/>
            </a:pPr>
            <a:r>
              <a:rPr sz="1200" lang="he-IL"/>
              <a:t>•  אל תבקשו להדביק לעוזר ה־AI קוד רגיש מהפרויקט.</a:t>
            </a:r>
          </a:p>
        </p:txBody>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במפגשים הקודמים, כשתי דקות וחצי מתוך 7 דקות הפתיחה.</a:t>
            </a:r>
          </a:p>
          <a:p>
            <a:pPr rtl="1" algn="r" marL="0" indent="0">
              <a:buNone/>
            </a:pPr>
            <a:r>
              <a:rPr b="1" sz="1200" lang="he-IL"/>
              <a:t>מטרה</a:t>
            </a:r>
          </a:p>
          <a:p>
            <a:pPr rtl="1" algn="r" marL="0" indent="0">
              <a:buNone/>
            </a:pPr>
            <a:r>
              <a:rPr sz="1200" lang="he-IL"/>
              <a:t>•  להראות שהמפגש של היום אינו נושא חדש אלא המשך של חמישה דברים שכבר למדנו, כך שכל אחד מהם הופך היום לחלק מרשת הביטחון של סידור קוד.</a:t>
            </a:r>
          </a:p>
          <a:p>
            <a:pPr rtl="1" algn="r" marL="0" indent="0">
              <a:buNone/>
            </a:pPr>
            <a:r>
              <a:rPr sz="1200" lang="he-IL"/>
              <a:t>•  עברו על הטבלה מלמעלה למטה, מהישן לחדש, ובכל שורה שאלו לפני שחושפים.</a:t>
            </a:r>
          </a:p>
          <a:p>
            <a:pPr rtl="1" algn="r" marL="0" indent="0">
              <a:buNone/>
            </a:pPr>
            <a:r>
              <a:rPr sz="1200" lang="he-IL"/>
              <a:t>•  שורה 1, מפגשים 2 ו־4 (הקשר): המודל רואה רק את מה שנכנס לחלון ההקשר (מפגש 2), ובמפגש 4, לפי הנושא בסילבוס, למדנו ניהול הקשר לאורך פרויקט וקבצי הנחיה.</a:t>
            </a:r>
          </a:p>
          <a:p>
            <a:pPr rtl="1" algn="r" marL="0" indent="0">
              <a:buNone/>
            </a:pPr>
            <a:r>
              <a:rPr sz="1200" lang="he-IL"/>
              <a:t>•  היום זה חוזר בחלק ג׳, בשקף על קוד־בייס גדול: מפה, פרוסות ו־AGENTS.md, כי ה־AI לא רואה את כל הקוד ולכן עלול לשכפל פונקציה קיימת.</a:t>
            </a:r>
          </a:p>
          <a:p>
            <a:pPr rtl="1" algn="r" marL="0" indent="0">
              <a:buNone/>
            </a:pPr>
            <a:r>
              <a:rPr b="1" sz="1200" lang="he-IL"/>
              <a:t>שאלה לכיתה</a:t>
            </a:r>
          </a:p>
          <a:p>
            <a:pPr rtl="1" algn="r" marL="0" indent="0">
              <a:buNone/>
            </a:pPr>
            <a:r>
              <a:rPr sz="1200" lang="he-IL"/>
              <a:t>•  מי זוכר מה נכנס לחלון ההקשר?</a:t>
            </a:r>
          </a:p>
          <a:p>
            <a:pPr rtl="1" algn="r" marL="0" indent="0">
              <a:buNone/>
            </a:pPr>
            <a:r>
              <a:rPr b="1" sz="1200" lang="he-IL"/>
              <a:t>תשובה</a:t>
            </a:r>
          </a:p>
          <a:p>
            <a:pPr rtl="1" algn="r" marL="0" indent="0">
              <a:buNone/>
            </a:pPr>
            <a:r>
              <a:rPr sz="1200" lang="he-IL"/>
              <a:t>•  הוראות המערכת של הכלי, השיחה עד כה, קבצים וקוד, והבקשה הנוכחית.</a:t>
            </a:r>
          </a:p>
          <a:p>
            <a:pPr rtl="1" algn="r" marL="0" indent="0">
              <a:buNone/>
            </a:pPr>
            <a:r>
              <a:rPr sz="1200" lang="he-IL"/>
              <a:t>•  שורה 2, מפגש 6 (Git): commit לפני שהסוכן פועל, diff אחרי.</a:t>
            </a:r>
          </a:p>
          <a:p>
            <a:pPr rtl="1" algn="r" marL="0" indent="0">
              <a:buNone/>
            </a:pPr>
            <a:r>
              <a:rPr sz="1200" lang="he-IL"/>
              <a:t>•  היום כל צעד קטן של Refactoring נגמר ב־commit רק כשהבדיקות ירוקות, ואם יצא אדום חוזרים לנקודה האחרונה.</a:t>
            </a:r>
          </a:p>
          <a:p>
            <a:pPr rtl="1" algn="r" marL="0" indent="0">
              <a:buNone/>
            </a:pPr>
            <a:r>
              <a:rPr b="1" sz="1200" lang="he-IL"/>
              <a:t>שאלה לכיתה</a:t>
            </a:r>
          </a:p>
          <a:p>
            <a:pPr rtl="1" algn="r" marL="0" indent="0">
              <a:buNone/>
            </a:pPr>
            <a:r>
              <a:rPr sz="1200" lang="he-IL"/>
              <a:t>•  מה עושים לפני שסוכן משנה קוד?</a:t>
            </a:r>
          </a:p>
          <a:p>
            <a:pPr rtl="1" algn="r" marL="0" indent="0">
              <a:buNone/>
            </a:pPr>
            <a:r>
              <a:rPr b="1" sz="1200" lang="he-IL"/>
              <a:t>תשובה</a:t>
            </a:r>
          </a:p>
          <a:p>
            <a:pPr rtl="1" algn="r" marL="0" indent="0">
              <a:buNone/>
            </a:pPr>
            <a:r>
              <a:rPr sz="1200" lang="he-IL"/>
              <a:t>•  commit.</a:t>
            </a:r>
          </a:p>
          <a:p>
            <a:pPr rtl="1" algn="r" marL="0" indent="0">
              <a:buNone/>
            </a:pPr>
            <a:r>
              <a:rPr sz="1200" lang="he-IL"/>
              <a:t>•  שורה 3, מפגש 8 (בדיקות): בדיקה היא רשת ביטחון, והציפייה נגזרת ממפרט.</a:t>
            </a:r>
          </a:p>
          <a:p>
            <a:pPr rtl="1" algn="r" marL="0" indent="0">
              <a:buNone/>
            </a:pPr>
            <a:r>
              <a:rPr sz="1200" lang="he-IL"/>
              <a:t>•  אבל לקוד הישן אין מפרט, ולכן היום שומרים את הפלט הקיים כ״אמת״ (golden).</a:t>
            </a:r>
          </a:p>
          <a:p>
            <a:pPr rtl="1" algn="r" marL="0" indent="0">
              <a:buNone/>
            </a:pPr>
            <a:r>
              <a:rPr sz="1200" lang="he-IL"/>
              <a:t>•  ירוק פירושו לא שברנו, ולא נכון: זה מקרה מכוון של בעיית האורקל שראינו, כשהציפייה נגזרת מהקוד עצמו (בדיקה מעגלית: ירוק, וגם שגוי).</a:t>
            </a:r>
          </a:p>
          <a:p>
            <a:pPr rtl="1" algn="r" marL="0" indent="0">
              <a:buNone/>
            </a:pPr>
            <a:r>
              <a:rPr b="1" sz="1200" lang="he-IL"/>
              <a:t>שאלה לכיתה</a:t>
            </a:r>
          </a:p>
          <a:p>
            <a:pPr rtl="1" algn="r" marL="0" indent="0">
              <a:buNone/>
            </a:pPr>
            <a:r>
              <a:rPr sz="1200" lang="he-IL"/>
              <a:t>•  מי זוכר למה בדיקה שנגזרה מהקוד לא יכולה לגלות טעות בקוד?</a:t>
            </a:r>
          </a:p>
          <a:p>
            <a:pPr rtl="1" algn="r" marL="0" indent="0">
              <a:buNone/>
            </a:pPr>
            <a:r>
              <a:rPr sz="1200" lang="he-IL"/>
              <a:t>•  שורה 4, מפגש 9 (דיבוג): בדיקת רגרסיה נשארת אחרי תיקון כדי שהתיקון לא ייעלם בשקט (סכום הביקורת 177,598 בדוח הרבעון).</a:t>
            </a:r>
          </a:p>
          <a:p>
            <a:pPr rtl="1" algn="r" marL="0" indent="0">
              <a:buNone/>
            </a:pPr>
            <a:r>
              <a:rPr sz="1200" lang="he-IL"/>
              <a:t>•  ה־golden הוא אותו רעיון בגודל של כל הפלט, ונועד לשינוי מבנה.</a:t>
            </a:r>
          </a:p>
          <a:p>
            <a:pPr rtl="1" algn="r" marL="0" indent="0">
              <a:buNone/>
            </a:pPr>
            <a:r>
              <a:rPr sz="1200" lang="he-IL"/>
              <a:t>•  שורה 5, מפגש 10 (אבטחה, המפגש הקודם, מודגש): קוד שעובד אינו בהכרח בטוח, וסודות לא מדביקים ל־AI (רמזור ההדבקה).</a:t>
            </a:r>
          </a:p>
          <a:p>
            <a:pPr rtl="1" algn="r" marL="0" indent="0">
              <a:buNone/>
            </a:pPr>
            <a:r>
              <a:rPr sz="1200" lang="he-IL"/>
              <a:t>•  היום: קוד שעובד ובטוח אינו בהכרח נקי, ובצעד ה־AI של מעבדה א׳ מדביקים רק את הפונקציה מהמחברת, בלי סודות.</a:t>
            </a:r>
          </a:p>
          <a:p>
            <a:pPr rtl="1" algn="r" marL="0" indent="0">
              <a:buNone/>
            </a:pPr>
            <a:r>
              <a:rPr b="1" sz="1200" lang="he-IL"/>
              <a:t>אם הכיתה לא זוכרת</a:t>
            </a:r>
          </a:p>
          <a:p>
            <a:pPr rtl="1" algn="r" marL="0" indent="0">
              <a:buNone/>
            </a:pPr>
            <a:r>
              <a:rPr sz="1200" lang="he-IL"/>
              <a:t>•  מפגשים 3 ו־4 אינם מופיעים בהרחבה, ועל מפגש 4 אין לומר יותר ממה שבסילבוס (ניהול הקשר לאורך פרויקט, קבצי הנחיה ותיעוד ידידותי ל־AI).</a:t>
            </a:r>
          </a:p>
          <a:p>
            <a:pPr rtl="1" algn="r" marL="0" indent="0">
              <a:buNone/>
            </a:pPr>
            <a:r>
              <a:rPr sz="1200" lang="he-IL"/>
              <a:t>•  פשוט אמרו את המשפט שבעמודה השמאלית וקדימה.</a:t>
            </a:r>
          </a:p>
          <a:p>
            <a:pPr rtl="1" algn="r" marL="0" indent="0">
              <a:buNone/>
            </a:pPr>
            <a:r>
              <a:rPr sz="1200" lang="he-IL"/>
              <a:t>•  אם הזמן קצר: דלגו על שורה 1, היא חוזרת בחלק ג׳.</a:t>
            </a:r>
          </a:p>
        </p:txBody>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השאלה של היום, כדקה (חלק מ־7 דקות הפתיחה).</a:t>
            </a:r>
          </a:p>
          <a:p>
            <a:pPr rtl="1" algn="r" marL="0" indent="0">
              <a:buNone/>
            </a:pPr>
            <a:r>
              <a:rPr b="1" sz="1200" lang="he-IL"/>
              <a:t>מסר מרכזי</a:t>
            </a:r>
          </a:p>
          <a:p>
            <a:pPr rtl="1" algn="r" marL="0" indent="0">
              <a:buNone/>
            </a:pPr>
            <a:r>
              <a:rPr sz="1200" lang="he-IL"/>
              <a:t>•  כל מפגש נולד ממה שנשאר פתוח בקודם.</a:t>
            </a:r>
          </a:p>
          <a:p>
            <a:pPr rtl="1" algn="r" marL="0" indent="0">
              <a:buNone/>
            </a:pPr>
            <a:r>
              <a:rPr sz="1200" lang="he-IL"/>
              <a:t>•  בשקף ההכנה האחרון של מפגש 10 ביקשנו מכם לחשוב איזה חלק בקוד הקבוצתי גדל והתבלגן.</a:t>
            </a:r>
          </a:p>
          <a:p>
            <a:pPr rtl="1" algn="r" marL="0" indent="0">
              <a:buNone/>
            </a:pPr>
            <a:r>
              <a:rPr sz="1200" lang="he-IL"/>
              <a:t>•  זה הצד הימני, באדום: הבעיה שנשארה.</a:t>
            </a:r>
          </a:p>
          <a:p>
            <a:pPr rtl="1" algn="r" marL="0" indent="0">
              <a:buNone/>
            </a:pPr>
            <a:r>
              <a:rPr sz="1200" lang="he-IL"/>
              <a:t>•  אחרי מפגשים 8 ו־9 יש לכם בדיקות, ואחרי מפגש 6 יש commits; אחרי מפגש 10 הקוד גם אינו מדליף סודות.</a:t>
            </a:r>
          </a:p>
          <a:p>
            <a:pPr rtl="1" algn="r" marL="0" indent="0">
              <a:buNone/>
            </a:pPr>
            <a:r>
              <a:rPr sz="1200" lang="he-IL"/>
              <a:t>•  אבל מי שמנסה לסדר קוד כזה נתקל בפחד מ־״מה ישבר?״.</a:t>
            </a:r>
          </a:p>
          <a:p>
            <a:pPr rtl="1" algn="r" marL="0" indent="0">
              <a:buNone/>
            </a:pPr>
            <a:r>
              <a:rPr sz="1200" lang="he-IL"/>
              <a:t>•  הצד השמאלי, בירוק, הוא התשובה של היום בשלושה צעדים: קודם נועלים את הפלט הקיים בבדיקה (golden, חלק א׳ ומעבדה א׳), אחר כך משנים מבנה בצעדים קטנים כשאחרי כל צעד יש בדיקה ירוקה ו־commit, ובסוף כותבים מסמך העברה כדי שמישהו אחר יוכל להמשיך (חלק ג׳ ומעבדה ג׳).</a:t>
            </a:r>
          </a:p>
          <a:p>
            <a:pPr rtl="1" algn="r" marL="0" indent="0">
              <a:buNone/>
            </a:pPr>
            <a:r>
              <a:rPr sz="1200" lang="he-IL"/>
              <a:t>•  הקריאו את השאלה בקול ושאלו: מי זוכר מה ביקשנו לחשוב עליו בסוף מפגש 10?</a:t>
            </a:r>
          </a:p>
          <a:p>
            <a:pPr rtl="1" algn="r" marL="0" indent="0">
              <a:buNone/>
            </a:pPr>
            <a:r>
              <a:rPr b="1" sz="1200" lang="he-IL"/>
              <a:t>תשובה</a:t>
            </a:r>
          </a:p>
          <a:p>
            <a:pPr rtl="1" algn="r" marL="0" indent="0">
              <a:buNone/>
            </a:pPr>
            <a:r>
              <a:rPr sz="1200" lang="he-IL"/>
              <a:t>•  איזה חלק בקוד גדל והתבלגן.</a:t>
            </a:r>
          </a:p>
          <a:p>
            <a:pPr rtl="1" algn="r" marL="0" indent="0">
              <a:buNone/>
            </a:pPr>
            <a:r>
              <a:rPr sz="1200" lang="he-IL"/>
              <a:t>•  אספו שתי או שלוש תשובות על הלוח, למשל ״קובץ אחד גדול״ או ״פונקציה שעושה הכול״, וחזרו אליהן בשקף ״ריחות קוד״ ובשקף הכלל.</a:t>
            </a:r>
          </a:p>
          <a:p>
            <a:pPr rtl="1" algn="r" marL="0" indent="0">
              <a:buNone/>
            </a:pPr>
            <a:r>
              <a:rPr sz="1200" lang="he-IL"/>
              <a:t>•  אם איש אינו זוכר: הקריאו את השורה הימנית מהשקף ובקשו מכל קבוצה לנקוב בקובץ אחד בפרויקט שלה שהיא חוששת לגעת בו.</a:t>
            </a:r>
          </a:p>
          <a:p>
            <a:pPr rtl="1" algn="r" marL="0" indent="0">
              <a:buNone/>
            </a:pPr>
            <a:r>
              <a:rPr sz="1200" lang="he-IL"/>
              <a:t>•  אל תפתחו עדיין את התשובה: היא בנויה בחלק א׳.</a:t>
            </a:r>
          </a:p>
          <a:p>
            <a:pPr rtl="1" algn="r" marL="0" indent="0">
              <a:buNone/>
            </a:pPr>
            <a:r>
              <a:rPr sz="1200" lang="he-IL"/>
              <a:t>•  הערת זמן: השקף הזה הוא גשר קצר, לא דיון; אם הכיתה מאריכה, עצרו אחרי שתי תשובות ועברו לחלק א׳.</a:t>
            </a:r>
          </a:p>
        </p:txBody>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lang="he-IL"/>
              <a:t>📎 הקובץ הנדרש לתרגול, כדקה. 18 דקות</a:t>
            </a:r>
          </a:p>
          <a:p>
            <a:pPr rtl="1" algn="r" marL="0" indent="0">
              <a:buNone/>
            </a:pPr>
            <a:r>
              <a:rPr lang="he-IL"/>
              <a:t>מה אומרים</a:t>
            </a:r>
          </a:p>
          <a:p>
            <a:pPr rtl="1" algn="r" marL="0" indent="0">
              <a:buNone/>
            </a:pPr>
            <a:r>
              <a:rPr lang="he-IL"/>
              <a:t>• הקובץ לתרגול הזה: HM_11.ipynb. חלקים א׳-ב׳: רשת ביטחון וריפקטור.</a:t>
            </a:r>
          </a:p>
          <a:p>
            <a:pPr rtl="1" algn="r" marL="0" indent="0">
              <a:buNone/>
            </a:pPr>
            <a:r>
              <a:rPr lang="he-IL"/>
              <a:t>• כל המעבדות של המפגש נעשות באותו קובץ. כל מעבדה היא חלק אחר בתוכו.</a:t>
            </a:r>
          </a:p>
          <a:p>
            <a:pPr rtl="1" algn="r" marL="0" indent="0">
              <a:buNone/>
            </a:pPr>
            <a:r>
              <a:rPr lang="he-IL"/>
              <a:t>• הנתונים כבר בתוך המחברת, ולכן לא צריך להעלות קבצים.</a:t>
            </a:r>
          </a:p>
          <a:p>
            <a:pPr rtl="1" algn="r" marL="0" indent="0">
              <a:buNone/>
            </a:pPr>
            <a:r>
              <a:rPr lang="he-IL"/>
              <a:t>• פותחים בעזרת הקישור או קוד ה־QR, או מעלים את הקובץ ב־Colab (File → Upload notebook). כל הדרכים במדריך Google Colab, פרק 3.</a:t>
            </a:r>
          </a:p>
          <a:p>
            <a:pPr rtl="1" algn="r" marL="0" indent="0">
              <a:buNone/>
            </a:pPr>
            <a:r>
              <a:rPr lang="he-IL"/>
              <a:t>• בתחילת העבודה שומרים עותק ב־Drive (File → Save a copy in Drive) וכותבים את השם בתא הפתיחה.</a:t>
            </a:r>
          </a:p>
          <a:p>
            <a:pPr rtl="1" algn="r" marL="0" indent="0">
              <a:buNone/>
            </a:pPr>
            <a:r>
              <a:rPr lang="he-IL"/>
              <a:t>הכנה לפני השיעור</a:t>
            </a:r>
          </a:p>
          <a:p>
            <a:pPr rtl="1" algn="r" marL="0" indent="0">
              <a:buNone/>
            </a:pPr>
            <a:r>
              <a:rPr lang="he-IL"/>
              <a:t>• להעלות את HM_11.ipynb ל־Colab או ל־Drive, ולהחליף את ה־QR (מקום שמור) בקישור אמיתי.</a:t>
            </a:r>
          </a:p>
          <a:p>
            <a:pPr rtl="1" algn="r" marL="0" indent="0">
              <a:buNone/>
            </a:pPr>
            <a:r>
              <a:rPr lang="he-IL"/>
              <a:t>• להריץ Run all על HM_11_SOLUTION לפני השיעור, ולוודא שכל הבדיקות מסומנות ✓.</a:t>
            </a:r>
          </a:p>
          <a:p>
            <a:pPr rtl="1" algn="r" marL="0" indent="0">
              <a:buNone/>
            </a:pPr>
            <a:r>
              <a:rPr lang="he-IL"/>
              <a:t>• להפיץ לסטודנטים את הקובץ מדריך_Google_Colab.pdf (גם מי שמגיע בלי הכנה צריך אותו).</a:t>
            </a:r>
          </a:p>
          <a:p>
            <a:pPr rtl="1" algn="r" marL="0" indent="0">
              <a:buNone/>
            </a:pPr>
            <a:r>
              <a:rPr lang="he-IL"/>
              <a:t>שגיאות צפויות</a:t>
            </a:r>
          </a:p>
          <a:p>
            <a:pPr rtl="1" algn="r" marL="0" indent="0">
              <a:buNone/>
            </a:pPr>
            <a:r>
              <a:rPr lang="he-IL"/>
              <a:t>• סטודנט בלי חשבון Google או בלי מחשב עובד: עבודה בזוגות.</a:t>
            </a:r>
          </a:p>
          <a:p>
            <a:pPr rtl="1" algn="r" marL="0" indent="0">
              <a:buNone/>
            </a:pPr>
            <a:r>
              <a:rPr lang="he-IL"/>
              <a:t>• הקבצים נעלמו אחרי ניתוק: מריצים מההתחלה (Run all). תוצרים חשובים נשמרים ב־Drive (המדריך, פרק 5).</a:t>
            </a:r>
          </a:p>
          <a:p>
            <a:pPr rtl="1" algn="r" marL="0" indent="0">
              <a:buNone/>
            </a:pPr>
            <a:r>
              <a:rPr lang="he-IL"/>
              <a:t>• המחברת נפתחה לקריאה בלבד: צריך לשמור עותק ב־Drive לפני העבודה.</a:t>
            </a:r>
          </a:p>
        </p:txBody>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lang="he-IL"/>
              <a:t>📎 הקובץ הנדרש לתרגול, כדקה. 8 דקות</a:t>
            </a:r>
          </a:p>
          <a:p>
            <a:pPr rtl="1" algn="r" marL="0" indent="0">
              <a:buNone/>
            </a:pPr>
            <a:r>
              <a:rPr lang="he-IL"/>
              <a:t>מה אומרים</a:t>
            </a:r>
          </a:p>
          <a:p>
            <a:pPr rtl="1" algn="r" marL="0" indent="0">
              <a:buNone/>
            </a:pPr>
            <a:r>
              <a:rPr lang="he-IL"/>
              <a:t>• הקובץ לתרגול הזה: HM_11.ipynb. חלק ג׳: קנה מידה.</a:t>
            </a:r>
          </a:p>
          <a:p>
            <a:pPr rtl="1" algn="r" marL="0" indent="0">
              <a:buNone/>
            </a:pPr>
            <a:r>
              <a:rPr lang="he-IL"/>
              <a:t>• זה אותו קובץ HM_11.ipynb שפתחתם במעבדה הקודמת. ממשיכים לחלק הבא בתוכו.</a:t>
            </a:r>
          </a:p>
          <a:p>
            <a:pPr rtl="1" algn="r" marL="0" indent="0">
              <a:buNone/>
            </a:pPr>
            <a:r>
              <a:rPr lang="he-IL"/>
              <a:t>• הנתונים כבר בתוך המחברת, ולכן לא צריך להעלות קבצים.</a:t>
            </a:r>
          </a:p>
          <a:p>
            <a:pPr rtl="1" algn="r" marL="0" indent="0">
              <a:buNone/>
            </a:pPr>
            <a:r>
              <a:rPr lang="he-IL"/>
              <a:t>• פותחים בעזרת הקישור או קוד ה־QR, או מעלים את הקובץ ב־Colab (File → Upload notebook). כל הדרכים במדריך Google Colab, פרק 3.</a:t>
            </a:r>
          </a:p>
          <a:p>
            <a:pPr rtl="1" algn="r" marL="0" indent="0">
              <a:buNone/>
            </a:pPr>
            <a:r>
              <a:rPr lang="he-IL"/>
              <a:t>• בסוף כל מעבדה שומרים את המחברת ב־Drive, כדי שלא תאבד כשהחיבור מתנתק.</a:t>
            </a:r>
          </a:p>
          <a:p>
            <a:pPr rtl="1" algn="r" marL="0" indent="0">
              <a:buNone/>
            </a:pPr>
            <a:r>
              <a:rPr lang="he-IL"/>
              <a:t>הכנה לפני השיעור</a:t>
            </a:r>
          </a:p>
          <a:p>
            <a:pPr rtl="1" algn="r" marL="0" indent="0">
              <a:buNone/>
            </a:pPr>
            <a:r>
              <a:rPr lang="he-IL"/>
              <a:t>• להעלות את HM_11.ipynb ל־Colab או ל־Drive, ולהחליף את ה־QR (מקום שמור) בקישור אמיתי.</a:t>
            </a:r>
          </a:p>
          <a:p>
            <a:pPr rtl="1" algn="r" marL="0" indent="0">
              <a:buNone/>
            </a:pPr>
            <a:r>
              <a:rPr lang="he-IL"/>
              <a:t>• להריץ Run all על HM_11_SOLUTION לפני השיעור, ולוודא שכל הבדיקות מסומנות ✓.</a:t>
            </a:r>
          </a:p>
          <a:p>
            <a:pPr rtl="1" algn="r" marL="0" indent="0">
              <a:buNone/>
            </a:pPr>
            <a:r>
              <a:rPr lang="he-IL"/>
              <a:t>• להפיץ לסטודנטים את הקובץ מדריך_Google_Colab.pdf (גם מי שמגיע בלי הכנה צריך אותו).</a:t>
            </a:r>
          </a:p>
          <a:p>
            <a:pPr rtl="1" algn="r" marL="0" indent="0">
              <a:buNone/>
            </a:pPr>
            <a:r>
              <a:rPr lang="he-IL"/>
              <a:t>שגיאות צפויות</a:t>
            </a:r>
          </a:p>
          <a:p>
            <a:pPr rtl="1" algn="r" marL="0" indent="0">
              <a:buNone/>
            </a:pPr>
            <a:r>
              <a:rPr lang="he-IL"/>
              <a:t>• סטודנט בלי חשבון Google או בלי מחשב עובד: עבודה בזוגות.</a:t>
            </a:r>
          </a:p>
          <a:p>
            <a:pPr rtl="1" algn="r" marL="0" indent="0">
              <a:buNone/>
            </a:pPr>
            <a:r>
              <a:rPr lang="he-IL"/>
              <a:t>• הקבצים נעלמו אחרי ניתוק: מריצים מההתחלה (Run all). תוצרים חשובים נשמרים ב־Drive (המדריך, פרק 5).</a:t>
            </a:r>
          </a:p>
          <a:p>
            <a:pPr rtl="1" algn="r" marL="0" indent="0">
              <a:buNone/>
            </a:pPr>
            <a:r>
              <a:rPr lang="he-IL"/>
              <a:t>• המחברת נפתחה לקריאה בלבד: צריך לשמור עותק ב־Drive לפני העבודה.</a:t>
            </a:r>
          </a:p>
        </p:txBody>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lang="he-IL"/>
              <a:t>📎 הקובץ הנדרש לתרגול, כדקה. 13 דקות</a:t>
            </a:r>
          </a:p>
          <a:p>
            <a:pPr rtl="1" algn="r" marL="0" indent="0">
              <a:buNone/>
            </a:pPr>
            <a:r>
              <a:rPr lang="he-IL"/>
              <a:t>מה אומרים</a:t>
            </a:r>
          </a:p>
          <a:p>
            <a:pPr rtl="1" algn="r" marL="0" indent="0">
              <a:buNone/>
            </a:pPr>
            <a:r>
              <a:rPr lang="he-IL"/>
              <a:t>• הקובץ לתרגול הזה: HM_11.ipynb. חלקים ד׳-ה׳: Handoff.</a:t>
            </a:r>
          </a:p>
          <a:p>
            <a:pPr rtl="1" algn="r" marL="0" indent="0">
              <a:buNone/>
            </a:pPr>
            <a:r>
              <a:rPr lang="he-IL"/>
              <a:t>• זה אותו קובץ HM_11.ipynb שפתחתם במעבדה הקודמת. ממשיכים לחלק הבא בתוכו.</a:t>
            </a:r>
          </a:p>
          <a:p>
            <a:pPr rtl="1" algn="r" marL="0" indent="0">
              <a:buNone/>
            </a:pPr>
            <a:r>
              <a:rPr lang="he-IL"/>
              <a:t>• הנתונים כבר בתוך המחברת, ולכן לא צריך להעלות קבצים.</a:t>
            </a:r>
          </a:p>
          <a:p>
            <a:pPr rtl="1" algn="r" marL="0" indent="0">
              <a:buNone/>
            </a:pPr>
            <a:r>
              <a:rPr lang="he-IL"/>
              <a:t>• פותחים בעזרת הקישור או קוד ה־QR, או מעלים את הקובץ ב־Colab (File → Upload notebook). כל הדרכים במדריך Google Colab, פרק 3.</a:t>
            </a:r>
          </a:p>
          <a:p>
            <a:pPr rtl="1" algn="r" marL="0" indent="0">
              <a:buNone/>
            </a:pPr>
            <a:r>
              <a:rPr lang="he-IL"/>
              <a:t>• בסוף כל מעבדה שומרים את המחברת ב־Drive, כדי שלא תאבד כשהחיבור מתנתק.</a:t>
            </a:r>
          </a:p>
          <a:p>
            <a:pPr rtl="1" algn="r" marL="0" indent="0">
              <a:buNone/>
            </a:pPr>
            <a:r>
              <a:rPr lang="he-IL"/>
              <a:t>הכנה לפני השיעור</a:t>
            </a:r>
          </a:p>
          <a:p>
            <a:pPr rtl="1" algn="r" marL="0" indent="0">
              <a:buNone/>
            </a:pPr>
            <a:r>
              <a:rPr lang="he-IL"/>
              <a:t>• להעלות את HM_11.ipynb ל־Colab או ל־Drive, ולהחליף את ה־QR (מקום שמור) בקישור אמיתי.</a:t>
            </a:r>
          </a:p>
          <a:p>
            <a:pPr rtl="1" algn="r" marL="0" indent="0">
              <a:buNone/>
            </a:pPr>
            <a:r>
              <a:rPr lang="he-IL"/>
              <a:t>• להריץ Run all על HM_11_SOLUTION לפני השיעור, ולוודא שכל הבדיקות מסומנות ✓.</a:t>
            </a:r>
          </a:p>
          <a:p>
            <a:pPr rtl="1" algn="r" marL="0" indent="0">
              <a:buNone/>
            </a:pPr>
            <a:r>
              <a:rPr lang="he-IL"/>
              <a:t>• להפיץ לסטודנטים את הקובץ מדריך_Google_Colab.pdf (גם מי שמגיע בלי הכנה צריך אותו).</a:t>
            </a:r>
          </a:p>
          <a:p>
            <a:pPr rtl="1" algn="r" marL="0" indent="0">
              <a:buNone/>
            </a:pPr>
            <a:r>
              <a:rPr lang="he-IL"/>
              <a:t>שגיאות צפויות</a:t>
            </a:r>
          </a:p>
          <a:p>
            <a:pPr rtl="1" algn="r" marL="0" indent="0">
              <a:buNone/>
            </a:pPr>
            <a:r>
              <a:rPr lang="he-IL"/>
              <a:t>• סטודנט בלי חשבון Google או בלי מחשב עובד: עבודה בזוגות.</a:t>
            </a:r>
          </a:p>
          <a:p>
            <a:pPr rtl="1" algn="r" marL="0" indent="0">
              <a:buNone/>
            </a:pPr>
            <a:r>
              <a:rPr lang="he-IL"/>
              <a:t>• הקבצים נעלמו אחרי ניתוק: מריצים מההתחלה (Run all). תוצרים חשובים נשמרים ב־Drive (המדריך, פרק 5).</a:t>
            </a:r>
          </a:p>
          <a:p>
            <a:pPr rtl="1" algn="r" marL="0" indent="0">
              <a:buNone/>
            </a:pPr>
            <a:r>
              <a:rPr lang="he-IL"/>
              <a:t>• המחברת נפתחה לקריאה בלבד: צריך לשמור עותק ב־Drive לפני העבודה.</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chart" Target="../charts/char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שיעור 11</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TextBox 4"/>
          <p:cNvSpPr txBox="1"/>
          <p:nvPr/>
        </p:nvSpPr>
        <p:spPr>
          <a:xfrm>
            <a:off x="365760" y="1325880"/>
            <a:ext cx="8412480" cy="64008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200" b="1" i="0" lang="he-IL">
                <a:solidFill>
                  <a:srgbClr val="EA4335"/>
                </a:solidFill>
              </a:rPr>
              <a:t>"מי כתב את זה?"</a:t>
            </a:r>
          </a:p>
        </p:txBody>
      </p:sp>
      <p:sp>
        <p:nvSpPr>
          <p:cNvPr id="6" name="Rounded Rectangle 5"/>
          <p:cNvSpPr/>
          <p:nvPr/>
        </p:nvSpPr>
        <p:spPr>
          <a:xfrm>
            <a:off x="2926080" y="2103120"/>
            <a:ext cx="3291840" cy="640080"/>
          </a:xfrm>
          <a:prstGeom prst="roundRect">
            <a:avLst>
              <a:gd name="adj" fmla="val 12000"/>
            </a:avLst>
          </a:prstGeom>
          <a:solidFill>
            <a:srgbClr val="E3EEFF"/>
          </a:solidFill>
          <a:ln w="19050">
            <a:solidFill>
              <a:srgbClr val="4285F4"/>
            </a:solidFill>
          </a:ln>
        </p:spPr>
        <p:txBody>
          <a:bodyPr rtlCol="0" anchor="ctr" wrap="square" lIns="73152" rIns="73152" tIns="73152" bIns="73152">
            <a:noAutofit/>
          </a:bodyPr>
          <a:lstStyle/>
          <a:p>
            <a:pPr rtl="0" algn="ctr" marL="0" indent="0">
              <a:lnSpc>
                <a:spcPct val="105000"/>
              </a:lnSpc>
              <a:spcBef>
                <a:spcPts val="0"/>
              </a:spcBef>
              <a:spcAft>
                <a:spcPts val="0"/>
              </a:spcAft>
              <a:buNone/>
            </a:pPr>
            <a:r>
              <a:rPr sz="1800" b="1" i="0" lang="he-IL">
                <a:solidFill>
                  <a:srgbClr val="212121"/>
                </a:solidFill>
              </a:rPr>
              <a:t>📁 project</a:t>
            </a:r>
          </a:p>
        </p:txBody>
      </p:sp>
      <p:sp>
        <p:nvSpPr>
          <p:cNvPr id="7" name="Rounded Rectangle 6"/>
          <p:cNvSpPr/>
          <p:nvPr/>
        </p:nvSpPr>
        <p:spPr>
          <a:xfrm>
            <a:off x="2926080" y="2834640"/>
            <a:ext cx="3291840" cy="411480"/>
          </a:xfrm>
          <a:prstGeom prst="roundRect">
            <a:avLst>
              <a:gd name="adj" fmla="val 12000"/>
            </a:avLst>
          </a:prstGeom>
          <a:solidFill>
            <a:srgbClr val="FDE3E0"/>
          </a:solidFill>
          <a:ln w="19050">
            <a:solidFill>
              <a:srgbClr val="78909C"/>
            </a:solidFill>
          </a:ln>
        </p:spPr>
        <p:txBody>
          <a:bodyPr rtlCol="0" anchor="ctr" wrap="square" lIns="73152" rIns="73152" tIns="73152" bIns="73152">
            <a:noAutofit/>
          </a:bodyPr>
          <a:lstStyle/>
          <a:p>
            <a:pPr rtl="0" algn="l" marL="0" indent="0">
              <a:lnSpc>
                <a:spcPct val="105000"/>
              </a:lnSpc>
              <a:spcBef>
                <a:spcPts val="0"/>
              </a:spcBef>
              <a:spcAft>
                <a:spcPts val="0"/>
              </a:spcAft>
              <a:buNone/>
            </a:pPr>
            <a:r>
              <a:rPr sz="1300" b="0" i="0" lang="he-IL">
                <a:solidFill>
                  <a:srgbClr val="212121"/>
                </a:solidFill>
              </a:rPr>
              <a:t>final_v3_REAL_fix.py   412 lines</a:t>
            </a:r>
          </a:p>
        </p:txBody>
      </p:sp>
      <p:sp>
        <p:nvSpPr>
          <p:cNvPr id="8" name="Rounded Rectangle 7"/>
          <p:cNvSpPr/>
          <p:nvPr/>
        </p:nvSpPr>
        <p:spPr>
          <a:xfrm>
            <a:off x="2926080" y="3291840"/>
            <a:ext cx="3291840" cy="411480"/>
          </a:xfrm>
          <a:prstGeom prst="roundRect">
            <a:avLst>
              <a:gd name="adj" fmla="val 12000"/>
            </a:avLst>
          </a:prstGeom>
          <a:solidFill>
            <a:srgbClr val="FFF0D9"/>
          </a:solidFill>
          <a:ln w="19050">
            <a:solidFill>
              <a:srgbClr val="78909C"/>
            </a:solidFill>
          </a:ln>
        </p:spPr>
        <p:txBody>
          <a:bodyPr rtlCol="0" anchor="ctr" wrap="square" lIns="73152" rIns="73152" tIns="73152" bIns="73152">
            <a:noAutofit/>
          </a:bodyPr>
          <a:lstStyle/>
          <a:p>
            <a:pPr rtl="0" algn="l" marL="0" indent="0">
              <a:lnSpc>
                <a:spcPct val="105000"/>
              </a:lnSpc>
              <a:spcBef>
                <a:spcPts val="0"/>
              </a:spcBef>
              <a:spcAft>
                <a:spcPts val="0"/>
              </a:spcAft>
              <a:buNone/>
            </a:pPr>
            <a:r>
              <a:rPr sz="1300" b="0" i="0" lang="he-IL">
                <a:solidFill>
                  <a:srgbClr val="212121"/>
                </a:solidFill>
              </a:rPr>
              <a:t>helper2.py   (unused?)</a:t>
            </a:r>
          </a:p>
        </p:txBody>
      </p:sp>
      <p:sp>
        <p:nvSpPr>
          <p:cNvPr id="9" name="Rounded Rectangle 8"/>
          <p:cNvSpPr/>
          <p:nvPr/>
        </p:nvSpPr>
        <p:spPr>
          <a:xfrm>
            <a:off x="2926080" y="3749039"/>
            <a:ext cx="3291840" cy="411480"/>
          </a:xfrm>
          <a:prstGeom prst="roundRect">
            <a:avLst>
              <a:gd name="adj" fmla="val 12000"/>
            </a:avLst>
          </a:prstGeom>
          <a:solidFill>
            <a:srgbClr val="FFF0D9"/>
          </a:solidFill>
          <a:ln w="19050">
            <a:solidFill>
              <a:srgbClr val="78909C"/>
            </a:solidFill>
          </a:ln>
        </p:spPr>
        <p:txBody>
          <a:bodyPr rtlCol="0" anchor="ctr" wrap="square" lIns="73152" rIns="73152" tIns="73152" bIns="73152">
            <a:noAutofit/>
          </a:bodyPr>
          <a:lstStyle/>
          <a:p>
            <a:pPr rtl="0" algn="l" marL="0" indent="0">
              <a:lnSpc>
                <a:spcPct val="105000"/>
              </a:lnSpc>
              <a:spcBef>
                <a:spcPts val="0"/>
              </a:spcBef>
              <a:spcAft>
                <a:spcPts val="0"/>
              </a:spcAft>
              <a:buNone/>
            </a:pPr>
            <a:r>
              <a:rPr sz="1300" b="0" i="0" lang="he-IL">
                <a:solidFill>
                  <a:srgbClr val="212121"/>
                </a:solidFill>
              </a:rPr>
              <a:t>old/ backup/ test.py</a:t>
            </a:r>
          </a:p>
        </p:txBody>
      </p:sp>
      <p:sp>
        <p:nvSpPr>
          <p:cNvPr id="10" name="Rounded Rectangle 9"/>
          <p:cNvSpPr/>
          <p:nvPr/>
        </p:nvSpPr>
        <p:spPr>
          <a:xfrm>
            <a:off x="2926080" y="4206240"/>
            <a:ext cx="3291840" cy="411480"/>
          </a:xfrm>
          <a:prstGeom prst="roundRect">
            <a:avLst>
              <a:gd name="adj" fmla="val 12000"/>
            </a:avLst>
          </a:prstGeom>
          <a:solidFill>
            <a:srgbClr val="FDE3E0"/>
          </a:solidFill>
          <a:ln w="19050">
            <a:solidFill>
              <a:srgbClr val="78909C"/>
            </a:solidFill>
          </a:ln>
        </p:spPr>
        <p:txBody>
          <a:bodyPr rtlCol="0" anchor="ctr" wrap="square" lIns="73152" rIns="73152" tIns="73152" bIns="73152">
            <a:noAutofit/>
          </a:bodyPr>
          <a:lstStyle/>
          <a:p>
            <a:pPr rtl="0" algn="l" marL="0" indent="0">
              <a:lnSpc>
                <a:spcPct val="105000"/>
              </a:lnSpc>
              <a:spcBef>
                <a:spcPts val="0"/>
              </a:spcBef>
              <a:spcAft>
                <a:spcPts val="0"/>
              </a:spcAft>
              <a:buNone/>
            </a:pPr>
            <a:r>
              <a:rPr sz="1300" b="0" i="0" lang="he-IL">
                <a:solidFill>
                  <a:srgbClr val="212121"/>
                </a:solidFill>
              </a:rPr>
              <a:t>README.md   (empty)</a:t>
            </a:r>
          </a:p>
        </p:txBody>
      </p:sp>
      <p:sp>
        <p:nvSpPr>
          <p:cNvPr id="11" name="TextBox 10"/>
          <p:cNvSpPr txBox="1"/>
          <p:nvPr/>
        </p:nvSpPr>
        <p:spPr>
          <a:xfrm>
            <a:off x="365760" y="4663440"/>
            <a:ext cx="841248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קוד בן חצי שנה, ואף אחד לא מעז לגעת בו.</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11 :</a:t>
            </a:r>
            <a:r>
              <a:rPr sz="3000" b="1" i="0" lang="he-IL">
                <a:solidFill>
                  <a:srgbClr val="212121"/>
                </a:solidFill>
              </a:rPr>
              <a:t>מטרות המפגש</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Oval 4"/>
          <p:cNvSpPr/>
          <p:nvPr/>
        </p:nvSpPr>
        <p:spPr>
          <a:xfrm>
            <a:off x="8229600" y="1463040"/>
            <a:ext cx="438912" cy="438912"/>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1</a:t>
            </a:r>
          </a:p>
        </p:txBody>
      </p:sp>
      <p:sp>
        <p:nvSpPr>
          <p:cNvPr id="6" name="TextBox 5"/>
          <p:cNvSpPr txBox="1"/>
          <p:nvPr/>
        </p:nvSpPr>
        <p:spPr>
          <a:xfrm>
            <a:off x="365760" y="1371600"/>
            <a:ext cx="7726679" cy="822959"/>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2100" b="0" i="0" lang="he-IL">
                <a:solidFill>
                  <a:srgbClr val="212121"/>
                </a:solidFill>
              </a:rPr>
              <a:t>להגדיר Refactoring (שינוי מבנה בלי שינוי התנהגות), ולהסביר למה בדיקות ו־Git הם רשת הביטחון.</a:t>
            </a:r>
          </a:p>
        </p:txBody>
      </p:sp>
      <p:sp>
        <p:nvSpPr>
          <p:cNvPr id="7" name="Oval 6"/>
          <p:cNvSpPr/>
          <p:nvPr/>
        </p:nvSpPr>
        <p:spPr>
          <a:xfrm>
            <a:off x="8229600" y="2331720"/>
            <a:ext cx="438912" cy="438912"/>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2</a:t>
            </a:r>
          </a:p>
        </p:txBody>
      </p:sp>
      <p:sp>
        <p:nvSpPr>
          <p:cNvPr id="8" name="TextBox 7"/>
          <p:cNvSpPr txBox="1"/>
          <p:nvPr/>
        </p:nvSpPr>
        <p:spPr>
          <a:xfrm>
            <a:off x="365760" y="2240280"/>
            <a:ext cx="7726679" cy="822959"/>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2100" b="0" i="0" lang="he-IL">
                <a:solidFill>
                  <a:srgbClr val="212121"/>
                </a:solidFill>
              </a:rPr>
              <a:t>לזהות סימנים לקוד בעייתי ולתקן אותם בצעדים קטנים בעזרת AI.</a:t>
            </a:r>
          </a:p>
        </p:txBody>
      </p:sp>
      <p:sp>
        <p:nvSpPr>
          <p:cNvPr id="9" name="Oval 8"/>
          <p:cNvSpPr/>
          <p:nvPr/>
        </p:nvSpPr>
        <p:spPr>
          <a:xfrm>
            <a:off x="8229600" y="3200400"/>
            <a:ext cx="438912" cy="438912"/>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3</a:t>
            </a:r>
          </a:p>
        </p:txBody>
      </p:sp>
      <p:sp>
        <p:nvSpPr>
          <p:cNvPr id="10" name="TextBox 9"/>
          <p:cNvSpPr txBox="1"/>
          <p:nvPr/>
        </p:nvSpPr>
        <p:spPr>
          <a:xfrm>
            <a:off x="365760" y="3108960"/>
            <a:ext cx="7726679" cy="822959"/>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2100" b="0" i="0" lang="he-IL">
                <a:solidFill>
                  <a:srgbClr val="212121"/>
                </a:solidFill>
              </a:rPr>
              <a:t>להסביר הפרדה לשכבות, עיצוב API ברור וקנה מידה ברמת האינטואיציה.</a:t>
            </a:r>
          </a:p>
        </p:txBody>
      </p:sp>
      <p:sp>
        <p:nvSpPr>
          <p:cNvPr id="11" name="Oval 10"/>
          <p:cNvSpPr/>
          <p:nvPr/>
        </p:nvSpPr>
        <p:spPr>
          <a:xfrm>
            <a:off x="8229600" y="4069079"/>
            <a:ext cx="438912" cy="438912"/>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4</a:t>
            </a:r>
          </a:p>
        </p:txBody>
      </p:sp>
      <p:sp>
        <p:nvSpPr>
          <p:cNvPr id="12" name="TextBox 11"/>
          <p:cNvSpPr txBox="1"/>
          <p:nvPr/>
        </p:nvSpPr>
        <p:spPr>
          <a:xfrm>
            <a:off x="365760" y="3977639"/>
            <a:ext cx="7726679" cy="822959"/>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2100" b="0" i="0" lang="he-IL">
                <a:solidFill>
                  <a:srgbClr val="212121"/>
                </a:solidFill>
              </a:rPr>
              <a:t>לקלוט קוד שכתב מישהו אחר: להריץ, למפות, לעקוב אחר זרימה ולכתוב מסמך העברה.</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11 :</a:t>
            </a:r>
            <a:r>
              <a:rPr sz="3000" b="1" i="0" lang="he-IL">
                <a:solidFill>
                  <a:srgbClr val="212121"/>
                </a:solidFill>
              </a:rPr>
              <a:t>מפת המפגש</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8147037" y="2011680"/>
            <a:ext cx="612913" cy="1005840"/>
          </a:xfrm>
          <a:prstGeom prst="roundRect">
            <a:avLst>
              <a:gd name="adj" fmla="val 8000"/>
            </a:avLst>
          </a:prstGeom>
          <a:solidFill>
            <a:srgbClr val="78909C"/>
          </a:solidFill>
          <a:ln>
            <a:noFill/>
          </a:ln>
        </p:spPr>
        <p:txBody>
          <a:bodyPr rtlCol="0" anchor="ctr" wrap="square" lIns="18288" rIns="18288" tIns="18288" bIns="18288">
            <a:noAutofit/>
          </a:bodyPr>
          <a:lstStyle/>
          <a:p>
            <a:pPr rtl="1" algn="ctr" marL="0" indent="0">
              <a:lnSpc>
                <a:spcPct val="105000"/>
              </a:lnSpc>
              <a:spcBef>
                <a:spcPts val="0"/>
              </a:spcBef>
              <a:spcAft>
                <a:spcPts val="0"/>
              </a:spcAft>
              <a:buNone/>
            </a:pPr>
            <a:r>
              <a:rPr sz="1300" b="1" i="0" lang="he-IL">
                <a:solidFill>
                  <a:srgbClr val="FFFFFF"/>
                </a:solidFill>
              </a:rPr>
              <a:t>פתיחה</a:t>
            </a:r>
          </a:p>
          <a:p>
            <a:pPr rtl="1" algn="ctr" marL="0" indent="0">
              <a:lnSpc>
                <a:spcPct val="105000"/>
              </a:lnSpc>
              <a:spcBef>
                <a:spcPts val="0"/>
              </a:spcBef>
              <a:spcAft>
                <a:spcPts val="0"/>
              </a:spcAft>
              <a:buNone/>
            </a:pPr>
            <a:r>
              <a:rPr sz="1300" b="0" i="0" lang="he-IL">
                <a:solidFill>
                  <a:srgbClr val="FFFFFF"/>
                </a:solidFill>
              </a:rPr>
              <a:t>7׳</a:t>
            </a:r>
          </a:p>
        </p:txBody>
      </p:sp>
      <p:sp>
        <p:nvSpPr>
          <p:cNvPr id="6" name="Rounded Rectangle 5"/>
          <p:cNvSpPr/>
          <p:nvPr/>
        </p:nvSpPr>
        <p:spPr>
          <a:xfrm>
            <a:off x="7059752" y="2011680"/>
            <a:ext cx="1050708" cy="1005840"/>
          </a:xfrm>
          <a:prstGeom prst="roundRect">
            <a:avLst>
              <a:gd name="adj" fmla="val 8000"/>
            </a:avLst>
          </a:prstGeom>
          <a:solidFill>
            <a:srgbClr val="4285F4"/>
          </a:solidFill>
          <a:ln>
            <a:noFill/>
          </a:ln>
        </p:spPr>
        <p:txBody>
          <a:bodyPr rtlCol="0" anchor="ctr" wrap="square" lIns="18288" rIns="18288" tIns="18288" bIns="18288">
            <a:noAutofit/>
          </a:bodyPr>
          <a:lstStyle/>
          <a:p>
            <a:pPr rtl="1" algn="ctr" marL="0" indent="0">
              <a:lnSpc>
                <a:spcPct val="105000"/>
              </a:lnSpc>
              <a:spcBef>
                <a:spcPts val="0"/>
              </a:spcBef>
              <a:spcAft>
                <a:spcPts val="0"/>
              </a:spcAft>
              <a:buNone/>
            </a:pPr>
            <a:r>
              <a:rPr sz="1500" b="1" i="0" lang="he-IL">
                <a:solidFill>
                  <a:srgbClr val="FFFFFF"/>
                </a:solidFill>
              </a:rPr>
              <a:t>א׳</a:t>
            </a:r>
          </a:p>
          <a:p>
            <a:pPr rtl="1" algn="ctr" marL="0" indent="0">
              <a:lnSpc>
                <a:spcPct val="105000"/>
              </a:lnSpc>
              <a:spcBef>
                <a:spcPts val="0"/>
              </a:spcBef>
              <a:spcAft>
                <a:spcPts val="0"/>
              </a:spcAft>
              <a:buNone/>
            </a:pPr>
            <a:r>
              <a:rPr sz="1300" b="0" i="0" lang="he-IL">
                <a:solidFill>
                  <a:srgbClr val="FFFFFF"/>
                </a:solidFill>
              </a:rPr>
              <a:t>12׳</a:t>
            </a:r>
          </a:p>
        </p:txBody>
      </p:sp>
      <p:sp>
        <p:nvSpPr>
          <p:cNvPr id="7" name="Rounded Rectangle 6"/>
          <p:cNvSpPr/>
          <p:nvPr/>
        </p:nvSpPr>
        <p:spPr>
          <a:xfrm>
            <a:off x="5447113" y="2011680"/>
            <a:ext cx="1576062" cy="1005840"/>
          </a:xfrm>
          <a:prstGeom prst="roundRect">
            <a:avLst>
              <a:gd name="adj" fmla="val 8000"/>
            </a:avLst>
          </a:prstGeom>
          <a:solidFill>
            <a:srgbClr val="FFAB40"/>
          </a:solidFill>
          <a:ln>
            <a:noFill/>
          </a:ln>
        </p:spPr>
        <p:txBody>
          <a:bodyPr rtlCol="0" anchor="ctr" wrap="square" lIns="18288" rIns="18288" tIns="18288" bIns="18288">
            <a:noAutofit/>
          </a:bodyPr>
          <a:lstStyle/>
          <a:p>
            <a:pPr rtl="1" algn="ctr" marL="0" indent="0">
              <a:lnSpc>
                <a:spcPct val="105000"/>
              </a:lnSpc>
              <a:spcBef>
                <a:spcPts val="0"/>
              </a:spcBef>
              <a:spcAft>
                <a:spcPts val="0"/>
              </a:spcAft>
              <a:buNone/>
            </a:pPr>
            <a:r>
              <a:rPr sz="1500" b="1" i="0" lang="he-IL">
                <a:solidFill>
                  <a:srgbClr val="212121"/>
                </a:solidFill>
              </a:rPr>
              <a:t>מעבדה א׳</a:t>
            </a:r>
          </a:p>
          <a:p>
            <a:pPr rtl="1" algn="ctr" marL="0" indent="0">
              <a:lnSpc>
                <a:spcPct val="105000"/>
              </a:lnSpc>
              <a:spcBef>
                <a:spcPts val="0"/>
              </a:spcBef>
              <a:spcAft>
                <a:spcPts val="0"/>
              </a:spcAft>
              <a:buNone/>
            </a:pPr>
            <a:r>
              <a:rPr sz="1300" b="0" i="0" lang="he-IL">
                <a:solidFill>
                  <a:srgbClr val="212121"/>
                </a:solidFill>
              </a:rPr>
              <a:t>18׳</a:t>
            </a:r>
          </a:p>
        </p:txBody>
      </p:sp>
      <p:sp>
        <p:nvSpPr>
          <p:cNvPr id="8" name="Rounded Rectangle 7"/>
          <p:cNvSpPr/>
          <p:nvPr/>
        </p:nvSpPr>
        <p:spPr>
          <a:xfrm>
            <a:off x="4447387" y="2011680"/>
            <a:ext cx="963149" cy="1005840"/>
          </a:xfrm>
          <a:prstGeom prst="roundRect">
            <a:avLst>
              <a:gd name="adj" fmla="val 8000"/>
            </a:avLst>
          </a:prstGeom>
          <a:solidFill>
            <a:srgbClr val="4285F4"/>
          </a:solidFill>
          <a:ln>
            <a:noFill/>
          </a:ln>
        </p:spPr>
        <p:txBody>
          <a:bodyPr rtlCol="0" anchor="ctr" wrap="square" lIns="18288" rIns="18288" tIns="18288" bIns="18288">
            <a:noAutofit/>
          </a:bodyPr>
          <a:lstStyle/>
          <a:p>
            <a:pPr rtl="1" algn="ctr" marL="0" indent="0">
              <a:lnSpc>
                <a:spcPct val="105000"/>
              </a:lnSpc>
              <a:spcBef>
                <a:spcPts val="0"/>
              </a:spcBef>
              <a:spcAft>
                <a:spcPts val="0"/>
              </a:spcAft>
              <a:buNone/>
            </a:pPr>
            <a:r>
              <a:rPr sz="1300" b="1" i="0" lang="he-IL">
                <a:solidFill>
                  <a:srgbClr val="FFFFFF"/>
                </a:solidFill>
              </a:rPr>
              <a:t>ב׳</a:t>
            </a:r>
          </a:p>
          <a:p>
            <a:pPr rtl="1" algn="ctr" marL="0" indent="0">
              <a:lnSpc>
                <a:spcPct val="105000"/>
              </a:lnSpc>
              <a:spcBef>
                <a:spcPts val="0"/>
              </a:spcBef>
              <a:spcAft>
                <a:spcPts val="0"/>
              </a:spcAft>
              <a:buNone/>
            </a:pPr>
            <a:r>
              <a:rPr sz="1300" b="0" i="0" lang="he-IL">
                <a:solidFill>
                  <a:srgbClr val="FFFFFF"/>
                </a:solidFill>
              </a:rPr>
              <a:t>11׳</a:t>
            </a:r>
          </a:p>
        </p:txBody>
      </p:sp>
      <p:sp>
        <p:nvSpPr>
          <p:cNvPr id="9" name="Rounded Rectangle 8"/>
          <p:cNvSpPr/>
          <p:nvPr/>
        </p:nvSpPr>
        <p:spPr>
          <a:xfrm>
            <a:off x="3470810" y="2011680"/>
            <a:ext cx="940000" cy="1005840"/>
          </a:xfrm>
          <a:prstGeom prst="roundRect">
            <a:avLst>
              <a:gd name="adj" fmla="val 8000"/>
            </a:avLst>
          </a:prstGeom>
          <a:solidFill>
            <a:srgbClr val="FFAB40"/>
          </a:solidFill>
          <a:ln>
            <a:noFill/>
          </a:ln>
        </p:spPr>
        <p:txBody>
          <a:bodyPr rtlCol="0" anchor="ctr" wrap="square" lIns="18288" rIns="18288" tIns="18288" bIns="18288">
            <a:noAutofit/>
          </a:bodyPr>
          <a:lstStyle/>
          <a:p>
            <a:pPr rtl="1" algn="ctr" marL="0" indent="0">
              <a:lnSpc>
                <a:spcPct val="105000"/>
              </a:lnSpc>
              <a:spcBef>
                <a:spcPts val="0"/>
              </a:spcBef>
              <a:spcAft>
                <a:spcPts val="0"/>
              </a:spcAft>
              <a:buNone/>
            </a:pPr>
            <a:r>
              <a:rPr sz="1500" b="1" i="0" lang="he-IL">
                <a:solidFill>
                  <a:srgbClr val="212121"/>
                </a:solidFill>
              </a:rPr>
              <a:t>מעבדה ב׳</a:t>
            </a:r>
          </a:p>
          <a:p>
            <a:pPr rtl="1" algn="ctr" marL="0" indent="0">
              <a:lnSpc>
                <a:spcPct val="105000"/>
              </a:lnSpc>
              <a:spcBef>
                <a:spcPts val="0"/>
              </a:spcBef>
              <a:spcAft>
                <a:spcPts val="0"/>
              </a:spcAft>
              <a:buNone/>
            </a:pPr>
            <a:r>
              <a:rPr sz="1300" b="0" i="0" lang="he-IL">
                <a:solidFill>
                  <a:srgbClr val="212121"/>
                </a:solidFill>
              </a:rPr>
              <a:t>8׳</a:t>
            </a:r>
          </a:p>
        </p:txBody>
      </p:sp>
      <p:sp>
        <p:nvSpPr>
          <p:cNvPr id="10" name="Rounded Rectangle 9"/>
          <p:cNvSpPr/>
          <p:nvPr/>
        </p:nvSpPr>
        <p:spPr>
          <a:xfrm>
            <a:off x="2646202" y="2011680"/>
            <a:ext cx="788031" cy="1005840"/>
          </a:xfrm>
          <a:prstGeom prst="roundRect">
            <a:avLst>
              <a:gd name="adj" fmla="val 8000"/>
            </a:avLst>
          </a:prstGeom>
          <a:solidFill>
            <a:srgbClr val="4285F4"/>
          </a:solidFill>
          <a:ln>
            <a:noFill/>
          </a:ln>
        </p:spPr>
        <p:txBody>
          <a:bodyPr rtlCol="0" anchor="ctr" wrap="square" lIns="18288" rIns="18288" tIns="18288" bIns="18288">
            <a:noAutofit/>
          </a:bodyPr>
          <a:lstStyle/>
          <a:p>
            <a:pPr rtl="1" algn="ctr" marL="0" indent="0">
              <a:lnSpc>
                <a:spcPct val="105000"/>
              </a:lnSpc>
              <a:spcBef>
                <a:spcPts val="0"/>
              </a:spcBef>
              <a:spcAft>
                <a:spcPts val="0"/>
              </a:spcAft>
              <a:buNone/>
            </a:pPr>
            <a:r>
              <a:rPr sz="1300" b="1" i="0" lang="he-IL">
                <a:solidFill>
                  <a:srgbClr val="FFFFFF"/>
                </a:solidFill>
              </a:rPr>
              <a:t>ג׳</a:t>
            </a:r>
          </a:p>
          <a:p>
            <a:pPr rtl="1" algn="ctr" marL="0" indent="0">
              <a:lnSpc>
                <a:spcPct val="105000"/>
              </a:lnSpc>
              <a:spcBef>
                <a:spcPts val="0"/>
              </a:spcBef>
              <a:spcAft>
                <a:spcPts val="0"/>
              </a:spcAft>
              <a:buNone/>
            </a:pPr>
            <a:r>
              <a:rPr sz="1300" b="0" i="0" lang="he-IL">
                <a:solidFill>
                  <a:srgbClr val="FFFFFF"/>
                </a:solidFill>
              </a:rPr>
              <a:t>9׳</a:t>
            </a:r>
          </a:p>
        </p:txBody>
      </p:sp>
      <p:sp>
        <p:nvSpPr>
          <p:cNvPr id="11" name="Rounded Rectangle 10"/>
          <p:cNvSpPr/>
          <p:nvPr/>
        </p:nvSpPr>
        <p:spPr>
          <a:xfrm>
            <a:off x="1471358" y="2011680"/>
            <a:ext cx="1138267" cy="1005840"/>
          </a:xfrm>
          <a:prstGeom prst="roundRect">
            <a:avLst>
              <a:gd name="adj" fmla="val 8000"/>
            </a:avLst>
          </a:prstGeom>
          <a:solidFill>
            <a:srgbClr val="FFAB40"/>
          </a:solidFill>
          <a:ln>
            <a:noFill/>
          </a:ln>
        </p:spPr>
        <p:txBody>
          <a:bodyPr rtlCol="0" anchor="ctr" wrap="square" lIns="18288" rIns="18288" tIns="18288" bIns="18288">
            <a:noAutofit/>
          </a:bodyPr>
          <a:lstStyle/>
          <a:p>
            <a:pPr rtl="1" algn="ctr" marL="0" indent="0">
              <a:lnSpc>
                <a:spcPct val="105000"/>
              </a:lnSpc>
              <a:spcBef>
                <a:spcPts val="0"/>
              </a:spcBef>
              <a:spcAft>
                <a:spcPts val="0"/>
              </a:spcAft>
              <a:buNone/>
            </a:pPr>
            <a:r>
              <a:rPr sz="1500" b="1" i="0" lang="he-IL">
                <a:solidFill>
                  <a:srgbClr val="212121"/>
                </a:solidFill>
              </a:rPr>
              <a:t>מעבדה ג׳</a:t>
            </a:r>
          </a:p>
          <a:p>
            <a:pPr rtl="1" algn="ctr" marL="0" indent="0">
              <a:lnSpc>
                <a:spcPct val="105000"/>
              </a:lnSpc>
              <a:spcBef>
                <a:spcPts val="0"/>
              </a:spcBef>
              <a:spcAft>
                <a:spcPts val="0"/>
              </a:spcAft>
              <a:buNone/>
            </a:pPr>
            <a:r>
              <a:rPr sz="1300" b="0" i="0" lang="he-IL">
                <a:solidFill>
                  <a:srgbClr val="212121"/>
                </a:solidFill>
              </a:rPr>
              <a:t>13׳</a:t>
            </a:r>
          </a:p>
        </p:txBody>
      </p:sp>
      <p:sp>
        <p:nvSpPr>
          <p:cNvPr id="12" name="Rounded Rectangle 11"/>
          <p:cNvSpPr/>
          <p:nvPr/>
        </p:nvSpPr>
        <p:spPr>
          <a:xfrm>
            <a:off x="384073" y="2011680"/>
            <a:ext cx="1050708" cy="1005840"/>
          </a:xfrm>
          <a:prstGeom prst="roundRect">
            <a:avLst>
              <a:gd name="adj" fmla="val 8000"/>
            </a:avLst>
          </a:prstGeom>
          <a:solidFill>
            <a:srgbClr val="78909C"/>
          </a:solidFill>
          <a:ln>
            <a:noFill/>
          </a:ln>
        </p:spPr>
        <p:txBody>
          <a:bodyPr rtlCol="0" anchor="ctr" wrap="square" lIns="18288" rIns="18288" tIns="18288" bIns="18288">
            <a:noAutofit/>
          </a:bodyPr>
          <a:lstStyle/>
          <a:p>
            <a:pPr rtl="1" algn="ctr" marL="0" indent="0">
              <a:lnSpc>
                <a:spcPct val="105000"/>
              </a:lnSpc>
              <a:spcBef>
                <a:spcPts val="0"/>
              </a:spcBef>
              <a:spcAft>
                <a:spcPts val="0"/>
              </a:spcAft>
              <a:buNone/>
            </a:pPr>
            <a:r>
              <a:rPr sz="1500" b="1" i="0" lang="he-IL">
                <a:solidFill>
                  <a:srgbClr val="FFFFFF"/>
                </a:solidFill>
              </a:rPr>
              <a:t>סיכום</a:t>
            </a:r>
          </a:p>
          <a:p>
            <a:pPr rtl="1" algn="ctr" marL="0" indent="0">
              <a:lnSpc>
                <a:spcPct val="105000"/>
              </a:lnSpc>
              <a:spcBef>
                <a:spcPts val="0"/>
              </a:spcBef>
              <a:spcAft>
                <a:spcPts val="0"/>
              </a:spcAft>
              <a:buNone/>
            </a:pPr>
            <a:r>
              <a:rPr sz="1300" b="0" i="0" lang="he-IL">
                <a:solidFill>
                  <a:srgbClr val="FFFFFF"/>
                </a:solidFill>
              </a:rPr>
              <a:t>12׳</a:t>
            </a:r>
          </a:p>
        </p:txBody>
      </p:sp>
      <p:cxnSp>
        <p:nvCxnSpPr>
          <p:cNvPr id="13" name="Connector 12"/>
          <p:cNvCxnSpPr/>
          <p:nvPr/>
        </p:nvCxnSpPr>
        <p:spPr>
          <a:xfrm flipH="1">
            <a:off x="365760" y="3337560"/>
            <a:ext cx="8412480" cy="0"/>
          </a:xfrm>
          <a:prstGeom prst="line">
            <a:avLst/>
          </a:prstGeom>
          <a:ln w="2540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365760" y="3383280"/>
            <a:ext cx="8412480" cy="3657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595959"/>
                </a:solidFill>
              </a:rPr>
              <a:t>90 דקות</a:t>
            </a:r>
          </a:p>
        </p:txBody>
      </p:sp>
      <p:sp>
        <p:nvSpPr>
          <p:cNvPr id="15" name="Rectangle 14"/>
          <p:cNvSpPr/>
          <p:nvPr/>
        </p:nvSpPr>
        <p:spPr>
          <a:xfrm>
            <a:off x="6126480" y="4023360"/>
            <a:ext cx="320040" cy="274320"/>
          </a:xfrm>
          <a:prstGeom prst="rect">
            <a:avLst/>
          </a:prstGeom>
          <a:solidFill>
            <a:srgbClr val="4285F4"/>
          </a:solidFill>
          <a:ln>
            <a:noFill/>
          </a:ln>
        </p:spPr>
        <p:txBody>
          <a:bodyPr rtlCol="0" anchor="ctr" wrap="square" lIns="73152" rIns="73152" tIns="73152" bIns="73152">
            <a:noAutofit/>
          </a:bodyPr>
          <a:lstStyle/>
          <a:p>
            <a:pPr algn="ctr"/>
          </a:p>
        </p:txBody>
      </p:sp>
      <p:sp>
        <p:nvSpPr>
          <p:cNvPr id="16" name="TextBox 15"/>
          <p:cNvSpPr txBox="1"/>
          <p:nvPr/>
        </p:nvSpPr>
        <p:spPr>
          <a:xfrm>
            <a:off x="3931920" y="3950208"/>
            <a:ext cx="2194560" cy="4114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600" b="0" i="0" lang="he-IL">
                <a:solidFill>
                  <a:srgbClr val="212121"/>
                </a:solidFill>
              </a:rPr>
              <a:t>הסבר קצר</a:t>
            </a:r>
          </a:p>
        </p:txBody>
      </p:sp>
      <p:sp>
        <p:nvSpPr>
          <p:cNvPr id="17" name="Rectangle 16"/>
          <p:cNvSpPr/>
          <p:nvPr/>
        </p:nvSpPr>
        <p:spPr>
          <a:xfrm>
            <a:off x="3566160" y="4023360"/>
            <a:ext cx="320040" cy="274320"/>
          </a:xfrm>
          <a:prstGeom prst="rect">
            <a:avLst/>
          </a:prstGeom>
          <a:solidFill>
            <a:srgbClr val="FFAB40"/>
          </a:solidFill>
          <a:ln>
            <a:noFill/>
          </a:ln>
        </p:spPr>
        <p:txBody>
          <a:bodyPr rtlCol="0" anchor="ctr" wrap="square" lIns="73152" rIns="73152" tIns="73152" bIns="73152">
            <a:noAutofit/>
          </a:bodyPr>
          <a:lstStyle/>
          <a:p>
            <a:pPr algn="ctr"/>
          </a:p>
        </p:txBody>
      </p:sp>
      <p:sp>
        <p:nvSpPr>
          <p:cNvPr id="18" name="TextBox 17"/>
          <p:cNvSpPr txBox="1"/>
          <p:nvPr/>
        </p:nvSpPr>
        <p:spPr>
          <a:xfrm>
            <a:off x="1463040" y="3950208"/>
            <a:ext cx="2103120" cy="4114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600" b="0" i="0" lang="he-IL">
                <a:solidFill>
                  <a:srgbClr val="212121"/>
                </a:solidFill>
              </a:rPr>
              <a:t>עבודה שלכם</a:t>
            </a:r>
          </a:p>
        </p:txBody>
      </p:sp>
      <p:sp>
        <p:nvSpPr>
          <p:cNvPr id="19" name="TextBox 15"/>
          <p:cNvSpPr txBox="1"/>
          <p:nvPr/>
        </p:nvSpPr>
        <p:spPr>
          <a:xfrm>
            <a:off x="360000" y="4464000"/>
            <a:ext cx="8424000" cy="4320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שקפי העשרה ואופציונלי (תג כחול בפינה): עד כ־10 דקות נוספות, רק אם יש זמן</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11 :</a:t>
            </a:r>
            <a:r>
              <a:rPr sz="3000" b="1" i="0" lang="he-IL">
                <a:solidFill>
                  <a:srgbClr val="212121"/>
                </a:solidFill>
              </a:rPr>
              <a:t>במפגשים הקודמים</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graphicFrame>
        <p:nvGraphicFramePr>
          <p:cNvPr id="5" name="Table 4"/>
          <p:cNvGraphicFramePr>
            <a:graphicFrameLocks noGrp="1"/>
          </p:cNvGraphicFramePr>
          <p:nvPr/>
        </p:nvGraphicFramePr>
        <p:xfrm>
          <a:off x="360000" y="1368000"/>
          <a:ext cx="8424000" cy="3250000"/>
        </p:xfrm>
        <a:graphic>
          <a:graphicData uri="http://schemas.openxmlformats.org/drawingml/2006/table">
            <a:tbl>
              <a:tblPr firstRow="0" bandRow="0">
                <a:tableStyleId>{2D5ABB26-0587-4C30-8999-92F81FD0307C}</a:tableStyleId>
              </a:tblPr>
              <a:tblGrid>
                <a:gridCol w="3600000"/>
                <a:gridCol w="3300000"/>
                <a:gridCol w="1524000"/>
              </a:tblGrid>
              <a:tr h="450000">
                <a:tc>
                  <a:txBody>
                    <a:bodyPr wrap="square"/>
                    <a:lstStyle/>
                    <a:p>
                      <a:pPr rtl="1" algn="ctr" marL="0" indent="0">
                        <a:lnSpc>
                          <a:spcPct val="100000"/>
                        </a:lnSpc>
                        <a:spcBef>
                          <a:spcPts val="0"/>
                        </a:spcBef>
                        <a:spcAft>
                          <a:spcPts val="0"/>
                        </a:spcAft>
                        <a:buNone/>
                      </a:pPr>
                      <a:r>
                        <a:rPr sz="1400" b="1" i="0" lang="he-IL">
                          <a:solidFill>
                            <a:srgbClr val="212121"/>
                          </a:solidFill>
                        </a:rPr>
                        <a:t>איפה זה חוזר היום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0" algn="ctr" marL="0" indent="0">
                        <a:lnSpc>
                          <a:spcPct val="100000"/>
                        </a:lnSpc>
                        <a:spcBef>
                          <a:spcPts val="0"/>
                        </a:spcBef>
                        <a:spcAft>
                          <a:spcPts val="0"/>
                        </a:spcAft>
                        <a:buNone/>
                      </a:pPr>
                      <a:r>
                        <a:rPr sz="1400" b="1" i="0" lang="he-IL">
                          <a:solidFill>
                            <a:srgbClr val="212121"/>
                          </a:solidFill>
                        </a:rPr>
                        <a:t>מה למדנו</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1" algn="ctr" marL="0" indent="0">
                        <a:lnSpc>
                          <a:spcPct val="100000"/>
                        </a:lnSpc>
                        <a:spcBef>
                          <a:spcPts val="0"/>
                        </a:spcBef>
                        <a:spcAft>
                          <a:spcPts val="0"/>
                        </a:spcAft>
                        <a:buNone/>
                      </a:pPr>
                      <a:r>
                        <a:rPr sz="1400" b="1" i="0" lang="he-IL">
                          <a:solidFill>
                            <a:srgbClr val="212121"/>
                          </a:solidFill>
                        </a:rPr>
                        <a:t>מפגש</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r>
              <a:tr h="560000">
                <a:tc>
                  <a:txBody>
                    <a:bodyPr wrap="square"/>
                    <a:lstStyle/>
                    <a:p>
                      <a:pPr rtl="1" algn="r" marL="0" indent="0">
                        <a:lnSpc>
                          <a:spcPct val="100000"/>
                        </a:lnSpc>
                        <a:spcBef>
                          <a:spcPts val="0"/>
                        </a:spcBef>
                        <a:spcAft>
                          <a:spcPts val="0"/>
                        </a:spcAft>
                        <a:buNone/>
                      </a:pPr>
                      <a:r>
                        <a:rPr sz="1400" b="0" i="0" lang="he-IL">
                          <a:solidFill>
                            <a:srgbClr val="212121"/>
                          </a:solidFill>
                        </a:rPr>
                        <a:t>קוד־בייס גדול: מפה, פרוסות, AGENTS.md</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0" algn="l" marL="0" indent="0">
                        <a:lnSpc>
                          <a:spcPct val="100000"/>
                        </a:lnSpc>
                        <a:spcBef>
                          <a:spcPts val="0"/>
                        </a:spcBef>
                        <a:spcAft>
                          <a:spcPts val="0"/>
                        </a:spcAft>
                        <a:buNone/>
                      </a:pPr>
                      <a:r>
                        <a:rPr sz="1400" b="0" i="0" lang="he-IL">
                          <a:solidFill>
                            <a:srgbClr val="212121"/>
                          </a:solidFill>
                        </a:rPr>
                        <a:t>חלון ההקשר מוגבל, וקובץ הנחיה מזין אותו</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400" b="1" i="0" lang="he-IL">
                          <a:solidFill>
                            <a:srgbClr val="212121"/>
                          </a:solidFill>
                        </a:rPr>
                        <a:t>2 ו־4: הקשר</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560000">
                <a:tc>
                  <a:txBody>
                    <a:bodyPr wrap="square"/>
                    <a:lstStyle/>
                    <a:p>
                      <a:pPr rtl="1" algn="r" marL="0" indent="0">
                        <a:lnSpc>
                          <a:spcPct val="100000"/>
                        </a:lnSpc>
                        <a:spcBef>
                          <a:spcPts val="0"/>
                        </a:spcBef>
                        <a:spcAft>
                          <a:spcPts val="0"/>
                        </a:spcAft>
                        <a:buNone/>
                      </a:pPr>
                      <a:r>
                        <a:rPr sz="1400" b="0" i="0" lang="he-IL">
                          <a:solidFill>
                            <a:srgbClr val="212121"/>
                          </a:solidFill>
                        </a:rPr>
                        <a:t>כל צעד קטן נגמר ב־commit ירוק</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0" algn="l" marL="0" indent="0">
                        <a:lnSpc>
                          <a:spcPct val="100000"/>
                        </a:lnSpc>
                        <a:spcBef>
                          <a:spcPts val="0"/>
                        </a:spcBef>
                        <a:spcAft>
                          <a:spcPts val="0"/>
                        </a:spcAft>
                        <a:buNone/>
                      </a:pPr>
                      <a:r>
                        <a:rPr sz="1400" b="0" i="0" lang="he-IL">
                          <a:solidFill>
                            <a:srgbClr val="212121"/>
                          </a:solidFill>
                        </a:rPr>
                        <a:t>commit לפני, diff אחרי</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400" b="1" i="0" lang="he-IL">
                          <a:solidFill>
                            <a:srgbClr val="212121"/>
                          </a:solidFill>
                        </a:rPr>
                        <a:t>6: Git</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560000">
                <a:tc>
                  <a:txBody>
                    <a:bodyPr wrap="square"/>
                    <a:lstStyle/>
                    <a:p>
                      <a:pPr rtl="1" algn="r" marL="0" indent="0">
                        <a:lnSpc>
                          <a:spcPct val="100000"/>
                        </a:lnSpc>
                        <a:spcBef>
                          <a:spcPts val="0"/>
                        </a:spcBef>
                        <a:spcAft>
                          <a:spcPts val="0"/>
                        </a:spcAft>
                        <a:buNone/>
                      </a:pPr>
                      <a:r>
                        <a:rPr sz="1400" b="0" i="0" lang="he-IL">
                          <a:solidFill>
                            <a:srgbClr val="212121"/>
                          </a:solidFill>
                        </a:rPr>
                        <a:t>golden: ירוק פירושו ״לא שברנו״</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0" algn="l" marL="0" indent="0">
                        <a:lnSpc>
                          <a:spcPct val="100000"/>
                        </a:lnSpc>
                        <a:spcBef>
                          <a:spcPts val="0"/>
                        </a:spcBef>
                        <a:spcAft>
                          <a:spcPts val="0"/>
                        </a:spcAft>
                        <a:buNone/>
                      </a:pPr>
                      <a:r>
                        <a:rPr sz="1400" b="0" i="0" lang="he-IL">
                          <a:solidFill>
                            <a:srgbClr val="212121"/>
                          </a:solidFill>
                        </a:rPr>
                        <a:t>בדיקה היא רשת ביטחון; ירוק אינו בהכרח נכון</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400" b="1" i="0" lang="he-IL">
                          <a:solidFill>
                            <a:srgbClr val="212121"/>
                          </a:solidFill>
                        </a:rPr>
                        <a:t>8: בדיקות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560000">
                <a:tc>
                  <a:txBody>
                    <a:bodyPr wrap="square"/>
                    <a:lstStyle/>
                    <a:p>
                      <a:pPr rtl="1" algn="r" marL="0" indent="0">
                        <a:lnSpc>
                          <a:spcPct val="100000"/>
                        </a:lnSpc>
                        <a:spcBef>
                          <a:spcPts val="0"/>
                        </a:spcBef>
                        <a:spcAft>
                          <a:spcPts val="0"/>
                        </a:spcAft>
                        <a:buNone/>
                      </a:pPr>
                      <a:r>
                        <a:rPr sz="1400" b="0" i="0" lang="he-IL">
                          <a:solidFill>
                            <a:srgbClr val="212121"/>
                          </a:solidFill>
                        </a:rPr>
                        <a:t>ה־golden הוא רגרסיה לשינוי מבנה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0" algn="l" marL="0" indent="0">
                        <a:lnSpc>
                          <a:spcPct val="100000"/>
                        </a:lnSpc>
                        <a:spcBef>
                          <a:spcPts val="0"/>
                        </a:spcBef>
                        <a:spcAft>
                          <a:spcPts val="0"/>
                        </a:spcAft>
                        <a:buNone/>
                      </a:pPr>
                      <a:r>
                        <a:rPr sz="1400" b="0" i="0" lang="he-IL">
                          <a:solidFill>
                            <a:srgbClr val="212121"/>
                          </a:solidFill>
                        </a:rPr>
                        <a:t>בדיקת רגרסיה שומרת על תיקון קיים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400" b="1" i="0" lang="he-IL">
                          <a:solidFill>
                            <a:srgbClr val="212121"/>
                          </a:solidFill>
                        </a:rPr>
                        <a:t>9: דיבוג</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560000">
                <a:tc>
                  <a:txBody>
                    <a:bodyPr wrap="square"/>
                    <a:lstStyle/>
                    <a:p>
                      <a:pPr rtl="1" algn="r" marL="0" indent="0">
                        <a:lnSpc>
                          <a:spcPct val="100000"/>
                        </a:lnSpc>
                        <a:spcBef>
                          <a:spcPts val="0"/>
                        </a:spcBef>
                        <a:spcAft>
                          <a:spcPts val="0"/>
                        </a:spcAft>
                        <a:buNone/>
                      </a:pPr>
                      <a:r>
                        <a:rPr sz="1400" b="0" i="0" lang="he-IL">
                          <a:solidFill>
                            <a:srgbClr val="212121"/>
                          </a:solidFill>
                        </a:rPr>
                        <a:t>עובד ובטוח אינו בהכרח נקי. בצעד ה־AI בלי סודות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3EEFF"/>
                    </a:solidFill>
                  </a:tcPr>
                </a:tc>
                <a:tc>
                  <a:txBody>
                    <a:bodyPr wrap="square"/>
                    <a:lstStyle/>
                    <a:p>
                      <a:pPr rtl="0" algn="l" marL="0" indent="0">
                        <a:lnSpc>
                          <a:spcPct val="100000"/>
                        </a:lnSpc>
                        <a:spcBef>
                          <a:spcPts val="0"/>
                        </a:spcBef>
                        <a:spcAft>
                          <a:spcPts val="0"/>
                        </a:spcAft>
                        <a:buNone/>
                      </a:pPr>
                      <a:r>
                        <a:rPr sz="1400" b="0" i="0" lang="he-IL">
                          <a:solidFill>
                            <a:srgbClr val="212121"/>
                          </a:solidFill>
                        </a:rPr>
                        <a:t>קוד שעובד אינו בהכרח בטוח</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3EEFF"/>
                    </a:solidFill>
                  </a:tcPr>
                </a:tc>
                <a:tc>
                  <a:txBody>
                    <a:bodyPr wrap="square"/>
                    <a:lstStyle/>
                    <a:p>
                      <a:pPr rtl="1" algn="r" marL="0" indent="0">
                        <a:lnSpc>
                          <a:spcPct val="100000"/>
                        </a:lnSpc>
                        <a:spcBef>
                          <a:spcPts val="0"/>
                        </a:spcBef>
                        <a:spcAft>
                          <a:spcPts val="0"/>
                        </a:spcAft>
                        <a:buNone/>
                      </a:pPr>
                      <a:r>
                        <a:rPr sz="1400" b="1" i="0" lang="he-IL">
                          <a:solidFill>
                            <a:srgbClr val="212121"/>
                          </a:solidFill>
                        </a:rPr>
                        <a:t>10: אבטחה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3EEFF"/>
                    </a:solidFill>
                  </a:tcPr>
                </a:tc>
              </a:tr>
            </a:tbl>
          </a:graphicData>
        </a:graphic>
      </p:graphicFrame>
      <p:sp>
        <p:nvSpPr>
          <p:cNvPr id="6" name="TextBox 5"/>
          <p:cNvSpPr txBox="1"/>
          <p:nvPr/>
        </p:nvSpPr>
        <p:spPr>
          <a:xfrm>
            <a:off x="365760" y="4798000"/>
            <a:ext cx="8412480" cy="3240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1" i="0" lang="he-IL">
                <a:solidFill>
                  <a:srgbClr val="4285F4"/>
                </a:solidFill>
              </a:rPr>
              <a:t>החוט המשותף: בודקים לפני שסומכים, ושומרים נקודת חזרה לפני שמשנים.</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11 :</a:t>
            </a:r>
            <a:r>
              <a:rPr sz="3000" b="1" i="0" lang="he-IL">
                <a:solidFill>
                  <a:srgbClr val="212121"/>
                </a:solidFill>
              </a:rPr>
              <a:t>השאלה של היום</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TextBox 4"/>
          <p:cNvSpPr txBox="1"/>
          <p:nvPr/>
        </p:nvSpPr>
        <p:spPr>
          <a:xfrm>
            <a:off x="365760" y="1325880"/>
            <a:ext cx="8412480" cy="82296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500" b="1" i="0" lang="he-IL">
                <a:solidFill>
                  <a:srgbClr val="4285F4"/>
                </a:solidFill>
              </a:rPr>
              <a:t>איך משנים קוד שעובד, בלי לשבור אותו?</a:t>
            </a:r>
          </a:p>
        </p:txBody>
      </p:sp>
      <p:sp>
        <p:nvSpPr>
          <p:cNvPr id="6" name="Rounded Rectangle 5"/>
          <p:cNvSpPr/>
          <p:nvPr/>
        </p:nvSpPr>
        <p:spPr>
          <a:xfrm>
            <a:off x="4663440" y="2377440"/>
            <a:ext cx="4114800" cy="2011680"/>
          </a:xfrm>
          <a:prstGeom prst="roundRect">
            <a:avLst>
              <a:gd name="adj" fmla="val 12000"/>
            </a:avLst>
          </a:prstGeom>
          <a:solidFill>
            <a:srgbClr val="FDE3E0"/>
          </a:solidFill>
          <a:ln w="31750">
            <a:solidFill>
              <a:srgbClr val="EA4335"/>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900" b="1" i="0" lang="he-IL">
                <a:solidFill>
                  <a:srgbClr val="212121"/>
                </a:solidFill>
              </a:rPr>
              <a:t>הבעיה שנשארה</a:t>
            </a:r>
          </a:p>
          <a:p>
            <a:pPr rtl="1" algn="ctr" marL="0" indent="0">
              <a:lnSpc>
                <a:spcPct val="105000"/>
              </a:lnSpc>
              <a:spcBef>
                <a:spcPts val="0"/>
              </a:spcBef>
              <a:spcAft>
                <a:spcPts val="0"/>
              </a:spcAft>
              <a:buNone/>
            </a:pPr>
            <a:r>
              <a:rPr sz="1500" b="0" i="0" lang="he-IL">
                <a:solidFill>
                  <a:srgbClr val="212121"/>
                </a:solidFill>
              </a:rPr>
              <a:t>מפגש 10 הסתיים בשאלה: איזה חלק בקוד שלכם גדל והתבלגן, ואיך נוגעים בו בלי לשבור?</a:t>
            </a:r>
          </a:p>
        </p:txBody>
      </p:sp>
      <p:sp>
        <p:nvSpPr>
          <p:cNvPr id="7" name="Rounded Rectangle 6"/>
          <p:cNvSpPr/>
          <p:nvPr/>
        </p:nvSpPr>
        <p:spPr>
          <a:xfrm>
            <a:off x="365760" y="2377440"/>
            <a:ext cx="4114800" cy="2011680"/>
          </a:xfrm>
          <a:prstGeom prst="roundRect">
            <a:avLst>
              <a:gd name="adj" fmla="val 12000"/>
            </a:avLst>
          </a:prstGeom>
          <a:solidFill>
            <a:srgbClr val="E1F4E6"/>
          </a:solidFill>
          <a:ln w="3175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900" b="1" i="0" lang="he-IL">
                <a:solidFill>
                  <a:srgbClr val="212121"/>
                </a:solidFill>
              </a:rPr>
              <a:t>מה נעשה היום</a:t>
            </a:r>
          </a:p>
          <a:p>
            <a:pPr rtl="1" algn="ctr" marL="0" indent="0">
              <a:lnSpc>
                <a:spcPct val="105000"/>
              </a:lnSpc>
              <a:spcBef>
                <a:spcPts val="0"/>
              </a:spcBef>
              <a:spcAft>
                <a:spcPts val="0"/>
              </a:spcAft>
              <a:buNone/>
            </a:pPr>
            <a:r>
              <a:rPr sz="1500" b="0" i="0" lang="he-IL">
                <a:solidFill>
                  <a:srgbClr val="212121"/>
                </a:solidFill>
              </a:rPr>
              <a:t>נועלים את הפלט (golden), משנים מבנה בצעדים קטנים עם commit, ומוסרים את הקוד הלאה.</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11 - חלק א׳ :</a:t>
            </a:r>
            <a:r>
              <a:rPr sz="3000" b="1" i="0" lang="he-IL">
                <a:solidFill>
                  <a:srgbClr val="212121"/>
                </a:solidFill>
              </a:rPr>
              <a:t>Refactoring</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5669280" y="1554480"/>
            <a:ext cx="3108960" cy="1828800"/>
          </a:xfrm>
          <a:prstGeom prst="roundRect">
            <a:avLst>
              <a:gd name="adj" fmla="val 12000"/>
            </a:avLst>
          </a:prstGeom>
          <a:solidFill>
            <a:srgbClr val="FDE3E0"/>
          </a:solidFill>
          <a:ln w="31750">
            <a:solidFill>
              <a:srgbClr val="EA4335"/>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800" b="1" i="0" lang="he-IL">
                <a:solidFill>
                  <a:srgbClr val="212121"/>
                </a:solidFill>
              </a:rPr>
              <a:t>לפני</a:t>
            </a:r>
          </a:p>
          <a:p>
            <a:pPr rtl="1" algn="ctr" marL="0" indent="0">
              <a:lnSpc>
                <a:spcPct val="105000"/>
              </a:lnSpc>
              <a:spcBef>
                <a:spcPts val="0"/>
              </a:spcBef>
              <a:spcAft>
                <a:spcPts val="0"/>
              </a:spcAft>
              <a:buNone/>
            </a:pPr>
            <a:r>
              <a:rPr sz="1500" b="0" i="0" lang="he-IL">
                <a:solidFill>
                  <a:srgbClr val="595959"/>
                </a:solidFill>
              </a:rPr>
              <a:t>קובץ אחד גדול, הכל מעורבב</a:t>
            </a:r>
          </a:p>
        </p:txBody>
      </p:sp>
      <p:sp>
        <p:nvSpPr>
          <p:cNvPr id="6" name="Rounded Rectangle 5"/>
          <p:cNvSpPr/>
          <p:nvPr/>
        </p:nvSpPr>
        <p:spPr>
          <a:xfrm>
            <a:off x="365760" y="1554480"/>
            <a:ext cx="3108960" cy="1828800"/>
          </a:xfrm>
          <a:prstGeom prst="roundRect">
            <a:avLst>
              <a:gd name="adj" fmla="val 12000"/>
            </a:avLst>
          </a:prstGeom>
          <a:solidFill>
            <a:srgbClr val="E1F4E6"/>
          </a:solidFill>
          <a:ln w="3175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800" b="1" i="0" lang="he-IL">
                <a:solidFill>
                  <a:srgbClr val="212121"/>
                </a:solidFill>
              </a:rPr>
              <a:t>אחרי</a:t>
            </a:r>
          </a:p>
          <a:p>
            <a:pPr rtl="1" algn="ctr" marL="0" indent="0">
              <a:lnSpc>
                <a:spcPct val="105000"/>
              </a:lnSpc>
              <a:spcBef>
                <a:spcPts val="0"/>
              </a:spcBef>
              <a:spcAft>
                <a:spcPts val="0"/>
              </a:spcAft>
              <a:buNone/>
            </a:pPr>
            <a:r>
              <a:rPr sz="1500" b="0" i="0" lang="he-IL">
                <a:solidFill>
                  <a:srgbClr val="595959"/>
                </a:solidFill>
              </a:rPr>
              <a:t>חלקים קטנים וברורים</a:t>
            </a:r>
          </a:p>
        </p:txBody>
      </p:sp>
      <p:cxnSp>
        <p:nvCxnSpPr>
          <p:cNvPr id="7" name="Connector 6"/>
          <p:cNvCxnSpPr/>
          <p:nvPr/>
        </p:nvCxnSpPr>
        <p:spPr>
          <a:xfrm flipH="1">
            <a:off x="3520440" y="2468880"/>
            <a:ext cx="2103120" cy="0"/>
          </a:xfrm>
          <a:prstGeom prst="line">
            <a:avLst/>
          </a:prstGeom>
          <a:ln w="5080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3474720" y="1920240"/>
            <a:ext cx="219456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1" i="0" lang="he-IL">
                <a:solidFill>
                  <a:srgbClr val="4285F4"/>
                </a:solidFill>
              </a:rPr>
              <a:t>אותה תוצאה בדיוק</a:t>
            </a:r>
          </a:p>
        </p:txBody>
      </p:sp>
      <p:sp>
        <p:nvSpPr>
          <p:cNvPr id="9" name="TextBox 8"/>
          <p:cNvSpPr txBox="1"/>
          <p:nvPr/>
        </p:nvSpPr>
        <p:spPr>
          <a:xfrm>
            <a:off x="365760" y="3749039"/>
            <a:ext cx="8412480" cy="12801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400" b="1" i="0" lang="he-IL">
                <a:solidFill>
                  <a:srgbClr val="212121"/>
                </a:solidFill>
              </a:rPr>
              <a:t>משנים את המבנה, לא את ההתנהגות.</a:t>
            </a:r>
          </a:p>
          <a:p>
            <a:pPr rtl="1" algn="ctr" marL="0" indent="0">
              <a:lnSpc>
                <a:spcPct val="110000"/>
              </a:lnSpc>
              <a:spcBef>
                <a:spcPts val="0"/>
              </a:spcBef>
              <a:spcAft>
                <a:spcPts val="0"/>
              </a:spcAft>
              <a:buNone/>
            </a:pPr>
            <a:r>
              <a:rPr sz="1900" b="0" i="0" lang="he-IL">
                <a:solidFill>
                  <a:srgbClr val="595959"/>
                </a:solidFill>
              </a:rPr>
              <a:t>לכן צריך דרך לוודא שההתנהגות לא השתנתה: בדיקות (מפגש 8) ו־Git (מפגש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11 - חלק א׳ :</a:t>
            </a:r>
            <a:r>
              <a:rPr sz="3000" b="1" i="0" lang="he-IL">
                <a:solidFill>
                  <a:srgbClr val="212121"/>
                </a:solidFill>
              </a:rPr>
              <a:t>למה זה חשוב</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6172200" y="1463040"/>
            <a:ext cx="2697480" cy="310896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6" name="TextBox 5"/>
          <p:cNvSpPr txBox="1"/>
          <p:nvPr/>
        </p:nvSpPr>
        <p:spPr>
          <a:xfrm>
            <a:off x="6172200" y="1554480"/>
            <a:ext cx="269748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800" b="0" i="0" lang="he-IL">
                <a:solidFill>
                  <a:srgbClr val="212121"/>
                </a:solidFill>
              </a:rPr>
              <a:t>📖</a:t>
            </a:r>
          </a:p>
        </p:txBody>
      </p:sp>
      <p:sp>
        <p:nvSpPr>
          <p:cNvPr id="7" name="TextBox 6"/>
          <p:cNvSpPr txBox="1"/>
          <p:nvPr/>
        </p:nvSpPr>
        <p:spPr>
          <a:xfrm>
            <a:off x="6263640" y="2377440"/>
            <a:ext cx="25146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2000" b="1" i="0" lang="he-IL">
                <a:solidFill>
                  <a:srgbClr val="212121"/>
                </a:solidFill>
              </a:rPr>
              <a:t>תחזוקתיות</a:t>
            </a:r>
          </a:p>
        </p:txBody>
      </p:sp>
      <p:sp>
        <p:nvSpPr>
          <p:cNvPr id="8" name="TextBox 7"/>
          <p:cNvSpPr txBox="1"/>
          <p:nvPr/>
        </p:nvSpPr>
        <p:spPr>
          <a:xfrm>
            <a:off x="6309360" y="3063240"/>
            <a:ext cx="2423160" cy="1463039"/>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700" b="0" i="0" lang="he-IL">
                <a:solidFill>
                  <a:srgbClr val="212121"/>
                </a:solidFill>
              </a:rPr>
              <a:t>מפתחים מקדישים כ־58% מהזמן להבנת קוד (Xia ועמיתים, 2018).</a:t>
            </a:r>
          </a:p>
        </p:txBody>
      </p:sp>
      <p:sp>
        <p:nvSpPr>
          <p:cNvPr id="9" name="Rounded Rectangle 8"/>
          <p:cNvSpPr/>
          <p:nvPr/>
        </p:nvSpPr>
        <p:spPr>
          <a:xfrm>
            <a:off x="3246120" y="1463040"/>
            <a:ext cx="2697480" cy="3108960"/>
          </a:xfrm>
          <a:prstGeom prst="roundRect">
            <a:avLst>
              <a:gd name="adj" fmla="val 6000"/>
            </a:avLst>
          </a:prstGeom>
          <a:solidFill>
            <a:srgbClr val="DDF2F5"/>
          </a:solidFill>
          <a:ln w="31750">
            <a:solidFill>
              <a:srgbClr val="0097A7"/>
            </a:solidFill>
          </a:ln>
        </p:spPr>
        <p:txBody>
          <a:bodyPr rtlCol="0" anchor="ctr" wrap="square" lIns="73152" rIns="73152" tIns="73152" bIns="73152">
            <a:noAutofit/>
          </a:bodyPr>
          <a:lstStyle/>
          <a:p>
            <a:pPr algn="ctr"/>
          </a:p>
        </p:txBody>
      </p:sp>
      <p:sp>
        <p:nvSpPr>
          <p:cNvPr id="10" name="TextBox 9"/>
          <p:cNvSpPr txBox="1"/>
          <p:nvPr/>
        </p:nvSpPr>
        <p:spPr>
          <a:xfrm>
            <a:off x="3246120" y="1554480"/>
            <a:ext cx="269748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800" b="0" i="0" lang="he-IL">
                <a:solidFill>
                  <a:srgbClr val="212121"/>
                </a:solidFill>
              </a:rPr>
              <a:t>🔧</a:t>
            </a:r>
          </a:p>
        </p:txBody>
      </p:sp>
      <p:sp>
        <p:nvSpPr>
          <p:cNvPr id="11" name="TextBox 10"/>
          <p:cNvSpPr txBox="1"/>
          <p:nvPr/>
        </p:nvSpPr>
        <p:spPr>
          <a:xfrm>
            <a:off x="3337560" y="2377440"/>
            <a:ext cx="25146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2000" b="1" i="0" lang="he-IL">
                <a:solidFill>
                  <a:srgbClr val="212121"/>
                </a:solidFill>
              </a:rPr>
              <a:t>שינוי קל</a:t>
            </a:r>
          </a:p>
        </p:txBody>
      </p:sp>
      <p:sp>
        <p:nvSpPr>
          <p:cNvPr id="12" name="TextBox 11"/>
          <p:cNvSpPr txBox="1"/>
          <p:nvPr/>
        </p:nvSpPr>
        <p:spPr>
          <a:xfrm>
            <a:off x="3383279" y="3063240"/>
            <a:ext cx="2423160" cy="1463039"/>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700" b="0" i="0" lang="he-IL">
                <a:solidFill>
                  <a:srgbClr val="212121"/>
                </a:solidFill>
              </a:rPr>
              <a:t>תוספת או תיקון נוגעים בחלק קטן ולא בכל הקובץ.</a:t>
            </a:r>
          </a:p>
        </p:txBody>
      </p:sp>
      <p:sp>
        <p:nvSpPr>
          <p:cNvPr id="13" name="Rounded Rectangle 12"/>
          <p:cNvSpPr/>
          <p:nvPr/>
        </p:nvSpPr>
        <p:spPr>
          <a:xfrm>
            <a:off x="320039" y="1463040"/>
            <a:ext cx="2697480" cy="310896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4" name="TextBox 13"/>
          <p:cNvSpPr txBox="1"/>
          <p:nvPr/>
        </p:nvSpPr>
        <p:spPr>
          <a:xfrm>
            <a:off x="320039" y="1554480"/>
            <a:ext cx="269748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800" b="0" i="0" lang="he-IL">
                <a:solidFill>
                  <a:srgbClr val="212121"/>
                </a:solidFill>
              </a:rPr>
              <a:t>🤖</a:t>
            </a:r>
          </a:p>
        </p:txBody>
      </p:sp>
      <p:sp>
        <p:nvSpPr>
          <p:cNvPr id="15" name="TextBox 14"/>
          <p:cNvSpPr txBox="1"/>
          <p:nvPr/>
        </p:nvSpPr>
        <p:spPr>
          <a:xfrm>
            <a:off x="411479" y="2377440"/>
            <a:ext cx="25146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2000" b="1" i="0" lang="he-IL">
                <a:solidFill>
                  <a:srgbClr val="212121"/>
                </a:solidFill>
              </a:rPr>
              <a:t>עבודה עם AI</a:t>
            </a:r>
          </a:p>
        </p:txBody>
      </p:sp>
      <p:sp>
        <p:nvSpPr>
          <p:cNvPr id="16" name="TextBox 15"/>
          <p:cNvSpPr txBox="1"/>
          <p:nvPr/>
        </p:nvSpPr>
        <p:spPr>
          <a:xfrm>
            <a:off x="457199" y="3063240"/>
            <a:ext cx="2423160" cy="1463039"/>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700" b="0" i="0" lang="he-IL">
                <a:solidFill>
                  <a:srgbClr val="212121"/>
                </a:solidFill>
              </a:rPr>
              <a:t>AI מוסיף קוד בקלות. בלי סדר, הבלגן גדל מהר.</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11 - חלק א׳ :</a:t>
            </a:r>
            <a:r>
              <a:rPr sz="3000" b="1" i="0" lang="he-IL">
                <a:solidFill>
                  <a:srgbClr val="212121"/>
                </a:solidFill>
              </a:rPr>
              <a:t>ריחות קוד</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365760" y="1371600"/>
            <a:ext cx="8412480" cy="621792"/>
          </a:xfrm>
          <a:prstGeom prst="roundRect">
            <a:avLst>
              <a:gd name="adj" fmla="val 10000"/>
            </a:avLst>
          </a:prstGeom>
          <a:solidFill>
            <a:srgbClr val="FDE3E0"/>
          </a:solidFill>
          <a:ln w="22860">
            <a:solidFill>
              <a:srgbClr val="EA4335"/>
            </a:solidFill>
          </a:ln>
        </p:spPr>
        <p:txBody>
          <a:bodyPr rtlCol="0" anchor="ctr" wrap="square" lIns="73152" rIns="73152" tIns="73152" bIns="73152">
            <a:noAutofit/>
          </a:bodyPr>
          <a:lstStyle/>
          <a:p>
            <a:pPr algn="ctr"/>
          </a:p>
        </p:txBody>
      </p:sp>
      <p:sp>
        <p:nvSpPr>
          <p:cNvPr id="6" name="TextBox 5"/>
          <p:cNvSpPr txBox="1"/>
          <p:nvPr/>
        </p:nvSpPr>
        <p:spPr>
          <a:xfrm>
            <a:off x="7863840" y="1371600"/>
            <a:ext cx="822960" cy="621792"/>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2200" b="0" i="0" lang="he-IL">
                <a:solidFill>
                  <a:srgbClr val="212121"/>
                </a:solidFill>
              </a:rPr>
              <a:t>📏</a:t>
            </a:r>
          </a:p>
        </p:txBody>
      </p:sp>
      <p:sp>
        <p:nvSpPr>
          <p:cNvPr id="7" name="TextBox 6"/>
          <p:cNvSpPr txBox="1"/>
          <p:nvPr/>
        </p:nvSpPr>
        <p:spPr>
          <a:xfrm>
            <a:off x="5029200" y="1371600"/>
            <a:ext cx="2834640" cy="621792"/>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800" b="1" i="0" lang="he-IL">
                <a:solidFill>
                  <a:srgbClr val="212121"/>
                </a:solidFill>
              </a:rPr>
              <a:t>פונקציה ארוכה</a:t>
            </a:r>
          </a:p>
        </p:txBody>
      </p:sp>
      <p:sp>
        <p:nvSpPr>
          <p:cNvPr id="8" name="TextBox 7"/>
          <p:cNvSpPr txBox="1"/>
          <p:nvPr/>
        </p:nvSpPr>
        <p:spPr>
          <a:xfrm>
            <a:off x="457200" y="1371600"/>
            <a:ext cx="4572000" cy="621792"/>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500" b="0" i="0" lang="he-IL">
                <a:solidFill>
                  <a:srgbClr val="595959"/>
                </a:solidFill>
              </a:rPr>
              <a:t>עושה הכל: טעינה, חישוב, הדפסה</a:t>
            </a:r>
          </a:p>
        </p:txBody>
      </p:sp>
      <p:sp>
        <p:nvSpPr>
          <p:cNvPr id="9" name="Rounded Rectangle 8"/>
          <p:cNvSpPr/>
          <p:nvPr/>
        </p:nvSpPr>
        <p:spPr>
          <a:xfrm>
            <a:off x="365760" y="2084832"/>
            <a:ext cx="8412480" cy="621792"/>
          </a:xfrm>
          <a:prstGeom prst="roundRect">
            <a:avLst>
              <a:gd name="adj" fmla="val 10000"/>
            </a:avLst>
          </a:prstGeom>
          <a:solidFill>
            <a:srgbClr val="FFF0D9"/>
          </a:solidFill>
          <a:ln w="22860">
            <a:solidFill>
              <a:srgbClr val="FFAB40"/>
            </a:solidFill>
          </a:ln>
        </p:spPr>
        <p:txBody>
          <a:bodyPr rtlCol="0" anchor="ctr" wrap="square" lIns="73152" rIns="73152" tIns="73152" bIns="73152">
            <a:noAutofit/>
          </a:bodyPr>
          <a:lstStyle/>
          <a:p>
            <a:pPr algn="ctr"/>
          </a:p>
        </p:txBody>
      </p:sp>
      <p:sp>
        <p:nvSpPr>
          <p:cNvPr id="10" name="TextBox 9"/>
          <p:cNvSpPr txBox="1"/>
          <p:nvPr/>
        </p:nvSpPr>
        <p:spPr>
          <a:xfrm>
            <a:off x="7863840" y="2084832"/>
            <a:ext cx="822960" cy="621792"/>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2200" b="0" i="0" lang="he-IL">
                <a:solidFill>
                  <a:srgbClr val="212121"/>
                </a:solidFill>
              </a:rPr>
              <a:t>📋</a:t>
            </a:r>
          </a:p>
        </p:txBody>
      </p:sp>
      <p:sp>
        <p:nvSpPr>
          <p:cNvPr id="11" name="TextBox 10"/>
          <p:cNvSpPr txBox="1"/>
          <p:nvPr/>
        </p:nvSpPr>
        <p:spPr>
          <a:xfrm>
            <a:off x="5029200" y="2084832"/>
            <a:ext cx="2834640" cy="621792"/>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800" b="1" i="0" lang="he-IL">
                <a:solidFill>
                  <a:srgbClr val="212121"/>
                </a:solidFill>
              </a:rPr>
              <a:t>שכפול</a:t>
            </a:r>
          </a:p>
        </p:txBody>
      </p:sp>
      <p:sp>
        <p:nvSpPr>
          <p:cNvPr id="12" name="TextBox 11"/>
          <p:cNvSpPr txBox="1"/>
          <p:nvPr/>
        </p:nvSpPr>
        <p:spPr>
          <a:xfrm>
            <a:off x="457200" y="2084832"/>
            <a:ext cx="4572000" cy="621792"/>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500" b="0" i="0" lang="he-IL">
                <a:solidFill>
                  <a:srgbClr val="595959"/>
                </a:solidFill>
              </a:rPr>
              <a:t>אותו קוד בכמה מקומות</a:t>
            </a:r>
          </a:p>
        </p:txBody>
      </p:sp>
      <p:sp>
        <p:nvSpPr>
          <p:cNvPr id="13" name="Rounded Rectangle 12"/>
          <p:cNvSpPr/>
          <p:nvPr/>
        </p:nvSpPr>
        <p:spPr>
          <a:xfrm>
            <a:off x="365760" y="2798064"/>
            <a:ext cx="8412480" cy="621792"/>
          </a:xfrm>
          <a:prstGeom prst="roundRect">
            <a:avLst>
              <a:gd name="adj" fmla="val 10000"/>
            </a:avLst>
          </a:prstGeom>
          <a:solidFill>
            <a:srgbClr val="FFF0D9"/>
          </a:solidFill>
          <a:ln w="22860">
            <a:solidFill>
              <a:srgbClr val="FFAB40"/>
            </a:solidFill>
          </a:ln>
        </p:spPr>
        <p:txBody>
          <a:bodyPr rtlCol="0" anchor="ctr" wrap="square" lIns="73152" rIns="73152" tIns="73152" bIns="73152">
            <a:noAutofit/>
          </a:bodyPr>
          <a:lstStyle/>
          <a:p>
            <a:pPr algn="ctr"/>
          </a:p>
        </p:txBody>
      </p:sp>
      <p:sp>
        <p:nvSpPr>
          <p:cNvPr id="14" name="TextBox 13"/>
          <p:cNvSpPr txBox="1"/>
          <p:nvPr/>
        </p:nvSpPr>
        <p:spPr>
          <a:xfrm>
            <a:off x="7863840" y="2798064"/>
            <a:ext cx="822960" cy="621792"/>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2200" b="0" i="0" lang="he-IL">
                <a:solidFill>
                  <a:srgbClr val="212121"/>
                </a:solidFill>
              </a:rPr>
              <a:t>🔢</a:t>
            </a:r>
          </a:p>
        </p:txBody>
      </p:sp>
      <p:sp>
        <p:nvSpPr>
          <p:cNvPr id="15" name="TextBox 14"/>
          <p:cNvSpPr txBox="1"/>
          <p:nvPr/>
        </p:nvSpPr>
        <p:spPr>
          <a:xfrm>
            <a:off x="5029200" y="2798064"/>
            <a:ext cx="2834640" cy="621792"/>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800" b="1" i="0" lang="he-IL">
                <a:solidFill>
                  <a:srgbClr val="212121"/>
                </a:solidFill>
              </a:rPr>
              <a:t>מספר קסם</a:t>
            </a:r>
          </a:p>
        </p:txBody>
      </p:sp>
      <p:sp>
        <p:nvSpPr>
          <p:cNvPr id="16" name="TextBox 15"/>
          <p:cNvSpPr txBox="1"/>
          <p:nvPr/>
        </p:nvSpPr>
        <p:spPr>
          <a:xfrm>
            <a:off x="457200" y="2798064"/>
            <a:ext cx="4572000" cy="621792"/>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500" b="0" i="0" lang="he-IL">
                <a:solidFill>
                  <a:srgbClr val="595959"/>
                </a:solidFill>
              </a:rPr>
              <a:t>365, 3, 0.6 בלי שם</a:t>
            </a:r>
          </a:p>
        </p:txBody>
      </p:sp>
      <p:sp>
        <p:nvSpPr>
          <p:cNvPr id="17" name="Rounded Rectangle 16"/>
          <p:cNvSpPr/>
          <p:nvPr/>
        </p:nvSpPr>
        <p:spPr>
          <a:xfrm>
            <a:off x="365760" y="3511296"/>
            <a:ext cx="8412480" cy="621792"/>
          </a:xfrm>
          <a:prstGeom prst="roundRect">
            <a:avLst>
              <a:gd name="adj" fmla="val 10000"/>
            </a:avLst>
          </a:prstGeom>
          <a:solidFill>
            <a:srgbClr val="FFF0D9"/>
          </a:solidFill>
          <a:ln w="22860">
            <a:solidFill>
              <a:srgbClr val="FFAB40"/>
            </a:solidFill>
          </a:ln>
        </p:spPr>
        <p:txBody>
          <a:bodyPr rtlCol="0" anchor="ctr" wrap="square" lIns="73152" rIns="73152" tIns="73152" bIns="73152">
            <a:noAutofit/>
          </a:bodyPr>
          <a:lstStyle/>
          <a:p>
            <a:pPr algn="ctr"/>
          </a:p>
        </p:txBody>
      </p:sp>
      <p:sp>
        <p:nvSpPr>
          <p:cNvPr id="18" name="TextBox 17"/>
          <p:cNvSpPr txBox="1"/>
          <p:nvPr/>
        </p:nvSpPr>
        <p:spPr>
          <a:xfrm>
            <a:off x="7863840" y="3511296"/>
            <a:ext cx="822960" cy="621792"/>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2200" b="0" i="0" lang="he-IL">
                <a:solidFill>
                  <a:srgbClr val="212121"/>
                </a:solidFill>
              </a:rPr>
              <a:t>🏷️</a:t>
            </a:r>
          </a:p>
        </p:txBody>
      </p:sp>
      <p:sp>
        <p:nvSpPr>
          <p:cNvPr id="19" name="TextBox 18"/>
          <p:cNvSpPr txBox="1"/>
          <p:nvPr/>
        </p:nvSpPr>
        <p:spPr>
          <a:xfrm>
            <a:off x="5029200" y="3511296"/>
            <a:ext cx="2834640" cy="621792"/>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800" b="1" i="0" lang="he-IL">
                <a:solidFill>
                  <a:srgbClr val="212121"/>
                </a:solidFill>
              </a:rPr>
              <a:t>שם לא ברור</a:t>
            </a:r>
          </a:p>
        </p:txBody>
      </p:sp>
      <p:sp>
        <p:nvSpPr>
          <p:cNvPr id="20" name="TextBox 19"/>
          <p:cNvSpPr txBox="1"/>
          <p:nvPr/>
        </p:nvSpPr>
        <p:spPr>
          <a:xfrm>
            <a:off x="457200" y="3511296"/>
            <a:ext cx="4572000" cy="621792"/>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500" b="0" i="0" lang="he-IL">
                <a:solidFill>
                  <a:srgbClr val="595959"/>
                </a:solidFill>
              </a:rPr>
              <a:t>x, d, a, tmp2</a:t>
            </a:r>
          </a:p>
        </p:txBody>
      </p:sp>
      <p:sp>
        <p:nvSpPr>
          <p:cNvPr id="21" name="Rounded Rectangle 20"/>
          <p:cNvSpPr/>
          <p:nvPr/>
        </p:nvSpPr>
        <p:spPr>
          <a:xfrm>
            <a:off x="365760" y="4224528"/>
            <a:ext cx="8412480" cy="621792"/>
          </a:xfrm>
          <a:prstGeom prst="roundRect">
            <a:avLst>
              <a:gd name="adj" fmla="val 10000"/>
            </a:avLst>
          </a:prstGeom>
          <a:solidFill>
            <a:srgbClr val="FDE3E0"/>
          </a:solidFill>
          <a:ln w="22860">
            <a:solidFill>
              <a:srgbClr val="EA4335"/>
            </a:solidFill>
          </a:ln>
        </p:spPr>
        <p:txBody>
          <a:bodyPr rtlCol="0" anchor="ctr" wrap="square" lIns="73152" rIns="73152" tIns="73152" bIns="73152">
            <a:noAutofit/>
          </a:bodyPr>
          <a:lstStyle/>
          <a:p>
            <a:pPr algn="ctr"/>
          </a:p>
        </p:txBody>
      </p:sp>
      <p:sp>
        <p:nvSpPr>
          <p:cNvPr id="22" name="TextBox 21"/>
          <p:cNvSpPr txBox="1"/>
          <p:nvPr/>
        </p:nvSpPr>
        <p:spPr>
          <a:xfrm>
            <a:off x="7863840" y="4224528"/>
            <a:ext cx="822960" cy="621792"/>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2200" b="0" i="0" lang="he-IL">
                <a:solidFill>
                  <a:srgbClr val="212121"/>
                </a:solidFill>
              </a:rPr>
              <a:t>🧱</a:t>
            </a:r>
          </a:p>
        </p:txBody>
      </p:sp>
      <p:sp>
        <p:nvSpPr>
          <p:cNvPr id="23" name="TextBox 22"/>
          <p:cNvSpPr txBox="1"/>
          <p:nvPr/>
        </p:nvSpPr>
        <p:spPr>
          <a:xfrm>
            <a:off x="5029200" y="4224528"/>
            <a:ext cx="2834640" cy="621792"/>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800" b="1" i="0" lang="he-IL">
                <a:solidFill>
                  <a:srgbClr val="212121"/>
                </a:solidFill>
              </a:rPr>
              <a:t>קובץ אחד לכל הדברים</a:t>
            </a:r>
          </a:p>
        </p:txBody>
      </p:sp>
      <p:sp>
        <p:nvSpPr>
          <p:cNvPr id="24" name="TextBox 23"/>
          <p:cNvSpPr txBox="1"/>
          <p:nvPr/>
        </p:nvSpPr>
        <p:spPr>
          <a:xfrm>
            <a:off x="457200" y="4224528"/>
            <a:ext cx="4572000" cy="621792"/>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500" b="0" i="0" lang="he-IL">
                <a:solidFill>
                  <a:srgbClr val="595959"/>
                </a:solidFill>
              </a:rPr>
              <a:t>קשה למצוא, קשה לבדוק</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11 - חלק א׳ :</a:t>
            </a:r>
            <a:r>
              <a:rPr sz="3000" b="1" i="0" lang="he-IL">
                <a:solidFill>
                  <a:srgbClr val="212121"/>
                </a:solidFill>
              </a:rPr>
              <a:t>לפני ואחרי: קוד אמיתי</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ectangle 4"/>
          <p:cNvSpPr/>
          <p:nvPr/>
        </p:nvSpPr>
        <p:spPr>
          <a:xfrm>
            <a:off x="4663440" y="1828800"/>
            <a:ext cx="4114800" cy="2194560"/>
          </a:xfrm>
          <a:prstGeom prst="rect">
            <a:avLst/>
          </a:prstGeom>
          <a:solidFill>
            <a:srgbClr val="FDE3E0"/>
          </a:solidFill>
          <a:ln w="19050">
            <a:solidFill>
              <a:srgbClr val="EA4335"/>
            </a:solidFill>
          </a:ln>
        </p:spPr>
        <p:txBody>
          <a:bodyPr rtlCol="0" anchor="ctr" wrap="square" lIns="73152" rIns="73152" tIns="73152" bIns="73152">
            <a:noAutofit/>
          </a:bodyPr>
          <a:lstStyle/>
          <a:p>
            <a:pPr rtl="0" algn="l" marL="0" indent="0">
              <a:lnSpc>
                <a:spcPct val="105000"/>
              </a:lnSpc>
              <a:spcBef>
                <a:spcPts val="0"/>
              </a:spcBef>
              <a:spcAft>
                <a:spcPts val="0"/>
              </a:spcAft>
              <a:buNone/>
            </a:pPr>
            <a:r>
              <a:rPr sz="1200" b="0" i="0" lang="he-IL">
                <a:solidFill>
                  <a:srgbClr val="212121"/>
                </a:solidFill>
              </a:rPr>
              <a:t>d = o.groupby("product_id")</a:t>
            </a:r>
          </a:p>
          <a:p>
            <a:pPr rtl="0" algn="l" marL="0" indent="0">
              <a:lnSpc>
                <a:spcPct val="105000"/>
              </a:lnSpc>
              <a:spcBef>
                <a:spcPts val="0"/>
              </a:spcBef>
              <a:spcAft>
                <a:spcPts val="0"/>
              </a:spcAft>
              <a:buNone/>
            </a:pPr>
            <a:r>
              <a:rPr sz="1200" b="0" i="0" lang="he-IL">
                <a:solidFill>
                  <a:srgbClr val="212121"/>
                </a:solidFill>
              </a:rPr>
              <a:t>     ["quantity"].sum() / 365</a:t>
            </a:r>
          </a:p>
          <a:p>
            <a:pPr rtl="0" algn="l" marL="0" indent="0">
              <a:lnSpc>
                <a:spcPct val="105000"/>
              </a:lnSpc>
              <a:spcBef>
                <a:spcPts val="0"/>
              </a:spcBef>
              <a:spcAft>
                <a:spcPts val="0"/>
              </a:spcAft>
              <a:buNone/>
            </a:pPr>
            <a:r>
              <a:rPr sz="1200" b="0" i="0" lang="he-IL">
                <a:solidFill>
                  <a:srgbClr val="212121"/>
                </a:solidFill>
              </a:rPr>
              <a:t>x = p.merge(s, on="supplier_id")</a:t>
            </a:r>
          </a:p>
          <a:p>
            <a:pPr rtl="0" algn="l" marL="0" indent="0">
              <a:lnSpc>
                <a:spcPct val="105000"/>
              </a:lnSpc>
              <a:spcBef>
                <a:spcPts val="0"/>
              </a:spcBef>
              <a:spcAft>
                <a:spcPts val="0"/>
              </a:spcAft>
              <a:buNone/>
            </a:pPr>
            <a:r>
              <a:rPr sz="1200" b="0" i="0" lang="he-IL">
                <a:solidFill>
                  <a:srgbClr val="212121"/>
                </a:solidFill>
              </a:rPr>
              <a:t>     .merge(st, on="product_id")</a:t>
            </a:r>
          </a:p>
          <a:p>
            <a:pPr rtl="0" algn="l" marL="0" indent="0">
              <a:lnSpc>
                <a:spcPct val="105000"/>
              </a:lnSpc>
              <a:spcBef>
                <a:spcPts val="0"/>
              </a:spcBef>
              <a:spcAft>
                <a:spcPts val="0"/>
              </a:spcAft>
              <a:buNone/>
            </a:pPr>
            <a:r>
              <a:rPr sz="1200" b="0" i="0" lang="he-IL">
                <a:solidFill>
                  <a:srgbClr val="212121"/>
                </a:solidFill>
              </a:rPr>
              <a:t>x["d"] = x["product_id"].map(d)</a:t>
            </a:r>
          </a:p>
          <a:p>
            <a:pPr rtl="0" algn="l" marL="0" indent="0">
              <a:lnSpc>
                <a:spcPct val="105000"/>
              </a:lnSpc>
              <a:spcBef>
                <a:spcPts val="0"/>
              </a:spcBef>
              <a:spcAft>
                <a:spcPts val="0"/>
              </a:spcAft>
              <a:buNone/>
            </a:pPr>
            <a:r>
              <a:rPr sz="1200" b="0" i="0" lang="he-IL">
                <a:solidFill>
                  <a:srgbClr val="212121"/>
                </a:solidFill>
              </a:rPr>
              <a:t>x["rop"] = x["d"]*x["lead_time_days"]</a:t>
            </a:r>
          </a:p>
          <a:p>
            <a:pPr rtl="0" algn="l" marL="0" indent="0">
              <a:lnSpc>
                <a:spcPct val="105000"/>
              </a:lnSpc>
              <a:spcBef>
                <a:spcPts val="0"/>
              </a:spcBef>
              <a:spcAft>
                <a:spcPts val="0"/>
              </a:spcAft>
              <a:buNone/>
            </a:pPr>
            <a:r>
              <a:rPr sz="1200" b="0" i="0" lang="he-IL">
                <a:solidFill>
                  <a:srgbClr val="212121"/>
                </a:solidFill>
              </a:rPr>
              <a:t>         + 3 * x["d"]</a:t>
            </a:r>
          </a:p>
        </p:txBody>
      </p:sp>
      <p:sp>
        <p:nvSpPr>
          <p:cNvPr id="6" name="Rectangle 5"/>
          <p:cNvSpPr/>
          <p:nvPr/>
        </p:nvSpPr>
        <p:spPr>
          <a:xfrm>
            <a:off x="365760" y="1828800"/>
            <a:ext cx="4114800" cy="2194560"/>
          </a:xfrm>
          <a:prstGeom prst="rect">
            <a:avLst/>
          </a:prstGeom>
          <a:solidFill>
            <a:srgbClr val="E1F4E6"/>
          </a:solidFill>
          <a:ln w="19050">
            <a:solidFill>
              <a:srgbClr val="34A853"/>
            </a:solidFill>
          </a:ln>
        </p:spPr>
        <p:txBody>
          <a:bodyPr rtlCol="0" anchor="ctr" wrap="square" lIns="73152" rIns="73152" tIns="73152" bIns="73152">
            <a:noAutofit/>
          </a:bodyPr>
          <a:lstStyle/>
          <a:p>
            <a:pPr rtl="0" algn="l" marL="0" indent="0">
              <a:lnSpc>
                <a:spcPct val="105000"/>
              </a:lnSpc>
              <a:spcBef>
                <a:spcPts val="0"/>
              </a:spcBef>
              <a:spcAft>
                <a:spcPts val="0"/>
              </a:spcAft>
              <a:buNone/>
            </a:pPr>
            <a:r>
              <a:rPr sz="1200" b="0" i="0" lang="he-IL">
                <a:solidFill>
                  <a:srgbClr val="212121"/>
                </a:solidFill>
              </a:rPr>
              <a:t>SAFETY_DAYS = 3</a:t>
            </a:r>
          </a:p>
          <a:p>
            <a:pPr rtl="0" algn="l" marL="0" indent="0">
              <a:lnSpc>
                <a:spcPct val="105000"/>
              </a:lnSpc>
              <a:spcBef>
                <a:spcPts val="0"/>
              </a:spcBef>
              <a:spcAft>
                <a:spcPts val="0"/>
              </a:spcAft>
              <a:buNone/>
            </a:pPr>
            <a:r>
              <a:rPr sz="1200" b="0" i="0" lang="he-IL">
                <a:solidFill>
                  <a:srgbClr val="212121"/>
                </a:solidFill>
              </a:rPr>
              <a:t>DAYS_IN_YEAR = 365</a:t>
            </a:r>
          </a:p>
          <a:p>
            <a:pPr rtl="0" algn="l" marL="0" indent="0">
              <a:lnSpc>
                <a:spcPct val="105000"/>
              </a:lnSpc>
              <a:spcBef>
                <a:spcPts val="0"/>
              </a:spcBef>
              <a:spcAft>
                <a:spcPts val="0"/>
              </a:spcAft>
              <a:buNone/>
            </a:pPr>
          </a:p>
          <a:p>
            <a:pPr rtl="0" algn="l" marL="0" indent="0">
              <a:lnSpc>
                <a:spcPct val="105000"/>
              </a:lnSpc>
              <a:spcBef>
                <a:spcPts val="0"/>
              </a:spcBef>
              <a:spcAft>
                <a:spcPts val="0"/>
              </a:spcAft>
              <a:buNone/>
            </a:pPr>
            <a:r>
              <a:rPr sz="1200" b="0" i="0" lang="he-IL">
                <a:solidFill>
                  <a:srgbClr val="212121"/>
                </a:solidFill>
              </a:rPr>
              <a:t>def low_stock_alerts(orders,</a:t>
            </a:r>
          </a:p>
          <a:p>
            <a:pPr rtl="0" algn="l" marL="0" indent="0">
              <a:lnSpc>
                <a:spcPct val="105000"/>
              </a:lnSpc>
              <a:spcBef>
                <a:spcPts val="0"/>
              </a:spcBef>
              <a:spcAft>
                <a:spcPts val="0"/>
              </a:spcAft>
              <a:buNone/>
            </a:pPr>
            <a:r>
              <a:rPr sz="1200" b="0" i="0" lang="he-IL">
                <a:solidFill>
                  <a:srgbClr val="212121"/>
                </a:solidFill>
              </a:rPr>
              <a:t>        products, suppliers, stock):</a:t>
            </a:r>
          </a:p>
          <a:p>
            <a:pPr rtl="0" algn="l" marL="0" indent="0">
              <a:lnSpc>
                <a:spcPct val="105000"/>
              </a:lnSpc>
              <a:spcBef>
                <a:spcPts val="0"/>
              </a:spcBef>
              <a:spcAft>
                <a:spcPts val="0"/>
              </a:spcAft>
              <a:buNone/>
            </a:pPr>
            <a:r>
              <a:rPr sz="1200" b="0" i="0" lang="he-IL">
                <a:solidFill>
                  <a:srgbClr val="212121"/>
                </a:solidFill>
              </a:rPr>
              <a:t>    daily = ... / DAYS_IN_YEAR</a:t>
            </a:r>
          </a:p>
          <a:p>
            <a:pPr rtl="0" algn="l" marL="0" indent="0">
              <a:lnSpc>
                <a:spcPct val="105000"/>
              </a:lnSpc>
              <a:spcBef>
                <a:spcPts val="0"/>
              </a:spcBef>
              <a:spcAft>
                <a:spcPts val="0"/>
              </a:spcAft>
              <a:buNone/>
            </a:pPr>
            <a:r>
              <a:rPr sz="1200" b="0" i="0" lang="he-IL">
                <a:solidFill>
                  <a:srgbClr val="212121"/>
                </a:solidFill>
              </a:rPr>
              <a:t>    ...  # ROP = demand * (lead</a:t>
            </a:r>
          </a:p>
          <a:p>
            <a:pPr rtl="0" algn="l" marL="0" indent="0">
              <a:lnSpc>
                <a:spcPct val="105000"/>
              </a:lnSpc>
              <a:spcBef>
                <a:spcPts val="0"/>
              </a:spcBef>
              <a:spcAft>
                <a:spcPts val="0"/>
              </a:spcAft>
              <a:buNone/>
            </a:pPr>
            <a:r>
              <a:rPr sz="1200" b="0" i="0" lang="he-IL">
                <a:solidFill>
                  <a:srgbClr val="212121"/>
                </a:solidFill>
              </a:rPr>
              <a:t>         + SAFETY_DAYS)</a:t>
            </a:r>
          </a:p>
        </p:txBody>
      </p:sp>
      <p:sp>
        <p:nvSpPr>
          <p:cNvPr id="7" name="Rounded Rectangle 6"/>
          <p:cNvSpPr/>
          <p:nvPr/>
        </p:nvSpPr>
        <p:spPr>
          <a:xfrm>
            <a:off x="4663440" y="1371600"/>
            <a:ext cx="4114800" cy="365760"/>
          </a:xfrm>
          <a:prstGeom prst="roundRect">
            <a:avLst>
              <a:gd name="adj" fmla="val 12000"/>
            </a:avLst>
          </a:prstGeom>
          <a:solidFill>
            <a:srgbClr val="FDE3E0"/>
          </a:solidFill>
          <a:ln w="19050">
            <a:solidFill>
              <a:srgbClr val="EA4335"/>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400" b="1" i="0" lang="he-IL">
                <a:solidFill>
                  <a:srgbClr val="212121"/>
                </a:solidFill>
              </a:rPr>
              <a:t>לפני</a:t>
            </a:r>
          </a:p>
        </p:txBody>
      </p:sp>
      <p:sp>
        <p:nvSpPr>
          <p:cNvPr id="8" name="Rounded Rectangle 7"/>
          <p:cNvSpPr/>
          <p:nvPr/>
        </p:nvSpPr>
        <p:spPr>
          <a:xfrm>
            <a:off x="365760" y="1371600"/>
            <a:ext cx="4114800" cy="365760"/>
          </a:xfrm>
          <a:prstGeom prst="roundRect">
            <a:avLst>
              <a:gd name="adj" fmla="val 12000"/>
            </a:avLst>
          </a:prstGeom>
          <a:solidFill>
            <a:srgbClr val="E1F4E6"/>
          </a:solidFill>
          <a:ln w="1905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400" b="1" i="0" lang="he-IL">
                <a:solidFill>
                  <a:srgbClr val="212121"/>
                </a:solidFill>
              </a:rPr>
              <a:t>אחרי</a:t>
            </a:r>
          </a:p>
        </p:txBody>
      </p:sp>
      <p:sp>
        <p:nvSpPr>
          <p:cNvPr id="9" name="TextBox 8"/>
          <p:cNvSpPr txBox="1"/>
          <p:nvPr/>
        </p:nvSpPr>
        <p:spPr>
          <a:xfrm>
            <a:off x="365760" y="4297680"/>
            <a:ext cx="8412480" cy="73152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אותו חישוב. הקוד השני אומר מה הוא עושה.</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11 - חלק א׳ :</a:t>
            </a:r>
            <a:r>
              <a:rPr sz="3000" b="1" i="0" lang="he-IL">
                <a:solidFill>
                  <a:srgbClr val="212121"/>
                </a:solidFill>
              </a:rPr>
              <a:t>צעד קטן בכל פעם</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7223759" y="1645920"/>
            <a:ext cx="1554480" cy="1280160"/>
          </a:xfrm>
          <a:prstGeom prst="roundRect">
            <a:avLst>
              <a:gd name="adj" fmla="val 12000"/>
            </a:avLst>
          </a:prstGeom>
          <a:solidFill>
            <a:srgbClr val="E1F4E6"/>
          </a:solidFill>
          <a:ln w="1905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בדיקות</a:t>
            </a:r>
          </a:p>
          <a:p>
            <a:pPr rtl="1" algn="ctr" marL="0" indent="0">
              <a:lnSpc>
                <a:spcPct val="105000"/>
              </a:lnSpc>
              <a:spcBef>
                <a:spcPts val="0"/>
              </a:spcBef>
              <a:spcAft>
                <a:spcPts val="0"/>
              </a:spcAft>
              <a:buNone/>
            </a:pPr>
            <a:r>
              <a:rPr sz="1500" b="1" i="0" lang="he-IL">
                <a:solidFill>
                  <a:srgbClr val="212121"/>
                </a:solidFill>
              </a:rPr>
              <a:t>ירוקות</a:t>
            </a:r>
          </a:p>
        </p:txBody>
      </p:sp>
      <p:cxnSp>
        <p:nvCxnSpPr>
          <p:cNvPr id="6" name="Connector 5"/>
          <p:cNvCxnSpPr/>
          <p:nvPr/>
        </p:nvCxnSpPr>
        <p:spPr>
          <a:xfrm flipH="1">
            <a:off x="7013447" y="2286000"/>
            <a:ext cx="192025" cy="0"/>
          </a:xfrm>
          <a:prstGeom prst="line">
            <a:avLst/>
          </a:prstGeom>
          <a:ln w="3175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5440679" y="1645920"/>
            <a:ext cx="1554480" cy="128016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בקשה</a:t>
            </a:r>
          </a:p>
          <a:p>
            <a:pPr rtl="1" algn="ctr" marL="0" indent="0">
              <a:lnSpc>
                <a:spcPct val="105000"/>
              </a:lnSpc>
              <a:spcBef>
                <a:spcPts val="0"/>
              </a:spcBef>
              <a:spcAft>
                <a:spcPts val="0"/>
              </a:spcAft>
              <a:buNone/>
            </a:pPr>
            <a:r>
              <a:rPr sz="1500" b="1" i="0" lang="he-IL">
                <a:solidFill>
                  <a:srgbClr val="212121"/>
                </a:solidFill>
              </a:rPr>
              <a:t>ממוקדת ל־AI</a:t>
            </a:r>
          </a:p>
        </p:txBody>
      </p:sp>
      <p:cxnSp>
        <p:nvCxnSpPr>
          <p:cNvPr id="8" name="Connector 7"/>
          <p:cNvCxnSpPr/>
          <p:nvPr/>
        </p:nvCxnSpPr>
        <p:spPr>
          <a:xfrm flipH="1">
            <a:off x="5230367" y="2286000"/>
            <a:ext cx="192025" cy="0"/>
          </a:xfrm>
          <a:prstGeom prst="line">
            <a:avLst/>
          </a:prstGeom>
          <a:ln w="3175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657599" y="1645920"/>
            <a:ext cx="1554480" cy="1280160"/>
          </a:xfrm>
          <a:prstGeom prst="roundRect">
            <a:avLst>
              <a:gd name="adj" fmla="val 12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קוראים</a:t>
            </a:r>
          </a:p>
          <a:p>
            <a:pPr rtl="1" algn="ctr" marL="0" indent="0">
              <a:lnSpc>
                <a:spcPct val="105000"/>
              </a:lnSpc>
              <a:spcBef>
                <a:spcPts val="0"/>
              </a:spcBef>
              <a:spcAft>
                <a:spcPts val="0"/>
              </a:spcAft>
              <a:buNone/>
            </a:pPr>
            <a:r>
              <a:rPr sz="1500" b="1" i="0" lang="he-IL">
                <a:solidFill>
                  <a:srgbClr val="212121"/>
                </a:solidFill>
              </a:rPr>
              <a:t>את ה־diff</a:t>
            </a:r>
          </a:p>
        </p:txBody>
      </p:sp>
      <p:cxnSp>
        <p:nvCxnSpPr>
          <p:cNvPr id="10" name="Connector 9"/>
          <p:cNvCxnSpPr/>
          <p:nvPr/>
        </p:nvCxnSpPr>
        <p:spPr>
          <a:xfrm flipH="1">
            <a:off x="3447287" y="2286000"/>
            <a:ext cx="192024" cy="0"/>
          </a:xfrm>
          <a:prstGeom prst="line">
            <a:avLst/>
          </a:prstGeom>
          <a:ln w="3175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1874519" y="1645920"/>
            <a:ext cx="1554480" cy="1280160"/>
          </a:xfrm>
          <a:prstGeom prst="roundRect">
            <a:avLst>
              <a:gd name="adj" fmla="val 12000"/>
            </a:avLst>
          </a:prstGeom>
          <a:solidFill>
            <a:srgbClr val="E1F4E6"/>
          </a:solidFill>
          <a:ln w="1905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בדיקות</a:t>
            </a:r>
          </a:p>
          <a:p>
            <a:pPr rtl="1" algn="ctr" marL="0" indent="0">
              <a:lnSpc>
                <a:spcPct val="105000"/>
              </a:lnSpc>
              <a:spcBef>
                <a:spcPts val="0"/>
              </a:spcBef>
              <a:spcAft>
                <a:spcPts val="0"/>
              </a:spcAft>
              <a:buNone/>
            </a:pPr>
            <a:r>
              <a:rPr sz="1500" b="1" i="0" lang="he-IL">
                <a:solidFill>
                  <a:srgbClr val="212121"/>
                </a:solidFill>
              </a:rPr>
              <a:t>ירוקות?</a:t>
            </a:r>
          </a:p>
        </p:txBody>
      </p:sp>
      <p:cxnSp>
        <p:nvCxnSpPr>
          <p:cNvPr id="12" name="Connector 11"/>
          <p:cNvCxnSpPr/>
          <p:nvPr/>
        </p:nvCxnSpPr>
        <p:spPr>
          <a:xfrm flipH="1">
            <a:off x="1664207" y="2286000"/>
            <a:ext cx="192024" cy="0"/>
          </a:xfrm>
          <a:prstGeom prst="line">
            <a:avLst/>
          </a:prstGeom>
          <a:ln w="3175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1439" y="1645920"/>
            <a:ext cx="1554480" cy="1280160"/>
          </a:xfrm>
          <a:prstGeom prst="roundRect">
            <a:avLst>
              <a:gd name="adj" fmla="val 12000"/>
            </a:avLst>
          </a:prstGeom>
          <a:solidFill>
            <a:srgbClr val="DDF2F5"/>
          </a:solidFill>
          <a:ln w="19050">
            <a:solidFill>
              <a:srgbClr val="0097A7"/>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commit</a:t>
            </a:r>
          </a:p>
        </p:txBody>
      </p:sp>
      <p:cxnSp>
        <p:nvCxnSpPr>
          <p:cNvPr id="14" name="Connector 13"/>
          <p:cNvCxnSpPr/>
          <p:nvPr/>
        </p:nvCxnSpPr>
        <p:spPr>
          <a:xfrm>
            <a:off x="1097280" y="3063240"/>
            <a:ext cx="6583680" cy="0"/>
          </a:xfrm>
          <a:prstGeom prst="line">
            <a:avLst/>
          </a:prstGeom>
          <a:ln w="31750">
            <a:solidFill>
              <a:srgbClr val="78909C"/>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2286000" y="3108960"/>
            <a:ext cx="502920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500" b="1" i="0" lang="he-IL">
                <a:solidFill>
                  <a:srgbClr val="595959"/>
                </a:solidFill>
              </a:rPr>
              <a:t>חוזרים על המעגל לכל צעד</a:t>
            </a:r>
          </a:p>
        </p:txBody>
      </p:sp>
      <p:sp>
        <p:nvSpPr>
          <p:cNvPr id="16" name="TextBox 15"/>
          <p:cNvSpPr txBox="1"/>
          <p:nvPr/>
        </p:nvSpPr>
        <p:spPr>
          <a:xfrm>
            <a:off x="365760" y="3840480"/>
            <a:ext cx="8412480" cy="109728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EA4335"/>
                </a:solidFill>
              </a:rPr>
              <a:t>אדום באמצע? מבטלים את הצעד האחרון, ולא מתקנים על גבי תקלה.</a:t>
            </a:r>
          </a:p>
          <a:p>
            <a:pPr rtl="1" algn="ctr" marL="0" indent="0">
              <a:lnSpc>
                <a:spcPct val="110000"/>
              </a:lnSpc>
              <a:spcBef>
                <a:spcPts val="0"/>
              </a:spcBef>
              <a:spcAft>
                <a:spcPts val="0"/>
              </a:spcAft>
              <a:buNone/>
            </a:pPr>
            <a:r>
              <a:rPr sz="1700" b="0" i="0" lang="he-IL">
                <a:solidFill>
                  <a:srgbClr val="595959"/>
                </a:solidFill>
              </a:rPr>
              <a:t>בגלל זה commit אחרי כל צעד (מפגש 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11 - חלק א׳ :</a:t>
            </a:r>
            <a:r>
              <a:rPr sz="3000" b="1" i="0" lang="he-IL">
                <a:solidFill>
                  <a:srgbClr val="212121"/>
                </a:solidFill>
              </a:rPr>
              <a:t>קוד בלי בדיקות</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365760" y="1371600"/>
            <a:ext cx="4023360" cy="2926080"/>
          </a:xfrm>
          <a:prstGeom prst="roundRect">
            <a:avLst>
              <a:gd name="adj" fmla="val 3000"/>
            </a:avLst>
          </a:prstGeom>
          <a:solidFill>
            <a:srgbClr val="1E1E1E"/>
          </a:solidFill>
          <a:ln w="19050">
            <a:solidFill>
              <a:srgbClr val="1E1E1E"/>
            </a:solidFill>
          </a:ln>
        </p:spPr>
        <p:txBody>
          <a:bodyPr rtlCol="0" anchor="ctr" wrap="square" lIns="73152" rIns="73152" tIns="73152" bIns="73152">
            <a:noAutofit/>
          </a:bodyPr>
          <a:lstStyle/>
          <a:p>
            <a:pPr algn="ctr"/>
          </a:p>
        </p:txBody>
      </p:sp>
      <p:sp>
        <p:nvSpPr>
          <p:cNvPr id="6" name="Rectangle 5"/>
          <p:cNvSpPr/>
          <p:nvPr/>
        </p:nvSpPr>
        <p:spPr>
          <a:xfrm>
            <a:off x="365760" y="1371600"/>
            <a:ext cx="4023360" cy="310896"/>
          </a:xfrm>
          <a:prstGeom prst="rect">
            <a:avLst/>
          </a:prstGeom>
          <a:solidFill>
            <a:srgbClr val="333333"/>
          </a:solidFill>
          <a:ln w="19050">
            <a:solidFill>
              <a:srgbClr val="333333"/>
            </a:solidFill>
          </a:ln>
        </p:spPr>
        <p:txBody>
          <a:bodyPr rtlCol="0" anchor="ctr" wrap="square" lIns="73152" rIns="73152" tIns="73152" bIns="73152">
            <a:noAutofit/>
          </a:bodyPr>
          <a:lstStyle/>
          <a:p>
            <a:pPr rtl="1" algn="l" marL="0" indent="0">
              <a:lnSpc>
                <a:spcPct val="105000"/>
              </a:lnSpc>
              <a:spcBef>
                <a:spcPts val="0"/>
              </a:spcBef>
              <a:spcAft>
                <a:spcPts val="0"/>
              </a:spcAft>
              <a:buNone/>
            </a:pPr>
            <a:r>
              <a:rPr sz="1200" b="0" i="0" lang="he-IL">
                <a:solidFill>
                  <a:srgbClr val="BBBBBB"/>
                </a:solidFill>
              </a:rPr>
              <a:t>● ● ●   מסוף (Terminal)</a:t>
            </a:r>
          </a:p>
        </p:txBody>
      </p:sp>
      <p:sp>
        <p:nvSpPr>
          <p:cNvPr id="7" name="TextBox 6"/>
          <p:cNvSpPr txBox="1"/>
          <p:nvPr/>
        </p:nvSpPr>
        <p:spPr>
          <a:xfrm>
            <a:off x="457200" y="1755648"/>
            <a:ext cx="3840480" cy="2468880"/>
          </a:xfrm>
          <a:prstGeom prst="rect">
            <a:avLst/>
          </a:prstGeom>
          <a:noFill/>
        </p:spPr>
        <p:txBody>
          <a:bodyPr wrap="square" lIns="36576" rIns="36576" tIns="36576" bIns="36576" anchor="t">
            <a:noAutofit/>
          </a:bodyPr>
          <a:lstStyle/>
          <a:p>
            <a:pPr rtl="0" algn="l" marL="0" indent="0">
              <a:lnSpc>
                <a:spcPct val="114999"/>
              </a:lnSpc>
              <a:spcBef>
                <a:spcPts val="0"/>
              </a:spcBef>
              <a:spcAft>
                <a:spcPts val="0"/>
              </a:spcAft>
              <a:buNone/>
            </a:pPr>
            <a:r>
              <a:rPr sz="1200" b="0" i="0" lang="he-IL">
                <a:solidFill>
                  <a:srgbClr val="7CFC8A"/>
                </a:solidFill>
                <a:latin typeface="Courier New"/>
                <a:ea typeface="Courier New"/>
                <a:cs typeface="Courier New"/>
              </a:rPr>
              <a:t>$ python messy_report.py &gt; expected_output.txt</a:t>
            </a:r>
          </a:p>
          <a:p>
            <a:pPr rtl="0" algn="l" marL="0" indent="0">
              <a:lnSpc>
                <a:spcPct val="114999"/>
              </a:lnSpc>
              <a:spcBef>
                <a:spcPts val="0"/>
              </a:spcBef>
              <a:spcAft>
                <a:spcPts val="0"/>
              </a:spcAft>
              <a:buNone/>
            </a:pPr>
            <a:r>
              <a:rPr sz="1200" b="0" i="0" lang="he-IL">
                <a:solidFill>
                  <a:srgbClr val="EEEEEE"/>
                </a:solidFill>
                <a:latin typeface="Courier New"/>
                <a:ea typeface="Courier New"/>
                <a:cs typeface="Courier New"/>
              </a:rPr>
              <a:t> </a:t>
            </a:r>
          </a:p>
          <a:p>
            <a:pPr rtl="0" algn="l" marL="0" indent="0">
              <a:lnSpc>
                <a:spcPct val="114999"/>
              </a:lnSpc>
              <a:spcBef>
                <a:spcPts val="0"/>
              </a:spcBef>
              <a:spcAft>
                <a:spcPts val="0"/>
              </a:spcAft>
              <a:buNone/>
            </a:pPr>
            <a:r>
              <a:rPr sz="1200" b="0" i="0" lang="he-IL">
                <a:solidFill>
                  <a:srgbClr val="EEEEEE"/>
                </a:solidFill>
                <a:latin typeface="Courier New"/>
                <a:ea typeface="Courier New"/>
                <a:cs typeface="Courier New"/>
              </a:rPr>
              <a:t>REVENUE BY CATEGORY</a:t>
            </a:r>
          </a:p>
          <a:p>
            <a:pPr rtl="0" algn="l" marL="0" indent="0">
              <a:lnSpc>
                <a:spcPct val="114999"/>
              </a:lnSpc>
              <a:spcBef>
                <a:spcPts val="0"/>
              </a:spcBef>
              <a:spcAft>
                <a:spcPts val="0"/>
              </a:spcAft>
              <a:buNone/>
            </a:pPr>
            <a:r>
              <a:rPr sz="1200" b="0" i="0" lang="he-IL">
                <a:solidFill>
                  <a:srgbClr val="EEEEEE"/>
                </a:solidFill>
                <a:latin typeface="Courier New"/>
                <a:ea typeface="Courier New"/>
                <a:cs typeface="Courier New"/>
              </a:rPr>
              <a:t>Office 185100.0</a:t>
            </a:r>
          </a:p>
          <a:p>
            <a:pPr rtl="0" algn="l" marL="0" indent="0">
              <a:lnSpc>
                <a:spcPct val="114999"/>
              </a:lnSpc>
              <a:spcBef>
                <a:spcPts val="0"/>
              </a:spcBef>
              <a:spcAft>
                <a:spcPts val="0"/>
              </a:spcAft>
              <a:buNone/>
            </a:pPr>
            <a:r>
              <a:rPr sz="1200" b="0" i="0" lang="he-IL">
                <a:solidFill>
                  <a:srgbClr val="EEEEEE"/>
                </a:solidFill>
                <a:latin typeface="Courier New"/>
                <a:ea typeface="Courier New"/>
                <a:cs typeface="Courier New"/>
              </a:rPr>
              <a:t>Home 182963.0</a:t>
            </a:r>
          </a:p>
          <a:p>
            <a:pPr rtl="0" algn="l" marL="0" indent="0">
              <a:lnSpc>
                <a:spcPct val="114999"/>
              </a:lnSpc>
              <a:spcBef>
                <a:spcPts val="0"/>
              </a:spcBef>
              <a:spcAft>
                <a:spcPts val="0"/>
              </a:spcAft>
              <a:buNone/>
            </a:pPr>
            <a:r>
              <a:rPr sz="1200" b="0" i="0" lang="he-IL">
                <a:solidFill>
                  <a:srgbClr val="EEEEEE"/>
                </a:solidFill>
                <a:latin typeface="Courier New"/>
                <a:ea typeface="Courier New"/>
                <a:cs typeface="Courier New"/>
              </a:rPr>
              <a:t>...</a:t>
            </a:r>
          </a:p>
        </p:txBody>
      </p:sp>
      <p:sp>
        <p:nvSpPr>
          <p:cNvPr id="8" name="Rectangle 7"/>
          <p:cNvSpPr/>
          <p:nvPr/>
        </p:nvSpPr>
        <p:spPr>
          <a:xfrm>
            <a:off x="4572000" y="1371600"/>
            <a:ext cx="4206240" cy="1645920"/>
          </a:xfrm>
          <a:prstGeom prst="rect">
            <a:avLst/>
          </a:prstGeom>
          <a:solidFill>
            <a:srgbClr val="E1F4E6"/>
          </a:solidFill>
          <a:ln w="19050">
            <a:solidFill>
              <a:srgbClr val="34A853"/>
            </a:solidFill>
          </a:ln>
        </p:spPr>
        <p:txBody>
          <a:bodyPr rtlCol="0" anchor="ctr" wrap="square" lIns="73152" rIns="73152" tIns="73152" bIns="73152">
            <a:noAutofit/>
          </a:bodyPr>
          <a:lstStyle/>
          <a:p>
            <a:pPr rtl="0" algn="l" marL="0" indent="0">
              <a:lnSpc>
                <a:spcPct val="105000"/>
              </a:lnSpc>
              <a:spcBef>
                <a:spcPts val="0"/>
              </a:spcBef>
              <a:spcAft>
                <a:spcPts val="0"/>
              </a:spcAft>
              <a:buNone/>
            </a:pPr>
            <a:r>
              <a:rPr sz="1200" b="0" i="0" lang="he-IL">
                <a:solidFill>
                  <a:srgbClr val="212121"/>
                </a:solidFill>
              </a:rPr>
              <a:t>def test_output_unchanged():</a:t>
            </a:r>
          </a:p>
          <a:p>
            <a:pPr rtl="0" algn="l" marL="0" indent="0">
              <a:lnSpc>
                <a:spcPct val="105000"/>
              </a:lnSpc>
              <a:spcBef>
                <a:spcPts val="0"/>
              </a:spcBef>
              <a:spcAft>
                <a:spcPts val="0"/>
              </a:spcAft>
              <a:buNone/>
            </a:pPr>
            <a:r>
              <a:rPr sz="1200" b="0" i="0" lang="he-IL">
                <a:solidFill>
                  <a:srgbClr val="212121"/>
                </a:solidFill>
              </a:rPr>
              <a:t>    out = run("messy_report.py")</a:t>
            </a:r>
          </a:p>
          <a:p>
            <a:pPr rtl="0" algn="l" marL="0" indent="0">
              <a:lnSpc>
                <a:spcPct val="105000"/>
              </a:lnSpc>
              <a:spcBef>
                <a:spcPts val="0"/>
              </a:spcBef>
              <a:spcAft>
                <a:spcPts val="0"/>
              </a:spcAft>
              <a:buNone/>
            </a:pPr>
            <a:r>
              <a:rPr sz="1200" b="0" i="0" lang="he-IL">
                <a:solidFill>
                  <a:srgbClr val="212121"/>
                </a:solidFill>
              </a:rPr>
              <a:t>    assert out == expected_output</a:t>
            </a:r>
          </a:p>
        </p:txBody>
      </p:sp>
      <p:sp>
        <p:nvSpPr>
          <p:cNvPr id="9" name="TextBox 8"/>
          <p:cNvSpPr txBox="1"/>
          <p:nvPr/>
        </p:nvSpPr>
        <p:spPr>
          <a:xfrm>
            <a:off x="4572000" y="3200400"/>
            <a:ext cx="4206240" cy="137160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700" b="1" i="0" lang="he-IL">
                <a:solidFill>
                  <a:srgbClr val="212121"/>
                </a:solidFill>
              </a:rPr>
              <a:t>שומרים את הפלט הנוכחי כ"אמת", ובודקים שהוא לא משתנה.</a:t>
            </a:r>
          </a:p>
          <a:p>
            <a:pPr rtl="1" algn="r" marL="0" indent="0">
              <a:lnSpc>
                <a:spcPct val="110000"/>
              </a:lnSpc>
              <a:spcBef>
                <a:spcPts val="0"/>
              </a:spcBef>
              <a:spcAft>
                <a:spcPts val="0"/>
              </a:spcAft>
              <a:buNone/>
            </a:pPr>
            <a:r>
              <a:rPr sz="1400" b="0" i="0" lang="he-IL">
                <a:solidFill>
                  <a:srgbClr val="595959"/>
                </a:solidFill>
              </a:rPr>
              <a:t>זו בדיקת רגרסיה (מפגש 9). בלי מפרט, ירוק אינו בהכרח נכון (מפגש 8).</a:t>
            </a:r>
          </a:p>
        </p:txBody>
      </p:sp>
      <p:sp>
        <p:nvSpPr>
          <p:cNvPr id="10" name="TextBox 9"/>
          <p:cNvSpPr txBox="1"/>
          <p:nvPr/>
        </p:nvSpPr>
        <p:spPr>
          <a:xfrm>
            <a:off x="365760" y="4572000"/>
            <a:ext cx="841248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595959"/>
                </a:solidFill>
              </a:rPr>
              <a:t>לא בודק שהקוד נכון. בודק שלא שברנו אותו תוך כדי סידור.</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11 - חלק א׳ :</a:t>
            </a:r>
            <a:r>
              <a:rPr sz="3000" b="1" i="0" lang="he-IL">
                <a:solidFill>
                  <a:srgbClr val="212121"/>
                </a:solidFill>
              </a:rPr>
              <a:t>טעות נפוצה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TextBox 4"/>
          <p:cNvSpPr txBox="1"/>
          <p:nvPr/>
        </p:nvSpPr>
        <p:spPr>
          <a:xfrm>
            <a:off x="365760" y="1325880"/>
            <a:ext cx="8412480" cy="82296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500" b="1" i="0" lang="he-IL">
                <a:solidFill>
                  <a:srgbClr val="EA4335"/>
                </a:solidFill>
              </a:rPr>
              <a:t>"נבקש מה־AI לשכתב את כל הקובץ, יצא יפה יותר."</a:t>
            </a:r>
          </a:p>
        </p:txBody>
      </p:sp>
      <p:sp>
        <p:nvSpPr>
          <p:cNvPr id="6" name="Rounded Rectangle 5"/>
          <p:cNvSpPr/>
          <p:nvPr/>
        </p:nvSpPr>
        <p:spPr>
          <a:xfrm>
            <a:off x="4663440" y="2377440"/>
            <a:ext cx="4114800" cy="2011680"/>
          </a:xfrm>
          <a:prstGeom prst="roundRect">
            <a:avLst>
              <a:gd name="adj" fmla="val 12000"/>
            </a:avLst>
          </a:prstGeom>
          <a:solidFill>
            <a:srgbClr val="FDE3E0"/>
          </a:solidFill>
          <a:ln w="31750">
            <a:solidFill>
              <a:srgbClr val="EA4335"/>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900" b="1" i="0" lang="he-IL">
                <a:solidFill>
                  <a:srgbClr val="212121"/>
                </a:solidFill>
              </a:rPr>
              <a:t>שכתוב אחד גדול</a:t>
            </a:r>
          </a:p>
          <a:p>
            <a:pPr rtl="1" algn="ctr" marL="0" indent="0">
              <a:lnSpc>
                <a:spcPct val="105000"/>
              </a:lnSpc>
              <a:spcBef>
                <a:spcPts val="0"/>
              </a:spcBef>
              <a:spcAft>
                <a:spcPts val="0"/>
              </a:spcAft>
              <a:buNone/>
            </a:pPr>
            <a:r>
              <a:rPr sz="1500" b="0" i="0" lang="he-IL">
                <a:solidFill>
                  <a:srgbClr val="212121"/>
                </a:solidFill>
              </a:rPr>
              <a:t>diff של 400 שורות. קשה לקרוא, קשה לבדוק, ואי אפשר לבטל חלק.</a:t>
            </a:r>
          </a:p>
        </p:txBody>
      </p:sp>
      <p:sp>
        <p:nvSpPr>
          <p:cNvPr id="7" name="Rounded Rectangle 6"/>
          <p:cNvSpPr/>
          <p:nvPr/>
        </p:nvSpPr>
        <p:spPr>
          <a:xfrm>
            <a:off x="365760" y="2377440"/>
            <a:ext cx="4114800" cy="2011680"/>
          </a:xfrm>
          <a:prstGeom prst="roundRect">
            <a:avLst>
              <a:gd name="adj" fmla="val 12000"/>
            </a:avLst>
          </a:prstGeom>
          <a:solidFill>
            <a:srgbClr val="E1F4E6"/>
          </a:solidFill>
          <a:ln w="3175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900" b="1" i="0" lang="he-IL">
                <a:solidFill>
                  <a:srgbClr val="212121"/>
                </a:solidFill>
              </a:rPr>
              <a:t>חמישה צעדים קטנים</a:t>
            </a:r>
          </a:p>
          <a:p>
            <a:pPr rtl="1" algn="ctr" marL="0" indent="0">
              <a:lnSpc>
                <a:spcPct val="105000"/>
              </a:lnSpc>
              <a:spcBef>
                <a:spcPts val="0"/>
              </a:spcBef>
              <a:spcAft>
                <a:spcPts val="0"/>
              </a:spcAft>
              <a:buNone/>
            </a:pPr>
            <a:r>
              <a:rPr sz="1500" b="0" i="0" lang="he-IL">
                <a:solidFill>
                  <a:srgbClr val="212121"/>
                </a:solidFill>
              </a:rPr>
              <a:t>כל diff קצר, בדיקות ירוקות אחרי כל צעד, ו־commit שאפשר לחזור אליו.</a:t>
            </a:r>
          </a:p>
        </p:txBody>
      </p:sp>
      <p:sp>
        <p:nvSpPr>
          <p:cNvPr id="8" name="Tag אופציונלי"/>
          <p:cNvSpPr/>
          <p:nvPr/>
        </p:nvSpPr>
        <p:spPr>
          <a:xfrm>
            <a:off x="109728" y="91440"/>
            <a:ext cx="1417320" cy="384048"/>
          </a:xfrm>
          <a:prstGeom prst="roundRect">
            <a:avLst>
              <a:gd name="adj" fmla="val 40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אופציונלי</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11 - חלק א׳ :</a:t>
            </a:r>
            <a:r>
              <a:rPr sz="3000" b="1" i="0" lang="he-IL">
                <a:solidFill>
                  <a:srgbClr val="212121"/>
                </a:solidFill>
              </a:rPr>
              <a:t>שאלת בדיקה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TextBox 4"/>
          <p:cNvSpPr txBox="1"/>
          <p:nvPr/>
        </p:nvSpPr>
        <p:spPr>
          <a:xfrm>
            <a:off x="365760" y="1463040"/>
            <a:ext cx="8412480" cy="29260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600" b="1" i="0" lang="he-IL">
                <a:solidFill>
                  <a:srgbClr val="4285F4"/>
                </a:solidFill>
              </a:rPr>
              <a:t>הסוכן שינה מבנה והבדיקות הפכו אדומות. מה עושים?</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11 - חלק א׳ :</a:t>
            </a:r>
            <a:r>
              <a:rPr sz="3000" b="1" i="0" lang="he-IL">
                <a:solidFill>
                  <a:srgbClr val="212121"/>
                </a:solidFill>
              </a:rPr>
              <a:t>שאלת בדיקה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TextBox 4"/>
          <p:cNvSpPr txBox="1"/>
          <p:nvPr/>
        </p:nvSpPr>
        <p:spPr>
          <a:xfrm>
            <a:off x="365760" y="1371600"/>
            <a:ext cx="8412480" cy="91440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700" b="0" i="0" lang="he-IL">
                <a:solidFill>
                  <a:srgbClr val="595959"/>
                </a:solidFill>
              </a:rPr>
              <a:t>הסוכן שינה מבנה והבדיקות הפכו אדומות. מה עושים?</a:t>
            </a:r>
          </a:p>
        </p:txBody>
      </p:sp>
      <p:sp>
        <p:nvSpPr>
          <p:cNvPr id="6" name="TextBox 5"/>
          <p:cNvSpPr txBox="1"/>
          <p:nvPr/>
        </p:nvSpPr>
        <p:spPr>
          <a:xfrm>
            <a:off x="365760" y="2423160"/>
            <a:ext cx="8412480" cy="2651760"/>
          </a:xfrm>
          <a:prstGeom prst="rect">
            <a:avLst/>
          </a:prstGeom>
          <a:noFill/>
        </p:spPr>
        <p:txBody>
          <a:bodyPr wrap="square" lIns="73152" rIns="73152" tIns="73152" bIns="73152" anchor="t">
            <a:noAutofit/>
          </a:bodyPr>
          <a:lstStyle/>
          <a:p>
            <a:pPr rtl="1" algn="r" marL="0" indent="0">
              <a:lnSpc>
                <a:spcPct val="110000"/>
              </a:lnSpc>
              <a:spcBef>
                <a:spcPts val="0"/>
              </a:spcBef>
              <a:spcAft>
                <a:spcPts val="400"/>
              </a:spcAft>
              <a:buNone/>
            </a:pPr>
            <a:r>
              <a:rPr sz="2200" b="1" i="0" lang="he-IL">
                <a:solidFill>
                  <a:srgbClr val="34A853"/>
                </a:solidFill>
              </a:rPr>
              <a:t>תשובה:</a:t>
            </a:r>
          </a:p>
          <a:p>
            <a:pPr rtl="1" algn="r" marL="347472" indent="-292608">
              <a:lnSpc>
                <a:spcPct val="110000"/>
              </a:lnSpc>
              <a:spcBef>
                <a:spcPts val="0"/>
              </a:spcBef>
              <a:spcAft>
                <a:spcPts val="600"/>
              </a:spcAft>
              <a:buClr>
                <a:srgbClr val="212121"/>
              </a:buClr>
              <a:buSzPts val="1680"/>
              <a:buChar char="●"/>
            </a:pPr>
            <a:r>
              <a:rPr sz="2100" b="0" i="0" lang="he-IL">
                <a:solidFill>
                  <a:srgbClr val="212121"/>
                </a:solidFill>
              </a:rPr>
              <a:t>מבטלים את הצעד האחרון (חוזרים ל־commit האחרון).</a:t>
            </a:r>
          </a:p>
          <a:p>
            <a:pPr rtl="1" algn="r" marL="347472" indent="-292608">
              <a:lnSpc>
                <a:spcPct val="110000"/>
              </a:lnSpc>
              <a:spcBef>
                <a:spcPts val="0"/>
              </a:spcBef>
              <a:spcAft>
                <a:spcPts val="600"/>
              </a:spcAft>
              <a:buClr>
                <a:srgbClr val="212121"/>
              </a:buClr>
              <a:buSzPts val="1680"/>
              <a:buChar char="●"/>
            </a:pPr>
            <a:r>
              <a:rPr sz="2100" b="0" i="0" lang="he-IL">
                <a:solidFill>
                  <a:srgbClr val="212121"/>
                </a:solidFill>
              </a:rPr>
              <a:t>מנסים שוב צעד קטן יותר. לא מתקנים על גבי תקלה.</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11 - חלק א׳ :קטלוג Refactoring של Fowler</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graphicFrame>
        <p:nvGraphicFramePr>
          <p:cNvPr id="5" name="Table 4"/>
          <p:cNvGraphicFramePr>
            <a:graphicFrameLocks noGrp="1"/>
          </p:cNvGraphicFramePr>
          <p:nvPr/>
        </p:nvGraphicFramePr>
        <p:xfrm>
          <a:off x="360000" y="1368000"/>
          <a:ext cx="8424000" cy="2700000"/>
        </p:xfrm>
        <a:graphic>
          <a:graphicData uri="http://schemas.openxmlformats.org/drawingml/2006/table">
            <a:tbl>
              <a:tblPr firstRow="0" bandRow="0">
                <a:tableStyleId>{2D5ABB26-0587-4C30-8999-92F81FD0307C}</a:tableStyleId>
              </a:tblPr>
              <a:tblGrid>
                <a:gridCol w="3168000"/>
                <a:gridCol w="3024000"/>
                <a:gridCol w="2232000"/>
              </a:tblGrid>
              <a:tr h="540000">
                <a:tc>
                  <a:txBody>
                    <a:bodyPr wrap="square"/>
                    <a:lstStyle/>
                    <a:p>
                      <a:pPr rtl="0" algn="ctr" marL="0" indent="0">
                        <a:lnSpc>
                          <a:spcPct val="100000"/>
                        </a:lnSpc>
                        <a:spcBef>
                          <a:spcPts val="0"/>
                        </a:spcBef>
                        <a:spcAft>
                          <a:spcPts val="0"/>
                        </a:spcAft>
                        <a:buNone/>
                      </a:pPr>
                      <a:r>
                        <a:rPr sz="1500" b="1" i="0" lang="he-IL">
                          <a:solidFill>
                            <a:srgbClr val="212121"/>
                          </a:solidFill>
                        </a:rPr>
                        <a:t>איפה במעבדה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1" algn="ctr" marL="0" indent="0">
                        <a:lnSpc>
                          <a:spcPct val="100000"/>
                        </a:lnSpc>
                        <a:spcBef>
                          <a:spcPts val="0"/>
                        </a:spcBef>
                        <a:spcAft>
                          <a:spcPts val="0"/>
                        </a:spcAft>
                        <a:buNone/>
                      </a:pPr>
                      <a:r>
                        <a:rPr sz="1500" b="1" i="0" lang="he-IL">
                          <a:solidFill>
                            <a:srgbClr val="212121"/>
                          </a:solidFill>
                        </a:rPr>
                        <a:t>מה עושה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0" algn="ctr" marL="0" indent="0">
                        <a:lnSpc>
                          <a:spcPct val="100000"/>
                        </a:lnSpc>
                        <a:spcBef>
                          <a:spcPts val="0"/>
                        </a:spcBef>
                        <a:spcAft>
                          <a:spcPts val="0"/>
                        </a:spcAft>
                        <a:buNone/>
                      </a:pPr>
                      <a:r>
                        <a:rPr sz="1500" b="1" i="0" lang="he-IL">
                          <a:solidFill>
                            <a:srgbClr val="212121"/>
                          </a:solidFill>
                        </a:rPr>
                        <a:t>שם בקטלוג</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r>
              <a:tr h="540000">
                <a:tc>
                  <a:txBody>
                    <a:bodyPr wrap="square"/>
                    <a:lstStyle/>
                    <a:p>
                      <a:pPr rtl="0" algn="l" marL="0" indent="0">
                        <a:lnSpc>
                          <a:spcPct val="100000"/>
                        </a:lnSpc>
                        <a:spcBef>
                          <a:spcPts val="0"/>
                        </a:spcBef>
                        <a:spcAft>
                          <a:spcPts val="0"/>
                        </a:spcAft>
                        <a:buNone/>
                      </a:pPr>
                      <a:r>
                        <a:rPr sz="1500" b="0" i="0" lang="he-IL">
                          <a:solidFill>
                            <a:srgbClr val="212121"/>
                          </a:solidFill>
                        </a:rPr>
                        <a:t>low_stock_v1</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0" i="0" lang="he-IL">
                          <a:solidFill>
                            <a:srgbClr val="212121"/>
                          </a:solidFill>
                        </a:rPr>
                        <a:t>שם שמסביר את הכוונה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0" algn="l" marL="0" indent="0">
                        <a:lnSpc>
                          <a:spcPct val="100000"/>
                        </a:lnSpc>
                        <a:spcBef>
                          <a:spcPts val="0"/>
                        </a:spcBef>
                        <a:spcAft>
                          <a:spcPts val="0"/>
                        </a:spcAft>
                        <a:buNone/>
                      </a:pPr>
                      <a:r>
                        <a:rPr sz="1500" b="1" i="0" lang="he-IL">
                          <a:solidFill>
                            <a:srgbClr val="212121"/>
                          </a:solidFill>
                        </a:rPr>
                        <a:t>Rename Variable</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540000">
                <a:tc>
                  <a:txBody>
                    <a:bodyPr wrap="square"/>
                    <a:lstStyle/>
                    <a:p>
                      <a:pPr rtl="0" algn="l" marL="0" indent="0">
                        <a:lnSpc>
                          <a:spcPct val="100000"/>
                        </a:lnSpc>
                        <a:spcBef>
                          <a:spcPts val="0"/>
                        </a:spcBef>
                        <a:spcAft>
                          <a:spcPts val="0"/>
                        </a:spcAft>
                        <a:buNone/>
                      </a:pPr>
                      <a:r>
                        <a:rPr sz="1500" b="0" i="0" lang="he-IL">
                          <a:solidFill>
                            <a:srgbClr val="212121"/>
                          </a:solidFill>
                        </a:rPr>
                        <a:t>revenue_by_category, add_revenue</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0" i="0" lang="he-IL">
                          <a:solidFill>
                            <a:srgbClr val="212121"/>
                          </a:solidFill>
                        </a:rPr>
                        <a:t>קטע קוד הופך לפונקציה עם שם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0" algn="l" marL="0" indent="0">
                        <a:lnSpc>
                          <a:spcPct val="100000"/>
                        </a:lnSpc>
                        <a:spcBef>
                          <a:spcPts val="0"/>
                        </a:spcBef>
                        <a:spcAft>
                          <a:spcPts val="0"/>
                        </a:spcAft>
                        <a:buNone/>
                      </a:pPr>
                      <a:r>
                        <a:rPr sz="1500" b="1" i="0" lang="he-IL">
                          <a:solidFill>
                            <a:srgbClr val="212121"/>
                          </a:solidFill>
                        </a:rPr>
                        <a:t>Extract Function</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540000">
                <a:tc>
                  <a:txBody>
                    <a:bodyPr wrap="square"/>
                    <a:lstStyle/>
                    <a:p>
                      <a:pPr rtl="0" algn="l" marL="0" indent="0">
                        <a:lnSpc>
                          <a:spcPct val="100000"/>
                        </a:lnSpc>
                        <a:spcBef>
                          <a:spcPts val="0"/>
                        </a:spcBef>
                        <a:spcAft>
                          <a:spcPts val="0"/>
                        </a:spcAft>
                        <a:buNone/>
                      </a:pPr>
                      <a:r>
                        <a:rPr sz="1500" b="0" i="0" lang="he-IL">
                          <a:solidFill>
                            <a:srgbClr val="212121"/>
                          </a:solidFill>
                        </a:rPr>
                        <a:t>SAFETY_DAYS, DAYS_IN_YEAR</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0" i="0" lang="he-IL">
                          <a:solidFill>
                            <a:srgbClr val="212121"/>
                          </a:solidFill>
                        </a:rPr>
                        <a:t>מספר גלוי הופך לקבוע עם שם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0" algn="l" marL="0" indent="0">
                        <a:lnSpc>
                          <a:spcPct val="100000"/>
                        </a:lnSpc>
                        <a:spcBef>
                          <a:spcPts val="0"/>
                        </a:spcBef>
                        <a:spcAft>
                          <a:spcPts val="0"/>
                        </a:spcAft>
                        <a:buNone/>
                      </a:pPr>
                      <a:r>
                        <a:rPr sz="1500" b="1" i="0" lang="he-IL">
                          <a:solidFill>
                            <a:srgbClr val="212121"/>
                          </a:solidFill>
                        </a:rPr>
                        <a:t>Replace Magic Literal</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540000">
                <a:tc>
                  <a:txBody>
                    <a:bodyPr wrap="square"/>
                    <a:lstStyle/>
                    <a:p>
                      <a:pPr rtl="0" algn="l" marL="0" indent="0">
                        <a:lnSpc>
                          <a:spcPct val="100000"/>
                        </a:lnSpc>
                        <a:spcBef>
                          <a:spcPts val="0"/>
                        </a:spcBef>
                        <a:spcAft>
                          <a:spcPts val="0"/>
                        </a:spcAft>
                        <a:buNone/>
                      </a:pPr>
                      <a:r>
                        <a:rPr sz="1500" b="0" i="0" lang="he-IL">
                          <a:solidFill>
                            <a:srgbClr val="212121"/>
                          </a:solidFill>
                        </a:rPr>
                        <a:t>הפונקציות מחזירות, המנוע מדפיס</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0" i="0" lang="he-IL">
                          <a:solidFill>
                            <a:srgbClr val="212121"/>
                          </a:solidFill>
                        </a:rPr>
                        <a:t>מפרידים חישוב מהצגה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0" algn="l" marL="0" indent="0">
                        <a:lnSpc>
                          <a:spcPct val="100000"/>
                        </a:lnSpc>
                        <a:spcBef>
                          <a:spcPts val="0"/>
                        </a:spcBef>
                        <a:spcAft>
                          <a:spcPts val="0"/>
                        </a:spcAft>
                        <a:buNone/>
                      </a:pPr>
                      <a:r>
                        <a:rPr sz="1500" b="1" i="0" lang="he-IL">
                          <a:solidFill>
                            <a:srgbClr val="212121"/>
                          </a:solidFill>
                        </a:rPr>
                        <a:t>Split Phase</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bl>
          </a:graphicData>
        </a:graphic>
      </p:graphicFrame>
      <p:sp>
        <p:nvSpPr>
          <p:cNvPr id="6" name="TextBox 5"/>
          <p:cNvSpPr txBox="1"/>
          <p:nvPr/>
        </p:nvSpPr>
        <p:spPr>
          <a:xfrm>
            <a:off x="365760" y="4320000"/>
            <a:ext cx="8412480" cy="3240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1" i="0" lang="he-IL">
                <a:solidFill>
                  <a:srgbClr val="4285F4"/>
                </a:solidFill>
              </a:rPr>
              <a:t>לכל טכניקה יש שם ושלבים קטנים. אפשר לבקש מה־AI בשמה, ולבדוק ב־diff.</a:t>
            </a:r>
          </a:p>
        </p:txBody>
      </p:sp>
      <p:sp>
        <p:nvSpPr>
          <p:cNvPr id="7" name="Tag העשרה"/>
          <p:cNvSpPr/>
          <p:nvPr/>
        </p:nvSpPr>
        <p:spPr>
          <a:xfrm>
            <a:off x="109728" y="91440"/>
            <a:ext cx="1417320" cy="384048"/>
          </a:xfrm>
          <a:prstGeom prst="roundRect">
            <a:avLst>
              <a:gd name="adj" fmla="val 40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העשרה</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11 - חלק א׳ :מבחן אפיון מול בדיקה רגילה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graphicFrame>
        <p:nvGraphicFramePr>
          <p:cNvPr id="5" name="Table 4"/>
          <p:cNvGraphicFramePr>
            <a:graphicFrameLocks noGrp="1"/>
          </p:cNvGraphicFramePr>
          <p:nvPr/>
        </p:nvGraphicFramePr>
        <p:xfrm>
          <a:off x="360000" y="1368000"/>
          <a:ext cx="8424000" cy="2700000"/>
        </p:xfrm>
        <a:graphic>
          <a:graphicData uri="http://schemas.openxmlformats.org/drawingml/2006/table">
            <a:tbl>
              <a:tblPr firstRow="0" bandRow="0">
                <a:tableStyleId>{2D5ABB26-0587-4C30-8999-92F81FD0307C}</a:tableStyleId>
              </a:tblPr>
              <a:tblGrid>
                <a:gridCol w="3960000"/>
                <a:gridCol w="2880000"/>
                <a:gridCol w="1584000"/>
              </a:tblGrid>
              <a:tr h="540000">
                <a:tc>
                  <a:txBody>
                    <a:bodyPr wrap="square"/>
                    <a:lstStyle/>
                    <a:p>
                      <a:pPr rtl="1" algn="ctr" marL="0" indent="0">
                        <a:lnSpc>
                          <a:spcPct val="100000"/>
                        </a:lnSpc>
                        <a:spcBef>
                          <a:spcPts val="0"/>
                        </a:spcBef>
                        <a:spcAft>
                          <a:spcPts val="0"/>
                        </a:spcAft>
                        <a:buNone/>
                      </a:pPr>
                      <a:r>
                        <a:rPr sz="1500" b="1" i="0" lang="he-IL">
                          <a:solidFill>
                            <a:srgbClr val="212121"/>
                          </a:solidFill>
                        </a:rPr>
                        <a:t>מבחן אפיון (golden master)</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1" algn="ctr" marL="0" indent="0">
                        <a:lnSpc>
                          <a:spcPct val="100000"/>
                        </a:lnSpc>
                        <a:spcBef>
                          <a:spcPts val="0"/>
                        </a:spcBef>
                        <a:spcAft>
                          <a:spcPts val="0"/>
                        </a:spcAft>
                        <a:buNone/>
                      </a:pPr>
                      <a:r>
                        <a:rPr sz="1500" b="1" i="0" lang="he-IL">
                          <a:solidFill>
                            <a:srgbClr val="212121"/>
                          </a:solidFill>
                        </a:rPr>
                        <a:t>בדיקה רגילה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1" algn="ctr" marL="0" indent="0">
                        <a:lnSpc>
                          <a:spcPct val="100000"/>
                        </a:lnSpc>
                        <a:spcBef>
                          <a:spcPts val="0"/>
                        </a:spcBef>
                        <a:spcAft>
                          <a:spcPts val="0"/>
                        </a:spcAft>
                        <a:buNone/>
                      </a:pP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r>
              <a:tr h="540000">
                <a:tc>
                  <a:txBody>
                    <a:bodyPr wrap="square"/>
                    <a:lstStyle/>
                    <a:p>
                      <a:pPr rtl="1" algn="r" marL="0" indent="0">
                        <a:lnSpc>
                          <a:spcPct val="100000"/>
                        </a:lnSpc>
                        <a:spcBef>
                          <a:spcPts val="0"/>
                        </a:spcBef>
                        <a:spcAft>
                          <a:spcPts val="0"/>
                        </a:spcAft>
                        <a:buNone/>
                      </a:pPr>
                      <a:r>
                        <a:rPr sz="1500" b="0" i="0" lang="he-IL">
                          <a:solidFill>
                            <a:srgbClr val="212121"/>
                          </a:solidFill>
                        </a:rPr>
                        <a:t>האם זה כמו קודם?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0" i="0" lang="he-IL">
                          <a:solidFill>
                            <a:srgbClr val="212121"/>
                          </a:solidFill>
                        </a:rPr>
                        <a:t>האם זה נכון?</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1" i="0" lang="he-IL">
                          <a:solidFill>
                            <a:srgbClr val="212121"/>
                          </a:solidFill>
                        </a:rPr>
                        <a:t>השאלה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540000">
                <a:tc>
                  <a:txBody>
                    <a:bodyPr wrap="square"/>
                    <a:lstStyle/>
                    <a:p>
                      <a:pPr rtl="1" algn="r" marL="0" indent="0">
                        <a:lnSpc>
                          <a:spcPct val="100000"/>
                        </a:lnSpc>
                        <a:spcBef>
                          <a:spcPts val="0"/>
                        </a:spcBef>
                        <a:spcAft>
                          <a:spcPts val="0"/>
                        </a:spcAft>
                        <a:buNone/>
                      </a:pPr>
                      <a:r>
                        <a:rPr sz="1500" b="0" i="0" lang="he-IL">
                          <a:solidFill>
                            <a:srgbClr val="212121"/>
                          </a:solidFill>
                        </a:rPr>
                        <a:t>הרצה של הקוד הקיים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0" i="0" lang="he-IL">
                          <a:solidFill>
                            <a:srgbClr val="212121"/>
                          </a:solidFill>
                        </a:rPr>
                        <a:t>דרישה או מפרט</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1" i="0" lang="he-IL">
                          <a:solidFill>
                            <a:srgbClr val="212121"/>
                          </a:solidFill>
                        </a:rPr>
                        <a:t>מי קובע את הצפוי</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540000">
                <a:tc>
                  <a:txBody>
                    <a:bodyPr wrap="square"/>
                    <a:lstStyle/>
                    <a:p>
                      <a:pPr rtl="1" algn="r" marL="0" indent="0">
                        <a:lnSpc>
                          <a:spcPct val="100000"/>
                        </a:lnSpc>
                        <a:spcBef>
                          <a:spcPts val="0"/>
                        </a:spcBef>
                        <a:spcAft>
                          <a:spcPts val="0"/>
                        </a:spcAft>
                        <a:buNone/>
                      </a:pPr>
                      <a:r>
                        <a:rPr sz="1500" b="0" i="0" lang="he-IL">
                          <a:solidFill>
                            <a:srgbClr val="212121"/>
                          </a:solidFill>
                        </a:rPr>
                        <a:t>קוד ישן בלי בדיקות, לפני Refactoring</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0" i="0" lang="he-IL">
                          <a:solidFill>
                            <a:srgbClr val="212121"/>
                          </a:solidFill>
                        </a:rPr>
                        <a:t>קוד חדש</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1" i="0" lang="he-IL">
                          <a:solidFill>
                            <a:srgbClr val="212121"/>
                          </a:solidFill>
                        </a:rPr>
                        <a:t>מתאים ל</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540000">
                <a:tc>
                  <a:txBody>
                    <a:bodyPr wrap="square"/>
                    <a:lstStyle/>
                    <a:p>
                      <a:pPr rtl="1" algn="r" marL="0" indent="0">
                        <a:lnSpc>
                          <a:spcPct val="100000"/>
                        </a:lnSpc>
                        <a:spcBef>
                          <a:spcPts val="0"/>
                        </a:spcBef>
                        <a:spcAft>
                          <a:spcPts val="0"/>
                        </a:spcAft>
                        <a:buNone/>
                      </a:pPr>
                      <a:r>
                        <a:rPr sz="1500" b="0" i="0" lang="he-IL">
                          <a:solidFill>
                            <a:srgbClr val="212121"/>
                          </a:solidFill>
                        </a:rPr>
                        <a:t>משמר גם באגים, ושביר לתאריך או אקראי</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0" i="0" lang="he-IL">
                          <a:solidFill>
                            <a:srgbClr val="212121"/>
                          </a:solidFill>
                        </a:rPr>
                        <a:t>דורש לחשוב ולכתוב</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1" i="0" lang="he-IL">
                          <a:solidFill>
                            <a:srgbClr val="212121"/>
                          </a:solidFill>
                        </a:rPr>
                        <a:t>מגבלה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bl>
          </a:graphicData>
        </a:graphic>
      </p:graphicFrame>
      <p:sp>
        <p:nvSpPr>
          <p:cNvPr id="6" name="TextBox 5"/>
          <p:cNvSpPr txBox="1"/>
          <p:nvPr/>
        </p:nvSpPr>
        <p:spPr>
          <a:xfrm>
            <a:off x="365760" y="4320000"/>
            <a:ext cx="8412480" cy="3240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1" i="0" lang="he-IL">
                <a:solidFill>
                  <a:srgbClr val="4285F4"/>
                </a:solidFill>
              </a:rPr>
              <a:t>Feathers (2004): קוד בלי בדיקות הוא קוד ירושה. מבחן אפיון מתאר מה הקוד עושה בפועל.</a:t>
            </a:r>
          </a:p>
        </p:txBody>
      </p:sp>
      <p:sp>
        <p:nvSpPr>
          <p:cNvPr id="7" name="Tag העשרה"/>
          <p:cNvSpPr/>
          <p:nvPr/>
        </p:nvSpPr>
        <p:spPr>
          <a:xfrm>
            <a:off x="109728" y="91440"/>
            <a:ext cx="1417320" cy="384048"/>
          </a:xfrm>
          <a:prstGeom prst="roundRect">
            <a:avLst>
              <a:gd name="adj" fmla="val 40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העשרה</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11 - חלק א׳ :חוב טכני</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6172200" y="1463040"/>
            <a:ext cx="2697480" cy="310896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6" name="TextBox 5"/>
          <p:cNvSpPr txBox="1"/>
          <p:nvPr/>
        </p:nvSpPr>
        <p:spPr>
          <a:xfrm>
            <a:off x="6172200" y="1554480"/>
            <a:ext cx="269748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800" b="0" i="0" lang="he-IL">
                <a:solidFill>
                  <a:srgbClr val="212121"/>
                </a:solidFill>
              </a:rPr>
              <a:t>💳</a:t>
            </a:r>
          </a:p>
        </p:txBody>
      </p:sp>
      <p:sp>
        <p:nvSpPr>
          <p:cNvPr id="7" name="TextBox 6"/>
          <p:cNvSpPr txBox="1"/>
          <p:nvPr/>
        </p:nvSpPr>
        <p:spPr>
          <a:xfrm>
            <a:off x="6263640" y="2377440"/>
            <a:ext cx="25146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2000" b="1" i="0" lang="he-IL">
                <a:solidFill>
                  <a:srgbClr val="212121"/>
                </a:solidFill>
              </a:rPr>
              <a:t>הלוואה</a:t>
            </a:r>
          </a:p>
        </p:txBody>
      </p:sp>
      <p:sp>
        <p:nvSpPr>
          <p:cNvPr id="8" name="TextBox 7"/>
          <p:cNvSpPr txBox="1"/>
          <p:nvPr/>
        </p:nvSpPr>
        <p:spPr>
          <a:xfrm>
            <a:off x="6309360" y="3063240"/>
            <a:ext cx="2423160" cy="1463039"/>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700" b="0" i="0" lang="he-IL">
                <a:solidFill>
                  <a:srgbClr val="212121"/>
                </a:solidFill>
              </a:rPr>
              <a:t>קיצור דרך חוסך זמן היום (Cunningham, 1992)</a:t>
            </a:r>
          </a:p>
        </p:txBody>
      </p:sp>
      <p:sp>
        <p:nvSpPr>
          <p:cNvPr id="9" name="Rounded Rectangle 8"/>
          <p:cNvSpPr/>
          <p:nvPr/>
        </p:nvSpPr>
        <p:spPr>
          <a:xfrm>
            <a:off x="3246120" y="1463040"/>
            <a:ext cx="2697480" cy="3108960"/>
          </a:xfrm>
          <a:prstGeom prst="roundRect">
            <a:avLst>
              <a:gd name="adj" fmla="val 6000"/>
            </a:avLst>
          </a:prstGeom>
          <a:solidFill>
            <a:srgbClr val="DDF2F5"/>
          </a:solidFill>
          <a:ln w="31750">
            <a:solidFill>
              <a:srgbClr val="0097A7"/>
            </a:solidFill>
          </a:ln>
        </p:spPr>
        <p:txBody>
          <a:bodyPr rtlCol="0" anchor="ctr" wrap="square" lIns="73152" rIns="73152" tIns="73152" bIns="73152">
            <a:noAutofit/>
          </a:bodyPr>
          <a:lstStyle/>
          <a:p>
            <a:pPr algn="ctr"/>
          </a:p>
        </p:txBody>
      </p:sp>
      <p:sp>
        <p:nvSpPr>
          <p:cNvPr id="10" name="TextBox 9"/>
          <p:cNvSpPr txBox="1"/>
          <p:nvPr/>
        </p:nvSpPr>
        <p:spPr>
          <a:xfrm>
            <a:off x="3246120" y="1554480"/>
            <a:ext cx="269748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800" b="0" i="0" lang="he-IL">
                <a:solidFill>
                  <a:srgbClr val="212121"/>
                </a:solidFill>
              </a:rPr>
              <a:t>📈</a:t>
            </a:r>
          </a:p>
        </p:txBody>
      </p:sp>
      <p:sp>
        <p:nvSpPr>
          <p:cNvPr id="11" name="TextBox 10"/>
          <p:cNvSpPr txBox="1"/>
          <p:nvPr/>
        </p:nvSpPr>
        <p:spPr>
          <a:xfrm>
            <a:off x="3337560" y="2377440"/>
            <a:ext cx="25146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2000" b="1" i="0" lang="he-IL">
                <a:solidFill>
                  <a:srgbClr val="212121"/>
                </a:solidFill>
              </a:rPr>
              <a:t>ריבית</a:t>
            </a:r>
          </a:p>
        </p:txBody>
      </p:sp>
      <p:sp>
        <p:nvSpPr>
          <p:cNvPr id="12" name="TextBox 11"/>
          <p:cNvSpPr txBox="1"/>
          <p:nvPr/>
        </p:nvSpPr>
        <p:spPr>
          <a:xfrm>
            <a:off x="3383279" y="3063240"/>
            <a:ext cx="2423160" cy="1463039"/>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700" b="0" i="0" lang="he-IL">
                <a:solidFill>
                  <a:srgbClr val="212121"/>
                </a:solidFill>
              </a:rPr>
              <a:t>להמחשה: שינוי עולה שעה בקוד נקי ו־3 שעות בבלגן. ריבית: 2 שעות לשינוי</a:t>
            </a:r>
          </a:p>
        </p:txBody>
      </p:sp>
      <p:sp>
        <p:nvSpPr>
          <p:cNvPr id="13" name="Rounded Rectangle 12"/>
          <p:cNvSpPr/>
          <p:nvPr/>
        </p:nvSpPr>
        <p:spPr>
          <a:xfrm>
            <a:off x="320039" y="1463040"/>
            <a:ext cx="2697480" cy="310896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4" name="TextBox 13"/>
          <p:cNvSpPr txBox="1"/>
          <p:nvPr/>
        </p:nvSpPr>
        <p:spPr>
          <a:xfrm>
            <a:off x="320039" y="1554480"/>
            <a:ext cx="269748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800" b="0" i="0" lang="he-IL">
                <a:solidFill>
                  <a:srgbClr val="212121"/>
                </a:solidFill>
              </a:rPr>
              <a:t>✅</a:t>
            </a:r>
          </a:p>
        </p:txBody>
      </p:sp>
      <p:sp>
        <p:nvSpPr>
          <p:cNvPr id="15" name="TextBox 14"/>
          <p:cNvSpPr txBox="1"/>
          <p:nvPr/>
        </p:nvSpPr>
        <p:spPr>
          <a:xfrm>
            <a:off x="411479" y="2377440"/>
            <a:ext cx="25146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2000" b="1" i="0" lang="he-IL">
                <a:solidFill>
                  <a:srgbClr val="212121"/>
                </a:solidFill>
              </a:rPr>
              <a:t>פירעון</a:t>
            </a:r>
          </a:p>
        </p:txBody>
      </p:sp>
      <p:sp>
        <p:nvSpPr>
          <p:cNvPr id="16" name="TextBox 15"/>
          <p:cNvSpPr txBox="1"/>
          <p:nvPr/>
        </p:nvSpPr>
        <p:spPr>
          <a:xfrm>
            <a:off x="457199" y="3063240"/>
            <a:ext cx="2423160" cy="1463039"/>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700" b="0" i="0" lang="he-IL">
                <a:solidFill>
                  <a:srgbClr val="212121"/>
                </a:solidFill>
              </a:rPr>
              <a:t>Refactoring הוא פירעון: משלמים פעם אחת וחוסכים בכל שינוי</a:t>
            </a:r>
          </a:p>
        </p:txBody>
      </p:sp>
      <p:sp>
        <p:nvSpPr>
          <p:cNvPr id="17" name="Tag העשרה"/>
          <p:cNvSpPr/>
          <p:nvPr/>
        </p:nvSpPr>
        <p:spPr>
          <a:xfrm>
            <a:off x="109728" y="91440"/>
            <a:ext cx="1417320" cy="384048"/>
          </a:xfrm>
          <a:prstGeom prst="roundRect">
            <a:avLst>
              <a:gd name="adj" fmla="val 40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העשרה</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11 - חלק א׳ :מה אומר המחקר על קוד AI</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6172200" y="1463040"/>
            <a:ext cx="2697480" cy="310896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6" name="TextBox 5"/>
          <p:cNvSpPr txBox="1"/>
          <p:nvPr/>
        </p:nvSpPr>
        <p:spPr>
          <a:xfrm>
            <a:off x="6172200" y="1554480"/>
            <a:ext cx="269748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800" b="0" i="0" lang="he-IL">
                <a:solidFill>
                  <a:srgbClr val="212121"/>
                </a:solidFill>
              </a:rPr>
              <a:t>🔬</a:t>
            </a:r>
          </a:p>
        </p:txBody>
      </p:sp>
      <p:sp>
        <p:nvSpPr>
          <p:cNvPr id="7" name="TextBox 6"/>
          <p:cNvSpPr txBox="1"/>
          <p:nvPr/>
        </p:nvSpPr>
        <p:spPr>
          <a:xfrm>
            <a:off x="6263640" y="2377440"/>
            <a:ext cx="25146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2000" b="1" i="0" lang="he-IL">
                <a:solidFill>
                  <a:srgbClr val="212121"/>
                </a:solidFill>
              </a:rPr>
              <a:t>GitClear, 2025</a:t>
            </a:r>
          </a:p>
        </p:txBody>
      </p:sp>
      <p:sp>
        <p:nvSpPr>
          <p:cNvPr id="8" name="TextBox 7"/>
          <p:cNvSpPr txBox="1"/>
          <p:nvPr/>
        </p:nvSpPr>
        <p:spPr>
          <a:xfrm>
            <a:off x="6309360" y="3063240"/>
            <a:ext cx="2423160" cy="1463039"/>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700" b="0" i="0" lang="he-IL">
                <a:solidFill>
                  <a:srgbClr val="212121"/>
                </a:solidFill>
              </a:rPr>
              <a:t>211 מיליון שורות: ב־2024 יותר העתק־הדבק מאשר הזזת קוד</a:t>
            </a:r>
          </a:p>
        </p:txBody>
      </p:sp>
      <p:sp>
        <p:nvSpPr>
          <p:cNvPr id="9" name="Rounded Rectangle 8"/>
          <p:cNvSpPr/>
          <p:nvPr/>
        </p:nvSpPr>
        <p:spPr>
          <a:xfrm>
            <a:off x="3246120" y="1463040"/>
            <a:ext cx="2697480" cy="3108960"/>
          </a:xfrm>
          <a:prstGeom prst="roundRect">
            <a:avLst>
              <a:gd name="adj" fmla="val 6000"/>
            </a:avLst>
          </a:prstGeom>
          <a:solidFill>
            <a:srgbClr val="DDF2F5"/>
          </a:solidFill>
          <a:ln w="31750">
            <a:solidFill>
              <a:srgbClr val="0097A7"/>
            </a:solidFill>
          </a:ln>
        </p:spPr>
        <p:txBody>
          <a:bodyPr rtlCol="0" anchor="ctr" wrap="square" lIns="73152" rIns="73152" tIns="73152" bIns="73152">
            <a:noAutofit/>
          </a:bodyPr>
          <a:lstStyle/>
          <a:p>
            <a:pPr algn="ctr"/>
          </a:p>
        </p:txBody>
      </p:sp>
      <p:sp>
        <p:nvSpPr>
          <p:cNvPr id="10" name="TextBox 9"/>
          <p:cNvSpPr txBox="1"/>
          <p:nvPr/>
        </p:nvSpPr>
        <p:spPr>
          <a:xfrm>
            <a:off x="3246120" y="1554480"/>
            <a:ext cx="269748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800" b="0" i="0" lang="he-IL">
                <a:solidFill>
                  <a:srgbClr val="212121"/>
                </a:solidFill>
              </a:rPr>
              <a:t>📊</a:t>
            </a:r>
          </a:p>
        </p:txBody>
      </p:sp>
      <p:sp>
        <p:nvSpPr>
          <p:cNvPr id="11" name="TextBox 10"/>
          <p:cNvSpPr txBox="1"/>
          <p:nvPr/>
        </p:nvSpPr>
        <p:spPr>
          <a:xfrm>
            <a:off x="3337560" y="2377440"/>
            <a:ext cx="25146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2000" b="1" i="0" lang="he-IL">
                <a:solidFill>
                  <a:srgbClr val="212121"/>
                </a:solidFill>
              </a:rPr>
              <a:t>DORA, 2024</a:t>
            </a:r>
          </a:p>
        </p:txBody>
      </p:sp>
      <p:sp>
        <p:nvSpPr>
          <p:cNvPr id="12" name="TextBox 11"/>
          <p:cNvSpPr txBox="1"/>
          <p:nvPr/>
        </p:nvSpPr>
        <p:spPr>
          <a:xfrm>
            <a:off x="3383279" y="3063240"/>
            <a:ext cx="2423160" cy="1463039"/>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700" b="0" i="0" lang="he-IL">
                <a:solidFill>
                  <a:srgbClr val="212121"/>
                </a:solidFill>
              </a:rPr>
              <a:t>עלייה של 25% בשימוש ב־AI: 7.2% פחות יציבות, 1.5% פחות תפוקה</a:t>
            </a:r>
          </a:p>
        </p:txBody>
      </p:sp>
      <p:sp>
        <p:nvSpPr>
          <p:cNvPr id="13" name="Rounded Rectangle 12"/>
          <p:cNvSpPr/>
          <p:nvPr/>
        </p:nvSpPr>
        <p:spPr>
          <a:xfrm>
            <a:off x="320039" y="1463040"/>
            <a:ext cx="2697480" cy="310896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4" name="TextBox 13"/>
          <p:cNvSpPr txBox="1"/>
          <p:nvPr/>
        </p:nvSpPr>
        <p:spPr>
          <a:xfrm>
            <a:off x="320039" y="1554480"/>
            <a:ext cx="269748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800" b="0" i="0" lang="he-IL">
                <a:solidFill>
                  <a:srgbClr val="212121"/>
                </a:solidFill>
              </a:rPr>
              <a:t>🧪</a:t>
            </a:r>
          </a:p>
        </p:txBody>
      </p:sp>
      <p:sp>
        <p:nvSpPr>
          <p:cNvPr id="15" name="TextBox 14"/>
          <p:cNvSpPr txBox="1"/>
          <p:nvPr/>
        </p:nvSpPr>
        <p:spPr>
          <a:xfrm>
            <a:off x="411479" y="2377440"/>
            <a:ext cx="25146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2000" b="1" i="0" lang="he-IL">
                <a:solidFill>
                  <a:srgbClr val="212121"/>
                </a:solidFill>
              </a:rPr>
              <a:t>Cordeiro, 2024</a:t>
            </a:r>
          </a:p>
        </p:txBody>
      </p:sp>
      <p:sp>
        <p:nvSpPr>
          <p:cNvPr id="16" name="TextBox 15"/>
          <p:cNvSpPr txBox="1"/>
          <p:nvPr/>
        </p:nvSpPr>
        <p:spPr>
          <a:xfrm>
            <a:off x="457199" y="3063240"/>
            <a:ext cx="2423160" cy="1463039"/>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700" b="0" i="0" lang="he-IL">
                <a:solidFill>
                  <a:srgbClr val="212121"/>
                </a:solidFill>
              </a:rPr>
              <a:t>מודל קוד הפחית ריחות ב־20.1% יותר ממפתחים, אך פחות טוב בבעיות מורכבות</a:t>
            </a:r>
          </a:p>
        </p:txBody>
      </p:sp>
      <p:sp>
        <p:nvSpPr>
          <p:cNvPr id="17" name="TextBox 5"/>
          <p:cNvSpPr txBox="1"/>
          <p:nvPr/>
        </p:nvSpPr>
        <p:spPr>
          <a:xfrm>
            <a:off x="365760" y="4644000"/>
            <a:ext cx="8412480" cy="4320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1" i="0" lang="he-IL">
                <a:solidFill>
                  <a:srgbClr val="4285F4"/>
                </a:solidFill>
              </a:rPr>
              <a:t>אלה מתאמים ומדדים עקיפים, לא הוכחה שה־AI גורם לכך. מקורות בהערות ובשקף המקורות.</a:t>
            </a:r>
          </a:p>
        </p:txBody>
      </p:sp>
      <p:sp>
        <p:nvSpPr>
          <p:cNvPr id="18" name="Tag העשרה"/>
          <p:cNvSpPr/>
          <p:nvPr/>
        </p:nvSpPr>
        <p:spPr>
          <a:xfrm>
            <a:off x="109728" y="91440"/>
            <a:ext cx="1417320" cy="384048"/>
          </a:xfrm>
          <a:prstGeom prst="roundRect">
            <a:avLst>
              <a:gd name="adj" fmla="val 40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העשרה</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11 - מעבדות :מהרעיון לפונקציה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graphicFrame>
        <p:nvGraphicFramePr>
          <p:cNvPr id="5" name="Table 4"/>
          <p:cNvGraphicFramePr>
            <a:graphicFrameLocks noGrp="1"/>
          </p:cNvGraphicFramePr>
          <p:nvPr/>
        </p:nvGraphicFramePr>
        <p:xfrm>
          <a:off x="360000" y="1368000"/>
          <a:ext cx="8424000" cy="3150000"/>
        </p:xfrm>
        <a:graphic>
          <a:graphicData uri="http://schemas.openxmlformats.org/drawingml/2006/table">
            <a:tbl>
              <a:tblPr firstRow="0" bandRow="0">
                <a:tableStyleId>{2D5ABB26-0587-4C30-8999-92F81FD0307C}</a:tableStyleId>
              </a:tblPr>
              <a:tblGrid>
                <a:gridCol w="3168000"/>
                <a:gridCol w="3240000"/>
                <a:gridCol w="2015999"/>
              </a:tblGrid>
              <a:tr h="450000">
                <a:tc>
                  <a:txBody>
                    <a:bodyPr wrap="square"/>
                    <a:lstStyle/>
                    <a:p>
                      <a:pPr rtl="1" algn="ctr" marL="0" indent="0">
                        <a:lnSpc>
                          <a:spcPct val="100000"/>
                        </a:lnSpc>
                        <a:spcBef>
                          <a:spcPts val="0"/>
                        </a:spcBef>
                        <a:spcAft>
                          <a:spcPts val="0"/>
                        </a:spcAft>
                        <a:buNone/>
                      </a:pPr>
                      <a:r>
                        <a:rPr sz="1500" b="1" i="0" lang="he-IL">
                          <a:solidFill>
                            <a:srgbClr val="212121"/>
                          </a:solidFill>
                        </a:rPr>
                        <a:t>מה מוכיחים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0" algn="ctr" marL="0" indent="0">
                        <a:lnSpc>
                          <a:spcPct val="100000"/>
                        </a:lnSpc>
                        <a:spcBef>
                          <a:spcPts val="0"/>
                        </a:spcBef>
                        <a:spcAft>
                          <a:spcPts val="0"/>
                        </a:spcAft>
                        <a:buNone/>
                      </a:pPr>
                      <a:r>
                        <a:rPr sz="1500" b="1" i="0" lang="he-IL">
                          <a:solidFill>
                            <a:srgbClr val="212121"/>
                          </a:solidFill>
                        </a:rPr>
                        <a:t>פונקציה במחברת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1" algn="ctr" marL="0" indent="0">
                        <a:lnSpc>
                          <a:spcPct val="100000"/>
                        </a:lnSpc>
                        <a:spcBef>
                          <a:spcPts val="0"/>
                        </a:spcBef>
                        <a:spcAft>
                          <a:spcPts val="0"/>
                        </a:spcAft>
                        <a:buNone/>
                      </a:pPr>
                      <a:r>
                        <a:rPr sz="1500" b="1" i="0" lang="he-IL">
                          <a:solidFill>
                            <a:srgbClr val="212121"/>
                          </a:solidFill>
                        </a:rPr>
                        <a:t>רעיון בהרצאה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r>
              <a:tr h="450000">
                <a:tc>
                  <a:txBody>
                    <a:bodyPr wrap="square"/>
                    <a:lstStyle/>
                    <a:p>
                      <a:pPr rtl="1" algn="r" marL="0" indent="0">
                        <a:lnSpc>
                          <a:spcPct val="100000"/>
                        </a:lnSpc>
                        <a:spcBef>
                          <a:spcPts val="0"/>
                        </a:spcBef>
                        <a:spcAft>
                          <a:spcPts val="0"/>
                        </a:spcAft>
                        <a:buNone/>
                      </a:pPr>
                      <a:r>
                        <a:rPr sz="1500" b="0" i="0" lang="he-IL">
                          <a:solidFill>
                            <a:srgbClr val="212121"/>
                          </a:solidFill>
                        </a:rPr>
                        <a:t>הפלט לא השתנה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0" algn="l" marL="0" indent="0">
                        <a:lnSpc>
                          <a:spcPct val="100000"/>
                        </a:lnSpc>
                        <a:spcBef>
                          <a:spcPts val="0"/>
                        </a:spcBef>
                        <a:spcAft>
                          <a:spcPts val="0"/>
                        </a:spcAft>
                        <a:buNone/>
                      </a:pPr>
                      <a:r>
                        <a:rPr sz="1500" b="0" i="0" lang="he-IL">
                          <a:solidFill>
                            <a:srgbClr val="212121"/>
                          </a:solidFill>
                        </a:rPr>
                        <a:t>golden_snapshot, is_green</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1" i="0" lang="he-IL">
                          <a:solidFill>
                            <a:srgbClr val="212121"/>
                          </a:solidFill>
                        </a:rPr>
                        <a:t>golden master</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450000">
                <a:tc>
                  <a:txBody>
                    <a:bodyPr wrap="square"/>
                    <a:lstStyle/>
                    <a:p>
                      <a:pPr rtl="1" algn="r" marL="0" indent="0">
                        <a:lnSpc>
                          <a:spcPct val="100000"/>
                        </a:lnSpc>
                        <a:spcBef>
                          <a:spcPts val="0"/>
                        </a:spcBef>
                        <a:spcAft>
                          <a:spcPts val="0"/>
                        </a:spcAft>
                        <a:buNone/>
                      </a:pPr>
                      <a:r>
                        <a:rPr sz="1500" b="0" i="0" lang="he-IL">
                          <a:solidFill>
                            <a:srgbClr val="212121"/>
                          </a:solidFill>
                        </a:rPr>
                        <a:t>אדום לא נרשם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0" algn="l" marL="0" indent="0">
                        <a:lnSpc>
                          <a:spcPct val="100000"/>
                        </a:lnSpc>
                        <a:spcBef>
                          <a:spcPts val="0"/>
                        </a:spcBef>
                        <a:spcAft>
                          <a:spcPts val="0"/>
                        </a:spcAft>
                        <a:buNone/>
                      </a:pPr>
                      <a:r>
                        <a:rPr sz="1500" b="0" i="0" lang="he-IL">
                          <a:solidFill>
                            <a:srgbClr val="212121"/>
                          </a:solidFill>
                        </a:rPr>
                        <a:t>COMMITS (רישום ירוקים)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1" i="0" lang="he-IL">
                          <a:solidFill>
                            <a:srgbClr val="212121"/>
                          </a:solidFill>
                        </a:rPr>
                        <a:t>צעד קטן, ואחריו commit</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450000">
                <a:tc>
                  <a:txBody>
                    <a:bodyPr wrap="square"/>
                    <a:lstStyle/>
                    <a:p>
                      <a:pPr rtl="1" algn="r" marL="0" indent="0">
                        <a:lnSpc>
                          <a:spcPct val="100000"/>
                        </a:lnSpc>
                        <a:spcBef>
                          <a:spcPts val="0"/>
                        </a:spcBef>
                        <a:spcAft>
                          <a:spcPts val="0"/>
                        </a:spcAft>
                        <a:buNone/>
                      </a:pPr>
                      <a:r>
                        <a:rPr sz="1500" b="0" i="0" lang="he-IL">
                          <a:solidFill>
                            <a:srgbClr val="212121"/>
                          </a:solidFill>
                        </a:rPr>
                        <a:t>אותו פלט, קוד קריא</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0" algn="l" marL="0" indent="0">
                        <a:lnSpc>
                          <a:spcPct val="100000"/>
                        </a:lnSpc>
                        <a:spcBef>
                          <a:spcPts val="0"/>
                        </a:spcBef>
                        <a:spcAft>
                          <a:spcPts val="0"/>
                        </a:spcAft>
                        <a:buNone/>
                      </a:pPr>
                      <a:r>
                        <a:rPr sz="1500" b="0" i="0" lang="he-IL">
                          <a:solidFill>
                            <a:srgbClr val="212121"/>
                          </a:solidFill>
                        </a:rPr>
                        <a:t>low_stock_v1, add_revenue</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1" i="0" lang="he-IL">
                          <a:solidFill>
                            <a:srgbClr val="212121"/>
                          </a:solidFill>
                        </a:rPr>
                        <a:t>ריחות קוד</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450000">
                <a:tc>
                  <a:txBody>
                    <a:bodyPr wrap="square"/>
                    <a:lstStyle/>
                    <a:p>
                      <a:pPr rtl="1" algn="r" marL="0" indent="0">
                        <a:lnSpc>
                          <a:spcPct val="100000"/>
                        </a:lnSpc>
                        <a:spcBef>
                          <a:spcPts val="0"/>
                        </a:spcBef>
                        <a:spcAft>
                          <a:spcPts val="0"/>
                        </a:spcAft>
                        <a:buNone/>
                      </a:pPr>
                      <a:r>
                        <a:rPr sz="1500" b="0" i="0" lang="he-IL">
                          <a:solidFill>
                            <a:srgbClr val="212121"/>
                          </a:solidFill>
                        </a:rPr>
                        <a:t>מחזירות ערך, לא מדפיסות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0" algn="l" marL="0" indent="0">
                        <a:lnSpc>
                          <a:spcPct val="100000"/>
                        </a:lnSpc>
                        <a:spcBef>
                          <a:spcPts val="0"/>
                        </a:spcBef>
                        <a:spcAft>
                          <a:spcPts val="0"/>
                        </a:spcAft>
                        <a:buNone/>
                      </a:pPr>
                      <a:r>
                        <a:rPr sz="1500" b="0" i="0" lang="he-IL">
                          <a:solidFill>
                            <a:srgbClr val="212121"/>
                          </a:solidFill>
                        </a:rPr>
                        <a:t>revenue_by_category, top_products</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1" i="0" lang="he-IL">
                          <a:solidFill>
                            <a:srgbClr val="212121"/>
                          </a:solidFill>
                        </a:rPr>
                        <a:t>שכבות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450000">
                <a:tc>
                  <a:txBody>
                    <a:bodyPr wrap="square"/>
                    <a:lstStyle/>
                    <a:p>
                      <a:pPr rtl="1" algn="r" marL="0" indent="0">
                        <a:lnSpc>
                          <a:spcPct val="100000"/>
                        </a:lnSpc>
                        <a:spcBef>
                          <a:spcPts val="0"/>
                        </a:spcBef>
                        <a:spcAft>
                          <a:spcPts val="0"/>
                        </a:spcAft>
                        <a:buNone/>
                      </a:pPr>
                      <a:r>
                        <a:rPr sz="1500" b="0" i="0" lang="he-IL">
                          <a:solidFill>
                            <a:srgbClr val="212121"/>
                          </a:solidFill>
                        </a:rPr>
                        <a:t>מודדים לפני שמייעלים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0" algn="l" marL="0" indent="0">
                        <a:lnSpc>
                          <a:spcPct val="100000"/>
                        </a:lnSpc>
                        <a:spcBef>
                          <a:spcPts val="0"/>
                        </a:spcBef>
                        <a:spcAft>
                          <a:spcPts val="0"/>
                        </a:spcAft>
                        <a:buNone/>
                      </a:pPr>
                      <a:r>
                        <a:rPr sz="1500" b="0" i="0" lang="he-IL">
                          <a:solidFill>
                            <a:srgbClr val="212121"/>
                          </a:solidFill>
                        </a:rPr>
                        <a:t>measure, totals_fast, same_answer</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1" i="0" lang="he-IL">
                          <a:solidFill>
                            <a:srgbClr val="212121"/>
                          </a:solidFill>
                        </a:rPr>
                        <a:t>קנה מידה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450000">
                <a:tc>
                  <a:txBody>
                    <a:bodyPr wrap="square"/>
                    <a:lstStyle/>
                    <a:p>
                      <a:pPr rtl="1" algn="r" marL="0" indent="0">
                        <a:lnSpc>
                          <a:spcPct val="100000"/>
                        </a:lnSpc>
                        <a:spcBef>
                          <a:spcPts val="0"/>
                        </a:spcBef>
                        <a:spcAft>
                          <a:spcPts val="0"/>
                        </a:spcAft>
                        <a:buNone/>
                      </a:pPr>
                      <a:r>
                        <a:rPr sz="1500" b="0" i="0" lang="he-IL">
                          <a:solidFill>
                            <a:srgbClr val="212121"/>
                          </a:solidFill>
                        </a:rPr>
                        <a:t>מריצים, ממפים, מתעדים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0" algn="l" marL="0" indent="0">
                        <a:lnSpc>
                          <a:spcPct val="100000"/>
                        </a:lnSpc>
                        <a:spcBef>
                          <a:spcPts val="0"/>
                        </a:spcBef>
                        <a:spcAft>
                          <a:spcPts val="0"/>
                        </a:spcAft>
                        <a:buNone/>
                      </a:pPr>
                      <a:r>
                        <a:rPr sz="1500" b="0" i="0" lang="he-IL">
                          <a:solidFill>
                            <a:srgbClr val="212121"/>
                          </a:solidFill>
                        </a:rPr>
                        <a:t>run_repo, inventory_repo, write_handoff</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1" i="0" lang="he-IL">
                          <a:solidFill>
                            <a:srgbClr val="212121"/>
                          </a:solidFill>
                        </a:rPr>
                        <a:t>קליטת קוד זר</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bl>
          </a:graphicData>
        </a:graphic>
      </p:graphicFrame>
      <p:sp>
        <p:nvSpPr>
          <p:cNvPr id="6" name="TextBox 5"/>
          <p:cNvSpPr txBox="1"/>
          <p:nvPr/>
        </p:nvSpPr>
        <p:spPr>
          <a:xfrm>
            <a:off x="365760" y="4770000"/>
            <a:ext cx="8412480" cy="3240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1" i="0" lang="he-IL">
                <a:solidFill>
                  <a:srgbClr val="4285F4"/>
                </a:solidFill>
              </a:rPr>
              <a:t>כל שורה: רעיון שהופך לפונקציה, עם בדיקה (מפגש 6: Git, מפגש 8: בדיקות).</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11 - מעבדה א׳ : הקובץ הנדרש</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18 דקות</a:t>
            </a:r>
          </a:p>
        </p:txBody>
      </p:sp>
      <p:sp>
        <p:nvSpPr>
          <p:cNvPr id="6" name="TextBox 5"/>
          <p:cNvSpPr txBox="1"/>
          <p:nvPr/>
        </p:nvSpPr>
        <p:spPr>
          <a:xfrm>
            <a:off x="365760" y="1325880"/>
            <a:ext cx="8412480" cy="50292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100" b="1" i="0" lang="he-IL">
                <a:solidFill>
                  <a:srgbClr val="212121"/>
                </a:solidFill>
              </a:rPr>
              <a:t>הקובץ לתרגול: HM_11.ipynb. חלקים א׳-ב׳: רשת ביטחון וריפקטור.</a:t>
            </a:r>
          </a:p>
        </p:txBody>
      </p:sp>
      <p:sp>
        <p:nvSpPr>
          <p:cNvPr id="7" name="Rounded Rectangle 6"/>
          <p:cNvSpPr/>
          <p:nvPr/>
        </p:nvSpPr>
        <p:spPr>
          <a:xfrm>
            <a:off x="6172200" y="2057400"/>
            <a:ext cx="2697480" cy="182880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8" name="Oval 7"/>
          <p:cNvSpPr/>
          <p:nvPr/>
        </p:nvSpPr>
        <p:spPr>
          <a:xfrm>
            <a:off x="7315200" y="1828800"/>
            <a:ext cx="384048" cy="384048"/>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1</a:t>
            </a:r>
          </a:p>
        </p:txBody>
      </p:sp>
      <p:sp>
        <p:nvSpPr>
          <p:cNvPr id="9" name="TextBox 8"/>
          <p:cNvSpPr txBox="1"/>
          <p:nvPr/>
        </p:nvSpPr>
        <p:spPr>
          <a:xfrm>
            <a:off x="6217920"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הקובץ</a:t>
            </a:r>
          </a:p>
        </p:txBody>
      </p:sp>
      <p:sp>
        <p:nvSpPr>
          <p:cNvPr id="10" name="TextBox 9"/>
          <p:cNvSpPr txBox="1"/>
          <p:nvPr/>
        </p:nvSpPr>
        <p:spPr>
          <a:xfrm>
            <a:off x="6309360"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HM_11.ipynb. חלקים א׳-ב׳: רשת ביטחון וריפקטור</a:t>
            </a:r>
          </a:p>
        </p:txBody>
      </p:sp>
      <p:sp>
        <p:nvSpPr>
          <p:cNvPr id="11" name="Rounded Rectangle 10"/>
          <p:cNvSpPr/>
          <p:nvPr/>
        </p:nvSpPr>
        <p:spPr>
          <a:xfrm>
            <a:off x="3246120" y="2057400"/>
            <a:ext cx="2697480" cy="182880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2" name="Oval 11"/>
          <p:cNvSpPr/>
          <p:nvPr/>
        </p:nvSpPr>
        <p:spPr>
          <a:xfrm>
            <a:off x="4389120" y="1828800"/>
            <a:ext cx="384048" cy="384048"/>
          </a:xfrm>
          <a:prstGeom prst="ellipse">
            <a:avLst/>
          </a:prstGeom>
          <a:solidFill>
            <a:srgbClr val="FFAB40"/>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2</a:t>
            </a:r>
          </a:p>
        </p:txBody>
      </p:sp>
      <p:sp>
        <p:nvSpPr>
          <p:cNvPr id="13" name="TextBox 12"/>
          <p:cNvSpPr txBox="1"/>
          <p:nvPr/>
        </p:nvSpPr>
        <p:spPr>
          <a:xfrm>
            <a:off x="329183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איך פותחים</a:t>
            </a:r>
          </a:p>
        </p:txBody>
      </p:sp>
      <p:sp>
        <p:nvSpPr>
          <p:cNvPr id="14" name="TextBox 13"/>
          <p:cNvSpPr txBox="1"/>
          <p:nvPr/>
        </p:nvSpPr>
        <p:spPr>
          <a:xfrm>
            <a:off x="338327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קישור או QR מהמרצה, או Upload ל־Colab. כל הדרכים במדריך Google Colab</a:t>
            </a:r>
          </a:p>
        </p:txBody>
      </p:sp>
      <p:sp>
        <p:nvSpPr>
          <p:cNvPr id="15" name="Rounded Rectangle 14"/>
          <p:cNvSpPr/>
          <p:nvPr/>
        </p:nvSpPr>
        <p:spPr>
          <a:xfrm>
            <a:off x="320039" y="2057400"/>
            <a:ext cx="2697480" cy="1828800"/>
          </a:xfrm>
          <a:prstGeom prst="roundRect">
            <a:avLst>
              <a:gd name="adj" fmla="val 6000"/>
            </a:avLst>
          </a:prstGeom>
          <a:solidFill>
            <a:srgbClr val="DDF2F5"/>
          </a:solidFill>
          <a:ln w="31750">
            <a:solidFill>
              <a:srgbClr val="0097A7"/>
            </a:solidFill>
          </a:ln>
        </p:spPr>
        <p:txBody>
          <a:bodyPr rtlCol="0" anchor="ctr" wrap="square" lIns="73152" rIns="73152" tIns="73152" bIns="73152">
            <a:noAutofit/>
          </a:bodyPr>
          <a:lstStyle/>
          <a:p>
            <a:pPr algn="ctr"/>
          </a:p>
        </p:txBody>
      </p:sp>
      <p:sp>
        <p:nvSpPr>
          <p:cNvPr id="16" name="Oval 15"/>
          <p:cNvSpPr/>
          <p:nvPr/>
        </p:nvSpPr>
        <p:spPr>
          <a:xfrm>
            <a:off x="1463039" y="1828800"/>
            <a:ext cx="384048" cy="384048"/>
          </a:xfrm>
          <a:prstGeom prst="ellipse">
            <a:avLst/>
          </a:prstGeom>
          <a:solidFill>
            <a:srgbClr val="0097A7"/>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3</a:t>
            </a:r>
          </a:p>
        </p:txBody>
      </p:sp>
      <p:sp>
        <p:nvSpPr>
          <p:cNvPr id="17" name="TextBox 16"/>
          <p:cNvSpPr txBox="1"/>
          <p:nvPr/>
        </p:nvSpPr>
        <p:spPr>
          <a:xfrm>
            <a:off x="36575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מה שומרים</a:t>
            </a:r>
          </a:p>
        </p:txBody>
      </p:sp>
      <p:sp>
        <p:nvSpPr>
          <p:cNvPr id="18" name="TextBox 17"/>
          <p:cNvSpPr txBox="1"/>
          <p:nvPr/>
        </p:nvSpPr>
        <p:spPr>
          <a:xfrm>
            <a:off x="45719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בסוף: ✓ בכל הבדיקות, שמירה ב־Drive והורדת הקובץ</a:t>
            </a:r>
          </a:p>
        </p:txBody>
      </p:sp>
      <p:sp>
        <p:nvSpPr>
          <p:cNvPr id="19" name="Rounded Rectangle 18"/>
          <p:cNvSpPr/>
          <p:nvPr/>
        </p:nvSpPr>
        <p:spPr>
          <a:xfrm>
            <a:off x="365760" y="4160520"/>
            <a:ext cx="6675120" cy="68580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0" i="0" lang="he-IL">
                <a:solidFill>
                  <a:srgbClr val="212121"/>
                </a:solidFill>
              </a:rPr>
              <a:t>הנתונים כבר בתוך המחברת. קבצי פרויקט משלכם: דרך Drive או GitHub (במדריך, פרקים 4 ו־5).</a:t>
            </a:r>
          </a:p>
        </p:txBody>
      </p:sp>
      <p:sp>
        <p:nvSpPr>
          <p:cNvPr id="20" name="Rectangle 19"/>
          <p:cNvSpPr/>
          <p:nvPr/>
        </p:nvSpPr>
        <p:spPr>
          <a:xfrm>
            <a:off x="7498079" y="3977639"/>
            <a:ext cx="868680" cy="868680"/>
          </a:xfrm>
          <a:prstGeom prst="rect">
            <a:avLst/>
          </a:prstGeom>
          <a:solidFill>
            <a:srgbClr val="FFFFFF"/>
          </a:solidFill>
          <a:ln w="19050">
            <a:solidFill>
              <a:srgbClr val="78909C"/>
            </a:solidFill>
            <a:prstDash val="dash"/>
          </a:ln>
        </p:spPr>
        <p:txBody>
          <a:bodyPr rtlCol="0" anchor="ctr" wrap="square" lIns="73152" rIns="73152" tIns="73152" bIns="73152">
            <a:noAutofit/>
          </a:bodyPr>
          <a:lstStyle/>
          <a:p>
            <a:pPr rtl="1" algn="ctr" marL="0" indent="0">
              <a:lnSpc>
                <a:spcPct val="105000"/>
              </a:lnSpc>
              <a:spcBef>
                <a:spcPts val="0"/>
              </a:spcBef>
              <a:spcAft>
                <a:spcPts val="0"/>
              </a:spcAft>
              <a:buNone/>
            </a:pPr>
            <a:r>
              <a:rPr sz="1800" b="1" i="0" lang="he-IL">
                <a:solidFill>
                  <a:srgbClr val="78909C"/>
                </a:solidFill>
              </a:rPr>
              <a:t>QR</a:t>
            </a:r>
          </a:p>
        </p:txBody>
      </p:sp>
      <p:sp>
        <p:nvSpPr>
          <p:cNvPr id="21" name="TextBox 20"/>
          <p:cNvSpPr txBox="1"/>
          <p:nvPr/>
        </p:nvSpPr>
        <p:spPr>
          <a:xfrm>
            <a:off x="6949440" y="4846320"/>
            <a:ext cx="1965960" cy="256032"/>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200" b="0" i="0" lang="he-IL">
                <a:solidFill>
                  <a:srgbClr val="595959"/>
                </a:solidFill>
              </a:rPr>
              <a:t>קישור ל־HM_11.ipynb</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11 - מעבדה א׳ : רשת ביטחון וסידור קוד</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18 דקות</a:t>
            </a:r>
          </a:p>
        </p:txBody>
      </p:sp>
      <p:sp>
        <p:nvSpPr>
          <p:cNvPr id="6" name="TextBox 5"/>
          <p:cNvSpPr txBox="1"/>
          <p:nvPr/>
        </p:nvSpPr>
        <p:spPr>
          <a:xfrm>
            <a:off x="365760" y="1325880"/>
            <a:ext cx="8412480" cy="50292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100" b="1" i="0" lang="he-IL">
                <a:solidFill>
                  <a:srgbClr val="212121"/>
                </a:solidFill>
              </a:rPr>
              <a:t>מטרה: לנעול את הפלט (מפגש 8) ולסדר עם commit (מפגש 6).</a:t>
            </a:r>
          </a:p>
        </p:txBody>
      </p:sp>
      <p:sp>
        <p:nvSpPr>
          <p:cNvPr id="7" name="Rounded Rectangle 6"/>
          <p:cNvSpPr/>
          <p:nvPr/>
        </p:nvSpPr>
        <p:spPr>
          <a:xfrm>
            <a:off x="6172200" y="2057400"/>
            <a:ext cx="2697480" cy="182880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8" name="Oval 7"/>
          <p:cNvSpPr/>
          <p:nvPr/>
        </p:nvSpPr>
        <p:spPr>
          <a:xfrm>
            <a:off x="7315200" y="1828800"/>
            <a:ext cx="384048" cy="384048"/>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1</a:t>
            </a:r>
          </a:p>
        </p:txBody>
      </p:sp>
      <p:sp>
        <p:nvSpPr>
          <p:cNvPr id="9" name="TextBox 8"/>
          <p:cNvSpPr txBox="1"/>
          <p:nvPr/>
        </p:nvSpPr>
        <p:spPr>
          <a:xfrm>
            <a:off x="6217920"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נועלים את הפלט</a:t>
            </a:r>
          </a:p>
        </p:txBody>
      </p:sp>
      <p:sp>
        <p:nvSpPr>
          <p:cNvPr id="10" name="TextBox 9"/>
          <p:cNvSpPr txBox="1"/>
          <p:nvPr/>
        </p:nvSpPr>
        <p:spPr>
          <a:xfrm>
            <a:off x="6309360"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golden_snapshot, is_green: שומרים את הפלט ובודקים שהוא זהה</a:t>
            </a:r>
          </a:p>
        </p:txBody>
      </p:sp>
      <p:sp>
        <p:nvSpPr>
          <p:cNvPr id="11" name="Rounded Rectangle 10"/>
          <p:cNvSpPr/>
          <p:nvPr/>
        </p:nvSpPr>
        <p:spPr>
          <a:xfrm>
            <a:off x="3246120" y="2057400"/>
            <a:ext cx="2697480" cy="182880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2" name="Oval 11"/>
          <p:cNvSpPr/>
          <p:nvPr/>
        </p:nvSpPr>
        <p:spPr>
          <a:xfrm>
            <a:off x="4389120" y="1828800"/>
            <a:ext cx="384048" cy="384048"/>
          </a:xfrm>
          <a:prstGeom prst="ellipse">
            <a:avLst/>
          </a:prstGeom>
          <a:solidFill>
            <a:srgbClr val="FFAB40"/>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2</a:t>
            </a:r>
          </a:p>
        </p:txBody>
      </p:sp>
      <p:sp>
        <p:nvSpPr>
          <p:cNvPr id="13" name="TextBox 12"/>
          <p:cNvSpPr txBox="1"/>
          <p:nvPr/>
        </p:nvSpPr>
        <p:spPr>
          <a:xfrm>
            <a:off x="329183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מסדרים בצעדים</a:t>
            </a:r>
          </a:p>
        </p:txBody>
      </p:sp>
      <p:sp>
        <p:nvSpPr>
          <p:cNvPr id="14" name="TextBox 13"/>
          <p:cNvSpPr txBox="1"/>
          <p:nvPr/>
        </p:nvSpPr>
        <p:spPr>
          <a:xfrm>
            <a:off x="338327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low_stock_v1, revenue_by_category, top_products, add_revenue</a:t>
            </a:r>
          </a:p>
        </p:txBody>
      </p:sp>
      <p:sp>
        <p:nvSpPr>
          <p:cNvPr id="15" name="Rounded Rectangle 14"/>
          <p:cNvSpPr/>
          <p:nvPr/>
        </p:nvSpPr>
        <p:spPr>
          <a:xfrm>
            <a:off x="320039" y="2057400"/>
            <a:ext cx="2697480" cy="1828800"/>
          </a:xfrm>
          <a:prstGeom prst="roundRect">
            <a:avLst>
              <a:gd name="adj" fmla="val 6000"/>
            </a:avLst>
          </a:prstGeom>
          <a:solidFill>
            <a:srgbClr val="DDF2F5"/>
          </a:solidFill>
          <a:ln w="31750">
            <a:solidFill>
              <a:srgbClr val="0097A7"/>
            </a:solidFill>
          </a:ln>
        </p:spPr>
        <p:txBody>
          <a:bodyPr rtlCol="0" anchor="ctr" wrap="square" lIns="73152" rIns="73152" tIns="73152" bIns="73152">
            <a:noAutofit/>
          </a:bodyPr>
          <a:lstStyle/>
          <a:p>
            <a:pPr algn="ctr"/>
          </a:p>
        </p:txBody>
      </p:sp>
      <p:sp>
        <p:nvSpPr>
          <p:cNvPr id="16" name="Oval 15"/>
          <p:cNvSpPr/>
          <p:nvPr/>
        </p:nvSpPr>
        <p:spPr>
          <a:xfrm>
            <a:off x="1463039" y="1828800"/>
            <a:ext cx="384048" cy="384048"/>
          </a:xfrm>
          <a:prstGeom prst="ellipse">
            <a:avLst/>
          </a:prstGeom>
          <a:solidFill>
            <a:srgbClr val="0097A7"/>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3</a:t>
            </a:r>
          </a:p>
        </p:txBody>
      </p:sp>
      <p:sp>
        <p:nvSpPr>
          <p:cNvPr id="17" name="TextBox 16"/>
          <p:cNvSpPr txBox="1"/>
          <p:nvPr/>
        </p:nvSpPr>
        <p:spPr>
          <a:xfrm>
            <a:off x="36575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צעד עם עוזר AI</a:t>
            </a:r>
          </a:p>
        </p:txBody>
      </p:sp>
      <p:sp>
        <p:nvSpPr>
          <p:cNvPr id="18" name="TextBox 17"/>
          <p:cNvSpPr txBox="1"/>
          <p:nvPr/>
        </p:nvSpPr>
        <p:spPr>
          <a:xfrm>
            <a:off x="45719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my_ai_alerts: קוראים diff, ומחליטים לפי ה־golden</a:t>
            </a:r>
          </a:p>
        </p:txBody>
      </p:sp>
      <p:sp>
        <p:nvSpPr>
          <p:cNvPr id="19" name="Rounded Rectangle 18"/>
          <p:cNvSpPr/>
          <p:nvPr/>
        </p:nvSpPr>
        <p:spPr>
          <a:xfrm>
            <a:off x="365760" y="4160520"/>
            <a:ext cx="6675120" cy="68580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0" i="0" lang="he-IL">
                <a:solidFill>
                  <a:srgbClr val="212121"/>
                </a:solidFill>
              </a:rPr>
              <a:t>בזוגות. חובה: חלק א׳ ושלבים 1 עד 3 של חלק ב׳. מומלץ: שלבים 4 ו־5. כותבים תחזית לפני כל הרצה.</a:t>
            </a:r>
          </a:p>
        </p:txBody>
      </p:sp>
      <p:sp>
        <p:nvSpPr>
          <p:cNvPr id="20" name="Rectangle 19"/>
          <p:cNvSpPr/>
          <p:nvPr/>
        </p:nvSpPr>
        <p:spPr>
          <a:xfrm>
            <a:off x="7498079" y="3977639"/>
            <a:ext cx="868680" cy="868680"/>
          </a:xfrm>
          <a:prstGeom prst="rect">
            <a:avLst/>
          </a:prstGeom>
          <a:solidFill>
            <a:srgbClr val="FFFFFF"/>
          </a:solidFill>
          <a:ln w="19050">
            <a:solidFill>
              <a:srgbClr val="78909C"/>
            </a:solidFill>
            <a:prstDash val="dash"/>
          </a:ln>
        </p:spPr>
        <p:txBody>
          <a:bodyPr rtlCol="0" anchor="ctr" wrap="square" lIns="73152" rIns="73152" tIns="73152" bIns="73152">
            <a:noAutofit/>
          </a:bodyPr>
          <a:lstStyle/>
          <a:p>
            <a:pPr rtl="1" algn="ctr" marL="0" indent="0">
              <a:lnSpc>
                <a:spcPct val="105000"/>
              </a:lnSpc>
              <a:spcBef>
                <a:spcPts val="0"/>
              </a:spcBef>
              <a:spcAft>
                <a:spcPts val="0"/>
              </a:spcAft>
              <a:buNone/>
            </a:pPr>
            <a:r>
              <a:rPr sz="1800" b="1" i="0" lang="he-IL">
                <a:solidFill>
                  <a:srgbClr val="78909C"/>
                </a:solidFill>
              </a:rPr>
              <a:t>QR</a:t>
            </a:r>
          </a:p>
        </p:txBody>
      </p:sp>
      <p:sp>
        <p:nvSpPr>
          <p:cNvPr id="21" name="TextBox 20"/>
          <p:cNvSpPr txBox="1"/>
          <p:nvPr/>
        </p:nvSpPr>
        <p:spPr>
          <a:xfrm>
            <a:off x="6949440" y="4846320"/>
            <a:ext cx="1965960" cy="256032"/>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200" b="0" i="0" lang="he-IL">
                <a:solidFill>
                  <a:srgbClr val="595959"/>
                </a:solidFill>
              </a:rPr>
              <a:t>קישור למחברת HM_11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11 - מעבדה א׳ : איך עובדים עם המחברת</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18 דקות</a:t>
            </a:r>
          </a:p>
        </p:txBody>
      </p:sp>
      <p:sp>
        <p:nvSpPr>
          <p:cNvPr id="6" name="TextBox 5"/>
          <p:cNvSpPr txBox="1"/>
          <p:nvPr/>
        </p:nvSpPr>
        <p:spPr>
          <a:xfrm>
            <a:off x="365760" y="1325880"/>
            <a:ext cx="8412480" cy="50292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100" b="1" i="0" lang="he-IL">
                <a:solidFill>
                  <a:srgbClr val="212121"/>
                </a:solidFill>
              </a:rPr>
              <a:t>כל מחברת בקורס בנויה באותו אופן.</a:t>
            </a:r>
          </a:p>
        </p:txBody>
      </p:sp>
      <p:sp>
        <p:nvSpPr>
          <p:cNvPr id="7" name="Rounded Rectangle 6"/>
          <p:cNvSpPr/>
          <p:nvPr/>
        </p:nvSpPr>
        <p:spPr>
          <a:xfrm>
            <a:off x="6172200" y="2057400"/>
            <a:ext cx="2697480" cy="182880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8" name="Oval 7"/>
          <p:cNvSpPr/>
          <p:nvPr/>
        </p:nvSpPr>
        <p:spPr>
          <a:xfrm>
            <a:off x="7315200" y="1828800"/>
            <a:ext cx="384048" cy="384048"/>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1</a:t>
            </a:r>
          </a:p>
        </p:txBody>
      </p:sp>
      <p:sp>
        <p:nvSpPr>
          <p:cNvPr id="9" name="TextBox 8"/>
          <p:cNvSpPr txBox="1"/>
          <p:nvPr/>
        </p:nvSpPr>
        <p:spPr>
          <a:xfrm>
            <a:off x="6217920"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ממלאים TODO</a:t>
            </a:r>
          </a:p>
        </p:txBody>
      </p:sp>
      <p:sp>
        <p:nvSpPr>
          <p:cNvPr id="10" name="TextBox 9"/>
          <p:cNvSpPr txBox="1"/>
          <p:nvPr/>
        </p:nvSpPr>
        <p:spPr>
          <a:xfrm>
            <a:off x="6309360"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כל פונקציה היא 2 עד 8 שורות. בלי כלי AI, חוץ מהצעד שמסומן</a:t>
            </a:r>
          </a:p>
        </p:txBody>
      </p:sp>
      <p:sp>
        <p:nvSpPr>
          <p:cNvPr id="11" name="Rounded Rectangle 10"/>
          <p:cNvSpPr/>
          <p:nvPr/>
        </p:nvSpPr>
        <p:spPr>
          <a:xfrm>
            <a:off x="3246120" y="2057400"/>
            <a:ext cx="2697480" cy="182880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2" name="Oval 11"/>
          <p:cNvSpPr/>
          <p:nvPr/>
        </p:nvSpPr>
        <p:spPr>
          <a:xfrm>
            <a:off x="4389120" y="1828800"/>
            <a:ext cx="384048" cy="384048"/>
          </a:xfrm>
          <a:prstGeom prst="ellipse">
            <a:avLst/>
          </a:prstGeom>
          <a:solidFill>
            <a:srgbClr val="FFAB40"/>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2</a:t>
            </a:r>
          </a:p>
        </p:txBody>
      </p:sp>
      <p:sp>
        <p:nvSpPr>
          <p:cNvPr id="13" name="TextBox 12"/>
          <p:cNvSpPr txBox="1"/>
          <p:nvPr/>
        </p:nvSpPr>
        <p:spPr>
          <a:xfrm>
            <a:off x="329183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מריצים בדיקה</a:t>
            </a:r>
          </a:p>
        </p:txBody>
      </p:sp>
      <p:sp>
        <p:nvSpPr>
          <p:cNvPr id="14" name="TextBox 13"/>
          <p:cNvSpPr txBox="1"/>
          <p:nvPr/>
        </p:nvSpPr>
        <p:spPr>
          <a:xfrm>
            <a:off x="338327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תא הבדיקה מדפיס ✓, או הודעה שמסבירה מה נכשל</a:t>
            </a:r>
          </a:p>
        </p:txBody>
      </p:sp>
      <p:sp>
        <p:nvSpPr>
          <p:cNvPr id="15" name="Rounded Rectangle 14"/>
          <p:cNvSpPr/>
          <p:nvPr/>
        </p:nvSpPr>
        <p:spPr>
          <a:xfrm>
            <a:off x="320039" y="2057400"/>
            <a:ext cx="2697480" cy="1828800"/>
          </a:xfrm>
          <a:prstGeom prst="roundRect">
            <a:avLst>
              <a:gd name="adj" fmla="val 6000"/>
            </a:avLst>
          </a:prstGeom>
          <a:solidFill>
            <a:srgbClr val="DDF2F5"/>
          </a:solidFill>
          <a:ln w="31750">
            <a:solidFill>
              <a:srgbClr val="0097A7"/>
            </a:solidFill>
          </a:ln>
        </p:spPr>
        <p:txBody>
          <a:bodyPr rtlCol="0" anchor="ctr" wrap="square" lIns="73152" rIns="73152" tIns="73152" bIns="73152">
            <a:noAutofit/>
          </a:bodyPr>
          <a:lstStyle/>
          <a:p>
            <a:pPr algn="ctr"/>
          </a:p>
        </p:txBody>
      </p:sp>
      <p:sp>
        <p:nvSpPr>
          <p:cNvPr id="16" name="Oval 15"/>
          <p:cNvSpPr/>
          <p:nvPr/>
        </p:nvSpPr>
        <p:spPr>
          <a:xfrm>
            <a:off x="1463039" y="1828800"/>
            <a:ext cx="384048" cy="384048"/>
          </a:xfrm>
          <a:prstGeom prst="ellipse">
            <a:avLst/>
          </a:prstGeom>
          <a:solidFill>
            <a:srgbClr val="0097A7"/>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3</a:t>
            </a:r>
          </a:p>
        </p:txBody>
      </p:sp>
      <p:sp>
        <p:nvSpPr>
          <p:cNvPr id="17" name="TextBox 16"/>
          <p:cNvSpPr txBox="1"/>
          <p:nvPr/>
        </p:nvSpPr>
        <p:spPr>
          <a:xfrm>
            <a:off x="36575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תחזית ושאלות</a:t>
            </a:r>
          </a:p>
        </p:txBody>
      </p:sp>
      <p:sp>
        <p:nvSpPr>
          <p:cNvPr id="18" name="TextBox 17"/>
          <p:cNvSpPr txBox="1"/>
          <p:nvPr/>
        </p:nvSpPr>
        <p:spPr>
          <a:xfrm>
            <a:off x="45719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כותבים תחזית לפני הרצה, ועונים על שאלות הניתוח במונחי ההרצאה</a:t>
            </a:r>
          </a:p>
        </p:txBody>
      </p:sp>
      <p:sp>
        <p:nvSpPr>
          <p:cNvPr id="19" name="Rounded Rectangle 18"/>
          <p:cNvSpPr/>
          <p:nvPr/>
        </p:nvSpPr>
        <p:spPr>
          <a:xfrm>
            <a:off x="365760" y="4160520"/>
            <a:ext cx="6675120" cy="68580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0" i="0" lang="he-IL">
                <a:solidFill>
                  <a:srgbClr val="212121"/>
                </a:solidFill>
              </a:rPr>
              <a:t>בסוף: Runtime ← Restart session and run all. ודאו שכל השורות בבדיקה המסכמת מסומנות ✓, והורידו את הקובץ (Download .ipynb).</a:t>
            </a:r>
          </a:p>
        </p:txBody>
      </p:sp>
      <p:sp>
        <p:nvSpPr>
          <p:cNvPr id="20" name="Rectangle 19"/>
          <p:cNvSpPr/>
          <p:nvPr/>
        </p:nvSpPr>
        <p:spPr>
          <a:xfrm>
            <a:off x="7498079" y="3977639"/>
            <a:ext cx="868680" cy="868680"/>
          </a:xfrm>
          <a:prstGeom prst="rect">
            <a:avLst/>
          </a:prstGeom>
          <a:solidFill>
            <a:srgbClr val="FFFFFF"/>
          </a:solidFill>
          <a:ln w="19050">
            <a:solidFill>
              <a:srgbClr val="78909C"/>
            </a:solidFill>
            <a:prstDash val="dash"/>
          </a:ln>
        </p:spPr>
        <p:txBody>
          <a:bodyPr rtlCol="0" anchor="ctr" wrap="square" lIns="73152" rIns="73152" tIns="73152" bIns="73152">
            <a:noAutofit/>
          </a:bodyPr>
          <a:lstStyle/>
          <a:p>
            <a:pPr rtl="1" algn="ctr" marL="0" indent="0">
              <a:lnSpc>
                <a:spcPct val="105000"/>
              </a:lnSpc>
              <a:spcBef>
                <a:spcPts val="0"/>
              </a:spcBef>
              <a:spcAft>
                <a:spcPts val="0"/>
              </a:spcAft>
              <a:buNone/>
            </a:pPr>
            <a:r>
              <a:rPr sz="1800" b="1" i="0" lang="he-IL">
                <a:solidFill>
                  <a:srgbClr val="78909C"/>
                </a:solidFill>
              </a:rPr>
              <a:t>QR</a:t>
            </a:r>
          </a:p>
        </p:txBody>
      </p:sp>
      <p:sp>
        <p:nvSpPr>
          <p:cNvPr id="21" name="TextBox 20"/>
          <p:cNvSpPr txBox="1"/>
          <p:nvPr/>
        </p:nvSpPr>
        <p:spPr>
          <a:xfrm>
            <a:off x="6949440" y="4846320"/>
            <a:ext cx="1965960" cy="256032"/>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200" b="0" i="0" lang="he-IL">
                <a:solidFill>
                  <a:srgbClr val="595959"/>
                </a:solidFill>
              </a:rPr>
              <a:t>קישור למחברת HM_11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11 - מעבדה א׳ : חמשת הצעדים</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18 דקות</a:t>
            </a:r>
          </a:p>
        </p:txBody>
      </p:sp>
      <p:sp>
        <p:nvSpPr>
          <p:cNvPr id="6" name="Oval 5"/>
          <p:cNvSpPr/>
          <p:nvPr/>
        </p:nvSpPr>
        <p:spPr>
          <a:xfrm>
            <a:off x="8458200" y="1463040"/>
            <a:ext cx="411480" cy="411480"/>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600" b="1" i="0" lang="he-IL">
                <a:solidFill>
                  <a:srgbClr val="FFFFFF"/>
                </a:solidFill>
              </a:rPr>
              <a:t>1</a:t>
            </a:r>
          </a:p>
        </p:txBody>
      </p:sp>
      <p:sp>
        <p:nvSpPr>
          <p:cNvPr id="7" name="Rounded Rectangle 6"/>
          <p:cNvSpPr/>
          <p:nvPr/>
        </p:nvSpPr>
        <p:spPr>
          <a:xfrm>
            <a:off x="365760" y="1371600"/>
            <a:ext cx="7909560" cy="594360"/>
          </a:xfrm>
          <a:prstGeom prst="roundRect">
            <a:avLst>
              <a:gd name="adj" fmla="val 12000"/>
            </a:avLst>
          </a:prstGeom>
          <a:solidFill>
            <a:srgbClr val="E3EEFF"/>
          </a:solidFill>
          <a:ln w="19050">
            <a:solidFill>
              <a:srgbClr val="4285F4"/>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700" b="0" i="0" lang="he-IL">
                <a:solidFill>
                  <a:srgbClr val="212121"/>
                </a:solidFill>
              </a:rPr>
              <a:t>שמות ברורים: low_stock_v1, בלי לשנות מספרים או עמודות.</a:t>
            </a:r>
          </a:p>
        </p:txBody>
      </p:sp>
      <p:sp>
        <p:nvSpPr>
          <p:cNvPr id="8" name="Oval 7"/>
          <p:cNvSpPr/>
          <p:nvPr/>
        </p:nvSpPr>
        <p:spPr>
          <a:xfrm>
            <a:off x="8458200" y="2176272"/>
            <a:ext cx="411480" cy="411480"/>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600" b="1" i="0" lang="he-IL">
                <a:solidFill>
                  <a:srgbClr val="FFFFFF"/>
                </a:solidFill>
              </a:rPr>
              <a:t>2</a:t>
            </a:r>
          </a:p>
        </p:txBody>
      </p:sp>
      <p:sp>
        <p:nvSpPr>
          <p:cNvPr id="9" name="Rounded Rectangle 8"/>
          <p:cNvSpPr/>
          <p:nvPr/>
        </p:nvSpPr>
        <p:spPr>
          <a:xfrm>
            <a:off x="365760" y="2084832"/>
            <a:ext cx="7909560" cy="594360"/>
          </a:xfrm>
          <a:prstGeom prst="roundRect">
            <a:avLst>
              <a:gd name="adj" fmla="val 12000"/>
            </a:avLst>
          </a:prstGeom>
          <a:solidFill>
            <a:srgbClr val="E3EEFF"/>
          </a:solidFill>
          <a:ln w="19050">
            <a:solidFill>
              <a:srgbClr val="4285F4"/>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700" b="0" i="0" lang="he-IL">
                <a:solidFill>
                  <a:srgbClr val="212121"/>
                </a:solidFill>
              </a:rPr>
              <a:t>חילוץ פונקציות: revenue_by_category, top_products. מחזירות ערך, לא מדפיסות.</a:t>
            </a:r>
          </a:p>
        </p:txBody>
      </p:sp>
      <p:sp>
        <p:nvSpPr>
          <p:cNvPr id="10" name="Oval 9"/>
          <p:cNvSpPr/>
          <p:nvPr/>
        </p:nvSpPr>
        <p:spPr>
          <a:xfrm>
            <a:off x="8458200" y="2889504"/>
            <a:ext cx="411480" cy="411480"/>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600" b="1" i="0" lang="he-IL">
                <a:solidFill>
                  <a:srgbClr val="FFFFFF"/>
                </a:solidFill>
              </a:rPr>
              <a:t>3</a:t>
            </a:r>
          </a:p>
        </p:txBody>
      </p:sp>
      <p:sp>
        <p:nvSpPr>
          <p:cNvPr id="11" name="Rounded Rectangle 10"/>
          <p:cNvSpPr/>
          <p:nvPr/>
        </p:nvSpPr>
        <p:spPr>
          <a:xfrm>
            <a:off x="365760" y="2798064"/>
            <a:ext cx="7909560" cy="594360"/>
          </a:xfrm>
          <a:prstGeom prst="roundRect">
            <a:avLst>
              <a:gd name="adj" fmla="val 12000"/>
            </a:avLst>
          </a:prstGeom>
          <a:solidFill>
            <a:srgbClr val="E3EEFF"/>
          </a:solidFill>
          <a:ln w="19050">
            <a:solidFill>
              <a:srgbClr val="4285F4"/>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700" b="0" i="0" lang="he-IL">
                <a:solidFill>
                  <a:srgbClr val="212121"/>
                </a:solidFill>
              </a:rPr>
              <a:t>הסרת שכפול: add_revenue, ושתי הפונקציות קוראות לה.</a:t>
            </a:r>
          </a:p>
        </p:txBody>
      </p:sp>
      <p:sp>
        <p:nvSpPr>
          <p:cNvPr id="12" name="Oval 11"/>
          <p:cNvSpPr/>
          <p:nvPr/>
        </p:nvSpPr>
        <p:spPr>
          <a:xfrm>
            <a:off x="8458200" y="3602736"/>
            <a:ext cx="411480" cy="411480"/>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600" b="1" i="0" lang="he-IL">
                <a:solidFill>
                  <a:srgbClr val="FFFFFF"/>
                </a:solidFill>
              </a:rPr>
              <a:t>4</a:t>
            </a:r>
          </a:p>
        </p:txBody>
      </p:sp>
      <p:sp>
        <p:nvSpPr>
          <p:cNvPr id="13" name="Rounded Rectangle 12"/>
          <p:cNvSpPr/>
          <p:nvPr/>
        </p:nvSpPr>
        <p:spPr>
          <a:xfrm>
            <a:off x="365760" y="3511296"/>
            <a:ext cx="7909560" cy="594360"/>
          </a:xfrm>
          <a:prstGeom prst="roundRect">
            <a:avLst>
              <a:gd name="adj" fmla="val 12000"/>
            </a:avLst>
          </a:prstGeom>
          <a:solidFill>
            <a:srgbClr val="E3EEFF"/>
          </a:solidFill>
          <a:ln w="19050">
            <a:solidFill>
              <a:srgbClr val="4285F4"/>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700" b="0" i="0" lang="he-IL">
                <a:solidFill>
                  <a:srgbClr val="212121"/>
                </a:solidFill>
              </a:rPr>
              <a:t>מספרי קסם לקבועים: SAFETY_DAYS, DAYS_IN_YEAR (מומלץ).</a:t>
            </a:r>
          </a:p>
        </p:txBody>
      </p:sp>
      <p:sp>
        <p:nvSpPr>
          <p:cNvPr id="14" name="Oval 13"/>
          <p:cNvSpPr/>
          <p:nvPr/>
        </p:nvSpPr>
        <p:spPr>
          <a:xfrm>
            <a:off x="8458200" y="4315968"/>
            <a:ext cx="411480" cy="411480"/>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600" b="1" i="0" lang="he-IL">
                <a:solidFill>
                  <a:srgbClr val="FFFFFF"/>
                </a:solidFill>
              </a:rPr>
              <a:t>5</a:t>
            </a:r>
          </a:p>
        </p:txBody>
      </p:sp>
      <p:sp>
        <p:nvSpPr>
          <p:cNvPr id="15" name="Rounded Rectangle 14"/>
          <p:cNvSpPr/>
          <p:nvPr/>
        </p:nvSpPr>
        <p:spPr>
          <a:xfrm>
            <a:off x="365760" y="4224528"/>
            <a:ext cx="7909560" cy="594360"/>
          </a:xfrm>
          <a:prstGeom prst="roundRect">
            <a:avLst>
              <a:gd name="adj" fmla="val 12000"/>
            </a:avLst>
          </a:prstGeom>
          <a:solidFill>
            <a:srgbClr val="E3EEFF"/>
          </a:solidFill>
          <a:ln w="19050">
            <a:solidFill>
              <a:srgbClr val="4285F4"/>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700" b="0" i="0" lang="he-IL">
                <a:solidFill>
                  <a:srgbClr val="212121"/>
                </a:solidFill>
              </a:rPr>
              <a:t>צעד עם עוזר AI: מקבלים רק אם ה־golden ירוק (מומלץ).</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11 - </a:t>
            </a:r>
            <a:r>
              <a:rPr sz="3000" b="1" i="0" lang="he-IL">
                <a:solidFill>
                  <a:srgbClr val="212121"/>
                </a:solidFill>
              </a:rPr>
              <a:t>מעבדה א׳</a:t>
            </a:r>
            <a:r>
              <a:rPr sz="3000" b="0" i="0" lang="he-IL">
                <a:solidFill>
                  <a:srgbClr val="212121"/>
                </a:solidFill>
              </a:rPr>
              <a:t> : בקשה ממוקדת ל־AI</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18 דקות</a:t>
            </a:r>
          </a:p>
        </p:txBody>
      </p:sp>
      <p:sp>
        <p:nvSpPr>
          <p:cNvPr id="6" name="TextBox 5"/>
          <p:cNvSpPr txBox="1"/>
          <p:nvPr/>
        </p:nvSpPr>
        <p:spPr>
          <a:xfrm>
            <a:off x="365760" y="1371600"/>
            <a:ext cx="8412480" cy="1463040"/>
          </a:xfrm>
          <a:prstGeom prst="rect">
            <a:avLst/>
          </a:prstGeom>
          <a:solidFill>
            <a:srgbClr val="F4F4F4"/>
          </a:solidFill>
          <a:ln w="9525">
            <a:solidFill>
              <a:srgbClr val="DDDDDD"/>
            </a:solidFill>
          </a:ln>
        </p:spPr>
        <p:txBody>
          <a:bodyPr wrap="square" lIns="109728" rIns="109728" tIns="109728" bIns="109728" anchor="t">
            <a:noAutofit/>
          </a:bodyPr>
          <a:lstStyle/>
          <a:p>
            <a:pPr rtl="0" algn="l" marL="0" indent="0">
              <a:lnSpc>
                <a:spcPct val="110000"/>
              </a:lnSpc>
              <a:spcBef>
                <a:spcPts val="0"/>
              </a:spcBef>
              <a:spcAft>
                <a:spcPts val="0"/>
              </a:spcAft>
              <a:buNone/>
            </a:pPr>
            <a:r>
              <a:rPr sz="1500" b="0" i="0" lang="he-IL">
                <a:solidFill>
                  <a:srgbClr val="212121"/>
                </a:solidFill>
                <a:latin typeface="Courier New"/>
                <a:ea typeface="Courier New"/>
                <a:cs typeface="Courier New"/>
              </a:rPr>
              <a:t>Refactor ONLY this Python function: clear variable names,</a:t>
            </a:r>
          </a:p>
          <a:p>
            <a:pPr rtl="0" algn="l" marL="0" indent="0">
              <a:lnSpc>
                <a:spcPct val="110000"/>
              </a:lnSpc>
              <a:spcBef>
                <a:spcPts val="0"/>
              </a:spcBef>
              <a:spcAft>
                <a:spcPts val="0"/>
              </a:spcAft>
              <a:buNone/>
            </a:pPr>
            <a:r>
              <a:rPr sz="1500" b="0" i="0" lang="he-IL">
                <a:solidFill>
                  <a:srgbClr val="212121"/>
                </a:solidFill>
                <a:latin typeface="Courier New"/>
                <a:ea typeface="Courier New"/>
                <a:cs typeface="Courier New"/>
              </a:rPr>
              <a:t>a short docstring, named constants instead of magic numbers.</a:t>
            </a:r>
          </a:p>
          <a:p>
            <a:pPr rtl="0" algn="l" marL="0" indent="0">
              <a:lnSpc>
                <a:spcPct val="110000"/>
              </a:lnSpc>
              <a:spcBef>
                <a:spcPts val="0"/>
              </a:spcBef>
              <a:spcAft>
                <a:spcPts val="0"/>
              </a:spcAft>
              <a:buNone/>
            </a:pPr>
            <a:r>
              <a:rPr sz="1500" b="0" i="0" lang="he-IL">
                <a:solidFill>
                  <a:srgbClr val="212121"/>
                </a:solidFill>
                <a:latin typeface="Courier New"/>
                <a:ea typeface="Courier New"/>
                <a:cs typeface="Courier New"/>
              </a:rPr>
              <a:t>Do not change what it returns: same arguments, same columns</a:t>
            </a:r>
          </a:p>
          <a:p>
            <a:pPr rtl="0" algn="l" marL="0" indent="0">
              <a:lnSpc>
                <a:spcPct val="110000"/>
              </a:lnSpc>
              <a:spcBef>
                <a:spcPts val="0"/>
              </a:spcBef>
              <a:spcAft>
                <a:spcPts val="0"/>
              </a:spcAft>
              <a:buNone/>
            </a:pPr>
            <a:r>
              <a:rPr sz="1500" b="0" i="0" lang="he-IL">
                <a:solidFill>
                  <a:srgbClr val="212121"/>
                </a:solidFill>
                <a:latin typeface="Courier New"/>
                <a:ea typeface="Courier New"/>
                <a:cs typeface="Courier New"/>
              </a:rPr>
              <a:t>(product_id, name_x, on_hand, rop) and same row order.</a:t>
            </a:r>
          </a:p>
          <a:p>
            <a:pPr rtl="0" algn="l" marL="0" indent="0">
              <a:lnSpc>
                <a:spcPct val="110000"/>
              </a:lnSpc>
              <a:spcBef>
                <a:spcPts val="0"/>
              </a:spcBef>
              <a:spcAft>
                <a:spcPts val="0"/>
              </a:spcAft>
              <a:buNone/>
            </a:pPr>
            <a:r>
              <a:rPr sz="1500" b="0" i="0" lang="he-IL">
                <a:solidFill>
                  <a:srgbClr val="212121"/>
                </a:solidFill>
                <a:latin typeface="Courier New"/>
                <a:ea typeface="Courier New"/>
                <a:cs typeface="Courier New"/>
              </a:rPr>
              <a:t>Show only the code.</a:t>
            </a:r>
          </a:p>
        </p:txBody>
      </p:sp>
      <p:sp>
        <p:nvSpPr>
          <p:cNvPr id="7" name="Rounded Rectangle 6"/>
          <p:cNvSpPr/>
          <p:nvPr/>
        </p:nvSpPr>
        <p:spPr>
          <a:xfrm>
            <a:off x="365760" y="3108960"/>
            <a:ext cx="8412480" cy="1737360"/>
          </a:xfrm>
          <a:prstGeom prst="roundRect">
            <a:avLst>
              <a:gd name="adj" fmla="val 12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2000" b="1" i="0" lang="he-IL">
                <a:solidFill>
                  <a:srgbClr val="212121"/>
                </a:solidFill>
              </a:rPr>
              <a:t>אחרי כל בקשה:</a:t>
            </a:r>
          </a:p>
          <a:p>
            <a:pPr rtl="1" algn="ctr" marL="0" indent="0">
              <a:lnSpc>
                <a:spcPct val="105000"/>
              </a:lnSpc>
              <a:spcBef>
                <a:spcPts val="0"/>
              </a:spcBef>
              <a:spcAft>
                <a:spcPts val="0"/>
              </a:spcAft>
              <a:buNone/>
            </a:pPr>
            <a:r>
              <a:rPr sz="1800" b="0" i="0" lang="he-IL">
                <a:solidFill>
                  <a:srgbClr val="212121"/>
                </a:solidFill>
              </a:rPr>
              <a:t>① קוראים את ה־diff</a:t>
            </a:r>
          </a:p>
          <a:p>
            <a:pPr rtl="1" algn="ctr" marL="0" indent="0">
              <a:lnSpc>
                <a:spcPct val="105000"/>
              </a:lnSpc>
              <a:spcBef>
                <a:spcPts val="0"/>
              </a:spcBef>
              <a:spcAft>
                <a:spcPts val="0"/>
              </a:spcAft>
              <a:buNone/>
            </a:pPr>
            <a:r>
              <a:rPr sz="1800" b="0" i="0" lang="he-IL">
                <a:solidFill>
                  <a:srgbClr val="212121"/>
                </a:solidFill>
              </a:rPr>
              <a:t>② מריצים את ה־golden</a:t>
            </a:r>
          </a:p>
          <a:p>
            <a:pPr rtl="1" algn="ctr" marL="0" indent="0">
              <a:lnSpc>
                <a:spcPct val="105000"/>
              </a:lnSpc>
              <a:spcBef>
                <a:spcPts val="0"/>
              </a:spcBef>
              <a:spcAft>
                <a:spcPts val="0"/>
              </a:spcAft>
              <a:buNone/>
            </a:pPr>
            <a:r>
              <a:rPr sz="1800" b="0" i="0" lang="he-IL">
                <a:solidFill>
                  <a:srgbClr val="212121"/>
                </a:solidFill>
              </a:rPr>
              <a:t>③ ירוק: accepted. אדום: rejected</a:t>
            </a:r>
          </a:p>
          <a:p>
            <a:pPr rtl="1" algn="ctr" marL="0" indent="0">
              <a:lnSpc>
                <a:spcPct val="105000"/>
              </a:lnSpc>
              <a:spcBef>
                <a:spcPts val="0"/>
              </a:spcBef>
              <a:spcAft>
                <a:spcPts val="0"/>
              </a:spcAft>
              <a:buNone/>
            </a:pPr>
            <a:r>
              <a:rPr sz="1600" b="0" i="0" lang="he-IL">
                <a:solidFill>
                  <a:srgbClr val="EA4335"/>
                </a:solidFill>
              </a:rPr>
              <a:t>אדום? חוזרים צעד אחורה, ומנסים בקשה קטנה יותר.</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11 - מעבדה א׳ : מה אמור לצאת</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18 דקות</a:t>
            </a:r>
          </a:p>
        </p:txBody>
      </p:sp>
      <p:sp>
        <p:nvSpPr>
          <p:cNvPr id="6" name="TextBox 5"/>
          <p:cNvSpPr txBox="1"/>
          <p:nvPr/>
        </p:nvSpPr>
        <p:spPr>
          <a:xfrm>
            <a:off x="365760" y="1325880"/>
            <a:ext cx="8412480" cy="50292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100" b="1" i="0" lang="he-IL">
                <a:solidFill>
                  <a:srgbClr val="212121"/>
                </a:solidFill>
              </a:rPr>
              <a:t>מה אמור לצאת:</a:t>
            </a:r>
          </a:p>
        </p:txBody>
      </p:sp>
      <p:sp>
        <p:nvSpPr>
          <p:cNvPr id="7" name="Rounded Rectangle 6"/>
          <p:cNvSpPr/>
          <p:nvPr/>
        </p:nvSpPr>
        <p:spPr>
          <a:xfrm>
            <a:off x="6172200" y="2057400"/>
            <a:ext cx="2697480" cy="182880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8" name="Oval 7"/>
          <p:cNvSpPr/>
          <p:nvPr/>
        </p:nvSpPr>
        <p:spPr>
          <a:xfrm>
            <a:off x="7315200" y="1828800"/>
            <a:ext cx="384048" cy="384048"/>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1</a:t>
            </a:r>
          </a:p>
        </p:txBody>
      </p:sp>
      <p:sp>
        <p:nvSpPr>
          <p:cNvPr id="9" name="TextBox 8"/>
          <p:cNvSpPr txBox="1"/>
          <p:nvPr/>
        </p:nvSpPr>
        <p:spPr>
          <a:xfrm>
            <a:off x="6217920"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מה ה־golden תופס</a:t>
            </a:r>
          </a:p>
        </p:txBody>
      </p:sp>
      <p:sp>
        <p:nvSpPr>
          <p:cNvPr id="10" name="TextBox 9"/>
          <p:cNvSpPr txBox="1"/>
          <p:nvPr/>
        </p:nvSpPr>
        <p:spPr>
          <a:xfrm>
            <a:off x="6309360"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שם עמודה והערות: ירוק. ימי ביטחון 2 או עיגול לשתי ספרות: אדום</a:t>
            </a:r>
          </a:p>
        </p:txBody>
      </p:sp>
      <p:sp>
        <p:nvSpPr>
          <p:cNvPr id="11" name="Rounded Rectangle 10"/>
          <p:cNvSpPr/>
          <p:nvPr/>
        </p:nvSpPr>
        <p:spPr>
          <a:xfrm>
            <a:off x="3246120" y="2057400"/>
            <a:ext cx="2697480" cy="182880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2" name="Oval 11"/>
          <p:cNvSpPr/>
          <p:nvPr/>
        </p:nvSpPr>
        <p:spPr>
          <a:xfrm>
            <a:off x="4389120" y="1828800"/>
            <a:ext cx="384048" cy="384048"/>
          </a:xfrm>
          <a:prstGeom prst="ellipse">
            <a:avLst/>
          </a:prstGeom>
          <a:solidFill>
            <a:srgbClr val="FFAB40"/>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2</a:t>
            </a:r>
          </a:p>
        </p:txBody>
      </p:sp>
      <p:sp>
        <p:nvSpPr>
          <p:cNvPr id="13" name="TextBox 12"/>
          <p:cNvSpPr txBox="1"/>
          <p:nvPr/>
        </p:nvSpPr>
        <p:spPr>
          <a:xfrm>
            <a:off x="329183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רשימת commits</a:t>
            </a:r>
          </a:p>
        </p:txBody>
      </p:sp>
      <p:sp>
        <p:nvSpPr>
          <p:cNvPr id="14" name="TextBox 13"/>
          <p:cNvSpPr txBox="1"/>
          <p:nvPr/>
        </p:nvSpPr>
        <p:spPr>
          <a:xfrm>
            <a:off x="338327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בפתרון נרשמים 7 צעדים ירוקים. צעד אדום לא נרשם</a:t>
            </a:r>
          </a:p>
        </p:txBody>
      </p:sp>
      <p:sp>
        <p:nvSpPr>
          <p:cNvPr id="15" name="Rounded Rectangle 14"/>
          <p:cNvSpPr/>
          <p:nvPr/>
        </p:nvSpPr>
        <p:spPr>
          <a:xfrm>
            <a:off x="320039" y="2057400"/>
            <a:ext cx="2697480" cy="1828800"/>
          </a:xfrm>
          <a:prstGeom prst="roundRect">
            <a:avLst>
              <a:gd name="adj" fmla="val 6000"/>
            </a:avLst>
          </a:prstGeom>
          <a:solidFill>
            <a:srgbClr val="DDF2F5"/>
          </a:solidFill>
          <a:ln w="31750">
            <a:solidFill>
              <a:srgbClr val="0097A7"/>
            </a:solidFill>
          </a:ln>
        </p:spPr>
        <p:txBody>
          <a:bodyPr rtlCol="0" anchor="ctr" wrap="square" lIns="73152" rIns="73152" tIns="73152" bIns="73152">
            <a:noAutofit/>
          </a:bodyPr>
          <a:lstStyle/>
          <a:p>
            <a:pPr algn="ctr"/>
          </a:p>
        </p:txBody>
      </p:sp>
      <p:sp>
        <p:nvSpPr>
          <p:cNvPr id="16" name="Oval 15"/>
          <p:cNvSpPr/>
          <p:nvPr/>
        </p:nvSpPr>
        <p:spPr>
          <a:xfrm>
            <a:off x="1463039" y="1828800"/>
            <a:ext cx="384048" cy="384048"/>
          </a:xfrm>
          <a:prstGeom prst="ellipse">
            <a:avLst/>
          </a:prstGeom>
          <a:solidFill>
            <a:srgbClr val="0097A7"/>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3</a:t>
            </a:r>
          </a:p>
        </p:txBody>
      </p:sp>
      <p:sp>
        <p:nvSpPr>
          <p:cNvPr id="17" name="TextBox 16"/>
          <p:cNvSpPr txBox="1"/>
          <p:nvPr/>
        </p:nvSpPr>
        <p:spPr>
          <a:xfrm>
            <a:off x="36575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הפלט הנעול</a:t>
            </a:r>
          </a:p>
        </p:txBody>
      </p:sp>
      <p:sp>
        <p:nvSpPr>
          <p:cNvPr id="18" name="TextBox 17"/>
          <p:cNvSpPr txBox="1"/>
          <p:nvPr/>
        </p:nvSpPr>
        <p:spPr>
          <a:xfrm>
            <a:off x="45719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57 התראות מלאי נמוך. המוצר המוביל: Plant Pot Plus</a:t>
            </a:r>
          </a:p>
        </p:txBody>
      </p:sp>
      <p:sp>
        <p:nvSpPr>
          <p:cNvPr id="19" name="Rounded Rectangle 18"/>
          <p:cNvSpPr/>
          <p:nvPr/>
        </p:nvSpPr>
        <p:spPr>
          <a:xfrm>
            <a:off x="365760" y="4160520"/>
            <a:ext cx="6675120" cy="68580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0" i="0" lang="he-IL">
                <a:solidFill>
                  <a:srgbClr val="212121"/>
                </a:solidFill>
              </a:rPr>
              <a:t>הכלל: ירוק פירושו ״לא שברנו״, לא ״נכון״. אדום: חוזרים צעד אחורה, ולא מתקנים על גבי תקלה.</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11 - חלק ב׳ :</a:t>
            </a:r>
            <a:r>
              <a:rPr sz="3000" b="1" i="0" lang="he-IL">
                <a:solidFill>
                  <a:srgbClr val="212121"/>
                </a:solidFill>
              </a:rPr>
              <a:t>שלוש שכבות</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365760" y="1371600"/>
            <a:ext cx="8412480" cy="105156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6" name="TextBox 5"/>
          <p:cNvSpPr txBox="1"/>
          <p:nvPr/>
        </p:nvSpPr>
        <p:spPr>
          <a:xfrm>
            <a:off x="7863840" y="1371600"/>
            <a:ext cx="822960" cy="105156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3000" b="0" i="0" lang="he-IL">
                <a:solidFill>
                  <a:srgbClr val="212121"/>
                </a:solidFill>
              </a:rPr>
              <a:t>🖥️</a:t>
            </a:r>
          </a:p>
        </p:txBody>
      </p:sp>
      <p:sp>
        <p:nvSpPr>
          <p:cNvPr id="7" name="TextBox 6"/>
          <p:cNvSpPr txBox="1"/>
          <p:nvPr/>
        </p:nvSpPr>
        <p:spPr>
          <a:xfrm>
            <a:off x="5486400" y="1371600"/>
            <a:ext cx="2377440" cy="105156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2100" b="1" i="0" lang="he-IL">
                <a:solidFill>
                  <a:srgbClr val="212121"/>
                </a:solidFill>
              </a:rPr>
              <a:t>ממשק</a:t>
            </a:r>
          </a:p>
        </p:txBody>
      </p:sp>
      <p:sp>
        <p:nvSpPr>
          <p:cNvPr id="8" name="TextBox 7"/>
          <p:cNvSpPr txBox="1"/>
          <p:nvPr/>
        </p:nvSpPr>
        <p:spPr>
          <a:xfrm>
            <a:off x="2286000" y="1371600"/>
            <a:ext cx="3200400" cy="105156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600" b="0" i="0" lang="he-IL">
                <a:solidFill>
                  <a:srgbClr val="212121"/>
                </a:solidFill>
              </a:rPr>
              <a:t>מה המשתמש רואה ומקליד</a:t>
            </a:r>
          </a:p>
        </p:txBody>
      </p:sp>
      <p:sp>
        <p:nvSpPr>
          <p:cNvPr id="9" name="TextBox 8"/>
          <p:cNvSpPr txBox="1"/>
          <p:nvPr/>
        </p:nvSpPr>
        <p:spPr>
          <a:xfrm>
            <a:off x="457200" y="1371600"/>
            <a:ext cx="1828800" cy="105156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200" b="0" i="0" lang="he-IL">
                <a:solidFill>
                  <a:srgbClr val="595959"/>
                </a:solidFill>
              </a:rPr>
              <a:t>הדפסה, כפתורים, דף</a:t>
            </a:r>
          </a:p>
        </p:txBody>
      </p:sp>
      <p:sp>
        <p:nvSpPr>
          <p:cNvPr id="10" name="Rounded Rectangle 9"/>
          <p:cNvSpPr/>
          <p:nvPr/>
        </p:nvSpPr>
        <p:spPr>
          <a:xfrm>
            <a:off x="365760" y="2560320"/>
            <a:ext cx="8412480" cy="105156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1" name="TextBox 10"/>
          <p:cNvSpPr txBox="1"/>
          <p:nvPr/>
        </p:nvSpPr>
        <p:spPr>
          <a:xfrm>
            <a:off x="7863840" y="2560320"/>
            <a:ext cx="822960" cy="105156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3000" b="0" i="0" lang="he-IL">
                <a:solidFill>
                  <a:srgbClr val="212121"/>
                </a:solidFill>
              </a:rPr>
              <a:t>🧠</a:t>
            </a:r>
          </a:p>
        </p:txBody>
      </p:sp>
      <p:sp>
        <p:nvSpPr>
          <p:cNvPr id="12" name="TextBox 11"/>
          <p:cNvSpPr txBox="1"/>
          <p:nvPr/>
        </p:nvSpPr>
        <p:spPr>
          <a:xfrm>
            <a:off x="5486400" y="2560320"/>
            <a:ext cx="2377440" cy="105156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2100" b="1" i="0" lang="he-IL">
                <a:solidFill>
                  <a:srgbClr val="212121"/>
                </a:solidFill>
              </a:rPr>
              <a:t>לוגיקה</a:t>
            </a:r>
          </a:p>
        </p:txBody>
      </p:sp>
      <p:sp>
        <p:nvSpPr>
          <p:cNvPr id="13" name="TextBox 12"/>
          <p:cNvSpPr txBox="1"/>
          <p:nvPr/>
        </p:nvSpPr>
        <p:spPr>
          <a:xfrm>
            <a:off x="2286000" y="2560320"/>
            <a:ext cx="3200400" cy="105156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600" b="0" i="0" lang="he-IL">
                <a:solidFill>
                  <a:srgbClr val="212121"/>
                </a:solidFill>
              </a:rPr>
              <a:t>חישובים וכללים עסקיים</a:t>
            </a:r>
          </a:p>
        </p:txBody>
      </p:sp>
      <p:sp>
        <p:nvSpPr>
          <p:cNvPr id="14" name="TextBox 13"/>
          <p:cNvSpPr txBox="1"/>
          <p:nvPr/>
        </p:nvSpPr>
        <p:spPr>
          <a:xfrm>
            <a:off x="457200" y="2560320"/>
            <a:ext cx="1828800" cy="105156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200" b="0" i="0" lang="he-IL">
                <a:solidFill>
                  <a:srgbClr val="595959"/>
                </a:solidFill>
              </a:rPr>
              <a:t>נקודת הזמנה, ציון ספק</a:t>
            </a:r>
          </a:p>
        </p:txBody>
      </p:sp>
      <p:sp>
        <p:nvSpPr>
          <p:cNvPr id="15" name="Rounded Rectangle 14"/>
          <p:cNvSpPr/>
          <p:nvPr/>
        </p:nvSpPr>
        <p:spPr>
          <a:xfrm>
            <a:off x="365760" y="3749039"/>
            <a:ext cx="8412480" cy="1051560"/>
          </a:xfrm>
          <a:prstGeom prst="roundRect">
            <a:avLst>
              <a:gd name="adj" fmla="val 6000"/>
            </a:avLst>
          </a:prstGeom>
          <a:solidFill>
            <a:srgbClr val="DDF2F5"/>
          </a:solidFill>
          <a:ln w="31750">
            <a:solidFill>
              <a:srgbClr val="0097A7"/>
            </a:solidFill>
          </a:ln>
        </p:spPr>
        <p:txBody>
          <a:bodyPr rtlCol="0" anchor="ctr" wrap="square" lIns="73152" rIns="73152" tIns="73152" bIns="73152">
            <a:noAutofit/>
          </a:bodyPr>
          <a:lstStyle/>
          <a:p>
            <a:pPr algn="ctr"/>
          </a:p>
        </p:txBody>
      </p:sp>
      <p:sp>
        <p:nvSpPr>
          <p:cNvPr id="16" name="TextBox 15"/>
          <p:cNvSpPr txBox="1"/>
          <p:nvPr/>
        </p:nvSpPr>
        <p:spPr>
          <a:xfrm>
            <a:off x="7863840" y="3749039"/>
            <a:ext cx="822960" cy="105156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3000" b="0" i="0" lang="he-IL">
                <a:solidFill>
                  <a:srgbClr val="212121"/>
                </a:solidFill>
              </a:rPr>
              <a:t>🗄️</a:t>
            </a:r>
          </a:p>
        </p:txBody>
      </p:sp>
      <p:sp>
        <p:nvSpPr>
          <p:cNvPr id="17" name="TextBox 16"/>
          <p:cNvSpPr txBox="1"/>
          <p:nvPr/>
        </p:nvSpPr>
        <p:spPr>
          <a:xfrm>
            <a:off x="5486400" y="3749039"/>
            <a:ext cx="2377440" cy="105156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2100" b="1" i="0" lang="he-IL">
                <a:solidFill>
                  <a:srgbClr val="212121"/>
                </a:solidFill>
              </a:rPr>
              <a:t>נתונים</a:t>
            </a:r>
          </a:p>
        </p:txBody>
      </p:sp>
      <p:sp>
        <p:nvSpPr>
          <p:cNvPr id="18" name="TextBox 17"/>
          <p:cNvSpPr txBox="1"/>
          <p:nvPr/>
        </p:nvSpPr>
        <p:spPr>
          <a:xfrm>
            <a:off x="2286000" y="3749039"/>
            <a:ext cx="3200400" cy="105156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600" b="0" i="0" lang="he-IL">
                <a:solidFill>
                  <a:srgbClr val="212121"/>
                </a:solidFill>
              </a:rPr>
              <a:t>קריאה וכתיבה של מידע</a:t>
            </a:r>
          </a:p>
        </p:txBody>
      </p:sp>
      <p:sp>
        <p:nvSpPr>
          <p:cNvPr id="19" name="TextBox 18"/>
          <p:cNvSpPr txBox="1"/>
          <p:nvPr/>
        </p:nvSpPr>
        <p:spPr>
          <a:xfrm>
            <a:off x="457200" y="3749039"/>
            <a:ext cx="1828800" cy="105156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200" b="0" i="0" lang="he-IL">
                <a:solidFill>
                  <a:srgbClr val="595959"/>
                </a:solidFill>
              </a:rPr>
              <a:t>CSV, מסד, API</a:t>
            </a:r>
          </a:p>
        </p:txBody>
      </p:sp>
      <p:cxnSp>
        <p:nvCxnSpPr>
          <p:cNvPr id="20" name="Connector 19"/>
          <p:cNvCxnSpPr/>
          <p:nvPr/>
        </p:nvCxnSpPr>
        <p:spPr>
          <a:xfrm>
            <a:off x="4572000" y="2487168"/>
            <a:ext cx="0" cy="146304"/>
          </a:xfrm>
          <a:prstGeom prst="line">
            <a:avLst/>
          </a:prstGeom>
          <a:ln w="31750">
            <a:solidFill>
              <a:srgbClr val="78909C"/>
            </a:solidFill>
            <a:tailEnd type="triangle"/>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572000" y="3675887"/>
            <a:ext cx="0" cy="146304"/>
          </a:xfrm>
          <a:prstGeom prst="line">
            <a:avLst/>
          </a:prstGeom>
          <a:ln w="31750">
            <a:solidFill>
              <a:srgbClr val="78909C"/>
            </a:solidFill>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11 - חלק ב׳ :</a:t>
            </a:r>
            <a:r>
              <a:rPr sz="3000" b="1" i="0" lang="he-IL">
                <a:solidFill>
                  <a:srgbClr val="212121"/>
                </a:solidFill>
              </a:rPr>
              <a:t>איפה כל פונקציה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graphicFrame>
        <p:nvGraphicFramePr>
          <p:cNvPr id="5" name="Table 4"/>
          <p:cNvGraphicFramePr>
            <a:graphicFrameLocks noGrp="1"/>
          </p:cNvGraphicFramePr>
          <p:nvPr/>
        </p:nvGraphicFramePr>
        <p:xfrm>
          <a:off x="365760" y="1371600"/>
          <a:ext cx="8412480" cy="3401568"/>
        </p:xfrm>
        <a:graphic>
          <a:graphicData uri="http://schemas.openxmlformats.org/drawingml/2006/table">
            <a:tbl>
              <a:tblPr firstRow="0" bandRow="0">
                <a:tableStyleId>{2D5ABB26-0587-4C30-8999-92F81FD0307C}</a:tableStyleId>
              </a:tblPr>
              <a:tblGrid>
                <a:gridCol w="3657600"/>
                <a:gridCol w="4754880"/>
              </a:tblGrid>
              <a:tr h="566928">
                <a:tc>
                  <a:txBody>
                    <a:bodyPr wrap="square"/>
                    <a:lstStyle/>
                    <a:p>
                      <a:pPr rtl="1" algn="ctr" marL="0" indent="0">
                        <a:lnSpc>
                          <a:spcPct val="100000"/>
                        </a:lnSpc>
                        <a:spcBef>
                          <a:spcPts val="0"/>
                        </a:spcBef>
                        <a:spcAft>
                          <a:spcPts val="0"/>
                        </a:spcAft>
                        <a:buNone/>
                      </a:pPr>
                      <a:r>
                        <a:rPr sz="1700" b="1" i="0" lang="he-IL">
                          <a:solidFill>
                            <a:srgbClr val="212121"/>
                          </a:solidFill>
                        </a:rPr>
                        <a:t>שכבה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1" algn="ctr" marL="0" indent="0">
                        <a:lnSpc>
                          <a:spcPct val="100000"/>
                        </a:lnSpc>
                        <a:spcBef>
                          <a:spcPts val="0"/>
                        </a:spcBef>
                        <a:spcAft>
                          <a:spcPts val="0"/>
                        </a:spcAft>
                        <a:buNone/>
                      </a:pPr>
                      <a:r>
                        <a:rPr sz="1700" b="1" i="0" lang="he-IL">
                          <a:solidFill>
                            <a:srgbClr val="212121"/>
                          </a:solidFill>
                        </a:rPr>
                        <a:t>פונקציה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r>
              <a:tr h="566928">
                <a:tc>
                  <a:txBody>
                    <a:bodyPr wrap="square"/>
                    <a:lstStyle/>
                    <a:p>
                      <a:pPr rtl="1" algn="r" marL="0" indent="0">
                        <a:lnSpc>
                          <a:spcPct val="100000"/>
                        </a:lnSpc>
                        <a:spcBef>
                          <a:spcPts val="0"/>
                        </a:spcBef>
                        <a:spcAft>
                          <a:spcPts val="0"/>
                        </a:spcAft>
                        <a:buNone/>
                      </a:pPr>
                      <a:r>
                        <a:rPr sz="1700" b="0" i="0" lang="he-IL">
                          <a:solidFill>
                            <a:srgbClr val="212121"/>
                          </a:solidFill>
                        </a:rPr>
                        <a:t>נתונים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DDF2F5"/>
                    </a:solidFill>
                  </a:tcPr>
                </a:tc>
                <a:tc>
                  <a:txBody>
                    <a:bodyPr wrap="square"/>
                    <a:lstStyle/>
                    <a:p>
                      <a:pPr rtl="1" algn="r" marL="0" indent="0">
                        <a:lnSpc>
                          <a:spcPct val="100000"/>
                        </a:lnSpc>
                        <a:spcBef>
                          <a:spcPts val="0"/>
                        </a:spcBef>
                        <a:spcAft>
                          <a:spcPts val="0"/>
                        </a:spcAft>
                        <a:buNone/>
                      </a:pPr>
                      <a:r>
                        <a:rPr sz="1700" b="0" i="0" lang="he-IL">
                          <a:solidFill>
                            <a:srgbClr val="212121"/>
                          </a:solidFill>
                        </a:rPr>
                        <a:t>load_data()</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566928">
                <a:tc>
                  <a:txBody>
                    <a:bodyPr wrap="square"/>
                    <a:lstStyle/>
                    <a:p>
                      <a:pPr rtl="1" algn="r" marL="0" indent="0">
                        <a:lnSpc>
                          <a:spcPct val="100000"/>
                        </a:lnSpc>
                        <a:spcBef>
                          <a:spcPts val="0"/>
                        </a:spcBef>
                        <a:spcAft>
                          <a:spcPts val="0"/>
                        </a:spcAft>
                        <a:buNone/>
                      </a:pPr>
                      <a:r>
                        <a:rPr sz="1700" b="0" i="0" lang="he-IL">
                          <a:solidFill>
                            <a:srgbClr val="212121"/>
                          </a:solidFill>
                        </a:rPr>
                        <a:t>לוגיקה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FFF0D9"/>
                    </a:solidFill>
                  </a:tcPr>
                </a:tc>
                <a:tc>
                  <a:txBody>
                    <a:bodyPr wrap="square"/>
                    <a:lstStyle/>
                    <a:p>
                      <a:pPr rtl="1" algn="r" marL="0" indent="0">
                        <a:lnSpc>
                          <a:spcPct val="100000"/>
                        </a:lnSpc>
                        <a:spcBef>
                          <a:spcPts val="0"/>
                        </a:spcBef>
                        <a:spcAft>
                          <a:spcPts val="0"/>
                        </a:spcAft>
                        <a:buNone/>
                      </a:pPr>
                      <a:r>
                        <a:rPr sz="1700" b="0" i="0" lang="he-IL">
                          <a:solidFill>
                            <a:srgbClr val="212121"/>
                          </a:solidFill>
                        </a:rPr>
                        <a:t>revenue_by_category()</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566928">
                <a:tc>
                  <a:txBody>
                    <a:bodyPr wrap="square"/>
                    <a:lstStyle/>
                    <a:p>
                      <a:pPr rtl="1" algn="r" marL="0" indent="0">
                        <a:lnSpc>
                          <a:spcPct val="100000"/>
                        </a:lnSpc>
                        <a:spcBef>
                          <a:spcPts val="0"/>
                        </a:spcBef>
                        <a:spcAft>
                          <a:spcPts val="0"/>
                        </a:spcAft>
                        <a:buNone/>
                      </a:pPr>
                      <a:r>
                        <a:rPr sz="1700" b="0" i="0" lang="he-IL">
                          <a:solidFill>
                            <a:srgbClr val="212121"/>
                          </a:solidFill>
                        </a:rPr>
                        <a:t>לוגיקה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FFF0D9"/>
                    </a:solidFill>
                  </a:tcPr>
                </a:tc>
                <a:tc>
                  <a:txBody>
                    <a:bodyPr wrap="square"/>
                    <a:lstStyle/>
                    <a:p>
                      <a:pPr rtl="1" algn="r" marL="0" indent="0">
                        <a:lnSpc>
                          <a:spcPct val="100000"/>
                        </a:lnSpc>
                        <a:spcBef>
                          <a:spcPts val="0"/>
                        </a:spcBef>
                        <a:spcAft>
                          <a:spcPts val="0"/>
                        </a:spcAft>
                        <a:buNone/>
                      </a:pPr>
                      <a:r>
                        <a:rPr sz="1700" b="0" i="0" lang="he-IL">
                          <a:solidFill>
                            <a:srgbClr val="212121"/>
                          </a:solidFill>
                        </a:rPr>
                        <a:t>low_stock_alerts()</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566928">
                <a:tc>
                  <a:txBody>
                    <a:bodyPr wrap="square"/>
                    <a:lstStyle/>
                    <a:p>
                      <a:pPr rtl="1" algn="r" marL="0" indent="0">
                        <a:lnSpc>
                          <a:spcPct val="100000"/>
                        </a:lnSpc>
                        <a:spcBef>
                          <a:spcPts val="0"/>
                        </a:spcBef>
                        <a:spcAft>
                          <a:spcPts val="0"/>
                        </a:spcAft>
                        <a:buNone/>
                      </a:pPr>
                      <a:r>
                        <a:rPr sz="1700" b="0" i="0" lang="he-IL">
                          <a:solidFill>
                            <a:srgbClr val="212121"/>
                          </a:solidFill>
                        </a:rPr>
                        <a:t>ממשק</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3EEFF"/>
                    </a:solidFill>
                  </a:tcPr>
                </a:tc>
                <a:tc>
                  <a:txBody>
                    <a:bodyPr wrap="square"/>
                    <a:lstStyle/>
                    <a:p>
                      <a:pPr rtl="1" algn="r" marL="0" indent="0">
                        <a:lnSpc>
                          <a:spcPct val="100000"/>
                        </a:lnSpc>
                        <a:spcBef>
                          <a:spcPts val="0"/>
                        </a:spcBef>
                        <a:spcAft>
                          <a:spcPts val="0"/>
                        </a:spcAft>
                        <a:buNone/>
                      </a:pPr>
                      <a:r>
                        <a:rPr sz="1700" b="0" i="0" lang="he-IL">
                          <a:solidFill>
                            <a:srgbClr val="212121"/>
                          </a:solidFill>
                        </a:rPr>
                        <a:t>print_report()</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566928">
                <a:tc>
                  <a:txBody>
                    <a:bodyPr wrap="square"/>
                    <a:lstStyle/>
                    <a:p>
                      <a:pPr rtl="1" algn="r" marL="0" indent="0">
                        <a:lnSpc>
                          <a:spcPct val="100000"/>
                        </a:lnSpc>
                        <a:spcBef>
                          <a:spcPts val="0"/>
                        </a:spcBef>
                        <a:spcAft>
                          <a:spcPts val="0"/>
                        </a:spcAft>
                        <a:buNone/>
                      </a:pPr>
                      <a:r>
                        <a:rPr sz="1700" b="0" i="0" lang="he-IL">
                          <a:solidFill>
                            <a:srgbClr val="212121"/>
                          </a:solidFill>
                        </a:rPr>
                        <a:t>לוגיקה (כלל עסקי)</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FFF0D9"/>
                    </a:solidFill>
                  </a:tcPr>
                </a:tc>
                <a:tc>
                  <a:txBody>
                    <a:bodyPr wrap="square"/>
                    <a:lstStyle/>
                    <a:p>
                      <a:pPr rtl="1" algn="r" marL="0" indent="0">
                        <a:lnSpc>
                          <a:spcPct val="100000"/>
                        </a:lnSpc>
                        <a:spcBef>
                          <a:spcPts val="0"/>
                        </a:spcBef>
                        <a:spcAft>
                          <a:spcPts val="0"/>
                        </a:spcAft>
                        <a:buNone/>
                      </a:pPr>
                      <a:r>
                        <a:rPr sz="1700" b="0" i="0" lang="he-IL">
                          <a:solidFill>
                            <a:srgbClr val="212121"/>
                          </a:solidFill>
                        </a:rPr>
                        <a:t>SAFETY_DAYS = 3</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bl>
          </a:graphicData>
        </a:graphic>
      </p:graphicFrame>
      <p:sp>
        <p:nvSpPr>
          <p:cNvPr id="6" name="TextBox 5"/>
          <p:cNvSpPr txBox="1"/>
          <p:nvPr/>
        </p:nvSpPr>
        <p:spPr>
          <a:xfrm>
            <a:off x="365760" y="4846320"/>
            <a:ext cx="8412480" cy="27432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400" b="0" i="0" lang="he-IL">
                <a:solidFill>
                  <a:srgbClr val="595959"/>
                </a:solidFill>
              </a:rPr>
              <a:t>כשפונקציה מערבבת שכבות (מחשבת וגם מדפיסה), קשה לבדוק ולשנות אותה.</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11 - חלק ב׳ :</a:t>
            </a:r>
            <a:r>
              <a:rPr sz="3000" b="1" i="0" lang="he-IL">
                <a:solidFill>
                  <a:srgbClr val="212121"/>
                </a:solidFill>
              </a:rPr>
              <a:t>כיוון אחד של תלות</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6400800" y="1828800"/>
            <a:ext cx="2011680" cy="1097280"/>
          </a:xfrm>
          <a:prstGeom prst="roundRect">
            <a:avLst>
              <a:gd name="adj" fmla="val 12000"/>
            </a:avLst>
          </a:prstGeom>
          <a:solidFill>
            <a:srgbClr val="E3EEFF"/>
          </a:solidFill>
          <a:ln w="317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2200" b="1" i="0" lang="he-IL">
                <a:solidFill>
                  <a:srgbClr val="212121"/>
                </a:solidFill>
              </a:rPr>
              <a:t>ממשק</a:t>
            </a:r>
          </a:p>
        </p:txBody>
      </p:sp>
      <p:sp>
        <p:nvSpPr>
          <p:cNvPr id="6" name="Rounded Rectangle 5"/>
          <p:cNvSpPr/>
          <p:nvPr/>
        </p:nvSpPr>
        <p:spPr>
          <a:xfrm>
            <a:off x="3566160" y="1828800"/>
            <a:ext cx="2011680" cy="1097280"/>
          </a:xfrm>
          <a:prstGeom prst="roundRect">
            <a:avLst>
              <a:gd name="adj" fmla="val 12000"/>
            </a:avLst>
          </a:prstGeom>
          <a:solidFill>
            <a:srgbClr val="FFF0D9"/>
          </a:solidFill>
          <a:ln w="317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2200" b="1" i="0" lang="he-IL">
                <a:solidFill>
                  <a:srgbClr val="212121"/>
                </a:solidFill>
              </a:rPr>
              <a:t>לוגיקה</a:t>
            </a:r>
          </a:p>
        </p:txBody>
      </p:sp>
      <p:sp>
        <p:nvSpPr>
          <p:cNvPr id="7" name="Rounded Rectangle 6"/>
          <p:cNvSpPr/>
          <p:nvPr/>
        </p:nvSpPr>
        <p:spPr>
          <a:xfrm>
            <a:off x="731520" y="1828800"/>
            <a:ext cx="2011680" cy="1097280"/>
          </a:xfrm>
          <a:prstGeom prst="roundRect">
            <a:avLst>
              <a:gd name="adj" fmla="val 12000"/>
            </a:avLst>
          </a:prstGeom>
          <a:solidFill>
            <a:srgbClr val="DDF2F5"/>
          </a:solidFill>
          <a:ln w="31750">
            <a:solidFill>
              <a:srgbClr val="0097A7"/>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2200" b="1" i="0" lang="he-IL">
                <a:solidFill>
                  <a:srgbClr val="212121"/>
                </a:solidFill>
              </a:rPr>
              <a:t>נתונים</a:t>
            </a:r>
          </a:p>
        </p:txBody>
      </p:sp>
      <p:cxnSp>
        <p:nvCxnSpPr>
          <p:cNvPr id="8" name="Connector 7"/>
          <p:cNvCxnSpPr/>
          <p:nvPr/>
        </p:nvCxnSpPr>
        <p:spPr>
          <a:xfrm flipH="1">
            <a:off x="5623560" y="2377440"/>
            <a:ext cx="731520" cy="0"/>
          </a:xfrm>
          <a:prstGeom prst="line">
            <a:avLst/>
          </a:prstGeom>
          <a:ln w="38100">
            <a:solidFill>
              <a:srgbClr val="78909C"/>
            </a:solidFill>
            <a:tailEnd type="triangle"/>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2788920" y="2377440"/>
            <a:ext cx="731520" cy="0"/>
          </a:xfrm>
          <a:prstGeom prst="line">
            <a:avLst/>
          </a:prstGeom>
          <a:ln w="3810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365760" y="3291840"/>
            <a:ext cx="8412480" cy="155448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100" b="1" i="0" lang="he-IL">
                <a:solidFill>
                  <a:srgbClr val="212121"/>
                </a:solidFill>
              </a:rPr>
              <a:t>הממשק קורא ללוגיקה. הלוגיקה קוראת לנתונים. לא להפך.</a:t>
            </a:r>
          </a:p>
          <a:p>
            <a:pPr rtl="1" algn="ctr" marL="0" indent="0">
              <a:lnSpc>
                <a:spcPct val="110000"/>
              </a:lnSpc>
              <a:spcBef>
                <a:spcPts val="0"/>
              </a:spcBef>
              <a:spcAft>
                <a:spcPts val="0"/>
              </a:spcAft>
              <a:buNone/>
            </a:pPr>
            <a:r>
              <a:rPr sz="1800" b="0" i="0" lang="he-IL">
                <a:solidFill>
                  <a:srgbClr val="595959"/>
                </a:solidFill>
              </a:rPr>
              <a:t>אפשר להחליף קובץ CSV במסד נתונים בלי לגעת בחישובים.</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11 - חלק ב׳ :</a:t>
            </a:r>
            <a:r>
              <a:rPr sz="3000" b="1" i="0" lang="he-IL">
                <a:solidFill>
                  <a:srgbClr val="212121"/>
                </a:solidFill>
              </a:rPr>
              <a:t>עיצוב API של פונקציה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graphicFrame>
        <p:nvGraphicFramePr>
          <p:cNvPr id="5" name="Table 4"/>
          <p:cNvGraphicFramePr>
            <a:graphicFrameLocks noGrp="1"/>
          </p:cNvGraphicFramePr>
          <p:nvPr/>
        </p:nvGraphicFramePr>
        <p:xfrm>
          <a:off x="365760" y="1371600"/>
          <a:ext cx="8412480" cy="3108960"/>
        </p:xfrm>
        <a:graphic>
          <a:graphicData uri="http://schemas.openxmlformats.org/drawingml/2006/table">
            <a:tbl>
              <a:tblPr firstRow="0" bandRow="0">
                <a:tableStyleId>{2D5ABB26-0587-4C30-8999-92F81FD0307C}</a:tableStyleId>
              </a:tblPr>
              <a:tblGrid>
                <a:gridCol w="4206240"/>
                <a:gridCol w="2926080"/>
                <a:gridCol w="1280160"/>
              </a:tblGrid>
              <a:tr h="621792">
                <a:tc>
                  <a:txBody>
                    <a:bodyPr wrap="square"/>
                    <a:lstStyle/>
                    <a:p>
                      <a:pPr rtl="1" algn="ctr" marL="0" indent="0">
                        <a:lnSpc>
                          <a:spcPct val="100000"/>
                        </a:lnSpc>
                        <a:spcBef>
                          <a:spcPts val="0"/>
                        </a:spcBef>
                        <a:spcAft>
                          <a:spcPts val="0"/>
                        </a:spcAft>
                        <a:buNone/>
                      </a:pPr>
                      <a:r>
                        <a:rPr sz="1500" b="1" i="0" lang="he-IL">
                          <a:solidFill>
                            <a:srgbClr val="212121"/>
                          </a:solidFill>
                        </a:rPr>
                        <a:t>טוב</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1" algn="ctr" marL="0" indent="0">
                        <a:lnSpc>
                          <a:spcPct val="100000"/>
                        </a:lnSpc>
                        <a:spcBef>
                          <a:spcPts val="0"/>
                        </a:spcBef>
                        <a:spcAft>
                          <a:spcPts val="0"/>
                        </a:spcAft>
                        <a:buNone/>
                      </a:pPr>
                      <a:r>
                        <a:rPr sz="1500" b="1" i="0" lang="he-IL">
                          <a:solidFill>
                            <a:srgbClr val="212121"/>
                          </a:solidFill>
                        </a:rPr>
                        <a:t>לא טוב</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1" algn="ctr" marL="0" indent="0">
                        <a:lnSpc>
                          <a:spcPct val="100000"/>
                        </a:lnSpc>
                        <a:spcBef>
                          <a:spcPts val="0"/>
                        </a:spcBef>
                        <a:spcAft>
                          <a:spcPts val="0"/>
                        </a:spcAft>
                        <a:buNone/>
                      </a:pP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r>
              <a:tr h="621792">
                <a:tc>
                  <a:txBody>
                    <a:bodyPr wrap="square"/>
                    <a:lstStyle/>
                    <a:p>
                      <a:pPr rtl="1" algn="r" marL="0" indent="0">
                        <a:lnSpc>
                          <a:spcPct val="100000"/>
                        </a:lnSpc>
                        <a:spcBef>
                          <a:spcPts val="0"/>
                        </a:spcBef>
                        <a:spcAft>
                          <a:spcPts val="0"/>
                        </a:spcAft>
                        <a:buNone/>
                      </a:pPr>
                      <a:r>
                        <a:rPr sz="1500" b="0" i="0" lang="he-IL">
                          <a:solidFill>
                            <a:srgbClr val="212121"/>
                          </a:solidFill>
                        </a:rPr>
                        <a:t>calc_reorder_point(daily_demand, lead_time_days)</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1F4E6"/>
                    </a:solidFill>
                  </a:tcPr>
                </a:tc>
                <a:tc>
                  <a:txBody>
                    <a:bodyPr wrap="square"/>
                    <a:lstStyle/>
                    <a:p>
                      <a:pPr rtl="1" algn="r" marL="0" indent="0">
                        <a:lnSpc>
                          <a:spcPct val="100000"/>
                        </a:lnSpc>
                        <a:spcBef>
                          <a:spcPts val="0"/>
                        </a:spcBef>
                        <a:spcAft>
                          <a:spcPts val="0"/>
                        </a:spcAft>
                        <a:buNone/>
                      </a:pPr>
                      <a:r>
                        <a:rPr sz="1500" b="0" i="0" lang="he-IL">
                          <a:solidFill>
                            <a:srgbClr val="212121"/>
                          </a:solidFill>
                        </a:rPr>
                        <a:t>process(x)</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FDE3E0"/>
                    </a:solidFill>
                  </a:tcPr>
                </a:tc>
                <a:tc>
                  <a:txBody>
                    <a:bodyPr wrap="square"/>
                    <a:lstStyle/>
                    <a:p>
                      <a:pPr rtl="1" algn="r" marL="0" indent="0">
                        <a:lnSpc>
                          <a:spcPct val="100000"/>
                        </a:lnSpc>
                        <a:spcBef>
                          <a:spcPts val="0"/>
                        </a:spcBef>
                        <a:spcAft>
                          <a:spcPts val="0"/>
                        </a:spcAft>
                        <a:buNone/>
                      </a:pPr>
                      <a:r>
                        <a:rPr sz="1500" b="1" i="0" lang="he-IL">
                          <a:solidFill>
                            <a:srgbClr val="212121"/>
                          </a:solidFill>
                        </a:rPr>
                        <a:t>שם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621792">
                <a:tc>
                  <a:txBody>
                    <a:bodyPr wrap="square"/>
                    <a:lstStyle/>
                    <a:p>
                      <a:pPr rtl="1" algn="r" marL="0" indent="0">
                        <a:lnSpc>
                          <a:spcPct val="100000"/>
                        </a:lnSpc>
                        <a:spcBef>
                          <a:spcPts val="0"/>
                        </a:spcBef>
                        <a:spcAft>
                          <a:spcPts val="0"/>
                        </a:spcAft>
                        <a:buNone/>
                      </a:pPr>
                      <a:r>
                        <a:rPr sz="1500" b="0" i="0" lang="he-IL">
                          <a:solidFill>
                            <a:srgbClr val="212121"/>
                          </a:solidFill>
                        </a:rPr>
                        <a:t>תמיד מספר</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1F4E6"/>
                    </a:solidFill>
                  </a:tcPr>
                </a:tc>
                <a:tc>
                  <a:txBody>
                    <a:bodyPr wrap="square"/>
                    <a:lstStyle/>
                    <a:p>
                      <a:pPr rtl="1" algn="r" marL="0" indent="0">
                        <a:lnSpc>
                          <a:spcPct val="100000"/>
                        </a:lnSpc>
                        <a:spcBef>
                          <a:spcPts val="0"/>
                        </a:spcBef>
                        <a:spcAft>
                          <a:spcPts val="0"/>
                        </a:spcAft>
                        <a:buNone/>
                      </a:pPr>
                      <a:r>
                        <a:rPr sz="1500" b="0" i="0" lang="he-IL">
                          <a:solidFill>
                            <a:srgbClr val="212121"/>
                          </a:solidFill>
                        </a:rPr>
                        <a:t>לפעמים מספר, לפעמים טקסט</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FDE3E0"/>
                    </a:solidFill>
                  </a:tcPr>
                </a:tc>
                <a:tc>
                  <a:txBody>
                    <a:bodyPr wrap="square"/>
                    <a:lstStyle/>
                    <a:p>
                      <a:pPr rtl="1" algn="r" marL="0" indent="0">
                        <a:lnSpc>
                          <a:spcPct val="100000"/>
                        </a:lnSpc>
                        <a:spcBef>
                          <a:spcPts val="0"/>
                        </a:spcBef>
                        <a:spcAft>
                          <a:spcPts val="0"/>
                        </a:spcAft>
                        <a:buNone/>
                      </a:pPr>
                      <a:r>
                        <a:rPr sz="1500" b="1" i="0" lang="he-IL">
                          <a:solidFill>
                            <a:srgbClr val="212121"/>
                          </a:solidFill>
                        </a:rPr>
                        <a:t>פלט</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621792">
                <a:tc>
                  <a:txBody>
                    <a:bodyPr wrap="square"/>
                    <a:lstStyle/>
                    <a:p>
                      <a:pPr rtl="1" algn="r" marL="0" indent="0">
                        <a:lnSpc>
                          <a:spcPct val="100000"/>
                        </a:lnSpc>
                        <a:spcBef>
                          <a:spcPts val="0"/>
                        </a:spcBef>
                        <a:spcAft>
                          <a:spcPts val="0"/>
                        </a:spcAft>
                        <a:buNone/>
                      </a:pPr>
                      <a:r>
                        <a:rPr sz="1500" b="0" i="0" lang="he-IL">
                          <a:solidFill>
                            <a:srgbClr val="212121"/>
                          </a:solidFill>
                        </a:rPr>
                        <a:t>ValueError עם הסבר</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1F4E6"/>
                    </a:solidFill>
                  </a:tcPr>
                </a:tc>
                <a:tc>
                  <a:txBody>
                    <a:bodyPr wrap="square"/>
                    <a:lstStyle/>
                    <a:p>
                      <a:pPr rtl="1" algn="r" marL="0" indent="0">
                        <a:lnSpc>
                          <a:spcPct val="100000"/>
                        </a:lnSpc>
                        <a:spcBef>
                          <a:spcPts val="0"/>
                        </a:spcBef>
                        <a:spcAft>
                          <a:spcPts val="0"/>
                        </a:spcAft>
                        <a:buNone/>
                      </a:pPr>
                      <a:r>
                        <a:rPr sz="1500" b="0" i="0" lang="he-IL">
                          <a:solidFill>
                            <a:srgbClr val="212121"/>
                          </a:solidFill>
                        </a:rPr>
                        <a:t>מחזיר 0 בשקט</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FDE3E0"/>
                    </a:solidFill>
                  </a:tcPr>
                </a:tc>
                <a:tc>
                  <a:txBody>
                    <a:bodyPr wrap="square"/>
                    <a:lstStyle/>
                    <a:p>
                      <a:pPr rtl="1" algn="r" marL="0" indent="0">
                        <a:lnSpc>
                          <a:spcPct val="100000"/>
                        </a:lnSpc>
                        <a:spcBef>
                          <a:spcPts val="0"/>
                        </a:spcBef>
                        <a:spcAft>
                          <a:spcPts val="0"/>
                        </a:spcAft>
                        <a:buNone/>
                      </a:pPr>
                      <a:r>
                        <a:rPr sz="1500" b="1" i="0" lang="he-IL">
                          <a:solidFill>
                            <a:srgbClr val="212121"/>
                          </a:solidFill>
                        </a:rPr>
                        <a:t>שגיאה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621792">
                <a:tc>
                  <a:txBody>
                    <a:bodyPr wrap="square"/>
                    <a:lstStyle/>
                    <a:p>
                      <a:pPr rtl="1" algn="r" marL="0" indent="0">
                        <a:lnSpc>
                          <a:spcPct val="100000"/>
                        </a:lnSpc>
                        <a:spcBef>
                          <a:spcPts val="0"/>
                        </a:spcBef>
                        <a:spcAft>
                          <a:spcPts val="0"/>
                        </a:spcAft>
                        <a:buNone/>
                      </a:pPr>
                      <a:r>
                        <a:rPr sz="1500" b="0" i="0" lang="he-IL">
                          <a:solidFill>
                            <a:srgbClr val="212121"/>
                          </a:solidFill>
                        </a:rPr>
                        <a:t>docstring: מה, קלט, פלט</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1F4E6"/>
                    </a:solidFill>
                  </a:tcPr>
                </a:tc>
                <a:tc>
                  <a:txBody>
                    <a:bodyPr wrap="square"/>
                    <a:lstStyle/>
                    <a:p>
                      <a:pPr rtl="1" algn="r" marL="0" indent="0">
                        <a:lnSpc>
                          <a:spcPct val="100000"/>
                        </a:lnSpc>
                        <a:spcBef>
                          <a:spcPts val="0"/>
                        </a:spcBef>
                        <a:spcAft>
                          <a:spcPts val="0"/>
                        </a:spcAft>
                        <a:buNone/>
                      </a:pPr>
                      <a:r>
                        <a:rPr sz="1500" b="0" i="0" lang="he-IL">
                          <a:solidFill>
                            <a:srgbClr val="212121"/>
                          </a:solidFill>
                        </a:rPr>
                        <a:t>אין</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FDE3E0"/>
                    </a:solidFill>
                  </a:tcPr>
                </a:tc>
                <a:tc>
                  <a:txBody>
                    <a:bodyPr wrap="square"/>
                    <a:lstStyle/>
                    <a:p>
                      <a:pPr rtl="1" algn="r" marL="0" indent="0">
                        <a:lnSpc>
                          <a:spcPct val="100000"/>
                        </a:lnSpc>
                        <a:spcBef>
                          <a:spcPts val="0"/>
                        </a:spcBef>
                        <a:spcAft>
                          <a:spcPts val="0"/>
                        </a:spcAft>
                        <a:buNone/>
                      </a:pPr>
                      <a:r>
                        <a:rPr sz="1500" b="1" i="0" lang="he-IL">
                          <a:solidFill>
                            <a:srgbClr val="212121"/>
                          </a:solidFill>
                        </a:rPr>
                        <a:t>תיעוד</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bl>
          </a:graphicData>
        </a:graphic>
      </p:graphicFrame>
      <p:sp>
        <p:nvSpPr>
          <p:cNvPr id="6" name="TextBox 5"/>
          <p:cNvSpPr txBox="1"/>
          <p:nvPr/>
        </p:nvSpPr>
        <p:spPr>
          <a:xfrm>
            <a:off x="365760" y="4572000"/>
            <a:ext cx="841248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1" i="0" lang="he-IL">
                <a:solidFill>
                  <a:srgbClr val="4285F4"/>
                </a:solidFill>
              </a:rPr>
              <a:t>API של פונקציה הוא ההבטחה שלה: מה נכנס, מה יוצא, ומה קורה בשגיאה.</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11 - חלק ב׳ :</a:t>
            </a:r>
            <a:r>
              <a:rPr sz="3000" b="1" i="0" lang="he-IL">
                <a:solidFill>
                  <a:srgbClr val="212121"/>
                </a:solidFill>
              </a:rPr>
              <a:t>קנה מידה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graphicFrame>
        <p:nvGraphicFramePr>
          <p:cNvPr id="5" name="Chart 4"/>
          <p:cNvGraphicFramePr>
            <a:graphicFrameLocks noGrp="1"/>
          </p:cNvGraphicFramePr>
          <p:nvPr/>
        </p:nvGraphicFramePr>
        <p:xfrm>
          <a:off x="274320" y="1371600"/>
          <a:ext cx="5486400" cy="3474720"/>
        </p:xfrm>
        <a:graphic>
          <a:graphicData uri="http://schemas.openxmlformats.org/drawingml/2006/chart">
            <c:chart xmlns:c="http://schemas.openxmlformats.org/drawingml/2006/chart" r:id="rId3"/>
          </a:graphicData>
        </a:graphic>
      </p:graphicFrame>
      <p:sp>
        <p:nvSpPr>
          <p:cNvPr id="6" name="Rounded Rectangle 5"/>
          <p:cNvSpPr/>
          <p:nvPr/>
        </p:nvSpPr>
        <p:spPr>
          <a:xfrm>
            <a:off x="5943600" y="1463040"/>
            <a:ext cx="2834640" cy="1371600"/>
          </a:xfrm>
          <a:prstGeom prst="roundRect">
            <a:avLst>
              <a:gd name="adj" fmla="val 12000"/>
            </a:avLst>
          </a:prstGeom>
          <a:solidFill>
            <a:srgbClr val="FDE3E0"/>
          </a:solidFill>
          <a:ln w="19050">
            <a:solidFill>
              <a:srgbClr val="EA4335"/>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EA4335"/>
                </a:solidFill>
              </a:rPr>
              <a:t>בלולאה, שורה אחרי שורה</a:t>
            </a:r>
          </a:p>
          <a:p>
            <a:pPr rtl="1" algn="ctr" marL="0" indent="0">
              <a:lnSpc>
                <a:spcPct val="105000"/>
              </a:lnSpc>
              <a:spcBef>
                <a:spcPts val="0"/>
              </a:spcBef>
              <a:spcAft>
                <a:spcPts val="0"/>
              </a:spcAft>
              <a:buNone/>
            </a:pPr>
            <a:r>
              <a:rPr sz="1400" b="0" i="0" lang="he-IL">
                <a:solidFill>
                  <a:srgbClr val="212121"/>
                </a:solidFill>
              </a:rPr>
              <a:t>3.8 שניות ל־300 אלף שורות</a:t>
            </a:r>
          </a:p>
        </p:txBody>
      </p:sp>
      <p:sp>
        <p:nvSpPr>
          <p:cNvPr id="7" name="Rounded Rectangle 6"/>
          <p:cNvSpPr/>
          <p:nvPr/>
        </p:nvSpPr>
        <p:spPr>
          <a:xfrm>
            <a:off x="5943600" y="3017520"/>
            <a:ext cx="2834640" cy="1371600"/>
          </a:xfrm>
          <a:prstGeom prst="roundRect">
            <a:avLst>
              <a:gd name="adj" fmla="val 12000"/>
            </a:avLst>
          </a:prstGeom>
          <a:solidFill>
            <a:srgbClr val="E1F4E6"/>
          </a:solidFill>
          <a:ln w="1905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34A853"/>
                </a:solidFill>
              </a:rPr>
              <a:t>בפעולה על כל העמודה</a:t>
            </a:r>
          </a:p>
          <a:p>
            <a:pPr rtl="1" algn="ctr" marL="0" indent="0">
              <a:lnSpc>
                <a:spcPct val="105000"/>
              </a:lnSpc>
              <a:spcBef>
                <a:spcPts val="0"/>
              </a:spcBef>
              <a:spcAft>
                <a:spcPts val="0"/>
              </a:spcAft>
              <a:buNone/>
            </a:pPr>
            <a:r>
              <a:rPr sz="1400" b="0" i="0" lang="he-IL">
                <a:solidFill>
                  <a:srgbClr val="212121"/>
                </a:solidFill>
              </a:rPr>
              <a:t>פחות מאלפית שנייה</a:t>
            </a:r>
          </a:p>
        </p:txBody>
      </p:sp>
      <p:sp>
        <p:nvSpPr>
          <p:cNvPr id="8" name="TextBox 7"/>
          <p:cNvSpPr txBox="1"/>
          <p:nvPr/>
        </p:nvSpPr>
        <p:spPr>
          <a:xfrm>
            <a:off x="365760" y="4846320"/>
            <a:ext cx="8412480" cy="27432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200" b="0" i="0" lang="he-IL">
                <a:solidFill>
                  <a:srgbClr val="595959"/>
                </a:solidFill>
              </a:rPr>
              <a:t>זמן ריצה בשניות. המספרים תלויים במחשב.</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11 - חלק ב׳ :למה הלולאה איטית</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TextBox 4"/>
          <p:cNvSpPr txBox="1"/>
          <p:nvPr/>
        </p:nvSpPr>
        <p:spPr>
          <a:xfrm>
            <a:off x="365760" y="1325880"/>
            <a:ext cx="8412480" cy="82296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500" b="1" i="0" lang="he-IL">
                <a:solidFill>
                  <a:srgbClr val="212121"/>
                </a:solidFill>
              </a:rPr>
              <a:t>אותה משימה: סך כמויות לכל לקוח. הנתונים גדלים פי 10.</a:t>
            </a:r>
          </a:p>
        </p:txBody>
      </p:sp>
      <p:sp>
        <p:nvSpPr>
          <p:cNvPr id="6" name="Rounded Rectangle 5"/>
          <p:cNvSpPr/>
          <p:nvPr/>
        </p:nvSpPr>
        <p:spPr>
          <a:xfrm>
            <a:off x="4663440" y="2377440"/>
            <a:ext cx="4114800" cy="1800000"/>
          </a:xfrm>
          <a:prstGeom prst="roundRect">
            <a:avLst>
              <a:gd name="adj" fmla="val 12000"/>
            </a:avLst>
          </a:prstGeom>
          <a:solidFill>
            <a:srgbClr val="FDE3E0"/>
          </a:solidFill>
          <a:ln w="31750">
            <a:solidFill>
              <a:srgbClr val="EA4335"/>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900" b="1" i="0" lang="he-IL">
                <a:solidFill>
                  <a:srgbClr val="212121"/>
                </a:solidFill>
              </a:rPr>
              <a:t>totals_slow: רשימה</a:t>
            </a:r>
          </a:p>
          <a:p>
            <a:pPr rtl="1" algn="ctr" marL="0" indent="0">
              <a:lnSpc>
                <a:spcPct val="105000"/>
              </a:lnSpc>
              <a:spcBef>
                <a:spcPts val="0"/>
              </a:spcBef>
              <a:spcAft>
                <a:spcPts val="0"/>
              </a:spcAft>
              <a:buNone/>
            </a:pPr>
            <a:r>
              <a:rPr sz="1500" b="0" i="0" lang="he-IL">
                <a:solidFill>
                  <a:srgbClr val="212121"/>
                </a:solidFill>
              </a:rPr>
              <a:t>בכל שורה סורקים את הלקוחות הידועים. העבודה גדלה בריבוע: פי 100. נמדד בכיתה: פי 78</a:t>
            </a:r>
          </a:p>
        </p:txBody>
      </p:sp>
      <p:sp>
        <p:nvSpPr>
          <p:cNvPr id="7" name="Rounded Rectangle 6"/>
          <p:cNvSpPr/>
          <p:nvPr/>
        </p:nvSpPr>
        <p:spPr>
          <a:xfrm>
            <a:off x="365760" y="2377440"/>
            <a:ext cx="4114800" cy="1800000"/>
          </a:xfrm>
          <a:prstGeom prst="roundRect">
            <a:avLst>
              <a:gd name="adj" fmla="val 12000"/>
            </a:avLst>
          </a:prstGeom>
          <a:solidFill>
            <a:srgbClr val="E1F4E6"/>
          </a:solidFill>
          <a:ln w="3175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900" b="1" i="0" lang="he-IL">
                <a:solidFill>
                  <a:srgbClr val="212121"/>
                </a:solidFill>
              </a:rPr>
              <a:t>totals_fast: מילון</a:t>
            </a:r>
          </a:p>
          <a:p>
            <a:pPr rtl="1" algn="ctr" marL="0" indent="0">
              <a:lnSpc>
                <a:spcPct val="105000"/>
              </a:lnSpc>
              <a:spcBef>
                <a:spcPts val="0"/>
              </a:spcBef>
              <a:spcAft>
                <a:spcPts val="0"/>
              </a:spcAft>
              <a:buNone/>
            </a:pPr>
            <a:r>
              <a:rPr sz="1500" b="0" i="0" lang="he-IL">
                <a:solidFill>
                  <a:srgbClr val="212121"/>
                </a:solidFill>
              </a:rPr>
              <a:t>קופצים ישר למפתח. העבודה גדלה ישר: פי 10. נמדד בכיתה: פי 10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11 - חלק ב׳ :</a:t>
            </a:r>
            <a:r>
              <a:rPr sz="3000" b="1" i="0" lang="he-IL">
                <a:solidFill>
                  <a:srgbClr val="212121"/>
                </a:solidFill>
              </a:rPr>
              <a:t>מה נשבר כשהנתונים גדלים</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6172200" y="1463040"/>
            <a:ext cx="2697480" cy="3108960"/>
          </a:xfrm>
          <a:prstGeom prst="roundRect">
            <a:avLst>
              <a:gd name="adj" fmla="val 6000"/>
            </a:avLst>
          </a:prstGeom>
          <a:solidFill>
            <a:srgbClr val="FDE3E0"/>
          </a:solidFill>
          <a:ln w="31750">
            <a:solidFill>
              <a:srgbClr val="EA4335"/>
            </a:solidFill>
          </a:ln>
        </p:spPr>
        <p:txBody>
          <a:bodyPr rtlCol="0" anchor="ctr" wrap="square" lIns="73152" rIns="73152" tIns="73152" bIns="73152">
            <a:noAutofit/>
          </a:bodyPr>
          <a:lstStyle/>
          <a:p>
            <a:pPr algn="ctr"/>
          </a:p>
        </p:txBody>
      </p:sp>
      <p:sp>
        <p:nvSpPr>
          <p:cNvPr id="6" name="TextBox 5"/>
          <p:cNvSpPr txBox="1"/>
          <p:nvPr/>
        </p:nvSpPr>
        <p:spPr>
          <a:xfrm>
            <a:off x="6172200" y="1554480"/>
            <a:ext cx="269748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800" b="0" i="0" lang="he-IL">
                <a:solidFill>
                  <a:srgbClr val="212121"/>
                </a:solidFill>
              </a:rPr>
              <a:t>🐌</a:t>
            </a:r>
          </a:p>
        </p:txBody>
      </p:sp>
      <p:sp>
        <p:nvSpPr>
          <p:cNvPr id="7" name="TextBox 6"/>
          <p:cNvSpPr txBox="1"/>
          <p:nvPr/>
        </p:nvSpPr>
        <p:spPr>
          <a:xfrm>
            <a:off x="6263640" y="2377440"/>
            <a:ext cx="25146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1900" b="1" i="0" lang="he-IL">
                <a:solidFill>
                  <a:srgbClr val="212121"/>
                </a:solidFill>
              </a:rPr>
              <a:t>לולאות איטיות</a:t>
            </a:r>
          </a:p>
        </p:txBody>
      </p:sp>
      <p:sp>
        <p:nvSpPr>
          <p:cNvPr id="8" name="TextBox 7"/>
          <p:cNvSpPr txBox="1"/>
          <p:nvPr/>
        </p:nvSpPr>
        <p:spPr>
          <a:xfrm>
            <a:off x="6309360" y="3063240"/>
            <a:ext cx="2423160" cy="1463039"/>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שורה אחרי שורה במקום פעולה על עמודה.</a:t>
            </a:r>
          </a:p>
        </p:txBody>
      </p:sp>
      <p:sp>
        <p:nvSpPr>
          <p:cNvPr id="9" name="Rounded Rectangle 8"/>
          <p:cNvSpPr/>
          <p:nvPr/>
        </p:nvSpPr>
        <p:spPr>
          <a:xfrm>
            <a:off x="3246120" y="1463040"/>
            <a:ext cx="2697480" cy="310896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0" name="TextBox 9"/>
          <p:cNvSpPr txBox="1"/>
          <p:nvPr/>
        </p:nvSpPr>
        <p:spPr>
          <a:xfrm>
            <a:off x="3246120" y="1554480"/>
            <a:ext cx="269748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800" b="0" i="0" lang="he-IL">
                <a:solidFill>
                  <a:srgbClr val="212121"/>
                </a:solidFill>
              </a:rPr>
              <a:t>🧠</a:t>
            </a:r>
          </a:p>
        </p:txBody>
      </p:sp>
      <p:sp>
        <p:nvSpPr>
          <p:cNvPr id="11" name="TextBox 10"/>
          <p:cNvSpPr txBox="1"/>
          <p:nvPr/>
        </p:nvSpPr>
        <p:spPr>
          <a:xfrm>
            <a:off x="3337560" y="2377440"/>
            <a:ext cx="25146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1900" b="1" i="0" lang="he-IL">
                <a:solidFill>
                  <a:srgbClr val="212121"/>
                </a:solidFill>
              </a:rPr>
              <a:t>זיכרון</a:t>
            </a:r>
          </a:p>
        </p:txBody>
      </p:sp>
      <p:sp>
        <p:nvSpPr>
          <p:cNvPr id="12" name="TextBox 11"/>
          <p:cNvSpPr txBox="1"/>
          <p:nvPr/>
        </p:nvSpPr>
        <p:spPr>
          <a:xfrm>
            <a:off x="3383279" y="3063240"/>
            <a:ext cx="2423160" cy="1463039"/>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טוענים את כל הקובץ לזיכרון, גם כשצריך חלק.</a:t>
            </a:r>
          </a:p>
        </p:txBody>
      </p:sp>
      <p:sp>
        <p:nvSpPr>
          <p:cNvPr id="13" name="Rounded Rectangle 12"/>
          <p:cNvSpPr/>
          <p:nvPr/>
        </p:nvSpPr>
        <p:spPr>
          <a:xfrm>
            <a:off x="320039" y="1463040"/>
            <a:ext cx="2697480" cy="310896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14" name="TextBox 13"/>
          <p:cNvSpPr txBox="1"/>
          <p:nvPr/>
        </p:nvSpPr>
        <p:spPr>
          <a:xfrm>
            <a:off x="320039" y="1554480"/>
            <a:ext cx="269748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800" b="0" i="0" lang="he-IL">
                <a:solidFill>
                  <a:srgbClr val="212121"/>
                </a:solidFill>
              </a:rPr>
              <a:t>🔁</a:t>
            </a:r>
          </a:p>
        </p:txBody>
      </p:sp>
      <p:sp>
        <p:nvSpPr>
          <p:cNvPr id="15" name="TextBox 14"/>
          <p:cNvSpPr txBox="1"/>
          <p:nvPr/>
        </p:nvSpPr>
        <p:spPr>
          <a:xfrm>
            <a:off x="411479" y="2377440"/>
            <a:ext cx="25146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1900" b="1" i="0" lang="he-IL">
                <a:solidFill>
                  <a:srgbClr val="212121"/>
                </a:solidFill>
              </a:rPr>
              <a:t>שאילתות חוזרות</a:t>
            </a:r>
          </a:p>
        </p:txBody>
      </p:sp>
      <p:sp>
        <p:nvSpPr>
          <p:cNvPr id="16" name="TextBox 15"/>
          <p:cNvSpPr txBox="1"/>
          <p:nvPr/>
        </p:nvSpPr>
        <p:spPr>
          <a:xfrm>
            <a:off x="457199" y="3063240"/>
            <a:ext cx="2423160" cy="1463039"/>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שאילתה בתוך לולאה במקום שאילתה אחת.</a:t>
            </a:r>
          </a:p>
        </p:txBody>
      </p:sp>
      <p:sp>
        <p:nvSpPr>
          <p:cNvPr id="17" name="Tag אופציונלי"/>
          <p:cNvSpPr/>
          <p:nvPr/>
        </p:nvSpPr>
        <p:spPr>
          <a:xfrm>
            <a:off x="109728" y="91440"/>
            <a:ext cx="1417320" cy="384048"/>
          </a:xfrm>
          <a:prstGeom prst="roundRect">
            <a:avLst>
              <a:gd name="adj" fmla="val 40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אופציונלי</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11 - חלק ב׳ :</a:t>
            </a:r>
            <a:r>
              <a:rPr sz="3000" b="1" i="0" lang="he-IL">
                <a:solidFill>
                  <a:srgbClr val="212121"/>
                </a:solidFill>
              </a:rPr>
              <a:t>שאלת בדיקה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TextBox 4"/>
          <p:cNvSpPr txBox="1"/>
          <p:nvPr/>
        </p:nvSpPr>
        <p:spPr>
          <a:xfrm>
            <a:off x="365760" y="1463040"/>
            <a:ext cx="8412480" cy="29260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600" b="1" i="0" lang="he-IL">
                <a:solidFill>
                  <a:srgbClr val="4285F4"/>
                </a:solidFill>
              </a:rPr>
              <a:t>פונקציה אחת קוראת קובץ, מחשבת ומדפיסה. למה זה בעיה?</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11 - חלק ב׳ :</a:t>
            </a:r>
            <a:r>
              <a:rPr sz="3000" b="1" i="0" lang="he-IL">
                <a:solidFill>
                  <a:srgbClr val="212121"/>
                </a:solidFill>
              </a:rPr>
              <a:t>שאלת בדיקה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TextBox 4"/>
          <p:cNvSpPr txBox="1"/>
          <p:nvPr/>
        </p:nvSpPr>
        <p:spPr>
          <a:xfrm>
            <a:off x="365760" y="1371600"/>
            <a:ext cx="8412480" cy="91440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700" b="0" i="0" lang="he-IL">
                <a:solidFill>
                  <a:srgbClr val="595959"/>
                </a:solidFill>
              </a:rPr>
              <a:t>פונקציה אחת קוראת קובץ, מחשבת ומדפיסה. למה זה בעיה?</a:t>
            </a:r>
          </a:p>
        </p:txBody>
      </p:sp>
      <p:sp>
        <p:nvSpPr>
          <p:cNvPr id="6" name="TextBox 5"/>
          <p:cNvSpPr txBox="1"/>
          <p:nvPr/>
        </p:nvSpPr>
        <p:spPr>
          <a:xfrm>
            <a:off x="365760" y="2423160"/>
            <a:ext cx="8412480" cy="2651760"/>
          </a:xfrm>
          <a:prstGeom prst="rect">
            <a:avLst/>
          </a:prstGeom>
          <a:noFill/>
        </p:spPr>
        <p:txBody>
          <a:bodyPr wrap="square" lIns="73152" rIns="73152" tIns="73152" bIns="73152" anchor="t">
            <a:noAutofit/>
          </a:bodyPr>
          <a:lstStyle/>
          <a:p>
            <a:pPr rtl="1" algn="r" marL="0" indent="0">
              <a:lnSpc>
                <a:spcPct val="110000"/>
              </a:lnSpc>
              <a:spcBef>
                <a:spcPts val="0"/>
              </a:spcBef>
              <a:spcAft>
                <a:spcPts val="400"/>
              </a:spcAft>
              <a:buNone/>
            </a:pPr>
            <a:r>
              <a:rPr sz="2200" b="1" i="0" lang="he-IL">
                <a:solidFill>
                  <a:srgbClr val="34A853"/>
                </a:solidFill>
              </a:rPr>
              <a:t>תשובה:</a:t>
            </a:r>
          </a:p>
          <a:p>
            <a:pPr rtl="1" algn="r" marL="347472" indent="-292608">
              <a:lnSpc>
                <a:spcPct val="110000"/>
              </a:lnSpc>
              <a:spcBef>
                <a:spcPts val="0"/>
              </a:spcBef>
              <a:spcAft>
                <a:spcPts val="600"/>
              </a:spcAft>
              <a:buClr>
                <a:srgbClr val="212121"/>
              </a:buClr>
              <a:buSzPts val="1680"/>
              <a:buChar char="●"/>
            </a:pPr>
            <a:r>
              <a:rPr sz="2100" b="0" i="0" lang="he-IL">
                <a:solidFill>
                  <a:srgbClr val="212121"/>
                </a:solidFill>
              </a:rPr>
              <a:t>קשה לבדוק (צריך קובץ ולקרוא פלט) וקשה לשנות חלק אחד בלי להשפיע על האחרים.</a:t>
            </a:r>
          </a:p>
          <a:p>
            <a:pPr rtl="1" algn="r" marL="347472" indent="-292608">
              <a:lnSpc>
                <a:spcPct val="110000"/>
              </a:lnSpc>
              <a:spcBef>
                <a:spcPts val="0"/>
              </a:spcBef>
              <a:spcAft>
                <a:spcPts val="600"/>
              </a:spcAft>
              <a:buClr>
                <a:srgbClr val="212121"/>
              </a:buClr>
              <a:buSzPts val="1680"/>
              <a:buChar char="●"/>
            </a:pPr>
            <a:r>
              <a:rPr sz="2100" b="0" i="0" lang="he-IL">
                <a:solidFill>
                  <a:srgbClr val="212121"/>
                </a:solidFill>
              </a:rPr>
              <a:t>מפרידים: נתונים, לוגיקה, ממשק.</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11 - חלק ב׳ :ארכיטקטורה מול עיצוב</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TextBox 4"/>
          <p:cNvSpPr txBox="1"/>
          <p:nvPr/>
        </p:nvSpPr>
        <p:spPr>
          <a:xfrm>
            <a:off x="365760" y="1325880"/>
            <a:ext cx="8412480" cy="82296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500" b="1" i="0" lang="he-IL">
                <a:solidFill>
                  <a:srgbClr val="212121"/>
                </a:solidFill>
              </a:rPr>
              <a:t>ארכיטקטורה: מה שקשה לשנות. עיצוב: מה שקל לשנות.</a:t>
            </a:r>
          </a:p>
        </p:txBody>
      </p:sp>
      <p:sp>
        <p:nvSpPr>
          <p:cNvPr id="6" name="Rounded Rectangle 5"/>
          <p:cNvSpPr/>
          <p:nvPr/>
        </p:nvSpPr>
        <p:spPr>
          <a:xfrm>
            <a:off x="4663440" y="2377440"/>
            <a:ext cx="4114800" cy="1655999"/>
          </a:xfrm>
          <a:prstGeom prst="roundRect">
            <a:avLst>
              <a:gd name="adj" fmla="val 12000"/>
            </a:avLst>
          </a:prstGeom>
          <a:solidFill>
            <a:srgbClr val="FDE3E0"/>
          </a:solidFill>
          <a:ln w="31750">
            <a:solidFill>
              <a:srgbClr val="EA4335"/>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900" b="1" i="0" lang="he-IL">
                <a:solidFill>
                  <a:srgbClr val="212121"/>
                </a:solidFill>
              </a:rPr>
              <a:t>ארכיטקטורה: יקר לשנות</a:t>
            </a:r>
          </a:p>
          <a:p>
            <a:pPr rtl="1" algn="ctr" marL="0" indent="0">
              <a:lnSpc>
                <a:spcPct val="105000"/>
              </a:lnSpc>
              <a:spcBef>
                <a:spcPts val="0"/>
              </a:spcBef>
              <a:spcAft>
                <a:spcPts val="0"/>
              </a:spcAft>
              <a:buNone/>
            </a:pPr>
            <a:r>
              <a:rPr sz="1500" b="0" i="0" lang="he-IL">
                <a:solidFill>
                  <a:srgbClr val="212121"/>
                </a:solidFill>
              </a:rPr>
              <a:t>שכבות, מסד נתונים, גבולות בין חלקים ובין צוותים</a:t>
            </a:r>
          </a:p>
        </p:txBody>
      </p:sp>
      <p:sp>
        <p:nvSpPr>
          <p:cNvPr id="7" name="Rounded Rectangle 6"/>
          <p:cNvSpPr/>
          <p:nvPr/>
        </p:nvSpPr>
        <p:spPr>
          <a:xfrm>
            <a:off x="365760" y="2377440"/>
            <a:ext cx="4114800" cy="1655999"/>
          </a:xfrm>
          <a:prstGeom prst="roundRect">
            <a:avLst>
              <a:gd name="adj" fmla="val 12000"/>
            </a:avLst>
          </a:prstGeom>
          <a:solidFill>
            <a:srgbClr val="E1F4E6"/>
          </a:solidFill>
          <a:ln w="3175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900" b="1" i="0" lang="he-IL">
                <a:solidFill>
                  <a:srgbClr val="212121"/>
                </a:solidFill>
              </a:rPr>
              <a:t>עיצוב: זול לשנות</a:t>
            </a:r>
          </a:p>
          <a:p>
            <a:pPr rtl="1" algn="ctr" marL="0" indent="0">
              <a:lnSpc>
                <a:spcPct val="105000"/>
              </a:lnSpc>
              <a:spcBef>
                <a:spcPts val="0"/>
              </a:spcBef>
              <a:spcAft>
                <a:spcPts val="0"/>
              </a:spcAft>
              <a:buNone/>
            </a:pPr>
            <a:r>
              <a:rPr sz="1500" b="0" i="0" lang="he-IL">
                <a:solidFill>
                  <a:srgbClr val="212121"/>
                </a:solidFill>
              </a:rPr>
              <a:t>שמות, פונקציות, API פנימי: מה שעשינו ב־Refactoring</a:t>
            </a:r>
          </a:p>
        </p:txBody>
      </p:sp>
      <p:sp>
        <p:nvSpPr>
          <p:cNvPr id="8" name="TextBox 5"/>
          <p:cNvSpPr txBox="1"/>
          <p:nvPr/>
        </p:nvSpPr>
        <p:spPr>
          <a:xfrm>
            <a:off x="365760" y="4176000"/>
            <a:ext cx="8412480" cy="503999"/>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1" i="0" lang="he-IL">
                <a:solidFill>
                  <a:srgbClr val="4285F4"/>
                </a:solidFill>
              </a:rPr>
              <a:t>חוק Conway (1968): מבנה המערכת הוא עותק של מבנה התקשורת בארגון.</a:t>
            </a:r>
          </a:p>
        </p:txBody>
      </p:sp>
      <p:sp>
        <p:nvSpPr>
          <p:cNvPr id="9" name="Tag העשרה"/>
          <p:cNvSpPr/>
          <p:nvPr/>
        </p:nvSpPr>
        <p:spPr>
          <a:xfrm>
            <a:off x="109728" y="91440"/>
            <a:ext cx="1417320" cy="384048"/>
          </a:xfrm>
          <a:prstGeom prst="roundRect">
            <a:avLst>
              <a:gd name="adj" fmla="val 40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העשרה</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11 - מעבדה ב׳ : הקובץ הנדרש</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8 דקות</a:t>
            </a:r>
          </a:p>
        </p:txBody>
      </p:sp>
      <p:sp>
        <p:nvSpPr>
          <p:cNvPr id="6" name="TextBox 5"/>
          <p:cNvSpPr txBox="1"/>
          <p:nvPr/>
        </p:nvSpPr>
        <p:spPr>
          <a:xfrm>
            <a:off x="365760" y="1325880"/>
            <a:ext cx="8412480" cy="50292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100" b="1" i="0" lang="he-IL">
                <a:solidFill>
                  <a:srgbClr val="212121"/>
                </a:solidFill>
              </a:rPr>
              <a:t>הקובץ לתרגול: HM_11.ipynb. חלק ג׳: קנה מידה.</a:t>
            </a:r>
          </a:p>
        </p:txBody>
      </p:sp>
      <p:sp>
        <p:nvSpPr>
          <p:cNvPr id="7" name="Rounded Rectangle 6"/>
          <p:cNvSpPr/>
          <p:nvPr/>
        </p:nvSpPr>
        <p:spPr>
          <a:xfrm>
            <a:off x="6172200" y="2057400"/>
            <a:ext cx="2697480" cy="182880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8" name="Oval 7"/>
          <p:cNvSpPr/>
          <p:nvPr/>
        </p:nvSpPr>
        <p:spPr>
          <a:xfrm>
            <a:off x="7315200" y="1828800"/>
            <a:ext cx="384048" cy="384048"/>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1</a:t>
            </a:r>
          </a:p>
        </p:txBody>
      </p:sp>
      <p:sp>
        <p:nvSpPr>
          <p:cNvPr id="9" name="TextBox 8"/>
          <p:cNvSpPr txBox="1"/>
          <p:nvPr/>
        </p:nvSpPr>
        <p:spPr>
          <a:xfrm>
            <a:off x="6217920"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הקובץ</a:t>
            </a:r>
          </a:p>
        </p:txBody>
      </p:sp>
      <p:sp>
        <p:nvSpPr>
          <p:cNvPr id="10" name="TextBox 9"/>
          <p:cNvSpPr txBox="1"/>
          <p:nvPr/>
        </p:nvSpPr>
        <p:spPr>
          <a:xfrm>
            <a:off x="6309360"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HM_11.ipynb. חלק ג׳: קנה מידה</a:t>
            </a:r>
          </a:p>
        </p:txBody>
      </p:sp>
      <p:sp>
        <p:nvSpPr>
          <p:cNvPr id="11" name="Rounded Rectangle 10"/>
          <p:cNvSpPr/>
          <p:nvPr/>
        </p:nvSpPr>
        <p:spPr>
          <a:xfrm>
            <a:off x="3246120" y="2057400"/>
            <a:ext cx="2697480" cy="182880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2" name="Oval 11"/>
          <p:cNvSpPr/>
          <p:nvPr/>
        </p:nvSpPr>
        <p:spPr>
          <a:xfrm>
            <a:off x="4389120" y="1828800"/>
            <a:ext cx="384048" cy="384048"/>
          </a:xfrm>
          <a:prstGeom prst="ellipse">
            <a:avLst/>
          </a:prstGeom>
          <a:solidFill>
            <a:srgbClr val="FFAB40"/>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2</a:t>
            </a:r>
          </a:p>
        </p:txBody>
      </p:sp>
      <p:sp>
        <p:nvSpPr>
          <p:cNvPr id="13" name="TextBox 12"/>
          <p:cNvSpPr txBox="1"/>
          <p:nvPr/>
        </p:nvSpPr>
        <p:spPr>
          <a:xfrm>
            <a:off x="329183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איך פותחים</a:t>
            </a:r>
          </a:p>
        </p:txBody>
      </p:sp>
      <p:sp>
        <p:nvSpPr>
          <p:cNvPr id="14" name="TextBox 13"/>
          <p:cNvSpPr txBox="1"/>
          <p:nvPr/>
        </p:nvSpPr>
        <p:spPr>
          <a:xfrm>
            <a:off x="338327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קישור או QR מהמרצה, או Upload ל־Colab. כל הדרכים במדריך Google Colab</a:t>
            </a:r>
          </a:p>
        </p:txBody>
      </p:sp>
      <p:sp>
        <p:nvSpPr>
          <p:cNvPr id="15" name="Rounded Rectangle 14"/>
          <p:cNvSpPr/>
          <p:nvPr/>
        </p:nvSpPr>
        <p:spPr>
          <a:xfrm>
            <a:off x="320039" y="2057400"/>
            <a:ext cx="2697480" cy="1828800"/>
          </a:xfrm>
          <a:prstGeom prst="roundRect">
            <a:avLst>
              <a:gd name="adj" fmla="val 6000"/>
            </a:avLst>
          </a:prstGeom>
          <a:solidFill>
            <a:srgbClr val="DDF2F5"/>
          </a:solidFill>
          <a:ln w="31750">
            <a:solidFill>
              <a:srgbClr val="0097A7"/>
            </a:solidFill>
          </a:ln>
        </p:spPr>
        <p:txBody>
          <a:bodyPr rtlCol="0" anchor="ctr" wrap="square" lIns="73152" rIns="73152" tIns="73152" bIns="73152">
            <a:noAutofit/>
          </a:bodyPr>
          <a:lstStyle/>
          <a:p>
            <a:pPr algn="ctr"/>
          </a:p>
        </p:txBody>
      </p:sp>
      <p:sp>
        <p:nvSpPr>
          <p:cNvPr id="16" name="Oval 15"/>
          <p:cNvSpPr/>
          <p:nvPr/>
        </p:nvSpPr>
        <p:spPr>
          <a:xfrm>
            <a:off x="1463039" y="1828800"/>
            <a:ext cx="384048" cy="384048"/>
          </a:xfrm>
          <a:prstGeom prst="ellipse">
            <a:avLst/>
          </a:prstGeom>
          <a:solidFill>
            <a:srgbClr val="0097A7"/>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3</a:t>
            </a:r>
          </a:p>
        </p:txBody>
      </p:sp>
      <p:sp>
        <p:nvSpPr>
          <p:cNvPr id="17" name="TextBox 16"/>
          <p:cNvSpPr txBox="1"/>
          <p:nvPr/>
        </p:nvSpPr>
        <p:spPr>
          <a:xfrm>
            <a:off x="36575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מה שומרים</a:t>
            </a:r>
          </a:p>
        </p:txBody>
      </p:sp>
      <p:sp>
        <p:nvSpPr>
          <p:cNvPr id="18" name="TextBox 17"/>
          <p:cNvSpPr txBox="1"/>
          <p:nvPr/>
        </p:nvSpPr>
        <p:spPr>
          <a:xfrm>
            <a:off x="45719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בסוף: ✓ בכל הבדיקות, שמירה ב־Drive והורדת הקובץ</a:t>
            </a:r>
          </a:p>
        </p:txBody>
      </p:sp>
      <p:sp>
        <p:nvSpPr>
          <p:cNvPr id="19" name="Rounded Rectangle 18"/>
          <p:cNvSpPr/>
          <p:nvPr/>
        </p:nvSpPr>
        <p:spPr>
          <a:xfrm>
            <a:off x="365760" y="4160520"/>
            <a:ext cx="8412480" cy="68580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0" i="0" lang="he-IL">
                <a:solidFill>
                  <a:srgbClr val="212121"/>
                </a:solidFill>
              </a:rPr>
              <a:t>הנתונים כבר בתוך המחברת. קבצי פרויקט משלכם: דרך Drive או GitHub (במדריך, פרקים 4 ו־5).</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11 - מעבדה ב׳ : מודדים, לא מנחשים</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8 דקות</a:t>
            </a:r>
          </a:p>
        </p:txBody>
      </p:sp>
      <p:sp>
        <p:nvSpPr>
          <p:cNvPr id="6" name="TextBox 5"/>
          <p:cNvSpPr txBox="1"/>
          <p:nvPr/>
        </p:nvSpPr>
        <p:spPr>
          <a:xfrm>
            <a:off x="365760" y="1325880"/>
            <a:ext cx="8412480" cy="50292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100" b="1" i="0" lang="he-IL">
                <a:solidFill>
                  <a:srgbClr val="212121"/>
                </a:solidFill>
              </a:rPr>
              <a:t>מטרה: למדוד כשהנתונים גדלים, ולוודא (golden) שהתשובה זהה.</a:t>
            </a:r>
          </a:p>
        </p:txBody>
      </p:sp>
      <p:sp>
        <p:nvSpPr>
          <p:cNvPr id="7" name="Rounded Rectangle 6"/>
          <p:cNvSpPr/>
          <p:nvPr/>
        </p:nvSpPr>
        <p:spPr>
          <a:xfrm>
            <a:off x="6172200" y="2057400"/>
            <a:ext cx="2697480" cy="182880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8" name="Oval 7"/>
          <p:cNvSpPr/>
          <p:nvPr/>
        </p:nvSpPr>
        <p:spPr>
          <a:xfrm>
            <a:off x="7315200" y="1828800"/>
            <a:ext cx="384048" cy="384048"/>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1</a:t>
            </a:r>
          </a:p>
        </p:txBody>
      </p:sp>
      <p:sp>
        <p:nvSpPr>
          <p:cNvPr id="9" name="TextBox 8"/>
          <p:cNvSpPr txBox="1"/>
          <p:nvPr/>
        </p:nvSpPr>
        <p:spPr>
          <a:xfrm>
            <a:off x="6217920"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שעון עצר</a:t>
            </a:r>
          </a:p>
        </p:txBody>
      </p:sp>
      <p:sp>
        <p:nvSpPr>
          <p:cNvPr id="10" name="TextBox 9"/>
          <p:cNvSpPr txBox="1"/>
          <p:nvPr/>
        </p:nvSpPr>
        <p:spPr>
          <a:xfrm>
            <a:off x="6309360"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measure: כמה הרצות, ומחזירים את הקצרה ביותר. רעש רק מאט</a:t>
            </a:r>
          </a:p>
        </p:txBody>
      </p:sp>
      <p:sp>
        <p:nvSpPr>
          <p:cNvPr id="11" name="Rounded Rectangle 10"/>
          <p:cNvSpPr/>
          <p:nvPr/>
        </p:nvSpPr>
        <p:spPr>
          <a:xfrm>
            <a:off x="3246120" y="2057400"/>
            <a:ext cx="2697480" cy="182880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2" name="Oval 11"/>
          <p:cNvSpPr/>
          <p:nvPr/>
        </p:nvSpPr>
        <p:spPr>
          <a:xfrm>
            <a:off x="4389120" y="1828800"/>
            <a:ext cx="384048" cy="384048"/>
          </a:xfrm>
          <a:prstGeom prst="ellipse">
            <a:avLst/>
          </a:prstGeom>
          <a:solidFill>
            <a:srgbClr val="FFAB40"/>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2</a:t>
            </a:r>
          </a:p>
        </p:txBody>
      </p:sp>
      <p:sp>
        <p:nvSpPr>
          <p:cNvPr id="13" name="TextBox 12"/>
          <p:cNvSpPr txBox="1"/>
          <p:nvPr/>
        </p:nvSpPr>
        <p:spPr>
          <a:xfrm>
            <a:off x="329183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גרסה מהירה</a:t>
            </a:r>
          </a:p>
        </p:txBody>
      </p:sp>
      <p:sp>
        <p:nvSpPr>
          <p:cNvPr id="14" name="TextBox 13"/>
          <p:cNvSpPr txBox="1"/>
          <p:nvPr/>
        </p:nvSpPr>
        <p:spPr>
          <a:xfrm>
            <a:off x="338327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totals_fast: מילון ומעבר אחד, במקום חיפוש ברשימה בכל שורה</a:t>
            </a:r>
          </a:p>
        </p:txBody>
      </p:sp>
      <p:sp>
        <p:nvSpPr>
          <p:cNvPr id="15" name="Rounded Rectangle 14"/>
          <p:cNvSpPr/>
          <p:nvPr/>
        </p:nvSpPr>
        <p:spPr>
          <a:xfrm>
            <a:off x="320039" y="2057400"/>
            <a:ext cx="2697480" cy="1828800"/>
          </a:xfrm>
          <a:prstGeom prst="roundRect">
            <a:avLst>
              <a:gd name="adj" fmla="val 6000"/>
            </a:avLst>
          </a:prstGeom>
          <a:solidFill>
            <a:srgbClr val="DDF2F5"/>
          </a:solidFill>
          <a:ln w="31750">
            <a:solidFill>
              <a:srgbClr val="0097A7"/>
            </a:solidFill>
          </a:ln>
        </p:spPr>
        <p:txBody>
          <a:bodyPr rtlCol="0" anchor="ctr" wrap="square" lIns="73152" rIns="73152" tIns="73152" bIns="73152">
            <a:noAutofit/>
          </a:bodyPr>
          <a:lstStyle/>
          <a:p>
            <a:pPr algn="ctr"/>
          </a:p>
        </p:txBody>
      </p:sp>
      <p:sp>
        <p:nvSpPr>
          <p:cNvPr id="16" name="Oval 15"/>
          <p:cNvSpPr/>
          <p:nvPr/>
        </p:nvSpPr>
        <p:spPr>
          <a:xfrm>
            <a:off x="1463039" y="1828800"/>
            <a:ext cx="384048" cy="384048"/>
          </a:xfrm>
          <a:prstGeom prst="ellipse">
            <a:avLst/>
          </a:prstGeom>
          <a:solidFill>
            <a:srgbClr val="0097A7"/>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3</a:t>
            </a:r>
          </a:p>
        </p:txBody>
      </p:sp>
      <p:sp>
        <p:nvSpPr>
          <p:cNvPr id="17" name="TextBox 16"/>
          <p:cNvSpPr txBox="1"/>
          <p:nvPr/>
        </p:nvSpPr>
        <p:spPr>
          <a:xfrm>
            <a:off x="36575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אותה תשובה?</a:t>
            </a:r>
          </a:p>
        </p:txBody>
      </p:sp>
      <p:sp>
        <p:nvSpPr>
          <p:cNvPr id="18" name="TextBox 17"/>
          <p:cNvSpPr txBox="1"/>
          <p:nvPr/>
        </p:nvSpPr>
        <p:spPr>
          <a:xfrm>
            <a:off x="45719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same_answer: תוצאה זהה. ואז מודדים 1,000 מול 10,000 שורות</a:t>
            </a:r>
          </a:p>
        </p:txBody>
      </p:sp>
      <p:sp>
        <p:nvSpPr>
          <p:cNvPr id="19" name="Rounded Rectangle 18"/>
          <p:cNvSpPr/>
          <p:nvPr/>
        </p:nvSpPr>
        <p:spPr>
          <a:xfrm>
            <a:off x="365760" y="4160520"/>
            <a:ext cx="8412480" cy="68580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0" i="0" lang="he-IL">
                <a:solidFill>
                  <a:srgbClr val="212121"/>
                </a:solidFill>
              </a:rPr>
              <a:t>כותבים תחזית לפני המדידה. לא מריצים את totals_slow על 100,000 שורות: זה ייקח דקות.</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11 - מעבדה ב׳ : מה אמור לצאת</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8 דקות</a:t>
            </a:r>
          </a:p>
        </p:txBody>
      </p:sp>
      <p:sp>
        <p:nvSpPr>
          <p:cNvPr id="6" name="TextBox 5"/>
          <p:cNvSpPr txBox="1"/>
          <p:nvPr/>
        </p:nvSpPr>
        <p:spPr>
          <a:xfrm>
            <a:off x="365760" y="1325880"/>
            <a:ext cx="8412480" cy="50292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100" b="1" i="0" lang="he-IL">
                <a:solidFill>
                  <a:srgbClr val="212121"/>
                </a:solidFill>
              </a:rPr>
              <a:t>מה אמור לצאת:</a:t>
            </a:r>
          </a:p>
        </p:txBody>
      </p:sp>
      <p:sp>
        <p:nvSpPr>
          <p:cNvPr id="7" name="Rounded Rectangle 6"/>
          <p:cNvSpPr/>
          <p:nvPr/>
        </p:nvSpPr>
        <p:spPr>
          <a:xfrm>
            <a:off x="6172200" y="2057400"/>
            <a:ext cx="2697480" cy="182880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8" name="Oval 7"/>
          <p:cNvSpPr/>
          <p:nvPr/>
        </p:nvSpPr>
        <p:spPr>
          <a:xfrm>
            <a:off x="7315200" y="1828800"/>
            <a:ext cx="384048" cy="384048"/>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1</a:t>
            </a:r>
          </a:p>
        </p:txBody>
      </p:sp>
      <p:sp>
        <p:nvSpPr>
          <p:cNvPr id="9" name="TextBox 8"/>
          <p:cNvSpPr txBox="1"/>
          <p:nvPr/>
        </p:nvSpPr>
        <p:spPr>
          <a:xfrm>
            <a:off x="6217920"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גורם הגידול</a:t>
            </a:r>
          </a:p>
        </p:txBody>
      </p:sp>
      <p:sp>
        <p:nvSpPr>
          <p:cNvPr id="10" name="TextBox 9"/>
          <p:cNvSpPr txBox="1"/>
          <p:nvPr/>
        </p:nvSpPr>
        <p:spPr>
          <a:xfrm>
            <a:off x="6309360"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האיטית: בערך פי 78. המהירה: בערך פי 10. אצלכם המספרים ישתנו</a:t>
            </a:r>
          </a:p>
        </p:txBody>
      </p:sp>
      <p:sp>
        <p:nvSpPr>
          <p:cNvPr id="11" name="Rounded Rectangle 10"/>
          <p:cNvSpPr/>
          <p:nvPr/>
        </p:nvSpPr>
        <p:spPr>
          <a:xfrm>
            <a:off x="3246120" y="2057400"/>
            <a:ext cx="2697480" cy="182880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2" name="Oval 11"/>
          <p:cNvSpPr/>
          <p:nvPr/>
        </p:nvSpPr>
        <p:spPr>
          <a:xfrm>
            <a:off x="4389120" y="1828800"/>
            <a:ext cx="384048" cy="384048"/>
          </a:xfrm>
          <a:prstGeom prst="ellipse">
            <a:avLst/>
          </a:prstGeom>
          <a:solidFill>
            <a:srgbClr val="FFAB40"/>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2</a:t>
            </a:r>
          </a:p>
        </p:txBody>
      </p:sp>
      <p:sp>
        <p:nvSpPr>
          <p:cNvPr id="13" name="TextBox 12"/>
          <p:cNvSpPr txBox="1"/>
          <p:nvPr/>
        </p:nvSpPr>
        <p:spPr>
          <a:xfrm>
            <a:off x="329183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זמנים בדוגמה</a:t>
            </a:r>
          </a:p>
        </p:txBody>
      </p:sp>
      <p:sp>
        <p:nvSpPr>
          <p:cNvPr id="14" name="TextBox 13"/>
          <p:cNvSpPr txBox="1"/>
          <p:nvPr/>
        </p:nvSpPr>
        <p:spPr>
          <a:xfrm>
            <a:off x="338327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ב־10,000 שורות: האיטית כ־0.26 שניות, המהירה כ־0.0006 שניות</a:t>
            </a:r>
          </a:p>
        </p:txBody>
      </p:sp>
      <p:sp>
        <p:nvSpPr>
          <p:cNvPr id="15" name="Rounded Rectangle 14"/>
          <p:cNvSpPr/>
          <p:nvPr/>
        </p:nvSpPr>
        <p:spPr>
          <a:xfrm>
            <a:off x="320039" y="2057400"/>
            <a:ext cx="2697480" cy="1828800"/>
          </a:xfrm>
          <a:prstGeom prst="roundRect">
            <a:avLst>
              <a:gd name="adj" fmla="val 6000"/>
            </a:avLst>
          </a:prstGeom>
          <a:solidFill>
            <a:srgbClr val="DDF2F5"/>
          </a:solidFill>
          <a:ln w="31750">
            <a:solidFill>
              <a:srgbClr val="0097A7"/>
            </a:solidFill>
          </a:ln>
        </p:spPr>
        <p:txBody>
          <a:bodyPr rtlCol="0" anchor="ctr" wrap="square" lIns="73152" rIns="73152" tIns="73152" bIns="73152">
            <a:noAutofit/>
          </a:bodyPr>
          <a:lstStyle/>
          <a:p>
            <a:pPr algn="ctr"/>
          </a:p>
        </p:txBody>
      </p:sp>
      <p:sp>
        <p:nvSpPr>
          <p:cNvPr id="16" name="Oval 15"/>
          <p:cNvSpPr/>
          <p:nvPr/>
        </p:nvSpPr>
        <p:spPr>
          <a:xfrm>
            <a:off x="1463039" y="1828800"/>
            <a:ext cx="384048" cy="384048"/>
          </a:xfrm>
          <a:prstGeom prst="ellipse">
            <a:avLst/>
          </a:prstGeom>
          <a:solidFill>
            <a:srgbClr val="0097A7"/>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3</a:t>
            </a:r>
          </a:p>
        </p:txBody>
      </p:sp>
      <p:sp>
        <p:nvSpPr>
          <p:cNvPr id="17" name="TextBox 16"/>
          <p:cNvSpPr txBox="1"/>
          <p:nvPr/>
        </p:nvSpPr>
        <p:spPr>
          <a:xfrm>
            <a:off x="36575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 אותה תשובה</a:t>
            </a:r>
          </a:p>
        </p:txBody>
      </p:sp>
      <p:sp>
        <p:nvSpPr>
          <p:cNvPr id="18" name="TextBox 17"/>
          <p:cNvSpPr txBox="1"/>
          <p:nvPr/>
        </p:nvSpPr>
        <p:spPr>
          <a:xfrm>
            <a:off x="45719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True לשתי הגרסאות. False לגרסה שמפילה את השורה האחרונה</a:t>
            </a:r>
          </a:p>
        </p:txBody>
      </p:sp>
      <p:sp>
        <p:nvSpPr>
          <p:cNvPr id="19" name="Rounded Rectangle 18"/>
          <p:cNvSpPr/>
          <p:nvPr/>
        </p:nvSpPr>
        <p:spPr>
          <a:xfrm>
            <a:off x="365760" y="4160520"/>
            <a:ext cx="8412480" cy="68580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0" i="0" lang="he-IL">
                <a:solidFill>
                  <a:srgbClr val="212121"/>
                </a:solidFill>
              </a:rPr>
              <a:t>הכלל: מודדים לפני שמייעלים, ובודקים שהתשובה זהה. על נתונים קטנים לא טורחים לייעל.</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11 - חלק ג׳ :</a:t>
            </a:r>
            <a:r>
              <a:rPr sz="3000" b="1" i="0" lang="he-IL">
                <a:solidFill>
                  <a:srgbClr val="212121"/>
                </a:solidFill>
              </a:rPr>
              <a:t>חמישה צעדי קליטה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7132320" y="1554480"/>
            <a:ext cx="1600200" cy="2194560"/>
          </a:xfrm>
          <a:prstGeom prst="roundRect">
            <a:avLst>
              <a:gd name="adj" fmla="val 12000"/>
            </a:avLst>
          </a:prstGeom>
          <a:solidFill>
            <a:srgbClr val="FFFFFF"/>
          </a:solidFill>
          <a:ln w="317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2400" b="1" i="0" lang="he-IL">
                <a:solidFill>
                  <a:srgbClr val="4285F4"/>
                </a:solidFill>
              </a:rPr>
              <a:t>1</a:t>
            </a:r>
          </a:p>
          <a:p>
            <a:pPr rtl="1" algn="ctr" marL="0" indent="0">
              <a:lnSpc>
                <a:spcPct val="105000"/>
              </a:lnSpc>
              <a:spcBef>
                <a:spcPts val="0"/>
              </a:spcBef>
              <a:spcAft>
                <a:spcPts val="0"/>
              </a:spcAft>
              <a:buNone/>
            </a:pPr>
            <a:r>
              <a:rPr sz="1600" b="1" i="0" lang="he-IL">
                <a:solidFill>
                  <a:srgbClr val="212121"/>
                </a:solidFill>
              </a:rPr>
              <a:t>README והרצה</a:t>
            </a:r>
          </a:p>
          <a:p>
            <a:pPr rtl="1" algn="ctr" marL="0" indent="0">
              <a:lnSpc>
                <a:spcPct val="105000"/>
              </a:lnSpc>
              <a:spcBef>
                <a:spcPts val="0"/>
              </a:spcBef>
              <a:spcAft>
                <a:spcPts val="0"/>
              </a:spcAft>
              <a:buNone/>
            </a:pPr>
            <a:r>
              <a:rPr sz="1300" b="0" i="0" lang="he-IL">
                <a:solidFill>
                  <a:srgbClr val="595959"/>
                </a:solidFill>
              </a:rPr>
              <a:t>מריצים לפני שמבינים</a:t>
            </a:r>
          </a:p>
        </p:txBody>
      </p:sp>
      <p:cxnSp>
        <p:nvCxnSpPr>
          <p:cNvPr id="6" name="Connector 5"/>
          <p:cNvCxnSpPr/>
          <p:nvPr/>
        </p:nvCxnSpPr>
        <p:spPr>
          <a:xfrm flipH="1">
            <a:off x="6995159" y="2651760"/>
            <a:ext cx="118873" cy="0"/>
          </a:xfrm>
          <a:prstGeom prst="line">
            <a:avLst/>
          </a:prstGeom>
          <a:ln w="3175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5394960" y="1554480"/>
            <a:ext cx="1600200" cy="2194560"/>
          </a:xfrm>
          <a:prstGeom prst="roundRect">
            <a:avLst>
              <a:gd name="adj" fmla="val 12000"/>
            </a:avLst>
          </a:prstGeom>
          <a:solidFill>
            <a:srgbClr val="FFFFFF"/>
          </a:solidFill>
          <a:ln w="31750">
            <a:solidFill>
              <a:srgbClr val="0097A7"/>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2400" b="1" i="0" lang="he-IL">
                <a:solidFill>
                  <a:srgbClr val="0097A7"/>
                </a:solidFill>
              </a:rPr>
              <a:t>2</a:t>
            </a:r>
          </a:p>
          <a:p>
            <a:pPr rtl="1" algn="ctr" marL="0" indent="0">
              <a:lnSpc>
                <a:spcPct val="105000"/>
              </a:lnSpc>
              <a:spcBef>
                <a:spcPts val="0"/>
              </a:spcBef>
              <a:spcAft>
                <a:spcPts val="0"/>
              </a:spcAft>
              <a:buNone/>
            </a:pPr>
            <a:r>
              <a:rPr sz="1600" b="1" i="0" lang="he-IL">
                <a:solidFill>
                  <a:srgbClr val="212121"/>
                </a:solidFill>
              </a:rPr>
              <a:t>ממפים מבנה</a:t>
            </a:r>
          </a:p>
          <a:p>
            <a:pPr rtl="1" algn="ctr" marL="0" indent="0">
              <a:lnSpc>
                <a:spcPct val="105000"/>
              </a:lnSpc>
              <a:spcBef>
                <a:spcPts val="0"/>
              </a:spcBef>
              <a:spcAft>
                <a:spcPts val="0"/>
              </a:spcAft>
              <a:buNone/>
            </a:pPr>
            <a:r>
              <a:rPr sz="1300" b="0" i="0" lang="he-IL">
                <a:solidFill>
                  <a:srgbClr val="595959"/>
                </a:solidFill>
              </a:rPr>
              <a:t>קבצים ותפקידים</a:t>
            </a:r>
          </a:p>
        </p:txBody>
      </p:sp>
      <p:cxnSp>
        <p:nvCxnSpPr>
          <p:cNvPr id="8" name="Connector 7"/>
          <p:cNvCxnSpPr/>
          <p:nvPr/>
        </p:nvCxnSpPr>
        <p:spPr>
          <a:xfrm flipH="1">
            <a:off x="5257800" y="2651760"/>
            <a:ext cx="118872" cy="0"/>
          </a:xfrm>
          <a:prstGeom prst="line">
            <a:avLst/>
          </a:prstGeom>
          <a:ln w="3175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657600" y="1554480"/>
            <a:ext cx="1600200" cy="2194560"/>
          </a:xfrm>
          <a:prstGeom prst="roundRect">
            <a:avLst>
              <a:gd name="adj" fmla="val 12000"/>
            </a:avLst>
          </a:prstGeom>
          <a:solidFill>
            <a:srgbClr val="FFFFFF"/>
          </a:solidFill>
          <a:ln w="317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2400" b="1" i="0" lang="he-IL">
                <a:solidFill>
                  <a:srgbClr val="FFAB40"/>
                </a:solidFill>
              </a:rPr>
              <a:t>3</a:t>
            </a:r>
          </a:p>
          <a:p>
            <a:pPr rtl="1" algn="ctr" marL="0" indent="0">
              <a:lnSpc>
                <a:spcPct val="105000"/>
              </a:lnSpc>
              <a:spcBef>
                <a:spcPts val="0"/>
              </a:spcBef>
              <a:spcAft>
                <a:spcPts val="0"/>
              </a:spcAft>
              <a:buNone/>
            </a:pPr>
            <a:r>
              <a:rPr sz="1600" b="1" i="0" lang="he-IL">
                <a:solidFill>
                  <a:srgbClr val="212121"/>
                </a:solidFill>
              </a:rPr>
              <a:t>נקודת כניסה</a:t>
            </a:r>
          </a:p>
          <a:p>
            <a:pPr rtl="1" algn="ctr" marL="0" indent="0">
              <a:lnSpc>
                <a:spcPct val="105000"/>
              </a:lnSpc>
              <a:spcBef>
                <a:spcPts val="0"/>
              </a:spcBef>
              <a:spcAft>
                <a:spcPts val="0"/>
              </a:spcAft>
              <a:buNone/>
            </a:pPr>
            <a:r>
              <a:rPr sz="1300" b="0" i="0" lang="he-IL">
                <a:solidFill>
                  <a:srgbClr val="595959"/>
                </a:solidFill>
              </a:rPr>
              <a:t>מאיפה זה מתחיל</a:t>
            </a:r>
          </a:p>
        </p:txBody>
      </p:sp>
      <p:cxnSp>
        <p:nvCxnSpPr>
          <p:cNvPr id="10" name="Connector 9"/>
          <p:cNvCxnSpPr/>
          <p:nvPr/>
        </p:nvCxnSpPr>
        <p:spPr>
          <a:xfrm flipH="1">
            <a:off x="3520440" y="2651760"/>
            <a:ext cx="118872" cy="0"/>
          </a:xfrm>
          <a:prstGeom prst="line">
            <a:avLst/>
          </a:prstGeom>
          <a:ln w="3175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1920240" y="1554480"/>
            <a:ext cx="1600200" cy="2194560"/>
          </a:xfrm>
          <a:prstGeom prst="roundRect">
            <a:avLst>
              <a:gd name="adj" fmla="val 12000"/>
            </a:avLst>
          </a:prstGeom>
          <a:solidFill>
            <a:srgbClr val="FFFFFF"/>
          </a:solidFill>
          <a:ln w="3175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2400" b="1" i="0" lang="he-IL">
                <a:solidFill>
                  <a:srgbClr val="34A853"/>
                </a:solidFill>
              </a:rPr>
              <a:t>4</a:t>
            </a:r>
          </a:p>
          <a:p>
            <a:pPr rtl="1" algn="ctr" marL="0" indent="0">
              <a:lnSpc>
                <a:spcPct val="105000"/>
              </a:lnSpc>
              <a:spcBef>
                <a:spcPts val="0"/>
              </a:spcBef>
              <a:spcAft>
                <a:spcPts val="0"/>
              </a:spcAft>
              <a:buNone/>
            </a:pPr>
            <a:r>
              <a:rPr sz="1600" b="1" i="0" lang="he-IL">
                <a:solidFill>
                  <a:srgbClr val="212121"/>
                </a:solidFill>
              </a:rPr>
              <a:t>זרימה אחת</a:t>
            </a:r>
          </a:p>
          <a:p>
            <a:pPr rtl="1" algn="ctr" marL="0" indent="0">
              <a:lnSpc>
                <a:spcPct val="105000"/>
              </a:lnSpc>
              <a:spcBef>
                <a:spcPts val="0"/>
              </a:spcBef>
              <a:spcAft>
                <a:spcPts val="0"/>
              </a:spcAft>
              <a:buNone/>
            </a:pPr>
            <a:r>
              <a:rPr sz="1300" b="0" i="0" lang="he-IL">
                <a:solidFill>
                  <a:srgbClr val="595959"/>
                </a:solidFill>
              </a:rPr>
              <a:t>עוקבים מקלט עד פלט</a:t>
            </a:r>
          </a:p>
        </p:txBody>
      </p:sp>
      <p:cxnSp>
        <p:nvCxnSpPr>
          <p:cNvPr id="12" name="Connector 11"/>
          <p:cNvCxnSpPr/>
          <p:nvPr/>
        </p:nvCxnSpPr>
        <p:spPr>
          <a:xfrm flipH="1">
            <a:off x="1783080" y="2651760"/>
            <a:ext cx="118872" cy="0"/>
          </a:xfrm>
          <a:prstGeom prst="line">
            <a:avLst/>
          </a:prstGeom>
          <a:ln w="3175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182880" y="1554480"/>
            <a:ext cx="1600200" cy="2194560"/>
          </a:xfrm>
          <a:prstGeom prst="roundRect">
            <a:avLst>
              <a:gd name="adj" fmla="val 12000"/>
            </a:avLst>
          </a:prstGeom>
          <a:solidFill>
            <a:srgbClr val="FFFFFF"/>
          </a:solidFill>
          <a:ln w="31750">
            <a:solidFill>
              <a:srgbClr val="EA4335"/>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2400" b="1" i="0" lang="he-IL">
                <a:solidFill>
                  <a:srgbClr val="EA4335"/>
                </a:solidFill>
              </a:rPr>
              <a:t>5</a:t>
            </a:r>
          </a:p>
          <a:p>
            <a:pPr rtl="1" algn="ctr" marL="0" indent="0">
              <a:lnSpc>
                <a:spcPct val="105000"/>
              </a:lnSpc>
              <a:spcBef>
                <a:spcPts val="0"/>
              </a:spcBef>
              <a:spcAft>
                <a:spcPts val="0"/>
              </a:spcAft>
              <a:buNone/>
            </a:pPr>
            <a:r>
              <a:rPr sz="1600" b="1" i="0" lang="he-IL">
                <a:solidFill>
                  <a:srgbClr val="212121"/>
                </a:solidFill>
              </a:rPr>
              <a:t>מסמך העברה</a:t>
            </a:r>
          </a:p>
          <a:p>
            <a:pPr rtl="1" algn="ctr" marL="0" indent="0">
              <a:lnSpc>
                <a:spcPct val="105000"/>
              </a:lnSpc>
              <a:spcBef>
                <a:spcPts val="0"/>
              </a:spcBef>
              <a:spcAft>
                <a:spcPts val="0"/>
              </a:spcAft>
              <a:buNone/>
            </a:pPr>
            <a:r>
              <a:rPr sz="1300" b="0" i="0" lang="he-IL">
                <a:solidFill>
                  <a:srgbClr val="595959"/>
                </a:solidFill>
              </a:rPr>
              <a:t>כותבים מה למדתם</a:t>
            </a:r>
          </a:p>
        </p:txBody>
      </p:sp>
      <p:sp>
        <p:nvSpPr>
          <p:cNvPr id="14" name="TextBox 13"/>
          <p:cNvSpPr txBox="1"/>
          <p:nvPr/>
        </p:nvSpPr>
        <p:spPr>
          <a:xfrm>
            <a:off x="365760" y="4023360"/>
            <a:ext cx="8412480" cy="9144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100" b="1" i="0" lang="he-IL">
                <a:solidFill>
                  <a:srgbClr val="212121"/>
                </a:solidFill>
              </a:rPr>
              <a:t>קודם מריצים, ורק אחר כך קוראים.</a:t>
            </a:r>
          </a:p>
          <a:p>
            <a:pPr rtl="1" algn="ctr" marL="0" indent="0">
              <a:lnSpc>
                <a:spcPct val="110000"/>
              </a:lnSpc>
              <a:spcBef>
                <a:spcPts val="0"/>
              </a:spcBef>
              <a:spcAft>
                <a:spcPts val="0"/>
              </a:spcAft>
              <a:buNone/>
            </a:pPr>
            <a:r>
              <a:rPr sz="1700" b="0" i="0" lang="he-IL">
                <a:solidFill>
                  <a:srgbClr val="595959"/>
                </a:solidFill>
              </a:rPr>
              <a:t>מה שרץ אפשר להבין. מה שלא רץ, צריך קודם לתקן.</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11 - חלק ג׳ :זרימה אחת ב־legacy-repo</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7132320" y="1554480"/>
            <a:ext cx="1600200" cy="2194560"/>
          </a:xfrm>
          <a:prstGeom prst="roundRect">
            <a:avLst>
              <a:gd name="adj" fmla="val 12000"/>
            </a:avLst>
          </a:prstGeom>
          <a:solidFill>
            <a:srgbClr val="FFFFFF"/>
          </a:solidFill>
          <a:ln w="317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2400" b="1" i="0" lang="he-IL">
                <a:solidFill>
                  <a:srgbClr val="4285F4"/>
                </a:solidFill>
              </a:rPr>
              <a:t>1</a:t>
            </a:r>
          </a:p>
          <a:p>
            <a:pPr rtl="1" algn="ctr" marL="0" indent="0">
              <a:lnSpc>
                <a:spcPct val="105000"/>
              </a:lnSpc>
              <a:spcBef>
                <a:spcPts val="0"/>
              </a:spcBef>
              <a:spcAft>
                <a:spcPts val="0"/>
              </a:spcAft>
              <a:buNone/>
            </a:pPr>
            <a:r>
              <a:rPr sz="1600" b="1" i="0" lang="he-IL">
                <a:solidFill>
                  <a:srgbClr val="212121"/>
                </a:solidFill>
              </a:rPr>
              <a:t>main.py</a:t>
            </a:r>
          </a:p>
          <a:p>
            <a:pPr rtl="1" algn="ctr" marL="0" indent="0">
              <a:lnSpc>
                <a:spcPct val="105000"/>
              </a:lnSpc>
              <a:spcBef>
                <a:spcPts val="0"/>
              </a:spcBef>
              <a:spcAft>
                <a:spcPts val="0"/>
              </a:spcAft>
              <a:buNone/>
            </a:pPr>
            <a:r>
              <a:rPr sz="1300" b="0" i="0" lang="he-IL">
                <a:solidFill>
                  <a:srgbClr val="595959"/>
                </a:solidFill>
              </a:rPr>
              <a:t>נקודת כניסה: python main.py 0.7</a:t>
            </a:r>
          </a:p>
        </p:txBody>
      </p:sp>
      <p:cxnSp>
        <p:nvCxnSpPr>
          <p:cNvPr id="6" name="Connector 5"/>
          <p:cNvCxnSpPr/>
          <p:nvPr/>
        </p:nvCxnSpPr>
        <p:spPr>
          <a:xfrm flipH="1">
            <a:off x="6995159" y="2651760"/>
            <a:ext cx="118873" cy="0"/>
          </a:xfrm>
          <a:prstGeom prst="line">
            <a:avLst/>
          </a:prstGeom>
          <a:ln w="3175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5394960" y="1554480"/>
            <a:ext cx="1600200" cy="2194560"/>
          </a:xfrm>
          <a:prstGeom prst="roundRect">
            <a:avLst>
              <a:gd name="adj" fmla="val 12000"/>
            </a:avLst>
          </a:prstGeom>
          <a:solidFill>
            <a:srgbClr val="FFFFFF"/>
          </a:solidFill>
          <a:ln w="31750">
            <a:solidFill>
              <a:srgbClr val="0097A7"/>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2400" b="1" i="0" lang="he-IL">
                <a:solidFill>
                  <a:srgbClr val="0097A7"/>
                </a:solidFill>
              </a:rPr>
              <a:t>2</a:t>
            </a:r>
          </a:p>
          <a:p>
            <a:pPr rtl="1" algn="ctr" marL="0" indent="0">
              <a:lnSpc>
                <a:spcPct val="105000"/>
              </a:lnSpc>
              <a:spcBef>
                <a:spcPts val="0"/>
              </a:spcBef>
              <a:spcAft>
                <a:spcPts val="0"/>
              </a:spcAft>
              <a:buNone/>
            </a:pPr>
            <a:r>
              <a:rPr sz="1600" b="1" i="0" lang="he-IL">
                <a:solidFill>
                  <a:srgbClr val="212121"/>
                </a:solidFill>
              </a:rPr>
              <a:t>loader.py</a:t>
            </a:r>
          </a:p>
          <a:p>
            <a:pPr rtl="1" algn="ctr" marL="0" indent="0">
              <a:lnSpc>
                <a:spcPct val="105000"/>
              </a:lnSpc>
              <a:spcBef>
                <a:spcPts val="0"/>
              </a:spcBef>
              <a:spcAft>
                <a:spcPts val="0"/>
              </a:spcAft>
              <a:buNone/>
            </a:pPr>
            <a:r>
              <a:rPr sz="1300" b="0" i="0" lang="he-IL">
                <a:solidFill>
                  <a:srgbClr val="595959"/>
                </a:solidFill>
              </a:rPr>
              <a:t>קורא את suppliers.csv</a:t>
            </a:r>
          </a:p>
        </p:txBody>
      </p:sp>
      <p:cxnSp>
        <p:nvCxnSpPr>
          <p:cNvPr id="8" name="Connector 7"/>
          <p:cNvCxnSpPr/>
          <p:nvPr/>
        </p:nvCxnSpPr>
        <p:spPr>
          <a:xfrm flipH="1">
            <a:off x="5257800" y="2651760"/>
            <a:ext cx="118872" cy="0"/>
          </a:xfrm>
          <a:prstGeom prst="line">
            <a:avLst/>
          </a:prstGeom>
          <a:ln w="3175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657600" y="1554480"/>
            <a:ext cx="1600200" cy="2194560"/>
          </a:xfrm>
          <a:prstGeom prst="roundRect">
            <a:avLst>
              <a:gd name="adj" fmla="val 12000"/>
            </a:avLst>
          </a:prstGeom>
          <a:solidFill>
            <a:srgbClr val="FFFFFF"/>
          </a:solidFill>
          <a:ln w="317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2400" b="1" i="0" lang="he-IL">
                <a:solidFill>
                  <a:srgbClr val="FFAB40"/>
                </a:solidFill>
              </a:rPr>
              <a:t>3</a:t>
            </a:r>
          </a:p>
          <a:p>
            <a:pPr rtl="1" algn="ctr" marL="0" indent="0">
              <a:lnSpc>
                <a:spcPct val="105000"/>
              </a:lnSpc>
              <a:spcBef>
                <a:spcPts val="0"/>
              </a:spcBef>
              <a:spcAft>
                <a:spcPts val="0"/>
              </a:spcAft>
              <a:buNone/>
            </a:pPr>
            <a:r>
              <a:rPr sz="1600" b="1" i="0" lang="he-IL">
                <a:solidFill>
                  <a:srgbClr val="212121"/>
                </a:solidFill>
              </a:rPr>
              <a:t>scoring.py</a:t>
            </a:r>
          </a:p>
          <a:p>
            <a:pPr rtl="1" algn="ctr" marL="0" indent="0">
              <a:lnSpc>
                <a:spcPct val="105000"/>
              </a:lnSpc>
              <a:spcBef>
                <a:spcPts val="0"/>
              </a:spcBef>
              <a:spcAft>
                <a:spcPts val="0"/>
              </a:spcAft>
              <a:buNone/>
            </a:pPr>
            <a:r>
              <a:rPr sz="1300" b="0" i="0" lang="he-IL">
                <a:solidFill>
                  <a:srgbClr val="595959"/>
                </a:solidFill>
              </a:rPr>
              <a:t>score: ציון לכל ספק</a:t>
            </a:r>
          </a:p>
        </p:txBody>
      </p:sp>
      <p:cxnSp>
        <p:nvCxnSpPr>
          <p:cNvPr id="10" name="Connector 9"/>
          <p:cNvCxnSpPr/>
          <p:nvPr/>
        </p:nvCxnSpPr>
        <p:spPr>
          <a:xfrm flipH="1">
            <a:off x="3520440" y="2651760"/>
            <a:ext cx="118872" cy="0"/>
          </a:xfrm>
          <a:prstGeom prst="line">
            <a:avLst/>
          </a:prstGeom>
          <a:ln w="3175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1920240" y="1554480"/>
            <a:ext cx="1600200" cy="2194560"/>
          </a:xfrm>
          <a:prstGeom prst="roundRect">
            <a:avLst>
              <a:gd name="adj" fmla="val 12000"/>
            </a:avLst>
          </a:prstGeom>
          <a:solidFill>
            <a:srgbClr val="FFFFFF"/>
          </a:solidFill>
          <a:ln w="3175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2400" b="1" i="0" lang="he-IL">
                <a:solidFill>
                  <a:srgbClr val="34A853"/>
                </a:solidFill>
              </a:rPr>
              <a:t>4</a:t>
            </a:r>
          </a:p>
          <a:p>
            <a:pPr rtl="1" algn="ctr" marL="0" indent="0">
              <a:lnSpc>
                <a:spcPct val="105000"/>
              </a:lnSpc>
              <a:spcBef>
                <a:spcPts val="0"/>
              </a:spcBef>
              <a:spcAft>
                <a:spcPts val="0"/>
              </a:spcAft>
              <a:buNone/>
            </a:pPr>
            <a:r>
              <a:rPr sz="1600" b="1" i="0" lang="he-IL">
                <a:solidFill>
                  <a:srgbClr val="212121"/>
                </a:solidFill>
              </a:rPr>
              <a:t>config.py</a:t>
            </a:r>
          </a:p>
          <a:p>
            <a:pPr rtl="1" algn="ctr" marL="0" indent="0">
              <a:lnSpc>
                <a:spcPct val="105000"/>
              </a:lnSpc>
              <a:spcBef>
                <a:spcPts val="0"/>
              </a:spcBef>
              <a:spcAft>
                <a:spcPts val="0"/>
              </a:spcAft>
              <a:buNone/>
            </a:pPr>
            <a:r>
              <a:rPr sz="1300" b="0" i="0" lang="he-IL">
                <a:solidFill>
                  <a:srgbClr val="595959"/>
                </a:solidFill>
              </a:rPr>
              <a:t>נתיב הנתונים, משקלים, 21 ימים</a:t>
            </a:r>
          </a:p>
        </p:txBody>
      </p:sp>
      <p:cxnSp>
        <p:nvCxnSpPr>
          <p:cNvPr id="12" name="Connector 11"/>
          <p:cNvCxnSpPr/>
          <p:nvPr/>
        </p:nvCxnSpPr>
        <p:spPr>
          <a:xfrm flipH="1">
            <a:off x="1783080" y="2651760"/>
            <a:ext cx="118872" cy="0"/>
          </a:xfrm>
          <a:prstGeom prst="line">
            <a:avLst/>
          </a:prstGeom>
          <a:ln w="3175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182880" y="1554480"/>
            <a:ext cx="1600200" cy="2194560"/>
          </a:xfrm>
          <a:prstGeom prst="roundRect">
            <a:avLst>
              <a:gd name="adj" fmla="val 12000"/>
            </a:avLst>
          </a:prstGeom>
          <a:solidFill>
            <a:srgbClr val="FFFFFF"/>
          </a:solidFill>
          <a:ln w="31750">
            <a:solidFill>
              <a:srgbClr val="EA4335"/>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2400" b="1" i="0" lang="he-IL">
                <a:solidFill>
                  <a:srgbClr val="EA4335"/>
                </a:solidFill>
              </a:rPr>
              <a:t>5</a:t>
            </a:r>
          </a:p>
          <a:p>
            <a:pPr rtl="1" algn="ctr" marL="0" indent="0">
              <a:lnSpc>
                <a:spcPct val="105000"/>
              </a:lnSpc>
              <a:spcBef>
                <a:spcPts val="0"/>
              </a:spcBef>
              <a:spcAft>
                <a:spcPts val="0"/>
              </a:spcAft>
              <a:buNone/>
            </a:pPr>
            <a:r>
              <a:rPr sz="1600" b="1" i="0" lang="he-IL">
                <a:solidFill>
                  <a:srgbClr val="212121"/>
                </a:solidFill>
              </a:rPr>
              <a:t>פלט</a:t>
            </a:r>
          </a:p>
          <a:p>
            <a:pPr rtl="1" algn="ctr" marL="0" indent="0">
              <a:lnSpc>
                <a:spcPct val="105000"/>
              </a:lnSpc>
              <a:spcBef>
                <a:spcPts val="0"/>
              </a:spcBef>
              <a:spcAft>
                <a:spcPts val="0"/>
              </a:spcAft>
              <a:buNone/>
            </a:pPr>
            <a:r>
              <a:rPr sz="1300" b="0" i="0" lang="he-IL">
                <a:solidFill>
                  <a:srgbClr val="595959"/>
                </a:solidFill>
              </a:rPr>
              <a:t>טבלה ממוינת: רק ציון 0.7 ומעלה</a:t>
            </a:r>
          </a:p>
        </p:txBody>
      </p:sp>
      <p:sp>
        <p:nvSpPr>
          <p:cNvPr id="14" name="TextBox 13"/>
          <p:cNvSpPr txBox="1"/>
          <p:nvPr/>
        </p:nvSpPr>
        <p:spPr>
          <a:xfrm>
            <a:off x="365760" y="4023360"/>
            <a:ext cx="8412480" cy="9144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100" b="1" i="0" lang="he-IL">
                <a:solidFill>
                  <a:srgbClr val="212121"/>
                </a:solidFill>
              </a:rPr>
              <a:t>עוקבים אחרי שורה אחת: מהקלט, דרך הפונקציות, אל הפלט.</a:t>
            </a:r>
          </a:p>
          <a:p>
            <a:pPr rtl="1" algn="ctr" marL="0" indent="0">
              <a:lnSpc>
                <a:spcPct val="110000"/>
              </a:lnSpc>
              <a:spcBef>
                <a:spcPts val="0"/>
              </a:spcBef>
              <a:spcAft>
                <a:spcPts val="0"/>
              </a:spcAft>
              <a:buNone/>
            </a:pPr>
            <a:r>
              <a:rPr sz="1700" b="0" i="0" lang="he-IL">
                <a:solidFill>
                  <a:srgbClr val="595959"/>
                </a:solidFill>
              </a:rPr>
              <a:t>בדיקה: ספק עם 0.95 אספקה בזמן ו־3 ימי אספקה מקבל 0.913.</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11 - חלק ג׳ :</a:t>
            </a:r>
            <a:r>
              <a:rPr sz="3000" b="1" i="0" lang="he-IL">
                <a:solidFill>
                  <a:srgbClr val="212121"/>
                </a:solidFill>
              </a:rPr>
              <a:t>קוד־בייס גדול וה־AI</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4663440" y="1417320"/>
            <a:ext cx="4114800" cy="1463040"/>
          </a:xfrm>
          <a:prstGeom prst="roundRect">
            <a:avLst>
              <a:gd name="adj" fmla="val 6000"/>
            </a:avLst>
          </a:prstGeom>
          <a:solidFill>
            <a:srgbClr val="E3EEFF"/>
          </a:solidFill>
          <a:ln w="25400">
            <a:solidFill>
              <a:srgbClr val="4285F4"/>
            </a:solidFill>
          </a:ln>
        </p:spPr>
        <p:txBody>
          <a:bodyPr rtlCol="0" anchor="ctr" wrap="square" lIns="73152" rIns="73152" tIns="73152" bIns="73152">
            <a:noAutofit/>
          </a:bodyPr>
          <a:lstStyle/>
          <a:p>
            <a:pPr algn="ctr"/>
          </a:p>
        </p:txBody>
      </p:sp>
      <p:sp>
        <p:nvSpPr>
          <p:cNvPr id="6" name="TextBox 5"/>
          <p:cNvSpPr txBox="1"/>
          <p:nvPr/>
        </p:nvSpPr>
        <p:spPr>
          <a:xfrm>
            <a:off x="7772400" y="1645920"/>
            <a:ext cx="914400" cy="9144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600" b="0" i="0" lang="he-IL">
                <a:solidFill>
                  <a:srgbClr val="212121"/>
                </a:solidFill>
              </a:rPr>
              <a:t>🗺️</a:t>
            </a:r>
          </a:p>
        </p:txBody>
      </p:sp>
      <p:sp>
        <p:nvSpPr>
          <p:cNvPr id="7" name="TextBox 6"/>
          <p:cNvSpPr txBox="1"/>
          <p:nvPr/>
        </p:nvSpPr>
        <p:spPr>
          <a:xfrm>
            <a:off x="4754879" y="1554480"/>
            <a:ext cx="306324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1" i="0" lang="he-IL">
                <a:solidFill>
                  <a:srgbClr val="212121"/>
                </a:solidFill>
              </a:rPr>
              <a:t>מפה</a:t>
            </a:r>
          </a:p>
        </p:txBody>
      </p:sp>
      <p:sp>
        <p:nvSpPr>
          <p:cNvPr id="8" name="TextBox 7"/>
          <p:cNvSpPr txBox="1"/>
          <p:nvPr/>
        </p:nvSpPr>
        <p:spPr>
          <a:xfrm>
            <a:off x="4754879" y="2194560"/>
            <a:ext cx="3063240" cy="6400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500" b="0" i="0" lang="he-IL">
                <a:solidFill>
                  <a:srgbClr val="595959"/>
                </a:solidFill>
              </a:rPr>
              <a:t>קבצים ותפקידים, ברשימה קצרה</a:t>
            </a:r>
          </a:p>
        </p:txBody>
      </p:sp>
      <p:sp>
        <p:nvSpPr>
          <p:cNvPr id="9" name="Rounded Rectangle 8"/>
          <p:cNvSpPr/>
          <p:nvPr/>
        </p:nvSpPr>
        <p:spPr>
          <a:xfrm>
            <a:off x="365760" y="1417320"/>
            <a:ext cx="4114800" cy="1463040"/>
          </a:xfrm>
          <a:prstGeom prst="roundRect">
            <a:avLst>
              <a:gd name="adj" fmla="val 6000"/>
            </a:avLst>
          </a:prstGeom>
          <a:solidFill>
            <a:srgbClr val="FFF0D9"/>
          </a:solidFill>
          <a:ln w="25400">
            <a:solidFill>
              <a:srgbClr val="FFAB40"/>
            </a:solidFill>
          </a:ln>
        </p:spPr>
        <p:txBody>
          <a:bodyPr rtlCol="0" anchor="ctr" wrap="square" lIns="73152" rIns="73152" tIns="73152" bIns="73152">
            <a:noAutofit/>
          </a:bodyPr>
          <a:lstStyle/>
          <a:p>
            <a:pPr algn="ctr"/>
          </a:p>
        </p:txBody>
      </p:sp>
      <p:sp>
        <p:nvSpPr>
          <p:cNvPr id="10" name="TextBox 9"/>
          <p:cNvSpPr txBox="1"/>
          <p:nvPr/>
        </p:nvSpPr>
        <p:spPr>
          <a:xfrm>
            <a:off x="3474720" y="1645920"/>
            <a:ext cx="914400" cy="9144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600" b="0" i="0" lang="he-IL">
                <a:solidFill>
                  <a:srgbClr val="212121"/>
                </a:solidFill>
              </a:rPr>
              <a:t>🍰</a:t>
            </a:r>
          </a:p>
        </p:txBody>
      </p:sp>
      <p:sp>
        <p:nvSpPr>
          <p:cNvPr id="11" name="TextBox 10"/>
          <p:cNvSpPr txBox="1"/>
          <p:nvPr/>
        </p:nvSpPr>
        <p:spPr>
          <a:xfrm>
            <a:off x="457200" y="1554480"/>
            <a:ext cx="306324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1" i="0" lang="he-IL">
                <a:solidFill>
                  <a:srgbClr val="212121"/>
                </a:solidFill>
              </a:rPr>
              <a:t>פרוסות</a:t>
            </a:r>
          </a:p>
        </p:txBody>
      </p:sp>
      <p:sp>
        <p:nvSpPr>
          <p:cNvPr id="12" name="TextBox 11"/>
          <p:cNvSpPr txBox="1"/>
          <p:nvPr/>
        </p:nvSpPr>
        <p:spPr>
          <a:xfrm>
            <a:off x="457200" y="2194560"/>
            <a:ext cx="3063240" cy="6400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500" b="0" i="0" lang="he-IL">
                <a:solidFill>
                  <a:srgbClr val="595959"/>
                </a:solidFill>
              </a:rPr>
              <a:t>עובדים על חלק אחד עם הקבצים הרלוונטיים</a:t>
            </a:r>
          </a:p>
        </p:txBody>
      </p:sp>
      <p:sp>
        <p:nvSpPr>
          <p:cNvPr id="13" name="Rounded Rectangle 12"/>
          <p:cNvSpPr/>
          <p:nvPr/>
        </p:nvSpPr>
        <p:spPr>
          <a:xfrm>
            <a:off x="4663440" y="3063240"/>
            <a:ext cx="4114800" cy="1463040"/>
          </a:xfrm>
          <a:prstGeom prst="roundRect">
            <a:avLst>
              <a:gd name="adj" fmla="val 6000"/>
            </a:avLst>
          </a:prstGeom>
          <a:solidFill>
            <a:srgbClr val="E1F4E6"/>
          </a:solidFill>
          <a:ln w="25400">
            <a:solidFill>
              <a:srgbClr val="34A853"/>
            </a:solidFill>
          </a:ln>
        </p:spPr>
        <p:txBody>
          <a:bodyPr rtlCol="0" anchor="ctr" wrap="square" lIns="73152" rIns="73152" tIns="73152" bIns="73152">
            <a:noAutofit/>
          </a:bodyPr>
          <a:lstStyle/>
          <a:p>
            <a:pPr algn="ctr"/>
          </a:p>
        </p:txBody>
      </p:sp>
      <p:sp>
        <p:nvSpPr>
          <p:cNvPr id="14" name="TextBox 13"/>
          <p:cNvSpPr txBox="1"/>
          <p:nvPr/>
        </p:nvSpPr>
        <p:spPr>
          <a:xfrm>
            <a:off x="7772400" y="3291840"/>
            <a:ext cx="914400" cy="9144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600" b="0" i="0" lang="he-IL">
                <a:solidFill>
                  <a:srgbClr val="212121"/>
                </a:solidFill>
              </a:rPr>
              <a:t>📄</a:t>
            </a:r>
          </a:p>
        </p:txBody>
      </p:sp>
      <p:sp>
        <p:nvSpPr>
          <p:cNvPr id="15" name="TextBox 14"/>
          <p:cNvSpPr txBox="1"/>
          <p:nvPr/>
        </p:nvSpPr>
        <p:spPr>
          <a:xfrm>
            <a:off x="4754879" y="3200400"/>
            <a:ext cx="306324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1" i="0" lang="he-IL">
                <a:solidFill>
                  <a:srgbClr val="212121"/>
                </a:solidFill>
              </a:rPr>
              <a:t>קובץ הנחיה</a:t>
            </a:r>
          </a:p>
        </p:txBody>
      </p:sp>
      <p:sp>
        <p:nvSpPr>
          <p:cNvPr id="16" name="TextBox 15"/>
          <p:cNvSpPr txBox="1"/>
          <p:nvPr/>
        </p:nvSpPr>
        <p:spPr>
          <a:xfrm>
            <a:off x="4754879" y="3840480"/>
            <a:ext cx="3063240" cy="6400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500" b="0" i="0" lang="he-IL">
                <a:solidFill>
                  <a:srgbClr val="595959"/>
                </a:solidFill>
              </a:rPr>
              <a:t>AGENTS.md: מבנה, הרצה וכללים (מפגש 4)</a:t>
            </a:r>
          </a:p>
        </p:txBody>
      </p:sp>
      <p:sp>
        <p:nvSpPr>
          <p:cNvPr id="17" name="Rounded Rectangle 16"/>
          <p:cNvSpPr/>
          <p:nvPr/>
        </p:nvSpPr>
        <p:spPr>
          <a:xfrm>
            <a:off x="365760" y="3063240"/>
            <a:ext cx="4114800" cy="1463040"/>
          </a:xfrm>
          <a:prstGeom prst="roundRect">
            <a:avLst>
              <a:gd name="adj" fmla="val 6000"/>
            </a:avLst>
          </a:prstGeom>
          <a:solidFill>
            <a:srgbClr val="DDF2F5"/>
          </a:solidFill>
          <a:ln w="25400">
            <a:solidFill>
              <a:srgbClr val="0097A7"/>
            </a:solidFill>
          </a:ln>
        </p:spPr>
        <p:txBody>
          <a:bodyPr rtlCol="0" anchor="ctr" wrap="square" lIns="73152" rIns="73152" tIns="73152" bIns="73152">
            <a:noAutofit/>
          </a:bodyPr>
          <a:lstStyle/>
          <a:p>
            <a:pPr algn="ctr"/>
          </a:p>
        </p:txBody>
      </p:sp>
      <p:sp>
        <p:nvSpPr>
          <p:cNvPr id="18" name="TextBox 17"/>
          <p:cNvSpPr txBox="1"/>
          <p:nvPr/>
        </p:nvSpPr>
        <p:spPr>
          <a:xfrm>
            <a:off x="3474720" y="3291840"/>
            <a:ext cx="914400" cy="9144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600" b="0" i="0" lang="he-IL">
                <a:solidFill>
                  <a:srgbClr val="212121"/>
                </a:solidFill>
              </a:rPr>
              <a:t>🔎</a:t>
            </a:r>
          </a:p>
        </p:txBody>
      </p:sp>
      <p:sp>
        <p:nvSpPr>
          <p:cNvPr id="19" name="TextBox 18"/>
          <p:cNvSpPr txBox="1"/>
          <p:nvPr/>
        </p:nvSpPr>
        <p:spPr>
          <a:xfrm>
            <a:off x="457200" y="3200400"/>
            <a:ext cx="306324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1" i="0" lang="he-IL">
                <a:solidFill>
                  <a:srgbClr val="212121"/>
                </a:solidFill>
              </a:rPr>
              <a:t>חיפוש וקריאה ממוקדת</a:t>
            </a:r>
          </a:p>
        </p:txBody>
      </p:sp>
      <p:sp>
        <p:nvSpPr>
          <p:cNvPr id="20" name="TextBox 19"/>
          <p:cNvSpPr txBox="1"/>
          <p:nvPr/>
        </p:nvSpPr>
        <p:spPr>
          <a:xfrm>
            <a:off x="457200" y="3840480"/>
            <a:ext cx="3063240" cy="6400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500" b="0" i="0" lang="he-IL">
                <a:solidFill>
                  <a:srgbClr val="595959"/>
                </a:solidFill>
              </a:rPr>
              <a:t>הסוכן מחפש, ולא קורא הכל</a:t>
            </a:r>
          </a:p>
        </p:txBody>
      </p:sp>
      <p:sp>
        <p:nvSpPr>
          <p:cNvPr id="21" name="TextBox 20"/>
          <p:cNvSpPr txBox="1"/>
          <p:nvPr/>
        </p:nvSpPr>
        <p:spPr>
          <a:xfrm>
            <a:off x="365760" y="4754880"/>
            <a:ext cx="8412480" cy="3657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500" b="1" i="0" lang="he-IL">
                <a:solidFill>
                  <a:srgbClr val="EA4335"/>
                </a:solidFill>
              </a:rPr>
              <a:t>ה־AI לא רואה את כל הקוד: לכן הוא עלול לשכפל פונקציה קיימת.</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11 - חלק ג׳ :</a:t>
            </a:r>
            <a:r>
              <a:rPr sz="3000" b="1" i="0" lang="he-IL">
                <a:solidFill>
                  <a:srgbClr val="212121"/>
                </a:solidFill>
              </a:rPr>
              <a:t>לבקש מה־AI להסביר מאגר</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TextBox 4"/>
          <p:cNvSpPr txBox="1"/>
          <p:nvPr/>
        </p:nvSpPr>
        <p:spPr>
          <a:xfrm>
            <a:off x="365760" y="1371600"/>
            <a:ext cx="8412480" cy="1554480"/>
          </a:xfrm>
          <a:prstGeom prst="rect">
            <a:avLst/>
          </a:prstGeom>
          <a:solidFill>
            <a:srgbClr val="F4F4F4"/>
          </a:solidFill>
          <a:ln w="9525">
            <a:solidFill>
              <a:srgbClr val="DDDDDD"/>
            </a:solidFill>
          </a:ln>
        </p:spPr>
        <p:txBody>
          <a:bodyPr wrap="square" lIns="109728" rIns="109728" tIns="109728" bIns="109728" anchor="t">
            <a:noAutofit/>
          </a:bodyPr>
          <a:lstStyle/>
          <a:p>
            <a:pPr rtl="0" algn="l" marL="0" indent="0">
              <a:lnSpc>
                <a:spcPct val="110000"/>
              </a:lnSpc>
              <a:spcBef>
                <a:spcPts val="0"/>
              </a:spcBef>
              <a:spcAft>
                <a:spcPts val="0"/>
              </a:spcAft>
              <a:buNone/>
            </a:pPr>
            <a:r>
              <a:rPr sz="1400" b="0" i="0" lang="he-IL">
                <a:solidFill>
                  <a:srgbClr val="212121"/>
                </a:solidFill>
                <a:latin typeface="Courier New"/>
                <a:ea typeface="Courier New"/>
                <a:cs typeface="Courier New"/>
              </a:rPr>
              <a:t>Here are the files of a project: [paste file list and main.py].</a:t>
            </a:r>
          </a:p>
          <a:p>
            <a:pPr rtl="0" algn="l" marL="0" indent="0">
              <a:lnSpc>
                <a:spcPct val="110000"/>
              </a:lnSpc>
              <a:spcBef>
                <a:spcPts val="0"/>
              </a:spcBef>
              <a:spcAft>
                <a:spcPts val="0"/>
              </a:spcAft>
              <a:buNone/>
            </a:pPr>
            <a:r>
              <a:rPr sz="1400" b="0" i="0" lang="he-IL">
                <a:solidFill>
                  <a:srgbClr val="212121"/>
                </a:solidFill>
                <a:latin typeface="Courier New"/>
                <a:ea typeface="Courier New"/>
                <a:cs typeface="Courier New"/>
              </a:rPr>
              <a:t>Explain: 1) what it does  2) the entry point  3) how data flows</a:t>
            </a:r>
          </a:p>
          <a:p>
            <a:pPr rtl="0" algn="l" marL="0" indent="0">
              <a:lnSpc>
                <a:spcPct val="110000"/>
              </a:lnSpc>
              <a:spcBef>
                <a:spcPts val="0"/>
              </a:spcBef>
              <a:spcAft>
                <a:spcPts val="0"/>
              </a:spcAft>
              <a:buNone/>
            </a:pPr>
            <a:r>
              <a:rPr sz="1400" b="0" i="0" lang="he-IL">
                <a:solidFill>
                  <a:srgbClr val="212121"/>
                </a:solidFill>
                <a:latin typeface="Courier New"/>
                <a:ea typeface="Courier New"/>
                <a:cs typeface="Courier New"/>
              </a:rPr>
              <a:t>from input to output  4) how to run it. Quote file names.</a:t>
            </a:r>
          </a:p>
        </p:txBody>
      </p:sp>
      <p:sp>
        <p:nvSpPr>
          <p:cNvPr id="6" name="Rounded Rectangle 5"/>
          <p:cNvSpPr/>
          <p:nvPr/>
        </p:nvSpPr>
        <p:spPr>
          <a:xfrm>
            <a:off x="365760" y="3200400"/>
            <a:ext cx="8412480" cy="164592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2000" b="1" i="0" lang="he-IL">
                <a:solidFill>
                  <a:srgbClr val="212121"/>
                </a:solidFill>
              </a:rPr>
              <a:t>אימות: מריצים, ובודקים שההסבר מתאים למה שקורה.</a:t>
            </a:r>
          </a:p>
          <a:p>
            <a:pPr rtl="1" algn="ctr" marL="0" indent="0">
              <a:lnSpc>
                <a:spcPct val="105000"/>
              </a:lnSpc>
              <a:spcBef>
                <a:spcPts val="0"/>
              </a:spcBef>
              <a:spcAft>
                <a:spcPts val="0"/>
              </a:spcAft>
              <a:buNone/>
            </a:pPr>
            <a:r>
              <a:rPr sz="1700" b="0" i="0" lang="he-IL">
                <a:solidFill>
                  <a:srgbClr val="EA4335"/>
                </a:solidFill>
              </a:rPr>
              <a:t>הסבר משכנע של AI יכול להיות שגוי (הזיית התנהגות, מפגש 2).</a:t>
            </a:r>
          </a:p>
        </p:txBody>
      </p:sp>
      <p:sp>
        <p:nvSpPr>
          <p:cNvPr id="7" name="Tag אופציונלי"/>
          <p:cNvSpPr/>
          <p:nvPr/>
        </p:nvSpPr>
        <p:spPr>
          <a:xfrm>
            <a:off x="109728" y="91440"/>
            <a:ext cx="1417320" cy="384048"/>
          </a:xfrm>
          <a:prstGeom prst="roundRect">
            <a:avLst>
              <a:gd name="adj" fmla="val 40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אופציונלי</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11 - חלק ג׳ :</a:t>
            </a:r>
            <a:r>
              <a:rPr sz="3000" b="1" i="0" lang="he-IL">
                <a:solidFill>
                  <a:srgbClr val="212121"/>
                </a:solidFill>
              </a:rPr>
              <a:t>מסמך העברה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graphicFrame>
        <p:nvGraphicFramePr>
          <p:cNvPr id="5" name="Table 4"/>
          <p:cNvGraphicFramePr>
            <a:graphicFrameLocks noGrp="1"/>
          </p:cNvGraphicFramePr>
          <p:nvPr/>
        </p:nvGraphicFramePr>
        <p:xfrm>
          <a:off x="365760" y="1371600"/>
          <a:ext cx="8412480" cy="3401568"/>
        </p:xfrm>
        <a:graphic>
          <a:graphicData uri="http://schemas.openxmlformats.org/drawingml/2006/table">
            <a:tbl>
              <a:tblPr firstRow="0" bandRow="0">
                <a:tableStyleId>{2D5ABB26-0587-4C30-8999-92F81FD0307C}</a:tableStyleId>
              </a:tblPr>
              <a:tblGrid>
                <a:gridCol w="6217920"/>
                <a:gridCol w="2194560"/>
              </a:tblGrid>
              <a:tr h="566928">
                <a:tc>
                  <a:txBody>
                    <a:bodyPr wrap="square"/>
                    <a:lstStyle/>
                    <a:p>
                      <a:pPr rtl="1" algn="r" marL="0" indent="0">
                        <a:lnSpc>
                          <a:spcPct val="100000"/>
                        </a:lnSpc>
                        <a:spcBef>
                          <a:spcPts val="0"/>
                        </a:spcBef>
                        <a:spcAft>
                          <a:spcPts val="0"/>
                        </a:spcAft>
                        <a:buNone/>
                      </a:pPr>
                      <a:r>
                        <a:rPr sz="1700" b="0" i="0" lang="he-IL">
                          <a:solidFill>
                            <a:srgbClr val="212121"/>
                          </a:solidFill>
                        </a:rPr>
                        <a:t>משפט אחד</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700" b="1" i="0" lang="he-IL">
                          <a:solidFill>
                            <a:srgbClr val="212121"/>
                          </a:solidFill>
                        </a:rPr>
                        <a:t>מה זה עושה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566928">
                <a:tc>
                  <a:txBody>
                    <a:bodyPr wrap="square"/>
                    <a:lstStyle/>
                    <a:p>
                      <a:pPr rtl="1" algn="r" marL="0" indent="0">
                        <a:lnSpc>
                          <a:spcPct val="100000"/>
                        </a:lnSpc>
                        <a:spcBef>
                          <a:spcPts val="0"/>
                        </a:spcBef>
                        <a:spcAft>
                          <a:spcPts val="0"/>
                        </a:spcAft>
                        <a:buNone/>
                      </a:pPr>
                      <a:r>
                        <a:rPr sz="1700" b="0" i="0" lang="he-IL">
                          <a:solidFill>
                            <a:srgbClr val="212121"/>
                          </a:solidFill>
                        </a:rPr>
                        <a:t>פקודה אחת, ומה מצפים לראות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700" b="1" i="0" lang="he-IL">
                          <a:solidFill>
                            <a:srgbClr val="212121"/>
                          </a:solidFill>
                        </a:rPr>
                        <a:t>איך מריצים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566928">
                <a:tc>
                  <a:txBody>
                    <a:bodyPr wrap="square"/>
                    <a:lstStyle/>
                    <a:p>
                      <a:pPr rtl="1" algn="r" marL="0" indent="0">
                        <a:lnSpc>
                          <a:spcPct val="100000"/>
                        </a:lnSpc>
                        <a:spcBef>
                          <a:spcPts val="0"/>
                        </a:spcBef>
                        <a:spcAft>
                          <a:spcPts val="0"/>
                        </a:spcAft>
                        <a:buNone/>
                      </a:pPr>
                      <a:r>
                        <a:rPr sz="1700" b="0" i="0" lang="he-IL">
                          <a:solidFill>
                            <a:srgbClr val="212121"/>
                          </a:solidFill>
                        </a:rPr>
                        <a:t>קבצים ותפקידים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700" b="1" i="0" lang="he-IL">
                          <a:solidFill>
                            <a:srgbClr val="212121"/>
                          </a:solidFill>
                        </a:rPr>
                        <a:t>מבנה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566928">
                <a:tc>
                  <a:txBody>
                    <a:bodyPr wrap="square"/>
                    <a:lstStyle/>
                    <a:p>
                      <a:pPr rtl="1" algn="r" marL="0" indent="0">
                        <a:lnSpc>
                          <a:spcPct val="100000"/>
                        </a:lnSpc>
                        <a:spcBef>
                          <a:spcPts val="0"/>
                        </a:spcBef>
                        <a:spcAft>
                          <a:spcPts val="0"/>
                        </a:spcAft>
                        <a:buNone/>
                      </a:pPr>
                      <a:r>
                        <a:rPr sz="1700" b="0" i="0" lang="he-IL">
                          <a:solidFill>
                            <a:srgbClr val="212121"/>
                          </a:solidFill>
                        </a:rPr>
                        <a:t>מה לא עובד, ומה חסר (בדיקות, README)</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700" b="1" i="0" lang="he-IL">
                          <a:solidFill>
                            <a:srgbClr val="212121"/>
                          </a:solidFill>
                        </a:rPr>
                        <a:t>מה שבור או חסר</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566928">
                <a:tc>
                  <a:txBody>
                    <a:bodyPr wrap="square"/>
                    <a:lstStyle/>
                    <a:p>
                      <a:pPr rtl="1" algn="r" marL="0" indent="0">
                        <a:lnSpc>
                          <a:spcPct val="100000"/>
                        </a:lnSpc>
                        <a:spcBef>
                          <a:spcPts val="0"/>
                        </a:spcBef>
                        <a:spcAft>
                          <a:spcPts val="0"/>
                        </a:spcAft>
                        <a:buNone/>
                      </a:pPr>
                      <a:r>
                        <a:rPr sz="1700" b="0" i="0" lang="he-IL">
                          <a:solidFill>
                            <a:srgbClr val="212121"/>
                          </a:solidFill>
                        </a:rPr>
                        <a:t>מה שביר. במעבדה בדיוק שלושה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700" b="1" i="0" lang="he-IL">
                          <a:solidFill>
                            <a:srgbClr val="212121"/>
                          </a:solidFill>
                        </a:rPr>
                        <a:t>נקודות סיכון</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566928">
                <a:tc>
                  <a:txBody>
                    <a:bodyPr wrap="square"/>
                    <a:lstStyle/>
                    <a:p>
                      <a:pPr rtl="1" algn="r" marL="0" indent="0">
                        <a:lnSpc>
                          <a:spcPct val="100000"/>
                        </a:lnSpc>
                        <a:spcBef>
                          <a:spcPts val="0"/>
                        </a:spcBef>
                        <a:spcAft>
                          <a:spcPts val="0"/>
                        </a:spcAft>
                        <a:buNone/>
                      </a:pPr>
                      <a:r>
                        <a:rPr sz="1700" b="0" i="0" lang="he-IL">
                          <a:solidFill>
                            <a:srgbClr val="212121"/>
                          </a:solidFill>
                        </a:rPr>
                        <a:t>מה עוד לא ידוע, ושואלים את הכותבים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700" b="1" i="0" lang="he-IL">
                          <a:solidFill>
                            <a:srgbClr val="212121"/>
                          </a:solidFill>
                        </a:rPr>
                        <a:t>שאלות פתוחות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bl>
          </a:graphicData>
        </a:graphic>
      </p:graphicFrame>
      <p:sp>
        <p:nvSpPr>
          <p:cNvPr id="6" name="TextBox 5"/>
          <p:cNvSpPr txBox="1"/>
          <p:nvPr/>
        </p:nvSpPr>
        <p:spPr>
          <a:xfrm>
            <a:off x="365760" y="4846320"/>
            <a:ext cx="8412480" cy="27432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400" b="0" i="0" lang="he-IL">
                <a:solidFill>
                  <a:srgbClr val="595959"/>
                </a:solidFill>
              </a:rPr>
              <a:t>קובץ הנחיה לסוכן (מפגש 4) משרת גם בני אדם. החלטות: ראו שקף ההעשרה על ADR.</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11 - חלק ג׳ :</a:t>
            </a:r>
            <a:r>
              <a:rPr sz="3000" b="1" i="0" lang="he-IL">
                <a:solidFill>
                  <a:srgbClr val="212121"/>
                </a:solidFill>
              </a:rPr>
              <a:t>README: חלש וחזק</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4663440" y="1371600"/>
            <a:ext cx="4114800" cy="3200400"/>
          </a:xfrm>
          <a:prstGeom prst="roundRect">
            <a:avLst>
              <a:gd name="adj" fmla="val 12000"/>
            </a:avLst>
          </a:prstGeom>
          <a:solidFill>
            <a:srgbClr val="FDE3E0"/>
          </a:solidFill>
          <a:ln w="31750">
            <a:solidFill>
              <a:srgbClr val="EA4335"/>
            </a:solidFill>
          </a:ln>
        </p:spPr>
        <p:txBody>
          <a:bodyPr rtlCol="0" anchor="ctr" wrap="square" lIns="73152" rIns="73152" tIns="73152" bIns="73152">
            <a:noAutofit/>
          </a:bodyPr>
          <a:lstStyle/>
          <a:p>
            <a:pPr rtl="0" algn="ctr" marL="0" indent="0">
              <a:lnSpc>
                <a:spcPct val="105000"/>
              </a:lnSpc>
              <a:spcBef>
                <a:spcPts val="0"/>
              </a:spcBef>
              <a:spcAft>
                <a:spcPts val="0"/>
              </a:spcAft>
              <a:buNone/>
            </a:pPr>
            <a:r>
              <a:rPr sz="1900" b="1" i="0" lang="he-IL">
                <a:solidFill>
                  <a:srgbClr val="EA4335"/>
                </a:solidFill>
              </a:rPr>
              <a:t>חלש</a:t>
            </a:r>
          </a:p>
          <a:p>
            <a:pPr rtl="0" algn="l" marL="0" indent="0">
              <a:lnSpc>
                <a:spcPct val="105000"/>
              </a:lnSpc>
              <a:spcBef>
                <a:spcPts val="0"/>
              </a:spcBef>
              <a:spcAft>
                <a:spcPts val="0"/>
              </a:spcAft>
              <a:buNone/>
            </a:pPr>
            <a:r>
              <a:rPr sz="1700" b="0" i="0" lang="he-IL">
                <a:solidFill>
                  <a:srgbClr val="212121"/>
                </a:solidFill>
              </a:rPr>
              <a:t># scorecard
Run main.py</a:t>
            </a:r>
          </a:p>
        </p:txBody>
      </p:sp>
      <p:sp>
        <p:nvSpPr>
          <p:cNvPr id="6" name="Rounded Rectangle 5"/>
          <p:cNvSpPr/>
          <p:nvPr/>
        </p:nvSpPr>
        <p:spPr>
          <a:xfrm>
            <a:off x="365760" y="1371600"/>
            <a:ext cx="4114800" cy="3200400"/>
          </a:xfrm>
          <a:prstGeom prst="roundRect">
            <a:avLst>
              <a:gd name="adj" fmla="val 12000"/>
            </a:avLst>
          </a:prstGeom>
          <a:solidFill>
            <a:srgbClr val="E1F4E6"/>
          </a:solidFill>
          <a:ln w="3175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900" b="1" i="0" lang="he-IL">
                <a:solidFill>
                  <a:srgbClr val="34A853"/>
                </a:solidFill>
              </a:rPr>
              <a:t>חזק</a:t>
            </a:r>
          </a:p>
          <a:p>
            <a:pPr rtl="1" algn="r" marL="0" indent="0">
              <a:lnSpc>
                <a:spcPct val="105000"/>
              </a:lnSpc>
              <a:spcBef>
                <a:spcPts val="0"/>
              </a:spcBef>
              <a:spcAft>
                <a:spcPts val="0"/>
              </a:spcAft>
              <a:buNone/>
            </a:pPr>
            <a:r>
              <a:rPr sz="1400" b="0" i="0" lang="he-IL">
                <a:solidFill>
                  <a:srgbClr val="212121"/>
                </a:solidFill>
              </a:rPr>
              <a:t>מה הכלי עושה. איך מריצים: python main.py 0.7. מה צריך (pandas, suppliers.csv). מה הפלט. איפה הכללים (config.py).</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11 - חלק ג׳ :</a:t>
            </a:r>
            <a:r>
              <a:rPr sz="3000" b="1" i="0" lang="he-IL">
                <a:solidFill>
                  <a:srgbClr val="212121"/>
                </a:solidFill>
              </a:rPr>
              <a:t>שאלת בדיקה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TextBox 4"/>
          <p:cNvSpPr txBox="1"/>
          <p:nvPr/>
        </p:nvSpPr>
        <p:spPr>
          <a:xfrm>
            <a:off x="365760" y="1463040"/>
            <a:ext cx="8412480" cy="29260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600" b="1" i="0" lang="he-IL">
                <a:solidFill>
                  <a:srgbClr val="4285F4"/>
                </a:solidFill>
              </a:rPr>
              <a:t>קיבלתם מאגר של מישהו אחר. מה עושים לפני שקוראים את כל הקוד?</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11 - חלק ג׳ :</a:t>
            </a:r>
            <a:r>
              <a:rPr sz="3000" b="1" i="0" lang="he-IL">
                <a:solidFill>
                  <a:srgbClr val="212121"/>
                </a:solidFill>
              </a:rPr>
              <a:t>שאלת בדיקה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TextBox 4"/>
          <p:cNvSpPr txBox="1"/>
          <p:nvPr/>
        </p:nvSpPr>
        <p:spPr>
          <a:xfrm>
            <a:off x="365760" y="1371600"/>
            <a:ext cx="8412480" cy="91440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700" b="0" i="0" lang="he-IL">
                <a:solidFill>
                  <a:srgbClr val="595959"/>
                </a:solidFill>
              </a:rPr>
              <a:t>קיבלתם מאגר של מישהו אחר. מה עושים לפני שקוראים את כל הקוד?</a:t>
            </a:r>
          </a:p>
        </p:txBody>
      </p:sp>
      <p:sp>
        <p:nvSpPr>
          <p:cNvPr id="6" name="TextBox 5"/>
          <p:cNvSpPr txBox="1"/>
          <p:nvPr/>
        </p:nvSpPr>
        <p:spPr>
          <a:xfrm>
            <a:off x="365760" y="2423160"/>
            <a:ext cx="8412480" cy="2651760"/>
          </a:xfrm>
          <a:prstGeom prst="rect">
            <a:avLst/>
          </a:prstGeom>
          <a:noFill/>
        </p:spPr>
        <p:txBody>
          <a:bodyPr wrap="square" lIns="73152" rIns="73152" tIns="73152" bIns="73152" anchor="t">
            <a:noAutofit/>
          </a:bodyPr>
          <a:lstStyle/>
          <a:p>
            <a:pPr rtl="1" algn="r" marL="0" indent="0">
              <a:lnSpc>
                <a:spcPct val="110000"/>
              </a:lnSpc>
              <a:spcBef>
                <a:spcPts val="0"/>
              </a:spcBef>
              <a:spcAft>
                <a:spcPts val="400"/>
              </a:spcAft>
              <a:buNone/>
            </a:pPr>
            <a:r>
              <a:rPr sz="2200" b="1" i="0" lang="he-IL">
                <a:solidFill>
                  <a:srgbClr val="34A853"/>
                </a:solidFill>
              </a:rPr>
              <a:t>תשובה:</a:t>
            </a:r>
          </a:p>
          <a:p>
            <a:pPr rtl="1" algn="r" marL="347472" indent="-292608">
              <a:lnSpc>
                <a:spcPct val="110000"/>
              </a:lnSpc>
              <a:spcBef>
                <a:spcPts val="0"/>
              </a:spcBef>
              <a:spcAft>
                <a:spcPts val="600"/>
              </a:spcAft>
              <a:buClr>
                <a:srgbClr val="212121"/>
              </a:buClr>
              <a:buSzPts val="1680"/>
              <a:buChar char="●"/>
            </a:pPr>
            <a:r>
              <a:rPr sz="2100" b="0" i="0" lang="he-IL">
                <a:solidFill>
                  <a:srgbClr val="212121"/>
                </a:solidFill>
              </a:rPr>
              <a:t>קוראים README ומריצים, כדי לראות שזה עובד.</a:t>
            </a:r>
          </a:p>
          <a:p>
            <a:pPr rtl="1" algn="r" marL="347472" indent="-292608">
              <a:lnSpc>
                <a:spcPct val="110000"/>
              </a:lnSpc>
              <a:spcBef>
                <a:spcPts val="0"/>
              </a:spcBef>
              <a:spcAft>
                <a:spcPts val="600"/>
              </a:spcAft>
              <a:buClr>
                <a:srgbClr val="212121"/>
              </a:buClr>
              <a:buSzPts val="1680"/>
              <a:buChar char="●"/>
            </a:pPr>
            <a:r>
              <a:rPr sz="2100" b="0" i="0" lang="he-IL">
                <a:solidFill>
                  <a:srgbClr val="212121"/>
                </a:solidFill>
              </a:rPr>
              <a:t>ממפים מבנה ונקודת כניסה, ועוקבים אחר זרימה אחת.</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11 - חלק ג׳ :מסמך החלטה (ADR)</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graphicFrame>
        <p:nvGraphicFramePr>
          <p:cNvPr id="5" name="Table 4"/>
          <p:cNvGraphicFramePr>
            <a:graphicFrameLocks noGrp="1"/>
          </p:cNvGraphicFramePr>
          <p:nvPr/>
        </p:nvGraphicFramePr>
        <p:xfrm>
          <a:off x="360000" y="1368000"/>
          <a:ext cx="8424000" cy="2808000"/>
        </p:xfrm>
        <a:graphic>
          <a:graphicData uri="http://schemas.openxmlformats.org/drawingml/2006/table">
            <a:tbl>
              <a:tblPr firstRow="0" bandRow="0">
                <a:tableStyleId>{2D5ABB26-0587-4C30-8999-92F81FD0307C}</a:tableStyleId>
              </a:tblPr>
              <a:tblGrid>
                <a:gridCol w="6623999"/>
                <a:gridCol w="1800000"/>
              </a:tblGrid>
              <a:tr h="468000">
                <a:tc>
                  <a:txBody>
                    <a:bodyPr wrap="square"/>
                    <a:lstStyle/>
                    <a:p>
                      <a:pPr rtl="1" algn="ctr" marL="0" indent="0">
                        <a:lnSpc>
                          <a:spcPct val="100000"/>
                        </a:lnSpc>
                        <a:spcBef>
                          <a:spcPts val="0"/>
                        </a:spcBef>
                        <a:spcAft>
                          <a:spcPts val="0"/>
                        </a:spcAft>
                        <a:buNone/>
                      </a:pPr>
                      <a:r>
                        <a:rPr sz="1500" b="1" i="0" lang="he-IL">
                          <a:solidFill>
                            <a:srgbClr val="212121"/>
                          </a:solidFill>
                        </a:rPr>
                        <a:t>דוגמה מהחנות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1" algn="ctr" marL="0" indent="0">
                        <a:lnSpc>
                          <a:spcPct val="100000"/>
                        </a:lnSpc>
                        <a:spcBef>
                          <a:spcPts val="0"/>
                        </a:spcBef>
                        <a:spcAft>
                          <a:spcPts val="0"/>
                        </a:spcAft>
                        <a:buNone/>
                      </a:pPr>
                      <a:r>
                        <a:rPr sz="1500" b="1" i="0" lang="he-IL">
                          <a:solidFill>
                            <a:srgbClr val="212121"/>
                          </a:solidFill>
                        </a:rPr>
                        <a:t>שדה ב־ADR</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r>
              <a:tr h="468000">
                <a:tc>
                  <a:txBody>
                    <a:bodyPr wrap="square"/>
                    <a:lstStyle/>
                    <a:p>
                      <a:pPr rtl="1" algn="r" marL="0" indent="0">
                        <a:lnSpc>
                          <a:spcPct val="100000"/>
                        </a:lnSpc>
                        <a:spcBef>
                          <a:spcPts val="0"/>
                        </a:spcBef>
                        <a:spcAft>
                          <a:spcPts val="0"/>
                        </a:spcAft>
                        <a:buNone/>
                      </a:pPr>
                      <a:r>
                        <a:rPr sz="1500" b="0" i="0" lang="he-IL">
                          <a:solidFill>
                            <a:srgbClr val="212121"/>
                          </a:solidFill>
                        </a:rPr>
                        <a:t>נשמור הזמנות בקובץ CSV</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1" i="0" lang="he-IL">
                          <a:solidFill>
                            <a:srgbClr val="212121"/>
                          </a:solidFill>
                        </a:rPr>
                        <a:t>כותרת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468000">
                <a:tc>
                  <a:txBody>
                    <a:bodyPr wrap="square"/>
                    <a:lstStyle/>
                    <a:p>
                      <a:pPr rtl="1" algn="r" marL="0" indent="0">
                        <a:lnSpc>
                          <a:spcPct val="100000"/>
                        </a:lnSpc>
                        <a:spcBef>
                          <a:spcPts val="0"/>
                        </a:spcBef>
                        <a:spcAft>
                          <a:spcPts val="0"/>
                        </a:spcAft>
                        <a:buNone/>
                      </a:pPr>
                      <a:r>
                        <a:rPr sz="1500" b="0" i="0" lang="he-IL">
                          <a:solidFill>
                            <a:srgbClr val="212121"/>
                          </a:solidFill>
                        </a:rPr>
                        <a:t>פרויקט קטן, בלי שרת, שני סטודנטים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1" i="0" lang="he-IL">
                          <a:solidFill>
                            <a:srgbClr val="212121"/>
                          </a:solidFill>
                        </a:rPr>
                        <a:t>הקשר</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468000">
                <a:tc>
                  <a:txBody>
                    <a:bodyPr wrap="square"/>
                    <a:lstStyle/>
                    <a:p>
                      <a:pPr rtl="1" algn="r" marL="0" indent="0">
                        <a:lnSpc>
                          <a:spcPct val="100000"/>
                        </a:lnSpc>
                        <a:spcBef>
                          <a:spcPts val="0"/>
                        </a:spcBef>
                        <a:spcAft>
                          <a:spcPts val="0"/>
                        </a:spcAft>
                        <a:buNone/>
                      </a:pPr>
                      <a:r>
                        <a:rPr sz="1500" b="0" i="0" lang="he-IL">
                          <a:solidFill>
                            <a:srgbClr val="212121"/>
                          </a:solidFill>
                        </a:rPr>
                        <a:t>קובץ CSV אחד לכל טבלה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1" i="0" lang="he-IL">
                          <a:solidFill>
                            <a:srgbClr val="212121"/>
                          </a:solidFill>
                        </a:rPr>
                        <a:t>החלטה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468000">
                <a:tc>
                  <a:txBody>
                    <a:bodyPr wrap="square"/>
                    <a:lstStyle/>
                    <a:p>
                      <a:pPr rtl="1" algn="r" marL="0" indent="0">
                        <a:lnSpc>
                          <a:spcPct val="100000"/>
                        </a:lnSpc>
                        <a:spcBef>
                          <a:spcPts val="0"/>
                        </a:spcBef>
                        <a:spcAft>
                          <a:spcPts val="0"/>
                        </a:spcAft>
                        <a:buNone/>
                      </a:pPr>
                      <a:r>
                        <a:rPr sz="1500" b="0" i="0" lang="he-IL">
                          <a:solidFill>
                            <a:srgbClr val="212121"/>
                          </a:solidFill>
                        </a:rPr>
                        <a:t>אושר</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1" i="0" lang="he-IL">
                          <a:solidFill>
                            <a:srgbClr val="212121"/>
                          </a:solidFill>
                        </a:rPr>
                        <a:t>סטטוס</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468000">
                <a:tc>
                  <a:txBody>
                    <a:bodyPr wrap="square"/>
                    <a:lstStyle/>
                    <a:p>
                      <a:pPr rtl="1" algn="r" marL="0" indent="0">
                        <a:lnSpc>
                          <a:spcPct val="100000"/>
                        </a:lnSpc>
                        <a:spcBef>
                          <a:spcPts val="0"/>
                        </a:spcBef>
                        <a:spcAft>
                          <a:spcPts val="0"/>
                        </a:spcAft>
                        <a:buNone/>
                      </a:pPr>
                      <a:r>
                        <a:rPr sz="1500" b="0" i="0" lang="he-IL">
                          <a:solidFill>
                            <a:srgbClr val="212121"/>
                          </a:solidFill>
                        </a:rPr>
                        <a:t>פשוט להתחיל. איטי מעל מאות אלפי שורות. נחליף כשיגדל</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1" i="0" lang="he-IL">
                          <a:solidFill>
                            <a:srgbClr val="212121"/>
                          </a:solidFill>
                        </a:rPr>
                        <a:t>השלכות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bl>
          </a:graphicData>
        </a:graphic>
      </p:graphicFrame>
      <p:sp>
        <p:nvSpPr>
          <p:cNvPr id="6" name="TextBox 5"/>
          <p:cNvSpPr txBox="1"/>
          <p:nvPr/>
        </p:nvSpPr>
        <p:spPr>
          <a:xfrm>
            <a:off x="365760" y="4428000"/>
            <a:ext cx="8412480" cy="3240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1" i="0" lang="he-IL">
                <a:solidFill>
                  <a:srgbClr val="4285F4"/>
                </a:solidFill>
              </a:rPr>
              <a:t>Nygard (2011): עמוד קצר לכל החלטה. אצלנו, שאלות פתוחות מחליפות החלטות שלא ידועות.</a:t>
            </a:r>
          </a:p>
        </p:txBody>
      </p:sp>
      <p:sp>
        <p:nvSpPr>
          <p:cNvPr id="7" name="Tag העשרה"/>
          <p:cNvSpPr/>
          <p:nvPr/>
        </p:nvSpPr>
        <p:spPr>
          <a:xfrm>
            <a:off x="109728" y="91440"/>
            <a:ext cx="1417320" cy="384048"/>
          </a:xfrm>
          <a:prstGeom prst="roundRect">
            <a:avLst>
              <a:gd name="adj" fmla="val 40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העשרה</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11 - מעבדה ג׳ : הקובץ הנדרש</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13 דקות</a:t>
            </a:r>
          </a:p>
        </p:txBody>
      </p:sp>
      <p:sp>
        <p:nvSpPr>
          <p:cNvPr id="6" name="TextBox 5"/>
          <p:cNvSpPr txBox="1"/>
          <p:nvPr/>
        </p:nvSpPr>
        <p:spPr>
          <a:xfrm>
            <a:off x="365760" y="1325880"/>
            <a:ext cx="8412480" cy="50292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100" b="1" i="0" lang="he-IL">
                <a:solidFill>
                  <a:srgbClr val="212121"/>
                </a:solidFill>
              </a:rPr>
              <a:t>הקובץ לתרגול: HM_11.ipynb. חלקים ד׳-ה׳: Handoff.</a:t>
            </a:r>
          </a:p>
        </p:txBody>
      </p:sp>
      <p:sp>
        <p:nvSpPr>
          <p:cNvPr id="7" name="Rounded Rectangle 6"/>
          <p:cNvSpPr/>
          <p:nvPr/>
        </p:nvSpPr>
        <p:spPr>
          <a:xfrm>
            <a:off x="6172200" y="2057400"/>
            <a:ext cx="2697480" cy="182880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8" name="Oval 7"/>
          <p:cNvSpPr/>
          <p:nvPr/>
        </p:nvSpPr>
        <p:spPr>
          <a:xfrm>
            <a:off x="7315200" y="1828800"/>
            <a:ext cx="384048" cy="384048"/>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1</a:t>
            </a:r>
          </a:p>
        </p:txBody>
      </p:sp>
      <p:sp>
        <p:nvSpPr>
          <p:cNvPr id="9" name="TextBox 8"/>
          <p:cNvSpPr txBox="1"/>
          <p:nvPr/>
        </p:nvSpPr>
        <p:spPr>
          <a:xfrm>
            <a:off x="6217920"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הקובץ</a:t>
            </a:r>
          </a:p>
        </p:txBody>
      </p:sp>
      <p:sp>
        <p:nvSpPr>
          <p:cNvPr id="10" name="TextBox 9"/>
          <p:cNvSpPr txBox="1"/>
          <p:nvPr/>
        </p:nvSpPr>
        <p:spPr>
          <a:xfrm>
            <a:off x="6309360"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HM_11.ipynb. חלקים ד׳-ה׳: Handoff</a:t>
            </a:r>
          </a:p>
        </p:txBody>
      </p:sp>
      <p:sp>
        <p:nvSpPr>
          <p:cNvPr id="11" name="Rounded Rectangle 10"/>
          <p:cNvSpPr/>
          <p:nvPr/>
        </p:nvSpPr>
        <p:spPr>
          <a:xfrm>
            <a:off x="3246120" y="2057400"/>
            <a:ext cx="2697480" cy="182880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2" name="Oval 11"/>
          <p:cNvSpPr/>
          <p:nvPr/>
        </p:nvSpPr>
        <p:spPr>
          <a:xfrm>
            <a:off x="4389120" y="1828800"/>
            <a:ext cx="384048" cy="384048"/>
          </a:xfrm>
          <a:prstGeom prst="ellipse">
            <a:avLst/>
          </a:prstGeom>
          <a:solidFill>
            <a:srgbClr val="FFAB40"/>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2</a:t>
            </a:r>
          </a:p>
        </p:txBody>
      </p:sp>
      <p:sp>
        <p:nvSpPr>
          <p:cNvPr id="13" name="TextBox 12"/>
          <p:cNvSpPr txBox="1"/>
          <p:nvPr/>
        </p:nvSpPr>
        <p:spPr>
          <a:xfrm>
            <a:off x="329183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איך פותחים</a:t>
            </a:r>
          </a:p>
        </p:txBody>
      </p:sp>
      <p:sp>
        <p:nvSpPr>
          <p:cNvPr id="14" name="TextBox 13"/>
          <p:cNvSpPr txBox="1"/>
          <p:nvPr/>
        </p:nvSpPr>
        <p:spPr>
          <a:xfrm>
            <a:off x="338327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קישור או QR מהמרצה, או Upload ל־Colab. כל הדרכים במדריך Google Colab</a:t>
            </a:r>
          </a:p>
        </p:txBody>
      </p:sp>
      <p:sp>
        <p:nvSpPr>
          <p:cNvPr id="15" name="Rounded Rectangle 14"/>
          <p:cNvSpPr/>
          <p:nvPr/>
        </p:nvSpPr>
        <p:spPr>
          <a:xfrm>
            <a:off x="320039" y="2057400"/>
            <a:ext cx="2697480" cy="1828800"/>
          </a:xfrm>
          <a:prstGeom prst="roundRect">
            <a:avLst>
              <a:gd name="adj" fmla="val 6000"/>
            </a:avLst>
          </a:prstGeom>
          <a:solidFill>
            <a:srgbClr val="DDF2F5"/>
          </a:solidFill>
          <a:ln w="31750">
            <a:solidFill>
              <a:srgbClr val="0097A7"/>
            </a:solidFill>
          </a:ln>
        </p:spPr>
        <p:txBody>
          <a:bodyPr rtlCol="0" anchor="ctr" wrap="square" lIns="73152" rIns="73152" tIns="73152" bIns="73152">
            <a:noAutofit/>
          </a:bodyPr>
          <a:lstStyle/>
          <a:p>
            <a:pPr algn="ctr"/>
          </a:p>
        </p:txBody>
      </p:sp>
      <p:sp>
        <p:nvSpPr>
          <p:cNvPr id="16" name="Oval 15"/>
          <p:cNvSpPr/>
          <p:nvPr/>
        </p:nvSpPr>
        <p:spPr>
          <a:xfrm>
            <a:off x="1463039" y="1828800"/>
            <a:ext cx="384048" cy="384048"/>
          </a:xfrm>
          <a:prstGeom prst="ellipse">
            <a:avLst/>
          </a:prstGeom>
          <a:solidFill>
            <a:srgbClr val="0097A7"/>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3</a:t>
            </a:r>
          </a:p>
        </p:txBody>
      </p:sp>
      <p:sp>
        <p:nvSpPr>
          <p:cNvPr id="17" name="TextBox 16"/>
          <p:cNvSpPr txBox="1"/>
          <p:nvPr/>
        </p:nvSpPr>
        <p:spPr>
          <a:xfrm>
            <a:off x="36575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מה שומרים</a:t>
            </a:r>
          </a:p>
        </p:txBody>
      </p:sp>
      <p:sp>
        <p:nvSpPr>
          <p:cNvPr id="18" name="TextBox 17"/>
          <p:cNvSpPr txBox="1"/>
          <p:nvPr/>
        </p:nvSpPr>
        <p:spPr>
          <a:xfrm>
            <a:off x="45719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בסוף: ✓ בכל הבדיקות, שמירה ב־Drive והורדת הקובץ</a:t>
            </a:r>
          </a:p>
        </p:txBody>
      </p:sp>
      <p:sp>
        <p:nvSpPr>
          <p:cNvPr id="19" name="Rounded Rectangle 18"/>
          <p:cNvSpPr/>
          <p:nvPr/>
        </p:nvSpPr>
        <p:spPr>
          <a:xfrm>
            <a:off x="365760" y="4160520"/>
            <a:ext cx="6675120" cy="68580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0" i="0" lang="he-IL">
                <a:solidFill>
                  <a:srgbClr val="212121"/>
                </a:solidFill>
              </a:rPr>
              <a:t>הנתונים כבר בתוך המחברת. קבצי פרויקט משלכם: דרך Drive או GitHub (במדריך, פרקים 4 ו־5).</a:t>
            </a:r>
          </a:p>
        </p:txBody>
      </p:sp>
      <p:sp>
        <p:nvSpPr>
          <p:cNvPr id="20" name="Rectangle 19"/>
          <p:cNvSpPr/>
          <p:nvPr/>
        </p:nvSpPr>
        <p:spPr>
          <a:xfrm>
            <a:off x="7498079" y="3977639"/>
            <a:ext cx="868680" cy="868680"/>
          </a:xfrm>
          <a:prstGeom prst="rect">
            <a:avLst/>
          </a:prstGeom>
          <a:solidFill>
            <a:srgbClr val="FFFFFF"/>
          </a:solidFill>
          <a:ln w="19050">
            <a:solidFill>
              <a:srgbClr val="78909C"/>
            </a:solidFill>
            <a:prstDash val="dash"/>
          </a:ln>
        </p:spPr>
        <p:txBody>
          <a:bodyPr rtlCol="0" anchor="ctr" wrap="square" lIns="73152" rIns="73152" tIns="73152" bIns="73152">
            <a:noAutofit/>
          </a:bodyPr>
          <a:lstStyle/>
          <a:p>
            <a:pPr rtl="1" algn="ctr" marL="0" indent="0">
              <a:lnSpc>
                <a:spcPct val="105000"/>
              </a:lnSpc>
              <a:spcBef>
                <a:spcPts val="0"/>
              </a:spcBef>
              <a:spcAft>
                <a:spcPts val="0"/>
              </a:spcAft>
              <a:buNone/>
            </a:pPr>
            <a:r>
              <a:rPr sz="1800" b="1" i="0" lang="he-IL">
                <a:solidFill>
                  <a:srgbClr val="78909C"/>
                </a:solidFill>
              </a:rPr>
              <a:t>QR</a:t>
            </a:r>
          </a:p>
        </p:txBody>
      </p:sp>
      <p:sp>
        <p:nvSpPr>
          <p:cNvPr id="21" name="TextBox 20"/>
          <p:cNvSpPr txBox="1"/>
          <p:nvPr/>
        </p:nvSpPr>
        <p:spPr>
          <a:xfrm>
            <a:off x="6949440" y="4846320"/>
            <a:ext cx="1965960" cy="256032"/>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200" b="0" i="0" lang="he-IL">
                <a:solidFill>
                  <a:srgbClr val="595959"/>
                </a:solidFill>
              </a:rPr>
              <a:t>קישור ל־HM_11.ipynb</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11 - </a:t>
            </a:r>
            <a:r>
              <a:rPr sz="3000" b="1" i="0" lang="he-IL">
                <a:solidFill>
                  <a:srgbClr val="212121"/>
                </a:solidFill>
              </a:rPr>
              <a:t>מעבדה ג׳</a:t>
            </a:r>
            <a:r>
              <a:rPr sz="3000" b="0" i="0" lang="he-IL">
                <a:solidFill>
                  <a:srgbClr val="212121"/>
                </a:solidFill>
              </a:rPr>
              <a:t> : הקוד של מישהו אחר</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13 דקות</a:t>
            </a:r>
          </a:p>
        </p:txBody>
      </p:sp>
      <p:sp>
        <p:nvSpPr>
          <p:cNvPr id="6" name="TextBox 5"/>
          <p:cNvSpPr txBox="1"/>
          <p:nvPr/>
        </p:nvSpPr>
        <p:spPr>
          <a:xfrm>
            <a:off x="365760" y="1325880"/>
            <a:ext cx="8412480" cy="50292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100" b="1" i="0" lang="he-IL">
                <a:solidFill>
                  <a:srgbClr val="212121"/>
                </a:solidFill>
              </a:rPr>
              <a:t>מטרה: להריץ (כמו שחזור, מפגש 9), למפות ולכתוב מסמך העברה.</a:t>
            </a:r>
          </a:p>
        </p:txBody>
      </p:sp>
      <p:sp>
        <p:nvSpPr>
          <p:cNvPr id="7" name="Rounded Rectangle 6"/>
          <p:cNvSpPr/>
          <p:nvPr/>
        </p:nvSpPr>
        <p:spPr>
          <a:xfrm>
            <a:off x="6172200" y="2057400"/>
            <a:ext cx="2697480" cy="182880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8" name="Oval 7"/>
          <p:cNvSpPr/>
          <p:nvPr/>
        </p:nvSpPr>
        <p:spPr>
          <a:xfrm>
            <a:off x="7315200" y="1828800"/>
            <a:ext cx="384048" cy="384048"/>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1</a:t>
            </a:r>
          </a:p>
        </p:txBody>
      </p:sp>
      <p:sp>
        <p:nvSpPr>
          <p:cNvPr id="9" name="TextBox 8"/>
          <p:cNvSpPr txBox="1"/>
          <p:nvPr/>
        </p:nvSpPr>
        <p:spPr>
          <a:xfrm>
            <a:off x="6217920"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קודם מריצים</a:t>
            </a:r>
          </a:p>
        </p:txBody>
      </p:sp>
      <p:sp>
        <p:nvSpPr>
          <p:cNvPr id="10" name="TextBox 9"/>
          <p:cNvSpPr txBox="1"/>
          <p:nvPr/>
        </p:nvSpPr>
        <p:spPr>
          <a:xfrm>
            <a:off x="6309360"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run_repo: עם ובלי ארגומנט, ומתיקייה אחרת. קודם תחזית</a:t>
            </a:r>
          </a:p>
        </p:txBody>
      </p:sp>
      <p:sp>
        <p:nvSpPr>
          <p:cNvPr id="11" name="Rounded Rectangle 10"/>
          <p:cNvSpPr/>
          <p:nvPr/>
        </p:nvSpPr>
        <p:spPr>
          <a:xfrm>
            <a:off x="3246120" y="2057400"/>
            <a:ext cx="2697480" cy="182880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2" name="Oval 11"/>
          <p:cNvSpPr/>
          <p:nvPr/>
        </p:nvSpPr>
        <p:spPr>
          <a:xfrm>
            <a:off x="4389120" y="1828800"/>
            <a:ext cx="384048" cy="384048"/>
          </a:xfrm>
          <a:prstGeom prst="ellipse">
            <a:avLst/>
          </a:prstGeom>
          <a:solidFill>
            <a:srgbClr val="FFAB40"/>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2</a:t>
            </a:r>
          </a:p>
        </p:txBody>
      </p:sp>
      <p:sp>
        <p:nvSpPr>
          <p:cNvPr id="13" name="TextBox 12"/>
          <p:cNvSpPr txBox="1"/>
          <p:nvPr/>
        </p:nvSpPr>
        <p:spPr>
          <a:xfrm>
            <a:off x="329183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ממפים</a:t>
            </a:r>
          </a:p>
        </p:txBody>
      </p:sp>
      <p:sp>
        <p:nvSpPr>
          <p:cNvPr id="14" name="TextBox 13"/>
          <p:cNvSpPr txBox="1"/>
          <p:nvPr/>
        </p:nvSpPr>
        <p:spPr>
          <a:xfrm>
            <a:off x="338327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inventory_repo: קבצים, פונקציות, קבצים בלי בדיקות, TODO</a:t>
            </a:r>
          </a:p>
        </p:txBody>
      </p:sp>
      <p:sp>
        <p:nvSpPr>
          <p:cNvPr id="15" name="Rounded Rectangle 14"/>
          <p:cNvSpPr/>
          <p:nvPr/>
        </p:nvSpPr>
        <p:spPr>
          <a:xfrm>
            <a:off x="320039" y="2057400"/>
            <a:ext cx="2697480" cy="1828800"/>
          </a:xfrm>
          <a:prstGeom prst="roundRect">
            <a:avLst>
              <a:gd name="adj" fmla="val 6000"/>
            </a:avLst>
          </a:prstGeom>
          <a:solidFill>
            <a:srgbClr val="DDF2F5"/>
          </a:solidFill>
          <a:ln w="31750">
            <a:solidFill>
              <a:srgbClr val="0097A7"/>
            </a:solidFill>
          </a:ln>
        </p:spPr>
        <p:txBody>
          <a:bodyPr rtlCol="0" anchor="ctr" wrap="square" lIns="73152" rIns="73152" tIns="73152" bIns="73152">
            <a:noAutofit/>
          </a:bodyPr>
          <a:lstStyle/>
          <a:p>
            <a:pPr algn="ctr"/>
          </a:p>
        </p:txBody>
      </p:sp>
      <p:sp>
        <p:nvSpPr>
          <p:cNvPr id="16" name="Oval 15"/>
          <p:cNvSpPr/>
          <p:nvPr/>
        </p:nvSpPr>
        <p:spPr>
          <a:xfrm>
            <a:off x="1463039" y="1828800"/>
            <a:ext cx="384048" cy="384048"/>
          </a:xfrm>
          <a:prstGeom prst="ellipse">
            <a:avLst/>
          </a:prstGeom>
          <a:solidFill>
            <a:srgbClr val="0097A7"/>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3</a:t>
            </a:r>
          </a:p>
        </p:txBody>
      </p:sp>
      <p:sp>
        <p:nvSpPr>
          <p:cNvPr id="17" name="TextBox 16"/>
          <p:cNvSpPr txBox="1"/>
          <p:nvPr/>
        </p:nvSpPr>
        <p:spPr>
          <a:xfrm>
            <a:off x="36575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כותבים</a:t>
            </a:r>
          </a:p>
        </p:txBody>
      </p:sp>
      <p:sp>
        <p:nvSpPr>
          <p:cNvPr id="18" name="TextBox 17"/>
          <p:cNvSpPr txBox="1"/>
          <p:nvPr/>
        </p:nvSpPr>
        <p:spPr>
          <a:xfrm>
            <a:off x="45719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write_handoff: מסמך לפי תבנית, ובדיוק 3 סיכונים</a:t>
            </a:r>
          </a:p>
        </p:txBody>
      </p:sp>
      <p:sp>
        <p:nvSpPr>
          <p:cNvPr id="19" name="Rounded Rectangle 18"/>
          <p:cNvSpPr/>
          <p:nvPr/>
        </p:nvSpPr>
        <p:spPr>
          <a:xfrm>
            <a:off x="365760" y="4160520"/>
            <a:ext cx="6675120" cy="68580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0" i="0" lang="he-IL">
                <a:solidFill>
                  <a:srgbClr val="212121"/>
                </a:solidFill>
              </a:rPr>
              <a:t>המאגר legacy-repo כבר בתוך המחברת. בסוף כותבים ארבעה משפטי מסקנה, אחד לכל חלק (2 דקות).</a:t>
            </a:r>
          </a:p>
        </p:txBody>
      </p:sp>
      <p:sp>
        <p:nvSpPr>
          <p:cNvPr id="20" name="Rectangle 19"/>
          <p:cNvSpPr/>
          <p:nvPr/>
        </p:nvSpPr>
        <p:spPr>
          <a:xfrm>
            <a:off x="7498079" y="3977639"/>
            <a:ext cx="868680" cy="868680"/>
          </a:xfrm>
          <a:prstGeom prst="rect">
            <a:avLst/>
          </a:prstGeom>
          <a:solidFill>
            <a:srgbClr val="FFFFFF"/>
          </a:solidFill>
          <a:ln w="19050">
            <a:solidFill>
              <a:srgbClr val="78909C"/>
            </a:solidFill>
            <a:prstDash val="dash"/>
          </a:ln>
        </p:spPr>
        <p:txBody>
          <a:bodyPr rtlCol="0" anchor="ctr" wrap="square" lIns="73152" rIns="73152" tIns="73152" bIns="73152">
            <a:noAutofit/>
          </a:bodyPr>
          <a:lstStyle/>
          <a:p>
            <a:pPr rtl="1" algn="ctr" marL="0" indent="0">
              <a:lnSpc>
                <a:spcPct val="105000"/>
              </a:lnSpc>
              <a:spcBef>
                <a:spcPts val="0"/>
              </a:spcBef>
              <a:spcAft>
                <a:spcPts val="0"/>
              </a:spcAft>
              <a:buNone/>
            </a:pPr>
            <a:r>
              <a:rPr sz="1800" b="1" i="0" lang="he-IL">
                <a:solidFill>
                  <a:srgbClr val="78909C"/>
                </a:solidFill>
              </a:rPr>
              <a:t>QR</a:t>
            </a:r>
          </a:p>
        </p:txBody>
      </p:sp>
      <p:sp>
        <p:nvSpPr>
          <p:cNvPr id="21" name="TextBox 20"/>
          <p:cNvSpPr txBox="1"/>
          <p:nvPr/>
        </p:nvSpPr>
        <p:spPr>
          <a:xfrm>
            <a:off x="6949440" y="4846320"/>
            <a:ext cx="1965960" cy="256032"/>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200" b="0" i="0" lang="he-IL">
                <a:solidFill>
                  <a:srgbClr val="595959"/>
                </a:solidFill>
              </a:rPr>
              <a:t>קישור למחברת HM_11</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11 - מעבדה ג׳ : קודם מריצים</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13 דקות</a:t>
            </a:r>
          </a:p>
        </p:txBody>
      </p:sp>
      <p:sp>
        <p:nvSpPr>
          <p:cNvPr id="6" name="Rounded Rectangle 5"/>
          <p:cNvSpPr/>
          <p:nvPr/>
        </p:nvSpPr>
        <p:spPr>
          <a:xfrm>
            <a:off x="365760" y="1371600"/>
            <a:ext cx="8412480" cy="2377440"/>
          </a:xfrm>
          <a:prstGeom prst="roundRect">
            <a:avLst>
              <a:gd name="adj" fmla="val 3000"/>
            </a:avLst>
          </a:prstGeom>
          <a:solidFill>
            <a:srgbClr val="1E1E1E"/>
          </a:solidFill>
          <a:ln w="19050">
            <a:solidFill>
              <a:srgbClr val="1E1E1E"/>
            </a:solidFill>
          </a:ln>
        </p:spPr>
        <p:txBody>
          <a:bodyPr rtlCol="0" anchor="ctr" wrap="square" lIns="73152" rIns="73152" tIns="73152" bIns="73152">
            <a:noAutofit/>
          </a:bodyPr>
          <a:lstStyle/>
          <a:p>
            <a:pPr algn="ctr"/>
          </a:p>
        </p:txBody>
      </p:sp>
      <p:sp>
        <p:nvSpPr>
          <p:cNvPr id="7" name="Rectangle 6"/>
          <p:cNvSpPr/>
          <p:nvPr/>
        </p:nvSpPr>
        <p:spPr>
          <a:xfrm>
            <a:off x="365760" y="1371600"/>
            <a:ext cx="8412480" cy="310896"/>
          </a:xfrm>
          <a:prstGeom prst="rect">
            <a:avLst/>
          </a:prstGeom>
          <a:solidFill>
            <a:srgbClr val="333333"/>
          </a:solidFill>
          <a:ln w="19050">
            <a:solidFill>
              <a:srgbClr val="333333"/>
            </a:solidFill>
          </a:ln>
        </p:spPr>
        <p:txBody>
          <a:bodyPr rtlCol="0" anchor="ctr" wrap="square" lIns="73152" rIns="73152" tIns="73152" bIns="73152">
            <a:noAutofit/>
          </a:bodyPr>
          <a:lstStyle/>
          <a:p>
            <a:pPr rtl="1" algn="l" marL="0" indent="0">
              <a:lnSpc>
                <a:spcPct val="105000"/>
              </a:lnSpc>
              <a:spcBef>
                <a:spcPts val="0"/>
              </a:spcBef>
              <a:spcAft>
                <a:spcPts val="0"/>
              </a:spcAft>
              <a:buNone/>
            </a:pPr>
            <a:r>
              <a:rPr sz="1200" b="0" i="0" lang="he-IL">
                <a:solidFill>
                  <a:srgbClr val="BBBBBB"/>
                </a:solidFill>
              </a:rPr>
              <a:t>● ● ●   מסוף (Terminal)</a:t>
            </a:r>
          </a:p>
        </p:txBody>
      </p:sp>
      <p:sp>
        <p:nvSpPr>
          <p:cNvPr id="8" name="TextBox 7"/>
          <p:cNvSpPr txBox="1"/>
          <p:nvPr/>
        </p:nvSpPr>
        <p:spPr>
          <a:xfrm>
            <a:off x="457200" y="1755648"/>
            <a:ext cx="8229600" cy="1920240"/>
          </a:xfrm>
          <a:prstGeom prst="rect">
            <a:avLst/>
          </a:prstGeom>
          <a:noFill/>
        </p:spPr>
        <p:txBody>
          <a:bodyPr wrap="square" lIns="36576" rIns="36576" tIns="36576" bIns="36576" anchor="t">
            <a:noAutofit/>
          </a:bodyPr>
          <a:lstStyle/>
          <a:p>
            <a:pPr rtl="0" algn="l" marL="0" indent="0">
              <a:lnSpc>
                <a:spcPct val="114999"/>
              </a:lnSpc>
              <a:spcBef>
                <a:spcPts val="0"/>
              </a:spcBef>
              <a:spcAft>
                <a:spcPts val="0"/>
              </a:spcAft>
              <a:buNone/>
            </a:pPr>
            <a:r>
              <a:rPr sz="1400" b="0" i="0" lang="he-IL">
                <a:solidFill>
                  <a:srgbClr val="7CFC8A"/>
                </a:solidFill>
                <a:latin typeface="Courier New"/>
                <a:ea typeface="Courier New"/>
                <a:cs typeface="Courier New"/>
              </a:rPr>
              <a:t>$ python main.py 0.7</a:t>
            </a:r>
          </a:p>
          <a:p>
            <a:pPr rtl="0" algn="l" marL="0" indent="0">
              <a:lnSpc>
                <a:spcPct val="114999"/>
              </a:lnSpc>
              <a:spcBef>
                <a:spcPts val="0"/>
              </a:spcBef>
              <a:spcAft>
                <a:spcPts val="0"/>
              </a:spcAft>
              <a:buNone/>
            </a:pPr>
            <a:r>
              <a:rPr sz="1400" b="0" i="0" lang="he-IL">
                <a:solidFill>
                  <a:srgbClr val="FFCA6B"/>
                </a:solidFill>
                <a:latin typeface="Courier New"/>
                <a:ea typeface="Courier New"/>
                <a:cs typeface="Courier New"/>
              </a:rPr>
              <a:t>&gt;       name  score</a:t>
            </a:r>
          </a:p>
          <a:p>
            <a:pPr rtl="0" algn="l" marL="0" indent="0">
              <a:lnSpc>
                <a:spcPct val="114999"/>
              </a:lnSpc>
              <a:spcBef>
                <a:spcPts val="0"/>
              </a:spcBef>
              <a:spcAft>
                <a:spcPts val="0"/>
              </a:spcAft>
              <a:buNone/>
            </a:pPr>
            <a:r>
              <a:rPr sz="1400" b="0" i="0" lang="he-IL">
                <a:solidFill>
                  <a:srgbClr val="FFCA6B"/>
                </a:solidFill>
                <a:latin typeface="Courier New"/>
                <a:ea typeface="Courier New"/>
                <a:cs typeface="Courier New"/>
              </a:rPr>
              <a:t>&gt; Supplier C  0.913</a:t>
            </a:r>
          </a:p>
          <a:p>
            <a:pPr rtl="0" algn="l" marL="0" indent="0">
              <a:lnSpc>
                <a:spcPct val="114999"/>
              </a:lnSpc>
              <a:spcBef>
                <a:spcPts val="0"/>
              </a:spcBef>
              <a:spcAft>
                <a:spcPts val="0"/>
              </a:spcAft>
              <a:buNone/>
            </a:pPr>
            <a:r>
              <a:rPr sz="1400" b="0" i="0" lang="he-IL">
                <a:solidFill>
                  <a:srgbClr val="FFCA6B"/>
                </a:solidFill>
                <a:latin typeface="Courier New"/>
                <a:ea typeface="Courier New"/>
                <a:cs typeface="Courier New"/>
              </a:rPr>
              <a:t>&gt; Supplier A  0.823</a:t>
            </a:r>
          </a:p>
          <a:p>
            <a:pPr rtl="0" algn="l" marL="0" indent="0">
              <a:lnSpc>
                <a:spcPct val="114999"/>
              </a:lnSpc>
              <a:spcBef>
                <a:spcPts val="0"/>
              </a:spcBef>
              <a:spcAft>
                <a:spcPts val="0"/>
              </a:spcAft>
              <a:buNone/>
            </a:pPr>
            <a:r>
              <a:rPr sz="1400" b="0" i="0" lang="he-IL">
                <a:solidFill>
                  <a:srgbClr val="FFCA6B"/>
                </a:solidFill>
                <a:latin typeface="Courier New"/>
                <a:ea typeface="Courier New"/>
                <a:cs typeface="Courier New"/>
              </a:rPr>
              <a:t>&gt; Supplier E  0.762</a:t>
            </a:r>
          </a:p>
          <a:p>
            <a:pPr rtl="0" algn="l" marL="0" indent="0">
              <a:lnSpc>
                <a:spcPct val="114999"/>
              </a:lnSpc>
              <a:spcBef>
                <a:spcPts val="0"/>
              </a:spcBef>
              <a:spcAft>
                <a:spcPts val="0"/>
              </a:spcAft>
              <a:buNone/>
            </a:pPr>
            <a:r>
              <a:rPr sz="1400" b="0" i="0" lang="he-IL">
                <a:solidFill>
                  <a:srgbClr val="FFCA6B"/>
                </a:solidFill>
                <a:latin typeface="Courier New"/>
                <a:ea typeface="Courier New"/>
                <a:cs typeface="Courier New"/>
              </a:rPr>
              <a:t>&gt; Supplier G  0.762</a:t>
            </a:r>
          </a:p>
        </p:txBody>
      </p:sp>
      <p:sp>
        <p:nvSpPr>
          <p:cNvPr id="9" name="Rounded Rectangle 8"/>
          <p:cNvSpPr/>
          <p:nvPr/>
        </p:nvSpPr>
        <p:spPr>
          <a:xfrm>
            <a:off x="365760" y="4023360"/>
            <a:ext cx="8412480" cy="868680"/>
          </a:xfrm>
          <a:prstGeom prst="roundRect">
            <a:avLst>
              <a:gd name="adj" fmla="val 12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700" b="1" i="0" lang="he-IL">
                <a:solidFill>
                  <a:srgbClr val="212121"/>
                </a:solidFill>
              </a:rPr>
              <a:t>המסמך שלכם צריך לומר: איך מריצים, מה הארגומנט, איך מחושב הציון. והרצה מתיקייה אחרת נכשלת עם FileNotFoundError.</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11 - מעבדה ג׳ : מה אמור לצאת</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13 דקות</a:t>
            </a:r>
          </a:p>
        </p:txBody>
      </p:sp>
      <p:sp>
        <p:nvSpPr>
          <p:cNvPr id="6" name="TextBox 5"/>
          <p:cNvSpPr txBox="1"/>
          <p:nvPr/>
        </p:nvSpPr>
        <p:spPr>
          <a:xfrm>
            <a:off x="365760" y="1325880"/>
            <a:ext cx="8412480" cy="50292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100" b="1" i="0" lang="he-IL">
                <a:solidFill>
                  <a:srgbClr val="212121"/>
                </a:solidFill>
              </a:rPr>
              <a:t>מה אמור לצאת:</a:t>
            </a:r>
          </a:p>
        </p:txBody>
      </p:sp>
      <p:sp>
        <p:nvSpPr>
          <p:cNvPr id="7" name="Rounded Rectangle 6"/>
          <p:cNvSpPr/>
          <p:nvPr/>
        </p:nvSpPr>
        <p:spPr>
          <a:xfrm>
            <a:off x="6172200" y="2057400"/>
            <a:ext cx="2697480" cy="182880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8" name="Oval 7"/>
          <p:cNvSpPr/>
          <p:nvPr/>
        </p:nvSpPr>
        <p:spPr>
          <a:xfrm>
            <a:off x="7315200" y="1828800"/>
            <a:ext cx="384048" cy="384048"/>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1</a:t>
            </a:r>
          </a:p>
        </p:txBody>
      </p:sp>
      <p:sp>
        <p:nvSpPr>
          <p:cNvPr id="9" name="TextBox 8"/>
          <p:cNvSpPr txBox="1"/>
          <p:nvPr/>
        </p:nvSpPr>
        <p:spPr>
          <a:xfrm>
            <a:off x="6217920"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ההרצה</a:t>
            </a:r>
          </a:p>
        </p:txBody>
      </p:sp>
      <p:sp>
        <p:nvSpPr>
          <p:cNvPr id="10" name="TextBox 9"/>
          <p:cNvSpPr txBox="1"/>
          <p:nvPr/>
        </p:nvSpPr>
        <p:spPr>
          <a:xfrm>
            <a:off x="6309360"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עם הארגומנט 0.7 נכנסים 4 ספקים, ובלי ארגומנט 8 ספקים</a:t>
            </a:r>
          </a:p>
        </p:txBody>
      </p:sp>
      <p:sp>
        <p:nvSpPr>
          <p:cNvPr id="11" name="Rounded Rectangle 10"/>
          <p:cNvSpPr/>
          <p:nvPr/>
        </p:nvSpPr>
        <p:spPr>
          <a:xfrm>
            <a:off x="3246120" y="2057400"/>
            <a:ext cx="2697480" cy="182880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2" name="Oval 11"/>
          <p:cNvSpPr/>
          <p:nvPr/>
        </p:nvSpPr>
        <p:spPr>
          <a:xfrm>
            <a:off x="4389120" y="1828800"/>
            <a:ext cx="384048" cy="384048"/>
          </a:xfrm>
          <a:prstGeom prst="ellipse">
            <a:avLst/>
          </a:prstGeom>
          <a:solidFill>
            <a:srgbClr val="FFAB40"/>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2</a:t>
            </a:r>
          </a:p>
        </p:txBody>
      </p:sp>
      <p:sp>
        <p:nvSpPr>
          <p:cNvPr id="13" name="TextBox 12"/>
          <p:cNvSpPr txBox="1"/>
          <p:nvPr/>
        </p:nvSpPr>
        <p:spPr>
          <a:xfrm>
            <a:off x="329183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המיפוי</a:t>
            </a:r>
          </a:p>
        </p:txBody>
      </p:sp>
      <p:sp>
        <p:nvSpPr>
          <p:cNvPr id="14" name="TextBox 13"/>
          <p:cNvSpPr txBox="1"/>
          <p:nvPr/>
        </p:nvSpPr>
        <p:spPr>
          <a:xfrm>
            <a:off x="338327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4 קבצי קוד, אין בדיקות ואין TODO. בסך הכול 3 פונקציות</a:t>
            </a:r>
          </a:p>
        </p:txBody>
      </p:sp>
      <p:sp>
        <p:nvSpPr>
          <p:cNvPr id="15" name="Rounded Rectangle 14"/>
          <p:cNvSpPr/>
          <p:nvPr/>
        </p:nvSpPr>
        <p:spPr>
          <a:xfrm>
            <a:off x="320039" y="2057400"/>
            <a:ext cx="2697480" cy="1828800"/>
          </a:xfrm>
          <a:prstGeom prst="roundRect">
            <a:avLst>
              <a:gd name="adj" fmla="val 6000"/>
            </a:avLst>
          </a:prstGeom>
          <a:solidFill>
            <a:srgbClr val="DDF2F5"/>
          </a:solidFill>
          <a:ln w="31750">
            <a:solidFill>
              <a:srgbClr val="0097A7"/>
            </a:solidFill>
          </a:ln>
        </p:spPr>
        <p:txBody>
          <a:bodyPr rtlCol="0" anchor="ctr" wrap="square" lIns="73152" rIns="73152" tIns="73152" bIns="73152">
            <a:noAutofit/>
          </a:bodyPr>
          <a:lstStyle/>
          <a:p>
            <a:pPr algn="ctr"/>
          </a:p>
        </p:txBody>
      </p:sp>
      <p:sp>
        <p:nvSpPr>
          <p:cNvPr id="16" name="Oval 15"/>
          <p:cNvSpPr/>
          <p:nvPr/>
        </p:nvSpPr>
        <p:spPr>
          <a:xfrm>
            <a:off x="1463039" y="1828800"/>
            <a:ext cx="384048" cy="384048"/>
          </a:xfrm>
          <a:prstGeom prst="ellipse">
            <a:avLst/>
          </a:prstGeom>
          <a:solidFill>
            <a:srgbClr val="0097A7"/>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3</a:t>
            </a:r>
          </a:p>
        </p:txBody>
      </p:sp>
      <p:sp>
        <p:nvSpPr>
          <p:cNvPr id="17" name="TextBox 16"/>
          <p:cNvSpPr txBox="1"/>
          <p:nvPr/>
        </p:nvSpPr>
        <p:spPr>
          <a:xfrm>
            <a:off x="36575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 מסמך העברה</a:t>
            </a:r>
          </a:p>
        </p:txBody>
      </p:sp>
      <p:sp>
        <p:nvSpPr>
          <p:cNvPr id="18" name="TextBox 17"/>
          <p:cNvSpPr txBox="1"/>
          <p:nvPr/>
        </p:nvSpPr>
        <p:spPr>
          <a:xfrm>
            <a:off x="45719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שישה חלקים, בדיוק 3 סיכונים. הרצה מתיקייה אחרת נכשלת</a:t>
            </a:r>
          </a:p>
        </p:txBody>
      </p:sp>
      <p:sp>
        <p:nvSpPr>
          <p:cNvPr id="19" name="Rounded Rectangle 18"/>
          <p:cNvSpPr/>
          <p:nvPr/>
        </p:nvSpPr>
        <p:spPr>
          <a:xfrm>
            <a:off x="365760" y="4160520"/>
            <a:ext cx="6675120" cy="68580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0" i="0" lang="he-IL">
                <a:solidFill>
                  <a:srgbClr val="212121"/>
                </a:solidFill>
              </a:rPr>
              <a:t>סיכון טוב: נתיב יחסי לתיקיית ההרצה. שאלה חזקה: למה 0.4 הוא משקל זמן האספקה?</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11 - אחרי המחברת : להשלים בבית</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בבית</a:t>
            </a:r>
          </a:p>
        </p:txBody>
      </p:sp>
      <p:sp>
        <p:nvSpPr>
          <p:cNvPr id="6" name="TextBox 5"/>
          <p:cNvSpPr txBox="1"/>
          <p:nvPr/>
        </p:nvSpPr>
        <p:spPr>
          <a:xfrm>
            <a:off x="365760" y="1325880"/>
            <a:ext cx="8412480" cy="50292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100" b="1" i="0" lang="he-IL">
                <a:solidFill>
                  <a:srgbClr val="212121"/>
                </a:solidFill>
              </a:rPr>
              <a:t>מטרה: להשלים את החלקים המומלצים, ולחבר אותם לפרויקט.</a:t>
            </a:r>
          </a:p>
        </p:txBody>
      </p:sp>
      <p:sp>
        <p:nvSpPr>
          <p:cNvPr id="7" name="Rounded Rectangle 6"/>
          <p:cNvSpPr/>
          <p:nvPr/>
        </p:nvSpPr>
        <p:spPr>
          <a:xfrm>
            <a:off x="6172200" y="2057400"/>
            <a:ext cx="2697480" cy="182880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8" name="Oval 7"/>
          <p:cNvSpPr/>
          <p:nvPr/>
        </p:nvSpPr>
        <p:spPr>
          <a:xfrm>
            <a:off x="7315200" y="1828800"/>
            <a:ext cx="384048" cy="384048"/>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1</a:t>
            </a:r>
          </a:p>
        </p:txBody>
      </p:sp>
      <p:sp>
        <p:nvSpPr>
          <p:cNvPr id="9" name="TextBox 8"/>
          <p:cNvSpPr txBox="1"/>
          <p:nvPr/>
        </p:nvSpPr>
        <p:spPr>
          <a:xfrm>
            <a:off x="6217920"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חלק ב׳, שלבים 4 ו־5</a:t>
            </a:r>
          </a:p>
        </p:txBody>
      </p:sp>
      <p:sp>
        <p:nvSpPr>
          <p:cNvPr id="10" name="TextBox 9"/>
          <p:cNvSpPr txBox="1"/>
          <p:nvPr/>
        </p:nvSpPr>
        <p:spPr>
          <a:xfrm>
            <a:off x="6309360"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קבועים עם שם במקום מספרי קסם, וצעד עם עוזר AI</a:t>
            </a:r>
          </a:p>
        </p:txBody>
      </p:sp>
      <p:sp>
        <p:nvSpPr>
          <p:cNvPr id="11" name="Rounded Rectangle 10"/>
          <p:cNvSpPr/>
          <p:nvPr/>
        </p:nvSpPr>
        <p:spPr>
          <a:xfrm>
            <a:off x="3246120" y="2057400"/>
            <a:ext cx="2697480" cy="182880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2" name="Oval 11"/>
          <p:cNvSpPr/>
          <p:nvPr/>
        </p:nvSpPr>
        <p:spPr>
          <a:xfrm>
            <a:off x="4389120" y="1828800"/>
            <a:ext cx="384048" cy="384048"/>
          </a:xfrm>
          <a:prstGeom prst="ellipse">
            <a:avLst/>
          </a:prstGeom>
          <a:solidFill>
            <a:srgbClr val="FFAB40"/>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2</a:t>
            </a:r>
          </a:p>
        </p:txBody>
      </p:sp>
      <p:sp>
        <p:nvSpPr>
          <p:cNvPr id="13" name="TextBox 12"/>
          <p:cNvSpPr txBox="1"/>
          <p:nvPr/>
        </p:nvSpPr>
        <p:spPr>
          <a:xfrm>
            <a:off x="329183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חלק ד׳, שלב 3</a:t>
            </a:r>
          </a:p>
        </p:txBody>
      </p:sp>
      <p:sp>
        <p:nvSpPr>
          <p:cNvPr id="14" name="TextBox 13"/>
          <p:cNvSpPr txBox="1"/>
          <p:nvPr/>
        </p:nvSpPr>
        <p:spPr>
          <a:xfrm>
            <a:off x="338327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מסמך העברה אמיתי למאגר הזר: תיאור, פקודת הרצה, 3 סיכונים, שאלות</a:t>
            </a:r>
          </a:p>
        </p:txBody>
      </p:sp>
      <p:sp>
        <p:nvSpPr>
          <p:cNvPr id="15" name="Rounded Rectangle 14"/>
          <p:cNvSpPr/>
          <p:nvPr/>
        </p:nvSpPr>
        <p:spPr>
          <a:xfrm>
            <a:off x="320039" y="2057400"/>
            <a:ext cx="2697480" cy="1828800"/>
          </a:xfrm>
          <a:prstGeom prst="roundRect">
            <a:avLst>
              <a:gd name="adj" fmla="val 6000"/>
            </a:avLst>
          </a:prstGeom>
          <a:solidFill>
            <a:srgbClr val="DDF2F5"/>
          </a:solidFill>
          <a:ln w="31750">
            <a:solidFill>
              <a:srgbClr val="0097A7"/>
            </a:solidFill>
          </a:ln>
        </p:spPr>
        <p:txBody>
          <a:bodyPr rtlCol="0" anchor="ctr" wrap="square" lIns="73152" rIns="73152" tIns="73152" bIns="73152">
            <a:noAutofit/>
          </a:bodyPr>
          <a:lstStyle/>
          <a:p>
            <a:pPr algn="ctr"/>
          </a:p>
        </p:txBody>
      </p:sp>
      <p:sp>
        <p:nvSpPr>
          <p:cNvPr id="16" name="Oval 15"/>
          <p:cNvSpPr/>
          <p:nvPr/>
        </p:nvSpPr>
        <p:spPr>
          <a:xfrm>
            <a:off x="1463039" y="1828800"/>
            <a:ext cx="384048" cy="384048"/>
          </a:xfrm>
          <a:prstGeom prst="ellipse">
            <a:avLst/>
          </a:prstGeom>
          <a:solidFill>
            <a:srgbClr val="0097A7"/>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3</a:t>
            </a:r>
          </a:p>
        </p:txBody>
      </p:sp>
      <p:sp>
        <p:nvSpPr>
          <p:cNvPr id="17" name="TextBox 16"/>
          <p:cNvSpPr txBox="1"/>
          <p:nvPr/>
        </p:nvSpPr>
        <p:spPr>
          <a:xfrm>
            <a:off x="36575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בונוס: הפרויקט</a:t>
            </a:r>
          </a:p>
        </p:txBody>
      </p:sp>
      <p:sp>
        <p:nvSpPr>
          <p:cNvPr id="18" name="TextBox 17"/>
          <p:cNvSpPr txBox="1"/>
          <p:nvPr/>
        </p:nvSpPr>
        <p:spPr>
          <a:xfrm>
            <a:off x="45719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מריצים את inventory_repo על שניים או שלושה קבצים של הקבוצה</a:t>
            </a:r>
          </a:p>
        </p:txBody>
      </p:sp>
      <p:sp>
        <p:nvSpPr>
          <p:cNvPr id="19" name="Rounded Rectangle 18"/>
          <p:cNvSpPr/>
          <p:nvPr/>
        </p:nvSpPr>
        <p:spPr>
          <a:xfrm>
            <a:off x="365760" y="4160520"/>
            <a:ext cx="6675120" cy="68580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0" i="0" lang="he-IL">
                <a:solidFill>
                  <a:srgbClr val="212121"/>
                </a:solidFill>
              </a:rPr>
              <a:t>בסוף: Runtime ← Restart session and run all, ואז Download .ipynb והגשה.</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11 :</a:t>
            </a:r>
            <a:r>
              <a:rPr sz="3000" b="1" i="0" lang="he-IL">
                <a:solidFill>
                  <a:srgbClr val="212121"/>
                </a:solidFill>
              </a:rPr>
              <a:t>בדיקת מוכנות לפרויקט</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4663440" y="1371600"/>
            <a:ext cx="4114800" cy="749808"/>
          </a:xfrm>
          <a:prstGeom prst="roundRect">
            <a:avLst>
              <a:gd name="adj" fmla="val 12000"/>
            </a:avLst>
          </a:prstGeom>
          <a:solidFill>
            <a:srgbClr val="E1F4E6"/>
          </a:solidFill>
          <a:ln w="25400">
            <a:solidFill>
              <a:srgbClr val="34A853"/>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500" b="0" i="0" lang="he-IL">
                <a:solidFill>
                  <a:srgbClr val="212121"/>
                </a:solidFill>
              </a:rPr>
              <a:t>☐  מפגש 5: כלי נבחר ויומן AI</a:t>
            </a:r>
          </a:p>
        </p:txBody>
      </p:sp>
      <p:sp>
        <p:nvSpPr>
          <p:cNvPr id="6" name="Rounded Rectangle 5"/>
          <p:cNvSpPr/>
          <p:nvPr/>
        </p:nvSpPr>
        <p:spPr>
          <a:xfrm>
            <a:off x="365760" y="1371600"/>
            <a:ext cx="4114800" cy="749808"/>
          </a:xfrm>
          <a:prstGeom prst="roundRect">
            <a:avLst>
              <a:gd name="adj" fmla="val 12000"/>
            </a:avLst>
          </a:prstGeom>
          <a:solidFill>
            <a:srgbClr val="E1F4E6"/>
          </a:solidFill>
          <a:ln w="25400">
            <a:solidFill>
              <a:srgbClr val="34A853"/>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500" b="0" i="0" lang="he-IL">
                <a:solidFill>
                  <a:srgbClr val="212121"/>
                </a:solidFill>
              </a:rPr>
              <a:t>☐  מפגש 6: מאגר עם commits של כולם</a:t>
            </a:r>
          </a:p>
        </p:txBody>
      </p:sp>
      <p:sp>
        <p:nvSpPr>
          <p:cNvPr id="7" name="Rounded Rectangle 6"/>
          <p:cNvSpPr/>
          <p:nvPr/>
        </p:nvSpPr>
        <p:spPr>
          <a:xfrm>
            <a:off x="4663440" y="2240280"/>
            <a:ext cx="4114800" cy="749808"/>
          </a:xfrm>
          <a:prstGeom prst="roundRect">
            <a:avLst>
              <a:gd name="adj" fmla="val 12000"/>
            </a:avLst>
          </a:prstGeom>
          <a:solidFill>
            <a:srgbClr val="E1F4E6"/>
          </a:solidFill>
          <a:ln w="25400">
            <a:solidFill>
              <a:srgbClr val="34A853"/>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500" b="0" i="0" lang="he-IL">
                <a:solidFill>
                  <a:srgbClr val="212121"/>
                </a:solidFill>
              </a:rPr>
              <a:t>☐  מפגש 7: מפרט ו־API או נתונים</a:t>
            </a:r>
          </a:p>
        </p:txBody>
      </p:sp>
      <p:sp>
        <p:nvSpPr>
          <p:cNvPr id="8" name="Rounded Rectangle 7"/>
          <p:cNvSpPr/>
          <p:nvPr/>
        </p:nvSpPr>
        <p:spPr>
          <a:xfrm>
            <a:off x="365760" y="2240280"/>
            <a:ext cx="4114800" cy="749808"/>
          </a:xfrm>
          <a:prstGeom prst="roundRect">
            <a:avLst>
              <a:gd name="adj" fmla="val 12000"/>
            </a:avLst>
          </a:prstGeom>
          <a:solidFill>
            <a:srgbClr val="E1F4E6"/>
          </a:solidFill>
          <a:ln w="25400">
            <a:solidFill>
              <a:srgbClr val="34A853"/>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500" b="0" i="0" lang="he-IL">
                <a:solidFill>
                  <a:srgbClr val="212121"/>
                </a:solidFill>
              </a:rPr>
              <a:t>☐  מפגש 8: בדיקות לפונקציית הליבה</a:t>
            </a:r>
          </a:p>
        </p:txBody>
      </p:sp>
      <p:sp>
        <p:nvSpPr>
          <p:cNvPr id="9" name="Rounded Rectangle 8"/>
          <p:cNvSpPr/>
          <p:nvPr/>
        </p:nvSpPr>
        <p:spPr>
          <a:xfrm>
            <a:off x="4663440" y="3108960"/>
            <a:ext cx="4114800" cy="749808"/>
          </a:xfrm>
          <a:prstGeom prst="roundRect">
            <a:avLst>
              <a:gd name="adj" fmla="val 12000"/>
            </a:avLst>
          </a:prstGeom>
          <a:solidFill>
            <a:srgbClr val="E1F4E6"/>
          </a:solidFill>
          <a:ln w="25400">
            <a:solidFill>
              <a:srgbClr val="34A853"/>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500" b="0" i="0" lang="he-IL">
                <a:solidFill>
                  <a:srgbClr val="212121"/>
                </a:solidFill>
              </a:rPr>
              <a:t>☐  מפגש 9: יומן באגים ותחקיר</a:t>
            </a:r>
          </a:p>
        </p:txBody>
      </p:sp>
      <p:sp>
        <p:nvSpPr>
          <p:cNvPr id="10" name="Rounded Rectangle 9"/>
          <p:cNvSpPr/>
          <p:nvPr/>
        </p:nvSpPr>
        <p:spPr>
          <a:xfrm>
            <a:off x="365760" y="3108960"/>
            <a:ext cx="4114800" cy="749808"/>
          </a:xfrm>
          <a:prstGeom prst="roundRect">
            <a:avLst>
              <a:gd name="adj" fmla="val 12000"/>
            </a:avLst>
          </a:prstGeom>
          <a:solidFill>
            <a:srgbClr val="E1F4E6"/>
          </a:solidFill>
          <a:ln w="25400">
            <a:solidFill>
              <a:srgbClr val="34A853"/>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500" b="0" i="0" lang="he-IL">
                <a:solidFill>
                  <a:srgbClr val="212121"/>
                </a:solidFill>
              </a:rPr>
              <a:t>☐  מפגש 10: כרטיס אבטחה</a:t>
            </a:r>
          </a:p>
        </p:txBody>
      </p:sp>
      <p:sp>
        <p:nvSpPr>
          <p:cNvPr id="11" name="Rounded Rectangle 10"/>
          <p:cNvSpPr/>
          <p:nvPr/>
        </p:nvSpPr>
        <p:spPr>
          <a:xfrm>
            <a:off x="4663440" y="3977639"/>
            <a:ext cx="4114800" cy="749808"/>
          </a:xfrm>
          <a:prstGeom prst="roundRect">
            <a:avLst>
              <a:gd name="adj" fmla="val 12000"/>
            </a:avLst>
          </a:prstGeom>
          <a:solidFill>
            <a:srgbClr val="E1F4E6"/>
          </a:solidFill>
          <a:ln w="25400">
            <a:solidFill>
              <a:srgbClr val="34A853"/>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500" b="0" i="0" lang="he-IL">
                <a:solidFill>
                  <a:srgbClr val="212121"/>
                </a:solidFill>
              </a:rPr>
              <a:t>☐  מפגש 11: README ומסמך העברה</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11 :</a:t>
            </a:r>
            <a:r>
              <a:rPr sz="3000" b="1" i="0" lang="he-IL">
                <a:solidFill>
                  <a:srgbClr val="212121"/>
                </a:solidFill>
              </a:rPr>
              <a:t>הכלל של השיעור</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731520" y="1645920"/>
            <a:ext cx="7680960" cy="2286000"/>
          </a:xfrm>
          <a:prstGeom prst="roundRect">
            <a:avLst>
              <a:gd name="adj" fmla="val 6000"/>
            </a:avLst>
          </a:prstGeom>
          <a:solidFill>
            <a:srgbClr val="E1F4E6"/>
          </a:solidFill>
          <a:ln w="3810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3000" b="1" i="0" lang="he-IL">
                <a:solidFill>
                  <a:srgbClr val="212121"/>
                </a:solidFill>
              </a:rPr>
              <a:t>משנים מבנה רק כשהבדיקות ירוקות,</a:t>
            </a:r>
          </a:p>
          <a:p>
            <a:pPr rtl="1" algn="ctr" marL="0" indent="0">
              <a:lnSpc>
                <a:spcPct val="105000"/>
              </a:lnSpc>
              <a:spcBef>
                <a:spcPts val="0"/>
              </a:spcBef>
              <a:spcAft>
                <a:spcPts val="0"/>
              </a:spcAft>
              <a:buNone/>
            </a:pPr>
            <a:r>
              <a:rPr sz="3000" b="1" i="0" lang="he-IL">
                <a:solidFill>
                  <a:srgbClr val="212121"/>
                </a:solidFill>
              </a:rPr>
              <a:t>ובצעדים קטנים.</a:t>
            </a:r>
          </a:p>
        </p:txBody>
      </p:sp>
      <p:sp>
        <p:nvSpPr>
          <p:cNvPr id="6" name="TextBox 5"/>
          <p:cNvSpPr txBox="1"/>
          <p:nvPr/>
        </p:nvSpPr>
        <p:spPr>
          <a:xfrm>
            <a:off x="731520" y="4114800"/>
            <a:ext cx="7680960" cy="73152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900" b="0" i="0" lang="he-IL">
                <a:solidFill>
                  <a:srgbClr val="595959"/>
                </a:solidFill>
              </a:rPr>
              <a:t>ובקוד של מישהו אחר: קודם מריצים, אחר כך קוראים.</a:t>
            </a:r>
          </a:p>
        </p:txBody>
      </p:sp>
      <p:sp>
        <p:nvSpPr>
          <p:cNvPr id="20" name="TextBox שרשרת"/>
          <p:cNvSpPr txBox="1"/>
          <p:nvPr/>
        </p:nvSpPr>
        <p:spPr>
          <a:xfrm>
            <a:off x="360000" y="4800000"/>
            <a:ext cx="8424000" cy="2600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הכלל נוסף לשרשרת: commit לפני (6), בדיקה ירוקה (8), רגרסיה (9), בלי סודות (10).</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11 :</a:t>
            </a:r>
            <a:r>
              <a:rPr sz="3000" b="1" i="0" lang="he-IL">
                <a:solidFill>
                  <a:srgbClr val="212121"/>
                </a:solidFill>
              </a:rPr>
              <a:t>שאלות</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Oval 4"/>
          <p:cNvSpPr/>
          <p:nvPr/>
        </p:nvSpPr>
        <p:spPr>
          <a:xfrm>
            <a:off x="8412480" y="1472184"/>
            <a:ext cx="457200" cy="457200"/>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600" b="1" i="0" lang="he-IL">
                <a:solidFill>
                  <a:srgbClr val="FFFFFF"/>
                </a:solidFill>
              </a:rPr>
              <a:t>1</a:t>
            </a:r>
          </a:p>
        </p:txBody>
      </p:sp>
      <p:sp>
        <p:nvSpPr>
          <p:cNvPr id="6" name="TextBox 5"/>
          <p:cNvSpPr txBox="1"/>
          <p:nvPr/>
        </p:nvSpPr>
        <p:spPr>
          <a:xfrm>
            <a:off x="365760" y="1371600"/>
            <a:ext cx="7909560" cy="658368"/>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0" i="0" lang="he-IL">
                <a:solidFill>
                  <a:srgbClr val="212121"/>
                </a:solidFill>
              </a:rPr>
              <a:t>מהו Refactoring?</a:t>
            </a:r>
          </a:p>
        </p:txBody>
      </p:sp>
      <p:sp>
        <p:nvSpPr>
          <p:cNvPr id="7" name="Oval 6"/>
          <p:cNvSpPr/>
          <p:nvPr/>
        </p:nvSpPr>
        <p:spPr>
          <a:xfrm>
            <a:off x="8412480" y="2203703"/>
            <a:ext cx="457200" cy="457200"/>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600" b="1" i="0" lang="he-IL">
                <a:solidFill>
                  <a:srgbClr val="FFFFFF"/>
                </a:solidFill>
              </a:rPr>
              <a:t>2</a:t>
            </a:r>
          </a:p>
        </p:txBody>
      </p:sp>
      <p:sp>
        <p:nvSpPr>
          <p:cNvPr id="8" name="TextBox 7"/>
          <p:cNvSpPr txBox="1"/>
          <p:nvPr/>
        </p:nvSpPr>
        <p:spPr>
          <a:xfrm>
            <a:off x="365760" y="2103120"/>
            <a:ext cx="7909560" cy="658368"/>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0" i="0" lang="he-IL">
                <a:solidFill>
                  <a:srgbClr val="212121"/>
                </a:solidFill>
              </a:rPr>
              <a:t>מה רשת הביטחון לפני ארגון מחדש עם AI?</a:t>
            </a:r>
          </a:p>
        </p:txBody>
      </p:sp>
      <p:sp>
        <p:nvSpPr>
          <p:cNvPr id="9" name="Oval 8"/>
          <p:cNvSpPr/>
          <p:nvPr/>
        </p:nvSpPr>
        <p:spPr>
          <a:xfrm>
            <a:off x="8412480" y="2935224"/>
            <a:ext cx="457200" cy="457200"/>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600" b="1" i="0" lang="he-IL">
                <a:solidFill>
                  <a:srgbClr val="FFFFFF"/>
                </a:solidFill>
              </a:rPr>
              <a:t>3</a:t>
            </a:r>
          </a:p>
        </p:txBody>
      </p:sp>
      <p:sp>
        <p:nvSpPr>
          <p:cNvPr id="10" name="TextBox 9"/>
          <p:cNvSpPr txBox="1"/>
          <p:nvPr/>
        </p:nvSpPr>
        <p:spPr>
          <a:xfrm>
            <a:off x="365760" y="2834640"/>
            <a:ext cx="7909560" cy="658368"/>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0" i="0" lang="he-IL">
                <a:solidFill>
                  <a:srgbClr val="212121"/>
                </a:solidFill>
              </a:rPr>
              <a:t>למה לא מחשבים ומדפיסים באותה פונקציה?</a:t>
            </a:r>
          </a:p>
        </p:txBody>
      </p:sp>
      <p:sp>
        <p:nvSpPr>
          <p:cNvPr id="11" name="Oval 10"/>
          <p:cNvSpPr/>
          <p:nvPr/>
        </p:nvSpPr>
        <p:spPr>
          <a:xfrm>
            <a:off x="8412480" y="3666744"/>
            <a:ext cx="457200" cy="457200"/>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600" b="1" i="0" lang="he-IL">
                <a:solidFill>
                  <a:srgbClr val="FFFFFF"/>
                </a:solidFill>
              </a:rPr>
              <a:t>4</a:t>
            </a:r>
          </a:p>
        </p:txBody>
      </p:sp>
      <p:sp>
        <p:nvSpPr>
          <p:cNvPr id="12" name="TextBox 11"/>
          <p:cNvSpPr txBox="1"/>
          <p:nvPr/>
        </p:nvSpPr>
        <p:spPr>
          <a:xfrm>
            <a:off x="365760" y="3566160"/>
            <a:ext cx="7909560" cy="658368"/>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0" i="0" lang="he-IL">
                <a:solidFill>
                  <a:srgbClr val="212121"/>
                </a:solidFill>
              </a:rPr>
              <a:t>מה עלול לקרות לקוד שעבד על 3,000 שורות כשיש 300,000?</a:t>
            </a:r>
          </a:p>
        </p:txBody>
      </p:sp>
      <p:sp>
        <p:nvSpPr>
          <p:cNvPr id="13" name="Oval 12"/>
          <p:cNvSpPr/>
          <p:nvPr/>
        </p:nvSpPr>
        <p:spPr>
          <a:xfrm>
            <a:off x="8412480" y="4398264"/>
            <a:ext cx="457200" cy="457200"/>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600" b="1" i="0" lang="he-IL">
                <a:solidFill>
                  <a:srgbClr val="FFFFFF"/>
                </a:solidFill>
              </a:rPr>
              <a:t>5</a:t>
            </a:r>
          </a:p>
        </p:txBody>
      </p:sp>
      <p:sp>
        <p:nvSpPr>
          <p:cNvPr id="14" name="TextBox 13"/>
          <p:cNvSpPr txBox="1"/>
          <p:nvPr/>
        </p:nvSpPr>
        <p:spPr>
          <a:xfrm>
            <a:off x="365760" y="4297680"/>
            <a:ext cx="7909560" cy="658368"/>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0" i="0" lang="he-IL">
                <a:solidFill>
                  <a:srgbClr val="212121"/>
                </a:solidFill>
              </a:rPr>
              <a:t>מהם שלושת הצעדים הראשונים בקליטת קוד זר?</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11 :</a:t>
            </a:r>
            <a:r>
              <a:rPr sz="3000" b="1" i="0" lang="he-IL">
                <a:solidFill>
                  <a:srgbClr val="212121"/>
                </a:solidFill>
              </a:rPr>
              <a:t>תשובות</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Oval 4"/>
          <p:cNvSpPr/>
          <p:nvPr/>
        </p:nvSpPr>
        <p:spPr>
          <a:xfrm>
            <a:off x="8412480" y="1490472"/>
            <a:ext cx="457200" cy="457200"/>
          </a:xfrm>
          <a:prstGeom prst="ellipse">
            <a:avLst/>
          </a:prstGeom>
          <a:solidFill>
            <a:srgbClr val="34A853"/>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600" b="1" i="0" lang="he-IL">
                <a:solidFill>
                  <a:srgbClr val="FFFFFF"/>
                </a:solidFill>
              </a:rPr>
              <a:t>1</a:t>
            </a:r>
          </a:p>
        </p:txBody>
      </p:sp>
      <p:sp>
        <p:nvSpPr>
          <p:cNvPr id="6" name="TextBox 5"/>
          <p:cNvSpPr txBox="1"/>
          <p:nvPr/>
        </p:nvSpPr>
        <p:spPr>
          <a:xfrm>
            <a:off x="365760" y="1371600"/>
            <a:ext cx="7909560" cy="694944"/>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400" b="0" i="0" lang="he-IL">
                <a:solidFill>
                  <a:srgbClr val="212121"/>
                </a:solidFill>
              </a:rPr>
              <a:t>שינוי מבנה הקוד בלי לשנות את ההתנהגות שלו.</a:t>
            </a:r>
          </a:p>
        </p:txBody>
      </p:sp>
      <p:sp>
        <p:nvSpPr>
          <p:cNvPr id="7" name="Oval 6"/>
          <p:cNvSpPr/>
          <p:nvPr/>
        </p:nvSpPr>
        <p:spPr>
          <a:xfrm>
            <a:off x="8412480" y="2221991"/>
            <a:ext cx="457200" cy="457200"/>
          </a:xfrm>
          <a:prstGeom prst="ellipse">
            <a:avLst/>
          </a:prstGeom>
          <a:solidFill>
            <a:srgbClr val="34A853"/>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600" b="1" i="0" lang="he-IL">
                <a:solidFill>
                  <a:srgbClr val="FFFFFF"/>
                </a:solidFill>
              </a:rPr>
              <a:t>2</a:t>
            </a:r>
          </a:p>
        </p:txBody>
      </p:sp>
      <p:sp>
        <p:nvSpPr>
          <p:cNvPr id="8" name="TextBox 7"/>
          <p:cNvSpPr txBox="1"/>
          <p:nvPr/>
        </p:nvSpPr>
        <p:spPr>
          <a:xfrm>
            <a:off x="365760" y="2103120"/>
            <a:ext cx="7909560" cy="694944"/>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400" b="0" i="0" lang="he-IL">
                <a:solidFill>
                  <a:srgbClr val="212121"/>
                </a:solidFill>
              </a:rPr>
              <a:t>בדיקות ירוקות ו־commit לפני כל צעד.</a:t>
            </a:r>
          </a:p>
        </p:txBody>
      </p:sp>
      <p:sp>
        <p:nvSpPr>
          <p:cNvPr id="9" name="Oval 8"/>
          <p:cNvSpPr/>
          <p:nvPr/>
        </p:nvSpPr>
        <p:spPr>
          <a:xfrm>
            <a:off x="8412480" y="2953512"/>
            <a:ext cx="457200" cy="457200"/>
          </a:xfrm>
          <a:prstGeom prst="ellipse">
            <a:avLst/>
          </a:prstGeom>
          <a:solidFill>
            <a:srgbClr val="34A853"/>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600" b="1" i="0" lang="he-IL">
                <a:solidFill>
                  <a:srgbClr val="FFFFFF"/>
                </a:solidFill>
              </a:rPr>
              <a:t>3</a:t>
            </a:r>
          </a:p>
        </p:txBody>
      </p:sp>
      <p:sp>
        <p:nvSpPr>
          <p:cNvPr id="10" name="TextBox 9"/>
          <p:cNvSpPr txBox="1"/>
          <p:nvPr/>
        </p:nvSpPr>
        <p:spPr>
          <a:xfrm>
            <a:off x="365760" y="2834640"/>
            <a:ext cx="7909560" cy="694944"/>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400" b="0" i="0" lang="he-IL">
                <a:solidFill>
                  <a:srgbClr val="212121"/>
                </a:solidFill>
              </a:rPr>
              <a:t>קשה לבדוק ולשנות. מפרידים לנתונים, לוגיקה וממשק.</a:t>
            </a:r>
          </a:p>
        </p:txBody>
      </p:sp>
      <p:sp>
        <p:nvSpPr>
          <p:cNvPr id="11" name="Oval 10"/>
          <p:cNvSpPr/>
          <p:nvPr/>
        </p:nvSpPr>
        <p:spPr>
          <a:xfrm>
            <a:off x="8412480" y="3685032"/>
            <a:ext cx="457200" cy="457200"/>
          </a:xfrm>
          <a:prstGeom prst="ellipse">
            <a:avLst/>
          </a:prstGeom>
          <a:solidFill>
            <a:srgbClr val="34A853"/>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600" b="1" i="0" lang="he-IL">
                <a:solidFill>
                  <a:srgbClr val="FFFFFF"/>
                </a:solidFill>
              </a:rPr>
              <a:t>4</a:t>
            </a:r>
          </a:p>
        </p:txBody>
      </p:sp>
      <p:sp>
        <p:nvSpPr>
          <p:cNvPr id="12" name="TextBox 11"/>
          <p:cNvSpPr txBox="1"/>
          <p:nvPr/>
        </p:nvSpPr>
        <p:spPr>
          <a:xfrm>
            <a:off x="365760" y="3566160"/>
            <a:ext cx="7909560" cy="694944"/>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400" b="0" i="0" lang="he-IL">
                <a:solidFill>
                  <a:srgbClr val="212121"/>
                </a:solidFill>
              </a:rPr>
              <a:t>לולאה על שורות עלולה להיות איטית מאוד (בדוגמה 3.8 שניות). בודקים קנה מידה מוקדם.</a:t>
            </a:r>
          </a:p>
        </p:txBody>
      </p:sp>
      <p:sp>
        <p:nvSpPr>
          <p:cNvPr id="13" name="Oval 12"/>
          <p:cNvSpPr/>
          <p:nvPr/>
        </p:nvSpPr>
        <p:spPr>
          <a:xfrm>
            <a:off x="8412480" y="4416552"/>
            <a:ext cx="457200" cy="457200"/>
          </a:xfrm>
          <a:prstGeom prst="ellipse">
            <a:avLst/>
          </a:prstGeom>
          <a:solidFill>
            <a:srgbClr val="34A853"/>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600" b="1" i="0" lang="he-IL">
                <a:solidFill>
                  <a:srgbClr val="FFFFFF"/>
                </a:solidFill>
              </a:rPr>
              <a:t>5</a:t>
            </a:r>
          </a:p>
        </p:txBody>
      </p:sp>
      <p:sp>
        <p:nvSpPr>
          <p:cNvPr id="14" name="TextBox 13"/>
          <p:cNvSpPr txBox="1"/>
          <p:nvPr/>
        </p:nvSpPr>
        <p:spPr>
          <a:xfrm>
            <a:off x="365760" y="4297680"/>
            <a:ext cx="7909560" cy="694944"/>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400" b="0" i="0" lang="he-IL">
                <a:solidFill>
                  <a:srgbClr val="212121"/>
                </a:solidFill>
              </a:rPr>
              <a:t>README והרצה, מיפוי מבנה ונקודת כניסה, ומעקב אחר זרימה אחת.</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11 :</a:t>
            </a:r>
            <a:r>
              <a:rPr sz="3000" b="1" i="0" lang="he-IL">
                <a:solidFill>
                  <a:srgbClr val="212121"/>
                </a:solidFill>
              </a:rPr>
              <a:t>סיכום</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TextBox 4"/>
          <p:cNvSpPr txBox="1"/>
          <p:nvPr/>
        </p:nvSpPr>
        <p:spPr>
          <a:xfrm>
            <a:off x="365760" y="1371600"/>
            <a:ext cx="8412480" cy="3657600"/>
          </a:xfrm>
          <a:prstGeom prst="rect">
            <a:avLst/>
          </a:prstGeom>
          <a:noFill/>
        </p:spPr>
        <p:txBody>
          <a:bodyPr wrap="square" lIns="73152" rIns="73152" tIns="73152" bIns="73152" anchor="t">
            <a:noAutofit/>
          </a:bodyPr>
          <a:lstStyle/>
          <a:p>
            <a:pPr rtl="1" algn="r" marL="347472" indent="-292608">
              <a:lnSpc>
                <a:spcPct val="114999"/>
              </a:lnSpc>
              <a:spcBef>
                <a:spcPts val="0"/>
              </a:spcBef>
              <a:spcAft>
                <a:spcPts val="800"/>
              </a:spcAft>
              <a:buClr>
                <a:srgbClr val="212121"/>
              </a:buClr>
              <a:buSzPts val="1680"/>
              <a:buChar char="●"/>
            </a:pPr>
            <a:r>
              <a:rPr sz="2100" b="0" i="0" lang="he-IL">
                <a:solidFill>
                  <a:srgbClr val="212121"/>
                </a:solidFill>
              </a:rPr>
              <a:t>Refactoring: אותו פלט, מבנה טוב יותר. בצעדים קטנים, עם בדיקות ו־commit.</a:t>
            </a:r>
          </a:p>
          <a:p>
            <a:pPr rtl="1" algn="r" marL="347472" indent="-292608">
              <a:lnSpc>
                <a:spcPct val="114999"/>
              </a:lnSpc>
              <a:spcBef>
                <a:spcPts val="0"/>
              </a:spcBef>
              <a:spcAft>
                <a:spcPts val="800"/>
              </a:spcAft>
              <a:buClr>
                <a:srgbClr val="212121"/>
              </a:buClr>
              <a:buSzPts val="1680"/>
              <a:buChar char="●"/>
            </a:pPr>
            <a:r>
              <a:rPr sz="2100" b="0" i="0" lang="he-IL">
                <a:solidFill>
                  <a:srgbClr val="212121"/>
                </a:solidFill>
              </a:rPr>
              <a:t>שלוש שכבות: ממשק, לוגיקה, נתונים. התלות בכיוון אחד, ולכל פונקציה API ברור.</a:t>
            </a:r>
          </a:p>
          <a:p>
            <a:pPr rtl="1" algn="r" marL="347472" indent="-292608">
              <a:lnSpc>
                <a:spcPct val="114999"/>
              </a:lnSpc>
              <a:spcBef>
                <a:spcPts val="0"/>
              </a:spcBef>
              <a:spcAft>
                <a:spcPts val="800"/>
              </a:spcAft>
              <a:buClr>
                <a:srgbClr val="212121"/>
              </a:buClr>
              <a:buSzPts val="1680"/>
              <a:buChar char="●"/>
            </a:pPr>
            <a:r>
              <a:rPr sz="2100" b="0" i="0" lang="he-IL">
                <a:solidFill>
                  <a:srgbClr val="212121"/>
                </a:solidFill>
              </a:rPr>
              <a:t>קוד שעובד על 3,000 שורות עלול להיכשל על 300,000. בודקים קנה מידה.</a:t>
            </a:r>
          </a:p>
          <a:p>
            <a:pPr rtl="1" algn="r" marL="347472" indent="-292608">
              <a:lnSpc>
                <a:spcPct val="114999"/>
              </a:lnSpc>
              <a:spcBef>
                <a:spcPts val="0"/>
              </a:spcBef>
              <a:spcAft>
                <a:spcPts val="800"/>
              </a:spcAft>
              <a:buClr>
                <a:srgbClr val="212121"/>
              </a:buClr>
              <a:buSzPts val="1680"/>
              <a:buChar char="●"/>
            </a:pPr>
            <a:r>
              <a:rPr sz="2100" b="0" i="0" lang="he-IL">
                <a:solidFill>
                  <a:srgbClr val="212121"/>
                </a:solidFill>
              </a:rPr>
              <a:t>קליטת קוד זר: להריץ, למפות, לעקוב אחר זרימה, ולכתוב מסמך העברה.</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11 :מקורות להעמקה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graphicFrame>
        <p:nvGraphicFramePr>
          <p:cNvPr id="5" name="Table 4"/>
          <p:cNvGraphicFramePr>
            <a:graphicFrameLocks noGrp="1"/>
          </p:cNvGraphicFramePr>
          <p:nvPr/>
        </p:nvGraphicFramePr>
        <p:xfrm>
          <a:off x="360000" y="1296000"/>
          <a:ext cx="8424000" cy="3348000"/>
        </p:xfrm>
        <a:graphic>
          <a:graphicData uri="http://schemas.openxmlformats.org/drawingml/2006/table">
            <a:tbl>
              <a:tblPr firstRow="0" bandRow="0">
                <a:tableStyleId>{2D5ABB26-0587-4C30-8999-92F81FD0307C}</a:tableStyleId>
              </a:tblPr>
              <a:tblGrid>
                <a:gridCol w="7128000"/>
                <a:gridCol w="1296000"/>
              </a:tblGrid>
              <a:tr h="324000">
                <a:tc>
                  <a:txBody>
                    <a:bodyPr wrap="square"/>
                    <a:lstStyle/>
                    <a:p>
                      <a:pPr rtl="0" algn="ctr" marL="0" indent="0">
                        <a:lnSpc>
                          <a:spcPct val="100000"/>
                        </a:lnSpc>
                        <a:spcBef>
                          <a:spcPts val="0"/>
                        </a:spcBef>
                        <a:spcAft>
                          <a:spcPts val="0"/>
                        </a:spcAft>
                        <a:buNone/>
                      </a:pPr>
                      <a:r>
                        <a:rPr sz="1300" b="1" i="0" lang="he-IL">
                          <a:solidFill>
                            <a:srgbClr val="212121"/>
                          </a:solidFill>
                        </a:rPr>
                        <a:t>מקור</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1" algn="ctr" marL="0" indent="0">
                        <a:lnSpc>
                          <a:spcPct val="100000"/>
                        </a:lnSpc>
                        <a:spcBef>
                          <a:spcPts val="0"/>
                        </a:spcBef>
                        <a:spcAft>
                          <a:spcPts val="0"/>
                        </a:spcAft>
                        <a:buNone/>
                      </a:pPr>
                      <a:r>
                        <a:rPr sz="1300" b="1" i="0" lang="he-IL">
                          <a:solidFill>
                            <a:srgbClr val="212121"/>
                          </a:solidFill>
                        </a:rPr>
                        <a:t>נושא</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r>
              <a:tr h="378000">
                <a:tc>
                  <a:txBody>
                    <a:bodyPr wrap="square"/>
                    <a:lstStyle/>
                    <a:p>
                      <a:pPr rtl="0" algn="l" marL="0" indent="0">
                        <a:lnSpc>
                          <a:spcPct val="100000"/>
                        </a:lnSpc>
                        <a:spcBef>
                          <a:spcPts val="0"/>
                        </a:spcBef>
                        <a:spcAft>
                          <a:spcPts val="0"/>
                        </a:spcAft>
                        <a:buNone/>
                      </a:pPr>
                      <a:r>
                        <a:rPr sz="1300" b="0" i="0" lang="he-IL">
                          <a:solidFill>
                            <a:srgbClr val="212121"/>
                          </a:solidFill>
                        </a:rPr>
                        <a:t>Fowler, M. (2018). Refactoring: Improving the Design of Existing Code (2nd ed.). Addison-Wesley.</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300" b="1" i="0" lang="he-IL">
                          <a:solidFill>
                            <a:srgbClr val="212121"/>
                          </a:solidFill>
                        </a:rPr>
                        <a:t>Refactoring</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378000">
                <a:tc>
                  <a:txBody>
                    <a:bodyPr wrap="square"/>
                    <a:lstStyle/>
                    <a:p>
                      <a:pPr rtl="0" algn="l" marL="0" indent="0">
                        <a:lnSpc>
                          <a:spcPct val="100000"/>
                        </a:lnSpc>
                        <a:spcBef>
                          <a:spcPts val="0"/>
                        </a:spcBef>
                        <a:spcAft>
                          <a:spcPts val="0"/>
                        </a:spcAft>
                        <a:buNone/>
                      </a:pPr>
                      <a:r>
                        <a:rPr sz="1300" b="0" i="0" lang="he-IL">
                          <a:solidFill>
                            <a:srgbClr val="212121"/>
                          </a:solidFill>
                        </a:rPr>
                        <a:t>Feathers, M. (2004). Working Effectively with Legacy Code. Prentice Hall.</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300" b="1" i="0" lang="he-IL">
                          <a:solidFill>
                            <a:srgbClr val="212121"/>
                          </a:solidFill>
                        </a:rPr>
                        <a:t>מבחני אפיון</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378000">
                <a:tc>
                  <a:txBody>
                    <a:bodyPr wrap="square"/>
                    <a:lstStyle/>
                    <a:p>
                      <a:pPr rtl="0" algn="l" marL="0" indent="0">
                        <a:lnSpc>
                          <a:spcPct val="100000"/>
                        </a:lnSpc>
                        <a:spcBef>
                          <a:spcPts val="0"/>
                        </a:spcBef>
                        <a:spcAft>
                          <a:spcPts val="0"/>
                        </a:spcAft>
                        <a:buNone/>
                      </a:pPr>
                      <a:r>
                        <a:rPr sz="1300" b="0" i="0" lang="he-IL">
                          <a:solidFill>
                            <a:srgbClr val="212121"/>
                          </a:solidFill>
                        </a:rPr>
                        <a:t>Cunningham, W. (1992). The WyCash Portfolio Management System. OOPSLA '92. c2.com/doc/oopsla92</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300" b="1" i="0" lang="he-IL">
                          <a:solidFill>
                            <a:srgbClr val="212121"/>
                          </a:solidFill>
                        </a:rPr>
                        <a:t>חוב טכני</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378000">
                <a:tc>
                  <a:txBody>
                    <a:bodyPr wrap="square"/>
                    <a:lstStyle/>
                    <a:p>
                      <a:pPr rtl="0" algn="l" marL="0" indent="0">
                        <a:lnSpc>
                          <a:spcPct val="100000"/>
                        </a:lnSpc>
                        <a:spcBef>
                          <a:spcPts val="0"/>
                        </a:spcBef>
                        <a:spcAft>
                          <a:spcPts val="0"/>
                        </a:spcAft>
                        <a:buNone/>
                      </a:pPr>
                      <a:r>
                        <a:rPr sz="1300" b="0" i="0" lang="he-IL">
                          <a:solidFill>
                            <a:srgbClr val="212121"/>
                          </a:solidFill>
                        </a:rPr>
                        <a:t>Conway, M. (1968). How Do Committees Invent? Datamation 14(4). melconway.com</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300" b="1" i="0" lang="he-IL">
                          <a:solidFill>
                            <a:srgbClr val="212121"/>
                          </a:solidFill>
                        </a:rPr>
                        <a:t>חוק Conway</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378000">
                <a:tc>
                  <a:txBody>
                    <a:bodyPr wrap="square"/>
                    <a:lstStyle/>
                    <a:p>
                      <a:pPr rtl="0" algn="l" marL="0" indent="0">
                        <a:lnSpc>
                          <a:spcPct val="100000"/>
                        </a:lnSpc>
                        <a:spcBef>
                          <a:spcPts val="0"/>
                        </a:spcBef>
                        <a:spcAft>
                          <a:spcPts val="0"/>
                        </a:spcAft>
                        <a:buNone/>
                      </a:pPr>
                      <a:r>
                        <a:rPr sz="1300" b="0" i="0" lang="he-IL">
                          <a:solidFill>
                            <a:srgbClr val="212121"/>
                          </a:solidFill>
                        </a:rPr>
                        <a:t>Nygard, M. (2011). Documenting Architecture Decisions. cognitect.com/blog</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300" b="1" i="0" lang="he-IL">
                          <a:solidFill>
                            <a:srgbClr val="212121"/>
                          </a:solidFill>
                        </a:rPr>
                        <a:t>מסמכי החלטה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378000">
                <a:tc>
                  <a:txBody>
                    <a:bodyPr wrap="square"/>
                    <a:lstStyle/>
                    <a:p>
                      <a:pPr rtl="0" algn="l" marL="0" indent="0">
                        <a:lnSpc>
                          <a:spcPct val="100000"/>
                        </a:lnSpc>
                        <a:spcBef>
                          <a:spcPts val="0"/>
                        </a:spcBef>
                        <a:spcAft>
                          <a:spcPts val="0"/>
                        </a:spcAft>
                        <a:buNone/>
                      </a:pPr>
                      <a:r>
                        <a:rPr sz="1300" b="0" i="0" lang="he-IL">
                          <a:solidFill>
                            <a:srgbClr val="212121"/>
                          </a:solidFill>
                        </a:rPr>
                        <a:t>Xia, X. et al. (2018). Measuring Program Comprehension: A Large-Scale Field Study with Professionals. IEEE TSE 44(10).</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300" b="1" i="0" lang="he-IL">
                          <a:solidFill>
                            <a:srgbClr val="212121"/>
                          </a:solidFill>
                        </a:rPr>
                        <a:t>קריאת קוד</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378000">
                <a:tc>
                  <a:txBody>
                    <a:bodyPr wrap="square"/>
                    <a:lstStyle/>
                    <a:p>
                      <a:pPr rtl="0" algn="l" marL="0" indent="0">
                        <a:lnSpc>
                          <a:spcPct val="100000"/>
                        </a:lnSpc>
                        <a:spcBef>
                          <a:spcPts val="0"/>
                        </a:spcBef>
                        <a:spcAft>
                          <a:spcPts val="0"/>
                        </a:spcAft>
                        <a:buNone/>
                      </a:pPr>
                      <a:r>
                        <a:rPr sz="1300" b="0" i="0" lang="he-IL">
                          <a:solidFill>
                            <a:srgbClr val="212121"/>
                          </a:solidFill>
                        </a:rPr>
                        <a:t>Cordeiro, J., Noei, S., Zou, Y. (2024). An Empirical Study on the Code Refactoring Capability of Large Language Models. arXiv:2411.02320</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300" b="1" i="0" lang="he-IL">
                          <a:solidFill>
                            <a:srgbClr val="212121"/>
                          </a:solidFill>
                        </a:rPr>
                        <a:t>AI: Refactoring</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378000">
                <a:tc>
                  <a:txBody>
                    <a:bodyPr wrap="square"/>
                    <a:lstStyle/>
                    <a:p>
                      <a:pPr rtl="0" algn="l" marL="0" indent="0">
                        <a:lnSpc>
                          <a:spcPct val="100000"/>
                        </a:lnSpc>
                        <a:spcBef>
                          <a:spcPts val="0"/>
                        </a:spcBef>
                        <a:spcAft>
                          <a:spcPts val="0"/>
                        </a:spcAft>
                        <a:buNone/>
                      </a:pPr>
                      <a:r>
                        <a:rPr sz="1300" b="0" i="0" lang="he-IL">
                          <a:solidFill>
                            <a:srgbClr val="212121"/>
                          </a:solidFill>
                        </a:rPr>
                        <a:t>DORA (2024). Impact of Generative AI in Software Development. dora.dev/research/ai/gen-ai-report</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300" b="1" i="0" lang="he-IL">
                          <a:solidFill>
                            <a:srgbClr val="212121"/>
                          </a:solidFill>
                        </a:rPr>
                        <a:t>AI: יציבות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bl>
          </a:graphicData>
        </a:graphic>
      </p:graphicFrame>
      <p:sp>
        <p:nvSpPr>
          <p:cNvPr id="6" name="Tag העשרה"/>
          <p:cNvSpPr/>
          <p:nvPr/>
        </p:nvSpPr>
        <p:spPr>
          <a:xfrm>
            <a:off x="109728" y="91440"/>
            <a:ext cx="1417320" cy="384048"/>
          </a:xfrm>
          <a:prstGeom prst="roundRect">
            <a:avLst>
              <a:gd name="adj" fmla="val 40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העשרה</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11 :</a:t>
            </a:r>
            <a:r>
              <a:rPr sz="3000" b="1" i="0" lang="he-IL">
                <a:solidFill>
                  <a:srgbClr val="212121"/>
                </a:solidFill>
              </a:rPr>
              <a:t>הכנה למפגש הבא</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365760" y="1417320"/>
            <a:ext cx="8412480" cy="640080"/>
          </a:xfrm>
          <a:prstGeom prst="roundRect">
            <a:avLst>
              <a:gd name="adj" fmla="val 10000"/>
            </a:avLst>
          </a:prstGeom>
          <a:solidFill>
            <a:srgbClr val="E1F4E6"/>
          </a:solidFill>
          <a:ln w="19050">
            <a:solidFill>
              <a:srgbClr val="34A853"/>
            </a:solidFill>
          </a:ln>
        </p:spPr>
        <p:txBody>
          <a:bodyPr rtlCol="0" anchor="ctr" wrap="square" lIns="73152" rIns="73152" tIns="73152" bIns="73152">
            <a:noAutofit/>
          </a:bodyPr>
          <a:lstStyle/>
          <a:p>
            <a:pPr algn="ctr"/>
          </a:p>
        </p:txBody>
      </p:sp>
      <p:sp>
        <p:nvSpPr>
          <p:cNvPr id="6" name="TextBox 5"/>
          <p:cNvSpPr txBox="1"/>
          <p:nvPr/>
        </p:nvSpPr>
        <p:spPr>
          <a:xfrm>
            <a:off x="7772400" y="1417320"/>
            <a:ext cx="9144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2400" b="0" i="0" lang="he-IL">
                <a:solidFill>
                  <a:srgbClr val="212121"/>
                </a:solidFill>
              </a:rPr>
              <a:t>📝</a:t>
            </a:r>
          </a:p>
        </p:txBody>
      </p:sp>
      <p:sp>
        <p:nvSpPr>
          <p:cNvPr id="7" name="TextBox 6"/>
          <p:cNvSpPr txBox="1"/>
          <p:nvPr/>
        </p:nvSpPr>
        <p:spPr>
          <a:xfrm>
            <a:off x="457200" y="1417320"/>
            <a:ext cx="731520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0" i="0" lang="he-IL">
                <a:solidFill>
                  <a:srgbClr val="212121"/>
                </a:solidFill>
              </a:rPr>
              <a:t>להשלים README ומסמך העברה לפרויקט</a:t>
            </a:r>
          </a:p>
        </p:txBody>
      </p:sp>
      <p:sp>
        <p:nvSpPr>
          <p:cNvPr id="8" name="Rounded Rectangle 7"/>
          <p:cNvSpPr/>
          <p:nvPr/>
        </p:nvSpPr>
        <p:spPr>
          <a:xfrm>
            <a:off x="365760" y="2194560"/>
            <a:ext cx="8412480" cy="640080"/>
          </a:xfrm>
          <a:prstGeom prst="roundRect">
            <a:avLst>
              <a:gd name="adj" fmla="val 10000"/>
            </a:avLst>
          </a:prstGeom>
          <a:solidFill>
            <a:srgbClr val="E1F4E6"/>
          </a:solidFill>
          <a:ln w="19050">
            <a:solidFill>
              <a:srgbClr val="34A853"/>
            </a:solidFill>
          </a:ln>
        </p:spPr>
        <p:txBody>
          <a:bodyPr rtlCol="0" anchor="ctr" wrap="square" lIns="73152" rIns="73152" tIns="73152" bIns="73152">
            <a:noAutofit/>
          </a:bodyPr>
          <a:lstStyle/>
          <a:p>
            <a:pPr algn="ctr"/>
          </a:p>
        </p:txBody>
      </p:sp>
      <p:sp>
        <p:nvSpPr>
          <p:cNvPr id="9" name="TextBox 8"/>
          <p:cNvSpPr txBox="1"/>
          <p:nvPr/>
        </p:nvSpPr>
        <p:spPr>
          <a:xfrm>
            <a:off x="7772400" y="2194560"/>
            <a:ext cx="9144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2400" b="0" i="0" lang="he-IL">
                <a:solidFill>
                  <a:srgbClr val="212121"/>
                </a:solidFill>
              </a:rPr>
              <a:t>✅</a:t>
            </a:r>
          </a:p>
        </p:txBody>
      </p:sp>
      <p:sp>
        <p:nvSpPr>
          <p:cNvPr id="10" name="TextBox 9"/>
          <p:cNvSpPr txBox="1"/>
          <p:nvPr/>
        </p:nvSpPr>
        <p:spPr>
          <a:xfrm>
            <a:off x="457200" y="2194560"/>
            <a:ext cx="731520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0" i="0" lang="he-IL">
                <a:solidFill>
                  <a:srgbClr val="212121"/>
                </a:solidFill>
              </a:rPr>
              <a:t>לעבור על בדיקת המוכנות עם הקבוצה</a:t>
            </a:r>
          </a:p>
        </p:txBody>
      </p:sp>
      <p:sp>
        <p:nvSpPr>
          <p:cNvPr id="11" name="Rounded Rectangle 10"/>
          <p:cNvSpPr/>
          <p:nvPr/>
        </p:nvSpPr>
        <p:spPr>
          <a:xfrm>
            <a:off x="365760" y="2971800"/>
            <a:ext cx="8412480" cy="640080"/>
          </a:xfrm>
          <a:prstGeom prst="roundRect">
            <a:avLst>
              <a:gd name="adj" fmla="val 10000"/>
            </a:avLst>
          </a:prstGeom>
          <a:solidFill>
            <a:srgbClr val="E1F4E6"/>
          </a:solidFill>
          <a:ln w="19050">
            <a:solidFill>
              <a:srgbClr val="34A853"/>
            </a:solidFill>
          </a:ln>
        </p:spPr>
        <p:txBody>
          <a:bodyPr rtlCol="0" anchor="ctr" wrap="square" lIns="73152" rIns="73152" tIns="73152" bIns="73152">
            <a:noAutofit/>
          </a:bodyPr>
          <a:lstStyle/>
          <a:p>
            <a:pPr algn="ctr"/>
          </a:p>
        </p:txBody>
      </p:sp>
      <p:sp>
        <p:nvSpPr>
          <p:cNvPr id="12" name="TextBox 11"/>
          <p:cNvSpPr txBox="1"/>
          <p:nvPr/>
        </p:nvSpPr>
        <p:spPr>
          <a:xfrm>
            <a:off x="7772400" y="2971800"/>
            <a:ext cx="9144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2400" b="0" i="0" lang="he-IL">
                <a:solidFill>
                  <a:srgbClr val="212121"/>
                </a:solidFill>
              </a:rPr>
              <a:t>🚀</a:t>
            </a:r>
          </a:p>
        </p:txBody>
      </p:sp>
      <p:sp>
        <p:nvSpPr>
          <p:cNvPr id="13" name="TextBox 12"/>
          <p:cNvSpPr txBox="1"/>
          <p:nvPr/>
        </p:nvSpPr>
        <p:spPr>
          <a:xfrm>
            <a:off x="457200" y="2971800"/>
            <a:ext cx="731520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0" i="0" lang="he-IL">
                <a:solidFill>
                  <a:srgbClr val="212121"/>
                </a:solidFill>
              </a:rPr>
              <a:t>לחשוב איך הפרויקט יעלה לאוויר</a:t>
            </a:r>
          </a:p>
        </p:txBody>
      </p:sp>
      <p:sp>
        <p:nvSpPr>
          <p:cNvPr id="14" name="Rounded Rectangle 13"/>
          <p:cNvSpPr/>
          <p:nvPr/>
        </p:nvSpPr>
        <p:spPr>
          <a:xfrm>
            <a:off x="365760" y="3840480"/>
            <a:ext cx="8412480" cy="1097280"/>
          </a:xfrm>
          <a:prstGeom prst="roundRect">
            <a:avLst>
              <a:gd name="adj" fmla="val 12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2000" b="1" i="0" lang="he-IL">
                <a:solidFill>
                  <a:srgbClr val="212121"/>
                </a:solidFill>
              </a:rPr>
              <a:t>בשיעור הבא: Deployment, אתיקה ומשפט</a:t>
            </a:r>
          </a:p>
          <a:p>
            <a:pPr rtl="1" algn="ctr" marL="0" indent="0">
              <a:lnSpc>
                <a:spcPct val="105000"/>
              </a:lnSpc>
              <a:spcBef>
                <a:spcPts val="0"/>
              </a:spcBef>
              <a:spcAft>
                <a:spcPts val="0"/>
              </a:spcAft>
              <a:buNone/>
            </a:pPr>
            <a:r>
              <a:rPr sz="1600" b="0" i="0" lang="he-IL">
                <a:solidFill>
                  <a:srgbClr val="595959"/>
                </a:solidFill>
              </a:rPr>
              <a:t>מהקוד לעולם האמיתי: פריסה, זכויות יוצרים ומדיניות. README, מסמך ההעברה וכרטיס האבטחה (10) נכנסים לצ׳קליסט לפני חשיפה.</a:t>
            </a: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