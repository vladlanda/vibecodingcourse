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58" r:id="rId10"/>
    <p:sldId id="359" r:id="rId9"/>
    <p:sldId id="259" r:id="rId14"/>
    <p:sldId id="260" r:id="rId15"/>
    <p:sldId id="261" r:id="rId16"/>
    <p:sldId id="344" r:id="rId83"/>
    <p:sldId id="263" r:id="rId18"/>
    <p:sldId id="283" r:id="rId38"/>
    <p:sldId id="284" r:id="rId39"/>
    <p:sldId id="264" r:id="rId19"/>
    <p:sldId id="265" r:id="rId20"/>
    <p:sldId id="266" r:id="rId21"/>
    <p:sldId id="267" r:id="rId22"/>
    <p:sldId id="268" r:id="rId23"/>
    <p:sldId id="269" r:id="rId24"/>
    <p:sldId id="360" r:id="rId99"/>
    <p:sldId id="275" r:id="rId30"/>
    <p:sldId id="342" r:id="rId97"/>
    <p:sldId id="285" r:id="rId40"/>
    <p:sldId id="286" r:id="rId41"/>
    <p:sldId id="287" r:id="rId42"/>
    <p:sldId id="288" r:id="rId43"/>
    <p:sldId id="289" r:id="rId44"/>
    <p:sldId id="290" r:id="rId45"/>
    <p:sldId id="345" r:id="rId84"/>
    <p:sldId id="291" r:id="rId46"/>
    <p:sldId id="361" r:id="rId100"/>
    <p:sldId id="298" r:id="rId53"/>
    <p:sldId id="343" r:id="rId98"/>
    <p:sldId id="304" r:id="rId8"/>
    <p:sldId id="305" r:id="rId7"/>
    <p:sldId id="306" r:id="rId61"/>
    <p:sldId id="307" r:id="rId62"/>
    <p:sldId id="308" r:id="rId63"/>
    <p:sldId id="309" r:id="rId64"/>
    <p:sldId id="312" r:id="rId67"/>
    <p:sldId id="313" r:id="rId68"/>
    <p:sldId id="314" r:id="rId69"/>
    <p:sldId id="315" r:id="rId70"/>
    <p:sldId id="316" r:id="rId71"/>
    <p:sldId id="317" r:id="rId72"/>
    <p:sldId id="318" r:id="rId73"/>
    <p:sldId id="322" r:id="rId77"/>
    <p:sldId id="323" r:id="rId78"/>
    <p:sldId id="324" r:id="rId79"/>
    <p:sldId id="325" r:id="rId80"/>
    <p:sldId id="293" r:id="rId48"/>
    <p:sldId id="296" r:id="rId51"/>
    <p:sldId id="297" r:id="rId52"/>
    <p:sldId id="294" r:id="rId49"/>
    <p:sldId id="362" r:id="rId101"/>
    <p:sldId id="326" r:id="rId81"/>
    <p:sldId id="339" r:id="rId94"/>
    <p:sldId id="340" r:id="rId95"/>
    <p:sldId id="341" r:id="rId96"/>
    <p:sldId id="346" r:id="rId85"/>
    <p:sldId id="262" r:id="rId17"/>
    <p:sldId id="347" r:id="rId82"/>
    <p:sldId id="270" r:id="rId25"/>
    <p:sldId id="271" r:id="rId26"/>
    <p:sldId id="272" r:id="rId27"/>
    <p:sldId id="273" r:id="rId28"/>
    <p:sldId id="274" r:id="rId29"/>
    <p:sldId id="348" r:id="rId87"/>
    <p:sldId id="295" r:id="rId50"/>
    <p:sldId id="349" r:id="rId56"/>
    <p:sldId id="350" r:id="rId55"/>
    <p:sldId id="351" r:id="rId54"/>
    <p:sldId id="282" r:id="rId37"/>
    <p:sldId id="292" r:id="rId47"/>
    <p:sldId id="320" r:id="rId75"/>
    <p:sldId id="321" r:id="rId76"/>
    <p:sldId id="310" r:id="rId65"/>
    <p:sldId id="311" r:id="rId66"/>
    <p:sldId id="352" r:id="rId36"/>
    <p:sldId id="319" r:id="rId74"/>
    <p:sldId id="353" r:id="rId35"/>
    <p:sldId id="354" r:id="rId34"/>
    <p:sldId id="331" r:id="rId86"/>
    <p:sldId id="355" r:id="rId33"/>
    <p:sldId id="356" r:id="rId32"/>
    <p:sldId id="357" r:id="rId31"/>
    <p:sldId id="333" r:id="rId88"/>
    <p:sldId id="334" r:id="rId89"/>
    <p:sldId id="335" r:id="rId90"/>
    <p:sldId id="336" r:id="rId91"/>
    <p:sldId id="337" r:id="rId92"/>
    <p:sldId id="338" r:id="rId93"/>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34.xml"/><Relationship Id="rId8" Type="http://schemas.openxmlformats.org/officeDocument/2006/relationships/slide" Target="slides/slide33.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60.xml"/><Relationship Id="rId18" Type="http://schemas.openxmlformats.org/officeDocument/2006/relationships/slide" Target="slides/slide10.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62.xml"/><Relationship Id="rId26" Type="http://schemas.openxmlformats.org/officeDocument/2006/relationships/slide" Target="slides/slide63.xml"/><Relationship Id="rId27" Type="http://schemas.openxmlformats.org/officeDocument/2006/relationships/slide" Target="slides/slide64.xml"/><Relationship Id="rId28" Type="http://schemas.openxmlformats.org/officeDocument/2006/relationships/slide" Target="slides/slide65.xml"/><Relationship Id="rId29" Type="http://schemas.openxmlformats.org/officeDocument/2006/relationships/slide" Target="slides/slide66.xml"/><Relationship Id="rId30" Type="http://schemas.openxmlformats.org/officeDocument/2006/relationships/slide" Target="slides/slide20.xml"/><Relationship Id="rId31" Type="http://schemas.openxmlformats.org/officeDocument/2006/relationships/slide" Target="slides/slide85.xml"/><Relationship Id="rId32" Type="http://schemas.openxmlformats.org/officeDocument/2006/relationships/slide" Target="slides/slide84.xml"/><Relationship Id="rId33" Type="http://schemas.openxmlformats.org/officeDocument/2006/relationships/slide" Target="slides/slide83.xml"/><Relationship Id="rId34" Type="http://schemas.openxmlformats.org/officeDocument/2006/relationships/slide" Target="slides/slide81.xml"/><Relationship Id="rId35" Type="http://schemas.openxmlformats.org/officeDocument/2006/relationships/slide" Target="slides/slide80.xml"/><Relationship Id="rId36" Type="http://schemas.openxmlformats.org/officeDocument/2006/relationships/slide" Target="slides/slide78.xml"/><Relationship Id="rId37" Type="http://schemas.openxmlformats.org/officeDocument/2006/relationships/slide" Target="slides/slide72.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22.xml"/><Relationship Id="rId41" Type="http://schemas.openxmlformats.org/officeDocument/2006/relationships/slide" Target="slides/slide23.xml"/><Relationship Id="rId42" Type="http://schemas.openxmlformats.org/officeDocument/2006/relationships/slide" Target="slides/slide24.xml"/><Relationship Id="rId43" Type="http://schemas.openxmlformats.org/officeDocument/2006/relationships/slide" Target="slides/slide25.xml"/><Relationship Id="rId44"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9.xml"/><Relationship Id="rId47" Type="http://schemas.openxmlformats.org/officeDocument/2006/relationships/slide" Target="slides/slide73.xml"/><Relationship Id="rId48" Type="http://schemas.openxmlformats.org/officeDocument/2006/relationships/slide" Target="slides/slide50.xml"/><Relationship Id="rId49" Type="http://schemas.openxmlformats.org/officeDocument/2006/relationships/slide" Target="slides/slide53.xml"/><Relationship Id="rId50" Type="http://schemas.openxmlformats.org/officeDocument/2006/relationships/slide" Target="slides/slide68.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31.xml"/><Relationship Id="rId54" Type="http://schemas.openxmlformats.org/officeDocument/2006/relationships/slide" Target="slides/slide71.xml"/><Relationship Id="rId55" Type="http://schemas.openxmlformats.org/officeDocument/2006/relationships/slide" Target="slides/slide70.xml"/><Relationship Id="rId56" Type="http://schemas.openxmlformats.org/officeDocument/2006/relationships/slide" Target="slides/slide69.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76.xml"/><Relationship Id="rId66" Type="http://schemas.openxmlformats.org/officeDocument/2006/relationships/slide" Target="slides/slide77.xml"/><Relationship Id="rId67" Type="http://schemas.openxmlformats.org/officeDocument/2006/relationships/slide" Target="slides/slide39.xml"/><Relationship Id="rId68" Type="http://schemas.openxmlformats.org/officeDocument/2006/relationships/slide" Target="slides/slide40.xml"/><Relationship Id="rId69" Type="http://schemas.openxmlformats.org/officeDocument/2006/relationships/slide" Target="slides/slide41.xml"/><Relationship Id="rId70" Type="http://schemas.openxmlformats.org/officeDocument/2006/relationships/slide" Target="slides/slide42.xml"/><Relationship Id="rId71" Type="http://schemas.openxmlformats.org/officeDocument/2006/relationships/slide" Target="slides/slide43.xml"/><Relationship Id="rId72" Type="http://schemas.openxmlformats.org/officeDocument/2006/relationships/slide" Target="slides/slide44.xml"/><Relationship Id="rId73" Type="http://schemas.openxmlformats.org/officeDocument/2006/relationships/slide" Target="slides/slide45.xml"/><Relationship Id="rId74" Type="http://schemas.openxmlformats.org/officeDocument/2006/relationships/slide" Target="slides/slide79.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5.xml"/><Relationship Id="rId82" Type="http://schemas.openxmlformats.org/officeDocument/2006/relationships/slide" Target="slides/slide61.xml"/><Relationship Id="rId83" Type="http://schemas.openxmlformats.org/officeDocument/2006/relationships/slide" Target="slides/slide9.xml"/><Relationship Id="rId84" Type="http://schemas.openxmlformats.org/officeDocument/2006/relationships/slide" Target="slides/slide28.xml"/><Relationship Id="rId85" Type="http://schemas.openxmlformats.org/officeDocument/2006/relationships/slide" Target="slides/slide59.xml"/><Relationship Id="rId86" Type="http://schemas.openxmlformats.org/officeDocument/2006/relationships/slide" Target="slides/slide82.xml"/><Relationship Id="rId87" Type="http://schemas.openxmlformats.org/officeDocument/2006/relationships/slide" Target="slides/slide67.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56.xml"/><Relationship Id="rId95" Type="http://schemas.openxmlformats.org/officeDocument/2006/relationships/slide" Target="slides/slide57.xml"/><Relationship Id="rId96" Type="http://schemas.openxmlformats.org/officeDocument/2006/relationships/slide" Target="slides/slide58.xml"/><Relationship Id="rId97" Type="http://schemas.openxmlformats.org/officeDocument/2006/relationships/slide" Target="slides/slide21.xml"/><Relationship Id="rId98" Type="http://schemas.openxmlformats.org/officeDocument/2006/relationships/slide" Target="slides/slide32.xml"/><Relationship Id="rId99" Type="http://schemas.openxmlformats.org/officeDocument/2006/relationships/slide" Target="slides/slide19.xml"/><Relationship Id="rId100" Type="http://schemas.openxmlformats.org/officeDocument/2006/relationships/slide" Target="slides/slide30.xml"/><Relationship Id="rId10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כ־0.5 דקה.</a:t>
            </a:r>
          </a:p>
          <a:p>
            <a:pPr rtl="1" algn="r" marL="0" indent="0">
              <a:buNone/>
            </a:pPr>
            <a:r>
              <a:rPr b="1" sz="1200" lang="he-IL"/>
              <a:t>מה אומרים</a:t>
            </a:r>
          </a:p>
          <a:p>
            <a:pPr rtl="1" algn="r" marL="0" indent="0">
              <a:buNone/>
            </a:pPr>
            <a:r>
              <a:rPr sz="1200" lang="he-IL"/>
              <a:t>•  קראו את שש המטרות בקצרה ואל תעצרו עליהן.</a:t>
            </a:r>
          </a:p>
          <a:p>
            <a:pPr rtl="1" algn="r" marL="0" indent="0">
              <a:buNone/>
            </a:pPr>
            <a:r>
              <a:rPr sz="1200" lang="he-IL"/>
              <a:t>•  הן מכסות את הסילבוס ואת מה שהמעבדות מתרגלות: (1) HTTP וקודי סטטוס, והעבודה מול API חיצוני: מעבדה א׳ וחלק ז׳ במחברת</a:t>
            </a:r>
          </a:p>
          <a:p>
            <a:pPr rtl="1" algn="r" marL="0" indent="0">
              <a:buNone/>
            </a:pPr>
            <a:r>
              <a:rPr sz="1200" lang="he-IL"/>
              <a:t>•  (2) OpenAPI כחוזה ובדיקות לפיו: מעבדה א׳</a:t>
            </a:r>
          </a:p>
          <a:p>
            <a:pPr rtl="1" algn="r" marL="0" indent="0">
              <a:buNone/>
            </a:pPr>
            <a:r>
              <a:rPr sz="1200" lang="he-IL"/>
              <a:t>•  (3) סכמה ו־SQL עם אימות: מעבדה ב׳</a:t>
            </a:r>
          </a:p>
          <a:p>
            <a:pPr rtl="1" algn="r" marL="0" indent="0">
              <a:buNone/>
            </a:pPr>
            <a:r>
              <a:rPr sz="1200" lang="he-IL"/>
              <a:t>•  (4) פיתוח מבוסס מפרט ובדיקת קוד ש־AI כתב: מעבדה ג׳</a:t>
            </a:r>
          </a:p>
          <a:p>
            <a:pPr rtl="1" algn="r" marL="0" indent="0">
              <a:buNone/>
            </a:pPr>
            <a:r>
              <a:rPr sz="1200" lang="he-IL"/>
              <a:t>•  (5) Docker מול מכונה וירטואלית וקריאת Dockerfile: חלק ו׳ במחברת, לבית</a:t>
            </a:r>
          </a:p>
          <a:p>
            <a:pPr rtl="1" algn="r" marL="0" indent="0">
              <a:buNone/>
            </a:pPr>
            <a:r>
              <a:rPr sz="1200" lang="he-IL"/>
              <a:t>•  (6) תור, עובד ו־Celery, וקריאה ל־LLM API, שהיא דרישה בפרויקט הגמר: חלק ה׳ במחברת, לבית.</a:t>
            </a:r>
          </a:p>
          <a:p>
            <a:pPr rtl="1" algn="r" marL="0" indent="0">
              <a:buNone/>
            </a:pPr>
            <a:r>
              <a:rPr sz="1200" lang="he-IL"/>
              <a:t>•  יעדי העשרה (לא חובה, במקטע ההעמקה, שקף 59): להבדיל בין שיטה בטוחה לאידמפוטנטית ולדעת מה מותר לשלוח שוב</a:t>
            </a:r>
          </a:p>
          <a:p>
            <a:pPr rtl="1" algn="r" marL="0" indent="0">
              <a:buNone/>
            </a:pPr>
            <a:r>
              <a:rPr sz="1200" lang="he-IL"/>
              <a:t>•  להבין איך בודקים אוטומטית מול חוזה (Schemathesis) ומה שלוש הרמות של spec-driven</a:t>
            </a:r>
          </a:p>
          <a:p>
            <a:pPr rtl="1" algn="r" marL="0" indent="0">
              <a:buNone/>
            </a:pPr>
            <a:r>
              <a:rPr sz="1200" lang="he-IL"/>
              <a:t>•  להבדיל נרמול מכפילות מכוונת ו־INNER מ־LEFT JOIN</a:t>
            </a:r>
          </a:p>
          <a:p>
            <a:pPr rtl="1" algn="r" marL="0" indent="0">
              <a:buNone/>
            </a:pPr>
            <a:r>
              <a:rPr sz="1200" lang="he-IL"/>
              <a:t>•  להבין את הרעיון ההצהרתי של Kubernetes ואת הערבויות של Celery.</a:t>
            </a:r>
          </a:p>
          <a:p>
            <a:pPr rtl="1" algn="r" marL="0" indent="0">
              <a:buNone/>
            </a:pPr>
            <a:r>
              <a:rPr sz="1200" lang="he-IL"/>
              <a:t>•  אמרו לסטודנטים: בסוף השעה וחצי תוכלו להסביר כל מושג בליבה במשפט אחד ותדעו לבדוק קוד ש־AI כתב.</a:t>
            </a:r>
          </a:p>
          <a:p>
            <a:pPr rtl="1" algn="r" marL="0" indent="0">
              <a:buNone/>
            </a:pPr>
            <a:r>
              <a:rPr sz="1200" lang="he-IL"/>
              <a:t>•  ציינו שהמפגש בנוי בשכבות (ליבה, אופציונלי, העשרה) ושהעבודה המעשית היא שלוש מעבדות, שהן חלקים של מחברת Colab אחת (HM_07), עם פונקציות קצרות ובדיקה מוכנה.</a:t>
            </a:r>
          </a:p>
          <a:p>
            <a:pPr rtl="1" algn="r" marL="0" indent="0">
              <a:buNone/>
            </a:pPr>
            <a:r>
              <a:rPr sz="1200" lang="he-IL"/>
              <a:t>•  למרצה: אם הזמן קצר, מקצצים לפי הסדר הבא: העשרה, אופציונלי, ורק לבסוף מקצרים הסברים בליבה.</a:t>
            </a:r>
          </a:p>
          <a:p>
            <a:pPr rtl="1" algn="r" marL="0" indent="0">
              <a:buNone/>
            </a:pPr>
            <a:r>
              <a:rPr sz="1200" lang="he-IL"/>
              <a:t>•  את המעבדות לא מקצרים.</a:t>
            </a:r>
          </a:p>
          <a:p>
            <a:pPr rtl="1" algn="r" marL="0" indent="0">
              <a:buNone/>
            </a:pPr>
            <a:r>
              <a:rPr b="1" sz="1200" lang="he-IL"/>
              <a:t>חיבור לשיעורים קודמים</a:t>
            </a:r>
          </a:p>
          <a:p>
            <a:pPr rtl="1" algn="r" marL="0" indent="0">
              <a:buNone/>
            </a:pPr>
            <a:r>
              <a:rPr sz="1200" lang="he-IL"/>
              <a:t>•  מטרה 4 (מפרט לפני הקוד, ובדיקת קוד ש־AI כתב) היא ההמשך הישיר של הכלל ממפגש 1, ״קוראים, מבינים ובודקים״, ושל כלל ה־diff ממפגש 6; מטרה 2 (לבדוק API מול תיעוד) היא הכלל ממפגש 2 על הזיות: שם שנראה סביר בודקים בתיעוד.</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כ־0.7 דקה.</a:t>
            </a:r>
          </a:p>
          <a:p>
            <a:pPr rtl="1" algn="r" marL="0" indent="0">
              <a:buNone/>
            </a:pPr>
            <a:r>
              <a:rPr b="1" sz="1200" lang="he-IL"/>
              <a:t>מה אומרים</a:t>
            </a:r>
          </a:p>
          <a:p>
            <a:pPr rtl="1" algn="r" marL="0" indent="0">
              <a:buNone/>
            </a:pPr>
            <a:r>
              <a:rPr sz="1200" lang="he-IL"/>
              <a:t>•  הסבירו את הפס: כחול הוא הסבר קצר, כתום הוא עבודה של הסטודנטים, בסך הכול 90 דקות: פתיחה 6, חלק א׳ 14, מעבדה א׳ 13, חלק ב׳ 10, מעבדה ב׳ 12, חלק ג׳ 7, חלק ד׳ 10, מעבדה ג׳ 12, סיכום 6.</a:t>
            </a:r>
          </a:p>
          <a:p>
            <a:pPr rtl="1" algn="r" marL="0" indent="0">
              <a:buNone/>
            </a:pPr>
            <a:r>
              <a:rPr sz="1200" lang="he-IL"/>
              <a:t>•  בפתיחה נכנסו שני שקפי חיבור למפגשים הקודמים (שקף 4: השרשרת, שקף 5: השאלה של היום), כ־2 דקות, ובמקומן חלק ג׳ קוצר מ־9 ל־7 דקות: השקף ״איך Docker בנוי״ (שקף 36) הפך לאופציונלי.</a:t>
            </a:r>
          </a:p>
          <a:p>
            <a:pPr rtl="1" algn="r" marL="0" indent="0">
              <a:buNone/>
            </a:pPr>
            <a:r>
              <a:rPr sz="1200" lang="he-IL"/>
              <a:t>•  כלומר ההסבר בליבה הוא כ־41 דקות והמעבדות 37.</a:t>
            </a:r>
          </a:p>
          <a:p>
            <a:pPr rtl="1" algn="r" marL="0" indent="0">
              <a:buNone/>
            </a:pPr>
            <a:r>
              <a:rPr sz="1200" lang="he-IL"/>
              <a:t>•  הערה על התכנון: אי אפשר להגיע ל־50 דקות הסבר בלי לקצץ מעבדות, ולכן הליבה מכוונת ל־41 דקות עם מרווח למעברים ולשאלות.</a:t>
            </a:r>
          </a:p>
          <a:p>
            <a:pPr rtl="1" algn="r" marL="0" indent="0">
              <a:buNone/>
            </a:pPr>
            <a:r>
              <a:rPr sz="1200" lang="he-IL"/>
              <a:t>•  שלוש המעבדות הן שלושה חלקים של מחברת Colab אחת, HM_07: מעבדה א׳ היא חלק א׳ במחברת (HTTP ו־OpenAPI, 13 דקות), מעבדה ב׳ היא חלק ב׳ (SQL, 12 דקות), ומעבדה ג׳ היא חלקים ג׳ ו־ד׳ (חיבור API למסד, בדיקה מקצה לקצה, צעד AI לפי חוזה ומסקנה, 12 דקות).</a:t>
            </a:r>
          </a:p>
          <a:p>
            <a:pPr rtl="1" algn="r" marL="0" indent="0">
              <a:buNone/>
            </a:pPr>
            <a:r>
              <a:rPr sz="1200" lang="he-IL"/>
              <a:t>•  חלקי הבית של המחברת הם ה׳ (תור ו־worker), ו׳ (Docker ו־Kubernetes בקריאה) ו־ז׳ (API חיצוני, אופציונלי), בשקף 58.</a:t>
            </a:r>
          </a:p>
          <a:p>
            <a:pPr rtl="1" algn="r" marL="0" indent="0">
              <a:buNone/>
            </a:pPr>
            <a:r>
              <a:rPr sz="1200" lang="he-IL"/>
              <a:t>•  מבנה השקפים: ליבה בלי תג (חלק א׳: שקפים 7-18</a:t>
            </a:r>
          </a:p>
          <a:p>
            <a:pPr rtl="1" algn="r" marL="0" indent="0">
              <a:buNone/>
            </a:pPr>
            <a:r>
              <a:rPr sz="1200" lang="he-IL"/>
              <a:t>•  חלק ב׳: 21-28</a:t>
            </a:r>
          </a:p>
          <a:p>
            <a:pPr rtl="1" algn="r" marL="0" indent="0">
              <a:buNone/>
            </a:pPr>
            <a:r>
              <a:rPr sz="1200" lang="he-IL"/>
              <a:t>•  חלק ג׳: 31-33 ו־35-37</a:t>
            </a:r>
          </a:p>
          <a:p>
            <a:pPr rtl="1" algn="r" marL="0" indent="0">
              <a:buNone/>
            </a:pPr>
            <a:r>
              <a:rPr sz="1200" lang="he-IL"/>
              <a:t>•  חלק ד׳: 40-43, 44-45, 48, 51)</a:t>
            </a:r>
          </a:p>
          <a:p>
            <a:pPr rtl="1" algn="r" marL="0" indent="0">
              <a:buNone/>
            </a:pPr>
            <a:r>
              <a:rPr sz="1200" lang="he-IL"/>
              <a:t>•  שקפי ״אופציונלי״ (תג כחול) הם שקף 36 ושלושה זוגות שאלה ותשובה שאפשר לדלג עליהם: 49-50, 38-39, 46-47</a:t>
            </a:r>
          </a:p>
          <a:p>
            <a:pPr rtl="1" algn="r" marL="0" indent="0">
              <a:buNone/>
            </a:pPr>
            <a:r>
              <a:rPr sz="1200" lang="he-IL"/>
              <a:t>•  מקטע ההעשרה (תג סגול) הוא שקפים 59-85, בין שקף הבית לסיכום.</a:t>
            </a:r>
          </a:p>
          <a:p>
            <a:pPr rtl="1" algn="r" marL="0" indent="0">
              <a:buNone/>
            </a:pPr>
            <a:r>
              <a:rPr sz="1200" lang="he-IL"/>
              <a:t>•  תג כתום קטן ״ממפגש K״ בפינת שקף הוא חזרה קצרה על מה שנלמד קודם.</a:t>
            </a:r>
          </a:p>
          <a:p>
            <a:pPr rtl="1" algn="r" marL="0" indent="0">
              <a:buNone/>
            </a:pPr>
            <a:r>
              <a:rPr sz="1200" lang="he-IL"/>
              <a:t>•  סדר קיצוץ אם מפגרים: (1) שקף 36 ושלושת זוגות השאלות; (2) הצגת /docs חי של שתי דקות במקום שקפים 14 ו־15; (3) שקף 29 (סכמה בעזרת AI) באמירה של משפט אחד; (4) שקף 47; (5) בפתיחה, קריאת עמודת ״מה למדנו״ בלבד בשקף השרשרת.</a:t>
            </a:r>
          </a:p>
          <a:p>
            <a:pPr rtl="1" algn="r" marL="0" indent="0">
              <a:buNone/>
            </a:pPr>
            <a:r>
              <a:rPr sz="1200" lang="he-IL"/>
              <a:t>•  לעולם לא מקצרים מעבדות.</a:t>
            </a:r>
          </a:p>
          <a:p>
            <a:pPr rtl="1" algn="r" marL="0" indent="0">
              <a:buNone/>
            </a:pPr>
            <a:r>
              <a:rPr sz="1200" lang="he-IL"/>
              <a:t>•  אם מקדימים: מודול העשרה אחד של עד 10 דקות לפי עניין הכיתה (המלצה: HTTP ו־API חיצוני, או חוזים ו־spec-driven).</a:t>
            </a:r>
          </a:p>
          <a:p>
            <a:pPr rtl="1" algn="r" marL="0" indent="0">
              <a:buNone/>
            </a:pPr>
            <a:r>
              <a:rPr sz="1200" lang="he-IL"/>
              <a:t>•  חלק מהנושאים נוגעים בסילבוס (API חיצוני, SQL, spec-driven) וכוסו בליבה או בבית; Docker, Celery ו־Kubernetes הם תוספת של הקורס ולא חלק מהסילבוס, ולכן Kubernetes הועבר להעשרה.</a:t>
            </a:r>
          </a:p>
          <a:p>
            <a:pPr rtl="1" algn="r" marL="0" indent="0">
              <a:buNone/>
            </a:pPr>
            <a:r>
              <a:rPr b="1" sz="1200" lang="he-IL"/>
              <a:t>הכנה לפני השיעור</a:t>
            </a:r>
          </a:p>
          <a:p>
            <a:pPr rtl="1" algn="r" marL="0" indent="0">
              <a:buNone/>
            </a:pPr>
            <a:r>
              <a:rPr sz="1200" lang="he-IL"/>
              <a:t>•  להעלות את HM_07.ipynb ל־Colab ולהחליף את ה־QR בשקפי המעבדה בקישור אמיתי.</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כ־דקה.</a:t>
            </a:r>
          </a:p>
          <a:p>
            <a:pPr rtl="1" algn="r" marL="0" indent="0">
              <a:buNone/>
            </a:pPr>
            <a:r>
              <a:rPr b="1" sz="1200" lang="he-IL"/>
              <a:t>מה אומרים</a:t>
            </a:r>
          </a:p>
          <a:p>
            <a:pPr rtl="1" algn="r" marL="0" indent="0">
              <a:buNone/>
            </a:pPr>
            <a:r>
              <a:rPr sz="1200" lang="he-IL"/>
              <a:t>•  זוהי שאלה לדיון קצר של דקה.</a:t>
            </a:r>
          </a:p>
          <a:p>
            <a:pPr rtl="1" algn="r" marL="0" indent="0">
              <a:buNone/>
            </a:pPr>
            <a:r>
              <a:rPr sz="1200" lang="he-IL"/>
              <a:t>•  הקריאו את השאלה: ה-AI כתב קריאה עם פרמטר שלא מופיע ב-openapi.json, והשרת החזיר 200, מה עושים?</a:t>
            </a:r>
          </a:p>
          <a:p>
            <a:pPr rtl="1" algn="r" marL="0" indent="0">
              <a:buNone/>
            </a:pPr>
            <a:r>
              <a:rPr sz="1200" lang="he-IL"/>
              <a:t>•  תנו לסטודנטים 30 שניות לחשוב בזוגות ושמעו שתי תשובות לפני שעוברים לשקף הבא.</a:t>
            </a:r>
          </a:p>
          <a:p>
            <a:pPr rtl="1" algn="r" marL="0" indent="0">
              <a:buNone/>
            </a:pPr>
            <a:r>
              <a:rPr sz="1200" lang="he-IL"/>
              <a:t>•  רמז אם צריך: מה עוד ראינו בשקף על הזיות API?</a:t>
            </a:r>
          </a:p>
          <a:p>
            <a:pPr rtl="1" algn="r" marL="0" indent="0">
              <a:buNone/>
            </a:pPr>
            <a:r>
              <a:rPr sz="1200" lang="he-IL"/>
              <a:t>•  אל תחשפו את התשובה עד שמישהו ינסה.</a:t>
            </a:r>
          </a:p>
          <a:p>
            <a:pPr rtl="1" algn="r" marL="0" indent="0">
              <a:buNone/>
            </a:pPr>
            <a:r>
              <a:rPr b="1" sz="1200" lang="he-IL"/>
              <a:t>מתי לדלג</a:t>
            </a:r>
          </a:p>
          <a:p>
            <a:pPr rtl="1" algn="r" marL="0" indent="0">
              <a:buNone/>
            </a:pPr>
            <a:r>
              <a:rPr sz="1200" lang="he-IL"/>
              <a:t>•  זוג שאלה ותשובה, דלגו על שניהם אם אין זמן.</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כ־דקה.</a:t>
            </a:r>
          </a:p>
          <a:p>
            <a:pPr rtl="1" algn="r" marL="0" indent="0">
              <a:buNone/>
            </a:pPr>
            <a:r>
              <a:rPr b="1" sz="1200" lang="he-IL"/>
              <a:t>מה אומרים</a:t>
            </a:r>
          </a:p>
          <a:p>
            <a:pPr rtl="1" algn="r" marL="0" indent="0">
              <a:buNone/>
            </a:pPr>
            <a:r>
              <a:rPr sz="1200" lang="he-IL"/>
              <a:t>•  קראו אותה: לא סומכים על ה-200, כי הפרמטר אינו בחוזה והשרת כנראה התעלם ממנו; מתקנים לפי החוזה ובודקים שהתוצאה באמת משתנה כפי שציפינו.</a:t>
            </a:r>
          </a:p>
          <a:p>
            <a:pPr rtl="1" algn="r" marL="0" indent="0">
              <a:buNone/>
            </a:pPr>
            <a:r>
              <a:rPr sz="1200" lang="he-IL"/>
              <a:t>•  הדגישו את הצעד האחרון: האימות הוא שינוי בתוצאה.</a:t>
            </a:r>
          </a:p>
          <a:p>
            <a:pPr rtl="1" algn="r" marL="0" indent="0">
              <a:buNone/>
            </a:pPr>
            <a:r>
              <a:rPr sz="1200" lang="he-IL"/>
              <a:t>•  אם קראתם limit=5 ובקשה עם פרמטר מומצא נותנת אותה תוצאה כמו בלי הפרמטר, הפרמטר לא עובד.</a:t>
            </a:r>
          </a:p>
          <a:p>
            <a:pPr rtl="1" algn="r" marL="0" indent="0">
              <a:buNone/>
            </a:pPr>
            <a:r>
              <a:rPr sz="1200" lang="he-IL"/>
              <a:t>•  קישור לשיעור 2.</a:t>
            </a:r>
          </a:p>
          <a:p>
            <a:pPr rtl="1" algn="r" marL="0" indent="0">
              <a:buNone/>
            </a:pPr>
            <a:r>
              <a:rPr sz="1200" lang="he-IL"/>
              <a:t>•  עברו למעבדה א׳.</a:t>
            </a:r>
          </a:p>
          <a:p>
            <a:pPr rtl="1" algn="r" marL="0" indent="0">
              <a:buNone/>
            </a:pPr>
            <a:r>
              <a:rPr b="1" sz="1200" lang="he-IL"/>
              <a:t>מתי לדלג</a:t>
            </a:r>
          </a:p>
          <a:p>
            <a:pPr rtl="1" algn="r" marL="0" indent="0">
              <a:buNone/>
            </a:pPr>
            <a:r>
              <a:rPr sz="1200" lang="he-IL"/>
              <a:t>•  יחד עם השקף הקודם.</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כ־0.7 דקות.</a:t>
            </a:r>
          </a:p>
          <a:p>
            <a:pPr rtl="1" algn="r" marL="0" indent="0">
              <a:buNone/>
            </a:pPr>
            <a:r>
              <a:rPr b="1" sz="1200" lang="he-IL"/>
              <a:t>מטרה</a:t>
            </a:r>
          </a:p>
          <a:p>
            <a:pPr rtl="1" algn="r" marL="0" indent="0">
              <a:buNone/>
            </a:pPr>
            <a:r>
              <a:rPr sz="1200" lang="he-IL"/>
              <a:t>•  לנסח שאלה אחת שנולדת ממה שנשאר פתוח בסוף מפגש 6, ולהפוך אותה לתוכנית של היום.</a:t>
            </a:r>
          </a:p>
          <a:p>
            <a:pPr rtl="1" algn="r" marL="0" indent="0">
              <a:buNone/>
            </a:pPr>
            <a:r>
              <a:rPr sz="1200" lang="he-IL"/>
              <a:t>•  בצד ימין (כתום) מה שיש לנו: במפגש 6 למדנו שהסוכן עובד בלולאה של תכנון, פעולה והתבוננות, ש־Git הוא רשת הביטחון (commit לפני, diff אחרי) ושההודעה ״סיימתי״ של הסוכן אינה הוכחה.</a:t>
            </a:r>
          </a:p>
          <a:p>
            <a:pPr rtl="1" algn="r" marL="0" indent="0">
              <a:buNone/>
            </a:pPr>
            <a:r>
              <a:rPr sz="1200" lang="he-IL"/>
              <a:t>•  אבל כל זה קרה אצלנו, על מחשב אחד ומול משתמש אחד: הקוד שהסוכן כתב עדיין אינו שירות.</a:t>
            </a:r>
          </a:p>
          <a:p>
            <a:pPr rtl="1" algn="r" marL="0" indent="0">
              <a:buNone/>
            </a:pPr>
            <a:r>
              <a:rPr sz="1200" lang="he-IL"/>
              <a:t>•  ובסוף מפגש 6 ביקשנו לחשוב איזה מידע חיצוני הפרויקט צריך, כלומר איך המערכת שלכם מדברת עם העולם.</a:t>
            </a:r>
          </a:p>
          <a:p>
            <a:pPr rtl="1" algn="r" marL="0" indent="0">
              <a:buNone/>
            </a:pPr>
            <a:r>
              <a:rPr sz="1200" lang="he-IL"/>
              <a:t>•  בצד שמאל (ירוק) מה שנעשה היום, לפי סדר המפגש: חוזה שמולו בודקים (חלק א׳ ומעבדה א׳), מסד נתונים ושאילתות שמאמתים (חלק ב׳ ומעבדה ב׳), ותור ו־Docker למודל איטי (חלקים ג׳ וד׳ ומעבדה ג׳).</a:t>
            </a:r>
          </a:p>
          <a:p>
            <a:pPr rtl="1" algn="r" marL="0" indent="0">
              <a:buNone/>
            </a:pPr>
            <a:r>
              <a:rPr sz="1200" lang="he-IL"/>
              <a:t>•  השורה התחתונה היא הרעיון שמחבר: בלי ״ידוע מראש״ אי אפשר לבדוק, וכאן הידוע מראש הוא החוזה.</a:t>
            </a:r>
          </a:p>
          <a:p>
            <a:pPr rtl="1" algn="r" marL="0" indent="0">
              <a:buNone/>
            </a:pPr>
            <a:r>
              <a:rPr b="1" sz="1200" lang="he-IL"/>
              <a:t>שאלת היזכרות</a:t>
            </a:r>
          </a:p>
          <a:p>
            <a:pPr rtl="1" algn="r" marL="0" indent="0">
              <a:buNone/>
            </a:pPr>
            <a:r>
              <a:rPr sz="1200" lang="he-IL"/>
              <a:t>•  מה היה ״הידוע מראש״ במפגש 5?</a:t>
            </a:r>
          </a:p>
          <a:p>
            <a:pPr rtl="1" algn="r" marL="0" indent="0">
              <a:buNone/>
            </a:pPr>
            <a:r>
              <a:rPr b="1" sz="1200" lang="he-IL"/>
              <a:t>תשובה</a:t>
            </a:r>
          </a:p>
          <a:p>
            <a:pPr rtl="1" algn="r" marL="0" indent="0">
              <a:buNone/>
            </a:pPr>
            <a:r>
              <a:rPr sz="1200" lang="he-IL"/>
              <a:t>•  תוצאה שידענו מראש, למשל Plant Pot Plus כמוצר המוביל בהכנסה, שמולה בדק validate_top5.</a:t>
            </a:r>
          </a:p>
          <a:p>
            <a:pPr rtl="1" algn="r" marL="0" indent="0">
              <a:buNone/>
            </a:pPr>
            <a:r>
              <a:rPr b="1" sz="1200" lang="he-IL"/>
              <a:t>אם הכיתה לא זוכרת</a:t>
            </a:r>
          </a:p>
          <a:p>
            <a:pPr rtl="1" algn="r" marL="0" indent="0">
              <a:buNone/>
            </a:pPr>
            <a:r>
              <a:rPr sz="1200" lang="he-IL"/>
              <a:t>•  אמרו ״במפגש 5 השווינו תוצאה של כלי למשהו שידענו מראש״ והמשיכו.</a:t>
            </a:r>
          </a:p>
          <a:p>
            <a:pPr rtl="1" algn="r" marL="0" indent="0">
              <a:buNone/>
            </a:pPr>
            <a:r>
              <a:rPr sz="1200" lang="he-IL"/>
              <a:t>•  שאלה נוספת: איזה מידע חיצוני הפרויקט שלכם צריך?</a:t>
            </a:r>
          </a:p>
          <a:p>
            <a:pPr rtl="1" algn="r" marL="0" indent="0">
              <a:buNone/>
            </a:pPr>
            <a:r>
              <a:rPr sz="1200" lang="he-IL"/>
              <a:t>•  תשובות לדוגמה: מחירים, מזג אוויר, נתוני ספקים.</a:t>
            </a:r>
          </a:p>
          <a:p>
            <a:pPr rtl="1" algn="r" marL="0" indent="0">
              <a:buNone/>
            </a:pPr>
            <a:r>
              <a:rPr sz="1200" lang="he-IL"/>
              <a:t>•  עברו למפת היום (שקף 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כ־דקה.</a:t>
            </a:r>
          </a:p>
          <a:p>
            <a:pPr rtl="1" algn="r" marL="0" indent="0">
              <a:buNone/>
            </a:pPr>
            <a:r>
              <a:rPr b="1" sz="1200" lang="he-IL"/>
              <a:t>מה אומרים</a:t>
            </a:r>
          </a:p>
          <a:p>
            <a:pPr rtl="1" algn="r" marL="0" indent="0">
              <a:buNone/>
            </a:pPr>
            <a:r>
              <a:rPr sz="1200" lang="he-IL"/>
              <a:t>•  זוהי שאלה לדיון קצר של דקה (שקפים 49 ו־50 הם זוג).</a:t>
            </a:r>
          </a:p>
          <a:p>
            <a:pPr rtl="1" algn="r" marL="0" indent="0">
              <a:buNone/>
            </a:pPr>
            <a:r>
              <a:rPr sz="1200" lang="he-IL"/>
              <a:t>•  הקריאו את השאלה: למה הממשק (Streamlit) פונה ל-API ולא ישירות למסד?</a:t>
            </a:r>
          </a:p>
          <a:p>
            <a:pPr rtl="1" algn="r" marL="0" indent="0">
              <a:buNone/>
            </a:pPr>
            <a:r>
              <a:rPr sz="1200" lang="he-IL"/>
              <a:t>•  תנו לסטודנטים חצי דקה לחשוב בזוגות.</a:t>
            </a:r>
          </a:p>
          <a:p>
            <a:pPr rtl="1" algn="r" marL="0" indent="0">
              <a:buNone/>
            </a:pPr>
            <a:r>
              <a:rPr sz="1200" lang="he-IL"/>
              <a:t>•  רמז אם צריך: מה קורה אם יש שני ממשקים, או אם משנים את הטבלה?</a:t>
            </a:r>
          </a:p>
          <a:p>
            <a:pPr rtl="1" algn="r" marL="0" indent="0">
              <a:buNone/>
            </a:pPr>
            <a:r>
              <a:rPr sz="1200" lang="he-IL"/>
              <a:t>•  שמעו תשובה אחת או שתיים לפני השקף הבא, ואל תחשפו תשובה.</a:t>
            </a:r>
          </a:p>
          <a:p>
            <a:pPr rtl="1" algn="r" marL="0" indent="0">
              <a:buNone/>
            </a:pPr>
            <a:r>
              <a:rPr b="1" sz="1200" lang="he-IL"/>
              <a:t>מתי לדלג</a:t>
            </a:r>
          </a:p>
          <a:p>
            <a:pPr rtl="1" algn="r" marL="0" indent="0">
              <a:buNone/>
            </a:pPr>
            <a:r>
              <a:rPr sz="1200" lang="he-IL"/>
              <a:t>•  אם מפגרים.</a:t>
            </a:r>
          </a:p>
          <a:p>
            <a:pPr rtl="1" algn="r" marL="0" indent="0">
              <a:buNone/>
            </a:pPr>
            <a:r>
              <a:rPr sz="1200" lang="he-IL"/>
              <a:t>•  השאלה נענית בשקף 50, וגם במחברת (מעבדה ג׳, שאלה א).</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כ־0.7 דקות.</a:t>
            </a:r>
          </a:p>
          <a:p>
            <a:pPr rtl="1" algn="r" marL="0" indent="0">
              <a:buNone/>
            </a:pPr>
            <a:r>
              <a:rPr b="1" sz="1200" lang="he-IL"/>
              <a:t>מה אומרים</a:t>
            </a:r>
          </a:p>
          <a:p>
            <a:pPr rtl="1" algn="r" marL="0" indent="0">
              <a:buNone/>
            </a:pPr>
            <a:r>
              <a:rPr sz="1200" lang="he-IL"/>
              <a:t>•  התשובה לשאלה הקודמת.</a:t>
            </a:r>
          </a:p>
          <a:p>
            <a:pPr rtl="1" algn="r" marL="0" indent="0">
              <a:buNone/>
            </a:pPr>
            <a:r>
              <a:rPr sz="1200" lang="he-IL"/>
              <a:t>•  ה-API הוא נקודת בקרה אחת: שם מבצעים ולידציה, הרשאות וחוזה מוגדר.</a:t>
            </a:r>
          </a:p>
          <a:p>
            <a:pPr rtl="1" algn="r" marL="0" indent="0">
              <a:buNone/>
            </a:pPr>
            <a:r>
              <a:rPr sz="1200" lang="he-IL"/>
              <a:t>•  אפשר להחליף ממשק או מסד בלי לשבור את השאר, ולא חושפים את המסד לכל לקוח.</a:t>
            </a:r>
          </a:p>
          <a:p>
            <a:pPr rtl="1" algn="r" marL="0" indent="0">
              <a:buNone/>
            </a:pPr>
            <a:r>
              <a:rPr sz="1200" lang="he-IL"/>
              <a:t>•  אם סטודנט ענה משהו קרוב, למשל אבטחה או שמירה על הנתונים, אשרו ושייכו לשכבות.</a:t>
            </a:r>
          </a:p>
          <a:p>
            <a:pPr rtl="1" algn="r" marL="0" indent="0">
              <a:buNone/>
            </a:pPr>
            <a:r>
              <a:rPr sz="1200" lang="he-IL"/>
              <a:t>•  שורה תחתונה: מי שקורא למסד ישירות מדלג על כל הבדיקות והכללים.</a:t>
            </a:r>
          </a:p>
          <a:p>
            <a:pPr rtl="1" algn="r" marL="0" indent="0">
              <a:buNone/>
            </a:pPr>
            <a:r>
              <a:rPr sz="1200" lang="he-IL"/>
              <a:t>•  קישור לשיעור 10.</a:t>
            </a:r>
          </a:p>
          <a:p>
            <a:pPr rtl="1" algn="r" marL="0" indent="0">
              <a:buNone/>
            </a:pPr>
            <a:r>
              <a:rPr sz="1200" lang="he-IL"/>
              <a:t>•  אחרי השקף הזה עוברים למעבדה ב׳.</a:t>
            </a:r>
          </a:p>
          <a:p>
            <a:pPr rtl="1" algn="r" marL="0" indent="0">
              <a:buNone/>
            </a:pPr>
            <a:r>
              <a:rPr b="1" sz="1200" lang="he-IL"/>
              <a:t>מתי לדלג</a:t>
            </a:r>
          </a:p>
          <a:p>
            <a:pPr rtl="1" algn="r" marL="0" indent="0">
              <a:buNone/>
            </a:pPr>
            <a:r>
              <a:rPr sz="1200" lang="he-IL"/>
              <a:t>•  יחד עם השקף הקודם.</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כ־1.5 דקות.</a:t>
            </a:r>
          </a:p>
          <a:p>
            <a:pPr rtl="1" algn="r" marL="0" indent="0">
              <a:buNone/>
            </a:pPr>
            <a:r>
              <a:rPr b="1" sz="1200" lang="he-IL"/>
              <a:t>מטרה</a:t>
            </a:r>
          </a:p>
          <a:p>
            <a:pPr rtl="1" algn="r" marL="0" indent="0">
              <a:buNone/>
            </a:pPr>
            <a:r>
              <a:rPr sz="1200" lang="he-IL"/>
              <a:t>•  להראות שהיום לא מתחילים מאפס.</a:t>
            </a:r>
          </a:p>
          <a:p>
            <a:pPr rtl="1" algn="r" marL="0" indent="0">
              <a:buNone/>
            </a:pPr>
            <a:r>
              <a:rPr sz="1200" lang="he-IL"/>
              <a:t>•  כל שורה בטבלה היא כלל שכבר למדנו, ובעמודה השלישית מה שנשתמש בו היום.</a:t>
            </a:r>
          </a:p>
          <a:p>
            <a:pPr rtl="1" algn="r" marL="0" indent="0">
              <a:buNone/>
            </a:pPr>
            <a:r>
              <a:rPr sz="1200" lang="he-IL"/>
              <a:t>•  עברו על ארבע השורות, כ־20 שניות לכל אחת.</a:t>
            </a:r>
          </a:p>
          <a:p>
            <a:pPr rtl="1" algn="r" marL="0" indent="0">
              <a:buNone/>
            </a:pPr>
            <a:r>
              <a:rPr sz="1200" lang="he-IL"/>
              <a:t>•  (1) מפגש 2, הזיות: מודל ממציא שם שנראה סביר, למשל פרמטר שלא קיים, והכלל היה לבדוק בתיעוד.</a:t>
            </a:r>
          </a:p>
          <a:p>
            <a:pPr rtl="1" algn="r" marL="0" indent="0">
              <a:buNone/>
            </a:pPr>
            <a:r>
              <a:rPr sz="1200" lang="he-IL"/>
              <a:t>•  היום התיעוד הוא החוזה, openapi.json (שקף 10), ובמעבדה א׳ הכלי check_contract בודק שהשרת עומד בו.</a:t>
            </a:r>
          </a:p>
          <a:p>
            <a:pPr rtl="1" algn="r" marL="0" indent="0">
              <a:buNone/>
            </a:pPr>
            <a:r>
              <a:rPr sz="1200" lang="he-IL"/>
              <a:t>•  (2) מפגשים 3-4, לפי הנושא בסילבוס: הנדסת פרומפטים והנדסת הקשר, כלומר בקשה מסודרת ותיעוד ידידותי ל־AI.</a:t>
            </a:r>
          </a:p>
          <a:p>
            <a:pPr rtl="1" algn="r" marL="0" indent="0">
              <a:buNone/>
            </a:pPr>
            <a:r>
              <a:rPr sz="1200" lang="he-IL"/>
              <a:t>•  היום מנסחים בקשה ממוקדת ל־AI (שקף 56) ומדביקים לסוכן את החוזה כהקשר.</a:t>
            </a:r>
          </a:p>
          <a:p>
            <a:pPr rtl="1" algn="r" marL="0" indent="0">
              <a:buNone/>
            </a:pPr>
            <a:r>
              <a:rPr sz="1200" lang="he-IL"/>
              <a:t>•  (3) מפגש 5: בודקים תוצאה מול ידוע מראש ורושמים ביומן AI.</a:t>
            </a:r>
          </a:p>
          <a:p>
            <a:pPr rtl="1" algn="r" marL="0" indent="0">
              <a:buNone/>
            </a:pPr>
            <a:r>
              <a:rPr sz="1200" lang="he-IL"/>
              <a:t>•  אותו מוצר מוביל, Plant Pot Plus, חוזר היום מחושב ב־SQL (33,595.62), ו־ai_log במעבדה ג׳ הוא גרסה קטנה של היומן.</a:t>
            </a:r>
          </a:p>
          <a:p>
            <a:pPr rtl="1" algn="r" marL="0" indent="0">
              <a:buNone/>
            </a:pPr>
            <a:r>
              <a:rPr sz="1200" lang="he-IL"/>
              <a:t>•  (4) מפגש 6: commit לפני, diff אחרי, והודעת ״סיימתי״ של סוכן אינה הוכחה.</a:t>
            </a:r>
          </a:p>
          <a:p>
            <a:pPr rtl="1" algn="r" marL="0" indent="0">
              <a:buNone/>
            </a:pPr>
            <a:r>
              <a:rPr sz="1200" lang="he-IL"/>
              <a:t>•  היום זה הופך לבדיקה של קוד ש־AI כתב מול חוזה.</a:t>
            </a:r>
          </a:p>
          <a:p>
            <a:pPr rtl="1" algn="r" marL="0" indent="0">
              <a:buNone/>
            </a:pPr>
            <a:r>
              <a:rPr sz="1200" lang="he-IL"/>
              <a:t>•  שאלות להיזכרות: מי זוכר מה הכלל של מפגש 6 לפני שנותנים לסוכן לעבוד?</a:t>
            </a:r>
          </a:p>
          <a:p>
            <a:pPr rtl="1" algn="r" marL="0" indent="0">
              <a:buNone/>
            </a:pPr>
            <a:r>
              <a:rPr b="1" sz="1200" lang="he-IL"/>
              <a:t>תשובה</a:t>
            </a:r>
          </a:p>
          <a:p>
            <a:pPr rtl="1" algn="r" marL="0" indent="0">
              <a:buNone/>
            </a:pPr>
            <a:r>
              <a:rPr sz="1200" lang="he-IL"/>
              <a:t>•  commit לפני, diff אחרי.</a:t>
            </a:r>
          </a:p>
          <a:p>
            <a:pPr rtl="1" algn="r" marL="0" indent="0">
              <a:buNone/>
            </a:pPr>
            <a:r>
              <a:rPr sz="1200" lang="he-IL"/>
              <a:t>•  ומה למדנו במפגש 2 על פרמטר שנראה סביר?</a:t>
            </a:r>
          </a:p>
          <a:p>
            <a:pPr rtl="1" algn="r" marL="0" indent="0">
              <a:buNone/>
            </a:pPr>
            <a:r>
              <a:rPr sz="1200" lang="he-IL"/>
              <a:t>•  הוא יכול להיות הזיה, ובודקים בתיעוד.</a:t>
            </a:r>
          </a:p>
          <a:p>
            <a:pPr rtl="1" algn="r" marL="0" indent="0">
              <a:buNone/>
            </a:pPr>
            <a:r>
              <a:rPr b="1" sz="1200" lang="he-IL"/>
              <a:t>אם הכיתה לא זוכרת</a:t>
            </a:r>
          </a:p>
          <a:p>
            <a:pPr rtl="1" algn="r" marL="0" indent="0">
              <a:buNone/>
            </a:pPr>
            <a:r>
              <a:rPr sz="1200" lang="he-IL"/>
              <a:t>•  אמרו את הכלל במשפט אחד ואל תעצרו; על מפגשים 3-4 אל תוסיפו פרטים מעבר לנושא בסילבוס.</a:t>
            </a:r>
          </a:p>
          <a:p>
            <a:pPr rtl="1" algn="r" marL="0" indent="0">
              <a:buNone/>
            </a:pPr>
            <a:r>
              <a:rPr sz="1200" lang="he-IL"/>
              <a:t>•  אם מפגרים: קראו רק את עמודת ״מה למדנו״ ועברו לשקף הבא.</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כ־דקה.</a:t>
            </a:r>
          </a:p>
          <a:p>
            <a:pPr rtl="1" algn="r" marL="0" indent="0">
              <a:buNone/>
            </a:pPr>
            <a:r>
              <a:rPr b="1" sz="1200" lang="he-IL"/>
              <a:t>מה אומרים</a:t>
            </a:r>
          </a:p>
          <a:p>
            <a:pPr rtl="1" algn="r" marL="0" indent="0">
              <a:buNone/>
            </a:pPr>
            <a:r>
              <a:rPr sz="1200" lang="he-IL"/>
              <a:t>•  זוהי שאלה לדיון קצר של דקה (שקפים 38 ו־39).</a:t>
            </a:r>
          </a:p>
          <a:p>
            <a:pPr rtl="1" algn="r" marL="0" indent="0">
              <a:buNone/>
            </a:pPr>
            <a:r>
              <a:rPr sz="1200" lang="he-IL"/>
              <a:t>•  הקריאו את השאלה: מה ההבדל המרכזי בין קונטיינר למכונה וירטואלית, ומה המשמעות?</a:t>
            </a:r>
          </a:p>
          <a:p>
            <a:pPr rtl="1" algn="r" marL="0" indent="0">
              <a:buNone/>
            </a:pPr>
            <a:r>
              <a:rPr sz="1200" lang="he-IL"/>
              <a:t>•  תנו חצי דקה לחשוב.</a:t>
            </a:r>
          </a:p>
          <a:p>
            <a:pPr rtl="1" algn="r" marL="0" indent="0">
              <a:buNone/>
            </a:pPr>
            <a:r>
              <a:rPr sz="1200" lang="he-IL"/>
              <a:t>•  רמז אם צריך: איזו שכבה חסרה בקונטיינר?</a:t>
            </a:r>
          </a:p>
          <a:p>
            <a:pPr rtl="1" algn="r" marL="0" indent="0">
              <a:buNone/>
            </a:pPr>
            <a:r>
              <a:rPr sz="1200" lang="he-IL"/>
              <a:t>•  שמעו תשובה אחת או שתיים.</a:t>
            </a:r>
          </a:p>
          <a:p>
            <a:pPr rtl="1" algn="r" marL="0" indent="0">
              <a:buNone/>
            </a:pPr>
            <a:r>
              <a:rPr sz="1200" lang="he-IL"/>
              <a:t>•  אל תחשפו את התשובה.</a:t>
            </a:r>
          </a:p>
          <a:p>
            <a:pPr rtl="1" algn="r" marL="0" indent="0">
              <a:buNone/>
            </a:pPr>
            <a:r>
              <a:rPr sz="1200" lang="he-IL"/>
              <a:t>•  זו שאלה מרכזית שחוזרת בחידון הסיום, ולכן כדאי לוודא שלפחות מחצית מהכיתה ענתה נכון לפני שממשיכים.</a:t>
            </a:r>
          </a:p>
          <a:p>
            <a:pPr rtl="1" algn="r" marL="0" indent="0">
              <a:buNone/>
            </a:pPr>
            <a:r>
              <a:rPr sz="1200" lang="he-IL"/>
              <a:t>•  דוגמה שאפשר להציע לכיתה: מה ההבדל בין להשכיר בניין שלם לדייר אחד לבין להשכיר דירה בבניין משותף?</a:t>
            </a:r>
          </a:p>
          <a:p>
            <a:pPr rtl="1" algn="r" marL="0" indent="0">
              <a:buNone/>
            </a:pPr>
            <a:r>
              <a:rPr b="1" sz="1200" lang="he-IL"/>
              <a:t>מתי לדלג</a:t>
            </a:r>
          </a:p>
          <a:p>
            <a:pPr rtl="1" algn="r" marL="0" indent="0">
              <a:buNone/>
            </a:pPr>
            <a:r>
              <a:rPr sz="1200" lang="he-IL"/>
              <a:t>•  אם מפגרים: השאלה חוזרת כשאלה 4 בחידון הסיום.</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כ־0.7 דקות.</a:t>
            </a:r>
          </a:p>
          <a:p>
            <a:pPr rtl="1" algn="r" marL="0" indent="0">
              <a:buNone/>
            </a:pPr>
            <a:r>
              <a:rPr b="1" sz="1200" lang="he-IL"/>
              <a:t>תשובה</a:t>
            </a:r>
          </a:p>
          <a:p>
            <a:pPr rtl="1" algn="r" marL="0" indent="0">
              <a:buNone/>
            </a:pPr>
            <a:r>
              <a:rPr sz="1200" lang="he-IL"/>
              <a:t>•  VM מריצה מערכת הפעלה שלמה על Hypervisor; קונטיינרים חולקים את הגרעין של המארח.</a:t>
            </a:r>
          </a:p>
          <a:p>
            <a:pPr rtl="1" algn="r" marL="0" indent="0">
              <a:buNone/>
            </a:pPr>
            <a:r>
              <a:rPr sz="1200" lang="he-IL"/>
              <a:t>•  לכן קונטיינרים קלים ומהירים יותר, אבל מבודדים פחות.</a:t>
            </a:r>
          </a:p>
          <a:p>
            <a:pPr rtl="1" algn="r" marL="0" indent="0">
              <a:buNone/>
            </a:pPr>
            <a:r>
              <a:rPr sz="1200" lang="he-IL"/>
              <a:t>•  אם סטודנט ענה זמן הפעלה או גודל, אשרו וחברו להבדל בגרעין.</a:t>
            </a:r>
          </a:p>
          <a:p>
            <a:pPr rtl="1" algn="r" marL="0" indent="0">
              <a:buNone/>
            </a:pPr>
            <a:r>
              <a:rPr sz="1200" lang="he-IL"/>
              <a:t>•  זו גם שאלה בחידון הסיום, אז אפשר לומר שנחזור אליה.</a:t>
            </a:r>
          </a:p>
          <a:p>
            <a:pPr rtl="1" algn="r" marL="0" indent="0">
              <a:buNone/>
            </a:pPr>
            <a:r>
              <a:rPr sz="1200" lang="he-IL"/>
              <a:t>•  עברו לחלק ד׳.</a:t>
            </a:r>
          </a:p>
          <a:p>
            <a:pPr rtl="1" algn="r" marL="0" indent="0">
              <a:buNone/>
            </a:pPr>
            <a:r>
              <a:rPr b="1" sz="1200" lang="he-IL"/>
              <a:t>מתי לדלג</a:t>
            </a:r>
          </a:p>
          <a:p>
            <a:pPr rtl="1" algn="r" marL="0" indent="0">
              <a:buNone/>
            </a:pPr>
            <a:r>
              <a:rPr sz="1200" lang="he-IL"/>
              <a:t>•  יחד עם השקף הקודם.</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כ־דקה.</a:t>
            </a:r>
          </a:p>
          <a:p>
            <a:pPr rtl="1" algn="r" marL="0" indent="0">
              <a:buNone/>
            </a:pPr>
            <a:r>
              <a:rPr b="1" sz="1200" lang="he-IL"/>
              <a:t>מה אומרים</a:t>
            </a:r>
          </a:p>
          <a:p>
            <a:pPr rtl="1" algn="r" marL="0" indent="0">
              <a:buNone/>
            </a:pPr>
            <a:r>
              <a:rPr sz="1200" lang="he-IL"/>
              <a:t>•  זוהי שאלה לדיון קצר של דקה (שקפים 46 ו־47).</a:t>
            </a:r>
          </a:p>
          <a:p>
            <a:pPr rtl="1" algn="r" marL="0" indent="0">
              <a:buNone/>
            </a:pPr>
            <a:r>
              <a:rPr sz="1200" lang="he-IL"/>
              <a:t>•  הקריאו את השאלה: למה ה-API מחזיר 202 ולא מחכה לתוצאה של המודל?</a:t>
            </a:r>
          </a:p>
          <a:p>
            <a:pPr rtl="1" algn="r" marL="0" indent="0">
              <a:buNone/>
            </a:pPr>
            <a:r>
              <a:rPr sz="1200" lang="he-IL"/>
              <a:t>•  תנו חצי דקה לחשוב בזוגות.</a:t>
            </a:r>
          </a:p>
          <a:p>
            <a:pPr rtl="1" algn="r" marL="0" indent="0">
              <a:buNone/>
            </a:pPr>
            <a:r>
              <a:rPr sz="1200" lang="he-IL"/>
              <a:t>•  רמז: מה קורה לשרת ולמשתמש אם המודל לוקח 10 שניות?</a:t>
            </a:r>
          </a:p>
          <a:p>
            <a:pPr rtl="1" algn="r" marL="0" indent="0">
              <a:buNone/>
            </a:pPr>
            <a:r>
              <a:rPr sz="1200" lang="he-IL"/>
              <a:t>•  שמעו תשובה אחת או שתיים.</a:t>
            </a:r>
          </a:p>
          <a:p>
            <a:pPr rtl="1" algn="r" marL="0" indent="0">
              <a:buNone/>
            </a:pPr>
            <a:r>
              <a:rPr sz="1200" lang="he-IL"/>
              <a:t>•  אל תחשפו את התשובה.</a:t>
            </a:r>
          </a:p>
          <a:p>
            <a:pPr rtl="1" algn="r" marL="0" indent="0">
              <a:buNone/>
            </a:pPr>
            <a:r>
              <a:rPr sz="1200" lang="he-IL"/>
              <a:t>•  אם הסטודנטים מתקשים, חזרו לשקף 42 והראו את שני הצדדים: משתמש 2 שממתין למשתמש 1 מול הודעת קיבלתי שחוזרת מיד.</a:t>
            </a:r>
          </a:p>
          <a:p>
            <a:pPr rtl="1" algn="r" marL="0" indent="0">
              <a:buNone/>
            </a:pPr>
            <a:r>
              <a:rPr sz="1200" lang="he-IL"/>
              <a:t>•  זו גם הזדמנות לשאול מה היה קורה אילו היו מאה משתמשים באותה שנייה.</a:t>
            </a:r>
          </a:p>
          <a:p>
            <a:pPr rtl="1" algn="r" marL="0" indent="0">
              <a:buNone/>
            </a:pPr>
            <a:r>
              <a:rPr b="1" sz="1200" lang="he-IL"/>
              <a:t>מתי לדלג</a:t>
            </a:r>
          </a:p>
          <a:p>
            <a:pPr rtl="1" algn="r" marL="0" indent="0">
              <a:buNone/>
            </a:pPr>
            <a:r>
              <a:rPr sz="1200" lang="he-IL"/>
              <a:t>•  אם מפגרים: השאלה חוזרת כחלק משאלה 5 בחידון הסיום.</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כ־0.7 דקות.</a:t>
            </a:r>
          </a:p>
          <a:p>
            <a:pPr rtl="1" algn="r" marL="0" indent="0">
              <a:buNone/>
            </a:pPr>
            <a:r>
              <a:rPr b="1" sz="1200" lang="he-IL"/>
              <a:t>תשובה</a:t>
            </a:r>
          </a:p>
          <a:p>
            <a:pPr rtl="1" algn="r" marL="0" indent="0">
              <a:buNone/>
            </a:pPr>
            <a:r>
              <a:rPr sz="1200" lang="he-IL"/>
              <a:t>•  כדי לא לחסום את השרת ולא להשאיר את המשתמש ממתין (ולהיכשל בגלל זמן קצוב).</a:t>
            </a:r>
          </a:p>
          <a:p>
            <a:pPr rtl="1" algn="r" marL="0" indent="0">
              <a:buNone/>
            </a:pPr>
            <a:r>
              <a:rPr sz="1200" lang="he-IL"/>
              <a:t>•  העבודה עוברת לתור ולעובד, והלקוח בודק סטטוס ב-GET /jobs/{id}.</a:t>
            </a:r>
          </a:p>
          <a:p>
            <a:pPr rtl="1" algn="r" marL="0" indent="0">
              <a:buNone/>
            </a:pPr>
            <a:r>
              <a:rPr sz="1200" lang="he-IL"/>
              <a:t>•  אם סטודנט ענה שזה חוסך משאבים או מאפשר הרבה משתמשים, זה נכון; חזרו למשפט של 10 שניות.</a:t>
            </a:r>
          </a:p>
          <a:p>
            <a:pPr rtl="1" algn="r" marL="0" indent="0">
              <a:buNone/>
            </a:pPr>
            <a:r>
              <a:rPr sz="1200" lang="he-IL"/>
              <a:t>•  הזכירו ש-202 הוא קוד אמיתי שמגדיר התקבל ויטופל, ושראינו אותו בטבלת הקודים.</a:t>
            </a:r>
          </a:p>
          <a:p>
            <a:pPr rtl="1" algn="r" marL="0" indent="0">
              <a:buNone/>
            </a:pPr>
            <a:r>
              <a:rPr sz="1200" lang="he-IL"/>
              <a:t>•  עברו למעבדה ג׳.</a:t>
            </a:r>
          </a:p>
          <a:p>
            <a:pPr rtl="1" algn="r" marL="0" indent="0">
              <a:buNone/>
            </a:pPr>
            <a:r>
              <a:rPr b="1" sz="1200" lang="he-IL"/>
              <a:t>מתי לדלג</a:t>
            </a:r>
          </a:p>
          <a:p>
            <a:pPr rtl="1" algn="r" marL="0" indent="0">
              <a:buNone/>
            </a:pPr>
            <a:r>
              <a:rPr sz="1200" lang="he-IL"/>
              <a:t>•  יחד עם השקף הקודם.</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כ־0.5 דקה, לקריאה בבית.</a:t>
            </a:r>
          </a:p>
          <a:p>
            <a:pPr rtl="1" algn="r" marL="0" indent="0">
              <a:buNone/>
            </a:pPr>
            <a:r>
              <a:rPr b="1" sz="1200" lang="he-IL"/>
              <a:t>מה אומרים</a:t>
            </a:r>
          </a:p>
          <a:p>
            <a:pPr rtl="1" algn="r" marL="0" indent="0">
              <a:buNone/>
            </a:pPr>
            <a:r>
              <a:rPr sz="1200" lang="he-IL"/>
              <a:t>•  שישה מקורות אקדמיים ומקצועיים, כולם נבדקו בפועל (פתיחת הדף או חיפוש) באוקטובר 2026.</a:t>
            </a:r>
          </a:p>
          <a:p>
            <a:pPr rtl="1" algn="r" marL="0" indent="0">
              <a:buNone/>
            </a:pPr>
            <a:r>
              <a:rPr sz="1200" lang="he-IL"/>
              <a:t>•  (1) Codd (1970): המאמר שהציג את המודל היחסי, ביסוד SQL והסכמות; מספר הכרך והעמודים אומתו מול כמה עותקים, ו־DOI אומת במקור משני ולכן כדאי לפתוח אותו לפני ציטוט פורמלי.</a:t>
            </a:r>
          </a:p>
          <a:p>
            <a:pPr rtl="1" algn="r" marL="0" indent="0">
              <a:buNone/>
            </a:pPr>
            <a:r>
              <a:rPr sz="1200" lang="he-IL"/>
              <a:t>•  (2) Fielding (2000): הדיסרטציה שבה הוגדר סגנון REST (פרק 5), הבסיס לעיקרון ״הכתובת היא שם והשיטה היא הפעולה״.</a:t>
            </a:r>
          </a:p>
          <a:p>
            <a:pPr rtl="1" algn="r" marL="0" indent="0">
              <a:buNone/>
            </a:pPr>
            <a:r>
              <a:rPr sz="1200" lang="he-IL"/>
              <a:t>•  (3) Merkel (2014), Linux Journal: סקירה מוקדמת של Docker כפתרון ל״dependency hell״; פורסם כשהגרסה הייתה 0.7 ולכן זו עדות היסטורית ולא תיעוד עדכני.</a:t>
            </a:r>
          </a:p>
          <a:p>
            <a:pPr rtl="1" algn="r" marL="0" indent="0">
              <a:buNone/>
            </a:pPr>
            <a:r>
              <a:rPr sz="1200" lang="he-IL"/>
              <a:t>•  (4) Burns ועמיתים (2016), ACM Queue: מקורות Kubernetes במערכות הקונטיינרים של גוגל.</a:t>
            </a:r>
          </a:p>
          <a:p>
            <a:pPr rtl="1" algn="r" marL="0" indent="0">
              <a:buNone/>
            </a:pPr>
            <a:r>
              <a:rPr sz="1200" lang="he-IL"/>
              <a:t>•  (5) Hatfield-Dodds ו־Dygalo: Schemathesis ובדיקות אוטומטיות מהחוזה, פרסום מקדים ב־arXiv:2112.10328 ופוסטר ב־ICSE 2022; המחברים הם גם מפתחי הכלי.</a:t>
            </a:r>
          </a:p>
          <a:p>
            <a:pPr rtl="1" algn="r" marL="0" indent="0">
              <a:buNone/>
            </a:pPr>
            <a:r>
              <a:rPr sz="1200" lang="he-IL"/>
              <a:t>•  (6) Böckeler (2025): מסגרת ושלוש רמות ל־spec-driven development, יחד עם ביקורת.</a:t>
            </a:r>
          </a:p>
          <a:p>
            <a:pPr rtl="1" algn="r" marL="0" indent="0">
              <a:buNone/>
            </a:pPr>
            <a:r>
              <a:rPr sz="1200" lang="he-IL"/>
              <a:t>•  אפשר להציע כהעשרה בהתנדבות: כל סטודנט מקבל מאמר אחד ומציג בשלוש דקות.</a:t>
            </a:r>
          </a:p>
          <a:p>
            <a:pPr rtl="1" algn="r" marL="0" indent="0">
              <a:buNone/>
            </a:pPr>
            <a:r>
              <a:rPr b="1" sz="1200" lang="he-IL"/>
              <a:t>שימו לב</a:t>
            </a:r>
          </a:p>
          <a:p>
            <a:pPr rtl="1" algn="r" marL="0" indent="0">
              <a:buNone/>
            </a:pPr>
            <a:r>
              <a:rPr sz="1200" lang="he-IL"/>
              <a:t>•  בתחום הזה יש מעט ספרות אקדמית מגובשת, והסילבוס מציין זאת, ולכן יש לבדוק עדכניות מקורות מקוונים מדי שנה.</a:t>
            </a:r>
          </a:p>
          <a:p>
            <a:pPr rtl="1" algn="r" marL="0" indent="0">
              <a:buNone/>
            </a:pPr>
            <a:r>
              <a:rPr sz="1200" lang="he-IL"/>
              <a:t>•  אם אין זמן: דלגו.</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כ־חצי דקה.</a:t>
            </a:r>
          </a:p>
          <a:p>
            <a:pPr rtl="1" algn="r" marL="0" indent="0">
              <a:buNone/>
            </a:pPr>
            <a:r>
              <a:rPr b="1" sz="1200" lang="he-IL"/>
              <a:t>מה אומרים</a:t>
            </a:r>
          </a:p>
          <a:p>
            <a:pPr rtl="1" algn="r" marL="0" indent="0">
              <a:buNone/>
            </a:pPr>
            <a:r>
              <a:rPr sz="1200" lang="he-IL"/>
              <a:t>•  זמן: דקה.</a:t>
            </a:r>
          </a:p>
          <a:p>
            <a:pPr rtl="1" algn="r" marL="0" indent="0">
              <a:buNone/>
            </a:pPr>
            <a:r>
              <a:rPr sz="1200" lang="he-IL"/>
              <a:t>•  קראו את הכלל בקול: החוזה קודם.</a:t>
            </a:r>
          </a:p>
          <a:p>
            <a:pPr rtl="1" algn="r" marL="0" indent="0">
              <a:buNone/>
            </a:pPr>
            <a:r>
              <a:rPr sz="1200" lang="he-IL"/>
              <a:t>•  מגדירים מה נכנס, מה יוצא ומה נחשב נכון, ואז בודקים.</a:t>
            </a:r>
          </a:p>
          <a:p>
            <a:pPr rtl="1" algn="r" marL="0" indent="0">
              <a:buNone/>
            </a:pPr>
            <a:r>
              <a:rPr sz="1200" lang="he-IL"/>
              <a:t>•  ושירות איטי שמים מאחורי תור.</a:t>
            </a:r>
          </a:p>
          <a:p>
            <a:pPr rtl="1" algn="r" marL="0" indent="0">
              <a:buNone/>
            </a:pPr>
            <a:r>
              <a:rPr sz="1200" lang="he-IL"/>
              <a:t>•  אלה שני המסרים שהסטודנטים צריכים לזכור, גם אם שכחו את כל השאר.</a:t>
            </a:r>
          </a:p>
          <a:p>
            <a:pPr rtl="1" algn="r" marL="0" indent="0">
              <a:buNone/>
            </a:pPr>
            <a:r>
              <a:rPr sz="1200" lang="he-IL"/>
              <a:t>•  הסבירו שהכלל מתחבר לכל הקורס: בשיעור 2 למדנו שמודל עלול להמציא, ולכן אימות; בשיעורים 5 ו-6 למדנו לעבוד עם הסוכן בצעדים קטנים ובסקירת diff; בשיעור 8 נלמד איך לכתוב בדיקות טובות.</a:t>
            </a:r>
          </a:p>
          <a:p>
            <a:pPr rtl="1" algn="r" marL="0" indent="0">
              <a:buNone/>
            </a:pPr>
            <a:r>
              <a:rPr b="1" sz="1200" lang="he-IL"/>
              <a:t>אנלוגיה</a:t>
            </a:r>
          </a:p>
          <a:p>
            <a:pPr rtl="1" algn="r" marL="0" indent="0">
              <a:buNone/>
            </a:pPr>
            <a:r>
              <a:rPr sz="1200" lang="he-IL"/>
              <a:t>•  במפעל, אין מקבלים משלוח בלי מפרט ובדיקת קבלה.</a:t>
            </a:r>
          </a:p>
          <a:p>
            <a:pPr rtl="1" algn="r" marL="0" indent="0">
              <a:buNone/>
            </a:pPr>
            <a:r>
              <a:rPr b="1" sz="1200" lang="he-IL"/>
              <a:t>שאלה לכיתה</a:t>
            </a:r>
          </a:p>
          <a:p>
            <a:pPr rtl="1" algn="r" marL="0" indent="0">
              <a:buNone/>
            </a:pPr>
            <a:r>
              <a:rPr sz="1200" lang="he-IL"/>
              <a:t>•  איזה משפט היה מתאים לשירות המשלוחים של המפעל?</a:t>
            </a:r>
          </a:p>
          <a:p>
            <a:pPr rtl="1" algn="r" marL="0" indent="0">
              <a:buNone/>
            </a:pPr>
            <a:r>
              <a:rPr sz="1200" lang="he-IL"/>
              <a:t>•  תשובה פתוחה, למשל: מגדירים מראש מה נחשב משלוח תקין ובודקים כל משלוח.</a:t>
            </a:r>
          </a:p>
          <a:p>
            <a:pPr rtl="1" algn="r" marL="0" indent="0">
              <a:buNone/>
            </a:pPr>
            <a:r>
              <a:rPr sz="1200" lang="he-IL"/>
              <a:t>•  עברו לחידון.</a:t>
            </a:r>
          </a:p>
          <a:p>
            <a:pPr rtl="1" algn="r" marL="0" indent="0">
              <a:buNone/>
            </a:pPr>
            <a:r>
              <a:rPr b="1" sz="1200" lang="he-IL"/>
              <a:t>חיבור לשיעורים קודמים</a:t>
            </a:r>
          </a:p>
          <a:p>
            <a:pPr rtl="1" algn="r" marL="0" indent="0">
              <a:buNone/>
            </a:pPr>
            <a:r>
              <a:rPr sz="1200" lang="he-IL"/>
              <a:t>•  מפגש 2 (בודקים בתיעוד), מפגש 5 (בודקים מול ידוע מראש), מפגש 6 (commit לפני, diff אחרי), ועכשיו מפגש 7: החוזה קודם, ואז בודקים מולו.</a:t>
            </a:r>
          </a:p>
          <a:p>
            <a:pPr rtl="1" algn="r" marL="0" indent="0">
              <a:buNone/>
            </a:pPr>
            <a:r>
              <a:rPr sz="1200" lang="he-IL"/>
              <a:t>•  החוזה הוא ״הידוע מראש״ של השירות.</a:t>
            </a:r>
          </a:p>
          <a:p>
            <a:pPr rtl="1" algn="r" marL="0" indent="0">
              <a:buNone/>
            </a:pPr>
            <a:r>
              <a:rPr b="1" sz="1200" lang="he-IL"/>
              <a:t>שאלת היזכרות</a:t>
            </a:r>
          </a:p>
          <a:p>
            <a:pPr rtl="1" algn="r" marL="0" indent="0">
              <a:buNone/>
            </a:pPr>
            <a:r>
              <a:rPr sz="1200" lang="he-IL"/>
              <a:t>•  איזה כלל קודם הכי קרוב לכלל של היום?</a:t>
            </a:r>
          </a:p>
          <a:p>
            <a:pPr rtl="1" algn="r" marL="0" indent="0">
              <a:buNone/>
            </a:pPr>
            <a:r>
              <a:rPr b="1" sz="1200" lang="he-IL"/>
              <a:t>תשובה</a:t>
            </a:r>
          </a:p>
          <a:p>
            <a:pPr rtl="1" algn="r" marL="0" indent="0">
              <a:buNone/>
            </a:pPr>
            <a:r>
              <a:rPr sz="1200" lang="he-IL"/>
              <a:t>•  מפגש 5, בודקים מול ידוע מראש.</a:t>
            </a:r>
          </a:p>
          <a:p>
            <a:pPr rtl="1" algn="r" marL="0" indent="0">
              <a:buNone/>
            </a:pPr>
            <a:r>
              <a:rPr b="1" sz="1200" lang="he-IL"/>
              <a:t>אם הכיתה לא זוכרת</a:t>
            </a:r>
          </a:p>
          <a:p>
            <a:pPr rtl="1" algn="r" marL="0" indent="0">
              <a:buNone/>
            </a:pPr>
            <a:r>
              <a:rPr sz="1200" lang="he-IL"/>
              <a:t>•  אמרו ״השוואה לתשובה שקבענו מראש״.</a:t>
            </a:r>
          </a:p>
          <a:p>
            <a:pPr rtl="1" algn="r" marL="0" indent="0">
              <a:buNone/>
            </a:pPr>
            <a:r>
              <a:rPr sz="1200" lang="he-IL"/>
              <a:t>•  קדימה: במפגש 8 הופכים את הבדיקות האלה לבדיקות אוטומטיות טובות.</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כ־1.2 דקות להצגת השאלות והמענה.</a:t>
            </a:r>
          </a:p>
          <a:p>
            <a:pPr rtl="1" algn="r" marL="0" indent="0">
              <a:buNone/>
            </a:pPr>
            <a:r>
              <a:rPr b="1" sz="1200" lang="he-IL"/>
              <a:t>מה אומרים</a:t>
            </a:r>
          </a:p>
          <a:p>
            <a:pPr rtl="1" algn="r" marL="0" indent="0">
              <a:buNone/>
            </a:pPr>
            <a:r>
              <a:rPr sz="1200" lang="he-IL"/>
              <a:t>•  חידון סיום, כ־3 שאלות מתוך 5 (שקפים 88-89), ומשמש גם כבנק שאלות.</a:t>
            </a:r>
          </a:p>
          <a:p>
            <a:pPr rtl="1" algn="r" marL="0" indent="0">
              <a:buNone/>
            </a:pPr>
            <a:r>
              <a:rPr sz="1200" lang="he-IL"/>
              <a:t>•  הציגו כל שאלה בנפרד, תנו 20 שניות להכין תשובה בעל פה או במענה בצ׳אט, ואז עברו לשקף התשובות.</a:t>
            </a:r>
          </a:p>
          <a:p>
            <a:pPr rtl="1" algn="r" marL="0" indent="0">
              <a:buNone/>
            </a:pPr>
            <a:r>
              <a:rPr sz="1200" lang="he-IL"/>
              <a:t>•  חמש שאלות: (1) מה ההבדל בין OpenAPI ל־Swagger UI; (2) 404, 422 ו־500: מי אשם ומה עושים (חלק א׳ ומעבדה א׳); (3) JOIN שהכפיל שורות: איך מגלים (חלק ב׳ ומעבדה ב׳); (4) קונטיינר מול VM (חלק ג׳); (5) למה מחזירים 202, ומה תפקיד התור לעומת הספרייה (חלק ד׳).</a:t>
            </a:r>
          </a:p>
          <a:p>
            <a:pPr rtl="1" algn="r" marL="0" indent="0">
              <a:buNone/>
            </a:pPr>
            <a:r>
              <a:rPr sz="1200" lang="he-IL"/>
              <a:t>•  השאלות עודכנו כדי שיכסו את מה שהמעבדות באמת מתרגלות; שאלות על Kubernetes ועל Flower הוצאו מהחידון כי הנושאים בהעשרה.</a:t>
            </a:r>
          </a:p>
          <a:p>
            <a:pPr rtl="1" algn="r" marL="0" indent="0">
              <a:buNone/>
            </a:pPr>
            <a:r>
              <a:rPr sz="1200" lang="he-IL"/>
              <a:t>•  אם הזמן קצר, בחרו שלוש: 2, 3 ו־5.</a:t>
            </a:r>
          </a:p>
          <a:p>
            <a:pPr rtl="1" algn="r" marL="0" indent="0">
              <a:buNone/>
            </a:pPr>
            <a:r>
              <a:rPr sz="1200" lang="he-IL"/>
              <a:t>•  מה לבדוק: שהסטודנטים מבחינים בין הסטנדרט לבין הממשק, בין 4xx ל־5xx, ובין Celery (ספרייה) ל־Redis (תור).</a:t>
            </a:r>
          </a:p>
          <a:p>
            <a:pPr rtl="1" algn="r" marL="0" indent="0">
              <a:buNone/>
            </a:pPr>
            <a:r>
              <a:rPr sz="1200" lang="he-IL"/>
              <a:t>•  אל תאריכו בהסברים, אלא רק בשאלות שרוב הכיתה טעתה בהן.</a:t>
            </a:r>
          </a:p>
          <a:p>
            <a:pPr rtl="1" algn="r" marL="0" indent="0">
              <a:buNone/>
            </a:pPr>
            <a:r>
              <a:rPr sz="1200" lang="he-IL"/>
              <a:t>•  אם יש זמן, השאלות האופציונליות שבאמצע המפגש (38-39, 46-47) הן גרסאות מורחבות של שאלות 4 ו־5.</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מה אומרים</a:t>
            </a:r>
          </a:p>
          <a:p>
            <a:pPr rtl="1" algn="r" marL="0" indent="0">
              <a:buNone/>
            </a:pPr>
            <a:r>
              <a:rPr sz="1200" lang="he-IL"/>
              <a:t>•  תשובות לחידון.</a:t>
            </a:r>
          </a:p>
          <a:p>
            <a:pPr rtl="1" algn="r" marL="0" indent="0">
              <a:buNone/>
            </a:pPr>
            <a:r>
              <a:rPr sz="1200" lang="he-IL"/>
              <a:t>•  (1) OpenAPI הוא תיאור (חוזה) של ה־API בקובץ, ו־Swagger UI הוא ממשק שמציג אותו ומאפשר לנסות.</a:t>
            </a:r>
          </a:p>
          <a:p>
            <a:pPr rtl="1" algn="r" marL="0" indent="0">
              <a:buNone/>
            </a:pPr>
            <a:r>
              <a:rPr sz="1200" lang="he-IL"/>
              <a:t>•  (2) 404: המשאב לא קיים.</a:t>
            </a:r>
          </a:p>
          <a:p>
            <a:pPr rtl="1" algn="r" marL="0" indent="0">
              <a:buNone/>
            </a:pPr>
            <a:r>
              <a:rPr sz="1200" lang="he-IL"/>
              <a:t>•  422: הקלט לא חוקי לפי החוזה (מגיע מהמודל, לפני הקוד שלנו).</a:t>
            </a:r>
          </a:p>
          <a:p>
            <a:pPr rtl="1" algn="r" marL="0" indent="0">
              <a:buNone/>
            </a:pPr>
            <a:r>
              <a:rPr sz="1200" lang="he-IL"/>
              <a:t>•  500: השרת נכשל, ולא באשמת הבקשה.</a:t>
            </a:r>
          </a:p>
          <a:p>
            <a:pPr rtl="1" algn="r" marL="0" indent="0">
              <a:buNone/>
            </a:pPr>
            <a:r>
              <a:rPr sz="1200" lang="he-IL"/>
              <a:t>•  על 4xx מתקנים את הבקשה (חוץ מ־429, שבו ממתינים), ועל 5xx אפשר לנסות שוב מאוחר יותר; הכלל האחרון הוא המלצת פרקטיקה.</a:t>
            </a:r>
          </a:p>
          <a:p>
            <a:pPr rtl="1" algn="r" marL="0" indent="0">
              <a:buNone/>
            </a:pPr>
            <a:r>
              <a:rPr sz="1200" lang="he-IL"/>
              <a:t>•  (3) סופרים שורות לפני ואחרי ומשווים לסכום מוכר: בחיבור ספקים למוצרים 8 שורות הפכו ל־200, והסכום קפץ מ־82 ל־2,053; שורה בצד ״אחד״ חוזרת פעם לכל התאמה.</a:t>
            </a:r>
          </a:p>
          <a:p>
            <a:pPr rtl="1" algn="r" marL="0" indent="0">
              <a:buNone/>
            </a:pPr>
            <a:r>
              <a:rPr sz="1200" lang="he-IL"/>
              <a:t>•  (4) VM מריצה מערכת הפעלה שלמה על Hypervisor; קונטיינרים חולקים את הגרעין של המארח, ולכן קלים ומהירים יותר ומבודדים פחות.</a:t>
            </a:r>
          </a:p>
          <a:p>
            <a:pPr rtl="1" algn="r" marL="0" indent="0">
              <a:buNone/>
            </a:pPr>
            <a:r>
              <a:rPr sz="1200" lang="he-IL"/>
              <a:t>•  (5) כדי לא לחסום את השרת, ה־API מחזיר 202 והעבודה עוברת לתור (Redis) ולעובד; הלקוח בודק סטטוס.</a:t>
            </a:r>
          </a:p>
          <a:p>
            <a:pPr rtl="1" algn="r" marL="0" indent="0">
              <a:buNone/>
            </a:pPr>
            <a:r>
              <a:rPr sz="1200" lang="he-IL"/>
              <a:t>•  Celery היא הספרייה שמגדירה משימות ועובדים, ו־Redis הוא ה־broker, התור.</a:t>
            </a:r>
          </a:p>
          <a:p>
            <a:pPr rtl="1" algn="r" marL="0" indent="0">
              <a:buNone/>
            </a:pPr>
            <a:r>
              <a:rPr sz="1200" lang="he-IL"/>
              <a:t>•  אם רוב הכיתה טעתה בשאלה מסוימת, חזרו לשקף הרלוונטי: 10 (OpenAPI), 8 ו־9 (קודי סטטוס), 25 (JOIN), 33 (VM), 40-42 (202 ותור).</a:t>
            </a:r>
          </a:p>
          <a:p>
            <a:pPr rtl="1" algn="r" marL="0" indent="0">
              <a:buNone/>
            </a:pPr>
            <a:r>
              <a:rPr b="1" sz="1200" lang="he-IL"/>
              <a:t>חיבור לשיעורים קודמים</a:t>
            </a:r>
          </a:p>
          <a:p>
            <a:pPr rtl="1" algn="r" marL="0" indent="0">
              <a:buNone/>
            </a:pPr>
            <a:r>
              <a:rPr sz="1200" lang="he-IL"/>
              <a:t>•  חידון דומה יתקיים בשיעורים הבאים.</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כ־חצי דקה.</a:t>
            </a:r>
          </a:p>
          <a:p>
            <a:pPr rtl="1" algn="r" marL="0" indent="0">
              <a:buNone/>
            </a:pPr>
            <a:r>
              <a:rPr b="1" sz="1200" lang="he-IL"/>
              <a:t>מה אומרים</a:t>
            </a:r>
          </a:p>
          <a:p>
            <a:pPr rtl="1" algn="r" marL="0" indent="0">
              <a:buNone/>
            </a:pPr>
            <a:r>
              <a:rPr sz="1200" lang="he-IL"/>
              <a:t>•  סיכום, כ-1 דקה.</a:t>
            </a:r>
          </a:p>
          <a:p>
            <a:pPr rtl="1" algn="r" marL="0" indent="0">
              <a:buNone/>
            </a:pPr>
            <a:r>
              <a:rPr sz="1200" lang="he-IL"/>
              <a:t>•  ארבעה מסרים.</a:t>
            </a:r>
          </a:p>
          <a:p>
            <a:pPr rtl="1" algn="r" marL="0" indent="0">
              <a:buNone/>
            </a:pPr>
            <a:r>
              <a:rPr sz="1200" lang="he-IL"/>
              <a:t>•  (1) HTTP: בקשה ותגובה עם סטטוס, כותרות וגוף; OpenAPI הוא החוזה ו-Swagger UI מציג אותו ומאפשר לבדוק לפיו.</a:t>
            </a:r>
          </a:p>
          <a:p>
            <a:pPr rtl="1" algn="r" marL="0" indent="0">
              <a:buNone/>
            </a:pPr>
            <a:r>
              <a:rPr sz="1200" lang="he-IL"/>
              <a:t>•  (2) שירות מאבני בניין: FastAPI, מסד SQL עם סכמה, וממשק Streamlit; ה-AI כותב חלקים קטנים, והבדיקות מאמתות; ובמסד, מאמתים שאילתות (ספירת שורות, סכום מוכר), כי JOIN עלול להכפיל.</a:t>
            </a:r>
          </a:p>
          <a:p>
            <a:pPr rtl="1" algn="r" marL="0" indent="0">
              <a:buNone/>
            </a:pPr>
            <a:r>
              <a:rPr sz="1200" lang="he-IL"/>
              <a:t>•  (3) Docker אורז קוד וסביבה; קונטיינרים חולקים גרעין, בניגוד ל-VM; Kubernetes מנהל קונטיינרים רבים.</a:t>
            </a:r>
          </a:p>
          <a:p>
            <a:pPr rtl="1" algn="r" marL="0" indent="0">
              <a:buNone/>
            </a:pPr>
            <a:r>
              <a:rPr sz="1200" lang="he-IL"/>
              <a:t>•  (4) מודל איטי: API דק, תור (Redis), עובדים (Celery) וניטור (Flower), ובפרויקט קוראים ל-LLM API.</a:t>
            </a:r>
          </a:p>
          <a:p>
            <a:pPr rtl="1" algn="r" marL="0" indent="0">
              <a:buNone/>
            </a:pPr>
            <a:r>
              <a:rPr sz="1200" lang="he-IL"/>
              <a:t>•  בקשו מהסטודנטים להשלים בעל פה: מה למדנו על החוזה, ועל התור?</a:t>
            </a:r>
          </a:p>
          <a:p>
            <a:pPr rtl="1" algn="r" marL="0" indent="0">
              <a:buNone/>
            </a:pPr>
            <a:r>
              <a:rPr sz="1200" lang="he-IL"/>
              <a:t>•  שימו לב שהמסר של סיכום אחד הוא: מתחילים בחוזה ובבדיקות, לא בקוד.</a:t>
            </a:r>
          </a:p>
          <a:p>
            <a:pPr rtl="1" algn="r" marL="0" indent="0">
              <a:buNone/>
            </a:pPr>
            <a:r>
              <a:rPr b="1" sz="1200" lang="he-IL"/>
              <a:t>חיבור לשיעורים קודמים</a:t>
            </a:r>
          </a:p>
          <a:p>
            <a:pPr rtl="1" algn="r" marL="0" indent="0">
              <a:buNone/>
            </a:pPr>
            <a:r>
              <a:rPr sz="1200" lang="he-IL"/>
              <a:t>•  שיעורים 5, 6, 8 ו-10.</a:t>
            </a:r>
          </a:p>
          <a:p>
            <a:pPr rtl="1" algn="r" marL="0" indent="0">
              <a:buNone/>
            </a:pPr>
            <a:r>
              <a:rPr sz="1200" lang="he-IL"/>
              <a:t>•  חזרה אחורה: סיכום המפגש מוסיף חוליה לשרשרת של הקורס: מהזיות (מפגש 2), דרך בדיקה מול ידוע (מפגש 5) ורשת הביטחון של Git (מפגש 6), אל שירות שיש לו חוזה ושבודקים מולו.</a:t>
            </a:r>
          </a:p>
          <a:p>
            <a:pPr rtl="1" algn="r" marL="0" indent="0">
              <a:buNone/>
            </a:pPr>
            <a:r>
              <a:rPr sz="1200" lang="he-IL"/>
              <a:t>•  אפשר לשאול: איזו חוליה מהשרשרת השתמשתם בה היום במעבדה?</a:t>
            </a:r>
          </a:p>
          <a:p>
            <a:pPr rtl="1" algn="r" marL="0" indent="0">
              <a:buNone/>
            </a:pPr>
            <a:r>
              <a:rPr sz="1200" lang="he-IL"/>
              <a:t>•  תשובות לדוגמה: תחזית לפני הרצה, בדיקה מול ידוע, בדיקה של קוד ש־AI כתב.</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כ־0.8 דקות.</a:t>
            </a:r>
          </a:p>
          <a:p>
            <a:pPr rtl="1" algn="r" marL="0" indent="0">
              <a:buNone/>
            </a:pPr>
            <a:r>
              <a:rPr b="1" sz="1200" lang="he-IL"/>
              <a:t>מה אומרים</a:t>
            </a:r>
          </a:p>
          <a:p>
            <a:pPr rtl="1" algn="r" marL="0" indent="0">
              <a:buNone/>
            </a:pPr>
            <a:r>
              <a:rPr sz="1200" lang="he-IL"/>
              <a:t>•  שיעורי בית והכנה לשיעור 8, כ-1 דקה.</a:t>
            </a:r>
          </a:p>
          <a:p>
            <a:pPr rtl="1" algn="r" marL="0" indent="0">
              <a:buNone/>
            </a:pPr>
            <a:r>
              <a:rPr sz="1200" lang="he-IL"/>
              <a:t>•  שלוש משימות: (1) לבחור API ונתונים לפרויקט הקבוצתי; (2) לכתוב חוזה (OpenAPI) וסכמה לליבת הפרויקט, ואפשר להשתמש בתבנית המפרט משקף 68 (העשרה) ובבקשת הסכמה לסוכן משקף 29; (3) לוודא שהשירות עובר בדיקות בהרצה נקייה: venv חדש, התקנה, pytest.</a:t>
            </a:r>
          </a:p>
          <a:p>
            <a:pPr rtl="1" algn="r" marL="0" indent="0">
              <a:buNone/>
            </a:pPr>
            <a:r>
              <a:rPr sz="1200" lang="he-IL"/>
              <a:t>•  השלמת חלקי הבית של המחברת HM_07: ה׳ (תור), ו׳ (Docker ו-Kubernetes בקריאה) ו-ז׳ (API חיצוני, אופציונלי), בשקף 58, וכן האתגר של החלפת classify ב-LLM API (שקף 82, העשרה).</a:t>
            </a:r>
          </a:p>
          <a:p>
            <a:pPr rtl="1" algn="r" marL="0" indent="0">
              <a:buNone/>
            </a:pPr>
            <a:r>
              <a:rPr sz="1200" lang="he-IL"/>
              <a:t>•  שיעור 8 הבא: בדיקות ואיכות קוד, מ״זה עובד״ ל״זה נכון״; הוא ירחיב על הבדיקות שנגענו בהן היום.</a:t>
            </a:r>
          </a:p>
          <a:p>
            <a:pPr rtl="1" algn="r" marL="0" indent="0">
              <a:buNone/>
            </a:pPr>
            <a:r>
              <a:rPr sz="1200" lang="he-IL"/>
              <a:t>•  בקשו מהסטודנטים להביא את מחברת HM_07 שהושלמה, ואת הפרויקט כפי שהוא עד כה.</a:t>
            </a:r>
          </a:p>
          <a:p>
            <a:pPr rtl="1" algn="r" marL="0" indent="0">
              <a:buNone/>
            </a:pPr>
            <a:r>
              <a:rPr sz="1200" lang="he-IL"/>
              <a:t>•  ודאו לפני שמסיימים שכולם יודעים איפה המחברת (הקישור או ה-QR שהוכנו) ושחלקי הבית ברורים.</a:t>
            </a:r>
          </a:p>
          <a:p>
            <a:pPr rtl="1" algn="r" marL="0" indent="0">
              <a:buNone/>
            </a:pPr>
            <a:r>
              <a:rPr sz="1200" lang="he-IL"/>
              <a:t>•  תודה והמשך יום טוב.</a:t>
            </a:r>
          </a:p>
          <a:p>
            <a:pPr rtl="1" algn="r" marL="0" indent="0">
              <a:buNone/>
            </a:pPr>
            <a:r>
              <a:rPr b="1" sz="1200" lang="he-IL"/>
              <a:t>חיבור לשיעורים קודמים</a:t>
            </a:r>
          </a:p>
          <a:p>
            <a:pPr rtl="1" algn="r" marL="0" indent="0">
              <a:buNone/>
            </a:pPr>
            <a:r>
              <a:rPr sz="1200" lang="he-IL"/>
              <a:t>•  החוזה קודם, ואז בודקים מולו.</a:t>
            </a:r>
          </a:p>
          <a:p>
            <a:pPr rtl="1" algn="r" marL="0" indent="0">
              <a:buNone/>
            </a:pPr>
            <a:r>
              <a:rPr sz="1200" lang="he-IL"/>
              <a:t>•  חזרה לשאלה של תחילת המפגש (שקף 5): בסוף מפגש 6 ביקשנו לחשוב איזה מידע חיצוני הפרויקט צריך; היום זה הפך לחוזה וסכמה לליבת הפרויקט (משימה 2).</a:t>
            </a:r>
          </a:p>
          <a:p>
            <a:pPr rtl="1" algn="r" marL="0" indent="0">
              <a:buNone/>
            </a:pPr>
            <a:r>
              <a:rPr sz="1200" lang="he-IL"/>
              <a:t>•  קדימה: במפגש 8 נבדוק אותם, ונלמד מה הופך בדיקה לטובה.</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מה אומרים</a:t>
            </a:r>
          </a:p>
          <a:p>
            <a:pPr rtl="1" algn="r" marL="0" indent="0">
              <a:buNone/>
            </a:pPr>
            <a:r>
              <a:rPr sz="1200" lang="he-IL"/>
              <a:t>•  פתיחה (6 דקות בסך הכול לשקפים 1 עד 6).</a:t>
            </a:r>
          </a:p>
          <a:p>
            <a:pPr rtl="1" algn="r" marL="0" indent="0">
              <a:buNone/>
            </a:pPr>
            <a:r>
              <a:rPr b="1" sz="1200" lang="he-IL"/>
              <a:t>מטרה</a:t>
            </a:r>
          </a:p>
          <a:p>
            <a:pPr rtl="1" algn="r" marL="0" indent="0">
              <a:buNone/>
            </a:pPr>
            <a:r>
              <a:rPr sz="1200" lang="he-IL"/>
              <a:t>•  ליצור את הפער בין מה שהסטודנטים מכירים, Notebook שרץ אצלם על מחשב אחד, לבין שירות שאחרים משתמשים בו.</a:t>
            </a:r>
          </a:p>
          <a:p>
            <a:pPr rtl="1" algn="r" marL="0" indent="0">
              <a:buNone/>
            </a:pPr>
            <a:r>
              <a:rPr sz="1200" lang="he-IL"/>
              <a:t>•  הצביעו על שני הצדדים: ב-Notebook יש משתמש אחד, מחשב אחד והרצה ידנית; בשירות יש הרבה משתמשים בו-זמנית, זמינות תמידית, בדיקות, ניטור ועדכונים.</a:t>
            </a:r>
          </a:p>
          <a:p>
            <a:pPr rtl="1" algn="r" marL="0" indent="0">
              <a:buNone/>
            </a:pPr>
            <a:r>
              <a:rPr b="1" sz="1200" lang="he-IL"/>
              <a:t>שאלה לכיתה</a:t>
            </a:r>
          </a:p>
          <a:p>
            <a:pPr rtl="1" algn="r" marL="0" indent="0">
              <a:buNone/>
            </a:pPr>
            <a:r>
              <a:rPr sz="1200" lang="he-IL"/>
              <a:t>•  מה צריך לקרות כדי שמחלקת הרכש של מפעל תשתמש בכלי החיזוי שבניתם, בלי שאתם יושבים ליד המחשב?</a:t>
            </a:r>
          </a:p>
          <a:p>
            <a:pPr rtl="1" algn="r" marL="0" indent="0">
              <a:buNone/>
            </a:pPr>
            <a:r>
              <a:rPr b="1" sz="1200" lang="he-IL"/>
              <a:t>תשובה</a:t>
            </a:r>
          </a:p>
          <a:p>
            <a:pPr rtl="1" algn="r" marL="0" indent="0">
              <a:buNone/>
            </a:pPr>
            <a:r>
              <a:rPr sz="1200" lang="he-IL"/>
              <a:t>•  שירות שרץ על שרת, ממשק, דרך לשלוח לו נתונים, ידיעה מה קורה כשהוא נכשל.</a:t>
            </a:r>
          </a:p>
          <a:p>
            <a:pPr rtl="1" algn="r" marL="0" indent="0">
              <a:buNone/>
            </a:pPr>
            <a:r>
              <a:rPr sz="1200" lang="he-IL"/>
              <a:t>•  אמרו שהיום עוברים על התשובה חלק אחרי חלק: API וחוזה, ממשק ומסד נתונים, קונטיינרים, ותור למודל.</a:t>
            </a:r>
          </a:p>
          <a:p>
            <a:pPr rtl="1" algn="r" marL="0" indent="0">
              <a:buNone/>
            </a:pPr>
            <a:r>
              <a:rPr b="1" sz="1200" lang="he-IL"/>
              <a:t>חיבור לשיעורים קודמים</a:t>
            </a:r>
          </a:p>
          <a:p>
            <a:pPr rtl="1" algn="r" marL="0" indent="0">
              <a:buNone/>
            </a:pPr>
            <a:r>
              <a:rPr sz="1200" lang="he-IL"/>
              <a:t>•  בשיעורים 5 ו-6 למדנו לעבוד עם הסוכן, ה-harness ולולאת הסוכן עם Git; היום הופכים קוד שעובד אצלנו לשירות, ושיעור 8 יעסוק בבדיקות.</a:t>
            </a:r>
          </a:p>
          <a:p>
            <a:pPr rtl="1" algn="r" marL="0" indent="0">
              <a:buNone/>
            </a:pPr>
            <a:r>
              <a:rPr b="1" sz="1200" lang="he-IL"/>
              <a:t>שימו לב</a:t>
            </a:r>
          </a:p>
          <a:p>
            <a:pPr rtl="1" algn="r" marL="0" indent="0">
              <a:buNone/>
            </a:pPr>
            <a:r>
              <a:rPr sz="1200" lang="he-IL"/>
              <a:t>•  המפגש עמוס מאוד, ולכן עברו מהר על הפתיחה.</a:t>
            </a:r>
          </a:p>
          <a:p>
            <a:pPr rtl="1" algn="r" marL="0" indent="0">
              <a:buNone/>
            </a:pPr>
            <a:r>
              <a:rPr sz="1200" lang="he-IL"/>
              <a:t>•  תגיות בפינת השקפים: בלי תג = ליבה, שמספיקה ל־90 הדקות</a:t>
            </a:r>
          </a:p>
          <a:p>
            <a:pPr rtl="1" algn="r" marL="0" indent="0">
              <a:buNone/>
            </a:pPr>
            <a:r>
              <a:rPr sz="1200" lang="he-IL"/>
              <a:t>•  תג כחול ״אופציונלי״ = שאלות בדיקה ושקף אחד על מבנה Docker שאפשר להשתמש בהן אם יש זמן</a:t>
            </a:r>
          </a:p>
          <a:p>
            <a:pPr rtl="1" algn="r" marL="0" indent="0">
              <a:buNone/>
            </a:pPr>
            <a:r>
              <a:rPr sz="1200" lang="he-IL"/>
              <a:t>•  תג סגול ״העשרה״ = מקטע ההעמקה שלפני הסיכום, לזמן פנוי או לקריאה בבית</a:t>
            </a:r>
          </a:p>
          <a:p>
            <a:pPr rtl="1" algn="r" marL="0" indent="0">
              <a:buNone/>
            </a:pPr>
            <a:r>
              <a:rPr sz="1200" lang="he-IL"/>
              <a:t>•  תג כתום קטן ״ממפגש K״ = חזרה קצרה על מה שנלמד קודם.</a:t>
            </a:r>
          </a:p>
          <a:p>
            <a:pPr rtl="1" algn="r" marL="0" indent="0">
              <a:buNone/>
            </a:pPr>
            <a:r>
              <a:rPr sz="1200" lang="he-IL"/>
              <a:t>•  מיד אחרי מפת המפגש (שקף 3) באים שקף השרשרת (שקף 4), שמחבר את מפגשים 2 עד 6 למה שנעשה היום, ושקף השאלה של היום (שקף 5), שנולדת ממה שנשאר פתוח בסוף מפגש 6.</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מה אומרים</a:t>
            </a:r>
          </a:p>
          <a:p>
            <a:pPr rtl="1" algn="r" marL="0" indent="0">
              <a:buNone/>
            </a:pPr>
            <a:r>
              <a:rPr sz="1200" lang="he-IL"/>
              <a:t>•  זמן: דקה.</a:t>
            </a:r>
          </a:p>
          <a:p>
            <a:pPr rtl="1" algn="r" marL="0" indent="0">
              <a:buNone/>
            </a:pPr>
            <a:r>
              <a:rPr sz="1200" lang="he-IL"/>
              <a:t>•  זו מפת הארכיטקטורה של כל השירות, ונחזור אליה בכל חלק ונדגיש את החלק הרלוונטי (השקפים 41 ו־71 משתמשים באותו ציור).</a:t>
            </a:r>
          </a:p>
          <a:p>
            <a:pPr rtl="1" algn="r" marL="0" indent="0">
              <a:buNone/>
            </a:pPr>
            <a:r>
              <a:rPr sz="1200" lang="he-IL"/>
              <a:t>•  קראו מלמעלה למטה: המשתמש רואה ממשק (Streamlit)</a:t>
            </a:r>
          </a:p>
          <a:p>
            <a:pPr rtl="1" algn="r" marL="0" indent="0">
              <a:buNone/>
            </a:pPr>
            <a:r>
              <a:rPr sz="1200" lang="he-IL"/>
              <a:t>•  הממשק פונה ל-API (FastAPI) ב-HTTP</a:t>
            </a:r>
          </a:p>
          <a:p>
            <a:pPr rtl="1" algn="r" marL="0" indent="0">
              <a:buNone/>
            </a:pPr>
            <a:r>
              <a:rPr sz="1200" lang="he-IL"/>
              <a:t>•  ה-API קורא וכותב למסד הנתונים (SQL)</a:t>
            </a:r>
          </a:p>
          <a:p>
            <a:pPr rtl="1" algn="r" marL="0" indent="0">
              <a:buNone/>
            </a:pPr>
            <a:r>
              <a:rPr sz="1200" lang="he-IL"/>
              <a:t>•  בקשה שמצריכה מודל איטי נרשמת בתור (Redis), עובד (Celery עם המודל) לוקח אותה, שומר את התוצאה במסד, ו-Flower מציג מה קורה</a:t>
            </a:r>
          </a:p>
          <a:p>
            <a:pPr rtl="1" algn="r" marL="0" indent="0">
              <a:buNone/>
            </a:pPr>
            <a:r>
              <a:rPr sz="1200" lang="he-IL"/>
              <a:t>•  ולבסוף הכול ארוז בקונטיינרים (Docker) שאפשר להריץ על הרבה מכונות (Kubernetes).</a:t>
            </a:r>
          </a:p>
          <a:p>
            <a:pPr rtl="1" algn="r" marL="0" indent="0">
              <a:buNone/>
            </a:pPr>
            <a:r>
              <a:rPr sz="1200" lang="he-IL"/>
              <a:t>•  אנלוגיה לתעשייה וניהול: זה קו ייצור.</a:t>
            </a:r>
          </a:p>
          <a:p>
            <a:pPr rtl="1" algn="r" marL="0" indent="0">
              <a:buNone/>
            </a:pPr>
            <a:r>
              <a:rPr sz="1200" lang="he-IL"/>
              <a:t>•  הקבלה היא ה-API, התור הוא פס ההזמנות, העובד הוא העמדה שמבצעת עבודה איטית, ו-Flower הוא לוח הבקרה של מנהל הייצור.</a:t>
            </a:r>
          </a:p>
          <a:p>
            <a:pPr rtl="1" algn="r" marL="0" indent="0">
              <a:buNone/>
            </a:pPr>
            <a:r>
              <a:rPr sz="1200" lang="he-IL"/>
              <a:t>•  חלק א׳ הוא ה-API, חלק ב׳ הוא הממשק והמסד, חלק ג׳ הוא קונטיינרים, חלק ד׳ הוא התור והמודל.</a:t>
            </a:r>
          </a:p>
          <a:p>
            <a:pPr rtl="1" algn="r" marL="0" indent="0">
              <a:buNone/>
            </a:pPr>
            <a:r>
              <a:rPr sz="1200" lang="he-IL"/>
              <a:t>•  ביקשו מהסטודנטים רק לזכור את הציור, לא את הפרטים.</a:t>
            </a:r>
          </a:p>
          <a:p>
            <a:pPr rtl="1" algn="r" marL="0" indent="0">
              <a:buNone/>
            </a:pPr>
            <a:r>
              <a:rPr b="1" sz="1200" lang="he-IL"/>
              <a:t>שימו לב</a:t>
            </a:r>
          </a:p>
          <a:p>
            <a:pPr rtl="1" algn="r" marL="0" indent="0">
              <a:buNone/>
            </a:pPr>
            <a:r>
              <a:rPr sz="1200" lang="he-IL"/>
              <a:t>•  Kubernetes ו־Flower מופיעים כאן להקשר בלבד; ההרחבה עליהם נמצאת במקטע ההעשרה (שקפים 76-78 ו־76).</a:t>
            </a:r>
          </a:p>
          <a:p>
            <a:pPr rtl="1" algn="r" marL="0" indent="0">
              <a:buNone/>
            </a:pPr>
            <a:r>
              <a:rPr b="1" sz="1200" lang="he-IL"/>
              <a:t>חיבור לשיעורים קודמים</a:t>
            </a:r>
          </a:p>
          <a:p>
            <a:pPr rtl="1" algn="r" marL="0" indent="0">
              <a:buNone/>
            </a:pPr>
            <a:r>
              <a:rPr sz="1200" lang="he-IL"/>
              <a:t>•  המפה הזו עונה על השאלה בשקף 5, מה צריך כדי שקוד שעובד אצלנו יהפוך לשירות.</a:t>
            </a:r>
          </a:p>
          <a:p>
            <a:pPr rtl="1" algn="r" marL="0" indent="0">
              <a:buNone/>
            </a:pPr>
            <a:r>
              <a:rPr sz="1200" lang="he-IL"/>
              <a:t>•  בכל חלק נדגיש את הרכיב שנוסף למפה.</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כ־1.5 דקות.</a:t>
            </a:r>
          </a:p>
          <a:p>
            <a:pPr rtl="1" algn="r" marL="0" indent="0">
              <a:buNone/>
            </a:pPr>
            <a:r>
              <a:rPr b="1" sz="1200" lang="he-IL"/>
              <a:t>מה אומרים</a:t>
            </a:r>
          </a:p>
          <a:p>
            <a:pPr rtl="1" algn="r" marL="0" indent="0">
              <a:buNone/>
            </a:pPr>
            <a:r>
              <a:rPr sz="1200" lang="he-IL"/>
              <a:t>•  חלק א׳, 14 דקות בסך הכול (שקפים 7-18), ואחריו מעבדה א׳ ל־13 דקות.</a:t>
            </a:r>
          </a:p>
          <a:p>
            <a:pPr rtl="1" algn="r" marL="0" indent="0">
              <a:buNone/>
            </a:pPr>
            <a:r>
              <a:rPr sz="1200" lang="he-IL"/>
              <a:t>•  בחלק שלושה נושאים: HTTP, קוד FastAPI שמייצר חוזה, ו־OpenAPI כחוזה ובדיקות לפיו.</a:t>
            </a:r>
          </a:p>
          <a:p>
            <a:pPr rtl="1" algn="r" marL="0" indent="0">
              <a:buNone/>
            </a:pPr>
            <a:r>
              <a:rPr sz="1200" lang="he-IL"/>
              <a:t>•  השקפים 11 ו־12 הוקדמו לכאן מחלק ב׳, כי מעבדה א׳ מתחילה בקריאת קוד כזה.</a:t>
            </a:r>
          </a:p>
          <a:p>
            <a:pPr rtl="1" algn="r" marL="0" indent="0">
              <a:buNone/>
            </a:pPr>
            <a:r>
              <a:rPr b="1" sz="1200" lang="he-IL"/>
              <a:t>מטרה</a:t>
            </a:r>
          </a:p>
          <a:p>
            <a:pPr rtl="1" algn="r" marL="0" indent="0">
              <a:buNone/>
            </a:pPr>
            <a:r>
              <a:rPr sz="1200" lang="he-IL"/>
              <a:t>•  להבין שכל תקשורת בין לקוח לשרת באינטרנט היא HTTP, בקשה ותגובה.</a:t>
            </a:r>
          </a:p>
          <a:p>
            <a:pPr rtl="1" algn="r" marL="0" indent="0">
              <a:buNone/>
            </a:pPr>
            <a:r>
              <a:rPr sz="1200" lang="he-IL"/>
              <a:t>•  הפלט בשקף אמיתי, מ-curl -i מול השירות המלא של הקורס (המחברת מפעילה גרסה קטנה שלו בתוך Colab).</a:t>
            </a:r>
          </a:p>
          <a:p>
            <a:pPr rtl="1" algn="r" marL="0" indent="0">
              <a:buNone/>
            </a:pPr>
            <a:r>
              <a:rPr sz="1200" lang="he-IL"/>
              <a:t>•  בצד ימין הבקשה: שיטה (GET), כתובת (/products/NOPE), כותרות.</a:t>
            </a:r>
          </a:p>
          <a:p>
            <a:pPr rtl="1" algn="r" marL="0" indent="0">
              <a:buNone/>
            </a:pPr>
            <a:r>
              <a:rPr sz="1200" lang="he-IL"/>
              <a:t>•  בצד שמאל התגובה, ומתחתיה שלושת חלקיה: שורת סטטוס (404 Not Found), כותרות שמתארות את התגובה (סוג התוכן ואורכו) וגוף שהוא התוכן עצמו, בדרך כלל JSON.</a:t>
            </a:r>
          </a:p>
          <a:p>
            <a:pPr rtl="1" algn="r" marL="0" indent="0">
              <a:buNone/>
            </a:pPr>
            <a:r>
              <a:rPr b="1" sz="1200" lang="he-IL"/>
              <a:t>אנלוגיה</a:t>
            </a:r>
          </a:p>
          <a:p>
            <a:pPr rtl="1" algn="r" marL="0" indent="0">
              <a:buNone/>
            </a:pPr>
            <a:r>
              <a:rPr sz="1200" lang="he-IL"/>
              <a:t>•  זה כמו טופס הזמנה למחסן.</a:t>
            </a:r>
          </a:p>
          <a:p>
            <a:pPr rtl="1" algn="r" marL="0" indent="0">
              <a:buNone/>
            </a:pPr>
            <a:r>
              <a:rPr sz="1200" lang="he-IL"/>
              <a:t>•  הלקוח ממלא בקשה לפי פורמט קבוע, והמחסן מחזיר אישור עם קוד: נמצא, לא נמצא, או הטופס לא תקין.</a:t>
            </a:r>
          </a:p>
          <a:p>
            <a:pPr rtl="1" algn="r" marL="0" indent="0">
              <a:buNone/>
            </a:pPr>
            <a:r>
              <a:rPr b="1" sz="1200" lang="he-IL"/>
              <a:t>שאלה לכיתה</a:t>
            </a:r>
          </a:p>
          <a:p>
            <a:pPr rtl="1" algn="r" marL="0" indent="0">
              <a:buNone/>
            </a:pPr>
            <a:r>
              <a:rPr sz="1200" lang="he-IL"/>
              <a:t>•  למה השרת החזיר 404 ולא 200 עם הודעה?</a:t>
            </a:r>
          </a:p>
          <a:p>
            <a:pPr rtl="1" algn="r" marL="0" indent="0">
              <a:buNone/>
            </a:pPr>
            <a:r>
              <a:rPr b="1" sz="1200" lang="he-IL"/>
              <a:t>תשובה</a:t>
            </a:r>
          </a:p>
          <a:p>
            <a:pPr rtl="1" algn="r" marL="0" indent="0">
              <a:buNone/>
            </a:pPr>
            <a:r>
              <a:rPr sz="1200" lang="he-IL"/>
              <a:t>•  כדי שהתוכנה שקוראת תדע מהקוד, בלי לפענח טקסט, אם הצליחה.</a:t>
            </a:r>
          </a:p>
          <a:p>
            <a:pPr rtl="1" algn="r" marL="0" indent="0">
              <a:buNone/>
            </a:pPr>
            <a:r>
              <a:rPr b="1" sz="1200" lang="he-IL"/>
              <a:t>חיבור לשיעורים קודמים</a:t>
            </a:r>
          </a:p>
          <a:p>
            <a:pPr rtl="1" algn="r" marL="0" indent="0">
              <a:buNone/>
            </a:pPr>
            <a:r>
              <a:rPr sz="1200" lang="he-IL"/>
              <a:t>•  בשיעור 2 למדנו שמודל יכול להמציא; הזיות API מתוארות בהעשרה (שקף 62).</a:t>
            </a:r>
          </a:p>
          <a:p>
            <a:pPr rtl="1" algn="r" marL="0" indent="0">
              <a:buNone/>
            </a:pPr>
            <a:r>
              <a:rPr b="1" sz="1200" lang="he-IL"/>
              <a:t>להעמקה</a:t>
            </a:r>
          </a:p>
          <a:p>
            <a:pPr rtl="1" algn="r" marL="0" indent="0">
              <a:buNone/>
            </a:pPr>
            <a:r>
              <a:rPr sz="1200" lang="he-IL"/>
              <a:t>•  HTTP הוא פרוטוקול ללא מצב (stateless): כל בקשה עומדת בפני עצמה, והשרת אינו חייב לזכור את הקודמת.</a:t>
            </a:r>
          </a:p>
          <a:p>
            <a:pPr rtl="1" algn="r" marL="0" indent="0">
              <a:buNone/>
            </a:pPr>
            <a:r>
              <a:rPr sz="1200" lang="he-IL"/>
              <a:t>•  בקשה בנויה משורת בקשה (שיטה, יעד וגרסה), כותרות וגוף אופציונלי.</a:t>
            </a:r>
          </a:p>
          <a:p>
            <a:pPr rtl="1" algn="r" marL="0" indent="0">
              <a:buNone/>
            </a:pPr>
            <a:r>
              <a:rPr sz="1200" lang="he-IL"/>
              <a:t>•  היעד מורכב מנתיב (/products/NOPE) ומפרמטרי שאילתה אחרי סימן השאלה (?limit=5&amp;category=Tech); במעבדה א׳ שולחים את שני הסוגים.</a:t>
            </a:r>
          </a:p>
          <a:p>
            <a:pPr rtl="1" algn="r" marL="0" indent="0">
              <a:buNone/>
            </a:pPr>
            <a:r>
              <a:rPr sz="1200" lang="he-IL"/>
              <a:t>•  ההבחנה ״ללא מצב״ מתארת את הפרוטוקול ולא את השירות: השירות כן שומר מצב, במסד (חלק ב׳).</a:t>
            </a:r>
          </a:p>
          <a:p>
            <a:pPr rtl="1" algn="r" marL="0" indent="0">
              <a:buNone/>
            </a:pPr>
            <a:r>
              <a:rPr sz="1200" lang="he-IL"/>
              <a:t>•  אל תעצרו על הכותרות: חשוב רק שהן מידע על הבקשה או התגובה.</a:t>
            </a:r>
          </a:p>
          <a:p>
            <a:pPr rtl="1" algn="r" marL="0" indent="0">
              <a:buNone/>
            </a:pPr>
            <a:r>
              <a:rPr b="1" sz="1200" lang="he-IL"/>
              <a:t>מקורות</a:t>
            </a:r>
          </a:p>
          <a:p>
            <a:pPr rtl="1" algn="r" marL="0" indent="0">
              <a:buNone/>
            </a:pPr>
            <a:r>
              <a:rPr sz="1200" lang="he-IL"/>
              <a:t>•  IETF, RFC 9110, HTTP Semantics (2022).</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מה אומרים</a:t>
            </a:r>
          </a:p>
          <a:p>
            <a:pPr rtl="1" algn="r" marL="0" indent="0">
              <a:buNone/>
            </a:pPr>
            <a:r>
              <a:rPr sz="1200" lang="he-IL"/>
              <a:t>•  הטבלה קושרת בין תגובת HTTP לקוד הסטטוס, והדוגמאות כולן אמיתיות מהשירות של החנות.</a:t>
            </a:r>
          </a:p>
          <a:p>
            <a:pPr rtl="1" algn="r" marL="0" indent="0">
              <a:buNone/>
            </a:pPr>
            <a:r>
              <a:rPr sz="1200" lang="he-IL"/>
              <a:t>•  כלל אצבע: הספרה הראשונה אומרת הכול.</a:t>
            </a:r>
          </a:p>
          <a:p>
            <a:pPr rtl="1" algn="r" marL="0" indent="0">
              <a:buNone/>
            </a:pPr>
            <a:r>
              <a:rPr sz="1200" lang="he-IL"/>
              <a:t>•  2 הצליח, 4 הלקוח טעה, 5 השרת נכשל.</a:t>
            </a:r>
          </a:p>
          <a:p>
            <a:pPr rtl="1" algn="r" marL="0" indent="0">
              <a:buNone/>
            </a:pPr>
            <a:r>
              <a:rPr sz="1200" lang="he-IL"/>
              <a:t>•  עברו על הטבלה מלמעלה: 200 הצלחה רגילה (GET /products).</a:t>
            </a:r>
          </a:p>
          <a:p>
            <a:pPr rtl="1" algn="r" marL="0" indent="0">
              <a:buNone/>
            </a:pPr>
            <a:r>
              <a:rPr sz="1200" lang="he-IL"/>
              <a:t>•  202 התקבל ויטופל ברקע, וזה הקוד שנראה שוב בחלק ד׳ כשה-API מעביר עבודה לתור.</a:t>
            </a:r>
          </a:p>
          <a:p>
            <a:pPr rtl="1" algn="r" marL="0" indent="0">
              <a:buNone/>
            </a:pPr>
            <a:r>
              <a:rPr sz="1200" lang="he-IL"/>
              <a:t>•  404 המשאב לא קיים (GET /products/NOPE).</a:t>
            </a:r>
          </a:p>
          <a:p>
            <a:pPr rtl="1" algn="r" marL="0" indent="0">
              <a:buNone/>
            </a:pPr>
            <a:r>
              <a:rPr sz="1200" lang="he-IL"/>
              <a:t>•  422 הקלט לא חוקי לפי החוזה (limit=0).</a:t>
            </a:r>
          </a:p>
          <a:p>
            <a:pPr rtl="1" algn="r" marL="0" indent="0">
              <a:buNone/>
            </a:pPr>
            <a:r>
              <a:rPr sz="1200" lang="he-IL"/>
              <a:t>•  429 יותר מדי בקשות, מחכים ומנסים שוב; לעיתים השרת שולח כותרת Retry-After שאומרת כמה לחכות (יש לאמת לפי ספק ה-API).</a:t>
            </a:r>
          </a:p>
          <a:p>
            <a:pPr rtl="1" algn="r" marL="0" indent="0">
              <a:buNone/>
            </a:pPr>
            <a:r>
              <a:rPr sz="1200" lang="he-IL"/>
              <a:t>•  500 תקלה בשרת, לא באשמת הלקוח.</a:t>
            </a:r>
          </a:p>
          <a:p>
            <a:pPr rtl="1" algn="r" marL="0" indent="0">
              <a:buNone/>
            </a:pPr>
            <a:r>
              <a:rPr sz="1200" lang="he-IL"/>
              <a:t>•  קודים נוספים שכדאי להזכיר בעל פה: 201 נוצר, 401 ו-403 חסרה הרשאה.</a:t>
            </a:r>
          </a:p>
          <a:p>
            <a:pPr rtl="1" algn="r" marL="0" indent="0">
              <a:buNone/>
            </a:pPr>
            <a:r>
              <a:rPr b="1" sz="1200" lang="he-IL"/>
              <a:t>שאלה לכיתה</a:t>
            </a:r>
          </a:p>
          <a:p>
            <a:pPr rtl="1" algn="r" marL="0" indent="0">
              <a:buNone/>
            </a:pPr>
            <a:r>
              <a:rPr sz="1200" lang="he-IL"/>
              <a:t>•  אם ה-AI כתב קוד שקורא ל-API וקיבל 500, האם לתקן את הבקשה?</a:t>
            </a:r>
          </a:p>
          <a:p>
            <a:pPr rtl="1" algn="r" marL="0" indent="0">
              <a:buNone/>
            </a:pPr>
            <a:r>
              <a:rPr b="1" sz="1200" lang="he-IL"/>
              <a:t>תשובה</a:t>
            </a:r>
          </a:p>
          <a:p>
            <a:pPr rtl="1" algn="r" marL="0" indent="0">
              <a:buNone/>
            </a:pPr>
            <a:r>
              <a:rPr sz="1200" lang="he-IL"/>
              <a:t>•  לא, הבעיה בשרת; מנסים שוב מאוחר יותר או פונים לספק.</a:t>
            </a:r>
          </a:p>
          <a:p>
            <a:pPr rtl="1" algn="r" marL="0" indent="0">
              <a:buNone/>
            </a:pPr>
            <a:r>
              <a:rPr b="1" sz="1200" lang="he-IL"/>
              <a:t>שימו לב</a:t>
            </a:r>
          </a:p>
          <a:p>
            <a:pPr rtl="1" algn="r" marL="0" indent="0">
              <a:buNone/>
            </a:pPr>
            <a:r>
              <a:rPr sz="1200" lang="he-IL"/>
              <a:t>•  קוד 200 לא מבטיח שהתשובה נכונה (ראו שקף 62, העשרה).</a:t>
            </a:r>
          </a:p>
          <a:p>
            <a:pPr rtl="1" algn="r" marL="0" indent="0">
              <a:buNone/>
            </a:pPr>
            <a:r>
              <a:rPr sz="1200" lang="he-IL"/>
              <a:t>•  העמקה והגדרה מדויקת: לפי RFC 9110 סעיף 15 הספרה הראשונה מגדירה את משפחת התגובה, והשקף הבא מציג את חמש המשפחות ואת מה שהלקוח עושה בכל אחת.</a:t>
            </a:r>
          </a:p>
          <a:p>
            <a:pPr rtl="1" algn="r" marL="0" indent="0">
              <a:buNone/>
            </a:pPr>
            <a:r>
              <a:rPr sz="1200" lang="he-IL"/>
              <a:t>•  הקוד 422 נקרא ב־RFC 9110 ״Unprocessable Content״ (בגרסאות קודמות של התקן: Entity).</a:t>
            </a:r>
          </a:p>
          <a:p>
            <a:pPr rtl="1" algn="r" marL="0" indent="0">
              <a:buNone/>
            </a:pPr>
            <a:r>
              <a:rPr sz="1200" lang="he-IL"/>
              <a:t>•  הקוד 429 מוגדר ב־RFC 6585 (2012), והכותרת Retry-After ב־RFC 9110 (סעיף 10.2.3).</a:t>
            </a:r>
          </a:p>
          <a:p>
            <a:pPr rtl="1" algn="r" marL="0" indent="0">
              <a:buNone/>
            </a:pPr>
            <a:r>
              <a:rPr sz="1200" lang="he-IL"/>
              <a:t>•  הבחנה בין עובדה למוסכמה: המשמעות של כל קוד היא עובדה מהתקן; העובדה ש־FastAPI מחזירה 422 על קלט שאינו עומד בחוזה היא מוסכמה של המסגרת (מתועדת בתיעוד FastAPI); והכלל ״מנסים שוב רק על 5xx ו־429״ הוא המלצת פרקטיקה.</a:t>
            </a:r>
          </a:p>
          <a:p>
            <a:pPr rtl="1" algn="r" marL="0" indent="0">
              <a:buNone/>
            </a:pPr>
            <a:r>
              <a:rPr sz="1200" lang="he-IL"/>
              <a:t>•  גבול: קוד 200 אומר שהבקשה טופלה, ולא שהתשובה נכונה (דוגמה: פרמטר מומצא שהשרת מתעלם ממנו).</a:t>
            </a:r>
          </a:p>
          <a:p>
            <a:pPr rtl="1" algn="r" marL="0" indent="0">
              <a:buNone/>
            </a:pPr>
            <a:r>
              <a:rPr b="1" sz="1200" lang="he-IL"/>
              <a:t>חיבור לשיעורים קודמים</a:t>
            </a:r>
          </a:p>
          <a:p>
            <a:pPr rtl="1" algn="r" marL="0" indent="0">
              <a:buNone/>
            </a:pPr>
            <a:r>
              <a:rPr sz="1200" lang="he-IL"/>
              <a:t>•  ״רץ אינו נכון״.</a:t>
            </a:r>
          </a:p>
          <a:p>
            <a:pPr rtl="1" algn="r" marL="0" indent="0">
              <a:buNone/>
            </a:pPr>
            <a:r>
              <a:rPr sz="1200" lang="he-IL"/>
              <a:t>•  קוד 200 אומר שהבקשה טופלה, ולא שהתשובה נכונה, בדיוק כמו קוד שרץ בלי שגיאה ומחזיר תוצאה שגויה.</a:t>
            </a:r>
          </a:p>
          <a:p>
            <a:pPr rtl="1" algn="r" marL="0" indent="0">
              <a:buNone/>
            </a:pPr>
            <a:r>
              <a:rPr b="1" sz="1200" lang="he-IL"/>
              <a:t>שאלת היזכרות</a:t>
            </a:r>
          </a:p>
          <a:p>
            <a:pPr rtl="1" algn="r" marL="0" indent="0">
              <a:buNone/>
            </a:pPr>
            <a:r>
              <a:rPr sz="1200" lang="he-IL"/>
              <a:t>•  מי זוכר איזו בדיקה תפסה במפגש 5 גרף שנראה סביר?</a:t>
            </a:r>
          </a:p>
          <a:p>
            <a:pPr rtl="1" algn="r" marL="0" indent="0">
              <a:buNone/>
            </a:pPr>
            <a:r>
              <a:rPr b="1" sz="1200" lang="he-IL"/>
              <a:t>תשובה</a:t>
            </a:r>
          </a:p>
          <a:p>
            <a:pPr rtl="1" algn="r" marL="0" indent="0">
              <a:buNone/>
            </a:pPr>
            <a:r>
              <a:rPr sz="1200" lang="he-IL"/>
              <a:t>•  validate_top5 השווה תוצאה של כלי למה שידענו מראש, ותפסה מיון לפי כמות במקום לפי הכנסה.</a:t>
            </a:r>
          </a:p>
          <a:p>
            <a:pPr rtl="1" algn="r" marL="0" indent="0">
              <a:buNone/>
            </a:pPr>
            <a:r>
              <a:rPr b="1" sz="1200" lang="he-IL"/>
              <a:t>אם הכיתה לא זוכרת</a:t>
            </a:r>
          </a:p>
          <a:p>
            <a:pPr rtl="1" algn="r" marL="0" indent="0">
              <a:buNone/>
            </a:pPr>
            <a:r>
              <a:rPr sz="1200" lang="he-IL"/>
              <a:t>•  ״כלי רץ בלי שגיאה והציג תוצאה אחרת מהנכונה״, והמשיכו.</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לחבר בין שיטות HTTP לפעולות על נתונים (CRUD) ולפקודות SQL שיופיעו בחלק ב׳.</a:t>
            </a:r>
          </a:p>
          <a:p>
            <a:pPr rtl="1" algn="r" marL="0" indent="0">
              <a:buNone/>
            </a:pPr>
            <a:r>
              <a:rPr sz="1200" lang="he-IL"/>
              <a:t>•  קראו את הטבלה בשורות: GET קורא (SELECT), POST יוצר (INSERT), PUT או PATCH מעדכן (UPDATE), DELETE מוחק (DELETE).</a:t>
            </a:r>
          </a:p>
          <a:p>
            <a:pPr rtl="1" algn="r" marL="0" indent="0">
              <a:buNone/>
            </a:pPr>
            <a:r>
              <a:rPr sz="1200" lang="he-IL"/>
              <a:t>•  הבחנה קצרה: PUT מחליף משאב שלם, PATCH משנה חלק ממנו.</a:t>
            </a:r>
          </a:p>
          <a:p>
            <a:pPr rtl="1" algn="r" marL="0" indent="0">
              <a:buNone/>
            </a:pPr>
            <a:r>
              <a:rPr sz="1200" lang="he-IL"/>
              <a:t>•  בשירות הדוגמה מופעלים רק GET ו-POST.</a:t>
            </a:r>
          </a:p>
          <a:p>
            <a:pPr rtl="1" algn="r" marL="0" indent="0">
              <a:buNone/>
            </a:pPr>
            <a:r>
              <a:rPr sz="1200" lang="he-IL"/>
              <a:t>•  עיקרון REST שבתחתית השקף: הכתובת היא שם של דבר (/products, /jobs/7), והשיטה היא הפעולה.</a:t>
            </a:r>
          </a:p>
          <a:p>
            <a:pPr rtl="1" algn="r" marL="0" indent="0">
              <a:buNone/>
            </a:pPr>
            <a:r>
              <a:rPr sz="1200" lang="he-IL"/>
              <a:t>•  דוגמה: במערכת מלאי נכון לכתוב GET /products/P001 לקריאת מוצר, ולא GET /getProduct.</a:t>
            </a:r>
          </a:p>
          <a:p>
            <a:pPr rtl="1" algn="r" marL="0" indent="0">
              <a:buNone/>
            </a:pPr>
            <a:r>
              <a:rPr b="1" sz="1200" lang="he-IL"/>
              <a:t>שאלה לכיתה</a:t>
            </a:r>
          </a:p>
          <a:p>
            <a:pPr rtl="1" algn="r" marL="0" indent="0">
              <a:buNone/>
            </a:pPr>
            <a:r>
              <a:rPr sz="1200" lang="he-IL"/>
              <a:t>•  איזו שיטה תשתמשו בה כדי לשלוח למודל מייל לסיווג?</a:t>
            </a:r>
          </a:p>
          <a:p>
            <a:pPr rtl="1" algn="r" marL="0" indent="0">
              <a:buNone/>
            </a:pPr>
            <a:r>
              <a:rPr b="1" sz="1200" lang="he-IL"/>
              <a:t>תשובה</a:t>
            </a:r>
          </a:p>
          <a:p>
            <a:pPr rtl="1" algn="r" marL="0" indent="0">
              <a:buNone/>
            </a:pPr>
            <a:r>
              <a:rPr sz="1200" lang="he-IL"/>
              <a:t>•  POST, כי זו יצירת משימה חדשה (כך עושה POST /jobs).</a:t>
            </a:r>
          </a:p>
          <a:p>
            <a:pPr rtl="1" algn="r" marL="0" indent="0">
              <a:buNone/>
            </a:pPr>
            <a:r>
              <a:rPr b="1" sz="1200" lang="he-IL"/>
              <a:t>שימו לב</a:t>
            </a:r>
          </a:p>
          <a:p>
            <a:pPr rtl="1" algn="r" marL="0" indent="0">
              <a:buNone/>
            </a:pPr>
            <a:r>
              <a:rPr sz="1200" lang="he-IL"/>
              <a:t>•  GET לא אמור לשנות נתונים.</a:t>
            </a:r>
          </a:p>
          <a:p>
            <a:pPr rtl="1" algn="r" marL="0" indent="0">
              <a:buNone/>
            </a:pPr>
            <a:r>
              <a:rPr b="1" sz="1200" lang="he-IL"/>
              <a:t>חיבור לשיעורים קודמים</a:t>
            </a:r>
          </a:p>
          <a:p>
            <a:pPr rtl="1" algn="r" marL="0" indent="0">
              <a:buNone/>
            </a:pPr>
            <a:r>
              <a:rPr sz="1200" lang="he-IL"/>
              <a:t>•  בטבלת ה־SQL של שקף 23 רואים את אותן פעולות מהצד של מסד הנתונים.</a:t>
            </a:r>
          </a:p>
          <a:p>
            <a:pPr rtl="1" algn="r" marL="0" indent="0">
              <a:buNone/>
            </a:pPr>
            <a:r>
              <a:rPr b="1" sz="1200" lang="he-IL"/>
              <a:t>להעמקה</a:t>
            </a:r>
          </a:p>
          <a:p>
            <a:pPr rtl="1" algn="r" marL="0" indent="0">
              <a:buNone/>
            </a:pPr>
            <a:r>
              <a:rPr sz="1200" lang="he-IL"/>
              <a:t>•  עיקרון ״הכתובת היא שם והשיטה היא הפעולה״ מקורו בסגנון REST שהגדיר Fielding בדיסרטציה שלו (2000, פרק 5).</a:t>
            </a:r>
          </a:p>
          <a:p>
            <a:pPr rtl="1" algn="r" marL="0" indent="0">
              <a:buNone/>
            </a:pPr>
            <a:r>
              <a:rPr sz="1200" lang="he-IL"/>
              <a:t>•  ההבחנה PUT מול PATCH: PUT מחליף משאב שלם ו־PATCH משנה חלק; ב־RFC 9110 מוגדרת PUT, ו־PATCH הוגדרה בנפרד.</a:t>
            </a:r>
          </a:p>
          <a:p>
            <a:pPr rtl="1" algn="r" marL="0" indent="0">
              <a:buNone/>
            </a:pPr>
            <a:r>
              <a:rPr b="1" sz="1200" lang="he-IL"/>
              <a:t>שימו לב</a:t>
            </a:r>
          </a:p>
          <a:p>
            <a:pPr rtl="1" algn="r" marL="0" indent="0">
              <a:buNone/>
            </a:pPr>
            <a:r>
              <a:rPr sz="1200" lang="he-IL"/>
              <a:t>•  ״RESTful״ בשימוש יומיומי מתכוון בדרך כלל ל־HTTP עם JSON וכתובות מבוססות משאבים, ולא לכל האילוצים של Fielding.</a:t>
            </a:r>
          </a:p>
          <a:p>
            <a:pPr rtl="1" algn="r" marL="0" indent="0">
              <a:buNone/>
            </a:pPr>
            <a:r>
              <a:rPr b="1" sz="1200" lang="he-IL"/>
              <a:t>מתי לדלג</a:t>
            </a:r>
          </a:p>
          <a:p>
            <a:pPr rtl="1" algn="r" marL="0" indent="0">
              <a:buNone/>
            </a:pPr>
            <a:r>
              <a:rPr sz="1200" lang="he-IL"/>
              <a:t>•  די לומר: GET קורא, POST יוצר.</a:t>
            </a:r>
          </a:p>
          <a:p>
            <a:pPr rtl="1" algn="r" marL="0" indent="0">
              <a:buNone/>
            </a:pPr>
            <a:r>
              <a:rPr sz="1200" lang="he-IL"/>
              <a:t>•  מושגי בטוח ואידמפוטנטי בשקף הבא.</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כ־1.5 דקות.</a:t>
            </a:r>
          </a:p>
          <a:p>
            <a:pPr rtl="1" algn="r" marL="0" indent="0">
              <a:buNone/>
            </a:pPr>
            <a:r>
              <a:rPr b="1" sz="1200" lang="he-IL"/>
              <a:t>מטרה</a:t>
            </a:r>
          </a:p>
          <a:p>
            <a:pPr rtl="1" algn="r" marL="0" indent="0">
              <a:buNone/>
            </a:pPr>
            <a:r>
              <a:rPr sz="1200" lang="he-IL"/>
              <a:t>•  להציג את OpenAPI כחוזה.</a:t>
            </a:r>
          </a:p>
          <a:p>
            <a:pPr rtl="1" algn="r" marL="0" indent="0">
              <a:buNone/>
            </a:pPr>
            <a:r>
              <a:rPr sz="1200" lang="he-IL"/>
              <a:t>•  זה שקף מפתח, והוא מוביל לבדיקות.</a:t>
            </a:r>
          </a:p>
          <a:p>
            <a:pPr rtl="1" algn="r" marL="0" indent="0">
              <a:buNone/>
            </a:pPr>
            <a:r>
              <a:rPr sz="1200" lang="he-IL"/>
              <a:t>•  קראו מימין לשמאל: קוד השירות (FastAPI) מייצר קובץ openapi.json, שהוא התיאור של ה-API: אילו כתובות קיימות, אילו פרמטרים אפשר לשלוח ואילו תגובות אפשר לקבל.</a:t>
            </a:r>
          </a:p>
          <a:p>
            <a:pPr rtl="1" algn="r" marL="0" indent="0">
              <a:buNone/>
            </a:pPr>
            <a:r>
              <a:rPr sz="1200" lang="he-IL"/>
              <a:t>•  מהחוזה הזה נגזרים ארבעה שימושים: תיעוד חי (Swagger UI), בדיקות אוטומטיות, הקשר ל-AI (מדביקים את הקובץ לסוכן) וקוד לקוח שנוצר אוטומטית.</a:t>
            </a:r>
          </a:p>
          <a:p>
            <a:pPr rtl="1" algn="r" marL="0" indent="0">
              <a:buNone/>
            </a:pPr>
            <a:r>
              <a:rPr sz="1200" lang="he-IL"/>
              <a:t>•  הבחנה שחשוב לומר בקול: OpenAPI הוא הסטנדרט והחוזה; Swagger UI הוא ממשק שמציג אותו; FastAPI מייצר אותו מהקוד.</a:t>
            </a:r>
          </a:p>
          <a:p>
            <a:pPr rtl="1" algn="r" marL="0" indent="0">
              <a:buNone/>
            </a:pPr>
            <a:r>
              <a:rPr sz="1200" lang="he-IL"/>
              <a:t>•  שאלה בחידון הסיום מתבססת על זה.</a:t>
            </a:r>
          </a:p>
          <a:p>
            <a:pPr rtl="1" algn="r" marL="0" indent="0">
              <a:buNone/>
            </a:pPr>
            <a:r>
              <a:rPr b="1" sz="1200" lang="he-IL"/>
              <a:t>אנלוגיה</a:t>
            </a:r>
          </a:p>
          <a:p>
            <a:pPr rtl="1" algn="r" marL="0" indent="0">
              <a:buNone/>
            </a:pPr>
            <a:r>
              <a:rPr sz="1200" lang="he-IL"/>
              <a:t>•  OpenAPI הוא כמו מפרט טכני של רכיב שנותנים לספק: מי שבונה והמקבל מסכימים על מה נכנס, מה יוצא ומה הגבולות.</a:t>
            </a:r>
          </a:p>
          <a:p>
            <a:pPr rtl="1" algn="r" marL="0" indent="0">
              <a:buNone/>
            </a:pPr>
            <a:r>
              <a:rPr b="1" sz="1200" lang="he-IL"/>
              <a:t>חיבור לשיעורים קודמים</a:t>
            </a:r>
          </a:p>
          <a:p>
            <a:pPr rtl="1" algn="r" marL="0" indent="0">
              <a:buNone/>
            </a:pPr>
            <a:r>
              <a:rPr sz="1200" lang="he-IL"/>
              <a:t>•  בשיעור 11 נחזור לחוזים בהקשר של ארכיטקטורה.</a:t>
            </a:r>
          </a:p>
          <a:p>
            <a:pPr rtl="1" algn="r" marL="0" indent="0">
              <a:buNone/>
            </a:pPr>
            <a:r>
              <a:rPr b="1" sz="1200" lang="he-IL"/>
              <a:t>להעמקה</a:t>
            </a:r>
          </a:p>
          <a:p>
            <a:pPr rtl="1" algn="r" marL="0" indent="0">
              <a:buNone/>
            </a:pPr>
            <a:r>
              <a:rPr sz="1200" lang="he-IL"/>
              <a:t>•  לפי המפרט הרשמי, OpenAPI (OAS) מגדיר ממשק סטנדרטי, ניטרלי לשפת תכנות, ל־HTTP APIs (spec.openapis.org; בעת הבדיקה הגרסה האחרונה היא 3.2.1, ספטמבר 2026).</a:t>
            </a:r>
          </a:p>
          <a:p>
            <a:pPr rtl="1" algn="r" marL="0" indent="0">
              <a:buNone/>
            </a:pPr>
            <a:r>
              <a:rPr sz="1200" lang="he-IL"/>
              <a:t>•  FastAPI מפיקה כיום קובץ בגרסה 3.1.0, כפי שמופיע בשקף 13.</a:t>
            </a:r>
          </a:p>
          <a:p>
            <a:pPr rtl="1" algn="r" marL="0" indent="0">
              <a:buNone/>
            </a:pPr>
            <a:r>
              <a:rPr sz="1200" lang="he-IL"/>
              <a:t>•  מנגנון: FastAPI קוראת את חתימות הפונקציות, את ה־type hints ואת מודלי Pydantic, ובונה מהם את הקובץ; לכן הוא ״מגיע בחינם״.</a:t>
            </a:r>
          </a:p>
          <a:p>
            <a:pPr rtl="1" algn="r" marL="0" indent="0">
              <a:buNone/>
            </a:pPr>
            <a:r>
              <a:rPr sz="1200" lang="he-IL"/>
              <a:t>•  גבול: החוזה משקף מה שהקוד מצהיר, לא בהכרח מה שהשרת עושה; במעבדה א׳ יש אי־התאמה מכוונת שהכלי שלכם מוצא.</a:t>
            </a:r>
          </a:p>
          <a:p>
            <a:pPr rtl="1" algn="r" marL="0" indent="0">
              <a:buNone/>
            </a:pPr>
            <a:r>
              <a:rPr sz="1200" lang="he-IL"/>
              <a:t>•  code-first (הקוד מייצר חוזה, כמו כאן) לעומת design-first (כותבים את החוזה ואז מייצרים ממנו קוד); בפרויקט מומלץ להתחיל מחוזה, בעזרת AI, כמו בשקף 53.</a:t>
            </a:r>
          </a:p>
          <a:p>
            <a:pPr rtl="1" algn="r" marL="0" indent="0">
              <a:buNone/>
            </a:pPr>
            <a:r>
              <a:rPr b="1" sz="1200" lang="he-IL"/>
              <a:t>מקורות</a:t>
            </a:r>
          </a:p>
          <a:p>
            <a:pPr rtl="1" algn="r" marL="0" indent="0">
              <a:buNone/>
            </a:pPr>
            <a:r>
              <a:rPr sz="1200" lang="he-IL"/>
              <a:t>•  מפרט OpenAPI; תיעוד FastAPI, First Steps.</a:t>
            </a:r>
          </a:p>
          <a:p>
            <a:pPr rtl="1" algn="r" marL="0" indent="0">
              <a:buNone/>
            </a:pPr>
            <a:r>
              <a:rPr sz="1200" lang="he-IL"/>
              <a:t>•  חזרה ממפגשים 2 ו־4: התיעוד הוא מה שבודקים מולו.</a:t>
            </a:r>
          </a:p>
          <a:p>
            <a:pPr rtl="1" algn="r" marL="0" indent="0">
              <a:buNone/>
            </a:pPr>
            <a:r>
              <a:rPr sz="1200" lang="he-IL"/>
              <a:t>•  במפגש 2 למדנו שמודל ממציא שמות ופרמטרים שנראים סבירים ושבודקים בתיעוד; מפגש 4, לפי הנושא בסילבוס, עסק בניהול הקשר ובתיעוד ידידותי ל־AI, והכרטיס ״הקשר ל־AI״ כאן הוא יישום שלו: מדביקים את openapi.json לסוכן כהקשר.</a:t>
            </a:r>
          </a:p>
          <a:p>
            <a:pPr rtl="1" algn="r" marL="0" indent="0">
              <a:buNone/>
            </a:pPr>
            <a:r>
              <a:rPr b="1" sz="1200" lang="he-IL"/>
              <a:t>שאלת היזכרות</a:t>
            </a:r>
          </a:p>
          <a:p>
            <a:pPr rtl="1" algn="r" marL="0" indent="0">
              <a:buNone/>
            </a:pPr>
            <a:r>
              <a:rPr sz="1200" lang="he-IL"/>
              <a:t>•  למה כדאי להדביק לסוכן חוזה במקום לתאר את ה־API במילים?</a:t>
            </a:r>
          </a:p>
          <a:p>
            <a:pPr rtl="1" algn="r" marL="0" indent="0">
              <a:buNone/>
            </a:pPr>
            <a:r>
              <a:rPr b="1" sz="1200" lang="he-IL"/>
              <a:t>תשובה</a:t>
            </a:r>
          </a:p>
          <a:p>
            <a:pPr rtl="1" algn="r" marL="0" indent="0">
              <a:buNone/>
            </a:pPr>
            <a:r>
              <a:rPr sz="1200" lang="he-IL"/>
              <a:t>•  החוזה מדויק, וגם מי שבודק יכול לבדוק מולו מה קיים ומה לא.</a:t>
            </a:r>
          </a:p>
          <a:p>
            <a:pPr rtl="1" algn="r" marL="0" indent="0">
              <a:buNone/>
            </a:pPr>
            <a:r>
              <a:rPr sz="1200" lang="he-IL"/>
              <a:t>•  אם הכיתה לא זוכרת את מפגש 4: ״לפי הסילבוס מפגש 4 עסק בהקשר ובתיעוד שמתאים ל־AI״, והמשיכו.</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כ־1.2 דקות.</a:t>
            </a:r>
          </a:p>
          <a:p>
            <a:pPr rtl="1" algn="r" marL="0" indent="0">
              <a:buNone/>
            </a:pPr>
            <a:r>
              <a:rPr b="1" sz="1200" lang="he-IL"/>
              <a:t>מטרה</a:t>
            </a:r>
          </a:p>
          <a:p>
            <a:pPr rtl="1" algn="r" marL="0" indent="0">
              <a:buNone/>
            </a:pPr>
            <a:r>
              <a:rPr sz="1200" lang="he-IL"/>
              <a:t>•  להראות שהחוזה הוא קובץ טקסט רגיל, לא קסם.</a:t>
            </a:r>
          </a:p>
          <a:p>
            <a:pPr rtl="1" algn="r" marL="0" indent="0">
              <a:buNone/>
            </a:pPr>
            <a:r>
              <a:rPr sz="1200" lang="he-IL"/>
              <a:t>•  הקטע בצד ימין אמיתי, מהקובץ שנוצר (גרסה 3.1.0), והוא מקוצר.</a:t>
            </a:r>
          </a:p>
          <a:p>
            <a:pPr rtl="1" algn="r" marL="0" indent="0">
              <a:buNone/>
            </a:pPr>
            <a:r>
              <a:rPr sz="1200" lang="he-IL"/>
              <a:t>•  עברו על ארבעת הכרטיסים בסדר ועל הקטע: paths, כל הכתובות שקיימות (כאן /products); get או post, השיטה; parameters, מה אפשר לשלוח, ובדוגמה: limit מסוג מספר שלם עם minimum 1 ו-maximum 200; responses, אילו תגובות אפשריות, כאן 200 ו-422.</a:t>
            </a:r>
          </a:p>
          <a:p>
            <a:pPr rtl="1" algn="r" marL="0" indent="0">
              <a:buNone/>
            </a:pPr>
            <a:r>
              <a:rPr sz="1200" lang="he-IL"/>
              <a:t>•  הדגישו שאין צורך לקרוא את הקובץ שורה אחרי שורה; עיקר העבודה בו נעשית דרך Swagger UI או על ידי סוכן.</a:t>
            </a:r>
          </a:p>
          <a:p>
            <a:pPr rtl="1" algn="r" marL="0" indent="0">
              <a:buNone/>
            </a:pPr>
            <a:r>
              <a:rPr sz="1200" lang="he-IL"/>
              <a:t>•  אבל מי שרוצה לבדוק את ה-AI יודע לפתוח אותו ולחפש שם פרמטר.</a:t>
            </a:r>
          </a:p>
          <a:p>
            <a:pPr rtl="1" algn="r" marL="0" indent="0">
              <a:buNone/>
            </a:pPr>
            <a:r>
              <a:rPr b="1" sz="1200" lang="he-IL"/>
              <a:t>שאלה לכיתה</a:t>
            </a:r>
          </a:p>
          <a:p>
            <a:pPr rtl="1" algn="r" marL="0" indent="0">
              <a:buNone/>
            </a:pPr>
            <a:r>
              <a:rPr sz="1200" lang="he-IL"/>
              <a:t>•  איפה בקובץ מופיעה ההגבלה שאסור לבקש יותר מ-200 מוצרים?</a:t>
            </a:r>
          </a:p>
          <a:p>
            <a:pPr rtl="1" algn="r" marL="0" indent="0">
              <a:buNone/>
            </a:pPr>
            <a:r>
              <a:rPr b="1" sz="1200" lang="he-IL"/>
              <a:t>תשובה</a:t>
            </a:r>
          </a:p>
          <a:p>
            <a:pPr rtl="1" algn="r" marL="0" indent="0">
              <a:buNone/>
            </a:pPr>
            <a:r>
              <a:rPr sz="1200" lang="he-IL"/>
              <a:t>•  ב-parameters של limit, בשדה maximum.</a:t>
            </a:r>
          </a:p>
          <a:p>
            <a:pPr rtl="1" algn="r" marL="0" indent="0">
              <a:buNone/>
            </a:pPr>
            <a:r>
              <a:rPr b="1" sz="1200" lang="he-IL"/>
              <a:t>שימו לב</a:t>
            </a:r>
          </a:p>
          <a:p>
            <a:pPr rtl="1" algn="r" marL="0" indent="0">
              <a:buNone/>
            </a:pPr>
            <a:r>
              <a:rPr sz="1200" lang="he-IL"/>
              <a:t>•  הקובץ מייצג את מה שהקוד מצהיר, לא בהכרח את מה שהשרת עושה בפועל; לכן עדיין בודקים.</a:t>
            </a:r>
          </a:p>
          <a:p>
            <a:pPr rtl="1" algn="r" marL="0" indent="0">
              <a:buNone/>
            </a:pPr>
            <a:r>
              <a:rPr sz="1200" lang="he-IL"/>
              <a:t>•  את הקובץ אפשר לראות ב-/openapi.json בשירות שרץ.</a:t>
            </a:r>
          </a:p>
          <a:p>
            <a:pPr rtl="1" algn="r" marL="0" indent="0">
              <a:buNone/>
            </a:pPr>
            <a:r>
              <a:rPr b="1" sz="1200" lang="he-IL"/>
              <a:t>להעמקה</a:t>
            </a:r>
          </a:p>
          <a:p>
            <a:pPr rtl="1" algn="r" marL="0" indent="0">
              <a:buNone/>
            </a:pPr>
            <a:r>
              <a:rPr sz="1200" lang="he-IL"/>
              <a:t>•  במפרט OpenAPI אובייקט הסכמה (schema) מבוסס על JSON Schema (טיוטה 2020-12), ולכן minimum ו־maximum הן מילות מפתח סטנדרטיות של JSON Schema ולא המצאה של FastAPI.</a:t>
            </a:r>
          </a:p>
          <a:p>
            <a:pPr rtl="1" algn="r" marL="0" indent="0">
              <a:buNone/>
            </a:pPr>
            <a:r>
              <a:rPr sz="1200" lang="he-IL"/>
              <a:t>•  זה מה שמאפשר לכלים שונים (תיעוד, בדיקות, יצירת קוד לקוח, סוכנים) לקרוא את אותו קובץ.</a:t>
            </a:r>
          </a:p>
          <a:p>
            <a:pPr rtl="1" algn="r" marL="0" indent="0">
              <a:buNone/>
            </a:pPr>
            <a:r>
              <a:rPr sz="1200" lang="he-IL"/>
              <a:t>•  במעבדה א׳ שלב 4 קוראים את הקובץ הזה בקוד.</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כ־0.7 דקות.</a:t>
            </a:r>
          </a:p>
          <a:p>
            <a:pPr rtl="1" algn="r" marL="0" indent="0">
              <a:buNone/>
            </a:pPr>
            <a:r>
              <a:rPr b="1" sz="1200" lang="he-IL"/>
              <a:t>מטרה</a:t>
            </a:r>
          </a:p>
          <a:p>
            <a:pPr rtl="1" algn="r" marL="0" indent="0">
              <a:buNone/>
            </a:pPr>
            <a:r>
              <a:rPr sz="1200" lang="he-IL"/>
              <a:t>•  להכיר את הממשק /docs שמגיע בחינם עם FastAPI.</a:t>
            </a:r>
          </a:p>
          <a:p>
            <a:pPr rtl="1" algn="r" marL="0" indent="0">
              <a:buNone/>
            </a:pPr>
            <a:r>
              <a:rPr sz="1200" lang="he-IL"/>
              <a:t>•  השקף הוא צילום מסך אמיתי של השירות.</a:t>
            </a:r>
          </a:p>
          <a:p>
            <a:pPr rtl="1" algn="r" marL="0" indent="0">
              <a:buNone/>
            </a:pPr>
            <a:r>
              <a:rPr sz="1200" lang="he-IL"/>
              <a:t>•  עברו לפי המספרים: (1) כותרת, גרסה וקישור לקובץ openapi.json; (2) קבוצות (tags) של נקודות קצה: system, products, reports ו-jobs; (3) כל שורה מציגה שיטה, כתובת ושם, ולוחצים כדי לפתוח אותה.</a:t>
            </a:r>
          </a:p>
          <a:p>
            <a:pPr rtl="1" algn="r" marL="0" indent="0">
              <a:buNone/>
            </a:pPr>
            <a:r>
              <a:rPr sz="1200" lang="he-IL"/>
              <a:t>•  ציינו שהכתובת היא /docs בשירות שרץ, ושיש גם /redoc כתצוגה אחרת (תכונה של FastAPI).</a:t>
            </a:r>
          </a:p>
          <a:p>
            <a:pPr rtl="1" algn="r" marL="0" indent="0">
              <a:buNone/>
            </a:pPr>
            <a:r>
              <a:rPr sz="1200" lang="he-IL"/>
              <a:t>•  הדגימו חי אם יש שירות רץ אצלכם: פתחו /docs ולחצו על GET /products.</a:t>
            </a:r>
          </a:p>
          <a:p>
            <a:pPr rtl="1" algn="r" marL="0" indent="0">
              <a:buNone/>
            </a:pPr>
            <a:r>
              <a:rPr sz="1200" lang="he-IL"/>
              <a:t>•  יתרון לסטודנטים בלי ידע בקוד: אפשר להבין מה השירות עושה בלי לקרוא שורת קוד.</a:t>
            </a:r>
          </a:p>
          <a:p>
            <a:pPr rtl="1" algn="r" marL="0" indent="0">
              <a:buNone/>
            </a:pPr>
            <a:r>
              <a:rPr b="1" sz="1200" lang="he-IL"/>
              <a:t>אנלוגיה</a:t>
            </a:r>
          </a:p>
          <a:p>
            <a:pPr rtl="1" algn="r" marL="0" indent="0">
              <a:buNone/>
            </a:pPr>
            <a:r>
              <a:rPr sz="1200" lang="he-IL"/>
              <a:t>•  זה קטלוג המוצרים של השירות, עם כפתור לנסות כל אחד.</a:t>
            </a:r>
          </a:p>
          <a:p>
            <a:pPr rtl="1" algn="r" marL="0" indent="0">
              <a:buNone/>
            </a:pPr>
            <a:r>
              <a:rPr b="1" sz="1200" lang="he-IL"/>
              <a:t>שימו לב</a:t>
            </a:r>
          </a:p>
          <a:p>
            <a:pPr rtl="1" algn="r" marL="0" indent="0">
              <a:buNone/>
            </a:pPr>
            <a:r>
              <a:rPr sz="1200" lang="he-IL"/>
              <a:t>•  אם הפורט 8000 תפוס, כתובת התיעוד משתנה בהתאם (למשל 8010).</a:t>
            </a:r>
          </a:p>
          <a:p>
            <a:pPr rtl="1" algn="r" marL="0" indent="0">
              <a:buNone/>
            </a:pPr>
            <a:r>
              <a:rPr sz="1200" lang="he-IL"/>
              <a:t>•  השקף הבא מראה איך מנסים נקודת קצה.</a:t>
            </a:r>
          </a:p>
          <a:p>
            <a:pPr rtl="1" algn="r" marL="0" indent="0">
              <a:buNone/>
            </a:pPr>
            <a:r>
              <a:rPr sz="1200" lang="he-IL"/>
              <a:t>•  חשוב: ב־Colab אין דפדפן שמגיע לשרת שרץ ברקע, ולכן Swagger UI לא נפתח במחברת HM_07; הוא מוצג על המקרן מהשירות המלא שרץ אצלכם, ובמעבדה א׳ הסטודנטים קוראים את אותו openapi.json בקוד.</a:t>
            </a:r>
          </a:p>
          <a:p>
            <a:pPr rtl="1" algn="r" marL="0" indent="0">
              <a:buNone/>
            </a:pPr>
            <a:r>
              <a:rPr sz="1200" lang="he-IL"/>
              <a:t>•  זמן ותחליף: אם יש שירות רץ במחשב המרצה, אפשר להחליף את השקף הזה ואת השקף הבא בהדגמה חיה של כשתי דקות של /docs.</a:t>
            </a:r>
          </a:p>
          <a:p>
            <a:pPr rtl="1" algn="r" marL="0" indent="0">
              <a:buNone/>
            </a:pPr>
            <a:r>
              <a:rPr sz="1200" lang="he-IL"/>
              <a:t>•  ב־Colab אין דפדפן שמגיע לשרת, לכן המחברת קוראת את openapi.json בקוד.</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להראות שאפשר לבדוק API בלי לכתוב קוד, וש-Swagger UI בנוי מהחוזה.</a:t>
            </a:r>
          </a:p>
          <a:p>
            <a:pPr rtl="1" algn="r" marL="0" indent="0">
              <a:buNone/>
            </a:pPr>
            <a:r>
              <a:rPr sz="1200" lang="he-IL"/>
              <a:t>•  הצילומים אמיתיים.</a:t>
            </a:r>
          </a:p>
          <a:p>
            <a:pPr rtl="1" algn="r" marL="0" indent="0">
              <a:buNone/>
            </a:pPr>
            <a:r>
              <a:rPr sz="1200" lang="he-IL"/>
              <a:t>•  בצד ימין למעלה, מילוי הפרמטרים: category=Tech ו-limit=2; שימו לב שהשדה limit מציג את הגבולות min 1 ו-max 200 שהגיעו מהחוזה.</a:t>
            </a:r>
          </a:p>
          <a:p>
            <a:pPr rtl="1" algn="r" marL="0" indent="0">
              <a:buNone/>
            </a:pPr>
            <a:r>
              <a:rPr sz="1200" lang="he-IL"/>
              <a:t>•  אחרי הלחיצה על Execute, בצד השני רואים את בקשת ה-curl שנשלחה, את התגובה האמיתית ואת הכותרות.</a:t>
            </a:r>
          </a:p>
          <a:p>
            <a:pPr rtl="1" algn="r" marL="0" indent="0">
              <a:buNone/>
            </a:pPr>
            <a:r>
              <a:rPr sz="1200" lang="he-IL"/>
              <a:t>•  הדגישו שזו אותה תגובה שהיה מקבל הקוד שלכם, כלומר זו בדיקה אמיתית ולא הדמיה.</a:t>
            </a:r>
          </a:p>
          <a:p>
            <a:pPr rtl="1" algn="r" marL="0" indent="0">
              <a:buNone/>
            </a:pPr>
            <a:r>
              <a:rPr b="1" sz="1200" lang="he-IL"/>
              <a:t>אנלוגיה</a:t>
            </a:r>
          </a:p>
          <a:p>
            <a:pPr rtl="1" algn="r" marL="0" indent="0">
              <a:buNone/>
            </a:pPr>
            <a:r>
              <a:rPr sz="1200" lang="he-IL"/>
              <a:t>•  מנהל רכש יכול לבדוק בעצמו אילו מוצרים מוחזרים לקטגוריה מסוימת, בלי לבקש ממפתח.</a:t>
            </a:r>
          </a:p>
          <a:p>
            <a:pPr rtl="1" algn="r" marL="0" indent="0">
              <a:buNone/>
            </a:pPr>
            <a:r>
              <a:rPr b="1" sz="1200" lang="he-IL"/>
              <a:t>שאלה לכיתה</a:t>
            </a:r>
          </a:p>
          <a:p>
            <a:pPr rtl="1" algn="r" marL="0" indent="0">
              <a:buNone/>
            </a:pPr>
            <a:r>
              <a:rPr sz="1200" lang="he-IL"/>
              <a:t>•  מה יקרה אם נכתוב limit=0?</a:t>
            </a:r>
          </a:p>
          <a:p>
            <a:pPr rtl="1" algn="r" marL="0" indent="0">
              <a:buNone/>
            </a:pPr>
            <a:r>
              <a:rPr b="1" sz="1200" lang="he-IL"/>
              <a:t>תשובה</a:t>
            </a:r>
          </a:p>
          <a:p>
            <a:pPr rtl="1" algn="r" marL="0" indent="0">
              <a:buNone/>
            </a:pPr>
            <a:r>
              <a:rPr sz="1200" lang="he-IL"/>
              <a:t>•  תגובת 422, כי זה מחוץ לגבולות שבחוזה.</a:t>
            </a:r>
          </a:p>
          <a:p>
            <a:pPr rtl="1" algn="r" marL="0" indent="0">
              <a:buNone/>
            </a:pPr>
            <a:r>
              <a:rPr sz="1200" lang="he-IL"/>
              <a:t>•  במעבדה א׳ תשלחו את אותה בקשה בקוד ותראו 422.</a:t>
            </a:r>
          </a:p>
          <a:p>
            <a:pPr rtl="1" algn="r" marL="0" indent="0">
              <a:buNone/>
            </a:pPr>
            <a:r>
              <a:rPr b="1" sz="1200" lang="he-IL"/>
              <a:t>שימו לב</a:t>
            </a:r>
          </a:p>
          <a:p>
            <a:pPr rtl="1" algn="r" marL="0" indent="0">
              <a:buNone/>
            </a:pPr>
            <a:r>
              <a:rPr sz="1200" lang="he-IL"/>
              <a:t>•  Try it out שולח בקשות אמיתיות; לשירות שמוחק או שולח מיילים, צריך זהירות.</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כ־0.8 דקות.</a:t>
            </a:r>
          </a:p>
          <a:p>
            <a:pPr rtl="1" algn="r" marL="0" indent="0">
              <a:buNone/>
            </a:pPr>
            <a:r>
              <a:rPr b="1" sz="1200" lang="he-IL"/>
              <a:t>מטרה</a:t>
            </a:r>
          </a:p>
          <a:p>
            <a:pPr rtl="1" algn="r" marL="0" indent="0">
              <a:buNone/>
            </a:pPr>
            <a:r>
              <a:rPr sz="1200" lang="he-IL"/>
              <a:t>•  להראות שהחוזה מתאר לא רק הצלחה אלא גם כשלון.</a:t>
            </a:r>
          </a:p>
          <a:p>
            <a:pPr rtl="1" algn="r" marL="0" indent="0">
              <a:buNone/>
            </a:pPr>
            <a:r>
              <a:rPr sz="1200" lang="he-IL"/>
              <a:t>•  בצילום רואים בחלק העליון את תגובת ההצלחה 200 ואת מבנה התוכן שלה (שדות כמו product_id, name, category), ובחלק התחתון את תגובת ה-422 על קלט לא חוקי.</a:t>
            </a:r>
          </a:p>
          <a:p>
            <a:pPr rtl="1" algn="r" marL="0" indent="0">
              <a:buNone/>
            </a:pPr>
            <a:r>
              <a:rPr sz="1200" lang="he-IL"/>
              <a:t>•  זה חשוב לבדיקות: בודק טוב לא בודק רק שהמקרה התקין עובד, אלא גם שהמקרה השגוי נדחה באופן מוגדר.</a:t>
            </a:r>
          </a:p>
          <a:p>
            <a:pPr rtl="1" algn="r" marL="0" indent="0">
              <a:buNone/>
            </a:pPr>
            <a:r>
              <a:rPr sz="1200" lang="he-IL"/>
              <a:t>•  דוגמה: מחלקת הרכש מקלידה כמות שלילית בהזמנה; אנחנו רוצים שהמערכת תחזיר שגיאה ברורה ולא תקלוט את הנתון.</a:t>
            </a:r>
          </a:p>
          <a:p>
            <a:pPr rtl="1" algn="r" marL="0" indent="0">
              <a:buNone/>
            </a:pPr>
            <a:r>
              <a:rPr b="1" sz="1200" lang="he-IL"/>
              <a:t>שאלה לכיתה</a:t>
            </a:r>
          </a:p>
          <a:p>
            <a:pPr rtl="1" algn="r" marL="0" indent="0">
              <a:buNone/>
            </a:pPr>
            <a:r>
              <a:rPr sz="1200" lang="he-IL"/>
              <a:t>•  למה כדאי שהשגיאה תוגדר בחוזה?</a:t>
            </a:r>
          </a:p>
          <a:p>
            <a:pPr rtl="1" algn="r" marL="0" indent="0">
              <a:buNone/>
            </a:pPr>
            <a:r>
              <a:rPr b="1" sz="1200" lang="he-IL"/>
              <a:t>תשובה</a:t>
            </a:r>
          </a:p>
          <a:p>
            <a:pPr rtl="1" algn="r" marL="0" indent="0">
              <a:buNone/>
            </a:pPr>
            <a:r>
              <a:rPr sz="1200" lang="he-IL"/>
              <a:t>•  כדי שמי שצורך את ה-API (ממשק או קוד אחר) יידע מראש מה לצפות ויטפל בזה.</a:t>
            </a:r>
          </a:p>
          <a:p>
            <a:pPr rtl="1" algn="r" marL="0" indent="0">
              <a:buNone/>
            </a:pPr>
            <a:r>
              <a:rPr sz="1200" lang="he-IL"/>
              <a:t>•  בשקף הבא נראה ארבע דרכים להשתמש בחוזה לבדיקות.</a:t>
            </a:r>
          </a:p>
          <a:p>
            <a:pPr rtl="1" algn="r" marL="0" indent="0">
              <a:buNone/>
            </a:pPr>
            <a:r>
              <a:rPr b="1" sz="1200" lang="he-IL"/>
              <a:t>חיבור לשיעורים קודמים</a:t>
            </a:r>
          </a:p>
          <a:p>
            <a:pPr rtl="1" algn="r" marL="0" indent="0">
              <a:buNone/>
            </a:pPr>
            <a:r>
              <a:rPr sz="1200" lang="he-IL"/>
              <a:t>•  שיעור 8 מרחיב על כתיבת בדיקות ועל כיסוי.</a:t>
            </a:r>
          </a:p>
          <a:p>
            <a:pPr rtl="1" algn="r" marL="0" indent="0">
              <a:buNone/>
            </a:pPr>
            <a:r>
              <a:rPr b="1" sz="1200" lang="he-IL"/>
              <a:t>קישור למעבדה</a:t>
            </a:r>
          </a:p>
          <a:p>
            <a:pPr rtl="1" algn="r" marL="0" indent="0">
              <a:buNone/>
            </a:pPr>
            <a:r>
              <a:rPr sz="1200" lang="he-IL"/>
              <a:t>•  GET /orders/O1 מחזיר 404 שלא הוצהר בחוזה (חסר responses), וזה מה ש־check_contract מוצא בשלב 6.</a:t>
            </a:r>
          </a:p>
          <a:p>
            <a:pPr rtl="1" algn="r" marL="0" indent="0">
              <a:buNone/>
            </a:pPr>
            <a:r>
              <a:rPr sz="1200" lang="he-IL"/>
              <a:t>•  בכלי מקצועי כמו Schemathesis הבדיקה המתאימה נקראת status_code_conformance (העשרה, שקף 67).</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לסכם ארבע דרכים להשתמש בחוזה כדי לבדוק.</a:t>
            </a:r>
          </a:p>
          <a:p>
            <a:pPr rtl="1" algn="r" marL="0" indent="0">
              <a:buNone/>
            </a:pPr>
            <a:r>
              <a:rPr sz="1200" lang="he-IL"/>
              <a:t>•  עברו על ארבעת הכרטיסים לפי הסדר, מהקל לכבד.</a:t>
            </a:r>
          </a:p>
          <a:p>
            <a:pPr rtl="1" algn="r" marL="0" indent="0">
              <a:buNone/>
            </a:pPr>
            <a:r>
              <a:rPr sz="1200" lang="he-IL"/>
              <a:t>•  (1) ידנית: Swagger UI עם Try it out, הכי מהיר להתחלה; מוצג על המקרן, כי ב־Colab הוא לא נפתח.</a:t>
            </a:r>
          </a:p>
          <a:p>
            <a:pPr rtl="1" algn="r" marL="0" indent="0">
              <a:buNone/>
            </a:pPr>
            <a:r>
              <a:rPr sz="1200" lang="he-IL"/>
              <a:t>•  (2) בדיקות שנכתבות לפי החוזה: לכל שורה בחוזה, בדיקה של הצלחה ושל שגיאה, כמו בשקף הבא.</a:t>
            </a:r>
          </a:p>
          <a:p>
            <a:pPr rtl="1" algn="r" marL="0" indent="0">
              <a:buNone/>
            </a:pPr>
            <a:r>
              <a:rPr sz="1200" lang="he-IL"/>
              <a:t>•  (3) בדיקות אוטומטיות מהחוזה: כלים כמו Schemathesis מייצרים קלטים לפי הסכמה ומחפשים תגובות שלא תואמות; זה כלי חיצוני שנבדק מול התיעוד הרשמי שלו (פירוט בשקף 67, העשרה).</a:t>
            </a:r>
          </a:p>
          <a:p>
            <a:pPr rtl="1" algn="r" marL="0" indent="0">
              <a:buNone/>
            </a:pPr>
            <a:r>
              <a:rPr sz="1200" lang="he-IL"/>
              <a:t>•  (4) AI כותב בדיקות: מדביקים את openapi.json לסוכן ומבקשים בדיקות; אתם מאמתים שכל בדיקה מתייחסת למשהו שבחוזה.</a:t>
            </a:r>
          </a:p>
          <a:p>
            <a:pPr rtl="1" algn="r" marL="0" indent="0">
              <a:buNone/>
            </a:pPr>
            <a:r>
              <a:rPr b="1" sz="1200" lang="he-IL"/>
              <a:t>שאלה לכיתה</a:t>
            </a:r>
          </a:p>
          <a:p>
            <a:pPr rtl="1" algn="r" marL="0" indent="0">
              <a:buNone/>
            </a:pPr>
            <a:r>
              <a:rPr sz="1200" lang="he-IL"/>
              <a:t>•  מה הסיכון ב-4?</a:t>
            </a:r>
          </a:p>
          <a:p>
            <a:pPr rtl="1" algn="r" marL="0" indent="0">
              <a:buNone/>
            </a:pPr>
            <a:r>
              <a:rPr b="1" sz="1200" lang="he-IL"/>
              <a:t>תשובה</a:t>
            </a:r>
          </a:p>
          <a:p>
            <a:pPr rtl="1" algn="r" marL="0" indent="0">
              <a:buNone/>
            </a:pPr>
            <a:r>
              <a:rPr sz="1200" lang="he-IL"/>
              <a:t>•  הסוכן עלול להמציא בדיקות על דברים שלא בחוזה, או לכתוב בדיקה שעוברת תמיד.</a:t>
            </a:r>
          </a:p>
          <a:p>
            <a:pPr rtl="1" algn="r" marL="0" indent="0">
              <a:buNone/>
            </a:pPr>
            <a:r>
              <a:rPr sz="1200" lang="he-IL"/>
              <a:t>•  הכלל מהקורס: בדיקה שלא ראיתם נכשלת פעם אחת, לא בטוח שהיא בודקת משהו.</a:t>
            </a:r>
          </a:p>
          <a:p>
            <a:pPr rtl="1" algn="r" marL="0" indent="0">
              <a:buNone/>
            </a:pPr>
            <a:r>
              <a:rPr sz="1200" lang="he-IL"/>
              <a:t>•  במעבדה א׳ בונים בעצמכם גרסה קטנה של דרך 3: check_contract עוברת על כל נקודות הקצה שבחוזה וקוראת לכל אחת.</a:t>
            </a:r>
          </a:p>
          <a:p>
            <a:pPr rtl="1" algn="r" marL="0" indent="0">
              <a:buNone/>
            </a:pPr>
            <a:r>
              <a:rPr b="1" sz="1200" lang="he-IL"/>
              <a:t>חיבור לשיעורים קודמים</a:t>
            </a:r>
          </a:p>
          <a:p>
            <a:pPr rtl="1" algn="r" marL="0" indent="0">
              <a:buNone/>
            </a:pPr>
            <a:r>
              <a:rPr sz="1200" lang="he-IL"/>
              <a:t>•  בדיקה היא השוואה למשהו שידענו מראש.</a:t>
            </a:r>
          </a:p>
          <a:p>
            <a:pPr rtl="1" algn="r" marL="0" indent="0">
              <a:buNone/>
            </a:pPr>
            <a:r>
              <a:rPr sz="1200" lang="he-IL"/>
              <a:t>•  במפגש 5 הידוע מראש היה המוצר המוביל בהכנסה (Plant Pot Plus); כאן הידוע מראש הוא החוזה.</a:t>
            </a:r>
          </a:p>
          <a:p>
            <a:pPr rtl="1" algn="r" marL="0" indent="0">
              <a:buNone/>
            </a:pPr>
            <a:r>
              <a:rPr b="1" sz="1200" lang="he-IL"/>
              <a:t>שאלת היזכרות</a:t>
            </a:r>
          </a:p>
          <a:p>
            <a:pPr rtl="1" algn="r" marL="0" indent="0">
              <a:buNone/>
            </a:pPr>
            <a:r>
              <a:rPr sz="1200" lang="he-IL"/>
              <a:t>•  מי זוכר מה מאפיין בדיקה טובה לפי מפגש 5?</a:t>
            </a:r>
          </a:p>
          <a:p>
            <a:pPr rtl="1" algn="r" marL="0" indent="0">
              <a:buNone/>
            </a:pPr>
            <a:r>
              <a:rPr b="1" sz="1200" lang="he-IL"/>
              <a:t>תשובה</a:t>
            </a:r>
          </a:p>
          <a:p>
            <a:pPr rtl="1" algn="r" marL="0" indent="0">
              <a:buNone/>
            </a:pPr>
            <a:r>
              <a:rPr sz="1200" lang="he-IL"/>
              <a:t>•  כותבים מראש מה חייב להיות נכון ומשווים אוטומטית, ולא מסתפקים בכך שהקוד רץ.</a:t>
            </a:r>
          </a:p>
          <a:p>
            <a:pPr rtl="1" algn="r" marL="0" indent="0">
              <a:buNone/>
            </a:pPr>
            <a:r>
              <a:rPr b="1" sz="1200" lang="he-IL"/>
              <a:t>אם הכיתה לא זוכרת</a:t>
            </a:r>
          </a:p>
          <a:p>
            <a:pPr rtl="1" algn="r" marL="0" indent="0">
              <a:buNone/>
            </a:pPr>
            <a:r>
              <a:rPr sz="1200" lang="he-IL"/>
              <a:t>•  ״במפגש 5 קבענו מראש מה התשובה הנכונה ובדקנו מולה״, והמשיכו.</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כ־1.1 דקות.</a:t>
            </a:r>
          </a:p>
          <a:p>
            <a:pPr rtl="1" algn="r" marL="0" indent="0">
              <a:buNone/>
            </a:pPr>
            <a:r>
              <a:rPr b="1" sz="1200" lang="he-IL"/>
              <a:t>מטרה</a:t>
            </a:r>
          </a:p>
          <a:p>
            <a:pPr rtl="1" algn="r" marL="0" indent="0">
              <a:buNone/>
            </a:pPr>
            <a:r>
              <a:rPr sz="1200" lang="he-IL"/>
              <a:t>•  להראות את הקשר הישיר חוזה, בדיקה, תוצאה.</a:t>
            </a:r>
          </a:p>
          <a:p>
            <a:pPr rtl="1" algn="r" marL="0" indent="0">
              <a:buNone/>
            </a:pPr>
            <a:r>
              <a:rPr sz="1200" lang="he-IL"/>
              <a:t>•  הפלט אמיתי.</a:t>
            </a:r>
          </a:p>
          <a:p>
            <a:pPr rtl="1" algn="r" marL="0" indent="0">
              <a:buNone/>
            </a:pPr>
            <a:r>
              <a:rPr sz="1200" lang="he-IL"/>
              <a:t>•  בצד ימין למעלה קטע מהחוזה: limit עם minimum 1 ו-maximum 200.</a:t>
            </a:r>
          </a:p>
          <a:p>
            <a:pPr rtl="1" algn="r" marL="0" indent="0">
              <a:buNone/>
            </a:pPr>
            <a:r>
              <a:rPr sz="1200" lang="he-IL"/>
              <a:t>•  משמאלו הבדיקה שנגזרת: שולחים limit=0 וקובעים assert שקוד הסטטוס הוא 422.</a:t>
            </a:r>
          </a:p>
          <a:p>
            <a:pPr rtl="1" algn="r" marL="0" indent="0">
              <a:buNone/>
            </a:pPr>
            <a:r>
              <a:rPr sz="1200" lang="he-IL"/>
              <a:t>•  מתחת, הרצת pytest והתוצאה: 8 passed (כל בדיקות השירות המלא).</a:t>
            </a:r>
          </a:p>
          <a:p>
            <a:pPr rtl="1" algn="r" marL="0" indent="0">
              <a:buNone/>
            </a:pPr>
            <a:r>
              <a:rPr sz="1200" lang="he-IL"/>
              <a:t>•  הדגישו שהשאלה מה אמור לקרות מגיעה מהחוזה, לא מהקוד; אם נגזור את הבדיקה מהקוד, נוודא רק שהקוד עושה מה שהוא עושה.</a:t>
            </a:r>
          </a:p>
          <a:p>
            <a:pPr rtl="1" algn="r" marL="0" indent="0">
              <a:buNone/>
            </a:pPr>
            <a:r>
              <a:rPr sz="1200" lang="he-IL"/>
              <a:t>•  דוגמה: במפעל, בדיקת קבלה נגזרת ממפרט ההזמנה ולא מהאופן שבו הספק ייצר.</a:t>
            </a:r>
          </a:p>
          <a:p>
            <a:pPr rtl="1" algn="r" marL="0" indent="0">
              <a:buNone/>
            </a:pPr>
            <a:r>
              <a:rPr sz="1200" lang="he-IL"/>
              <a:t>•  למי שאין רקע בקוד: לא צריך להבין כל מילה, רק לזהות שיש בדיקה שמריצה בקשה ובודקת את הקוד שחזר.</a:t>
            </a:r>
          </a:p>
          <a:p>
            <a:pPr rtl="1" algn="r" marL="0" indent="0">
              <a:buNone/>
            </a:pPr>
            <a:r>
              <a:rPr b="1" sz="1200" lang="he-IL"/>
              <a:t>חיבור לשיעורים קודמים</a:t>
            </a:r>
          </a:p>
          <a:p>
            <a:pPr rtl="1" algn="r" marL="0" indent="0">
              <a:buNone/>
            </a:pPr>
            <a:r>
              <a:rPr sz="1200" lang="he-IL"/>
              <a:t>•  בשיעור 8 נלמד מה הופך בדיקה לטובה, ובשיעור 9 נשתמש בכישלון בדיקה כדי לאתר באגים.</a:t>
            </a:r>
          </a:p>
          <a:p>
            <a:pPr rtl="1" algn="r" marL="0" indent="0">
              <a:buNone/>
            </a:pPr>
            <a:r>
              <a:rPr b="1" sz="1200" lang="he-IL"/>
              <a:t>טעות נפוצה</a:t>
            </a:r>
          </a:p>
          <a:p>
            <a:pPr rtl="1" algn="r" marL="0" indent="0">
              <a:buNone/>
            </a:pPr>
            <a:r>
              <a:rPr sz="1200" lang="he-IL"/>
              <a:t>•  בדיקה שבודקת רק את קוד הסטטוס.</a:t>
            </a:r>
          </a:p>
          <a:p>
            <a:pPr rtl="1" algn="r" marL="0" indent="0">
              <a:buNone/>
            </a:pPr>
            <a:r>
              <a:rPr sz="1200" lang="he-IL"/>
              <a:t>•  בדיקה חזקה בודקת גם את מבנה הגוף ואת התוכן (במעבדה ג׳: מיון, מספר שורות והמוצר הראשון).</a:t>
            </a:r>
          </a:p>
          <a:p>
            <a:pPr rtl="1" algn="r" marL="0" indent="0">
              <a:buNone/>
            </a:pPr>
            <a:r>
              <a:rPr b="1" sz="1200" lang="he-IL"/>
              <a:t>להעמקה</a:t>
            </a:r>
          </a:p>
          <a:p>
            <a:pPr rtl="1" algn="r" marL="0" indent="0">
              <a:buNone/>
            </a:pPr>
            <a:r>
              <a:rPr sz="1200" lang="he-IL"/>
              <a:t>•  התקן מגדיר את קודי הסטטוס; הכלל ״בדיקה נגזרת מהחוזה ולא מהקוד״ הוא עיקרון עבודה מומלץ.</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כ־2 דקות.</a:t>
            </a:r>
          </a:p>
          <a:p>
            <a:pPr rtl="1" algn="r" marL="0" indent="0">
              <a:buNone/>
            </a:pPr>
            <a:r>
              <a:rPr b="1" sz="1200" lang="he-IL"/>
              <a:t>מטרה</a:t>
            </a:r>
          </a:p>
          <a:p>
            <a:pPr rtl="1" algn="r" marL="0" indent="0">
              <a:buNone/>
            </a:pPr>
            <a:r>
              <a:rPr sz="1200" lang="he-IL"/>
              <a:t>•  קישור לשיעור 2 (הזיות): מודל יכול להמציא קריאות API שנראות אמיתיות.</a:t>
            </a:r>
          </a:p>
          <a:p>
            <a:pPr rtl="1" algn="r" marL="0" indent="0">
              <a:buNone/>
            </a:pPr>
            <a:r>
              <a:rPr sz="1200" lang="he-IL"/>
              <a:t>•  הדוגמאות נבדקו בפועל מול שירות שער החליפין Frankfurter באוקטובר 2026 לפי הערות המחבר, ואין להניח שהן יישארו כך; יש לאמת לפני השיעור.</a:t>
            </a:r>
          </a:p>
          <a:p>
            <a:pPr rtl="1" algn="r" marL="0" indent="0">
              <a:buNone/>
            </a:pPr>
            <a:r>
              <a:rPr sz="1200" lang="he-IL"/>
              <a:t>•  עברו על הטבלה שורה אחרי שורה: נקודת קצה שלא קיימת (convert) מחזירה 404, ולכן נתפסת מיד; פרמטר שלא קיים (currency) גורם לשירות להתעלם ממנו בשקט ולהחזיר 200 עם כל המטבעות, וזה הכי מסוכן כי נראה כאילו הכול עבד; כתובת ישנה שהועברה מחזירה 301.</a:t>
            </a:r>
          </a:p>
          <a:p>
            <a:pPr rtl="1" algn="r" marL="0" indent="0">
              <a:buNone/>
            </a:pPr>
            <a:r>
              <a:rPr b="1" sz="1200" lang="he-IL"/>
              <a:t>שאלה לכיתה</a:t>
            </a:r>
          </a:p>
          <a:p>
            <a:pPr rtl="1" algn="r" marL="0" indent="0">
              <a:buNone/>
            </a:pPr>
            <a:r>
              <a:rPr sz="1200" lang="he-IL"/>
              <a:t>•  איזו הזיה הכי מסוכנת ולמה?</a:t>
            </a:r>
          </a:p>
          <a:p>
            <a:pPr rtl="1" algn="r" marL="0" indent="0">
              <a:buNone/>
            </a:pPr>
            <a:r>
              <a:rPr b="1" sz="1200" lang="he-IL"/>
              <a:t>תשובה</a:t>
            </a:r>
          </a:p>
          <a:p>
            <a:pPr rtl="1" algn="r" marL="0" indent="0">
              <a:buNone/>
            </a:pPr>
            <a:r>
              <a:rPr sz="1200" lang="he-IL"/>
              <a:t>•  הפרמטר המומצא, כי אין שגיאה, והקוד ממשיך עם נתונים שגויים.</a:t>
            </a:r>
          </a:p>
          <a:p>
            <a:pPr rtl="1" algn="r" marL="0" indent="0">
              <a:buNone/>
            </a:pPr>
            <a:r>
              <a:rPr sz="1200" lang="he-IL"/>
              <a:t>•  הפתרון בשורה התחתונה: בודקים מול החוזה או התיעוד האם הנתיב והפרמטר קיימים.</a:t>
            </a:r>
          </a:p>
          <a:p>
            <a:pPr rtl="1" algn="r" marL="0" indent="0">
              <a:buNone/>
            </a:pPr>
            <a:r>
              <a:rPr b="1" sz="1200" lang="he-IL"/>
              <a:t>אנלוגיה</a:t>
            </a:r>
          </a:p>
          <a:p>
            <a:pPr rtl="1" algn="r" marL="0" indent="0">
              <a:buNone/>
            </a:pPr>
            <a:r>
              <a:rPr sz="1200" lang="he-IL"/>
              <a:t>•  שער חליפין שגוי בחישוב עלות יבוא מזיק, גם אם הקריאה נראתה תקינה.</a:t>
            </a:r>
          </a:p>
          <a:p>
            <a:pPr rtl="1" algn="r" marL="0" indent="0">
              <a:buNone/>
            </a:pPr>
            <a:r>
              <a:rPr sz="1200" lang="he-IL"/>
              <a:t>•  עדכון אימות: הדוגמאות נבדקו שוב ב־22 באוקטובר 2026 מול שירות Frankfurter: /v1/convert מחזיר 404; הפרמטר currency מתעלם ממנו בשקט ומחזיר 200 עם 29 מטבעות; כתובת הדומיין הישן api.frankfurter.app מחזירה 301 לדומיין החדש.</a:t>
            </a:r>
          </a:p>
          <a:p>
            <a:pPr rtl="1" algn="r" marL="0" indent="0">
              <a:buNone/>
            </a:pPr>
            <a:r>
              <a:rPr sz="1200" lang="he-IL"/>
              <a:t>•  התיעוד העדכני של השירות מתאר גרסה 2 (/v2/rates), וגרסה 1 מסומנת בו כמיושנת אך זמינה ״ללא הגבלת זמן״, ולכן הדוגמאות בשקף תקפות כרגע; כדאי לבדוק שוב לפני כל סמסטר.</a:t>
            </a:r>
          </a:p>
          <a:p>
            <a:pPr rtl="1" algn="r" marL="0" indent="0">
              <a:buNone/>
            </a:pPr>
            <a:r>
              <a:rPr b="1" sz="1200" lang="he-IL"/>
              <a:t>מתי לדלג</a:t>
            </a:r>
          </a:p>
          <a:p>
            <a:pPr rtl="1" algn="r" marL="0" indent="0">
              <a:buNone/>
            </a:pPr>
            <a:r>
              <a:rPr sz="1200" lang="he-IL"/>
              <a:t>•  אם אין זמן, אפשר להקצות כקריאה בבית (קשור לחלק ז׳ במחברת).</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שלושה מושגים שנתקלים בהם בכל API חיצוני.</a:t>
            </a:r>
          </a:p>
          <a:p>
            <a:pPr rtl="1" algn="r" marL="0" indent="0">
              <a:buNone/>
            </a:pPr>
            <a:r>
              <a:rPr sz="1200" lang="he-IL"/>
              <a:t>•  מפתח API הוא כרטיס כניסה אישי שמזהה אתכם, ובדרך כלל קשור למכסה או לתשלום.</a:t>
            </a:r>
          </a:p>
          <a:p>
            <a:pPr rtl="1" algn="r" marL="0" indent="0">
              <a:buNone/>
            </a:pPr>
            <a:r>
              <a:rPr sz="1200" lang="he-IL"/>
              <a:t>•  מגבלת קצב מגבילה כמה בקשות מותר לשלוח בדקה או ביום, ומעבר לה מקבלים קוד 429; הטיפול הנכון הוא לחכות ולנסות שוב, ולא ללופ שמפציץ את השרת.</a:t>
            </a:r>
          </a:p>
          <a:p>
            <a:pPr rtl="1" algn="r" marL="0" indent="0">
              <a:buNone/>
            </a:pPr>
            <a:r>
              <a:rPr b="1" sz="1200" lang="he-IL"/>
              <a:t>מסר מרכזי</a:t>
            </a:r>
          </a:p>
          <a:p>
            <a:pPr rtl="1" algn="r" marL="0" indent="0">
              <a:buNone/>
            </a:pPr>
            <a:r>
              <a:rPr sz="1200" lang="he-IL"/>
              <a:t>•  המפתח לא נכנס לקוד ולא למאגר Git אלא למשתנה סביבה; זה נושא של שיעור 10 (אבטחה).</a:t>
            </a:r>
          </a:p>
          <a:p>
            <a:pPr rtl="1" algn="r" marL="0" indent="0">
              <a:buNone/>
            </a:pPr>
            <a:r>
              <a:rPr sz="1200" lang="he-IL"/>
              <a:t>•  דוגמה: אם מפתח LLM שלכם דלף לגיטהאב, מישהו אחר ישתמש במכסה שלכם או יחייב אתכם.</a:t>
            </a:r>
          </a:p>
          <a:p>
            <a:pPr rtl="1" algn="r" marL="0" indent="0">
              <a:buNone/>
            </a:pPr>
            <a:r>
              <a:rPr b="1" sz="1200" lang="he-IL"/>
              <a:t>שאלה לכיתה</a:t>
            </a:r>
          </a:p>
          <a:p>
            <a:pPr rtl="1" algn="r" marL="0" indent="0">
              <a:buNone/>
            </a:pPr>
            <a:r>
              <a:rPr sz="1200" lang="he-IL"/>
              <a:t>•  איפה נשמור את המפתח בפרויקט הקבוצתי?</a:t>
            </a:r>
          </a:p>
          <a:p>
            <a:pPr rtl="1" algn="r" marL="0" indent="0">
              <a:buNone/>
            </a:pPr>
            <a:r>
              <a:rPr b="1" sz="1200" lang="he-IL"/>
              <a:t>תשובה</a:t>
            </a:r>
          </a:p>
          <a:p>
            <a:pPr rtl="1" algn="r" marL="0" indent="0">
              <a:buNone/>
            </a:pPr>
            <a:r>
              <a:rPr sz="1200" lang="he-IL"/>
              <a:t>•  במשתנה סביבה או בקובץ env שנמצא ב-gitignore, ולא בקוד.</a:t>
            </a:r>
          </a:p>
          <a:p>
            <a:pPr rtl="1" algn="r" marL="0" indent="0">
              <a:buNone/>
            </a:pPr>
            <a:r>
              <a:rPr sz="1200" lang="he-IL"/>
              <a:t>•  זכרו שמכסות חינמיות של ספקים משתנות, ויש לאמת לפני הסמסטר.</a:t>
            </a:r>
          </a:p>
          <a:p>
            <a:pPr rtl="1" algn="r" marL="0" indent="0">
              <a:buNone/>
            </a:pPr>
            <a:r>
              <a:rPr b="1" sz="1200" lang="he-IL"/>
              <a:t>להעמקה</a:t>
            </a:r>
          </a:p>
          <a:p>
            <a:pPr rtl="1" algn="r" marL="0" indent="0">
              <a:buNone/>
            </a:pPr>
            <a:r>
              <a:rPr sz="1200" lang="he-IL"/>
              <a:t>•  הכותרת Retry-After מוגדרת ב־RFC 9110 (סעיף 10.2.3), והקוד 429 ב־RFC 6585: לפי התקן השרת רשאי (MAY) לצרף אותה, ולכן הקוד חייב להתמודד גם בלעדיה (המתנה מוגדלת בהדרגה).</a:t>
            </a:r>
          </a:p>
          <a:p>
            <a:pPr rtl="1" algn="r" marL="0" indent="0">
              <a:buNone/>
            </a:pPr>
            <a:r>
              <a:rPr sz="1200" lang="he-IL"/>
              <a:t>•  הטענה על ״מכסות חינמיות״ משתנה בין ספקים, ולא נבדקה.</a:t>
            </a:r>
          </a:p>
          <a:p>
            <a:pPr rtl="1" algn="r" marL="0" indent="0">
              <a:buNone/>
            </a:pPr>
            <a:r>
              <a:rPr b="1" sz="1200" lang="he-IL"/>
              <a:t>מתי לדלג</a:t>
            </a:r>
          </a:p>
          <a:p>
            <a:pPr rtl="1" algn="r" marL="0" indent="0">
              <a:buNone/>
            </a:pPr>
            <a:r>
              <a:rPr sz="1200" lang="he-IL"/>
              <a:t>•  אם אין זמן: אמרו ״מפתח לא נכנס לקוד, 429 פירושו לחכות״ ועברו הלאה.</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כ־2 דקות.</a:t>
            </a:r>
          </a:p>
          <a:p>
            <a:pPr rtl="1" algn="r" marL="0" indent="0">
              <a:buNone/>
            </a:pPr>
            <a:r>
              <a:rPr b="1" sz="1200" lang="he-IL"/>
              <a:t>מה אומרים</a:t>
            </a:r>
          </a:p>
          <a:p>
            <a:pPr rtl="1" algn="r" marL="0" indent="0">
              <a:buNone/>
            </a:pPr>
            <a:r>
              <a:rPr sz="1200" lang="he-IL"/>
              <a:t>•  שקף קצר, ורק הוא מראה קריאה מוצלחת ל-API חיצוני אמיתי, כפי שהסילבוס דורש.</a:t>
            </a:r>
          </a:p>
          <a:p>
            <a:pPr rtl="1" algn="r" marL="0" indent="0">
              <a:buNone/>
            </a:pPr>
            <a:r>
              <a:rPr sz="1200" lang="he-IL"/>
              <a:t>•  הציגו את שני הצדדים: משמאל קוד פייתון עם requests, ומימין התגובה האמיתית שהתקבלה באוקטובר 2026 משירות שער החליפין Frankfurter, שפתוח ללא מפתח.</a:t>
            </a:r>
          </a:p>
          <a:p>
            <a:pPr rtl="1" algn="r" marL="0" indent="0">
              <a:buNone/>
            </a:pPr>
            <a:r>
              <a:rPr sz="1200" lang="he-IL"/>
              <a:t>•  עברו על שלושת הכרטיסים: קוד 200 מאשר שהבקשה הצליחה (חזרה לשקף על תגובות HTTP), המפתח rates מכיל את הערך שמחפשים, ו-timeout מונע מהקוד להיתקע אם השרת לא עונה.</a:t>
            </a:r>
          </a:p>
          <a:p>
            <a:pPr rtl="1" algn="r" marL="0" indent="0">
              <a:buNone/>
            </a:pPr>
            <a:r>
              <a:rPr b="1" sz="1200" lang="he-IL"/>
              <a:t>שאלה לכיתה</a:t>
            </a:r>
          </a:p>
          <a:p>
            <a:pPr rtl="1" algn="r" marL="0" indent="0">
              <a:buNone/>
            </a:pPr>
            <a:r>
              <a:rPr sz="1200" lang="he-IL"/>
              <a:t>•  איך נשלוף מהתגובה את שער השקל?</a:t>
            </a:r>
          </a:p>
          <a:p>
            <a:pPr rtl="1" algn="r" marL="0" indent="0">
              <a:buNone/>
            </a:pPr>
            <a:r>
              <a:rPr b="1" sz="1200" lang="he-IL"/>
              <a:t>תשובה</a:t>
            </a:r>
          </a:p>
          <a:p>
            <a:pPr rtl="1" algn="r" marL="0" indent="0">
              <a:buNone/>
            </a:pPr>
            <a:r>
              <a:rPr sz="1200" lang="he-IL"/>
              <a:t>•  r.json()["rates"]["ILS"].</a:t>
            </a:r>
          </a:p>
          <a:p>
            <a:pPr rtl="1" algn="r" marL="0" indent="0">
              <a:buNone/>
            </a:pPr>
            <a:r>
              <a:rPr sz="1200" lang="he-IL"/>
              <a:t>•  הדגישו שהשער משתנה מיום ליום, ולכן אי אפשר לבדוק מול מספר קבוע.</a:t>
            </a:r>
          </a:p>
          <a:p>
            <a:pPr rtl="1" algn="r" marL="0" indent="0">
              <a:buNone/>
            </a:pPr>
            <a:r>
              <a:rPr sz="1200" lang="he-IL"/>
              <a:t>•  אם השירות לא זמין בשיעור, במחברת (חלק ז׳, לבית) מודפסת דוגמה שמורה, והבדיקה שם נעשית בשרת מזויף.</a:t>
            </a:r>
          </a:p>
          <a:p>
            <a:pPr rtl="1" algn="r" marL="0" indent="0">
              <a:buNone/>
            </a:pPr>
            <a:r>
              <a:rPr sz="1200" lang="he-IL"/>
              <a:t>•  קישור למפגש 2: בודקים כל שם פרמטר מול התיעוד כדי לא ליפול להזיה.</a:t>
            </a:r>
          </a:p>
          <a:p>
            <a:pPr rtl="1" algn="r" marL="0" indent="0">
              <a:buNone/>
            </a:pPr>
            <a:r>
              <a:rPr sz="1200" lang="he-IL"/>
              <a:t>•  יש לאמת לפני השיעור שהשירות זמין.</a:t>
            </a:r>
          </a:p>
          <a:p>
            <a:pPr rtl="1" algn="r" marL="0" indent="0">
              <a:buNone/>
            </a:pPr>
            <a:r>
              <a:rPr sz="1200" lang="he-IL"/>
              <a:t>•  עדכון אימות: ב־22 באוקטובר 2026 הבקשה לדוגמה (base=USD, symbols=ILS) חזרה 200 עם תאריך 2026-10-22 ושער 3.1079, באותו מבנה כמו בשקף (השקף מציג את התוצאה מ־16 באוקטובר: 3.0945).</a:t>
            </a:r>
          </a:p>
          <a:p>
            <a:pPr rtl="1" algn="r" marL="0" indent="0">
              <a:buNone/>
            </a:pPr>
            <a:r>
              <a:rPr b="1" sz="1200" lang="he-IL"/>
              <a:t>שימו לב</a:t>
            </a:r>
          </a:p>
          <a:p>
            <a:pPr rtl="1" algn="r" marL="0" indent="0">
              <a:buNone/>
            </a:pPr>
            <a:r>
              <a:rPr sz="1200" lang="he-IL"/>
              <a:t>•  לפי התיעוד העדכני של Frankfurter, גרסה 1 (שבה משתמשים כאן ובמחברת) מוגדרת כמיושנת אך נשארת זמינה ״ללא הגבלת זמן״; אין צורך לשנות, אבל כדאי לדעת.</a:t>
            </a:r>
          </a:p>
          <a:p>
            <a:pPr rtl="1" algn="r" marL="0" indent="0">
              <a:buNone/>
            </a:pPr>
            <a:r>
              <a:rPr b="1" sz="1200" lang="he-IL"/>
              <a:t>מתי לדלג</a:t>
            </a:r>
          </a:p>
          <a:p>
            <a:pPr rtl="1" algn="r" marL="0" indent="0">
              <a:buNone/>
            </a:pPr>
            <a:r>
              <a:rPr sz="1200" lang="he-IL"/>
              <a:t>•  אם אין זמן, מדלגים: חלק ז׳ במחברת מתרגל את אותו דבר.</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13 דקות.</a:t>
            </a:r>
          </a:p>
          <a:p>
            <a:pPr rtl="1" algn="r" marL="0" indent="0">
              <a:buNone/>
            </a:pPr>
            <a:r>
              <a:rPr b="1" sz="1200" lang="he-IL"/>
              <a:t>מה אומרים</a:t>
            </a:r>
          </a:p>
          <a:p>
            <a:pPr rtl="1" algn="r" marL="0" indent="0">
              <a:buNone/>
            </a:pPr>
            <a:r>
              <a:rPr sz="1200" lang="he-IL"/>
              <a:t>•  מעבדה א׳, 13 דקות, בזוגות, חלק א׳ במחברת Colab HM_07, שמלווה את שלוש המעבדות של המפגש (כל מעבדה היא חלק אחר באותה מחברת).</a:t>
            </a:r>
          </a:p>
          <a:p>
            <a:pPr rtl="1" algn="r" marL="0" indent="0">
              <a:buNone/>
            </a:pPr>
            <a:r>
              <a:rPr sz="1200" lang="he-IL"/>
              <a:t>•  הסטודנטים כבר ראו בהרצאה HTTP, קודי סטטוס ו־OpenAPI; עכשיו הם הצד של השרת ובונים כלי בדיקה.</a:t>
            </a:r>
          </a:p>
          <a:p>
            <a:pPr rtl="1" algn="r" marL="0" indent="0">
              <a:buNone/>
            </a:pPr>
            <a:r>
              <a:rPr sz="1200" lang="he-IL"/>
              <a:t>•  שלבי המחברת: שלב 0, שרת FastAPI אמיתי רץ ברקע בתוך Colab (127.0.0.1) והם פונים אליו עם requests</a:t>
            </a:r>
          </a:p>
          <a:p>
            <a:pPr rtl="1" algn="r" marL="0" indent="0">
              <a:buNone/>
            </a:pPr>
            <a:r>
              <a:rPr sz="1200" lang="he-IL"/>
              <a:t>•  שלב 1, חמש בקשות עם תחזית (GET /products/P001 מחזיר 500, כי find_product עוד לא נכתבה)</a:t>
            </a:r>
          </a:p>
          <a:p>
            <a:pPr rtl="1" algn="r" marL="0" indent="0">
              <a:buNone/>
            </a:pPr>
            <a:r>
              <a:rPr sz="1200" lang="he-IL"/>
              <a:t>•  שלב 1ב, status_family</a:t>
            </a:r>
          </a:p>
          <a:p>
            <a:pPr rtl="1" algn="r" marL="0" indent="0">
              <a:buNone/>
            </a:pPr>
            <a:r>
              <a:rPr sz="1200" lang="he-IL"/>
              <a:t>•  שלב 2, find_product (404)</a:t>
            </a:r>
          </a:p>
          <a:p>
            <a:pPr rtl="1" algn="r" marL="0" indent="0">
              <a:buNone/>
            </a:pPr>
            <a:r>
              <a:rPr sz="1200" lang="he-IL"/>
              <a:t>•  שלב 3, create_order (201, 404, 422)</a:t>
            </a:r>
          </a:p>
          <a:p>
            <a:pPr rtl="1" algn="r" marL="0" indent="0">
              <a:buNone/>
            </a:pPr>
            <a:r>
              <a:rPr sz="1200" lang="he-IL"/>
              <a:t>•  שלב 4, קריאת openapi.json</a:t>
            </a:r>
          </a:p>
          <a:p>
            <a:pPr rtl="1" algn="r" marL="0" indent="0">
              <a:buNone/>
            </a:pPr>
            <a:r>
              <a:rPr sz="1200" lang="he-IL"/>
              <a:t>•  שלב 5, list_endpoints</a:t>
            </a:r>
          </a:p>
          <a:p>
            <a:pPr rtl="1" algn="r" marL="0" indent="0">
              <a:buNone/>
            </a:pPr>
            <a:r>
              <a:rPr sz="1200" lang="he-IL"/>
              <a:t>•  שלב 6, check_contract: כלי שבודק שכל קוד שהשרת החזיר מופיע בחוזה.</a:t>
            </a:r>
          </a:p>
          <a:p>
            <a:pPr rtl="1" algn="r" marL="0" indent="0">
              <a:buNone/>
            </a:pPr>
            <a:r>
              <a:rPr sz="1200" lang="he-IL"/>
              <a:t>•  ארבעת הכללים של המחברת (אין שקף נפרד להם): ממלאים TODO בעצמכם ובלי כלי AI, מריצים את תא הבדיקה אחרי כל פונקציה, כותבים תחזית לפני הרצה, ועונים על שאלות הניתוח.</a:t>
            </a:r>
          </a:p>
          <a:p>
            <a:pPr rtl="1" algn="r" marL="0" indent="0">
              <a:buNone/>
            </a:pPr>
            <a:r>
              <a:rPr sz="1200" lang="he-IL"/>
              <a:t>•  מוצג על המקרן: Swagger UI (/docs).</a:t>
            </a:r>
          </a:p>
          <a:p>
            <a:pPr rtl="1" algn="r" marL="0" indent="0">
              <a:buNone/>
            </a:pPr>
            <a:r>
              <a:rPr sz="1200" lang="he-IL"/>
              <a:t>•  ב־Colab אין דפדפן שמגיע לשרת שרץ ברקע, ולכן /docs לא נפתח במחברת; מציגים אותו מהשירות המלא שרץ אצלכם.</a:t>
            </a:r>
          </a:p>
          <a:p>
            <a:pPr rtl="1" algn="r" marL="0" indent="0">
              <a:buNone/>
            </a:pPr>
            <a:r>
              <a:rPr b="1" sz="1200" lang="he-IL"/>
              <a:t>הכנה לפני השיעור</a:t>
            </a:r>
          </a:p>
          <a:p>
            <a:pPr rtl="1" algn="r" marL="0" indent="0">
              <a:buNone/>
            </a:pPr>
            <a:r>
              <a:rPr sz="1200" lang="he-IL"/>
              <a:t>•  להעלות את HM_07.ipynb ל־Drive או ל־Colab, להחליף את ה־QR (מקום שמור) בקישור אמיתי, ולהריץ Run all על HM_07_SOLUTION פעם אחת.</a:t>
            </a:r>
          </a:p>
          <a:p>
            <a:pPr rtl="1" algn="r" marL="0" indent="0">
              <a:buNone/>
            </a:pPr>
            <a:r>
              <a:rPr sz="1200" lang="he-IL"/>
              <a:t>•  אם ההתקנה של fastapi מבקשת Restart session: לאשר ולהריץ הכול מחדש.</a:t>
            </a:r>
          </a:p>
          <a:p>
            <a:pPr rtl="1" algn="r" marL="0" indent="0">
              <a:buNone/>
            </a:pPr>
            <a:r>
              <a:rPr sz="1200" lang="he-IL"/>
              <a:t>•  אם הזמן קצר: לדלג על status_family או להשאיר אותו לבית.</a:t>
            </a:r>
          </a:p>
          <a:p>
            <a:pPr rtl="1" algn="r" marL="0" indent="0">
              <a:buNone/>
            </a:pPr>
            <a:r>
              <a:rPr sz="1200" lang="he-IL"/>
              <a:t>•  הערות מפורטות בקובץ הערות_למרצה_HM_07.md.</a:t>
            </a:r>
          </a:p>
          <a:p>
            <a:pPr rtl="1" algn="r" marL="0" indent="0">
              <a:buNone/>
            </a:pPr>
            <a:r>
              <a:rPr b="1" sz="1200" lang="he-IL"/>
              <a:t>למה עושים את זה</a:t>
            </a:r>
          </a:p>
          <a:p>
            <a:pPr rtl="1" algn="r" marL="0" indent="0">
              <a:buNone/>
            </a:pPr>
            <a:r>
              <a:rPr sz="1200" lang="he-IL"/>
              <a:t>•  מי שיודע לקרוא קודי סטטוס, לראות מה החוזה מצהיר ולבדוק שרת מולו יכול לבדוק גם API ש־AI כתב, בלי לסמוך על ״זה רץ״.</a:t>
            </a:r>
          </a:p>
          <a:p>
            <a:pPr rtl="1" algn="r" marL="0" indent="0">
              <a:buNone/>
            </a:pPr>
            <a:r>
              <a:rPr sz="1200" lang="he-IL"/>
              <a:t>•  החיבור לתיאוריה: status_family ← שקף 9; find_product ו־create_order ← שקפים 11-12; list_endpoints ← שקף 13; check_contract ← שקפים 17-18.</a:t>
            </a:r>
          </a:p>
          <a:p>
            <a:pPr rtl="1" algn="r" marL="0" indent="0">
              <a:buNone/>
            </a:pPr>
            <a:r>
              <a:rPr b="1" sz="1200" lang="he-IL"/>
              <a:t>חיבור לשיעורים קודמים</a:t>
            </a:r>
          </a:p>
          <a:p>
            <a:pPr rtl="1" algn="r" marL="0" indent="0">
              <a:buNone/>
            </a:pPr>
            <a:r>
              <a:rPr sz="1200" lang="he-IL"/>
              <a:t>•  כתיבת תחזית לפני כל הרצה היא ״ציפייה שנכתבה מראש״ ממפגש 5; check_contract נשען על הכלל ממפגש 2, לא סומכים על תיעוד בלי לבדוק, והוא מוצא מקרה שבו החוזה אומר דבר אחד והשרת עושה אחר (דומה ברוחו להזיית התנהגות מהטקסונומיה של מפגש 2).</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כ־0.5 דקה, לשימוש כקריאה בבית.</a:t>
            </a:r>
          </a:p>
          <a:p>
            <a:pPr rtl="1" algn="r" marL="0" indent="0">
              <a:buNone/>
            </a:pPr>
            <a:r>
              <a:rPr b="1" sz="1200" lang="he-IL"/>
              <a:t>מה אומרים</a:t>
            </a:r>
          </a:p>
          <a:p>
            <a:pPr rtl="1" algn="r" marL="0" indent="0">
              <a:buNone/>
            </a:pPr>
            <a:r>
              <a:rPr sz="1200" lang="he-IL"/>
              <a:t>•  שמונה מקורות לתקנים ולתיעוד רשמי שעליהם נשענים השקפים.</a:t>
            </a:r>
          </a:p>
          <a:p>
            <a:pPr rtl="1" algn="r" marL="0" indent="0">
              <a:buNone/>
            </a:pPr>
            <a:r>
              <a:rPr sz="1200" lang="he-IL"/>
              <a:t>•  כל מקור נפתח ונבדק בפועל באוקטובר 2026.</a:t>
            </a:r>
          </a:p>
          <a:p>
            <a:pPr rtl="1" algn="r" marL="0" indent="0">
              <a:buNone/>
            </a:pPr>
            <a:r>
              <a:rPr sz="1200" lang="he-IL"/>
              <a:t>•  (1) RFC 9110, HTTP Semantics (IETF, 2022): הגדרות HTTP, שיטות בטוחות ואידמפוטנטיות (9.2), קודי סטטוס (סעיף 15).</a:t>
            </a:r>
          </a:p>
          <a:p>
            <a:pPr rtl="1" algn="r" marL="0" indent="0">
              <a:buNone/>
            </a:pPr>
            <a:r>
              <a:rPr sz="1200" lang="he-IL"/>
              <a:t>•  (2) מפרט OpenAPI: בעת הבדיקה הגרסה האחרונה בדף הרשמי היא 3.2.1 מספטמבר 2026; FastAPI מפיקה כיום קובץ בגרסה 3.1.0, כפי שמופיע בשקף על openapi.json.</a:t>
            </a:r>
          </a:p>
          <a:p>
            <a:pPr rtl="1" algn="r" marL="0" indent="0">
              <a:buNone/>
            </a:pPr>
            <a:r>
              <a:rPr sz="1200" lang="he-IL"/>
              <a:t>•  (3) תיעוד FastAPI: הקשר בין הקוד, OpenAPI, /docs ו־/redoc.</a:t>
            </a:r>
          </a:p>
          <a:p>
            <a:pPr rtl="1" algn="r" marL="0" indent="0">
              <a:buNone/>
            </a:pPr>
            <a:r>
              <a:rPr sz="1200" lang="he-IL"/>
              <a:t>•  (4) תיעוד Python ל־sqlite3: אזהרה מפני הרכבת שאילתות במחרוזות ושימוש ב־placeholders.</a:t>
            </a:r>
          </a:p>
          <a:p>
            <a:pPr rtl="1" algn="r" marL="0" indent="0">
              <a:buNone/>
            </a:pPr>
            <a:r>
              <a:rPr sz="1200" lang="he-IL"/>
              <a:t>•  (5) OWASP: שאילתות מוכנות כהגנה ראשונה מפני SQL injection.</a:t>
            </a:r>
          </a:p>
          <a:p>
            <a:pPr rtl="1" algn="r" marL="0" indent="0">
              <a:buNone/>
            </a:pPr>
            <a:r>
              <a:rPr sz="1200" lang="he-IL"/>
              <a:t>•  (6) תיעוד Docker: קונטיינר כתהליך מבודד שחולק את הגרעין, בניגוד ל־VM.</a:t>
            </a:r>
          </a:p>
          <a:p>
            <a:pPr rtl="1" algn="r" marL="0" indent="0">
              <a:buNone/>
            </a:pPr>
            <a:r>
              <a:rPr sz="1200" lang="he-IL"/>
              <a:t>•  (7) תיעוד Kubernetes: הגדרה הצהרתית, ריפוי עצמי וקנה מידה.</a:t>
            </a:r>
          </a:p>
          <a:p>
            <a:pPr rtl="1" algn="r" marL="0" indent="0">
              <a:buNone/>
            </a:pPr>
            <a:r>
              <a:rPr sz="1200" lang="he-IL"/>
              <a:t>•  (8) תיעוד Celery: סטטוסי משימה, acks_late ואידמפוטנטיות.</a:t>
            </a:r>
          </a:p>
          <a:p>
            <a:pPr rtl="1" algn="r" marL="0" indent="0">
              <a:buNone/>
            </a:pPr>
            <a:r>
              <a:rPr sz="1200" lang="he-IL"/>
              <a:t>•  הנחיה לסטודנטים: אין צורך לקרוא הכול; התחילו ב־(1) סעיף 15 וב־(3), והשאר לפי הצורך בפרויקט.</a:t>
            </a:r>
          </a:p>
          <a:p>
            <a:pPr rtl="1" algn="r" marL="0" indent="0">
              <a:buNone/>
            </a:pPr>
            <a:r>
              <a:rPr sz="1200" lang="he-IL"/>
              <a:t>•  למרצה: מקורות אקדמיים נוספים בשקף הבא.</a:t>
            </a:r>
          </a:p>
          <a:p>
            <a:pPr rtl="1" algn="r" marL="0" indent="0">
              <a:buNone/>
            </a:pPr>
            <a:r>
              <a:rPr sz="1200" lang="he-IL"/>
              <a:t>•  אם אין זמן: דלגו.</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כ־2 דקות, לדיון או למטלת חשיבה.</a:t>
            </a:r>
          </a:p>
          <a:p>
            <a:pPr rtl="1" algn="r" marL="0" indent="0">
              <a:buNone/>
            </a:pPr>
            <a:r>
              <a:rPr b="1" sz="1200" lang="he-IL"/>
              <a:t>מטרה</a:t>
            </a:r>
          </a:p>
          <a:p>
            <a:pPr rtl="1" algn="r" marL="0" indent="0">
              <a:buNone/>
            </a:pPr>
            <a:r>
              <a:rPr sz="1200" lang="he-IL"/>
              <a:t>•  להציע שאלות מחקר ודיון פתוחות שנגזרות מהחומר, כך שהסטודנטים יראו שגם בנושא ״מעשי״ יש שאלות פתוחות.</a:t>
            </a:r>
          </a:p>
          <a:p>
            <a:pPr rtl="1" algn="r" marL="0" indent="0">
              <a:buNone/>
            </a:pPr>
            <a:r>
              <a:rPr sz="1200" lang="he-IL"/>
              <a:t>•  (1) חוזה שנוצר מהקוד: במעבדה א׳ ראינו ש־openapi.json נוצר מהקוד, ולכן הכלי מצא אי־התאמה בין מה שמתועד למה שקורה.</a:t>
            </a:r>
          </a:p>
          <a:p>
            <a:pPr rtl="1" algn="r" marL="0" indent="0">
              <a:buNone/>
            </a:pPr>
            <a:r>
              <a:rPr sz="1200" lang="he-IL"/>
              <a:t>•  האם חוזה כזה הוא חוזה (הסכמה מראש בין צדדים) או תיעוד בלבד?</a:t>
            </a:r>
          </a:p>
          <a:p>
            <a:pPr rtl="1" algn="r" marL="0" indent="0">
              <a:buNone/>
            </a:pPr>
            <a:r>
              <a:rPr sz="1200" lang="he-IL"/>
              <a:t>•  זו ההבחנה בין code-first ל־design-first.</a:t>
            </a:r>
          </a:p>
          <a:p>
            <a:pPr rtl="1" algn="r" marL="0" indent="0">
              <a:buNone/>
            </a:pPr>
            <a:r>
              <a:rPr sz="1200" lang="he-IL"/>
              <a:t>•  שיקול: design-first מחייב מחויבות, code-first נוח אך החוזה יכול לסטות.</a:t>
            </a:r>
          </a:p>
          <a:p>
            <a:pPr rtl="1" algn="r" marL="0" indent="0">
              <a:buNone/>
            </a:pPr>
            <a:r>
              <a:rPr sz="1200" lang="he-IL"/>
              <a:t>•  (2) לקוח שהוא סוכן AI: סוכנים קוראים תיעוד ושגיאות כדי להחליט מה לעשות; הודעת שגיאה ברורה, קודי סטטוס נכונים וחוזה מדויק חשובים להם עוד יותר מלבני אדם.</a:t>
            </a:r>
          </a:p>
          <a:p>
            <a:pPr rtl="1" algn="r" marL="0" indent="0">
              <a:buNone/>
            </a:pPr>
            <a:r>
              <a:rPr sz="1200" lang="he-IL"/>
              <a:t>•  זו שאלה פתוחה, ואין עדיין תקן ייעודי שנלמד בקורס.</a:t>
            </a:r>
          </a:p>
          <a:p>
            <a:pPr rtl="1" algn="r" marL="0" indent="0">
              <a:buNone/>
            </a:pPr>
            <a:r>
              <a:rPr sz="1200" lang="he-IL"/>
              <a:t>•  (3) תור: הוספת תור מוסיפה רכיבים, סטטוסים, כשלים חלקיים וצורך באידמפוטנטיות (שקפים 58 ו־77); לעומת זאת מודל איטי בלי תור חוסם את השרת.</a:t>
            </a:r>
          </a:p>
          <a:p>
            <a:pPr rtl="1" algn="r" marL="0" indent="0">
              <a:buNone/>
            </a:pPr>
            <a:r>
              <a:rPr sz="1200" lang="he-IL"/>
              <a:t>•  איפה הסף?</a:t>
            </a:r>
          </a:p>
          <a:p>
            <a:pPr rtl="1" algn="r" marL="0" indent="0">
              <a:buNone/>
            </a:pPr>
            <a:r>
              <a:rPr sz="1200" lang="he-IL"/>
              <a:t>•  אפשר להשתמש בחשבון: בקשות לשנייה כפול זמן ריצה.</a:t>
            </a:r>
          </a:p>
          <a:p>
            <a:pPr rtl="1" algn="r" marL="0" indent="0">
              <a:buNone/>
            </a:pPr>
            <a:r>
              <a:rPr sz="1200" lang="he-IL"/>
              <a:t>•  (4) spec-driven: ביקורת Böckeler (שקף 69) מצביעה על אי־דטרמיניזם ועל נטל סקירה; האם קריטריוני קבלה מספריים פותרים זאת?</a:t>
            </a:r>
          </a:p>
          <a:p>
            <a:pPr rtl="1" algn="r" marL="0" indent="0">
              <a:buNone/>
            </a:pPr>
            <a:r>
              <a:rPr sz="1200" lang="he-IL"/>
              <a:t>•  כל שאלה מתאימה לקבוצת דיון של כשתי דקות או למשימת כתיבה קצרה (פסקה אחת) לקראת הפרויקט הקבוצתי.</a:t>
            </a:r>
          </a:p>
          <a:p>
            <a:pPr rtl="1" algn="r" marL="0" indent="0">
              <a:buNone/>
            </a:pPr>
            <a:r>
              <a:rPr sz="1200" lang="he-IL"/>
              <a:t>•  אפשר להציע לסטודנטים שמתעניינים בכיוון מחקרי: להשוות code-first ל־design-first בפרויקט שלהם ולדווח על כמות אי־ההתאמות שנמצאו.</a:t>
            </a:r>
          </a:p>
          <a:p>
            <a:pPr rtl="1" algn="r" marL="0" indent="0">
              <a:buNone/>
            </a:pPr>
            <a:r>
              <a:rPr b="1" sz="1200" lang="he-IL"/>
              <a:t>מתי לדלג</a:t>
            </a:r>
          </a:p>
          <a:p>
            <a:pPr rtl="1" algn="r" marL="0" indent="0">
              <a:buNone/>
            </a:pPr>
            <a:r>
              <a:rPr sz="1200" lang="he-IL"/>
              <a:t>•  אם אין זמן, דלגו, או בחרו שאלה אחת והשאירו את השאר כקריאה.</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כ־1.2 דקות.</a:t>
            </a:r>
          </a:p>
          <a:p>
            <a:pPr rtl="1" algn="r" marL="0" indent="0">
              <a:buNone/>
            </a:pPr>
            <a:r>
              <a:rPr b="1" sz="1200" lang="he-IL"/>
              <a:t>מטרה</a:t>
            </a:r>
          </a:p>
          <a:p>
            <a:pPr rtl="1" algn="r" marL="0" indent="0">
              <a:buNone/>
            </a:pPr>
            <a:r>
              <a:rPr sz="1200" lang="he-IL"/>
              <a:t>•  להסביר למה אחרי classify שמבוססת על מודל חייבים שלב אימות, ומה עושים כשהאימות נכשל.</a:t>
            </a:r>
          </a:p>
          <a:p>
            <a:pPr rtl="1" algn="r" marL="0" indent="0">
              <a:buNone/>
            </a:pPr>
            <a:r>
              <a:rPr sz="1200" lang="he-IL"/>
              <a:t>•  הרקע: מודל שפה מחזיר טקסט, והקוד שלנו צריך מבנה.</a:t>
            </a:r>
          </a:p>
          <a:p>
            <a:pPr rtl="1" algn="r" marL="0" indent="0">
              <a:buNone/>
            </a:pPr>
            <a:r>
              <a:rPr sz="1200" lang="he-IL"/>
              <a:t>•  גם כשמבקשים ״JSON בלבד״ ובטמפרטורה נמוכה, אין ערובה שהפלט יהיה JSON תקין או שיכלול את המפתחות והערכים המותרים: טמפרטורה נמוכה מצמצמת שונות אך אינה מבטיחה פלט זהה או תקין (הבחנה משיעור 2).</a:t>
            </a:r>
          </a:p>
          <a:p>
            <a:pPr rtl="1" algn="r" marL="0" indent="0">
              <a:buNone/>
            </a:pPr>
            <a:r>
              <a:rPr sz="1200" lang="he-IL"/>
              <a:t>•  לכן הצעדים: (1) json.loads, שזורק שגיאה אם הטקסט אינו JSON תקין</a:t>
            </a:r>
          </a:p>
          <a:p>
            <a:pPr rtl="1" algn="r" marL="0" indent="0">
              <a:buNone/>
            </a:pPr>
            <a:r>
              <a:rPr sz="1200" lang="he-IL"/>
              <a:t>•  (2) בדיקה שהמפתחות קיימים והערכים בתחום המותר (category אחת מארבע, urgent בוליאני)</a:t>
            </a:r>
          </a:p>
          <a:p>
            <a:pPr rtl="1" algn="r" marL="0" indent="0">
              <a:buNone/>
            </a:pPr>
            <a:r>
              <a:rPr sz="1200" lang="he-IL"/>
              <a:t>•  בפרויקטים עושים זאת בדרך כלל עם Pydantic, שמפעיל ולידציה על מודל נתונים ומעלה ValidationError על אי־התאמה (תיעוד Pydantic, ״JSON״, model_validate_json)</a:t>
            </a:r>
          </a:p>
          <a:p>
            <a:pPr rtl="1" algn="r" marL="0" indent="0">
              <a:buNone/>
            </a:pPr>
            <a:r>
              <a:rPr sz="1200" lang="he-IL"/>
              <a:t>•  (3) מדיניות כשל: ניסיון נוסף אחד, ואז סטטוס failed במסד, ולא ערך ״מנחש״.</a:t>
            </a:r>
          </a:p>
          <a:p>
            <a:pPr rtl="1" algn="r" marL="0" indent="0">
              <a:buNone/>
            </a:pPr>
            <a:r>
              <a:rPr sz="1200" lang="he-IL"/>
              <a:t>•  ב־Worker זה אומר שהשגיאה נרשמת בעמודת result, והלקוח רואה failed ולא תשובה שגויה.</a:t>
            </a:r>
          </a:p>
          <a:p>
            <a:pPr rtl="1" algn="r" marL="0" indent="0">
              <a:buNone/>
            </a:pPr>
            <a:r>
              <a:rPr sz="1200" lang="he-IL"/>
              <a:t>•  הבחנה בין עובדה להמלצה: העובדה היא שפלט המודל אינו מובטח לעמוד בפורמט; ״ניסיון אחד נוסף״ היא המלצת פרקטיקה (אפשר גם שניים, תלוי בעלות ובזמן).</a:t>
            </a:r>
          </a:p>
          <a:p>
            <a:pPr rtl="1" algn="r" marL="0" indent="0">
              <a:buNone/>
            </a:pPr>
            <a:r>
              <a:rPr sz="1200" lang="he-IL"/>
              <a:t>•  ספקים רבים מציעים מנגנוני פלט מובנה או הגבלת פורמט, וזמינותם ושמותיהם משתנים, ולכן בדקו בתיעוד הספק שבחרתם ואל תניחו שהם קיימים.</a:t>
            </a:r>
          </a:p>
          <a:p>
            <a:pPr rtl="1" algn="r" marL="0" indent="0">
              <a:buNone/>
            </a:pPr>
            <a:r>
              <a:rPr b="1" sz="1200" lang="he-IL"/>
              <a:t>חיבור לשיעורים קודמים</a:t>
            </a:r>
          </a:p>
          <a:p>
            <a:pPr rtl="1" algn="r" marL="0" indent="0">
              <a:buNone/>
            </a:pPr>
            <a:r>
              <a:rPr sz="1200" lang="he-IL"/>
              <a:t>•  שיעור 10 (אבטחה) יעסוק באימות קלט ופלט, ושקף ״קריאה ל־LLM API״ בליבה מזכיר זאת.</a:t>
            </a:r>
          </a:p>
          <a:p>
            <a:pPr rtl="1" algn="r" marL="0" indent="0">
              <a:buNone/>
            </a:pPr>
            <a:r>
              <a:rPr b="1" sz="1200" lang="he-IL"/>
              <a:t>שאלה לכיתה</a:t>
            </a:r>
          </a:p>
          <a:p>
            <a:pPr rtl="1" algn="r" marL="0" indent="0">
              <a:buNone/>
            </a:pPr>
            <a:r>
              <a:rPr sz="1200" lang="he-IL"/>
              <a:t>•  מה יקרה בפרויקט אם המודל מחזיר ״urgent: maybe״?</a:t>
            </a:r>
          </a:p>
          <a:p>
            <a:pPr rtl="1" algn="r" marL="0" indent="0">
              <a:buNone/>
            </a:pPr>
            <a:r>
              <a:rPr b="1" sz="1200" lang="he-IL"/>
              <a:t>תשובה</a:t>
            </a:r>
          </a:p>
          <a:p>
            <a:pPr rtl="1" algn="r" marL="0" indent="0">
              <a:buNone/>
            </a:pPr>
            <a:r>
              <a:rPr sz="1200" lang="he-IL"/>
              <a:t>•  האימות יסרב, והמשימה תסומן failed.</a:t>
            </a:r>
          </a:p>
          <a:p>
            <a:pPr rtl="1" algn="r" marL="0" indent="0">
              <a:buNone/>
            </a:pPr>
            <a:r>
              <a:rPr b="1" sz="1200" lang="he-IL"/>
              <a:t>מתי לדלג</a:t>
            </a:r>
          </a:p>
          <a:p>
            <a:pPr rtl="1" algn="r" marL="0" indent="0">
              <a:buNone/>
            </a:pPr>
            <a:r>
              <a:rPr sz="1200" lang="he-IL"/>
              <a:t>•  אם אין זמן, דלגו ועברו לאתגר.</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להעמיק בשאלה ״מה קורה כשעובד נופל באמצע״, שהמחברת (חלק ה׳, שאלה ב) והשקף על מחזור החיים של משימה מעלים.</a:t>
            </a:r>
          </a:p>
          <a:p>
            <a:pPr rtl="1" algn="r" marL="0" indent="0">
              <a:buNone/>
            </a:pPr>
            <a:r>
              <a:rPr sz="1200" lang="he-IL"/>
              <a:t>•  כל המידע כאן מתיעוד Celery הרשמי.</a:t>
            </a:r>
          </a:p>
          <a:p>
            <a:pPr rtl="1" algn="r" marL="0" indent="0">
              <a:buNone/>
            </a:pPr>
            <a:r>
              <a:rPr sz="1200" lang="he-IL"/>
              <a:t>•  אישור הודעה (acknowledgement): כברירת מחדל Celery מאשרת את ההודעה לפני הביצוע, ולכן משימה שכבר התחילה לא תורץ שוב גם אם העובד קרס, כלומר היא עלולה ללכת לאיבוד.</a:t>
            </a:r>
          </a:p>
          <a:p>
            <a:pPr rtl="1" algn="r" marL="0" indent="0">
              <a:buNone/>
            </a:pPr>
            <a:r>
              <a:rPr sz="1200" lang="he-IL"/>
              <a:t>•  עם acks_late, האישור נשלח אחרי שהמשימה הסתיימה, ולכן עובד שקרס באמצע גורם להרצה חוזרת, והתיעוד מזהיר שהמשימה עלולה להתבצע כמה פעמים וממליץ לוודא שהמשימות אידמפוטנטיות.</a:t>
            </a:r>
          </a:p>
          <a:p>
            <a:pPr rtl="1" algn="r" marL="0" indent="0">
              <a:buNone/>
            </a:pPr>
            <a:r>
              <a:rPr sz="1200" lang="he-IL"/>
              <a:t>•  זו הבחירה הקלאסית בין ״לכל היותר פעם אחת״ לבין ״לפחות פעם אחת״ בהודעות.</a:t>
            </a:r>
          </a:p>
          <a:p>
            <a:pPr rtl="1" algn="r" marL="0" indent="0">
              <a:buNone/>
            </a:pPr>
            <a:r>
              <a:rPr sz="1200" lang="he-IL"/>
              <a:t>•  ב־Redis כ־broker יש מנגנון visibility timeout: אם עובד לא מאשר בזמן (ברירת מחדל שעה), ההודעה נמסרת לעובד אחר, ולפי התיעוד זה גורם בעיות כשזמן הביצוע (או ETA, או countdown) ארוך מהזמן הקצוב.</a:t>
            </a:r>
          </a:p>
          <a:p>
            <a:pPr rtl="1" algn="r" marL="0" indent="0">
              <a:buNone/>
            </a:pPr>
            <a:r>
              <a:rPr sz="1200" lang="he-IL"/>
              <a:t>•  סטטוסים: ב־Celery המצבים הם PENDING, STARTED, SUCCESS, FAILURE ו־RETRY; PENDING פירושו ״ממתין או לא מוכר״ (מזהה משימה לא מוכר מדווח גם הוא PENDING), ו־STARTED אינו מדווח כברירת מחדל ויש להפעיל אותו.</a:t>
            </a:r>
          </a:p>
          <a:p>
            <a:pPr rtl="1" algn="r" marL="0" indent="0">
              <a:buNone/>
            </a:pPr>
            <a:r>
              <a:rPr sz="1200" lang="he-IL"/>
              <a:t>•  בשירות הקורס עמודת status בטבלת jobs משתמשת בשמות queued, running ו־done, ובסימולציית המחברת בשמות Celery.</a:t>
            </a:r>
          </a:p>
          <a:p>
            <a:pPr rtl="1" algn="r" marL="0" indent="0">
              <a:buNone/>
            </a:pPr>
            <a:r>
              <a:rPr sz="1200" lang="he-IL"/>
              <a:t>•  זו הבחנה בין סטטוס שהאפליקציה שומרת לבין מצב שהספרייה מדווחת.</a:t>
            </a:r>
          </a:p>
          <a:p>
            <a:pPr rtl="1" algn="r" marL="0" indent="0">
              <a:buNone/>
            </a:pPr>
            <a:r>
              <a:rPr b="1" sz="1200" lang="he-IL"/>
              <a:t>חיבור לשיעורים קודמים</a:t>
            </a:r>
          </a:p>
          <a:p>
            <a:pPr rtl="1" algn="r" marL="0" indent="0">
              <a:buNone/>
            </a:pPr>
            <a:r>
              <a:rPr sz="1200" lang="he-IL"/>
              <a:t>•  ״ניסיון חוזר בטוח״ (שקף 75) ו־״בטוח ואידמפוטנטי״ (שקף 61).</a:t>
            </a:r>
          </a:p>
          <a:p>
            <a:pPr rtl="1" algn="r" marL="0" indent="0">
              <a:buNone/>
            </a:pPr>
            <a:r>
              <a:rPr b="1" sz="1200" lang="he-IL"/>
              <a:t>שאלה לכיתה</a:t>
            </a:r>
          </a:p>
          <a:p>
            <a:pPr rtl="1" algn="r" marL="0" indent="0">
              <a:buNone/>
            </a:pPr>
            <a:r>
              <a:rPr sz="1200" lang="he-IL"/>
              <a:t>•  איזו משימה מתאימה ל־acks_late?</a:t>
            </a:r>
          </a:p>
          <a:p>
            <a:pPr rtl="1" algn="r" marL="0" indent="0">
              <a:buNone/>
            </a:pPr>
            <a:r>
              <a:rPr b="1" sz="1200" lang="he-IL"/>
              <a:t>תשובה</a:t>
            </a:r>
          </a:p>
          <a:p>
            <a:pPr rtl="1" algn="r" marL="0" indent="0">
              <a:buNone/>
            </a:pPr>
            <a:r>
              <a:rPr sz="1200" lang="he-IL"/>
              <a:t>•  עדכון סטטוס ל־done (בטוח לחזור עליו); שליחת מייל או יצירת הזמנה אינן.</a:t>
            </a:r>
          </a:p>
          <a:p>
            <a:pPr rtl="1" algn="r" marL="0" indent="0">
              <a:buNone/>
            </a:pPr>
            <a:r>
              <a:rPr b="1" sz="1200" lang="he-IL"/>
              <a:t>מתי לדלג</a:t>
            </a:r>
          </a:p>
          <a:p>
            <a:pPr rtl="1" algn="r" marL="0" indent="0">
              <a:buNone/>
            </a:pPr>
            <a:r>
              <a:rPr sz="1200" lang="he-IL"/>
              <a:t>•  אם אין זמן, אמרו ״אם עובד נופל, משימה עלולה לרוץ פעמיים או לא לרוץ בכלל, לפי הגדרה, ולכן כותבים משימות שאפשר לחזור עליהן״.</a:t>
            </a:r>
          </a:p>
          <a:p>
            <a:pPr rtl="1" algn="r" marL="0" indent="0">
              <a:buNone/>
            </a:pPr>
            <a:r>
              <a:rPr b="1" sz="1200" lang="he-IL"/>
              <a:t>מקורות</a:t>
            </a:r>
          </a:p>
          <a:p>
            <a:pPr rtl="1" algn="r" marL="0" indent="0">
              <a:buNone/>
            </a:pPr>
            <a:r>
              <a:rPr sz="1200" lang="he-IL"/>
              <a:t>•  Celery docs, Tasks, ו־Using Redis.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להראות שהרעיון של check_contract (מעבדה א׳) קיים ככלי מקצועי.</a:t>
            </a:r>
          </a:p>
          <a:p>
            <a:pPr rtl="1" algn="r" marL="0" indent="0">
              <a:buNone/>
            </a:pPr>
            <a:r>
              <a:rPr sz="1200" lang="he-IL"/>
              <a:t>•  Schemathesis הוא כלי קוד פתוח שמייצר בדיקות מבוססות תכונות (property-based testing) מתוך סכמת OpenAPI או GraphQL: הוא קורא את החוזה, מייצר קלטים תקינים וגם קלטים בכוונה לא תקינים, שולח אותם לשרת רץ, ובודק תכונות שצריכות להתקיים תמיד.</a:t>
            </a:r>
          </a:p>
          <a:p>
            <a:pPr rtl="1" algn="r" marL="0" indent="0">
              <a:buNone/>
            </a:pPr>
            <a:r>
              <a:rPr sz="1200" lang="he-IL"/>
              <a:t>•  לפי התיעוד הרשמי, הבדיקות המובנות כוללות, בין השאר, not_a_server_error (מסמן תגובות 5xx), status_code_conformance (מסמן קודי סטטוס שהחוזה לא מתעד עבור הפעולה), response_schema_conformance (מאמת את גוף התגובה מול הסכמה) ו־negative_data_rejection (קלט לא חוקי אמור להידחות).</a:t>
            </a:r>
          </a:p>
          <a:p>
            <a:pPr rtl="1" algn="r" marL="0" indent="0">
              <a:buNone/>
            </a:pPr>
            <a:r>
              <a:rPr b="1" sz="1200" lang="he-IL"/>
              <a:t>שימו לב</a:t>
            </a:r>
          </a:p>
          <a:p>
            <a:pPr rtl="1" algn="r" marL="0" indent="0">
              <a:buNone/>
            </a:pPr>
            <a:r>
              <a:rPr sz="1200" lang="he-IL"/>
              <a:t>•  status_code_conformance הוא בדיוק מה ש־check_contract שלכם עושה, ובדיוק כמוהו הוא היה מסמן את GET /orders/O1 שמחזיר 404 לא מתועד.</a:t>
            </a:r>
          </a:p>
          <a:p>
            <a:pPr rtl="1" algn="r" marL="0" indent="0">
              <a:buNone/>
            </a:pPr>
            <a:r>
              <a:rPr sz="1200" lang="he-IL"/>
              <a:t>•  מחקר: Hatfield-Dodds ו־Dygalo (arXiv, דצמבר 2021, פוסטר ב־ICSE 2022) תיארו את הכלי והשוו שמונה כלי fuzzing מול שישה־עשר שירותי קוד פתוח אמיתיים; לפי תקציר המאמר מצא Schemathesis פי 1.4 עד 4.5 יותר פגמים ייחודיים מהכלי השני בטיבו בכל יעד.</a:t>
            </a:r>
          </a:p>
          <a:p>
            <a:pPr rtl="1" algn="r" marL="0" indent="0">
              <a:buNone/>
            </a:pPr>
            <a:r>
              <a:rPr sz="1200" lang="he-IL"/>
              <a:t>•  זהירות: המחברים הם גם מפתחי הכלי, ולכן זו הערכה של המפתחים עצמם.</a:t>
            </a:r>
          </a:p>
          <a:p>
            <a:pPr rtl="1" algn="r" marL="0" indent="0">
              <a:buNone/>
            </a:pPr>
            <a:r>
              <a:rPr sz="1200" lang="he-IL"/>
              <a:t>•  המלצת פרקטיקה (לא עובדה): מריצים כלי כזה מול סביבת בדיקה ולא מול מערכת ייצור, כי הוא שולח הרבה קלטים מוזרים ועלול ליצור רשומות.</a:t>
            </a:r>
          </a:p>
          <a:p>
            <a:pPr rtl="1" algn="r" marL="0" indent="0">
              <a:buNone/>
            </a:pPr>
            <a:r>
              <a:rPr b="1" sz="1200" lang="he-IL"/>
              <a:t>שאלה לכיתה</a:t>
            </a:r>
          </a:p>
          <a:p>
            <a:pPr rtl="1" algn="r" marL="0" indent="0">
              <a:buNone/>
            </a:pPr>
            <a:r>
              <a:rPr sz="1200" lang="he-IL"/>
              <a:t>•  למה כלי כזה מוצא באגים שבדיקה שנכתבה ביד לא מוצאת?</a:t>
            </a:r>
          </a:p>
          <a:p>
            <a:pPr rtl="1" algn="r" marL="0" indent="0">
              <a:buNone/>
            </a:pPr>
            <a:r>
              <a:rPr b="1" sz="1200" lang="he-IL"/>
              <a:t>תשובה</a:t>
            </a:r>
          </a:p>
          <a:p>
            <a:pPr rtl="1" algn="r" marL="0" indent="0">
              <a:buNone/>
            </a:pPr>
            <a:r>
              <a:rPr sz="1200" lang="he-IL"/>
              <a:t>•  הוא לא מתעייף ומנסה צירופי קלט שאדם לא חשב עליהם.</a:t>
            </a:r>
          </a:p>
          <a:p>
            <a:pPr rtl="1" algn="r" marL="0" indent="0">
              <a:buNone/>
            </a:pPr>
            <a:r>
              <a:rPr b="1" sz="1200" lang="he-IL"/>
              <a:t>מתי לדלג</a:t>
            </a:r>
          </a:p>
          <a:p>
            <a:pPr rtl="1" algn="r" marL="0" indent="0">
              <a:buNone/>
            </a:pPr>
            <a:r>
              <a:rPr sz="1200" lang="he-IL"/>
              <a:t>•  אם אין זמן, אמרו משפט אחד ועברו הלאה.</a:t>
            </a:r>
          </a:p>
          <a:p>
            <a:pPr rtl="1" algn="r" marL="0" indent="0">
              <a:buNone/>
            </a:pPr>
            <a:r>
              <a:rPr b="1" sz="1200" lang="he-IL"/>
              <a:t>מקורות</a:t>
            </a:r>
          </a:p>
          <a:p>
            <a:pPr rtl="1" algn="r" marL="0" indent="0">
              <a:buNone/>
            </a:pPr>
            <a:r>
              <a:rPr sz="1200" lang="he-IL"/>
              <a:t>•  תיעוד Schemathesis (schemathesis.readthedocs.io) ו־arXiv:2112.10328.</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כ־דקה.</a:t>
            </a:r>
          </a:p>
          <a:p>
            <a:pPr rtl="1" algn="r" marL="0" indent="0">
              <a:buNone/>
            </a:pPr>
            <a:r>
              <a:rPr b="1" sz="1200" lang="he-IL"/>
              <a:t>מטרה</a:t>
            </a:r>
          </a:p>
          <a:p>
            <a:pPr rtl="1" algn="r" marL="0" indent="0">
              <a:buNone/>
            </a:pPr>
            <a:r>
              <a:rPr sz="1200" lang="he-IL"/>
              <a:t>•  להראות שהשירות מורכב מקבצים קטנים, שלכל אחד תפקיד אחד, וש-AI יכול להשלים חלקים קטנים מהם.</a:t>
            </a:r>
          </a:p>
          <a:p>
            <a:pPr rtl="1" algn="r" marL="0" indent="0">
              <a:buNone/>
            </a:pPr>
            <a:r>
              <a:rPr sz="1200" lang="he-IL"/>
              <a:t>•  עברו על הרשימה: app/main.py נקודות הקצה של ה-API; app/models.py החוזה, מבנה הנתונים ב-Pydantic; app/db.py ו-schema.sql מסד הנתונים והסכמה; ui/app.py ממשק Streamlit; worker/tasks.py העבודה ברקע, ונראה אותה בחלק ד׳; tests/test_api.py בדיקות לפי החוזה.</a:t>
            </a:r>
          </a:p>
          <a:p>
            <a:pPr rtl="1" algn="r" marL="0" indent="0">
              <a:buNone/>
            </a:pPr>
            <a:r>
              <a:rPr sz="1200" lang="he-IL"/>
              <a:t>•  הצבע של כל קובץ מתאים לצבע הרכיב במפת היום.</a:t>
            </a:r>
          </a:p>
          <a:p>
            <a:pPr rtl="1" algn="r" marL="0" indent="0">
              <a:buNone/>
            </a:pPr>
            <a:r>
              <a:rPr b="1" sz="1200" lang="he-IL"/>
              <a:t>אנלוגיה</a:t>
            </a:r>
          </a:p>
          <a:p>
            <a:pPr rtl="1" algn="r" marL="0" indent="0">
              <a:buNone/>
            </a:pPr>
            <a:r>
              <a:rPr sz="1200" lang="he-IL"/>
              <a:t>•  כמו קו הרכבה, כל תחנה עושה דבר אחד ומעבירה הלאה.</a:t>
            </a:r>
          </a:p>
          <a:p>
            <a:pPr rtl="1" algn="r" marL="0" indent="0">
              <a:buNone/>
            </a:pPr>
            <a:r>
              <a:rPr sz="1200" lang="he-IL"/>
              <a:t>•  הדגישו: זה מבנה השירות המלא של הקורס, שמוצג על המקרן; במחברת HM_07 בונים גרסה קטנה של חלקים ממנו, פונקציה אחר פונקציה: נקודות קצה, שאילתות ובדיקות.</a:t>
            </a:r>
          </a:p>
          <a:p>
            <a:pPr rtl="1" algn="r" marL="0" indent="0">
              <a:buNone/>
            </a:pPr>
            <a:r>
              <a:rPr sz="1200" lang="he-IL"/>
              <a:t>•  עיקרון מהקורס: בקשות קטנות וממוקדות לסוכן (שיעורים 5 ו-6).</a:t>
            </a:r>
          </a:p>
          <a:p>
            <a:pPr rtl="1" algn="r" marL="0" indent="0">
              <a:buNone/>
            </a:pPr>
            <a:r>
              <a:rPr sz="1200" lang="he-IL"/>
              <a:t>•  מקום בסדר: השקף הועבר להעשרה כי המעבדות לא בונות את כל הקבצים האלה; הוא רלוונטי למי שמארגן את מבנה הפרויקט הקבוצתי.</a:t>
            </a:r>
          </a:p>
          <a:p>
            <a:pPr rtl="1" algn="r" marL="0" indent="0">
              <a:buNone/>
            </a:pPr>
            <a:r>
              <a:rPr b="1" sz="1200" lang="he-IL"/>
              <a:t>מתי לדלג</a:t>
            </a:r>
          </a:p>
          <a:p>
            <a:pPr rtl="1" algn="r" marL="0" indent="0">
              <a:buNone/>
            </a:pPr>
            <a:r>
              <a:rPr sz="1200" lang="he-IL"/>
              <a:t>•  אם אין זמן: מבנה הקבצים נראה גם בפרויקט עצמו.</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כ־1.4 דקות.</a:t>
            </a:r>
          </a:p>
          <a:p>
            <a:pPr rtl="1" algn="r" marL="0" indent="0">
              <a:buNone/>
            </a:pPr>
            <a:r>
              <a:rPr b="1" sz="1200" lang="he-IL"/>
              <a:t>מה אומרים</a:t>
            </a:r>
          </a:p>
          <a:p>
            <a:pPr rtl="1" algn="r" marL="0" indent="0">
              <a:buNone/>
            </a:pPr>
            <a:r>
              <a:rPr sz="1200" lang="he-IL"/>
              <a:t>•  מקום בסדר: השקף הוקדם לחלק א׳ כי מעבדה א׳ (שלב 0) מציגה שירות כזה בקוד, ובשלבים 2 ו־3 הסטודנטים כותבים את הצד של השרת.</a:t>
            </a:r>
          </a:p>
          <a:p>
            <a:pPr rtl="1" algn="r" marL="0" indent="0">
              <a:buNone/>
            </a:pPr>
            <a:r>
              <a:rPr b="1" sz="1200" lang="he-IL"/>
              <a:t>מטרה</a:t>
            </a:r>
          </a:p>
          <a:p>
            <a:pPr rtl="1" algn="r" marL="0" indent="0">
              <a:buNone/>
            </a:pPr>
            <a:r>
              <a:rPr sz="1200" lang="he-IL"/>
              <a:t>•  לקרוא קוד אמיתי מהשירות המלא (get_product), שדומה לפונקציה find_product שתכתבו במעבדה א׳ בלי לפחד ממנו.</a:t>
            </a:r>
          </a:p>
          <a:p>
            <a:pPr rtl="1" algn="r" marL="0" indent="0">
              <a:buNone/>
            </a:pPr>
            <a:r>
              <a:rPr sz="1200" lang="he-IL"/>
              <a:t>•  עברו על ארבעת הכרטיסים ועל הקוד.</a:t>
            </a:r>
          </a:p>
          <a:p>
            <a:pPr rtl="1" algn="r" marL="0" indent="0">
              <a:buNone/>
            </a:pPr>
            <a:r>
              <a:rPr sz="1200" lang="he-IL"/>
              <a:t>•  (1) שיטה וכתובת: הדקורטור @app.get קובע ש-GET /products/{product_id}.</a:t>
            </a:r>
          </a:p>
          <a:p>
            <a:pPr rtl="1" algn="r" marL="0" indent="0">
              <a:buNone/>
            </a:pPr>
            <a:r>
              <a:rPr sz="1200" lang="he-IL"/>
              <a:t>•  (2) פרמטר: product_id מגיע מהכתובת, והוא הארגומנט של הפונקציה.</a:t>
            </a:r>
          </a:p>
          <a:p>
            <a:pPr rtl="1" algn="r" marL="0" indent="0">
              <a:buNone/>
            </a:pPr>
            <a:r>
              <a:rPr sz="1200" lang="he-IL"/>
              <a:t>•  (3) חוזה: response_model=Product אומר איך נראית התשובה, ומשם נוצרת ההגדרה ב-openapi.json.</a:t>
            </a:r>
          </a:p>
          <a:p>
            <a:pPr rtl="1" algn="r" marL="0" indent="0">
              <a:buNone/>
            </a:pPr>
            <a:r>
              <a:rPr sz="1200" lang="he-IL"/>
              <a:t>•  (4) שגיאה: אם המוצר לא נמצא, HTTPException עם 404 ועם הודעה.</a:t>
            </a:r>
          </a:p>
          <a:p>
            <a:pPr rtl="1" algn="r" marL="0" indent="0">
              <a:buNone/>
            </a:pPr>
            <a:r>
              <a:rPr sz="1200" lang="he-IL"/>
              <a:t>•  שימו לב לשורת ה-SQL: השאלה מסומנת ב-?</a:t>
            </a:r>
          </a:p>
          <a:p>
            <a:pPr rtl="1" algn="r" marL="0" indent="0">
              <a:buNone/>
            </a:pPr>
            <a:r>
              <a:rPr sz="1200" lang="he-IL"/>
              <a:t>•  והערך מועבר בנפרד; זה מונע SQL injection ונושא של שיעור 10.</a:t>
            </a:r>
          </a:p>
          <a:p>
            <a:pPr rtl="1" algn="r" marL="0" indent="0">
              <a:buNone/>
            </a:pPr>
            <a:r>
              <a:rPr sz="1200" lang="he-IL"/>
              <a:t>•  הקוד בשקף מקוצר מעט מהמקור.</a:t>
            </a:r>
          </a:p>
          <a:p>
            <a:pPr rtl="1" algn="r" marL="0" indent="0">
              <a:buNone/>
            </a:pPr>
            <a:r>
              <a:rPr sz="1200" lang="he-IL"/>
              <a:t>•  דוגמה: זה כמו נוהל בקבלה: מקבלים מק״ט, מחפשים במלאי, ואם אין, מחזירים הודעה מסודרת ולא קורסים.</a:t>
            </a:r>
          </a:p>
          <a:p>
            <a:pPr rtl="1" algn="r" marL="0" indent="0">
              <a:buNone/>
            </a:pPr>
            <a:r>
              <a:rPr b="1" sz="1200" lang="he-IL"/>
              <a:t>שאלה לכיתה</a:t>
            </a:r>
          </a:p>
          <a:p>
            <a:pPr rtl="1" algn="r" marL="0" indent="0">
              <a:buNone/>
            </a:pPr>
            <a:r>
              <a:rPr sz="1200" lang="he-IL"/>
              <a:t>•  מה יקרה אם נשמיט את הבדיקה if row is None?</a:t>
            </a:r>
          </a:p>
          <a:p>
            <a:pPr rtl="1" algn="r" marL="0" indent="0">
              <a:buNone/>
            </a:pPr>
            <a:r>
              <a:rPr b="1" sz="1200" lang="he-IL"/>
              <a:t>תשובה</a:t>
            </a:r>
          </a:p>
          <a:p>
            <a:pPr rtl="1" algn="r" marL="0" indent="0">
              <a:buNone/>
            </a:pPr>
            <a:r>
              <a:rPr sz="1200" lang="he-IL"/>
              <a:t>•  השרת יקרוס בניסיון להמיר None, ויחזיר 500 במקום 404.</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כ־1.2 דקות.</a:t>
            </a:r>
          </a:p>
          <a:p>
            <a:pPr rtl="1" algn="r" marL="0" indent="0">
              <a:buNone/>
            </a:pPr>
            <a:r>
              <a:rPr b="1" sz="1200" lang="he-IL"/>
              <a:t>מטרה</a:t>
            </a:r>
          </a:p>
          <a:p>
            <a:pPr rtl="1" algn="r" marL="0" indent="0">
              <a:buNone/>
            </a:pPr>
            <a:r>
              <a:rPr sz="1200" lang="he-IL"/>
              <a:t>•  להסביר שהגבולות והמבנה מוגדרים פעם אחת בקוד (Pydantic), ומתוך זה נגזרים ולידציה, חוזה ותיעוד.</a:t>
            </a:r>
          </a:p>
          <a:p>
            <a:pPr rtl="1" algn="r" marL="0" indent="0">
              <a:buNone/>
            </a:pPr>
            <a:r>
              <a:rPr sz="1200" lang="he-IL"/>
              <a:t>•  בצד ימין למעלה: limit: int = Query(20, ge=1, le=200) ו-JobIn עם text שאורכו לפחות 1.</a:t>
            </a:r>
          </a:p>
          <a:p>
            <a:pPr rtl="1" algn="r" marL="0" indent="0">
              <a:buNone/>
            </a:pPr>
            <a:r>
              <a:rPr sz="1200" lang="he-IL"/>
              <a:t>•  הזרימה בשלושה תיבות: שורה אחת בקוד, מוודאת קלט ומחזירה 422, ונכנסת ל-openapi.json.</a:t>
            </a:r>
          </a:p>
          <a:p>
            <a:pPr rtl="1" algn="r" marL="0" indent="0">
              <a:buNone/>
            </a:pPr>
            <a:r>
              <a:rPr sz="1200" lang="he-IL"/>
              <a:t>•  התיבה האדומה: בלי זה, כל קלט נכנס וכל בדיקה היא ידנית.</a:t>
            </a:r>
          </a:p>
          <a:p>
            <a:pPr rtl="1" algn="r" marL="0" indent="0">
              <a:buNone/>
            </a:pPr>
            <a:r>
              <a:rPr sz="1200" lang="he-IL"/>
              <a:t>•  בשקף 13 נראה איך ההגבלה min 1 ו־max 200 מופיעה בחוזה: היא נולדה בשורה הזו.</a:t>
            </a:r>
          </a:p>
          <a:p>
            <a:pPr rtl="1" algn="r" marL="0" indent="0">
              <a:buNone/>
            </a:pPr>
            <a:r>
              <a:rPr b="1" sz="1200" lang="he-IL"/>
              <a:t>אנלוגיה</a:t>
            </a:r>
          </a:p>
          <a:p>
            <a:pPr rtl="1" algn="r" marL="0" indent="0">
              <a:buNone/>
            </a:pPr>
            <a:r>
              <a:rPr sz="1200" lang="he-IL"/>
              <a:t>•  טופס הזמנה שבו שדה הכמות חייב להיות חיובי; אם אין אכיפה בטופס, כל מי שיקליד מינוס ייצור הזמנה שגויה.</a:t>
            </a:r>
          </a:p>
          <a:p>
            <a:pPr rtl="1" algn="r" marL="0" indent="0">
              <a:buNone/>
            </a:pPr>
            <a:r>
              <a:rPr b="1" sz="1200" lang="he-IL"/>
              <a:t>שאלה לכיתה</a:t>
            </a:r>
          </a:p>
          <a:p>
            <a:pPr rtl="1" algn="r" marL="0" indent="0">
              <a:buNone/>
            </a:pPr>
            <a:r>
              <a:rPr sz="1200" lang="he-IL"/>
              <a:t>•  אם אפשר היה להסתמך רק על הממשק לוודא שהכמות חיובית, למה בכל זאת מוודאים גם ב-API?</a:t>
            </a:r>
          </a:p>
          <a:p>
            <a:pPr rtl="1" algn="r" marL="0" indent="0">
              <a:buNone/>
            </a:pPr>
            <a:r>
              <a:rPr b="1" sz="1200" lang="he-IL"/>
              <a:t>תשובה</a:t>
            </a:r>
          </a:p>
          <a:p>
            <a:pPr rtl="1" algn="r" marL="0" indent="0">
              <a:buNone/>
            </a:pPr>
            <a:r>
              <a:rPr sz="1200" lang="he-IL"/>
              <a:t>•  כי כל לקוח אחר, כולל קוד או תוקף, יכול לעקוף את הממשק.</a:t>
            </a:r>
          </a:p>
          <a:p>
            <a:pPr rtl="1" algn="r" marL="0" indent="0">
              <a:buNone/>
            </a:pPr>
            <a:r>
              <a:rPr b="1" sz="1200" lang="he-IL"/>
              <a:t>חיבור לשיעורים קודמים</a:t>
            </a:r>
          </a:p>
          <a:p>
            <a:pPr rtl="1" algn="r" marL="0" indent="0">
              <a:buNone/>
            </a:pPr>
            <a:r>
              <a:rPr sz="1200" lang="he-IL"/>
              <a:t>•  שיעור 10 (אבטחה).</a:t>
            </a:r>
          </a:p>
          <a:p>
            <a:pPr rtl="1" algn="r" marL="0" indent="0">
              <a:buNone/>
            </a:pPr>
            <a:r>
              <a:rPr sz="1200" lang="he-IL"/>
              <a:t>•  העמקה, ומקור הקודים (שאלת ניתוח ב׳ במחברת): קוד 422 מגיע מהמודל, כלומר מ־Pydantic לפני שהקוד שלנו בכלל רץ, וגם נכנס אוטומטית לחוזה; קוד 404 מגיע מהקוד שלנו (raise HTTPException).</a:t>
            </a:r>
          </a:p>
          <a:p>
            <a:pPr rtl="1" algn="r" marL="0" indent="0">
              <a:buNone/>
            </a:pPr>
            <a:r>
              <a:rPr sz="1200" lang="he-IL"/>
              <a:t>•  הגבול מוגדר פעם אחת ונותן שלושה דברים: ולידציה, חוזה ותיעוד.</a:t>
            </a:r>
          </a:p>
          <a:p>
            <a:pPr rtl="1" algn="r" marL="0" indent="0">
              <a:buNone/>
            </a:pPr>
            <a:r>
              <a:rPr b="1" sz="1200" lang="he-IL"/>
              <a:t>טעות נפוצה</a:t>
            </a:r>
          </a:p>
          <a:p>
            <a:pPr rtl="1" algn="r" marL="0" indent="0">
              <a:buNone/>
            </a:pPr>
            <a:r>
              <a:rPr sz="1200" lang="he-IL"/>
              <a:t>•  return HTTPException במקום raise.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כ־1.5 דקות.</a:t>
            </a:r>
          </a:p>
          <a:p>
            <a:pPr rtl="1" algn="r" marL="0" indent="0">
              <a:buNone/>
            </a:pPr>
            <a:r>
              <a:rPr b="1" sz="1200" lang="he-IL"/>
              <a:t>מה אומרים</a:t>
            </a:r>
          </a:p>
          <a:p>
            <a:pPr rtl="1" algn="r" marL="0" indent="0">
              <a:buNone/>
            </a:pPr>
            <a:r>
              <a:rPr sz="1200" lang="he-IL"/>
              <a:t>•  חלק ב׳, 10 דקות בסך הכול (שקפים 22-29), ואחריו מעבדה ב׳ ל־12 דקות.</a:t>
            </a:r>
          </a:p>
          <a:p>
            <a:pPr rtl="1" algn="r" marL="0" indent="0">
              <a:buNone/>
            </a:pPr>
            <a:r>
              <a:rPr b="1" sz="1200" lang="he-IL"/>
              <a:t>מטרה</a:t>
            </a:r>
          </a:p>
          <a:p>
            <a:pPr rtl="1" algn="r" marL="0" indent="0">
              <a:buNone/>
            </a:pPr>
            <a:r>
              <a:rPr sz="1200" lang="he-IL"/>
              <a:t>•  להבין סכמה של מסד נתונים: טבלאות, עמודות, מפתח ראשי ומפתח זר.</a:t>
            </a:r>
          </a:p>
          <a:p>
            <a:pPr rtl="1" algn="r" marL="0" indent="0">
              <a:buNone/>
            </a:pPr>
            <a:r>
              <a:rPr sz="1200" lang="he-IL"/>
              <a:t>•  הציור מציג את ארבע הטבלאות שבשירות: suppliers, products ו-orders הן נתוני החנות, ו-jobs היא התור הפנימי.</a:t>
            </a:r>
          </a:p>
          <a:p>
            <a:pPr rtl="1" algn="r" marL="0" indent="0">
              <a:buNone/>
            </a:pPr>
            <a:r>
              <a:rPr sz="1200" lang="he-IL"/>
              <a:t>•  הצבעים והחצים: product מצביע ל-supplier דרך supplier_id (מפתח זר 🔗), וכל הזמנה מצביעה למוצר דרך product_id.</a:t>
            </a:r>
          </a:p>
          <a:p>
            <a:pPr rtl="1" algn="r" marL="0" indent="0">
              <a:buNone/>
            </a:pPr>
            <a:r>
              <a:rPr sz="1200" lang="he-IL"/>
              <a:t>•  מפתח ראשי 🔑 מזהה שורה אחת בלבד. jobs היא שורה לכל בקשה שנכנסה לתור: מה ביקשו (text), באיזה מצב (status: queued, running, done או failed) ומה התוצאה (result).</a:t>
            </a:r>
          </a:p>
          <a:p>
            <a:pPr rtl="1" algn="r" marL="0" indent="0">
              <a:buNone/>
            </a:pPr>
            <a:r>
              <a:rPr sz="1200" lang="he-IL"/>
              <a:t>•  הציור מציג רק את העמודות העיקריות: בטבלת האמת יש גם customer_id ו-unit_cost, והסכמה המלאה נמצאת ב-app/schema.sql.</a:t>
            </a:r>
          </a:p>
          <a:p>
            <a:pPr rtl="1" algn="r" marL="0" indent="0">
              <a:buNone/>
            </a:pPr>
            <a:r>
              <a:rPr b="1" sz="1200" lang="he-IL"/>
              <a:t>שימו לב</a:t>
            </a:r>
          </a:p>
          <a:p>
            <a:pPr rtl="1" algn="r" marL="0" indent="0">
              <a:buNone/>
            </a:pPr>
            <a:r>
              <a:rPr sz="1200" lang="he-IL"/>
              <a:t>•  ב-orders מופיעים גם product_name וגם product_id; שם המוצר נשמר פעמיים (גם ב-products), וזו כפילות מכוונת שנוחה לדוחות, אך מחיר השינוי שלה גבוה: אם משנים שם מוצר, צריך לעדכן בשני מקומות.</a:t>
            </a:r>
          </a:p>
          <a:p>
            <a:pPr rtl="1" algn="r" marL="0" indent="0">
              <a:buNone/>
            </a:pPr>
            <a:r>
              <a:rPr b="1" sz="1200" lang="he-IL"/>
              <a:t>שאלה לכיתה</a:t>
            </a:r>
          </a:p>
          <a:p>
            <a:pPr rtl="1" algn="r" marL="0" indent="0">
              <a:buNone/>
            </a:pPr>
            <a:r>
              <a:rPr sz="1200" lang="he-IL"/>
              <a:t>•  איזו בעיה יכולה להיווצר מכפילות כזו?</a:t>
            </a:r>
          </a:p>
          <a:p>
            <a:pPr rtl="1" algn="r" marL="0" indent="0">
              <a:buNone/>
            </a:pPr>
            <a:r>
              <a:rPr b="1" sz="1200" lang="he-IL"/>
              <a:t>תשובה</a:t>
            </a:r>
          </a:p>
          <a:p>
            <a:pPr rtl="1" algn="r" marL="0" indent="0">
              <a:buNone/>
            </a:pPr>
            <a:r>
              <a:rPr sz="1200" lang="he-IL"/>
              <a:t>•  אי-התאמה בין הטבלאות.</a:t>
            </a:r>
          </a:p>
          <a:p>
            <a:pPr rtl="1" algn="r" marL="0" indent="0">
              <a:buNone/>
            </a:pPr>
            <a:r>
              <a:rPr b="1" sz="1200" lang="he-IL"/>
              <a:t>להעמקה</a:t>
            </a:r>
          </a:p>
          <a:p>
            <a:pPr rtl="1" algn="r" marL="0" indent="0">
              <a:buNone/>
            </a:pPr>
            <a:r>
              <a:rPr sz="1200" lang="he-IL"/>
              <a:t>•  היחסים בסכמה הם ״אחד לרבים״: ספק אחד ← הרבה מוצרים, ומוצר אחד ← הרבה הזמנות.</a:t>
            </a:r>
          </a:p>
          <a:p>
            <a:pPr rtl="1" algn="r" marL="0" indent="0">
              <a:buNone/>
            </a:pPr>
            <a:r>
              <a:rPr sz="1200" lang="he-IL"/>
              <a:t>•  מפתח ראשי מבטיח שכל שורה ייחודית; מפתח זר מצביע על שורה בטבלה אחרת, ובסכמה של המחברת מוגדר REFERENCES, אבל ב־SQLite הוא לא נאכף כברירת מחדל (העשרה, שקף 71).</a:t>
            </a:r>
          </a:p>
          <a:p>
            <a:pPr rtl="1" algn="r" marL="0" indent="0">
              <a:buNone/>
            </a:pPr>
            <a:r>
              <a:rPr sz="1200" lang="he-IL"/>
              <a:t>•  הכפילות של שם המוצר בהזמנות נדונה בהעשרה (שקף 70).</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להראות שלוש תבניות SQL שמופיעות בשירות.</a:t>
            </a:r>
          </a:p>
          <a:p>
            <a:pPr rtl="1" algn="r" marL="0" indent="0">
              <a:buNone/>
            </a:pPr>
            <a:r>
              <a:rPr sz="1200" lang="he-IL"/>
              <a:t>•  (1) סינון: WHERE category = ?</a:t>
            </a:r>
          </a:p>
          <a:p>
            <a:pPr rtl="1" algn="r" marL="0" indent="0">
              <a:buNone/>
            </a:pPr>
            <a:r>
              <a:rPr sz="1200" lang="he-IL"/>
              <a:t>•  מחזיר רק מוצרים מקטגוריה.</a:t>
            </a:r>
          </a:p>
          <a:p>
            <a:pPr rtl="1" algn="r" marL="0" indent="0">
              <a:buNone/>
            </a:pPr>
            <a:r>
              <a:rPr sz="1200" lang="he-IL"/>
              <a:t>•  (2) סיכום וקיבוץ: SUM של כמות כפול מחיר, לכל מוצר, עם GROUP BY, ממוין מהגבוה לנמוך ומוגבל ל-N שורות; במעבדה ב׳ כותבים שאילתה דומה, q_top_products.</a:t>
            </a:r>
          </a:p>
          <a:p>
            <a:pPr rtl="1" algn="r" marL="0" indent="0">
              <a:buNone/>
            </a:pPr>
            <a:r>
              <a:rPr sz="1200" lang="he-IL"/>
              <a:t>•  הערך המצופה בראש הרשימה הוא Plant Pot Plus עם 33,595.62.</a:t>
            </a:r>
          </a:p>
          <a:p>
            <a:pPr rtl="1" algn="r" marL="0" indent="0">
              <a:buNone/>
            </a:pPr>
            <a:r>
              <a:rPr sz="1200" lang="he-IL"/>
              <a:t>•  (3) הוספה: INSERT INTO jobs, יצירת בקשה חדשה בתור, וקיים כבר בקוד.</a:t>
            </a:r>
          </a:p>
          <a:p>
            <a:pPr rtl="1" algn="r" marL="0" indent="0">
              <a:buNone/>
            </a:pPr>
            <a:r>
              <a:rPr sz="1200" lang="he-IL"/>
              <a:t>•  הדגישו את סימן השאלה (?): הערכים מועברים בנפרד מהשאילתה ולא מודבקים לטקסט, כדי למנוע SQL injection (שיעור 10).</a:t>
            </a:r>
          </a:p>
          <a:p>
            <a:pPr rtl="1" algn="r" marL="0" indent="0">
              <a:buNone/>
            </a:pPr>
            <a:r>
              <a:rPr b="1" sz="1200" lang="he-IL"/>
              <a:t>אנלוגיה</a:t>
            </a:r>
          </a:p>
          <a:p>
            <a:pPr rtl="1" algn="r" marL="0" indent="0">
              <a:buNone/>
            </a:pPr>
            <a:r>
              <a:rPr sz="1200" lang="he-IL"/>
              <a:t>•  זו שאילתה על פנקס הזמנות: סנן, סכם, מיין.</a:t>
            </a:r>
          </a:p>
          <a:p>
            <a:pPr rtl="1" algn="r" marL="0" indent="0">
              <a:buNone/>
            </a:pPr>
            <a:r>
              <a:rPr b="1" sz="1200" lang="he-IL"/>
              <a:t>שאלה לכיתה</a:t>
            </a:r>
          </a:p>
          <a:p>
            <a:pPr rtl="1" algn="r" marL="0" indent="0">
              <a:buNone/>
            </a:pPr>
            <a:r>
              <a:rPr sz="1200" lang="he-IL"/>
              <a:t>•  איך נדע ששאילתת הסיכום נכונה?</a:t>
            </a:r>
          </a:p>
          <a:p>
            <a:pPr rtl="1" algn="r" marL="0" indent="0">
              <a:buNone/>
            </a:pPr>
            <a:r>
              <a:rPr b="1" sz="1200" lang="he-IL"/>
              <a:t>תשובה</a:t>
            </a:r>
          </a:p>
          <a:p>
            <a:pPr rtl="1" algn="r" marL="0" indent="0">
              <a:buNone/>
            </a:pPr>
            <a:r>
              <a:rPr sz="1200" lang="he-IL"/>
              <a:t>•  התוצאה הראשונה חייבת להיות Plant Pot Plus בהכנסה 33,595.62, ויש בדיקה שמוודאת זאת.</a:t>
            </a:r>
          </a:p>
          <a:p>
            <a:pPr rtl="1" algn="r" marL="0" indent="0">
              <a:buNone/>
            </a:pPr>
            <a:r>
              <a:rPr b="1" sz="1200" lang="he-IL"/>
              <a:t>שימו לב</a:t>
            </a:r>
          </a:p>
          <a:p>
            <a:pPr rtl="1" algn="r" marL="0" indent="0">
              <a:buNone/>
            </a:pPr>
            <a:r>
              <a:rPr sz="1200" lang="he-IL"/>
              <a:t>•  סוכן עלול לקודד את התוצאה ידנית ולא לחשב; בודקים שהשאילתה אכן מחשבת.</a:t>
            </a:r>
          </a:p>
          <a:p>
            <a:pPr rtl="1" algn="r" marL="0" indent="0">
              <a:buNone/>
            </a:pPr>
            <a:r>
              <a:rPr b="1" sz="1200" lang="he-IL"/>
              <a:t>חיבור לשיעורים קודמים</a:t>
            </a:r>
          </a:p>
          <a:p>
            <a:pPr rtl="1" algn="r" marL="0" indent="0">
              <a:buNone/>
            </a:pPr>
            <a:r>
              <a:rPr sz="1200" lang="he-IL"/>
              <a:t>•  את ה־?</a:t>
            </a:r>
          </a:p>
          <a:p>
            <a:pPr rtl="1" algn="r" marL="0" indent="0">
              <a:buNone/>
            </a:pPr>
            <a:r>
              <a:rPr sz="1200" lang="he-IL"/>
              <a:t>•  בשאילתות מסבירים בשקף 28, מיד לפני מעבדה ב׳.</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כ־1.5 דקות.</a:t>
            </a:r>
          </a:p>
          <a:p>
            <a:pPr rtl="1" algn="r" marL="0" indent="0">
              <a:buNone/>
            </a:pPr>
            <a:r>
              <a:rPr b="1" sz="1200" lang="he-IL"/>
              <a:t>מטרה</a:t>
            </a:r>
          </a:p>
          <a:p>
            <a:pPr rtl="1" algn="r" marL="0" indent="0">
              <a:buNone/>
            </a:pPr>
            <a:r>
              <a:rPr sz="1200" lang="he-IL"/>
              <a:t>•  ללמד לקרוא שאילתת SQL כמשפט בעברית, כדי שגם מי שלא יודע לכתוב SQL יוכל לבדוק מה ה-AI כתב.</a:t>
            </a:r>
          </a:p>
          <a:p>
            <a:pPr rtl="1" algn="r" marL="0" indent="0">
              <a:buNone/>
            </a:pPr>
            <a:r>
              <a:rPr sz="1200" lang="he-IL"/>
              <a:t>•  בחמשת הקוביות: SELECT מה להציג; FROM מאיזו טבלה; WHERE רק אם; GROUP BY לקבץ לפי; ORDER BY למיין.</a:t>
            </a:r>
          </a:p>
          <a:p>
            <a:pPr rtl="1" algn="r" marL="0" indent="0">
              <a:buNone/>
            </a:pPr>
            <a:r>
              <a:rPr sz="1200" lang="he-IL"/>
              <a:t>•  הדוגמה למטה: הכנסה לכל קטגוריה, מהגבוהה לנמוכה.</a:t>
            </a:r>
          </a:p>
          <a:p>
            <a:pPr rtl="1" algn="r" marL="0" indent="0">
              <a:buNone/>
            </a:pPr>
            <a:r>
              <a:rPr b="1" sz="1200" lang="he-IL"/>
              <a:t>שימו לב</a:t>
            </a:r>
          </a:p>
          <a:p>
            <a:pPr rtl="1" algn="r" marL="0" indent="0">
              <a:buNone/>
            </a:pPr>
            <a:r>
              <a:rPr sz="1200" lang="he-IL"/>
              <a:t>•  בגרסה זו העמודות מסומנות באות הטבלה (p.category, o.quantity, o.unit_price), כי unit_price קיים גם ב-orders וגם ב-products, ובלי הקדמה SQLite מחזיר שגיאה ambiguous column name.</a:t>
            </a:r>
          </a:p>
          <a:p>
            <a:pPr rtl="1" algn="r" marL="0" indent="0">
              <a:buNone/>
            </a:pPr>
            <a:r>
              <a:rPr sz="1200" lang="he-IL"/>
              <a:t>•  זו שגיאה שנתפסת בהרצה, ולכן מריצים.</a:t>
            </a:r>
          </a:p>
          <a:p>
            <a:pPr rtl="1" algn="r" marL="0" indent="0">
              <a:buNone/>
            </a:pPr>
            <a:r>
              <a:rPr sz="1200" lang="he-IL"/>
              <a:t>•  תוצאה אמיתית על נתוני החנות: Office 185,100, Home 182,963, Tech 107,257, Sports 105,490, Kitchen 105,468.</a:t>
            </a:r>
          </a:p>
          <a:p>
            <a:pPr rtl="1" algn="r" marL="0" indent="0">
              <a:buNone/>
            </a:pPr>
            <a:r>
              <a:rPr b="1" sz="1200" lang="he-IL"/>
              <a:t>שאלה לכיתה</a:t>
            </a:r>
          </a:p>
          <a:p>
            <a:pPr rtl="1" algn="r" marL="0" indent="0">
              <a:buNone/>
            </a:pPr>
            <a:r>
              <a:rPr sz="1200" lang="he-IL"/>
              <a:t>•  איזה חלק היה משתנה אילו רצינו רק קטגוריה אחת?</a:t>
            </a:r>
          </a:p>
          <a:p>
            <a:pPr rtl="1" algn="r" marL="0" indent="0">
              <a:buNone/>
            </a:pPr>
            <a:r>
              <a:rPr b="1" sz="1200" lang="he-IL"/>
              <a:t>תשובה</a:t>
            </a:r>
          </a:p>
          <a:p>
            <a:pPr rtl="1" algn="r" marL="0" indent="0">
              <a:buNone/>
            </a:pPr>
            <a:r>
              <a:rPr sz="1200" lang="he-IL"/>
              <a:t>•  היינו מוסיפים WHERE.</a:t>
            </a:r>
          </a:p>
          <a:p>
            <a:pPr rtl="1" algn="r" marL="0" indent="0">
              <a:buNone/>
            </a:pPr>
            <a:r>
              <a:rPr sz="1200" lang="he-IL"/>
              <a:t>•  אפשר לשאול את אותה שאלה גם ב-pandas; כאן שואלים אותה במסד נתונים, בשפה אחרת.</a:t>
            </a:r>
          </a:p>
          <a:p>
            <a:pPr rtl="1" algn="r" marL="0" indent="0">
              <a:buNone/>
            </a:pPr>
            <a:r>
              <a:rPr b="1" sz="1200" lang="he-IL"/>
              <a:t>להעמקה</a:t>
            </a:r>
          </a:p>
          <a:p>
            <a:pPr rtl="1" algn="r" marL="0" indent="0">
              <a:buNone/>
            </a:pPr>
            <a:r>
              <a:rPr sz="1200" lang="he-IL"/>
              <a:t>•  סדר הכתיבה של SQL שונה מסדר ההערכה הלוגי: מבחינה לוגית המסד מעריך FROM ו־JOIN, אחר כך WHERE, GROUP BY, אחר כך SELECT, ורק אז ORDER BY ו־LIMIT.</a:t>
            </a:r>
          </a:p>
          <a:p>
            <a:pPr rtl="1" algn="r" marL="0" indent="0">
              <a:buNone/>
            </a:pPr>
            <a:r>
              <a:rPr sz="1200" lang="he-IL"/>
              <a:t>•  לכן אי אפשר להשתמש בכינוי revenue בתוך WHERE, אבל אפשר ב־ORDER BY.</a:t>
            </a:r>
          </a:p>
          <a:p>
            <a:pPr rtl="1" algn="r" marL="0" indent="0">
              <a:buNone/>
            </a:pPr>
            <a:r>
              <a:rPr sz="1200" lang="he-IL"/>
              <a:t>•  זו הסיבה לשגיאות מבלבלות בקוד ש־AI כתב.</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מטרה</a:t>
            </a:r>
          </a:p>
          <a:p>
            <a:pPr rtl="1" algn="r" marL="0" indent="0">
              <a:buNone/>
            </a:pPr>
            <a:r>
              <a:rPr sz="1200" lang="he-IL"/>
              <a:t>•  להסביר JOIN כחיבור שורות מכמה טבלאות לפי מפתח משותף.</a:t>
            </a:r>
          </a:p>
          <a:p>
            <a:pPr rtl="1" algn="r" marL="0" indent="0">
              <a:buNone/>
            </a:pPr>
            <a:r>
              <a:rPr sz="1200" lang="he-IL"/>
              <a:t>•  בשקף: משמאל תוצאת ה-JOIN, מימין שתי הטבלאות.</a:t>
            </a:r>
          </a:p>
          <a:p>
            <a:pPr rtl="1" algn="r" marL="0" indent="0">
              <a:buNone/>
            </a:pPr>
            <a:r>
              <a:rPr sz="1200" lang="he-IL"/>
              <a:t>•  ב-orders יש הזמנות O1 ו-O2 עם product_id, ב-products יש לכל product_id קטגוריה.</a:t>
            </a:r>
          </a:p>
          <a:p>
            <a:pPr rtl="1" algn="r" marL="0" indent="0">
              <a:buNone/>
            </a:pPr>
            <a:r>
              <a:rPr sz="1200" lang="he-IL"/>
              <a:t>•  החצים מראים שכל הזמנה מקבלת את הקטגוריה של המוצר שלה, ובתוצאה נראה לכל הזמנה גם qty וגם category.</a:t>
            </a:r>
          </a:p>
          <a:p>
            <a:pPr rtl="1" algn="r" marL="0" indent="0">
              <a:buNone/>
            </a:pPr>
            <a:r>
              <a:rPr sz="1200" lang="he-IL"/>
              <a:t>•  הדוגמה מצומצמת לצורך הבהירות; הנתונים האמיתיים כוללים 3,000 הזמנות ו-200 מוצרים.</a:t>
            </a:r>
          </a:p>
          <a:p>
            <a:pPr rtl="1" algn="r" marL="0" indent="0">
              <a:buNone/>
            </a:pPr>
            <a:r>
              <a:rPr b="1" sz="1200" lang="he-IL"/>
              <a:t>שאלה לכיתה</a:t>
            </a:r>
          </a:p>
          <a:p>
            <a:pPr rtl="1" algn="r" marL="0" indent="0">
              <a:buNone/>
            </a:pPr>
            <a:r>
              <a:rPr sz="1200" lang="he-IL"/>
              <a:t>•  מה היה קורה אילו מוצר P002 לא היה קיים בטבלת products?</a:t>
            </a:r>
          </a:p>
          <a:p>
            <a:pPr rtl="1" algn="r" marL="0" indent="0">
              <a:buNone/>
            </a:pPr>
            <a:r>
              <a:rPr b="1" sz="1200" lang="he-IL"/>
              <a:t>תשובה</a:t>
            </a:r>
          </a:p>
          <a:p>
            <a:pPr rtl="1" algn="r" marL="0" indent="0">
              <a:buNone/>
            </a:pPr>
            <a:r>
              <a:rPr sz="1200" lang="he-IL"/>
              <a:t>•  ב-INNER JOIN הרגיל ההזמנה O1 הייתה נעלמת מהתוצאה.</a:t>
            </a:r>
          </a:p>
          <a:p>
            <a:pPr rtl="1" algn="r" marL="0" indent="0">
              <a:buNone/>
            </a:pPr>
            <a:r>
              <a:rPr b="1" sz="1200" lang="he-IL"/>
              <a:t>אנלוגיה</a:t>
            </a:r>
          </a:p>
          <a:p>
            <a:pPr rtl="1" algn="r" marL="0" indent="0">
              <a:buNone/>
            </a:pPr>
            <a:r>
              <a:rPr sz="1200" lang="he-IL"/>
              <a:t>•  צירוף שורות הזמנה לטבלת מק״טים לפי מק״ט כדי לדעת את הקטגוריה של כל פריט.</a:t>
            </a:r>
          </a:p>
          <a:p>
            <a:pPr rtl="1" algn="r" marL="0" indent="0">
              <a:buNone/>
            </a:pPr>
            <a:r>
              <a:rPr sz="1200" lang="he-IL"/>
              <a:t>•  הדגישו לפני המעבר לשקף הבא: לפני שמחברים צריך לדעת את היחס בין הטבלאות, אחד לאחד או אחד לרבים.</a:t>
            </a:r>
          </a:p>
          <a:p>
            <a:pPr rtl="1" algn="r" marL="0" indent="0">
              <a:buNone/>
            </a:pPr>
            <a:r>
              <a:rPr b="1" sz="1200" lang="he-IL"/>
              <a:t>להעמקה</a:t>
            </a:r>
          </a:p>
          <a:p>
            <a:pPr rtl="1" algn="r" marL="0" indent="0">
              <a:buNone/>
            </a:pPr>
            <a:r>
              <a:rPr sz="1200" lang="he-IL"/>
              <a:t>•  JOIN מחבר שורות לפי תנאי התאמה (כאן product_id).</a:t>
            </a:r>
          </a:p>
          <a:p>
            <a:pPr rtl="1" algn="r" marL="0" indent="0">
              <a:buNone/>
            </a:pPr>
            <a:r>
              <a:rPr sz="1200" lang="he-IL"/>
              <a:t>•  ללא התאמה מפורשת התוצאה היא מכפלה של כל השורות בכל השורות.</a:t>
            </a:r>
          </a:p>
          <a:p>
            <a:pPr rtl="1" algn="r" marL="0" indent="0">
              <a:buNone/>
            </a:pPr>
            <a:r>
              <a:rPr sz="1200" lang="he-IL"/>
              <a:t>•  מספר השורות בתוצאה תלוי ביחס בין הטבלאות: חיבור של צד ״רבים״ לצד ״אחד״ (הזמנות למוצרים) משאיר את מספר ההזמנות; חיבור הפוך מכפיל, כפי שנראה בשקף הבא.</a:t>
            </a:r>
          </a:p>
          <a:p>
            <a:pPr rtl="1" algn="r" marL="0" indent="0">
              <a:buNone/>
            </a:pPr>
            <a:r>
              <a:rPr sz="1200" lang="he-IL"/>
              <a:t>•  INNER JOIN מאבד שורות בלי התאמה, ו־LEFT JOIN שומר אותן (העשרה, שקף 71).</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כ־1.7 דקות.</a:t>
            </a:r>
          </a:p>
          <a:p>
            <a:pPr rtl="1" algn="r" marL="0" indent="0">
              <a:buNone/>
            </a:pPr>
            <a:r>
              <a:rPr b="1" sz="1200" lang="he-IL"/>
              <a:t>מטרה</a:t>
            </a:r>
          </a:p>
          <a:p>
            <a:pPr rtl="1" algn="r" marL="0" indent="0">
              <a:buNone/>
            </a:pPr>
            <a:r>
              <a:rPr sz="1200" lang="he-IL"/>
              <a:t>•  ללמד את אחת הטעויות הנפוצות ביותר ב-SQL ש-AI כותב: חיבור שבו שורה אחת מתאימה לכמה שורות והנתונים מוכפלים.</a:t>
            </a:r>
          </a:p>
          <a:p>
            <a:pPr rtl="1" algn="r" marL="0" indent="0">
              <a:buNone/>
            </a:pPr>
            <a:r>
              <a:rPr sz="1200" lang="he-IL"/>
              <a:t>•  הדוגמה מומחשת: ספק S1 עם paid של 100 ושלושה מוצרים.</a:t>
            </a:r>
          </a:p>
          <a:p>
            <a:pPr rtl="1" algn="r" marL="0" indent="0">
              <a:buNone/>
            </a:pPr>
            <a:r>
              <a:rPr sz="1200" lang="he-IL"/>
              <a:t>•  אחרי JOIN, הערך 100 מופיע שלוש פעמים, וסכום ה-paid הוא 300 במקום 100.</a:t>
            </a:r>
          </a:p>
          <a:p>
            <a:pPr rtl="1" algn="r" marL="0" indent="0">
              <a:buNone/>
            </a:pPr>
            <a:r>
              <a:rPr sz="1200" lang="he-IL"/>
              <a:t>•  הדוגמה היא איור, ולא טבלת paid אמיתית בשירות.</a:t>
            </a:r>
          </a:p>
          <a:p>
            <a:pPr rtl="1" algn="r" marL="0" indent="0">
              <a:buNone/>
            </a:pPr>
            <a:r>
              <a:rPr sz="1200" lang="he-IL"/>
              <a:t>•  איך מגלים?</a:t>
            </a:r>
          </a:p>
          <a:p>
            <a:pPr rtl="1" algn="r" marL="0" indent="0">
              <a:buNone/>
            </a:pPr>
            <a:r>
              <a:rPr sz="1200" lang="he-IL"/>
              <a:t>•  סופרים שורות לפני ואחרי.</a:t>
            </a:r>
          </a:p>
          <a:p>
            <a:pPr rtl="1" algn="r" marL="0" indent="0">
              <a:buNone/>
            </a:pPr>
            <a:r>
              <a:rPr sz="1200" lang="he-IL"/>
              <a:t>•  בנתונים האמיתיים של החנות, צירוף הזמנות למוצרים מחזיר 3,000 שורות כמו בטבלת ההזמנות (כי כל הזמנה מתאימה למוצר אחד), ואין הכפלה; זו בדיקת שפיות מקובץ התשובות של מעבדת ה-SQL.</a:t>
            </a:r>
          </a:p>
          <a:p>
            <a:pPr rtl="1" algn="r" marL="0" indent="0">
              <a:buNone/>
            </a:pPr>
            <a:r>
              <a:rPr sz="1200" lang="he-IL"/>
              <a:t>•  אבל חיבור אחר, שבו הצד השני הוא טבלה עם כמה שורות לאותו מפתח, מכפיל.</a:t>
            </a:r>
          </a:p>
          <a:p>
            <a:pPr rtl="1" algn="r" marL="0" indent="0">
              <a:buNone/>
            </a:pPr>
            <a:r>
              <a:rPr b="1" sz="1200" lang="he-IL"/>
              <a:t>שאלה לכיתה</a:t>
            </a:r>
          </a:p>
          <a:p>
            <a:pPr rtl="1" algn="r" marL="0" indent="0">
              <a:buNone/>
            </a:pPr>
            <a:r>
              <a:rPr sz="1200" lang="he-IL"/>
              <a:t>•  איך נגלה את זה בלי להריץ יותר מדי?</a:t>
            </a:r>
          </a:p>
          <a:p>
            <a:pPr rtl="1" algn="r" marL="0" indent="0">
              <a:buNone/>
            </a:pPr>
            <a:r>
              <a:rPr b="1" sz="1200" lang="he-IL"/>
              <a:t>תשובה</a:t>
            </a:r>
          </a:p>
          <a:p>
            <a:pPr rtl="1" algn="r" marL="0" indent="0">
              <a:buNone/>
            </a:pPr>
            <a:r>
              <a:rPr sz="1200" lang="he-IL"/>
              <a:t>•  משווים COUNT לפני ואחרי, וסכום מוכר.</a:t>
            </a:r>
          </a:p>
          <a:p>
            <a:pPr rtl="1" algn="r" marL="0" indent="0">
              <a:buNone/>
            </a:pPr>
            <a:r>
              <a:rPr b="1" sz="1200" lang="he-IL"/>
              <a:t>אנלוגיה</a:t>
            </a:r>
          </a:p>
          <a:p>
            <a:pPr rtl="1" algn="r" marL="0" indent="0">
              <a:buNone/>
            </a:pPr>
            <a:r>
              <a:rPr sz="1200" lang="he-IL"/>
              <a:t>•  חיבור ספקים עם הזמנות רכש ואז סיכום יתרת ספק: היתרה תוכפל במספר ההזמנות.</a:t>
            </a:r>
          </a:p>
          <a:p>
            <a:pPr rtl="1" algn="r" marL="0" indent="0">
              <a:buNone/>
            </a:pPr>
            <a:r>
              <a:rPr sz="1200" lang="he-IL"/>
              <a:t>•  במעבדה ב׳ join_multiplies מזהה זאת על הנתונים האמיתיים: 8 ספקים הופכים ל־200 שורות אחרי חיבור למוצרים, וסכום lead_time_days קופץ מ־82 ל־2,053.</a:t>
            </a:r>
          </a:p>
          <a:p>
            <a:pPr rtl="1" algn="r" marL="0" indent="0">
              <a:buNone/>
            </a:pPr>
            <a:r>
              <a:rPr sz="1200" lang="he-IL"/>
              <a:t>•  העמקה, המנגנון: בחיבור, כל שורה בצד אחד מתחברת לכל שורה תואמת בצד השני; לכן מספר שורות התוצאה לכל מפתח הוא מכפלת מספר ההתאמות בשני הצדדים.</a:t>
            </a:r>
          </a:p>
          <a:p>
            <a:pPr rtl="1" algn="r" marL="0" indent="0">
              <a:buNone/>
            </a:pPr>
            <a:r>
              <a:rPr sz="1200" lang="he-IL"/>
              <a:t>•  ספק אחד עם שלושה מוצרים מופיע שלוש פעמים, ועמודה שנמצאת בצד ״אחד״ (paid, או lead_time_days) נסכמת שלוש פעמים.</a:t>
            </a:r>
          </a:p>
          <a:p>
            <a:pPr rtl="1" algn="r" marL="0" indent="0">
              <a:buNone/>
            </a:pPr>
            <a:r>
              <a:rPr sz="1200" lang="he-IL"/>
              <a:t>•  בנתוני המחברת: 8 ספקים, 200 מוצרים, אחרי חיבור יש 200 שורות, וסכום lead_time_days קופץ מ־82 ל־2,053.</a:t>
            </a:r>
          </a:p>
          <a:p>
            <a:pPr rtl="1" algn="r" marL="0" indent="0">
              <a:buNone/>
            </a:pPr>
            <a:r>
              <a:rPr sz="1200" lang="he-IL"/>
              <a:t>•  תיקונים: לסכם בצד ״רבים״, או לצבור קודם בשאילתת משנה ואז לחבר.</a:t>
            </a:r>
          </a:p>
          <a:p>
            <a:pPr rtl="1" algn="r" marL="0" indent="0">
              <a:buNone/>
            </a:pPr>
            <a:r>
              <a:rPr sz="1200" lang="he-IL"/>
              <a:t>•  בדיקה: סופרים שורות לפני ואחרי; גידול הוא סימן להכפלה, קיטון הוא סימן לאובדן שורות.</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כ־0.9 דקות.</a:t>
            </a:r>
          </a:p>
          <a:p>
            <a:pPr rtl="1" algn="r" marL="0" indent="0">
              <a:buNone/>
            </a:pPr>
            <a:r>
              <a:rPr b="1" sz="1200" lang="he-IL"/>
              <a:t>מטרה</a:t>
            </a:r>
          </a:p>
          <a:p>
            <a:pPr rtl="1" algn="r" marL="0" indent="0">
              <a:buNone/>
            </a:pPr>
            <a:r>
              <a:rPr sz="1200" lang="he-IL"/>
              <a:t>•  לתת שלוש בדיקות פשוטות שאפשר לבצע גם בלי לכתוב SQL, ולחזק את כלל הקורס: לא הרצתם ולא בדקתם, לא סומכים.</a:t>
            </a:r>
          </a:p>
          <a:p>
            <a:pPr rtl="1" algn="r" marL="0" indent="0">
              <a:buNone/>
            </a:pPr>
            <a:r>
              <a:rPr sz="1200" lang="he-IL"/>
              <a:t>•  (1) ספירת שורות: כמה שורות היו לפני ואחרי JOIN; אם המספר גדל, יש הכפלה.</a:t>
            </a:r>
          </a:p>
          <a:p>
            <a:pPr rtl="1" algn="r" marL="0" indent="0">
              <a:buNone/>
            </a:pPr>
            <a:r>
              <a:rPr sz="1200" lang="he-IL"/>
              <a:t>•  (2) סכום מוכר: האם הסכום הכולל זהה למה שכבר ידוע, למשל מחישוב ב-pandas או מקובץ התשובות של מעבדת ה-SQL; לדוגמה סך ההכנסה לפי קטגוריות או Plant Pot Plus עם 33,595.62.</a:t>
            </a:r>
          </a:p>
          <a:p>
            <a:pPr rtl="1" algn="r" marL="0" indent="0">
              <a:buNone/>
            </a:pPr>
            <a:r>
              <a:rPr sz="1200" lang="he-IL"/>
              <a:t>•  (3) דוגמה קטנה: בוחרים שורה או שתיים ובודקים ביד.</a:t>
            </a:r>
          </a:p>
          <a:p>
            <a:pPr rtl="1" algn="r" marL="0" indent="0">
              <a:buNone/>
            </a:pPr>
            <a:r>
              <a:rPr sz="1200" lang="he-IL"/>
              <a:t>•  תהליך מומלץ לסטודנטים: מבקשים מ-AI שאילתה, מריצים, מחשבים תוצאה אחת בדרך אחרת ומשווים.</a:t>
            </a:r>
          </a:p>
          <a:p>
            <a:pPr rtl="1" algn="r" marL="0" indent="0">
              <a:buNone/>
            </a:pPr>
            <a:r>
              <a:rPr b="1" sz="1200" lang="he-IL"/>
              <a:t>אנלוגיה</a:t>
            </a:r>
          </a:p>
          <a:p>
            <a:pPr rtl="1" algn="r" marL="0" indent="0">
              <a:buNone/>
            </a:pPr>
            <a:r>
              <a:rPr sz="1200" lang="he-IL"/>
              <a:t>•  בדיקת קבלה בדגימה, לפני שמסכימים לכל המשלוח.</a:t>
            </a:r>
          </a:p>
          <a:p>
            <a:pPr rtl="1" algn="r" marL="0" indent="0">
              <a:buNone/>
            </a:pPr>
            <a:r>
              <a:rPr b="1" sz="1200" lang="he-IL"/>
              <a:t>שאלה לכיתה</a:t>
            </a:r>
          </a:p>
          <a:p>
            <a:pPr rtl="1" algn="r" marL="0" indent="0">
              <a:buNone/>
            </a:pPr>
            <a:r>
              <a:rPr sz="1200" lang="he-IL"/>
              <a:t>•  איזו בדיקה הייתה תופסת את הכפלת ה-paid בשקף הקודם?</a:t>
            </a:r>
          </a:p>
          <a:p>
            <a:pPr rtl="1" algn="r" marL="0" indent="0">
              <a:buNone/>
            </a:pPr>
            <a:r>
              <a:rPr b="1" sz="1200" lang="he-IL"/>
              <a:t>תשובה</a:t>
            </a:r>
          </a:p>
          <a:p>
            <a:pPr rtl="1" algn="r" marL="0" indent="0">
              <a:buNone/>
            </a:pPr>
            <a:r>
              <a:rPr sz="1200" lang="he-IL"/>
              <a:t>•  ספירת השורות, וגם סכום מוכר (100 מול 300).</a:t>
            </a:r>
          </a:p>
          <a:p>
            <a:pPr rtl="1" algn="r" marL="0" indent="0">
              <a:buNone/>
            </a:pPr>
            <a:r>
              <a:rPr b="1" sz="1200" lang="he-IL"/>
              <a:t>חיבור לשיעורים קודמים</a:t>
            </a:r>
          </a:p>
          <a:p>
            <a:pPr rtl="1" algn="r" marL="0" indent="0">
              <a:buNone/>
            </a:pPr>
            <a:r>
              <a:rPr sz="1200" lang="he-IL"/>
              <a:t>•  שיעור 8 (בדיקות) ושיעור 2 (הזיות).</a:t>
            </a:r>
          </a:p>
          <a:p>
            <a:pPr rtl="1" algn="r" marL="0" indent="0">
              <a:buNone/>
            </a:pPr>
            <a:r>
              <a:rPr sz="1200" lang="he-IL"/>
              <a:t>•  שאלה נוספת: איזה צעד מהשלושה הכי זול ומגלה הכי הרבה?</a:t>
            </a:r>
          </a:p>
          <a:p>
            <a:pPr rtl="1" algn="r" marL="0" indent="0">
              <a:buNone/>
            </a:pPr>
            <a:r>
              <a:rPr b="1" sz="1200" lang="he-IL"/>
              <a:t>תשובה</a:t>
            </a:r>
          </a:p>
          <a:p>
            <a:pPr rtl="1" algn="r" marL="0" indent="0">
              <a:buNone/>
            </a:pPr>
            <a:r>
              <a:rPr sz="1200" lang="he-IL"/>
              <a:t>•  ספירת שורות.</a:t>
            </a:r>
          </a:p>
          <a:p>
            <a:pPr rtl="1" algn="r" marL="0" indent="0">
              <a:buNone/>
            </a:pPr>
            <a:r>
              <a:rPr sz="1200" lang="he-IL"/>
              <a:t>•  עיקרון: עדיף לבדוק בשתי דרכים בלתי תלויות (SQL ו־pandas) מאשר פעמיים באותה דרך.</a:t>
            </a:r>
          </a:p>
          <a:p>
            <a:pPr rtl="1" algn="r" marL="0" indent="0">
              <a:buNone/>
            </a:pPr>
            <a:r>
              <a:rPr b="1" sz="1200" lang="he-IL"/>
              <a:t>חיבור לשיעורים קודמים</a:t>
            </a:r>
          </a:p>
          <a:p>
            <a:pPr rtl="1" algn="r" marL="0" indent="0">
              <a:buNone/>
            </a:pPr>
            <a:r>
              <a:rPr sz="1200" lang="he-IL"/>
              <a:t>•  אותה שיטה, בשאילתה.</a:t>
            </a:r>
          </a:p>
          <a:p>
            <a:pPr rtl="1" algn="r" marL="0" indent="0">
              <a:buNone/>
            </a:pPr>
            <a:r>
              <a:rPr sz="1200" lang="he-IL"/>
              <a:t>•  סכום מוכר ושורה אחת שבדקנו ביד הם ״הידוע מראש״; Plant Pot Plus עם 33,595.62 הוא אותו מוצר מוביל ממפגש 5 (שם בעיגול, 33,596).</a:t>
            </a:r>
          </a:p>
          <a:p>
            <a:pPr rtl="1" algn="r" marL="0" indent="0">
              <a:buNone/>
            </a:pPr>
            <a:r>
              <a:rPr b="1" sz="1200" lang="he-IL"/>
              <a:t>שאלת היזכרות</a:t>
            </a:r>
          </a:p>
          <a:p>
            <a:pPr rtl="1" algn="r" marL="0" indent="0">
              <a:buNone/>
            </a:pPr>
            <a:r>
              <a:rPr sz="1200" lang="he-IL"/>
              <a:t>•  מי זוכר איך חשפנו במפגש 5 גרף שנראה סביר ושגוי?</a:t>
            </a:r>
          </a:p>
          <a:p>
            <a:pPr rtl="1" algn="r" marL="0" indent="0">
              <a:buNone/>
            </a:pPr>
            <a:r>
              <a:rPr b="1" sz="1200" lang="he-IL"/>
              <a:t>תשובה</a:t>
            </a:r>
          </a:p>
          <a:p>
            <a:pPr rtl="1" algn="r" marL="0" indent="0">
              <a:buNone/>
            </a:pPr>
            <a:r>
              <a:rPr sz="1200" lang="he-IL"/>
              <a:t>•  השוונו את הראשון ברשימה לנכון, ומיון לפי כמות נתן מוצר אחר מזה של ההכנסה.</a:t>
            </a:r>
          </a:p>
          <a:p>
            <a:pPr rtl="1" algn="r" marL="0" indent="0">
              <a:buNone/>
            </a:pPr>
            <a:r>
              <a:rPr b="1" sz="1200" lang="he-IL"/>
              <a:t>אם הכיתה לא זוכרת</a:t>
            </a:r>
          </a:p>
          <a:p>
            <a:pPr rtl="1" algn="r" marL="0" indent="0">
              <a:buNone/>
            </a:pPr>
            <a:r>
              <a:rPr sz="1200" lang="he-IL"/>
              <a:t>•  ״בדקנו מי המוצר הראשון בהכנסה והשוונו לכלי״, והמשיכו.</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ללמד איך מבקשים מ-AI לתכנן סכמת נתונים, ואיך בודקים אותה.</a:t>
            </a:r>
          </a:p>
          <a:p>
            <a:pPr rtl="1" algn="r" marL="0" indent="0">
              <a:buNone/>
            </a:pPr>
            <a:r>
              <a:rPr sz="1200" lang="he-IL"/>
              <a:t>•  הנושא נדרש בסילבוס (סכמת נתונים בעזרת AI), לכן עדיף להשאיר, בקצרה של כדקה.</a:t>
            </a:r>
          </a:p>
          <a:p>
            <a:pPr rtl="1" algn="r" marL="0" indent="0">
              <a:buNone/>
            </a:pPr>
            <a:r>
              <a:rPr sz="1200" lang="he-IL"/>
              <a:t>•  הפרומפט בשקף מבקש סכמת SQLite לחנות עם מוצרים, ספקים, הזמנות ותור משימות, ומבקש לכל טבלה את העמודות, המפתח הראשי והמפתחות הזרים, בלי כפילות נתונים, ואז את ה-CREATE TABLE.</a:t>
            </a:r>
          </a:p>
          <a:p>
            <a:pPr rtl="1" algn="r" marL="0" indent="0">
              <a:buNone/>
            </a:pPr>
            <a:r>
              <a:rPr sz="1200" lang="he-IL"/>
              <a:t>•  שלוש הבדיקות שמתחת: אין כפילות (כל עובדה במקום אחד); מפתחות (ראשי וזר לכל טבלה); מריצים (CREATE TABLE וטעינת נתוני דוגמה, כי סכמה שלא רצה אינה סכמה).</a:t>
            </a:r>
          </a:p>
          <a:p>
            <a:pPr rtl="1" algn="r" marL="0" indent="0">
              <a:buNone/>
            </a:pPr>
            <a:r>
              <a:rPr b="1" sz="1200" lang="he-IL"/>
              <a:t>שאלה לכיתה</a:t>
            </a:r>
          </a:p>
          <a:p>
            <a:pPr rtl="1" algn="r" marL="0" indent="0">
              <a:buNone/>
            </a:pPr>
            <a:r>
              <a:rPr sz="1200" lang="he-IL"/>
              <a:t>•  למה jobs היא טבלה נפרדת ולא עמודה בטבלת ההזמנות?</a:t>
            </a:r>
          </a:p>
          <a:p>
            <a:pPr rtl="1" algn="r" marL="0" indent="0">
              <a:buNone/>
            </a:pPr>
            <a:r>
              <a:rPr b="1" sz="1200" lang="he-IL"/>
              <a:t>תשובה</a:t>
            </a:r>
          </a:p>
          <a:p>
            <a:pPr rtl="1" algn="r" marL="0" indent="0">
              <a:buNone/>
            </a:pPr>
            <a:r>
              <a:rPr sz="1200" lang="he-IL"/>
              <a:t>•  כי היא מתארת משהו אחר, בקשת עבודה עם מחזור חיים משלה, ולא כל הזמנה עוברת סיווג.</a:t>
            </a:r>
          </a:p>
          <a:p>
            <a:pPr rtl="1" algn="r" marL="0" indent="0">
              <a:buNone/>
            </a:pPr>
            <a:r>
              <a:rPr b="1" sz="1200" lang="he-IL"/>
              <a:t>שימו לב</a:t>
            </a:r>
          </a:p>
          <a:p>
            <a:pPr rtl="1" algn="r" marL="0" indent="0">
              <a:buNone/>
            </a:pPr>
            <a:r>
              <a:rPr sz="1200" lang="he-IL"/>
              <a:t>•  סוכן נוטה לצבור כפילויות או להשמיט מפתחות זרים.</a:t>
            </a:r>
          </a:p>
          <a:p>
            <a:pPr rtl="1" algn="r" marL="0" indent="0">
              <a:buNone/>
            </a:pPr>
            <a:r>
              <a:rPr sz="1200" lang="he-IL"/>
              <a:t>•  כדאי להשוות את הסכמה שהוא הציע לסכמה שבשקף 22.</a:t>
            </a:r>
          </a:p>
          <a:p>
            <a:pPr rtl="1" algn="r" marL="0" indent="0">
              <a:buNone/>
            </a:pPr>
            <a:r>
              <a:rPr sz="1200" lang="he-IL"/>
              <a:t>•  חזרה ממפגש 3, לפי הנושא בסילבוס (מבנה פרומפט אפקטיבי): הפרומפט בשקף בנוי מארבעה חלקים: מה רוצים (סכמה לחנות), הקשר (מוצרים, ספקים, הזמנות ותור), אילוץ (בלי כפילות) ופלט (CREATE TABLE).</a:t>
            </a:r>
          </a:p>
          <a:p>
            <a:pPr rtl="1" algn="r" marL="0" indent="0">
              <a:buNone/>
            </a:pPr>
            <a:r>
              <a:rPr b="1" sz="1200" lang="he-IL"/>
              <a:t>שאלת היזכרות</a:t>
            </a:r>
          </a:p>
          <a:p>
            <a:pPr rtl="1" algn="r" marL="0" indent="0">
              <a:buNone/>
            </a:pPr>
            <a:r>
              <a:rPr sz="1200" lang="he-IL"/>
              <a:t>•  איזה חלק בפרומפט הזה מונע מה־AI לצבור כפילויות?</a:t>
            </a:r>
          </a:p>
          <a:p>
            <a:pPr rtl="1" algn="r" marL="0" indent="0">
              <a:buNone/>
            </a:pPr>
            <a:r>
              <a:rPr b="1" sz="1200" lang="he-IL"/>
              <a:t>תשובה</a:t>
            </a:r>
          </a:p>
          <a:p>
            <a:pPr rtl="1" algn="r" marL="0" indent="0">
              <a:buNone/>
            </a:pPr>
            <a:r>
              <a:rPr sz="1200" lang="he-IL"/>
              <a:t>•  האילוץ ״בלי כפילות נתונים״.</a:t>
            </a:r>
          </a:p>
          <a:p>
            <a:pPr rtl="1" algn="r" marL="0" indent="0">
              <a:buNone/>
            </a:pPr>
            <a:r>
              <a:rPr sz="1200" lang="he-IL"/>
              <a:t>•  אם הכיתה לא זוכרת את מפגש 3: ״מפגש 3 עסק בבניית פרומפט מסודר״, ואל תטענו פרטים מעבר לנושא בסילבוס.</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כ־דקה.</a:t>
            </a:r>
          </a:p>
          <a:p>
            <a:pPr rtl="1" algn="r" marL="0" indent="0">
              <a:buNone/>
            </a:pPr>
            <a:r>
              <a:rPr b="1" sz="1200" lang="he-IL"/>
              <a:t>מטרה</a:t>
            </a:r>
          </a:p>
          <a:p>
            <a:pPr rtl="1" algn="r" marL="0" indent="0">
              <a:buNone/>
            </a:pPr>
            <a:r>
              <a:rPr sz="1200" lang="he-IL"/>
              <a:t>•  להראות שממשק אפשר לבנות בכמה שורות, ושהוא רק מדבר עם ה-API.</a:t>
            </a:r>
          </a:p>
          <a:p>
            <a:pPr rtl="1" algn="r" marL="0" indent="0">
              <a:buNone/>
            </a:pPr>
            <a:r>
              <a:rPr sz="1200" lang="he-IL"/>
              <a:t>•  הצילום אמיתי.</a:t>
            </a:r>
          </a:p>
          <a:p>
            <a:pPr rtl="1" algn="r" marL="0" indent="0">
              <a:buNone/>
            </a:pPr>
            <a:r>
              <a:rPr sz="1200" lang="he-IL"/>
              <a:t>•  בצד ימין הקוד: st.selectbox לבחירת קטגוריה, requests.get לקריאה ל-API, st.dataframe להצגת טבלה, st.bar_chart לגרף ו-st.button לשליחה לתור.</a:t>
            </a:r>
          </a:p>
          <a:p>
            <a:pPr rtl="1" algn="r" marL="0" indent="0">
              <a:buNone/>
            </a:pPr>
            <a:r>
              <a:rPr sz="1200" lang="he-IL"/>
              <a:t>•  כל ווידג'ט הוא שורה אחת.</a:t>
            </a:r>
          </a:p>
          <a:p>
            <a:pPr rtl="1" algn="r" marL="0" indent="0">
              <a:buNone/>
            </a:pPr>
            <a:r>
              <a:rPr sz="1200" lang="he-IL"/>
              <a:t>•  בצילום: טבלת מוצרים, גרף הכנסות, וקטע ששולח מייל לתור.</a:t>
            </a:r>
          </a:p>
          <a:p>
            <a:pPr rtl="1" algn="r" marL="0" indent="0">
              <a:buNone/>
            </a:pPr>
            <a:r>
              <a:rPr sz="1200" lang="he-IL"/>
              <a:t>•  הערה אמיתית: Streamlit ממיין את עמודות הגרף לפי האלפבית ולא לפי הערך, וזה רק תצוגה, לא שגיאה; כך שהמוצר Plant Pot Plus לא יהיה בהכרח הראשון בגרף.</a:t>
            </a:r>
          </a:p>
          <a:p>
            <a:pPr rtl="1" algn="r" marL="0" indent="0">
              <a:buNone/>
            </a:pPr>
            <a:r>
              <a:rPr b="1" sz="1200" lang="he-IL"/>
              <a:t>אנלוגיה</a:t>
            </a:r>
          </a:p>
          <a:p>
            <a:pPr rtl="1" algn="r" marL="0" indent="0">
              <a:buNone/>
            </a:pPr>
            <a:r>
              <a:rPr sz="1200" lang="he-IL"/>
              <a:t>•  הממשק הוא דלפק הקבלה, ה-API הוא הנוהל שמאחוריו.</a:t>
            </a:r>
          </a:p>
          <a:p>
            <a:pPr rtl="1" algn="r" marL="0" indent="0">
              <a:buNone/>
            </a:pPr>
            <a:r>
              <a:rPr b="1" sz="1200" lang="he-IL"/>
              <a:t>שאלה לכיתה</a:t>
            </a:r>
          </a:p>
          <a:p>
            <a:pPr rtl="1" algn="r" marL="0" indent="0">
              <a:buNone/>
            </a:pPr>
            <a:r>
              <a:rPr sz="1200" lang="he-IL"/>
              <a:t>•  אם נחליף את Streamlit בממשק אחר, מה צריך לשנות ב-API?</a:t>
            </a:r>
          </a:p>
          <a:p>
            <a:pPr rtl="1" algn="r" marL="0" indent="0">
              <a:buNone/>
            </a:pPr>
            <a:r>
              <a:rPr b="1" sz="1200" lang="he-IL"/>
              <a:t>תשובה</a:t>
            </a:r>
          </a:p>
          <a:p>
            <a:pPr rtl="1" algn="r" marL="0" indent="0">
              <a:buNone/>
            </a:pPr>
            <a:r>
              <a:rPr sz="1200" lang="he-IL"/>
              <a:t>•  כלום.</a:t>
            </a:r>
          </a:p>
          <a:p>
            <a:pPr rtl="1" algn="r" marL="0" indent="0">
              <a:buNone/>
            </a:pPr>
            <a:r>
              <a:rPr sz="1200" lang="he-IL"/>
              <a:t>•  Streamlit לא רץ ב־Colab: הממשק מוצג על המקרן, ובמחברת HM_07 לא בונים אותו.</a:t>
            </a:r>
          </a:p>
          <a:p>
            <a:pPr rtl="1" algn="r" marL="0" indent="0">
              <a:buNone/>
            </a:pPr>
            <a:r>
              <a:rPr b="1" sz="1200" lang="he-IL"/>
              <a:t>חיבור לשיעורים קודמים</a:t>
            </a:r>
          </a:p>
          <a:p>
            <a:pPr rtl="1" algn="r" marL="0" indent="0">
              <a:buNone/>
            </a:pPr>
            <a:r>
              <a:rPr sz="1200" lang="he-IL"/>
              <a:t>•  זה הסיבה שהשקף הבא מדבר על שכבות.</a:t>
            </a:r>
          </a:p>
          <a:p>
            <a:pPr rtl="1" algn="r" marL="0" indent="0">
              <a:buNone/>
            </a:pPr>
            <a:r>
              <a:rPr b="1" sz="1200" lang="he-IL"/>
              <a:t>מתי לדלג</a:t>
            </a:r>
          </a:p>
          <a:p>
            <a:pPr rtl="1" algn="r" marL="0" indent="0">
              <a:buNone/>
            </a:pPr>
            <a:r>
              <a:rPr sz="1200" lang="he-IL"/>
              <a:t>•  אם אין זמן: Streamlit לא רץ ב־Colab ולא נדרש במעבדות.</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להבין הפרדת שכבות.</a:t>
            </a:r>
          </a:p>
          <a:p>
            <a:pPr rtl="1" algn="r" marL="0" indent="0">
              <a:buNone/>
            </a:pPr>
            <a:r>
              <a:rPr sz="1200" lang="he-IL"/>
              <a:t>•  הציור: ממשק (Streamlit) מדבר HTTP ו-JSON עם ה-API (FastAPI), וה-API מדבר SQL עם הנתונים.</a:t>
            </a:r>
          </a:p>
          <a:p>
            <a:pPr rtl="1" algn="r" marL="0" indent="0">
              <a:buNone/>
            </a:pPr>
            <a:r>
              <a:rPr sz="1200" lang="he-IL"/>
              <a:t>•  החצים דו-כיווניים.</a:t>
            </a:r>
          </a:p>
          <a:p>
            <a:pPr rtl="1" algn="r" marL="0" indent="0">
              <a:buNone/>
            </a:pPr>
            <a:r>
              <a:rPr sz="1200" lang="he-IL"/>
              <a:t>•  המסר המרכזי: הממשק לא נוגע במסד, וה-API הוא השער היחיד.</a:t>
            </a:r>
          </a:p>
          <a:p>
            <a:pPr rtl="1" algn="r" marL="0" indent="0">
              <a:buNone/>
            </a:pPr>
            <a:r>
              <a:rPr sz="1200" lang="he-IL"/>
              <a:t>•  מכאן אפשר להחליף ממשק או מסד בלי לשבור את השאר.</a:t>
            </a:r>
          </a:p>
          <a:p>
            <a:pPr rtl="1" algn="r" marL="0" indent="0">
              <a:buNone/>
            </a:pPr>
            <a:r>
              <a:rPr b="1" sz="1200" lang="he-IL"/>
              <a:t>אנלוגיה</a:t>
            </a:r>
          </a:p>
          <a:p>
            <a:pPr rtl="1" algn="r" marL="0" indent="0">
              <a:buNone/>
            </a:pPr>
            <a:r>
              <a:rPr sz="1200" lang="he-IL"/>
              <a:t>•  מערכת ה-ERP של מפעל: מסוף המחסן, אפליקציית נייד ודוח הנהלה כולם פונים לאותו שירות, ולא כל אחד למסד ישירות; כך שינוי בטבלה לא שובר את כולם.</a:t>
            </a:r>
          </a:p>
          <a:p>
            <a:pPr rtl="1" algn="r" marL="0" indent="0">
              <a:buNone/>
            </a:pPr>
            <a:r>
              <a:rPr b="1" sz="1200" lang="he-IL"/>
              <a:t>שאלה לכיתה</a:t>
            </a:r>
          </a:p>
          <a:p>
            <a:pPr rtl="1" algn="r" marL="0" indent="0">
              <a:buNone/>
            </a:pPr>
            <a:r>
              <a:rPr sz="1200" lang="he-IL"/>
              <a:t>•  מי אחראי לבדוק שהכמות בהזמנה חיובית: הממשק או ה-API?</a:t>
            </a:r>
          </a:p>
          <a:p>
            <a:pPr rtl="1" algn="r" marL="0" indent="0">
              <a:buNone/>
            </a:pPr>
            <a:r>
              <a:rPr b="1" sz="1200" lang="he-IL"/>
              <a:t>תשובה</a:t>
            </a:r>
          </a:p>
          <a:p>
            <a:pPr rtl="1" algn="r" marL="0" indent="0">
              <a:buNone/>
            </a:pPr>
            <a:r>
              <a:rPr sz="1200" lang="he-IL"/>
              <a:t>•  ה-API לפחות, ובכל מקרה גם הוא; לא סומכים רק על הממשק.</a:t>
            </a:r>
          </a:p>
          <a:p>
            <a:pPr rtl="1" algn="r" marL="0" indent="0">
              <a:buNone/>
            </a:pPr>
            <a:r>
              <a:rPr b="1" sz="1200" lang="he-IL"/>
              <a:t>שימו לב</a:t>
            </a:r>
          </a:p>
          <a:p>
            <a:pPr rtl="1" algn="r" marL="0" indent="0">
              <a:buNone/>
            </a:pPr>
            <a:r>
              <a:rPr sz="1200" lang="he-IL"/>
              <a:t>•  כשסוכן מקבל משימה כללית מדי, הוא נוטה לערבב שכבות (למשל לגשת למסד מהממשק).</a:t>
            </a:r>
          </a:p>
          <a:p>
            <a:pPr rtl="1" algn="r" marL="0" indent="0">
              <a:buNone/>
            </a:pPr>
            <a:r>
              <a:rPr sz="1200" lang="he-IL"/>
              <a:t>•  אמרו לו במפורש בבקשה.</a:t>
            </a:r>
          </a:p>
          <a:p>
            <a:pPr rtl="1" algn="r" marL="0" indent="0">
              <a:buNone/>
            </a:pPr>
            <a:r>
              <a:rPr b="1" sz="1200" lang="he-IL"/>
              <a:t>חיבור לשיעורים קודמים</a:t>
            </a:r>
          </a:p>
          <a:p>
            <a:pPr rtl="1" algn="r" marL="0" indent="0">
              <a:buNone/>
            </a:pPr>
            <a:r>
              <a:rPr sz="1200" lang="he-IL"/>
              <a:t>•  שיעור 11 (ארכיטקטורה) יעמיק.</a:t>
            </a:r>
          </a:p>
          <a:p>
            <a:pPr rtl="1" algn="r" marL="0" indent="0">
              <a:buNone/>
            </a:pPr>
            <a:r>
              <a:rPr sz="1200" lang="he-IL"/>
              <a:t>•  מקום בסדר: השקף הועבר לחלק ד׳, מיד לפני מעבדה ג׳, כי שם בודקים בדיוק את הרעיון הזה: e2e_test פונה ל־API ולא למסד.</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מטרה</a:t>
            </a:r>
          </a:p>
          <a:p>
            <a:pPr rtl="1" algn="r" marL="0" indent="0">
              <a:buNone/>
            </a:pPr>
            <a:r>
              <a:rPr sz="1200" lang="he-IL"/>
              <a:t>•  להציג את הרעיון של פיתוח מבוסס מפרט (spec-driven development) בצורה פשוטה.</a:t>
            </a:r>
          </a:p>
          <a:p>
            <a:pPr rtl="1" algn="r" marL="0" indent="0">
              <a:buNone/>
            </a:pPr>
            <a:r>
              <a:rPr sz="1200" lang="he-IL"/>
              <a:t>•  הזרימה, מימין לשמאל: (1) מפרט או חוזה: נקודות קצה, גבולות ושגיאות; (2) בדיקות מהחוזה; (3) הסוכן מממש עד שהכול ירוק; (4) אימות בידיים שלכם.</a:t>
            </a:r>
          </a:p>
          <a:p>
            <a:pPr rtl="1" algn="r" marL="0" indent="0">
              <a:buNone/>
            </a:pPr>
            <a:r>
              <a:rPr b="1" sz="1200" lang="he-IL"/>
              <a:t>מסר מרכזי</a:t>
            </a:r>
          </a:p>
          <a:p>
            <a:pPr rtl="1" algn="r" marL="0" indent="0">
              <a:buNone/>
            </a:pPr>
            <a:r>
              <a:rPr sz="1200" lang="he-IL"/>
              <a:t>•  מתחילים ממה נחשב נכון ולא מקוד.</a:t>
            </a:r>
          </a:p>
          <a:p>
            <a:pPr rtl="1" algn="r" marL="0" indent="0">
              <a:buNone/>
            </a:pPr>
            <a:r>
              <a:rPr sz="1200" lang="he-IL"/>
              <a:t>•  במעבדה ג׳ החוזה של נקודת הקצה שמחזירה פרטי ספק נתון מראש: מבקשים מ-Gemini קוד לפיו, ובודקים אותו עם check_contract ועם בדיקות תוכן.</a:t>
            </a:r>
          </a:p>
          <a:p>
            <a:pPr rtl="1" algn="r" marL="0" indent="0">
              <a:buNone/>
            </a:pPr>
            <a:r>
              <a:rPr b="1" sz="1200" lang="he-IL"/>
              <a:t>אנלוגיה</a:t>
            </a:r>
          </a:p>
          <a:p>
            <a:pPr rtl="1" algn="r" marL="0" indent="0">
              <a:buNone/>
            </a:pPr>
            <a:r>
              <a:rPr sz="1200" lang="he-IL"/>
              <a:t>•  במפעל כותבים מפרט לרכיב לפני שמזמינים אותו, ולא בודקים אחרי שהגיע מה הוא עושה.</a:t>
            </a:r>
          </a:p>
          <a:p>
            <a:pPr rtl="1" algn="r" marL="0" indent="0">
              <a:buNone/>
            </a:pPr>
            <a:r>
              <a:rPr sz="1200" lang="he-IL"/>
              <a:t>•  הבדל חשוב מ-vibe coding: שם מתחילים מבקשה כללית ושופטים את התוצאה לפי תחושה; כאן מגדירים קודם קריטריוני הצלחה.</a:t>
            </a:r>
          </a:p>
          <a:p>
            <a:pPr rtl="1" algn="r" marL="0" indent="0">
              <a:buNone/>
            </a:pPr>
            <a:r>
              <a:rPr b="1" sz="1200" lang="he-IL"/>
              <a:t>שאלה לכיתה</a:t>
            </a:r>
          </a:p>
          <a:p>
            <a:pPr rtl="1" algn="r" marL="0" indent="0">
              <a:buNone/>
            </a:pPr>
            <a:r>
              <a:rPr sz="1200" lang="he-IL"/>
              <a:t>•  מי כותב את הבדיקות, אדם או סוכן?</a:t>
            </a:r>
          </a:p>
          <a:p>
            <a:pPr rtl="1" algn="r" marL="0" indent="0">
              <a:buNone/>
            </a:pPr>
            <a:r>
              <a:rPr b="1" sz="1200" lang="he-IL"/>
              <a:t>תשובה</a:t>
            </a:r>
          </a:p>
          <a:p>
            <a:pPr rtl="1" algn="r" marL="0" indent="0">
              <a:buNone/>
            </a:pPr>
            <a:r>
              <a:rPr sz="1200" lang="he-IL"/>
              <a:t>•  אפשר שהסוכן ישלים, אבל האדם מאשר שהן מייצגות את המפרט.</a:t>
            </a:r>
          </a:p>
          <a:p>
            <a:pPr rtl="1" algn="r" marL="0" indent="0">
              <a:buNone/>
            </a:pPr>
            <a:r>
              <a:rPr b="1" sz="1200" lang="he-IL"/>
              <a:t>חיבור לשיעורים קודמים</a:t>
            </a:r>
          </a:p>
          <a:p>
            <a:pPr rtl="1" algn="r" marL="0" indent="0">
              <a:buNone/>
            </a:pPr>
            <a:r>
              <a:rPr sz="1200" lang="he-IL"/>
              <a:t>•  שיעורים 5 ו-6 (עבודה עם הסוכן ולולאת הסוכן), ושיעור 8 (בדיקות).</a:t>
            </a:r>
          </a:p>
          <a:p>
            <a:pPr rtl="1" algn="r" marL="0" indent="0">
              <a:buNone/>
            </a:pPr>
            <a:r>
              <a:rPr sz="1200" lang="he-IL"/>
              <a:t>•  מקום בסדר: השקף הועבר לפני מעבדה ג׳, כי שם בונים בפועל spec-first בקטן.</a:t>
            </a:r>
          </a:p>
          <a:p>
            <a:pPr rtl="1" algn="r" marL="0" indent="0">
              <a:buNone/>
            </a:pPr>
            <a:r>
              <a:rPr b="1" sz="1200" lang="he-IL"/>
              <a:t>להעמקה</a:t>
            </a:r>
          </a:p>
          <a:p>
            <a:pPr rtl="1" algn="r" marL="0" indent="0">
              <a:buNone/>
            </a:pPr>
            <a:r>
              <a:rPr sz="1200" lang="he-IL"/>
              <a:t>•  שלוש הרמות של spec-driven, כולל ביקורת, בשקף 69 (העשרה), ותבנית מפרט בשקף 68.</a:t>
            </a:r>
          </a:p>
          <a:p>
            <a:pPr rtl="1" algn="r" marL="0" indent="0">
              <a:buNone/>
            </a:pPr>
            <a:r>
              <a:rPr b="1" sz="1200" lang="he-IL"/>
              <a:t>חיבור לשיעורים קודמים</a:t>
            </a:r>
          </a:p>
          <a:p>
            <a:pPr rtl="1" algn="r" marL="0" indent="0">
              <a:buNone/>
            </a:pPr>
            <a:r>
              <a:rPr sz="1200" lang="he-IL"/>
              <a:t>•  לולאת תכנון, פעולה והתבוננות.</a:t>
            </a:r>
          </a:p>
          <a:p>
            <a:pPr rtl="1" algn="r" marL="0" indent="0">
              <a:buNone/>
            </a:pPr>
            <a:r>
              <a:rPr sz="1200" lang="he-IL"/>
              <a:t>•  בזרימה spec-first השלב ״הסוכן מממש עד שהכול ירוק״ הוא הלולאה: הסוכן פועל, מריץ את הבדיקות (התבוננות) ומתקן.</a:t>
            </a:r>
          </a:p>
          <a:p>
            <a:pPr rtl="1" algn="r" marL="0" indent="0">
              <a:buNone/>
            </a:pPr>
            <a:r>
              <a:rPr sz="1200" lang="he-IL"/>
              <a:t>•  והשלב האחרון, האימות בידיים שלכם, הוא הכלל ממפגש 6: מה שהסוכן אומר אינו הוכחה, ולפני שהוא פועל עושים commit.</a:t>
            </a:r>
          </a:p>
          <a:p>
            <a:pPr rtl="1" algn="r" marL="0" indent="0">
              <a:buNone/>
            </a:pPr>
            <a:r>
              <a:rPr b="1" sz="1200" lang="he-IL"/>
              <a:t>שאלת היזכרות</a:t>
            </a:r>
          </a:p>
          <a:p>
            <a:pPr rtl="1" algn="r" marL="0" indent="0">
              <a:buNone/>
            </a:pPr>
            <a:r>
              <a:rPr sz="1200" lang="he-IL"/>
              <a:t>•  מה שלוש התחנות בלולאה של הסוכן?</a:t>
            </a:r>
          </a:p>
          <a:p>
            <a:pPr rtl="1" algn="r" marL="0" indent="0">
              <a:buNone/>
            </a:pPr>
            <a:r>
              <a:rPr b="1" sz="1200" lang="he-IL"/>
              <a:t>תשובה</a:t>
            </a:r>
          </a:p>
          <a:p>
            <a:pPr rtl="1" algn="r" marL="0" indent="0">
              <a:buNone/>
            </a:pPr>
            <a:r>
              <a:rPr sz="1200" lang="he-IL"/>
              <a:t>•  תכנון, פעולה, התבוננות.</a:t>
            </a:r>
          </a:p>
          <a:p>
            <a:pPr rtl="1" algn="r" marL="0" indent="0">
              <a:buNone/>
            </a:pPr>
            <a:r>
              <a:rPr b="1" sz="1200" lang="he-IL"/>
              <a:t>אם הכיתה לא זוכרת</a:t>
            </a:r>
          </a:p>
          <a:p>
            <a:pPr rtl="1" algn="r" marL="0" indent="0">
              <a:buNone/>
            </a:pPr>
            <a:r>
              <a:rPr sz="1200" lang="he-IL"/>
              <a:t>•  ״מתכנן, עושה, ורואה את התוצאה, וחוזר חלילה״, והמשיכו.</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לתת תבנית לכתיבת מפרט לפני שמבקשים מ-AI קוד.</a:t>
            </a:r>
          </a:p>
          <a:p>
            <a:pPr rtl="1" algn="r" marL="0" indent="0">
              <a:buNone/>
            </a:pPr>
            <a:r>
              <a:rPr sz="1200" lang="he-IL"/>
              <a:t>•  שש שורות: מטרה, קלט, פלט, כללים, מקרי קצה וקבלה (מה נחשב נכון, עם מספרים ובדיקות שאפשר להריץ).</a:t>
            </a:r>
          </a:p>
          <a:p>
            <a:pPr rtl="1" algn="r" marL="0" indent="0">
              <a:buNone/>
            </a:pPr>
            <a:r>
              <a:rPr sz="1200" lang="he-IL"/>
              <a:t>•  הדגימו על דוגמה מהקורס: התראת הזמנה מחדש.</a:t>
            </a:r>
          </a:p>
          <a:p>
            <a:pPr rtl="1" algn="r" marL="0" indent="0">
              <a:buNone/>
            </a:pPr>
            <a:r>
              <a:rPr sz="1200" lang="he-IL"/>
              <a:t>•  להתריע על מוצרים שהמלאי שלהם נמוך מנקודת ההזמנה.</a:t>
            </a:r>
          </a:p>
          <a:p>
            <a:pPr rtl="1" algn="r" marL="0" indent="0">
              <a:buNone/>
            </a:pPr>
            <a:r>
              <a:rPr sz="1200" lang="he-IL"/>
              <a:t>•  קלט: הזמנות, מוצרים, ספקים ומלאי.</a:t>
            </a:r>
          </a:p>
          <a:p>
            <a:pPr rtl="1" algn="r" marL="0" indent="0">
              <a:buNone/>
            </a:pPr>
            <a:r>
              <a:rPr sz="1200" lang="he-IL"/>
              <a:t>•  פלט: טבלה ממוינת לפי הפער.</a:t>
            </a:r>
          </a:p>
          <a:p>
            <a:pPr rtl="1" algn="r" marL="0" indent="0">
              <a:buNone/>
            </a:pPr>
            <a:r>
              <a:rPr sz="1200" lang="he-IL"/>
              <a:t>•  כללים: נקודת הזמנה מחדש היא ביקוש יומי כפול זמן אספקה (בימים), ועוד מלאי ביטחון של 3 ימים.</a:t>
            </a:r>
          </a:p>
          <a:p>
            <a:pPr rtl="1" algn="r" marL="0" indent="0">
              <a:buNone/>
            </a:pPr>
            <a:r>
              <a:rPr sz="1200" lang="he-IL"/>
              <a:t>•  מקרה קצה: מוצר בלי מכירות.</a:t>
            </a:r>
          </a:p>
          <a:p>
            <a:pPr rtl="1" algn="r" marL="0" indent="0">
              <a:buNone/>
            </a:pPr>
            <a:r>
              <a:rPr sz="1200" lang="he-IL"/>
              <a:t>•  קבלה: 57 התראות מתוך 200 מוצרים, לפי קובץ התשובות של מעבדת הנתונים.</a:t>
            </a:r>
          </a:p>
          <a:p>
            <a:pPr rtl="1" algn="r" marL="0" indent="0">
              <a:buNone/>
            </a:pPr>
            <a:r>
              <a:rPr b="1" sz="1200" lang="he-IL"/>
              <a:t>מסר מרכזי</a:t>
            </a:r>
          </a:p>
          <a:p>
            <a:pPr rtl="1" algn="r" marL="0" indent="0">
              <a:buNone/>
            </a:pPr>
            <a:r>
              <a:rPr sz="1200" lang="he-IL"/>
              <a:t>•  מפרט שאי אפשר לבדוק הוא משאלה.</a:t>
            </a:r>
          </a:p>
          <a:p>
            <a:pPr rtl="1" algn="r" marL="0" indent="0">
              <a:buNone/>
            </a:pPr>
            <a:r>
              <a:rPr sz="1200" lang="he-IL"/>
              <a:t>•  מומלץ שהסטודנטים ישתמשו בתבנית בפרויקט הקבוצתי.</a:t>
            </a:r>
          </a:p>
          <a:p>
            <a:pPr rtl="1" algn="r" marL="0" indent="0">
              <a:buNone/>
            </a:pPr>
            <a:r>
              <a:rPr b="1" sz="1200" lang="he-IL"/>
              <a:t>מתי לדלג</a:t>
            </a:r>
          </a:p>
          <a:p>
            <a:pPr rtl="1" algn="r" marL="0" indent="0">
              <a:buNone/>
            </a:pPr>
            <a:r>
              <a:rPr sz="1200" lang="he-IL"/>
              <a:t>•  זו תבנית לפרויקט: משאירים לקריאה בבית.</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12 דקות.</a:t>
            </a:r>
          </a:p>
          <a:p>
            <a:pPr rtl="1" algn="r" marL="0" indent="0">
              <a:buNone/>
            </a:pPr>
            <a:r>
              <a:rPr b="1" sz="1200" lang="he-IL"/>
              <a:t>מה אומרים</a:t>
            </a:r>
          </a:p>
          <a:p>
            <a:pPr rtl="1" algn="r" marL="0" indent="0">
              <a:buNone/>
            </a:pPr>
            <a:r>
              <a:rPr sz="1200" lang="he-IL"/>
              <a:t>•  מעבדה ב׳, 12 דקות, בזוגות, חלק ב׳ במחברת HM_07.</a:t>
            </a:r>
          </a:p>
          <a:p>
            <a:pPr rtl="1" algn="r" marL="0" indent="0">
              <a:buNone/>
            </a:pPr>
            <a:r>
              <a:rPr sz="1200" lang="he-IL"/>
              <a:t>•  אחרי ההסבר על סכמה, SQL ו־JOIN הסטודנטים שואלים מסד SQLite אמיתי (בזיכרון) עם נתוני החנות: 8 ספקים, 200 מוצרים ו־3,000 הזמנות.</a:t>
            </a:r>
          </a:p>
          <a:p>
            <a:pPr rtl="1" algn="r" marL="0" indent="0">
              <a:buNone/>
            </a:pPr>
            <a:r>
              <a:rPr sz="1200" lang="he-IL"/>
              <a:t>•  הסכמה והנתונים נטענים בתא ההכנה, והפונקציה run_sql מריצה שאילתה ומחזירה טבלה.</a:t>
            </a:r>
          </a:p>
          <a:p>
            <a:pPr rtl="1" algn="r" marL="0" indent="0">
              <a:buNone/>
            </a:pPr>
            <a:r>
              <a:rPr sz="1200" lang="he-IL"/>
              <a:t>•  שלבי המחברת: שלב 1, q_slow_suppliers (שלושת הספקים הכי פחות דייקנים); שלב 2, q_category_revenue (JOIN ו־GROUP BY: הכנסה לכל קטגוריה); שלב 3, q_top_products (LIMIT ?</a:t>
            </a:r>
          </a:p>
          <a:p>
            <a:pPr rtl="1" algn="r" marL="0" indent="0">
              <a:buNone/>
            </a:pPr>
            <a:r>
              <a:rPr sz="1200" lang="he-IL"/>
              <a:t>•  עם N כפרמטר); שלב 4, join_multiplies (JOIN שמכפיל שורות, והשפעתו על סכום); שלב 5, find_products_safe (הערך עובר ב־?</a:t>
            </a:r>
          </a:p>
          <a:p>
            <a:pPr rtl="1" algn="r" marL="0" indent="0">
              <a:buNone/>
            </a:pPr>
            <a:r>
              <a:rPr sz="1200" lang="he-IL"/>
              <a:t>•  ולא בהדבקה, וזה ההגנה מפני SQL injection).</a:t>
            </a:r>
          </a:p>
          <a:p>
            <a:pPr rtl="1" algn="r" marL="0" indent="0">
              <a:buNone/>
            </a:pPr>
            <a:r>
              <a:rPr sz="1200" lang="he-IL"/>
              <a:t>•  כל פונקציה מחזירה טקסט שאילתה או תוצאה, ותא הבדיקה מדפיס ✓ או הודעה מכוונת.</a:t>
            </a:r>
          </a:p>
          <a:p>
            <a:pPr rtl="1" algn="r" marL="0" indent="0">
              <a:buNone/>
            </a:pPr>
            <a:r>
              <a:rPr sz="1200" lang="he-IL"/>
              <a:t>•  מה מוצג על המקרן ולא במחברת: ממשק Streamlit והשירות המלא; בלעדיהם אין כאן ממשק, רק SQL ובדיקות.</a:t>
            </a:r>
          </a:p>
          <a:p>
            <a:pPr rtl="1" algn="r" marL="0" indent="0">
              <a:buNone/>
            </a:pPr>
            <a:r>
              <a:rPr sz="1200" lang="he-IL"/>
              <a:t>•  אם הזמן קצר: לדלג על שלב 5 ולהעביר אותו לבית.</a:t>
            </a:r>
          </a:p>
          <a:p>
            <a:pPr rtl="1" algn="r" marL="0" indent="0">
              <a:buNone/>
            </a:pPr>
            <a:r>
              <a:rPr b="1" sz="1200" lang="he-IL"/>
              <a:t>הכנה לפני השיעור</a:t>
            </a:r>
          </a:p>
          <a:p>
            <a:pPr rtl="1" algn="r" marL="0" indent="0">
              <a:buNone/>
            </a:pPr>
            <a:r>
              <a:rPr sz="1200" lang="he-IL"/>
              <a:t>•  לוודא שהקישור (ה־QR, מקום שמור) מוביל לאותה מחברת HM_07, ולהריץ Run all על הפתרון.</a:t>
            </a:r>
          </a:p>
          <a:p>
            <a:pPr rtl="1" algn="r" marL="0" indent="0">
              <a:buNone/>
            </a:pPr>
            <a:r>
              <a:rPr sz="1200" lang="he-IL"/>
              <a:t>•  מי שמסיים מוקדם: הבונוס בסוף המחברת (שאילתה של הזמנות לפי חודש).</a:t>
            </a:r>
          </a:p>
          <a:p>
            <a:pPr rtl="1" algn="r" marL="0" indent="0">
              <a:buNone/>
            </a:pPr>
            <a:r>
              <a:rPr b="1" sz="1200" lang="he-IL"/>
              <a:t>למה עושים את זה</a:t>
            </a:r>
          </a:p>
          <a:p>
            <a:pPr rtl="1" algn="r" marL="0" indent="0">
              <a:buNone/>
            </a:pPr>
            <a:r>
              <a:rPr sz="1200" lang="he-IL"/>
              <a:t>•  ה־AI כותב SQL שנראה נכון ורץ, ולכן צריך לדעת לקרוא אותו ולבדוק אותו.</a:t>
            </a:r>
          </a:p>
          <a:p>
            <a:pPr rtl="1" algn="r" marL="0" indent="0">
              <a:buNone/>
            </a:pPr>
            <a:r>
              <a:rPr sz="1200" lang="he-IL"/>
              <a:t>•  החיבור לתיאוריה: q_slow_suppliers, q_category_revenue ו־q_top_products ← שקפים 23-24; join_multiplies ← שקפים 25-27; find_products_safe ← שקף 28.</a:t>
            </a:r>
          </a:p>
          <a:p>
            <a:pPr rtl="1" algn="r" marL="0" indent="0">
              <a:buNone/>
            </a:pPr>
            <a:r>
              <a:rPr b="1" sz="1200" lang="he-IL"/>
              <a:t>שימו לב</a:t>
            </a:r>
          </a:p>
          <a:p>
            <a:pPr rtl="1" algn="r" marL="0" indent="0">
              <a:buNone/>
            </a:pPr>
            <a:r>
              <a:rPr sz="1200" lang="he-IL"/>
              <a:t>•  join_multiplies בודקת רק גידול במספר השורות, וקיטון (אובדן שורות ב־INNER JOIN) מוסבר בהעשרה, שקף 71.</a:t>
            </a:r>
          </a:p>
          <a:p>
            <a:pPr rtl="1" algn="r" marL="0" indent="0">
              <a:buNone/>
            </a:pPr>
            <a:r>
              <a:rPr b="1" sz="1200" lang="he-IL"/>
              <a:t>חיבור לשיעורים קודמים</a:t>
            </a:r>
          </a:p>
          <a:p>
            <a:pPr rtl="1" algn="r" marL="0" indent="0">
              <a:buNone/>
            </a:pPr>
            <a:r>
              <a:rPr sz="1200" lang="he-IL"/>
              <a:t>•  q_top_products היא משימת העוגן ממפגש 5 (המוצרים עם ההכנסה הגבוהה ביותר), הפעם ב־SQL, ו־Plant Pot Plus עם 33,595.62 הוא הידוע מראש שמולו בודקים; ספירת שורות לפני ואחרי JOIN היא בדיקה מול ידוע, כמו במפגש 5.</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להוסיף לטבלת השיטות שתי תכונות שהתקן מגדיר ושקובעות מתי מותר לשלוח בקשה שוב: בטוח (safe) ואידמפוטנטי (idempotent).</a:t>
            </a:r>
          </a:p>
          <a:p>
            <a:pPr rtl="1" algn="r" marL="0" indent="0">
              <a:buNone/>
            </a:pPr>
            <a:r>
              <a:rPr sz="1200" lang="he-IL"/>
              <a:t>•  הגדרות לפי RFC 9110 (IETF, 2022): סעיף 9.2.1, השיטות GET, HEAD, OPTIONS ו־TRACE הן בטוחות; סעיף 9.2.2, שיטה אידמפוטנטית היא כזו שההשפעה המיועדת על השרת של כמה בקשות זהות זהה להשפעה של בקשה אחת, ו־PUT, DELETE וכל השיטות הבטוחות הן כאלה.</a:t>
            </a:r>
          </a:p>
          <a:p>
            <a:pPr rtl="1" algn="r" marL="0" indent="0">
              <a:buNone/>
            </a:pPr>
            <a:r>
              <a:rPr sz="1200" lang="he-IL"/>
              <a:t>•  POST אינה מוגדרת כאידמפוטנטית.</a:t>
            </a:r>
          </a:p>
          <a:p>
            <a:pPr rtl="1" algn="r" marL="0" indent="0">
              <a:buNone/>
            </a:pPr>
            <a:r>
              <a:rPr sz="1200" lang="he-IL"/>
              <a:t>•  הבהרה חשובה: אידמפוטנטיות מדברת על ההשפעה ולא על התשובה.</a:t>
            </a:r>
          </a:p>
          <a:p>
            <a:pPr rtl="1" algn="r" marL="0" indent="0">
              <a:buNone/>
            </a:pPr>
            <a:r>
              <a:rPr sz="1200" lang="he-IL"/>
              <a:t>•  DELETE שני עשוי להחזיר 404, אבל המצב בשרת זהה.</a:t>
            </a:r>
          </a:p>
          <a:p>
            <a:pPr rtl="1" algn="r" marL="0" indent="0">
              <a:buNone/>
            </a:pPr>
            <a:r>
              <a:rPr sz="1200" lang="he-IL"/>
              <a:t>•  למה זה חשוב: כשהרשת נופלת באמצע, הלקוח לא יודע אם הבקשה הגיעה.</a:t>
            </a:r>
          </a:p>
          <a:p>
            <a:pPr rtl="1" algn="r" marL="0" indent="0">
              <a:buNone/>
            </a:pPr>
            <a:r>
              <a:rPr sz="1200" lang="he-IL"/>
              <a:t>•  בשיטה אידמפוטנטית מותר לשלוח שוב; ב־POST שיוצר הזמנה, שליחה כפולה עלולה ליצור שתי הזמנות.</a:t>
            </a:r>
          </a:p>
          <a:p>
            <a:pPr rtl="1" algn="r" marL="0" indent="0">
              <a:buNone/>
            </a:pPr>
            <a:r>
              <a:rPr sz="1200" lang="he-IL"/>
              <a:t>•  פתרון נפוץ הוא מפתח ייחודי שהלקוח מצרף לבקשה (בספקי תשלומים נפוצה כותרת Idempotency-Key).</a:t>
            </a:r>
          </a:p>
          <a:p>
            <a:pPr rtl="1" algn="r" marL="0" indent="0">
              <a:buNone/>
            </a:pPr>
            <a:r>
              <a:rPr sz="1200" lang="he-IL"/>
              <a:t>•  קיימת לה טיוטת IETF של קבוצת httpapi, והיא אינה תקן, ויש לאמת את מצבה לפני השיעור.</a:t>
            </a:r>
          </a:p>
          <a:p>
            <a:pPr rtl="1" algn="r" marL="0" indent="0">
              <a:buNone/>
            </a:pPr>
            <a:r>
              <a:rPr b="1" sz="1200" lang="he-IL"/>
              <a:t>קישור למעבדה</a:t>
            </a:r>
          </a:p>
          <a:p>
            <a:pPr rtl="1" algn="r" marL="0" indent="0">
              <a:buNone/>
            </a:pPr>
            <a:r>
              <a:rPr sz="1200" lang="he-IL"/>
              <a:t>•  submit_job במחברת (חלק ה׳, לבית) מחזירה מספר משימה; לקוח ששולח אותה פעמיים מקבל שתי משימות, וזו בדיוק בעיית הכפילות.</a:t>
            </a:r>
          </a:p>
          <a:p>
            <a:pPr rtl="1" algn="r" marL="0" indent="0">
              <a:buNone/>
            </a:pPr>
            <a:r>
              <a:rPr sz="1200" lang="he-IL"/>
              <a:t>•  קישור לשקף 80 על משימות אידמפוטנטיות ב־Celery.</a:t>
            </a:r>
          </a:p>
          <a:p>
            <a:pPr rtl="1" algn="r" marL="0" indent="0">
              <a:buNone/>
            </a:pPr>
            <a:r>
              <a:rPr b="1" sz="1200" lang="he-IL"/>
              <a:t>שאלה לכיתה</a:t>
            </a:r>
          </a:p>
          <a:p>
            <a:pPr rtl="1" algn="r" marL="0" indent="0">
              <a:buNone/>
            </a:pPr>
            <a:r>
              <a:rPr sz="1200" lang="he-IL"/>
              <a:t>•  האם GET /jobs/7 בטוחה?</a:t>
            </a:r>
          </a:p>
          <a:p>
            <a:pPr rtl="1" algn="r" marL="0" indent="0">
              <a:buNone/>
            </a:pPr>
            <a:r>
              <a:rPr b="1" sz="1200" lang="he-IL"/>
              <a:t>תשובה</a:t>
            </a:r>
          </a:p>
          <a:p>
            <a:pPr rtl="1" algn="r" marL="0" indent="0">
              <a:buNone/>
            </a:pPr>
            <a:r>
              <a:rPr sz="1200" lang="he-IL"/>
              <a:t>•  כן, היא רק קוראת.</a:t>
            </a:r>
          </a:p>
          <a:p>
            <a:pPr rtl="1" algn="r" marL="0" indent="0">
              <a:buNone/>
            </a:pPr>
            <a:r>
              <a:rPr sz="1200" lang="he-IL"/>
              <a:t>•  ואם הייתה גם מעדכנת סטטוס?</a:t>
            </a:r>
          </a:p>
          <a:p>
            <a:pPr rtl="1" algn="r" marL="0" indent="0">
              <a:buNone/>
            </a:pPr>
            <a:r>
              <a:rPr sz="1200" lang="he-IL"/>
              <a:t>•  אז הפרה את ההגדרה, וזו טעות שקורית בקוד ש־AI כתב.</a:t>
            </a:r>
          </a:p>
          <a:p>
            <a:pPr rtl="1" algn="r" marL="0" indent="0">
              <a:buNone/>
            </a:pPr>
            <a:r>
              <a:rPr b="1" sz="1200" lang="he-IL"/>
              <a:t>מתי לדלג</a:t>
            </a:r>
          </a:p>
          <a:p>
            <a:pPr rtl="1" algn="r" marL="0" indent="0">
              <a:buNone/>
            </a:pPr>
            <a:r>
              <a:rPr sz="1200" lang="he-IL"/>
              <a:t>•  אם אין זמן, מספיק משפט אחד: GET בטוח, POST לא, ולכן POST לא שולחים שוב באוטומט.</a:t>
            </a:r>
          </a:p>
          <a:p>
            <a:pPr rtl="1" algn="r" marL="0" indent="0">
              <a:buNone/>
            </a:pPr>
            <a:r>
              <a:rPr b="1" sz="1200" lang="he-IL"/>
              <a:t>מקורות</a:t>
            </a:r>
          </a:p>
          <a:p>
            <a:pPr rtl="1" algn="r" marL="0" indent="0">
              <a:buNone/>
            </a:pPr>
            <a:r>
              <a:rPr sz="1200" lang="he-IL"/>
              <a:t>•  IETF, RFC 9110 סעיפים 9.2.1 ו־9.2.2.</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כ־0.5 דקה.</a:t>
            </a:r>
          </a:p>
          <a:p>
            <a:pPr rtl="1" algn="r" marL="0" indent="0">
              <a:buNone/>
            </a:pPr>
            <a:r>
              <a:rPr b="1" sz="1200" lang="he-IL"/>
              <a:t>מטרה</a:t>
            </a:r>
          </a:p>
          <a:p>
            <a:pPr rtl="1" algn="r" marL="0" indent="0">
              <a:buNone/>
            </a:pPr>
            <a:r>
              <a:rPr sz="1200" lang="he-IL"/>
              <a:t>•  להראות איפה נמצא החומר להעמקה ואיך משתמשים בו.</a:t>
            </a:r>
          </a:p>
          <a:p>
            <a:pPr rtl="1" algn="r" marL="0" indent="0">
              <a:buNone/>
            </a:pPr>
            <a:r>
              <a:rPr sz="1200" lang="he-IL"/>
              <a:t>•  כל מה שבמקטע הזה (שקפים 56 עד 82) אינו חלק מהליבה של 90 הדקות, ומסומן בתג סגול ״העשרה״ בפינה.</a:t>
            </a:r>
          </a:p>
          <a:p>
            <a:pPr rtl="1" algn="r" marL="0" indent="0">
              <a:buNone/>
            </a:pPr>
            <a:r>
              <a:rPr sz="1200" lang="he-IL"/>
              <a:t>•  המקטע מחולק לשישה מודולים, כל אחד מרחיב נושא שנלמד בליבה: (1) HTTP ו־API חיצוני: מרחיב את חלק א׳ ואת חלק ז׳ במחברת</a:t>
            </a:r>
          </a:p>
          <a:p>
            <a:pPr rtl="1" algn="r" marL="0" indent="0">
              <a:buNone/>
            </a:pPr>
            <a:r>
              <a:rPr sz="1200" lang="he-IL"/>
              <a:t>•  (2) חוזים ו־spec-driven: מרחיב את בדיקות החוזה ואת הרעיון של spec-first</a:t>
            </a:r>
          </a:p>
          <a:p>
            <a:pPr rtl="1" algn="r" marL="0" indent="0">
              <a:buNone/>
            </a:pPr>
            <a:r>
              <a:rPr sz="1200" lang="he-IL"/>
              <a:t>•  (3) SQL לעומק: מרחיב את הסכמה וה־JOIN</a:t>
            </a:r>
          </a:p>
          <a:p>
            <a:pPr rtl="1" algn="r" marL="0" indent="0">
              <a:buNone/>
            </a:pPr>
            <a:r>
              <a:rPr sz="1200" lang="he-IL"/>
              <a:t>•  (4) ארכיטקטורה: מבנה השירות המלא</a:t>
            </a:r>
          </a:p>
          <a:p>
            <a:pPr rtl="1" algn="r" marL="0" indent="0">
              <a:buNone/>
            </a:pPr>
            <a:r>
              <a:rPr sz="1200" lang="he-IL"/>
              <a:t>•  (5) Kubernetes: מרחיב את שקף ״מה מתי״</a:t>
            </a:r>
          </a:p>
          <a:p>
            <a:pPr rtl="1" algn="r" marL="0" indent="0">
              <a:buNone/>
            </a:pPr>
            <a:r>
              <a:rPr sz="1200" lang="he-IL"/>
              <a:t>•  (6) תור ו־LLM: מרחיב את חלק ד׳.</a:t>
            </a:r>
          </a:p>
          <a:p>
            <a:pPr rtl="1" algn="r" marL="0" indent="0">
              <a:buNone/>
            </a:pPr>
            <a:r>
              <a:rPr sz="1200" lang="he-IL"/>
              <a:t>•  הזמנים בטבלה הם לכל המודול אם עוברים על כל השקפים שלו.</a:t>
            </a:r>
          </a:p>
          <a:p>
            <a:pPr rtl="1" algn="r" marL="0" indent="0">
              <a:buNone/>
            </a:pPr>
            <a:r>
              <a:rPr sz="1200" lang="he-IL"/>
              <a:t>•  כיצד משתמשים: בכיתה, אם הליבה הסתיימה מוקדם ונשארו עד 10 דקות, בחרו מודול אחד לפי עניין הכיתה (המלצה: מודול 1, או מודול 2 כשיש סטודנטים שכבר עובדים עם API).</a:t>
            </a:r>
          </a:p>
          <a:p>
            <a:pPr rtl="1" algn="r" marL="0" indent="0">
              <a:buNone/>
            </a:pPr>
            <a:r>
              <a:rPr sz="1200" lang="he-IL"/>
              <a:t>•  אם הליבה התארכה, מדלגים על כל המקטע: מקלידים את מספר השקף 86 ו־Enter במצב הצגה.</a:t>
            </a:r>
          </a:p>
          <a:p>
            <a:pPr rtl="1" algn="r" marL="0" indent="0">
              <a:buNone/>
            </a:pPr>
            <a:r>
              <a:rPr sz="1200" lang="he-IL"/>
              <a:t>•  כהעשרה לבית: מודולים 3 ו־6 תומכים ישירות בחלקים ב׳ וה׳ של המחברת.</a:t>
            </a:r>
          </a:p>
          <a:p>
            <a:pPr rtl="1" algn="r" marL="0" indent="0">
              <a:buNone/>
            </a:pPr>
            <a:r>
              <a:rPr sz="1200" lang="he-IL"/>
              <a:t>•  שני שקפי המקורות בסוף המקטע מכילים רק מקורות שנבדקו בפועל (פתיחת הדף או חיפוש) באוקטובר 2026.</a:t>
            </a:r>
          </a:p>
          <a:p>
            <a:pPr rtl="1" algn="r" marL="0" indent="0">
              <a:buNone/>
            </a:pPr>
            <a:r>
              <a:rPr sz="1200" lang="he-IL"/>
              <a:t>•  עקרון: ליבה היא מה שהמעבדות והחידון מניחים; העשרה היא מה שמעמיק, משווה לגישות אחרות או מציג מחקר.</a:t>
            </a:r>
          </a:p>
          <a:p>
            <a:pPr rtl="1" algn="r" marL="0" indent="0">
              <a:buNone/>
            </a:pPr>
            <a:r>
              <a:rPr b="1" sz="1200" lang="he-IL"/>
              <a:t>שאלה לכיתה</a:t>
            </a:r>
          </a:p>
          <a:p>
            <a:pPr rtl="1" algn="r" marL="0" indent="0">
              <a:buNone/>
            </a:pPr>
            <a:r>
              <a:rPr sz="1200" lang="he-IL"/>
              <a:t>•  איזה מודול הכי רלוונטי לפרויקט שלכם, ולמה?</a:t>
            </a:r>
          </a:p>
          <a:p>
            <a:pPr rtl="1" algn="r" marL="0" indent="0">
              <a:buNone/>
            </a:pPr>
            <a:r>
              <a:rPr sz="1200" lang="he-IL"/>
              <a:t>•  זו דרך לגרום להם לתעדף בעצמם, בדיוק כמו תקציב זמן בפרויקט.</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 דקה, ממש לפני מעבדה ב׳ (שלב 5).</a:t>
            </a:r>
          </a:p>
          <a:p>
            <a:pPr rtl="1" algn="r" marL="0" indent="0">
              <a:buNone/>
            </a:pPr>
            <a:r>
              <a:rPr b="1" sz="1200" lang="he-IL"/>
              <a:t>מטרה</a:t>
            </a:r>
          </a:p>
          <a:p>
            <a:pPr rtl="1" algn="r" marL="0" indent="0">
              <a:buNone/>
            </a:pPr>
            <a:r>
              <a:rPr sz="1200" lang="he-IL"/>
              <a:t>•  להסביר במנגנון, ולא רק ככלל, למה הסימן ?</a:t>
            </a:r>
          </a:p>
          <a:p>
            <a:pPr rtl="1" algn="r" marL="0" indent="0">
              <a:buNone/>
            </a:pPr>
            <a:r>
              <a:rPr sz="1200" lang="he-IL"/>
              <a:t>•  מונע הזרקת SQL, כי המעבדה (שלב 5) וצעד ה־AI במעבדה ג׳ בודקים בדיוק את זה.</a:t>
            </a:r>
          </a:p>
          <a:p>
            <a:pPr rtl="1" algn="r" marL="0" indent="0">
              <a:buNone/>
            </a:pPr>
            <a:r>
              <a:rPr sz="1200" lang="he-IL"/>
              <a:t>•  הגדרה: הזרקת SQL (SQL injection) היא מצב שבו קלט של משתמש משנה את המבנה של השאילתה ולא רק את הערך שלה.</a:t>
            </a:r>
          </a:p>
          <a:p>
            <a:pPr rtl="1" algn="r" marL="0" indent="0">
              <a:buNone/>
            </a:pPr>
            <a:r>
              <a:rPr sz="1200" lang="he-IL"/>
              <a:t>•  מנגנון: כשבונים שאילתה בהדבקת טקסט (f־string), המסד מקבל מחרוזת אחת ומפענח אותה כולה, כולל גרש וה־OR ששתל המשתמש; לכן התנאי הופך ל־true לכל שורה.</a:t>
            </a:r>
          </a:p>
          <a:p>
            <a:pPr rtl="1" algn="r" marL="0" indent="0">
              <a:buNone/>
            </a:pPr>
            <a:r>
              <a:rPr sz="1200" lang="he-IL"/>
              <a:t>•  כשמשתמשים בסימן ?</a:t>
            </a:r>
          </a:p>
          <a:p>
            <a:pPr rtl="1" algn="r" marL="0" indent="0">
              <a:buNone/>
            </a:pPr>
            <a:r>
              <a:rPr sz="1200" lang="he-IL"/>
              <a:t>•  (placeholder), המסד מקבל את נוסח השאילתה בנפרד מהערכים, והערך תמיד מטופל כנתון ולא כחלק מהקוד.</a:t>
            </a:r>
          </a:p>
          <a:p>
            <a:pPr rtl="1" algn="r" marL="0" indent="0">
              <a:buNone/>
            </a:pPr>
            <a:r>
              <a:rPr sz="1200" lang="he-IL"/>
              <a:t>•  במחברת: השם הזדוני מחזיר 200 שורות עם f־string ואפס שורות עם ?.</a:t>
            </a:r>
          </a:p>
          <a:p>
            <a:pPr rtl="1" algn="r" marL="0" indent="0">
              <a:buNone/>
            </a:pPr>
            <a:r>
              <a:rPr b="1" sz="1200" lang="he-IL"/>
              <a:t>מקורות</a:t>
            </a:r>
          </a:p>
          <a:p>
            <a:pPr rtl="1" algn="r" marL="0" indent="0">
              <a:buNone/>
            </a:pPr>
            <a:r>
              <a:rPr sz="1200" lang="he-IL"/>
              <a:t>•  תיעוד Python (sqlite3, ״How to use placeholders to bind values in SQL queries״) קובע: אל תרכיבו שאילתות בפעולות מחרוזת, כי הן חשופות להזרקה, והשתמשו בהחלפת פרמטרים</a:t>
            </a:r>
          </a:p>
          <a:p>
            <a:pPr rtl="1" algn="r" marL="0" indent="0">
              <a:buNone/>
            </a:pPr>
            <a:r>
              <a:rPr sz="1200" lang="he-IL"/>
              <a:t>•  OWASP SQL Injection Prevention Cheat Sheet מונה שאילתות מוכנות עם פרמטרים כהגנה הראשונה.</a:t>
            </a:r>
          </a:p>
          <a:p>
            <a:pPr rtl="1" algn="r" marL="0" indent="0">
              <a:buNone/>
            </a:pPr>
            <a:r>
              <a:rPr sz="1200" lang="he-IL"/>
              <a:t>•  גבולות (מה ?</a:t>
            </a:r>
          </a:p>
          <a:p>
            <a:pPr rtl="1" algn="r" marL="0" indent="0">
              <a:buNone/>
            </a:pPr>
            <a:r>
              <a:rPr sz="1200" lang="he-IL"/>
              <a:t>•  לא פותר): אפשר להעביר ב־?</a:t>
            </a:r>
          </a:p>
          <a:p>
            <a:pPr rtl="1" algn="r" marL="0" indent="0">
              <a:buNone/>
            </a:pPr>
            <a:r>
              <a:rPr sz="1200" lang="he-IL"/>
              <a:t>•  רק ערכים, לא שמות טבלאות או עמודות ולא כיוון מיון; לשם כך משתמשים ברשימה מותרת (allow-list) של שמות.</a:t>
            </a:r>
          </a:p>
          <a:p>
            <a:pPr rtl="1" algn="r" marL="0" indent="0">
              <a:buNone/>
            </a:pPr>
            <a:r>
              <a:rPr sz="1200" lang="he-IL"/>
              <a:t>•  כלומר ?</a:t>
            </a:r>
          </a:p>
          <a:p>
            <a:pPr rtl="1" algn="r" marL="0" indent="0">
              <a:buNone/>
            </a:pPr>
            <a:r>
              <a:rPr sz="1200" lang="he-IL"/>
              <a:t>•  הכרחי אך לא מספיק כהגנה כוללת.</a:t>
            </a:r>
          </a:p>
          <a:p>
            <a:pPr rtl="1" algn="r" marL="0" indent="0">
              <a:buNone/>
            </a:pPr>
            <a:r>
              <a:rPr b="1" sz="1200" lang="he-IL"/>
              <a:t>טעות נפוצה</a:t>
            </a:r>
          </a:p>
          <a:p>
            <a:pPr rtl="1" algn="r" marL="0" indent="0">
              <a:buNone/>
            </a:pPr>
            <a:r>
              <a:rPr sz="1200" lang="he-IL"/>
              <a:t>•  ״אני מנקה את הגרשיים בעצמי״; OWASP מגדיר escaping כגישה שאינה מומלצת.</a:t>
            </a:r>
          </a:p>
          <a:p>
            <a:pPr rtl="1" algn="r" marL="0" indent="0">
              <a:buNone/>
            </a:pPr>
            <a:r>
              <a:rPr b="1" sz="1200" lang="he-IL"/>
              <a:t>שאלה לכיתה</a:t>
            </a:r>
          </a:p>
          <a:p>
            <a:pPr rtl="1" algn="r" marL="0" indent="0">
              <a:buNone/>
            </a:pPr>
            <a:r>
              <a:rPr sz="1200" lang="he-IL"/>
              <a:t>•  סוכן AI כתב לכם נקודת קצה שמחפשת מוצר לפי שם, והיא עובדת.</a:t>
            </a:r>
          </a:p>
          <a:p>
            <a:pPr rtl="1" algn="r" marL="0" indent="0">
              <a:buNone/>
            </a:pPr>
            <a:r>
              <a:rPr sz="1200" lang="he-IL"/>
              <a:t>•  מה בודקים?</a:t>
            </a:r>
          </a:p>
          <a:p>
            <a:pPr rtl="1" algn="r" marL="0" indent="0">
              <a:buNone/>
            </a:pPr>
            <a:r>
              <a:rPr b="1" sz="1200" lang="he-IL"/>
              <a:t>תשובה</a:t>
            </a:r>
          </a:p>
          <a:p>
            <a:pPr rtl="1" algn="r" marL="0" indent="0">
              <a:buNone/>
            </a:pPr>
            <a:r>
              <a:rPr sz="1200" lang="he-IL"/>
              <a:t>•  אם בנויה בהדבקת טקסט; מנסים שם עם גרש.</a:t>
            </a:r>
          </a:p>
          <a:p>
            <a:pPr rtl="1" algn="r" marL="0" indent="0">
              <a:buNone/>
            </a:pPr>
            <a:r>
              <a:rPr b="1" sz="1200" lang="he-IL"/>
              <a:t>חיבור לשיעורים קודמים</a:t>
            </a:r>
          </a:p>
          <a:p>
            <a:pPr rtl="1" algn="r" marL="0" indent="0">
              <a:buNone/>
            </a:pPr>
            <a:r>
              <a:rPr sz="1200" lang="he-IL"/>
              <a:t>•  שיעור 10 (אבטחה) ירחיב.</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 דקה.</a:t>
            </a:r>
          </a:p>
          <a:p>
            <a:pPr rtl="1" algn="r" marL="0" indent="0">
              <a:buNone/>
            </a:pPr>
            <a:r>
              <a:rPr b="1" sz="1200" lang="he-IL"/>
              <a:t>מטרה</a:t>
            </a:r>
          </a:p>
          <a:p>
            <a:pPr rtl="1" algn="r" marL="0" indent="0">
              <a:buNone/>
            </a:pPr>
            <a:r>
              <a:rPr sz="1200" lang="he-IL"/>
              <a:t>•  להפוך את ״הספרה הראשונה אומרת הכול״ לכלל פעולה, כי זה בדיוק מה שהפונקציה status_family במעבדה א׳ (שלב 1ב) מממשת: code // 100.</a:t>
            </a:r>
          </a:p>
          <a:p>
            <a:pPr rtl="1" algn="r" marL="0" indent="0">
              <a:buNone/>
            </a:pPr>
            <a:r>
              <a:rPr sz="1200" lang="he-IL"/>
              <a:t>•  הגדרה מדויקת, לפי RFC 9110 (IETF, 2022), סעיף 15: הספרה הראשונה של קוד הסטטוס מגדירה את משפחת התגובה, יש חמש משפחות (1xx מידע, 2xx הצלחה, 3xx הפניה, 4xx שגיאת לקוח, 5xx שגיאת שרת), ולקוח חייב להבין את המשפחה גם כשהוא לא מכיר את הקוד המדויק: קוד לא מוכר מטופל כמו x00 של אותה משפחה.</a:t>
            </a:r>
          </a:p>
          <a:p>
            <a:pPr rtl="1" algn="r" marL="0" indent="0">
              <a:buNone/>
            </a:pPr>
            <a:r>
              <a:rPr sz="1200" lang="he-IL"/>
              <a:t>•  כלומר, תוכנה שקיבלה 418 שהיא לא מכירה צריכה להתנהג כמו ל־400.</a:t>
            </a:r>
          </a:p>
          <a:p>
            <a:pPr rtl="1" algn="r" marL="0" indent="0">
              <a:buNone/>
            </a:pPr>
            <a:r>
              <a:rPr b="1" sz="1200" lang="he-IL"/>
              <a:t>להעמקה</a:t>
            </a:r>
          </a:p>
          <a:p>
            <a:pPr rtl="1" algn="r" marL="0" indent="0">
              <a:buNone/>
            </a:pPr>
            <a:r>
              <a:rPr sz="1200" lang="he-IL"/>
              <a:t>•  המשמעות של המשפחות היא עובדה מהתקן.</a:t>
            </a:r>
          </a:p>
          <a:p>
            <a:pPr rtl="1" algn="r" marL="0" indent="0">
              <a:buNone/>
            </a:pPr>
            <a:r>
              <a:rPr sz="1200" lang="he-IL"/>
              <a:t>•  הכלל ״על 4xx לא שולחים שוב את אותה בקשה, על 5xx אולי מנסים מאוחר יותר״ הוא המלצת פרקטיקה סבירה ולא חוק: יש 4xx שכן כדאי לנסות שוב אחרי המתנה (429, ולפעמים 408), ויש 5xx שאין טעם לנסות שוב (שגיאת תכנות שחוזרת בכל פעם).</a:t>
            </a:r>
          </a:p>
          <a:p>
            <a:pPr rtl="1" algn="r" marL="0" indent="0">
              <a:buNone/>
            </a:pPr>
            <a:r>
              <a:rPr sz="1200" lang="he-IL"/>
              <a:t>•  3xx: בקוד 301 השרת שולח כותרת Location עם הכתובת החדשה (סעיף 15.4.2); ספריות כמו requests עוקבות אחריה אוטומטית, ולכן הכתובת הישנה של שער החליפין (api.frankfurter.app) ״עובדת״ בלי שהקוד מרגיש.</a:t>
            </a:r>
          </a:p>
          <a:p>
            <a:pPr rtl="1" algn="r" marL="0" indent="0">
              <a:buNone/>
            </a:pPr>
            <a:r>
              <a:rPr sz="1200" lang="he-IL"/>
              <a:t>•  1xx (למשל 100 Continue) נדיר בעבודה יומיומית ואפשר לדלג.</a:t>
            </a:r>
          </a:p>
          <a:p>
            <a:pPr rtl="1" algn="r" marL="0" indent="0">
              <a:buNone/>
            </a:pPr>
            <a:r>
              <a:rPr sz="1200" lang="he-IL"/>
              <a:t>•  דוגמה: מנהל רכש שולח הזמנה עם כמות 0 וקיבל 422; שליחה חוזרת זהה תיכשל שוב.</a:t>
            </a:r>
          </a:p>
          <a:p>
            <a:pPr rtl="1" algn="r" marL="0" indent="0">
              <a:buNone/>
            </a:pPr>
            <a:r>
              <a:rPr sz="1200" lang="he-IL"/>
              <a:t>•  אבל אם הוא קיבל 500 בגלל תקלה בשרת, ניסיון חוזר אחרי כמה דקות עשוי להצליח.</a:t>
            </a:r>
          </a:p>
          <a:p>
            <a:pPr rtl="1" algn="r" marL="0" indent="0">
              <a:buNone/>
            </a:pPr>
            <a:r>
              <a:rPr b="1" sz="1200" lang="he-IL"/>
              <a:t>שאלה לכיתה</a:t>
            </a:r>
          </a:p>
          <a:p>
            <a:pPr rtl="1" algn="r" marL="0" indent="0">
              <a:buNone/>
            </a:pPr>
            <a:r>
              <a:rPr sz="1200" lang="he-IL"/>
              <a:t>•  מה צריך לעשות כשמקבלים 429?</a:t>
            </a:r>
          </a:p>
          <a:p>
            <a:pPr rtl="1" algn="r" marL="0" indent="0">
              <a:buNone/>
            </a:pPr>
            <a:r>
              <a:rPr b="1" sz="1200" lang="he-IL"/>
              <a:t>תשובה</a:t>
            </a:r>
          </a:p>
          <a:p>
            <a:pPr rtl="1" algn="r" marL="0" indent="0">
              <a:buNone/>
            </a:pPr>
            <a:r>
              <a:rPr sz="1200" lang="he-IL"/>
              <a:t>•  לחכות (לפעמים הכותרת Retry-After אומרת כמה) ולנסות שוב, ולא ללופ שמפציץ.</a:t>
            </a:r>
          </a:p>
          <a:p>
            <a:pPr rtl="1" algn="r" marL="0" indent="0">
              <a:buNone/>
            </a:pPr>
            <a:r>
              <a:rPr b="1" sz="1200" lang="he-IL"/>
              <a:t>טעות נפוצה</a:t>
            </a:r>
          </a:p>
          <a:p>
            <a:pPr rtl="1" algn="r" marL="0" indent="0">
              <a:buNone/>
            </a:pPr>
            <a:r>
              <a:rPr sz="1200" lang="he-IL"/>
              <a:t>•  להתייחס לכל קוד שאינו 200 כ״שגיאה אחת״ ולנסות שוב בלי להבין מי אשם.</a:t>
            </a:r>
          </a:p>
          <a:p>
            <a:pPr rtl="1" algn="r" marL="0" indent="0">
              <a:buNone/>
            </a:pPr>
            <a:r>
              <a:rPr b="1" sz="1200" lang="he-IL"/>
              <a:t>מקורות</a:t>
            </a:r>
          </a:p>
          <a:p>
            <a:pPr rtl="1" algn="r" marL="0" indent="0">
              <a:buNone/>
            </a:pPr>
            <a:r>
              <a:rPr sz="1200" lang="he-IL"/>
              <a:t>•  IETF, RFC 9110 סעיף 15; RFC 6585 (429).</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כ־0.6 דקות.</a:t>
            </a:r>
          </a:p>
          <a:p>
            <a:pPr rtl="1" algn="r" marL="0" indent="0">
              <a:buNone/>
            </a:pPr>
            <a:r>
              <a:rPr b="1" sz="1200" lang="he-IL"/>
              <a:t>מה אומרים</a:t>
            </a:r>
          </a:p>
          <a:p>
            <a:pPr rtl="1" algn="r" marL="0" indent="0">
              <a:buNone/>
            </a:pPr>
            <a:r>
              <a:rPr sz="1200" lang="he-IL"/>
              <a:t>•  חלק ג׳, 7 דקות בסך הכול (שקפים 33-40), כשהשקף האופציונלי (שקף 36) וזוג השאלה והתשובה (38-39) מדולגים.</a:t>
            </a:r>
          </a:p>
          <a:p>
            <a:pPr rtl="1" algn="r" marL="0" indent="0">
              <a:buNone/>
            </a:pPr>
            <a:r>
              <a:rPr b="1" sz="1200" lang="he-IL"/>
              <a:t>מטרה</a:t>
            </a:r>
          </a:p>
          <a:p>
            <a:pPr rtl="1" algn="r" marL="0" indent="0">
              <a:buNone/>
            </a:pPr>
            <a:r>
              <a:rPr sz="1200" lang="he-IL"/>
              <a:t>•  להציג את הבעיה ש-Docker פותר.</a:t>
            </a:r>
          </a:p>
          <a:p>
            <a:pPr rtl="1" algn="r" marL="0" indent="0">
              <a:buNone/>
            </a:pPr>
            <a:r>
              <a:rPr sz="1200" lang="he-IL"/>
              <a:t>•  הציור: שלושה מחשבים.</a:t>
            </a:r>
          </a:p>
          <a:p>
            <a:pPr rtl="1" algn="r" marL="0" indent="0">
              <a:buNone/>
            </a:pPr>
            <a:r>
              <a:rPr sz="1200" lang="he-IL"/>
              <a:t>•  אצלי: Python 3.11 ו-pandas 2.2, הכול עובד.</a:t>
            </a:r>
          </a:p>
          <a:p>
            <a:pPr rtl="1" algn="r" marL="0" indent="0">
              <a:buNone/>
            </a:pPr>
            <a:r>
              <a:rPr sz="1200" lang="he-IL"/>
              <a:t>•  אצל חבר: Python 3.8 ו-pandas 1.5, ויש שגיאות.</a:t>
            </a:r>
          </a:p>
          <a:p>
            <a:pPr rtl="1" algn="r" marL="0" indent="0">
              <a:buNone/>
            </a:pPr>
            <a:r>
              <a:rPr sz="1200" lang="he-IL"/>
              <a:t>•  בשרת בענן: אין Python בכלל והגדרות אחרות, והשירות לא עולה.</a:t>
            </a:r>
          </a:p>
          <a:p>
            <a:pPr rtl="1" algn="r" marL="0" indent="0">
              <a:buNone/>
            </a:pPr>
            <a:r>
              <a:rPr sz="1200" lang="he-IL"/>
              <a:t>•  זה המצב שכולם מכירים מ-אצלי זה עובד.</a:t>
            </a:r>
          </a:p>
          <a:p>
            <a:pPr rtl="1" algn="r" marL="0" indent="0">
              <a:buNone/>
            </a:pPr>
            <a:r>
              <a:rPr b="1" sz="1200" lang="he-IL"/>
              <a:t>שאלה לכיתה</a:t>
            </a:r>
          </a:p>
          <a:p>
            <a:pPr rtl="1" algn="r" marL="0" indent="0">
              <a:buNone/>
            </a:pPr>
            <a:r>
              <a:rPr sz="1200" lang="he-IL"/>
              <a:t>•  מי נתקל בפרויקט בזה שהקוד עבד אצל אחד ולא אצל האחר?</a:t>
            </a:r>
          </a:p>
          <a:p>
            <a:pPr rtl="1" algn="r" marL="0" indent="0">
              <a:buNone/>
            </a:pPr>
            <a:r>
              <a:rPr sz="1200" lang="he-IL"/>
              <a:t>•  ודאי שרבים.</a:t>
            </a:r>
          </a:p>
          <a:p>
            <a:pPr rtl="1" algn="r" marL="0" indent="0">
              <a:buNone/>
            </a:pPr>
            <a:r>
              <a:rPr sz="1200" lang="he-IL"/>
              <a:t>•  הפתרון בשורה התחתונה: לארוז את הקוד יחד עם הסביבה שלו.</a:t>
            </a:r>
          </a:p>
          <a:p>
            <a:pPr rtl="1" algn="r" marL="0" indent="0">
              <a:buNone/>
            </a:pPr>
            <a:r>
              <a:rPr b="1" sz="1200" lang="he-IL"/>
              <a:t>אנלוגיה</a:t>
            </a:r>
          </a:p>
          <a:p>
            <a:pPr rtl="1" algn="r" marL="0" indent="0">
              <a:buNone/>
            </a:pPr>
            <a:r>
              <a:rPr sz="1200" lang="he-IL"/>
              <a:t>•  במפעל, מכונה שעובדת רק עם מפעיל מסוים והגדרות מסוימות אינה שיטה אמינה; לכן יש נוהל עבודה כתוב.</a:t>
            </a:r>
          </a:p>
          <a:p>
            <a:pPr rtl="1" algn="r" marL="0" indent="0">
              <a:buNone/>
            </a:pPr>
            <a:r>
              <a:rPr b="1" sz="1200" lang="he-IL"/>
              <a:t>שימו לב</a:t>
            </a:r>
          </a:p>
          <a:p>
            <a:pPr rtl="1" algn="r" marL="0" indent="0">
              <a:buNone/>
            </a:pPr>
            <a:r>
              <a:rPr sz="1200" lang="he-IL"/>
              <a:t>•  הגרסאות בשקף הן דוגמה להמחשה.</a:t>
            </a:r>
          </a:p>
          <a:p>
            <a:pPr rtl="1" algn="r" marL="0" indent="0">
              <a:buNone/>
            </a:pPr>
            <a:r>
              <a:rPr b="1" sz="1200" lang="he-IL"/>
              <a:t>חיבור לשיעורים קודמים</a:t>
            </a:r>
          </a:p>
          <a:p>
            <a:pPr rtl="1" algn="r" marL="0" indent="0">
              <a:buNone/>
            </a:pPr>
            <a:r>
              <a:rPr sz="1200" lang="he-IL"/>
              <a:t>•  בשיעור 9 נדבג תקלות סביבה, ובשיעור 11 נדבר על פריסה.</a:t>
            </a:r>
          </a:p>
          <a:p>
            <a:pPr rtl="1" algn="r" marL="0" indent="0">
              <a:buNone/>
            </a:pPr>
            <a:r>
              <a:rPr sz="1200" lang="he-IL"/>
              <a:t>•  במחברת HM_07, חלק ו׳ (לבית), קוראים בקוד את ה-Dockerfile, ה-compose וה-k8s של השירות ובודקים אותם; Docker עצמו לא רץ ב-Colab, ולכן הוא מוצג על המקרן.</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כ־0.9 דקות.</a:t>
            </a:r>
          </a:p>
          <a:p>
            <a:pPr rtl="1" algn="r" marL="0" indent="0">
              <a:buNone/>
            </a:pPr>
            <a:r>
              <a:rPr b="1" sz="1200" lang="he-IL"/>
              <a:t>מטרה</a:t>
            </a:r>
          </a:p>
          <a:p>
            <a:pPr rtl="1" algn="r" marL="0" indent="0">
              <a:buNone/>
            </a:pPr>
            <a:r>
              <a:rPr sz="1200" lang="he-IL"/>
              <a:t>•  להסביר Docker במשפט אחד: אריזה של הקוד עם הסביבה שלו, שרצה אותו דבר בכל מקום.</a:t>
            </a:r>
          </a:p>
          <a:p>
            <a:pPr rtl="1" algn="r" marL="0" indent="0">
              <a:buNone/>
            </a:pPr>
            <a:r>
              <a:rPr sz="1200" lang="he-IL"/>
              <a:t>•  שלושה כרטיסים, מימין לשמאל: אריזה אחת (קוד, ספריות, גרסת Python והגדרות ביחד); רץ אותו דבר בכל מקום (לפטופ, שרת וענן); קל ומהיר (מתחיל בשניות, וחולק את מערכת ההפעלה של המארח).</a:t>
            </a:r>
          </a:p>
          <a:p>
            <a:pPr rtl="1" algn="r" marL="0" indent="0">
              <a:buNone/>
            </a:pPr>
            <a:r>
              <a:rPr sz="1200" lang="he-IL"/>
              <a:t>•  אנלוגיה בתחתית: מכולת משא.</a:t>
            </a:r>
          </a:p>
          <a:p>
            <a:pPr rtl="1" algn="r" marL="0" indent="0">
              <a:buNone/>
            </a:pPr>
            <a:r>
              <a:rPr sz="1200" lang="he-IL"/>
              <a:t>•  הכול בפנים, והספינה לא צריכה להכיר את התוכן.</a:t>
            </a:r>
          </a:p>
          <a:p>
            <a:pPr rtl="1" algn="r" marL="0" indent="0">
              <a:buNone/>
            </a:pPr>
            <a:r>
              <a:rPr sz="1200" lang="he-IL"/>
              <a:t>•  זה ההסבר הכי עוזר לסטודנטים בלי רקע.</a:t>
            </a:r>
          </a:p>
          <a:p>
            <a:pPr rtl="1" algn="r" marL="0" indent="0">
              <a:buNone/>
            </a:pPr>
            <a:r>
              <a:rPr sz="1200" lang="he-IL"/>
              <a:t>•  נקודה לדיוק: קונטיינר איננו מחשב נוסף, אלא תהליך מבודד שרץ על אותו מחשב.</a:t>
            </a:r>
          </a:p>
          <a:p>
            <a:pPr rtl="1" algn="r" marL="0" indent="0">
              <a:buNone/>
            </a:pPr>
            <a:r>
              <a:rPr b="1" sz="1200" lang="he-IL"/>
              <a:t>שאלה לכיתה</a:t>
            </a:r>
          </a:p>
          <a:p>
            <a:pPr rtl="1" algn="r" marL="0" indent="0">
              <a:buNone/>
            </a:pPr>
            <a:r>
              <a:rPr sz="1200" lang="he-IL"/>
              <a:t>•  מה היתרון בכך שהסביבה כלולה באריזה?</a:t>
            </a:r>
          </a:p>
          <a:p>
            <a:pPr rtl="1" algn="r" marL="0" indent="0">
              <a:buNone/>
            </a:pPr>
            <a:r>
              <a:rPr b="1" sz="1200" lang="he-IL"/>
              <a:t>תשובה</a:t>
            </a:r>
          </a:p>
          <a:p>
            <a:pPr rtl="1" algn="r" marL="0" indent="0">
              <a:buNone/>
            </a:pPr>
            <a:r>
              <a:rPr sz="1200" lang="he-IL"/>
              <a:t>•  מי שמריץ לא צריך להתקין שום דבר חוץ מ-Docker, והתוצאה זהה.</a:t>
            </a:r>
          </a:p>
          <a:p>
            <a:pPr rtl="1" algn="r" marL="0" indent="0">
              <a:buNone/>
            </a:pPr>
            <a:r>
              <a:rPr sz="1200" lang="he-IL"/>
              <a:t>•  מה לא נאמר כאן: Docker אינו פותר באגים בקוד, רק בעיות סביבה.</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מטרה</a:t>
            </a:r>
          </a:p>
          <a:p>
            <a:pPr rtl="1" algn="r" marL="0" indent="0">
              <a:buNone/>
            </a:pPr>
            <a:r>
              <a:rPr sz="1200" lang="he-IL"/>
              <a:t>•  להבין את ההבדל המרכזי בין Docker למכונה וירטואלית (VM).</a:t>
            </a:r>
          </a:p>
          <a:p>
            <a:pPr rtl="1" algn="r" marL="0" indent="0">
              <a:buNone/>
            </a:pPr>
            <a:r>
              <a:rPr sz="1200" lang="he-IL"/>
              <a:t>•  שקף שנשאל בחידון.</a:t>
            </a:r>
          </a:p>
          <a:p>
            <a:pPr rtl="1" algn="r" marL="0" indent="0">
              <a:buNone/>
            </a:pPr>
            <a:r>
              <a:rPr sz="1200" lang="he-IL"/>
              <a:t>•  בצד ימין מכונה וירטואלית: חומרה, מערכת הפעלה של המארח, Hypervisor, ועל כל אפליקציה מערכת הפעלה אורחת שלמה, וספריות.</a:t>
            </a:r>
          </a:p>
          <a:p>
            <a:pPr rtl="1" algn="r" marL="0" indent="0">
              <a:buNone/>
            </a:pPr>
            <a:r>
              <a:rPr sz="1200" lang="he-IL"/>
              <a:t>•  בצד שמאל קונטיינרים: חומרה, מערכת הפעלה של המארח (גרעין משותף), Docker Engine, ועל כל אפליקציה הספריות שלה בלבד.</a:t>
            </a:r>
          </a:p>
          <a:p>
            <a:pPr rtl="1" algn="r" marL="0" indent="0">
              <a:buNone/>
            </a:pPr>
            <a:r>
              <a:rPr sz="1200" lang="he-IL"/>
              <a:t>•  ההבדל: ב-VM כל אפליקציה סוחבת מערכת הפעלה שלמה; בקונטיינרים כולם חולקים את הגרעין של המארח.</a:t>
            </a:r>
          </a:p>
          <a:p>
            <a:pPr rtl="1" algn="r" marL="0" indent="0">
              <a:buNone/>
            </a:pPr>
            <a:r>
              <a:rPr sz="1200" lang="he-IL"/>
              <a:t>•  מכאן הטבלה: גודל (גיגה-בייטים מול עשרות עד מאות מגה), הפעלה (דקות מול שניות), בידוד (חזק מול קל יותר).</a:t>
            </a:r>
          </a:p>
          <a:p>
            <a:pPr rtl="1" algn="r" marL="0" indent="0">
              <a:buNone/>
            </a:pPr>
            <a:r>
              <a:rPr sz="1200" lang="he-IL"/>
              <a:t>•  הערכים הם סדרי גודל טיפוסיים, לא מדידה מדויקת.</a:t>
            </a:r>
          </a:p>
          <a:p>
            <a:pPr rtl="1" algn="r" marL="0" indent="0">
              <a:buNone/>
            </a:pPr>
            <a:r>
              <a:rPr b="1" sz="1200" lang="he-IL"/>
              <a:t>אנלוגיה</a:t>
            </a:r>
          </a:p>
          <a:p>
            <a:pPr rtl="1" algn="r" marL="0" indent="0">
              <a:buNone/>
            </a:pPr>
            <a:r>
              <a:rPr sz="1200" lang="he-IL"/>
              <a:t>•  VM הוא בניין נפרד לכל דייר; קונטיינר הוא דירה בבניין משותף.</a:t>
            </a:r>
          </a:p>
          <a:p>
            <a:pPr rtl="1" algn="r" marL="0" indent="0">
              <a:buNone/>
            </a:pPr>
            <a:r>
              <a:rPr sz="1200" lang="he-IL"/>
              <a:t>•  הערה לדיוק: Docker Desktop על Mac ו-Windows מריץ מאחורי הקלעים מכונה וירטואלית קלה של לינוקס.</a:t>
            </a:r>
          </a:p>
          <a:p>
            <a:pPr rtl="1" algn="r" marL="0" indent="0">
              <a:buNone/>
            </a:pPr>
            <a:r>
              <a:rPr b="1" sz="1200" lang="he-IL"/>
              <a:t>שאלה לכיתה</a:t>
            </a:r>
          </a:p>
          <a:p>
            <a:pPr rtl="1" algn="r" marL="0" indent="0">
              <a:buNone/>
            </a:pPr>
            <a:r>
              <a:rPr sz="1200" lang="he-IL"/>
              <a:t>•  מה המחיר של גרעין משותף?</a:t>
            </a:r>
          </a:p>
          <a:p>
            <a:pPr rtl="1" algn="r" marL="0" indent="0">
              <a:buNone/>
            </a:pPr>
            <a:r>
              <a:rPr b="1" sz="1200" lang="he-IL"/>
              <a:t>תשובה</a:t>
            </a:r>
          </a:p>
          <a:p>
            <a:pPr rtl="1" algn="r" marL="0" indent="0">
              <a:buNone/>
            </a:pPr>
            <a:r>
              <a:rPr sz="1200" lang="he-IL"/>
              <a:t>•  בידוד חלש יותר.</a:t>
            </a:r>
          </a:p>
          <a:p>
            <a:pPr rtl="1" algn="r" marL="0" indent="0">
              <a:buNone/>
            </a:pPr>
            <a:r>
              <a:rPr b="1" sz="1200" lang="he-IL"/>
              <a:t>מקורות</a:t>
            </a:r>
          </a:p>
          <a:p>
            <a:pPr rtl="1" algn="r" marL="0" indent="0">
              <a:buNone/>
            </a:pPr>
            <a:r>
              <a:rPr sz="1200" lang="he-IL"/>
              <a:t>•  תיעוד Docker (״What is a container?״): קונטיינר הוא תהליך מבודד, וקונטיינרים חולקים את אותו גרעין, בעוד VM מריצה מערכת הפעלה עם גרעין משלה.</a:t>
            </a:r>
          </a:p>
          <a:p>
            <a:pPr rtl="1" algn="r" marL="0" indent="0">
              <a:buNone/>
            </a:pPr>
            <a:r>
              <a:rPr sz="1200" lang="he-IL"/>
              <a:t>•  תיעוד Docker Desktop מציין שב־Mac וב־Windows הקונטיינרים רצים בתוך מכונה וירטואלית של לינוקס.</a:t>
            </a:r>
          </a:p>
          <a:p>
            <a:pPr rtl="1" algn="r" marL="0" indent="0">
              <a:buNone/>
            </a:pPr>
            <a:r>
              <a:rPr sz="1200" lang="he-IL"/>
              <a:t>•  הערכים בטבלה (גודל והפעלה) הם סדרי גודל טיפוסיים ולא מדידה.</a:t>
            </a:r>
          </a:p>
          <a:p>
            <a:pPr rtl="1" algn="r" marL="0" indent="0">
              <a:buNone/>
            </a:pPr>
            <a:r>
              <a:rPr b="1" sz="1200" lang="he-IL"/>
              <a:t>להעמקה</a:t>
            </a:r>
          </a:p>
          <a:p>
            <a:pPr rtl="1" algn="r" marL="0" indent="0">
              <a:buNone/>
            </a:pPr>
            <a:r>
              <a:rPr sz="1200" lang="he-IL"/>
              <a:t>•  חולקים גרעין = עובדה; ״בידוד חלש יותר״ = ההשלכה, ונשמעת כאן כהמלצה לזהירות בסביבות רגישות.</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 כ־1.2 דקות.</a:t>
            </a:r>
          </a:p>
          <a:p>
            <a:pPr rtl="1" algn="r" marL="0" indent="0">
              <a:buNone/>
            </a:pPr>
            <a:r>
              <a:rPr b="1" sz="1200" lang="he-IL"/>
              <a:t>מטרה</a:t>
            </a:r>
          </a:p>
          <a:p>
            <a:pPr rtl="1" algn="r" marL="0" indent="0">
              <a:buNone/>
            </a:pPr>
            <a:r>
              <a:rPr sz="1200" lang="he-IL"/>
              <a:t>•  להכיר את המושגים הבסיסיים ואת מחזור העבודה.</a:t>
            </a:r>
          </a:p>
          <a:p>
            <a:pPr rtl="1" algn="r" marL="0" indent="0">
              <a:buNone/>
            </a:pPr>
            <a:r>
              <a:rPr sz="1200" lang="he-IL"/>
              <a:t>•  בשורה העליונה, מימין לשמאל: Dockerfile הוא המתכון; docker build יוצר Image, תבנית קריאה בלבד; docker run מפעיל ממנה Container, מופע שרץ.</a:t>
            </a:r>
          </a:p>
          <a:p>
            <a:pPr rtl="1" algn="r" marL="0" indent="0">
              <a:buNone/>
            </a:pPr>
            <a:r>
              <a:rPr b="1" sz="1200" lang="he-IL"/>
              <a:t>אנלוגיה</a:t>
            </a:r>
          </a:p>
          <a:p>
            <a:pPr rtl="1" algn="r" marL="0" indent="0">
              <a:buNone/>
            </a:pPr>
            <a:r>
              <a:rPr sz="1200" lang="he-IL"/>
              <a:t>•  מתכון, תבנית עוגה, עוגה.</a:t>
            </a:r>
          </a:p>
          <a:p>
            <a:pPr rtl="1" algn="r" marL="0" indent="0">
              <a:buNone/>
            </a:pPr>
            <a:r>
              <a:rPr sz="1200" lang="he-IL"/>
              <a:t>•  אפשר להפעיל מאותה תמונה הרבה קונטיינרים.</a:t>
            </a:r>
          </a:p>
          <a:p>
            <a:pPr rtl="1" algn="r" marL="0" indent="0">
              <a:buNone/>
            </a:pPr>
            <a:r>
              <a:rPr sz="1200" lang="he-IL"/>
              <a:t>•  מתחת: Registry (כמו Docker Hub) הוא מאגר שמשתפים בו תמונות עם docker pull ו-docker push; והלקוח docker מבקש ושירות ברקע (dockerd) מבצע.</a:t>
            </a:r>
          </a:p>
          <a:p>
            <a:pPr rtl="1" algn="r" marL="0" indent="0">
              <a:buNone/>
            </a:pPr>
            <a:r>
              <a:rPr sz="1200" lang="he-IL"/>
              <a:t>•  בשורה התחתונה שלוש יכולות של לינוקס שעליהן Docker נשען: Layers, שכבות שאפשר לשתף ולשמור במטמון; Namespaces, בידוד כך שכל קונטיינר רואה תהליכים וקבצים משלו; cgroups, הגבלת זיכרון ו-CPU.</a:t>
            </a:r>
          </a:p>
          <a:p>
            <a:pPr rtl="1" algn="r" marL="0" indent="0">
              <a:buNone/>
            </a:pPr>
            <a:r>
              <a:rPr sz="1200" lang="he-IL"/>
              <a:t>•  מספיק להסביר ברמת הכרה.</a:t>
            </a:r>
          </a:p>
          <a:p>
            <a:pPr rtl="1" algn="r" marL="0" indent="0">
              <a:buNone/>
            </a:pPr>
            <a:r>
              <a:rPr b="1" sz="1200" lang="he-IL"/>
              <a:t>שאלה לכיתה</a:t>
            </a:r>
          </a:p>
          <a:p>
            <a:pPr rtl="1" algn="r" marL="0" indent="0">
              <a:buNone/>
            </a:pPr>
            <a:r>
              <a:rPr sz="1200" lang="he-IL"/>
              <a:t>•  מה ההבדל בין Image ל-Container?</a:t>
            </a:r>
          </a:p>
          <a:p>
            <a:pPr rtl="1" algn="r" marL="0" indent="0">
              <a:buNone/>
            </a:pPr>
            <a:r>
              <a:rPr b="1" sz="1200" lang="he-IL"/>
              <a:t>תשובה</a:t>
            </a:r>
          </a:p>
          <a:p>
            <a:pPr rtl="1" algn="r" marL="0" indent="0">
              <a:buNone/>
            </a:pPr>
            <a:r>
              <a:rPr sz="1200" lang="he-IL"/>
              <a:t>•  Image הוא תבנית, Container הוא מופע שרץ שנוצר ממנה.</a:t>
            </a:r>
          </a:p>
          <a:p>
            <a:pPr rtl="1" algn="r" marL="0" indent="0">
              <a:buNone/>
            </a:pPr>
            <a:r>
              <a:rPr b="1" sz="1200" lang="he-IL"/>
              <a:t>מתי לדלג</a:t>
            </a:r>
          </a:p>
          <a:p>
            <a:pPr rtl="1" algn="r" marL="0" indent="0">
              <a:buNone/>
            </a:pPr>
            <a:r>
              <a:rPr sz="1200" lang="he-IL"/>
              <a:t>•  אם מפגרים, ובדרך כלל כדי לפנות את שתי הדקות לחיבור למפגשים הקודמים בפתיחה.</a:t>
            </a:r>
          </a:p>
          <a:p>
            <a:pPr rtl="1" algn="r" marL="0" indent="0">
              <a:buNone/>
            </a:pPr>
            <a:r>
              <a:rPr sz="1200" lang="he-IL"/>
              <a:t>•  אמרו במשפט אחד: Dockerfile הוא המתכון, Image הוא תבנית לקריאה בלבד ו־Container הוא מופע שרץ ממנה; השקף הבא (Dockerfile שורה אחר שורה) מובן גם בלי הציור.</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מטרה</a:t>
            </a:r>
          </a:p>
          <a:p>
            <a:pPr rtl="1" algn="r" marL="0" indent="0">
              <a:buNone/>
            </a:pPr>
            <a:r>
              <a:rPr sz="1200" lang="he-IL"/>
              <a:t>•  לקרוא Dockerfile אמיתי, של השירות המלא, שורה אחרי שורה (גם במחברת, בחלק ו׳ לבית).</a:t>
            </a:r>
          </a:p>
          <a:p>
            <a:pPr rtl="1" algn="r" marL="0" indent="0">
              <a:buNone/>
            </a:pPr>
            <a:r>
              <a:rPr sz="1200" lang="he-IL"/>
              <a:t>•  FROM python:3.11-slim: תמונת בסיס עם Python.</a:t>
            </a:r>
          </a:p>
          <a:p>
            <a:pPr rtl="1" algn="r" marL="0" indent="0">
              <a:buNone/>
            </a:pPr>
            <a:r>
              <a:rPr sz="1200" lang="he-IL"/>
              <a:t>•  WORKDIR /srv: תיקיית העבודה בפנים.</a:t>
            </a:r>
          </a:p>
          <a:p>
            <a:pPr rtl="1" algn="r" marL="0" indent="0">
              <a:buNone/>
            </a:pPr>
            <a:r>
              <a:rPr sz="1200" lang="he-IL"/>
              <a:t>•  COPY requirements.txt ואז RUN pip install: מעתיקים את רשימת התלויות ומתקינים.</a:t>
            </a:r>
          </a:p>
          <a:p>
            <a:pPr rtl="1" algn="r" marL="0" indent="0">
              <a:buNone/>
            </a:pPr>
            <a:r>
              <a:rPr sz="1200" lang="he-IL"/>
              <a:t>•  COPY . .: מעתיקים את הקוד.</a:t>
            </a:r>
          </a:p>
          <a:p>
            <a:pPr rtl="1" algn="r" marL="0" indent="0">
              <a:buNone/>
            </a:pPr>
            <a:r>
              <a:rPr sz="1200" lang="he-IL"/>
              <a:t>•  EXPOSE 8000 מצהיר על הפורט, ו-CMD קובע מה רץ כשהקונטיינר מתחיל: uvicorn על 0.0.0.0, כדי שיהיה נגיש מחוץ לקונטיינר.</a:t>
            </a:r>
          </a:p>
          <a:p>
            <a:pPr rtl="1" algn="r" marL="0" indent="0">
              <a:buNone/>
            </a:pPr>
            <a:r>
              <a:rPr sz="1200" lang="he-IL"/>
              <a:t>•  הכלל בתחתית: כל שורה היא שכבה, וסדר השורות קובע כמה מהר בונים מחדש.</a:t>
            </a:r>
          </a:p>
          <a:p>
            <a:pPr rtl="1" algn="r" marL="0" indent="0">
              <a:buNone/>
            </a:pPr>
            <a:r>
              <a:rPr sz="1200" lang="he-IL"/>
              <a:t>•  מעתיקים את requirements לפני הקוד כדי שכשמשנים רק קוד, שכבת ההתקנה נשמרת במטמון ואין צורך להתקין שוב.</a:t>
            </a:r>
          </a:p>
          <a:p>
            <a:pPr rtl="1" algn="r" marL="0" indent="0">
              <a:buNone/>
            </a:pPr>
            <a:r>
              <a:rPr b="1" sz="1200" lang="he-IL"/>
              <a:t>שימו לב</a:t>
            </a:r>
          </a:p>
          <a:p>
            <a:pPr rtl="1" algn="r" marL="0" indent="0">
              <a:buNone/>
            </a:pPr>
            <a:r>
              <a:rPr sz="1200" lang="he-IL"/>
              <a:t>•  אותה תמונה משמשת את ה-API, העובד והממשק; הפקודה קובעת מה רץ.</a:t>
            </a:r>
          </a:p>
          <a:p>
            <a:pPr rtl="1" algn="r" marL="0" indent="0">
              <a:buNone/>
            </a:pPr>
            <a:r>
              <a:rPr b="1" sz="1200" lang="he-IL"/>
              <a:t>שאלה לכיתה</a:t>
            </a:r>
          </a:p>
          <a:p>
            <a:pPr rtl="1" algn="r" marL="0" indent="0">
              <a:buNone/>
            </a:pPr>
            <a:r>
              <a:rPr sz="1200" lang="he-IL"/>
              <a:t>•  מה ישתנה אם נעתיק את כל הקוד לפני pip install?</a:t>
            </a:r>
          </a:p>
          <a:p>
            <a:pPr rtl="1" algn="r" marL="0" indent="0">
              <a:buNone/>
            </a:pPr>
            <a:r>
              <a:rPr b="1" sz="1200" lang="he-IL"/>
              <a:t>תשובה</a:t>
            </a:r>
          </a:p>
          <a:p>
            <a:pPr rtl="1" algn="r" marL="0" indent="0">
              <a:buNone/>
            </a:pPr>
            <a:r>
              <a:rPr sz="1200" lang="he-IL"/>
              <a:t>•  כל שינוי קטן בקוד יאלץ התקנה מחדש וייאט את הבנייה.</a:t>
            </a:r>
          </a:p>
          <a:p>
            <a:pPr rtl="1" algn="r" marL="0" indent="0">
              <a:buNone/>
            </a:pPr>
            <a:r>
              <a:rPr b="1" sz="1200" lang="he-IL"/>
              <a:t>מקורות</a:t>
            </a:r>
          </a:p>
          <a:p>
            <a:pPr rtl="1" algn="r" marL="0" indent="0">
              <a:buNone/>
            </a:pPr>
            <a:r>
              <a:rPr sz="1200" lang="he-IL"/>
              <a:t>•  תיעוד Docker (Build cache): כששכבה משתנה, כל השכבות שאחריה נבנות מחדש.</a:t>
            </a:r>
          </a:p>
          <a:p>
            <a:pPr rtl="1" algn="r" marL="0" indent="0">
              <a:buNone/>
            </a:pPr>
            <a:r>
              <a:rPr sz="1200" lang="he-IL"/>
              <a:t>•  מכאן ההמלצה להעתיק את requirements.txt ולהתקין תלויות לפני העתקת הקוד: ההמלצה נגזרת מהמנגנון, והיא אינה כתובה כחוק בתיעוד.</a:t>
            </a:r>
          </a:p>
          <a:p>
            <a:pPr rtl="1" algn="r" marL="0" indent="0">
              <a:buNone/>
            </a:pPr>
            <a:r>
              <a:rPr sz="1200" lang="he-IL"/>
              <a:t>•  במחברת (חלק ו׳) כלל lint שבודק את הסדר הזה.</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כ־דקה.</a:t>
            </a:r>
          </a:p>
          <a:p>
            <a:pPr rtl="1" algn="r" marL="0" indent="0">
              <a:buNone/>
            </a:pPr>
            <a:r>
              <a:rPr b="1" sz="1200" lang="he-IL"/>
              <a:t>מטרה</a:t>
            </a:r>
          </a:p>
          <a:p>
            <a:pPr rtl="1" algn="r" marL="0" indent="0">
              <a:buNone/>
            </a:pPr>
            <a:r>
              <a:rPr sz="1200" lang="he-IL"/>
              <a:t>•  להראות איך מפעילים את כל המערכת בפקודה אחת.</a:t>
            </a:r>
          </a:p>
          <a:p>
            <a:pPr rtl="1" algn="r" marL="0" indent="0">
              <a:buNone/>
            </a:pPr>
            <a:r>
              <a:rPr sz="1200" lang="he-IL"/>
              <a:t>•  קובץ docker-compose.yml של השירות המלא מגדיר חמישה שירותים: redis (התור), api, worker, flower (ניטור) ו-ui (הממשק Streamlit).</a:t>
            </a:r>
          </a:p>
          <a:p>
            <a:pPr rtl="1" algn="r" marL="0" indent="0">
              <a:buNone/>
            </a:pPr>
            <a:r>
              <a:rPr sz="1200" lang="he-IL"/>
              <a:t>•  כל שירות הוא קונטיינר.</a:t>
            </a:r>
          </a:p>
          <a:p>
            <a:pPr rtl="1" algn="r" marL="0" indent="0">
              <a:buNone/>
            </a:pPr>
            <a:r>
              <a:rPr sz="1200" lang="he-IL"/>
              <a:t>•  ה-API והעובד נבנים מאותה תמונה ומקבלים כתובת של Redis דרך משתנה סביבה, וחולקים כרך (volume) למסד הנתונים.</a:t>
            </a:r>
          </a:p>
          <a:p>
            <a:pPr rtl="1" algn="r" marL="0" indent="0">
              <a:buNone/>
            </a:pPr>
            <a:r>
              <a:rPr sz="1200" lang="he-IL"/>
              <a:t>•  הפקודה docker compose up --build בונה ומפעילה את כולם.</a:t>
            </a:r>
          </a:p>
          <a:p>
            <a:pPr rtl="1" algn="r" marL="0" indent="0">
              <a:buNone/>
            </a:pPr>
            <a:r>
              <a:rPr sz="1200" lang="he-IL"/>
              <a:t>•  הכתובות: ה-API ב-8000, הממשק ב-8501, Flower ב-5555.</a:t>
            </a:r>
          </a:p>
          <a:p>
            <a:pPr rtl="1" algn="r" marL="0" indent="0">
              <a:buNone/>
            </a:pPr>
            <a:r>
              <a:rPr sz="1200" lang="he-IL"/>
              <a:t>•  אזהרה חשובה: מחבר השירות המלא בדק רק את התחביר (docker compose config) ולא הריץ את הקונטיינרים בפועל; לכן יש לנסות docker compose up --build לפני השיעור ולעדכן את השקף.</a:t>
            </a:r>
          </a:p>
          <a:p>
            <a:pPr rtl="1" algn="r" marL="0" indent="0">
              <a:buNone/>
            </a:pPr>
            <a:r>
              <a:rPr sz="1200" lang="he-IL"/>
              <a:t>•  אם לא תעבדו עם Docker בכיתה, מספיק להציג את הקובץ כהמחשה.</a:t>
            </a:r>
          </a:p>
          <a:p>
            <a:pPr rtl="1" algn="r" marL="0" indent="0">
              <a:buNone/>
            </a:pPr>
            <a:r>
              <a:rPr sz="1200" lang="he-IL"/>
              <a:t>•  במחברת (חלק ו׳, בבית) הסטודנטים קוראים את אותו קובץ כקוד ומפיקים ממנו את התלויות עם compose_services.</a:t>
            </a:r>
          </a:p>
          <a:p>
            <a:pPr rtl="1" algn="r" marL="0" indent="0">
              <a:buNone/>
            </a:pPr>
            <a:r>
              <a:rPr b="1" sz="1200" lang="he-IL"/>
              <a:t>שאלה לכיתה</a:t>
            </a:r>
          </a:p>
          <a:p>
            <a:pPr rtl="1" algn="r" marL="0" indent="0">
              <a:buNone/>
            </a:pPr>
            <a:r>
              <a:rPr sz="1200" lang="he-IL"/>
              <a:t>•  מה היתרון של compose לעומת הפעלת ארבעה טרמינלים ידנית?</a:t>
            </a:r>
          </a:p>
          <a:p>
            <a:pPr rtl="1" algn="r" marL="0" indent="0">
              <a:buNone/>
            </a:pPr>
            <a:r>
              <a:rPr b="1" sz="1200" lang="he-IL"/>
              <a:t>תשובה</a:t>
            </a:r>
          </a:p>
          <a:p>
            <a:pPr rtl="1" algn="r" marL="0" indent="0">
              <a:buNone/>
            </a:pPr>
            <a:r>
              <a:rPr sz="1200" lang="he-IL"/>
              <a:t>•  פקודה אחת, והכול ניתן לשחזור על כל מחשב.</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כ־1.2 דקות.</a:t>
            </a:r>
          </a:p>
          <a:p>
            <a:pPr rtl="1" algn="r" marL="0" indent="0">
              <a:buNone/>
            </a:pPr>
            <a:r>
              <a:rPr b="1" sz="1200" lang="he-IL"/>
              <a:t>מטרה</a:t>
            </a:r>
          </a:p>
          <a:p>
            <a:pPr rtl="1" algn="r" marL="0" indent="0">
              <a:buNone/>
            </a:pPr>
            <a:r>
              <a:rPr sz="1200" lang="he-IL"/>
              <a:t>•  להכיר את Kubernetes ברמת הרעיון בלבד.</a:t>
            </a:r>
          </a:p>
          <a:p>
            <a:pPr rtl="1" algn="r" marL="0" indent="0">
              <a:buNone/>
            </a:pPr>
            <a:r>
              <a:rPr sz="1200" lang="he-IL"/>
              <a:t>•  הציור: למעלה Control plane, שמחליט איפה מה רץ; למטה שלוש מכונות (Node), ובכל אחת Pods, כלומר יחידות הרצה קטנות שמריצות קונטיינר.</a:t>
            </a:r>
          </a:p>
          <a:p>
            <a:pPr rtl="1" algn="r" marL="0" indent="0">
              <a:buNone/>
            </a:pPr>
            <a:r>
              <a:rPr sz="1200" lang="he-IL"/>
              <a:t>•  החצים מראים שה-Control plane מנהל את כולן.</a:t>
            </a:r>
          </a:p>
          <a:p>
            <a:pPr rtl="1" algn="r" marL="0" indent="0">
              <a:buNone/>
            </a:pPr>
            <a:r>
              <a:rPr b="1" sz="1200" lang="he-IL"/>
              <a:t>מסר מרכזי</a:t>
            </a:r>
          </a:p>
          <a:p>
            <a:pPr rtl="1" algn="r" marL="0" indent="0">
              <a:buNone/>
            </a:pPr>
            <a:r>
              <a:rPr sz="1200" lang="he-IL"/>
              <a:t>•  אתם מצהירים אני רוצה 3 עותקים של השירות, ו-Kubernetes דואג לכך, כולל להחליף עותק שנפל.</a:t>
            </a:r>
          </a:p>
          <a:p>
            <a:pPr rtl="1" algn="r" marL="0" indent="0">
              <a:buNone/>
            </a:pPr>
            <a:r>
              <a:rPr b="1" sz="1200" lang="he-IL"/>
              <a:t>אנלוגיה</a:t>
            </a:r>
          </a:p>
          <a:p>
            <a:pPr rtl="1" algn="r" marL="0" indent="0">
              <a:buNone/>
            </a:pPr>
            <a:r>
              <a:rPr sz="1200" lang="he-IL"/>
              <a:t>•  מנהל משמרת במפעל שמוודא שתמיד יש שלושה עובדים בעמדה, ואם אחד נעדר מביא מחליף.</a:t>
            </a:r>
          </a:p>
          <a:p>
            <a:pPr rtl="1" algn="r" marL="0" indent="0">
              <a:buNone/>
            </a:pPr>
            <a:r>
              <a:rPr sz="1200" lang="he-IL"/>
              <a:t>•  מתי צריך: כשיש הרבה משתמשים, הרבה שירותים וצוות תפעול.</a:t>
            </a:r>
          </a:p>
          <a:p>
            <a:pPr rtl="1" algn="r" marL="0" indent="0">
              <a:buNone/>
            </a:pPr>
            <a:r>
              <a:rPr sz="1200" lang="he-IL"/>
              <a:t>•  מה לא צריך בפרויקט שלכם: docker compose מספיק (ראו שקף 39).</a:t>
            </a:r>
          </a:p>
          <a:p>
            <a:pPr rtl="1" algn="r" marL="0" indent="0">
              <a:buNone/>
            </a:pPr>
            <a:r>
              <a:rPr sz="1200" lang="he-IL"/>
              <a:t>•  זכרו להגיד: Kubernetes הוא נושא גדול, וכאן מכירים רק את המושגים.</a:t>
            </a:r>
          </a:p>
          <a:p>
            <a:pPr rtl="1" algn="r" marL="0" indent="0">
              <a:buNone/>
            </a:pPr>
            <a:r>
              <a:rPr b="1" sz="1200" lang="he-IL"/>
              <a:t>שאלה לכיתה</a:t>
            </a:r>
          </a:p>
          <a:p>
            <a:pPr rtl="1" algn="r" marL="0" indent="0">
              <a:buNone/>
            </a:pPr>
            <a:r>
              <a:rPr sz="1200" lang="he-IL"/>
              <a:t>•  מה ההבדל בין Docker ל-Kubernetes?</a:t>
            </a:r>
          </a:p>
          <a:p>
            <a:pPr rtl="1" algn="r" marL="0" indent="0">
              <a:buNone/>
            </a:pPr>
            <a:r>
              <a:rPr b="1" sz="1200" lang="he-IL"/>
              <a:t>תשובה</a:t>
            </a:r>
          </a:p>
          <a:p>
            <a:pPr rtl="1" algn="r" marL="0" indent="0">
              <a:buNone/>
            </a:pPr>
            <a:r>
              <a:rPr sz="1200" lang="he-IL"/>
              <a:t>•  Docker אורז ומריץ קונטיינר; Kubernetes מנהל הרבה קונטיינרים על הרבה מכונות.</a:t>
            </a:r>
          </a:p>
          <a:p>
            <a:pPr rtl="1" algn="r" marL="0" indent="0">
              <a:buNone/>
            </a:pPr>
            <a:r>
              <a:rPr b="1" sz="1200" lang="he-IL"/>
              <a:t>שימו לב</a:t>
            </a:r>
          </a:p>
          <a:p>
            <a:pPr rtl="1" algn="r" marL="0" indent="0">
              <a:buNone/>
            </a:pPr>
            <a:r>
              <a:rPr sz="1200" lang="he-IL"/>
              <a:t>•  Kubernetes אינה חלק מהסילבוס ולכן הועברה להעשרה; מי שמשלים את חלק ו׳ במחברת בבית (k8s_replicas) כדאי שיעבור על שקף זה, על שקף 77 ועל שקף 78.</a:t>
            </a:r>
          </a:p>
          <a:p>
            <a:pPr rtl="1" algn="r" marL="0" indent="0">
              <a:buNone/>
            </a:pPr>
            <a:r>
              <a:rPr b="1" sz="1200" lang="he-IL"/>
              <a:t>מתי לדלג</a:t>
            </a:r>
          </a:p>
          <a:p>
            <a:pPr rtl="1" algn="r" marL="0" indent="0">
              <a:buNone/>
            </a:pPr>
            <a:r>
              <a:rPr sz="1200" lang="he-IL"/>
              <a:t>•  אם אין זמן: שקף ״מה מתי״ בליבה כבר מזכיר את Kubernetes במשפט.</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כ־1.2 דקות.</a:t>
            </a:r>
          </a:p>
          <a:p>
            <a:pPr rtl="1" algn="r" marL="0" indent="0">
              <a:buNone/>
            </a:pPr>
            <a:r>
              <a:rPr b="1" sz="1200" lang="he-IL"/>
              <a:t>מה אומרים</a:t>
            </a:r>
          </a:p>
          <a:p>
            <a:pPr rtl="1" algn="r" marL="0" indent="0">
              <a:buNone/>
            </a:pPr>
            <a:r>
              <a:rPr sz="1200" lang="he-IL"/>
              <a:t>•  המקור: קובץ k8s/deployment.yaml של השירות המלא, שהוא להמחשה בלבד ולא נבדק מול אשכול אמיתי.</a:t>
            </a:r>
          </a:p>
          <a:p>
            <a:pPr rtl="1" algn="r" marL="0" indent="0">
              <a:buNone/>
            </a:pPr>
            <a:r>
              <a:rPr sz="1200" lang="he-IL"/>
              <a:t>•  עברו על הטבלה: Pod היא יחידת ההרצה הקטנה (קונטיינר אחד או יותר)</a:t>
            </a:r>
          </a:p>
          <a:p>
            <a:pPr rtl="1" algn="r" marL="0" indent="0">
              <a:buNone/>
            </a:pPr>
            <a:r>
              <a:rPr sz="1200" lang="he-IL"/>
              <a:t>•  Deployment קובע כמה עותקים ואיך מעדכנים גרסה, ובדוגמה replicas: 3</a:t>
            </a:r>
          </a:p>
          <a:p>
            <a:pPr rtl="1" algn="r" marL="0" indent="0">
              <a:buNone/>
            </a:pPr>
            <a:r>
              <a:rPr sz="1200" lang="he-IL"/>
              <a:t>•  Service נותן כתובת קבועה מול העותקים (store-api)</a:t>
            </a:r>
          </a:p>
          <a:p>
            <a:pPr rtl="1" algn="r" marL="0" indent="0">
              <a:buNone/>
            </a:pPr>
            <a:r>
              <a:rPr sz="1200" lang="he-IL"/>
              <a:t>•  Ingress הוא כניסה מהאינטרנט (לא בדוגמה)</a:t>
            </a:r>
          </a:p>
          <a:p>
            <a:pPr rtl="1" algn="r" marL="0" indent="0">
              <a:buNone/>
            </a:pPr>
            <a:r>
              <a:rPr sz="1200" lang="he-IL"/>
              <a:t>•  Secret ו-ConfigMap שומרים סיסמאות והגדרות מחוץ לקוד (בדוגמה משתמשים במשתנה env רגיל).</a:t>
            </a:r>
          </a:p>
          <a:p>
            <a:pPr rtl="1" algn="r" marL="0" indent="0">
              <a:buNone/>
            </a:pPr>
            <a:r>
              <a:rPr sz="1200" lang="he-IL"/>
              <a:t>•  הקוד מימין הוא קטע מה-Deployment: kind, replicas, והתמונה myregistry/store-service:1.0.0.</a:t>
            </a:r>
          </a:p>
          <a:p>
            <a:pPr rtl="1" algn="r" marL="0" indent="0">
              <a:buNone/>
            </a:pPr>
            <a:r>
              <a:rPr b="1" sz="1200" lang="he-IL"/>
              <a:t>שאלה לכיתה</a:t>
            </a:r>
          </a:p>
          <a:p>
            <a:pPr rtl="1" algn="r" marL="0" indent="0">
              <a:buNone/>
            </a:pPr>
            <a:r>
              <a:rPr sz="1200" lang="he-IL"/>
              <a:t>•  מה קורה אם Pod נופל?</a:t>
            </a:r>
          </a:p>
          <a:p>
            <a:pPr rtl="1" algn="r" marL="0" indent="0">
              <a:buNone/>
            </a:pPr>
            <a:r>
              <a:rPr b="1" sz="1200" lang="he-IL"/>
              <a:t>תשובה</a:t>
            </a:r>
          </a:p>
          <a:p>
            <a:pPr rtl="1" algn="r" marL="0" indent="0">
              <a:buNone/>
            </a:pPr>
            <a:r>
              <a:rPr sz="1200" lang="he-IL"/>
              <a:t>•  ה-Deployment יוצר אחר במקומו כדי לשמור על מספר העותקים.</a:t>
            </a:r>
          </a:p>
          <a:p>
            <a:pPr rtl="1" algn="r" marL="0" indent="0">
              <a:buNone/>
            </a:pPr>
            <a:r>
              <a:rPr b="1" sz="1200" lang="he-IL"/>
              <a:t>שימו לב</a:t>
            </a:r>
          </a:p>
          <a:p>
            <a:pPr rtl="1" algn="r" marL="0" indent="0">
              <a:buNone/>
            </a:pPr>
            <a:r>
              <a:rPr sz="1200" lang="he-IL"/>
              <a:t>•  אל תתנו לסטודנטים להתקין Kubernetes בכיתה.</a:t>
            </a:r>
          </a:p>
          <a:p>
            <a:pPr rtl="1" algn="r" marL="0" indent="0">
              <a:buNone/>
            </a:pPr>
            <a:r>
              <a:rPr sz="1200" lang="he-IL"/>
              <a:t>•  במחברת (חלק ו׳, בבית) הפונקציה k8s_replicas קוראת את אותו קובץ ומחזירה replicas = 3.</a:t>
            </a:r>
          </a:p>
          <a:p>
            <a:pPr rtl="1" algn="r" marL="0" indent="0">
              <a:buNone/>
            </a:pPr>
            <a:r>
              <a:rPr b="1" sz="1200" lang="he-IL"/>
              <a:t>מתי לדלג</a:t>
            </a:r>
          </a:p>
          <a:p>
            <a:pPr rtl="1" algn="r" marL="0" indent="0">
              <a:buNone/>
            </a:pPr>
            <a:r>
              <a:rPr sz="1200" lang="he-IL"/>
              <a:t>•  יחד עם השקף הקודם.</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כ־0.9 דקות.</a:t>
            </a:r>
          </a:p>
          <a:p>
            <a:pPr rtl="1" algn="r" marL="0" indent="0">
              <a:buNone/>
            </a:pPr>
            <a:r>
              <a:rPr b="1" sz="1200" lang="he-IL"/>
              <a:t>מטרה</a:t>
            </a:r>
          </a:p>
          <a:p>
            <a:pPr rtl="1" algn="r" marL="0" indent="0">
              <a:buNone/>
            </a:pPr>
            <a:r>
              <a:rPr sz="1200" lang="he-IL"/>
              <a:t>•  לסכם מתי משתמשים בכל טכנולוגיה, כדי שהסטודנטים לא יחשבו שצריך Kubernetes.</a:t>
            </a:r>
          </a:p>
          <a:p>
            <a:pPr rtl="1" algn="r" marL="0" indent="0">
              <a:buNone/>
            </a:pPr>
            <a:r>
              <a:rPr sz="1200" lang="he-IL"/>
              <a:t>•  שלוש מדרגות עולות: venv על המחשב (פיתוח אישי, מהיר); Docker עם compose (פרויקט קבוצתי, הדגמה ופריסה אחת); Kubernetes (הרבה משתמשים, הרבה שירותים וצוות תפעול).</a:t>
            </a:r>
          </a:p>
          <a:p>
            <a:pPr rtl="1" algn="r" marL="0" indent="0">
              <a:buNone/>
            </a:pPr>
            <a:r>
              <a:rPr sz="1200" lang="he-IL"/>
              <a:t>•  הכותרת בתחתית היא ההמלצה: בפרויקט שלכם docker compose מספיק, ו-Kubernetes להכרה.</a:t>
            </a:r>
          </a:p>
          <a:p>
            <a:pPr rtl="1" algn="r" marL="0" indent="0">
              <a:buNone/>
            </a:pPr>
            <a:r>
              <a:rPr b="1" sz="1200" lang="he-IL"/>
              <a:t>אנלוגיה</a:t>
            </a:r>
          </a:p>
          <a:p>
            <a:pPr rtl="1" algn="r" marL="0" indent="0">
              <a:buNone/>
            </a:pPr>
            <a:r>
              <a:rPr sz="1200" lang="he-IL"/>
              <a:t>•  מסמר דורש פטיש, לא מכבש תעשייתי; בוחרים כלי לפי גודל הבעיה.</a:t>
            </a:r>
          </a:p>
          <a:p>
            <a:pPr rtl="1" algn="r" marL="0" indent="0">
              <a:buNone/>
            </a:pPr>
            <a:r>
              <a:rPr b="1" sz="1200" lang="he-IL"/>
              <a:t>שאלה לכיתה</a:t>
            </a:r>
          </a:p>
          <a:p>
            <a:pPr rtl="1" algn="r" marL="0" indent="0">
              <a:buNone/>
            </a:pPr>
            <a:r>
              <a:rPr sz="1200" lang="he-IL"/>
              <a:t>•  מתי תעברו מ-venv ל-Docker?</a:t>
            </a:r>
          </a:p>
          <a:p>
            <a:pPr rtl="1" algn="r" marL="0" indent="0">
              <a:buNone/>
            </a:pPr>
            <a:r>
              <a:rPr b="1" sz="1200" lang="he-IL"/>
              <a:t>תשובה</a:t>
            </a:r>
          </a:p>
          <a:p>
            <a:pPr rtl="1" algn="r" marL="0" indent="0">
              <a:buNone/>
            </a:pPr>
            <a:r>
              <a:rPr sz="1200" lang="he-IL"/>
              <a:t>•  כשמישהו אחר צריך להריץ את השירות על מחשב אחר, או כשיש כמה רכיבים שצריכים לעבוד יחד.</a:t>
            </a:r>
          </a:p>
          <a:p>
            <a:pPr rtl="1" algn="r" marL="0" indent="0">
              <a:buNone/>
            </a:pPr>
            <a:r>
              <a:rPr b="1" sz="1200" lang="he-IL"/>
              <a:t>חיבור לשיעורים קודמים</a:t>
            </a:r>
          </a:p>
          <a:p>
            <a:pPr rtl="1" algn="r" marL="0" indent="0">
              <a:buNone/>
            </a:pPr>
            <a:r>
              <a:rPr sz="1200" lang="he-IL"/>
              <a:t>•  שיעור 11 (ארכיטקטורה) ושיעור 10 (אבטחה, סודות בקונטיינרים).</a:t>
            </a:r>
          </a:p>
          <a:p>
            <a:pPr rtl="1" algn="r" marL="0" indent="0">
              <a:buNone/>
            </a:pPr>
            <a:r>
              <a:rPr sz="1200" lang="he-IL"/>
              <a:t>•  אחרי השקף הזה עוברים לשאלת הבדיקה האופציונלית ולחלק ד׳.</a:t>
            </a:r>
          </a:p>
          <a:p>
            <a:pPr rtl="1" algn="r" marL="0" indent="0">
              <a:buNone/>
            </a:pPr>
            <a:r>
              <a:rPr b="1" sz="1200" lang="he-IL"/>
              <a:t>שימו לב</a:t>
            </a:r>
          </a:p>
          <a:p>
            <a:pPr rtl="1" algn="r" marL="0" indent="0">
              <a:buNone/>
            </a:pPr>
            <a:r>
              <a:rPr sz="1200" lang="he-IL"/>
              <a:t>•  Kubernetes מוצג כאן במשפט אחד (הוא מנהל קונטיינרים רבים על מכונות רבות).</a:t>
            </a:r>
          </a:p>
          <a:p>
            <a:pPr rtl="1" algn="r" marL="0" indent="0">
              <a:buNone/>
            </a:pPr>
            <a:r>
              <a:rPr sz="1200" lang="he-IL"/>
              <a:t>•  ההסבר המלא, המושגים וההצהרה מול פקודה נמצאים במקטע ההעשרה (שקפים 73, 74 ו־75).</a:t>
            </a:r>
          </a:p>
          <a:p>
            <a:pPr rtl="1" algn="r" marL="0" indent="0">
              <a:buNone/>
            </a:pPr>
            <a:r>
              <a:rPr sz="1200" lang="he-IL"/>
              <a:t>•  מי שעושה את חלק ו׳ של המחברת בבית (k8s_replicas) כדאי שיעבור עליהם.</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כ־1.3 דקות.</a:t>
            </a:r>
          </a:p>
          <a:p>
            <a:pPr rtl="1" algn="r" marL="0" indent="0">
              <a:buNone/>
            </a:pPr>
            <a:r>
              <a:rPr b="1" sz="1200" lang="he-IL"/>
              <a:t>מה אומרים</a:t>
            </a:r>
          </a:p>
          <a:p>
            <a:pPr rtl="1" algn="r" marL="0" indent="0">
              <a:buNone/>
            </a:pPr>
            <a:r>
              <a:rPr sz="1200" lang="he-IL"/>
              <a:t>•  חלק ד׳, 10 דקות בסך הכול (שקפים 42-53), ואחריו מעבדה ג׳.</a:t>
            </a:r>
          </a:p>
          <a:p>
            <a:pPr rtl="1" algn="r" marL="0" indent="0">
              <a:buNone/>
            </a:pPr>
            <a:r>
              <a:rPr sz="1200" lang="he-IL"/>
              <a:t>•  בחלק: תור ועובדים, קריאה ל־LLM API, ומיד לפני המעבדה שכבות ו־spec-first.</a:t>
            </a:r>
          </a:p>
          <a:p>
            <a:pPr rtl="1" algn="r" marL="0" indent="0">
              <a:buNone/>
            </a:pPr>
            <a:r>
              <a:rPr b="1" sz="1200" lang="he-IL"/>
              <a:t>מטרה</a:t>
            </a:r>
          </a:p>
          <a:p>
            <a:pPr rtl="1" algn="r" marL="0" indent="0">
              <a:buNone/>
            </a:pPr>
            <a:r>
              <a:rPr sz="1200" lang="he-IL"/>
              <a:t>•  להציג למה מודל מצריך ארכיטקטורה אחרת.</a:t>
            </a:r>
          </a:p>
          <a:p>
            <a:pPr rtl="1" algn="r" marL="0" indent="0">
              <a:buNone/>
            </a:pPr>
            <a:r>
              <a:rPr sz="1200" lang="he-IL"/>
              <a:t>•  מודל לוקח זמן, שניות עד דקות.</a:t>
            </a:r>
          </a:p>
          <a:p>
            <a:pPr rtl="1" algn="r" marL="0" indent="0">
              <a:buNone/>
            </a:pPr>
            <a:r>
              <a:rPr sz="1200" lang="he-IL"/>
              <a:t>•  בצד ימין (אדום), הגישה הסינכרונית: הבקשה מחכה עד שהמודל מסיים, משתמש 2 מחכה למשתמש 1, וחיבור שנפל משמעו עבודה שאבדה.</a:t>
            </a:r>
          </a:p>
          <a:p>
            <a:pPr rtl="1" algn="r" marL="0" indent="0">
              <a:buNone/>
            </a:pPr>
            <a:r>
              <a:rPr sz="1200" lang="he-IL"/>
              <a:t>•  בצד שמאל (ירוק), הגישה האסינכרונית עם תור: מחזירים מיד קיבלתי (קוד 202), העבודה ממתינה בתור, עובד מטפל, והלקוח בודק סטטוס.</a:t>
            </a:r>
          </a:p>
          <a:p>
            <a:pPr rtl="1" algn="r" marL="0" indent="0">
              <a:buNone/>
            </a:pPr>
            <a:r>
              <a:rPr sz="1200" lang="he-IL"/>
              <a:t>•  השורה בתחתית: מודל שלוקח 10 שניות לא יכול לחסום שרת שמשרת מאה משתמשים.</a:t>
            </a:r>
          </a:p>
          <a:p>
            <a:pPr rtl="1" algn="r" marL="0" indent="0">
              <a:buNone/>
            </a:pPr>
            <a:r>
              <a:rPr b="1" sz="1200" lang="he-IL"/>
              <a:t>אנלוגיה</a:t>
            </a:r>
          </a:p>
          <a:p>
            <a:pPr rtl="1" algn="r" marL="0" indent="0">
              <a:buNone/>
            </a:pPr>
            <a:r>
              <a:rPr sz="1200" lang="he-IL"/>
              <a:t>•  מסעדה שבה המלצר עומד ליד הטבח עד שהמנה מוכנה, לעומת מלצר שרושם הזמנה ומחזיר פתק מספר.</a:t>
            </a:r>
          </a:p>
          <a:p>
            <a:pPr rtl="1" algn="r" marL="0" indent="0">
              <a:buNone/>
            </a:pPr>
            <a:r>
              <a:rPr b="1" sz="1200" lang="he-IL"/>
              <a:t>שאלה לכיתה</a:t>
            </a:r>
          </a:p>
          <a:p>
            <a:pPr rtl="1" algn="r" marL="0" indent="0">
              <a:buNone/>
            </a:pPr>
            <a:r>
              <a:rPr sz="1200" lang="he-IL"/>
              <a:t>•  מה קורה אם עשרה משתמשים שולחים בקשה בו-זמנית למודל שלוקח 10 שניות?</a:t>
            </a:r>
          </a:p>
          <a:p>
            <a:pPr rtl="1" algn="r" marL="0" indent="0">
              <a:buNone/>
            </a:pPr>
            <a:r>
              <a:rPr b="1" sz="1200" lang="he-IL"/>
              <a:t>תשובה</a:t>
            </a:r>
          </a:p>
          <a:p>
            <a:pPr rtl="1" algn="r" marL="0" indent="0">
              <a:buNone/>
            </a:pPr>
            <a:r>
              <a:rPr sz="1200" lang="he-IL"/>
              <a:t>•  האחרון ימתין כ-100 שניות, או שהחיבור יקרוס.</a:t>
            </a:r>
          </a:p>
          <a:p>
            <a:pPr rtl="1" algn="r" marL="0" indent="0">
              <a:buNone/>
            </a:pPr>
            <a:r>
              <a:rPr b="1" sz="1200" lang="he-IL"/>
              <a:t>חיבור לשיעורים קודמים</a:t>
            </a:r>
          </a:p>
          <a:p>
            <a:pPr rtl="1" algn="r" marL="0" indent="0">
              <a:buNone/>
            </a:pPr>
            <a:r>
              <a:rPr sz="1200" lang="he-IL"/>
              <a:t>•  שקף 8 (202).</a:t>
            </a:r>
          </a:p>
          <a:p>
            <a:pPr rtl="1" algn="r" marL="0" indent="0">
              <a:buNone/>
            </a:pPr>
            <a:r>
              <a:rPr sz="1200" lang="he-IL"/>
              <a:t>•  במחברת HM_07, חלק ה׳ (לבית), בונים סימולציה קטנה של התור: queue.Queue ו־threads במקום Redis ו־Celery.</a:t>
            </a:r>
          </a:p>
          <a:p>
            <a:pPr rtl="1" algn="r" marL="0" indent="0">
              <a:buNone/>
            </a:pPr>
            <a:r>
              <a:rPr b="1" sz="1200" lang="he-IL"/>
              <a:t>להעמקה</a:t>
            </a:r>
          </a:p>
          <a:p>
            <a:pPr rtl="1" algn="r" marL="0" indent="0">
              <a:buNone/>
            </a:pPr>
            <a:r>
              <a:rPr sz="1200" lang="he-IL"/>
              <a:t>•  ההבדל בין שני המצבים הוא בין זמן תגובה (כמה זמן מחכה משתמש אחד) לבין קיבולת (כמה בקשות המערכת מטפלת בשנייה).</a:t>
            </a:r>
          </a:p>
          <a:p>
            <a:pPr rtl="1" algn="r" marL="0" indent="0">
              <a:buNone/>
            </a:pPr>
            <a:r>
              <a:rPr sz="1200" lang="he-IL"/>
              <a:t>•  תור משפר את הקיבולת ואת עמידות המערכת, ולא מקצר את זמן הריצה של המודל.</a:t>
            </a:r>
          </a:p>
          <a:p>
            <a:pPr rtl="1" algn="r" marL="0" indent="0">
              <a:buNone/>
            </a:pPr>
            <a:r>
              <a:rPr sz="1200" lang="he-IL"/>
              <a:t>•  חישוב: אם מגיעות 2 בקשות בשנייה וכל אחת לוקחת 10 שניות, צריך לפחות 20 עובדים במקביל כדי שהתור לא יגדל בלי גבול.</a:t>
            </a:r>
          </a:p>
          <a:p>
            <a:pPr rtl="1" algn="r" marL="0" indent="0">
              <a:buNone/>
            </a:pPr>
            <a:r>
              <a:rPr sz="1200" lang="he-IL"/>
              <a:t>•  הלקוח בודק סטטוס (polling) או מקבל התראה (למשל webhook); בקורס משתמשים ב־polling כי הוא הפשוט ביותר.</a:t>
            </a:r>
          </a:p>
          <a:p>
            <a:pPr rtl="1" algn="r" marL="0" indent="0">
              <a:buNone/>
            </a:pPr>
            <a:r>
              <a:rPr b="1" sz="1200" lang="he-IL"/>
              <a:t>חיבור לשיעורים קודמים</a:t>
            </a:r>
          </a:p>
          <a:p>
            <a:pPr rtl="1" algn="r" marL="0" indent="0">
              <a:buNone/>
            </a:pPr>
            <a:r>
              <a:rPr sz="1200" lang="he-IL"/>
              <a:t>•  מודל בונה תשובה טוקן אחרי טוקן, ובכל צעד בוחר את הטוקן הבא בהסתברות.</a:t>
            </a:r>
          </a:p>
          <a:p>
            <a:pPr rtl="1" algn="r" marL="0" indent="0">
              <a:buNone/>
            </a:pPr>
            <a:r>
              <a:rPr sz="1200" lang="he-IL"/>
              <a:t>•  לכן תשובה ארוכה אורכת זמן, וזו אחת הסיבות שקריאה למודל איטית משאר הקריאות בשירות.</a:t>
            </a:r>
          </a:p>
          <a:p>
            <a:pPr rtl="1" algn="r" marL="0" indent="0">
              <a:buNone/>
            </a:pPr>
            <a:r>
              <a:rPr b="1" sz="1200" lang="he-IL"/>
              <a:t>שאלת היזכרות</a:t>
            </a:r>
          </a:p>
          <a:p>
            <a:pPr rtl="1" algn="r" marL="0" indent="0">
              <a:buNone/>
            </a:pPr>
            <a:r>
              <a:rPr sz="1200" lang="he-IL"/>
              <a:t>•  מי זוכר איך המודל בונה תשובה?</a:t>
            </a:r>
          </a:p>
          <a:p>
            <a:pPr rtl="1" algn="r" marL="0" indent="0">
              <a:buNone/>
            </a:pPr>
            <a:r>
              <a:rPr b="1" sz="1200" lang="he-IL"/>
              <a:t>תשובה</a:t>
            </a:r>
          </a:p>
          <a:p>
            <a:pPr rtl="1" algn="r" marL="0" indent="0">
              <a:buNone/>
            </a:pPr>
            <a:r>
              <a:rPr sz="1200" lang="he-IL"/>
              <a:t>•  טוקן אחרי טוקן, והוא אינו מחכה לראות את כולה.</a:t>
            </a:r>
          </a:p>
          <a:p>
            <a:pPr rtl="1" algn="r" marL="0" indent="0">
              <a:buNone/>
            </a:pPr>
            <a:r>
              <a:rPr b="1" sz="1200" lang="he-IL"/>
              <a:t>אם הכיתה לא זוכרת</a:t>
            </a:r>
          </a:p>
          <a:p>
            <a:pPr rtl="1" algn="r" marL="0" indent="0">
              <a:buNone/>
            </a:pPr>
            <a:r>
              <a:rPr sz="1200" lang="he-IL"/>
              <a:t>•  ״המודל כותב מילה אחרי מילה (טוקן אחרי טוקן)״, והמשיכו.</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כ־1.2 דקות.</a:t>
            </a:r>
          </a:p>
          <a:p>
            <a:pPr rtl="1" algn="r" marL="0" indent="0">
              <a:buNone/>
            </a:pPr>
            <a:r>
              <a:rPr b="1" sz="1200" lang="he-IL"/>
              <a:t>מטרה</a:t>
            </a:r>
          </a:p>
          <a:p>
            <a:pPr rtl="1" algn="r" marL="0" indent="0">
              <a:buNone/>
            </a:pPr>
            <a:r>
              <a:rPr sz="1200" lang="he-IL"/>
              <a:t>•  להראות את הזרימה המלאה.</a:t>
            </a:r>
          </a:p>
          <a:p>
            <a:pPr rtl="1" algn="r" marL="0" indent="0">
              <a:buNone/>
            </a:pPr>
            <a:r>
              <a:rPr sz="1200" lang="he-IL"/>
              <a:t>•  זה אותו ציור של מפת היום, כשהחלקים של חלק ד׳ מודגשים: תור (Redis), עובד (Celery עם המודל) וניטור (Flower).</a:t>
            </a:r>
          </a:p>
          <a:p>
            <a:pPr rtl="1" algn="r" marL="0" indent="0">
              <a:buNone/>
            </a:pPr>
            <a:r>
              <a:rPr sz="1200" lang="he-IL"/>
              <a:t>•  הלקוח שולח בקשה; ה-API רושם משימה בתור (וגם שורה בטבלת jobs) ומחזיר 202; עובד לוקח משימה מהתור, מריץ את המודל ושומר את התוצאה במסד; הלקוח בודק סטטוס ב-GET /jobs/{id}.</a:t>
            </a:r>
          </a:p>
          <a:p>
            <a:pPr rtl="1" algn="r" marL="0" indent="0">
              <a:buNone/>
            </a:pPr>
            <a:r>
              <a:rPr sz="1200" lang="he-IL"/>
              <a:t>•  אפשר להוסיף עובדים כדי להגדיל קיבולת, בלי לגעת ב-API.</a:t>
            </a:r>
          </a:p>
          <a:p>
            <a:pPr rtl="1" algn="r" marL="0" indent="0">
              <a:buNone/>
            </a:pPr>
            <a:r>
              <a:rPr sz="1200" lang="he-IL"/>
              <a:t>•  Flower מציג את המשימות והעובדים.</a:t>
            </a:r>
          </a:p>
          <a:p>
            <a:pPr rtl="1" algn="r" marL="0" indent="0">
              <a:buNone/>
            </a:pPr>
            <a:r>
              <a:rPr b="1" sz="1200" lang="he-IL"/>
              <a:t>אנלוגיה</a:t>
            </a:r>
          </a:p>
          <a:p>
            <a:pPr rtl="1" algn="r" marL="0" indent="0">
              <a:buNone/>
            </a:pPr>
            <a:r>
              <a:rPr sz="1200" lang="he-IL"/>
              <a:t>•  קו ייצור עם עמדות; כשיש עומס מוסיפים עמדה, ולא מארגנים מחדש את הקבלה.</a:t>
            </a:r>
          </a:p>
          <a:p>
            <a:pPr rtl="1" algn="r" marL="0" indent="0">
              <a:buNone/>
            </a:pPr>
            <a:r>
              <a:rPr b="1" sz="1200" lang="he-IL"/>
              <a:t>שאלה לכיתה</a:t>
            </a:r>
          </a:p>
          <a:p>
            <a:pPr rtl="1" algn="r" marL="0" indent="0">
              <a:buNone/>
            </a:pPr>
            <a:r>
              <a:rPr sz="1200" lang="he-IL"/>
              <a:t>•  איפה נשמרת התוצאה?</a:t>
            </a:r>
          </a:p>
          <a:p>
            <a:pPr rtl="1" algn="r" marL="0" indent="0">
              <a:buNone/>
            </a:pPr>
            <a:r>
              <a:rPr b="1" sz="1200" lang="he-IL"/>
              <a:t>תשובה</a:t>
            </a:r>
          </a:p>
          <a:p>
            <a:pPr rtl="1" algn="r" marL="0" indent="0">
              <a:buNone/>
            </a:pPr>
            <a:r>
              <a:rPr sz="1200" lang="he-IL"/>
              <a:t>•  בעמודת result בטבלת jobs.</a:t>
            </a:r>
          </a:p>
          <a:p>
            <a:pPr rtl="1" algn="r" marL="0" indent="0">
              <a:buNone/>
            </a:pPr>
            <a:r>
              <a:rPr b="1" sz="1200" lang="he-IL"/>
              <a:t>שימו לב</a:t>
            </a:r>
          </a:p>
          <a:p>
            <a:pPr rtl="1" algn="r" marL="0" indent="0">
              <a:buNone/>
            </a:pPr>
            <a:r>
              <a:rPr sz="1200" lang="he-IL"/>
              <a:t>•  ה-API חייב להיות דק; אם הוא מריץ את המודל בעצמו, אין צורך בתור.</a:t>
            </a:r>
          </a:p>
          <a:p>
            <a:pPr rtl="1" algn="r" marL="0" indent="0">
              <a:buNone/>
            </a:pPr>
            <a:r>
              <a:rPr b="1" sz="1200" lang="he-IL"/>
              <a:t>חיבור לשיעורים קודמים</a:t>
            </a:r>
          </a:p>
          <a:p>
            <a:pPr rtl="1" algn="r" marL="0" indent="0">
              <a:buNone/>
            </a:pPr>
            <a:r>
              <a:rPr sz="1200" lang="he-IL"/>
              <a:t>•  שיעור 11.</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כ־1.2 דקות.</a:t>
            </a:r>
          </a:p>
          <a:p>
            <a:pPr rtl="1" algn="r" marL="0" indent="0">
              <a:buNone/>
            </a:pPr>
            <a:r>
              <a:rPr b="1" sz="1200" lang="he-IL"/>
              <a:t>מטרה</a:t>
            </a:r>
          </a:p>
          <a:p>
            <a:pPr rtl="1" algn="r" marL="0" indent="0">
              <a:buNone/>
            </a:pPr>
            <a:r>
              <a:rPr sz="1200" lang="he-IL"/>
              <a:t>•  לתת לכל רכיב שם, תפקיד ואנלוגיה.</a:t>
            </a:r>
          </a:p>
          <a:p>
            <a:pPr rtl="1" algn="r" marL="0" indent="0">
              <a:buNone/>
            </a:pPr>
            <a:r>
              <a:rPr sz="1200" lang="he-IL"/>
              <a:t>•  הטבלה: FastAPI מקבל בקשות ורושם משימה (מלצר)</a:t>
            </a:r>
          </a:p>
          <a:p>
            <a:pPr rtl="1" algn="r" marL="0" indent="0">
              <a:buNone/>
            </a:pPr>
            <a:r>
              <a:rPr sz="1200" lang="he-IL"/>
              <a:t>•  Redis הוא ה-broker, התור שמחזיק משימות עד שיטופלו (פס ההזמנות)</a:t>
            </a:r>
          </a:p>
          <a:p>
            <a:pPr rtl="1" algn="r" marL="0" indent="0">
              <a:buNone/>
            </a:pPr>
            <a:r>
              <a:rPr sz="1200" lang="he-IL"/>
              <a:t>•  Celery היא ספרייה שמגדירה משימות ועובדים (שיטת העבודה)</a:t>
            </a:r>
          </a:p>
          <a:p>
            <a:pPr rtl="1" algn="r" marL="0" indent="0">
              <a:buNone/>
            </a:pPr>
            <a:r>
              <a:rPr sz="1200" lang="he-IL"/>
              <a:t>•  Worker מריץ את המודל ושומר תוצאה (טבח)</a:t>
            </a:r>
          </a:p>
          <a:p>
            <a:pPr rtl="1" algn="r" marL="0" indent="0">
              <a:buNone/>
            </a:pPr>
            <a:r>
              <a:rPr sz="1200" lang="he-IL"/>
              <a:t>•  Flower הוא לוח בקרה לניטור משימות ועובדים (מסך המנהל)</a:t>
            </a:r>
          </a:p>
          <a:p>
            <a:pPr rtl="1" algn="r" marL="0" indent="0">
              <a:buNone/>
            </a:pPr>
            <a:r>
              <a:rPr sz="1200" lang="he-IL"/>
              <a:t>•  SQL או DB שומר את המצב והתוצאה של כל משימה (פנקס ההזמנות).</a:t>
            </a:r>
          </a:p>
          <a:p>
            <a:pPr rtl="1" algn="r" marL="0" indent="0">
              <a:buNone/>
            </a:pPr>
            <a:r>
              <a:rPr sz="1200" lang="he-IL"/>
              <a:t>•  שימו לב להבחנה: Celery אינו תור; הוא הספרייה, ו-Redis הוא התור.</a:t>
            </a:r>
          </a:p>
          <a:p>
            <a:pPr rtl="1" algn="r" marL="0" indent="0">
              <a:buNone/>
            </a:pPr>
            <a:r>
              <a:rPr sz="1200" lang="he-IL"/>
              <a:t>•  זה נשאל בחידון.</a:t>
            </a:r>
          </a:p>
          <a:p>
            <a:pPr rtl="1" algn="r" marL="0" indent="0">
              <a:buNone/>
            </a:pPr>
            <a:r>
              <a:rPr sz="1200" lang="he-IL"/>
              <a:t>•  בפרויקט אפשר גם להשתמש בכלים אחרים, אבל המבנה זהה.</a:t>
            </a:r>
          </a:p>
          <a:p>
            <a:pPr rtl="1" algn="r" marL="0" indent="0">
              <a:buNone/>
            </a:pPr>
            <a:r>
              <a:rPr b="1" sz="1200" lang="he-IL"/>
              <a:t>שאלה לכיתה</a:t>
            </a:r>
          </a:p>
          <a:p>
            <a:pPr rtl="1" algn="r" marL="0" indent="0">
              <a:buNone/>
            </a:pPr>
            <a:r>
              <a:rPr sz="1200" lang="he-IL"/>
              <a:t>•  אם נחליף את Redis בתור אחר, מה ישתנה בקוד ה-API?</a:t>
            </a:r>
          </a:p>
          <a:p>
            <a:pPr rtl="1" algn="r" marL="0" indent="0">
              <a:buNone/>
            </a:pPr>
            <a:r>
              <a:rPr b="1" sz="1200" lang="he-IL"/>
              <a:t>תשובה</a:t>
            </a:r>
          </a:p>
          <a:p>
            <a:pPr rtl="1" algn="r" marL="0" indent="0">
              <a:buNone/>
            </a:pPr>
            <a:r>
              <a:rPr sz="1200" lang="he-IL"/>
              <a:t>•  כמעט כלום, רק הגדרת ה-broker (משתנה CELERY_BROKER_URL).</a:t>
            </a:r>
          </a:p>
          <a:p>
            <a:pPr rtl="1" algn="r" marL="0" indent="0">
              <a:buNone/>
            </a:pPr>
            <a:r>
              <a:rPr b="1" sz="1200" lang="he-IL"/>
              <a:t>חיבור לשיעורים קודמים</a:t>
            </a:r>
          </a:p>
          <a:p>
            <a:pPr rtl="1" algn="r" marL="0" indent="0">
              <a:buNone/>
            </a:pPr>
            <a:r>
              <a:rPr sz="1200" lang="he-IL"/>
              <a:t>•  שיעור 11.</a:t>
            </a:r>
          </a:p>
          <a:p>
            <a:pPr rtl="1" algn="r" marL="0" indent="0">
              <a:buNone/>
            </a:pPr>
            <a:r>
              <a:rPr b="1" sz="1200" lang="he-IL"/>
              <a:t>להעמקה</a:t>
            </a:r>
          </a:p>
          <a:p>
            <a:pPr rtl="1" algn="r" marL="0" indent="0">
              <a:buNone/>
            </a:pPr>
            <a:r>
              <a:rPr sz="1200" lang="he-IL"/>
              <a:t>•  Celery היא ספרייה לניהול משימות והיא תומכת בכמה brokers (למשל RabbitMQ ו־Redis); Redis כאן הוא התור, והבחירה בו היא החלטת פרויקט ולא חובה.</a:t>
            </a:r>
          </a:p>
          <a:p>
            <a:pPr rtl="1" algn="r" marL="0" indent="0">
              <a:buNone/>
            </a:pPr>
            <a:r>
              <a:rPr sz="1200" lang="he-IL"/>
              <a:t>•  את מה Celery מבטיחה ומה לא מפרטים בהעשרה (שקף 80).</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כ־1.4 דקות.</a:t>
            </a:r>
          </a:p>
          <a:p>
            <a:pPr rtl="1" algn="r" marL="0" indent="0">
              <a:buNone/>
            </a:pPr>
            <a:r>
              <a:rPr b="1" sz="1200" lang="he-IL"/>
              <a:t>מטרה</a:t>
            </a:r>
          </a:p>
          <a:p>
            <a:pPr rtl="1" algn="r" marL="0" indent="0">
              <a:buNone/>
            </a:pPr>
            <a:r>
              <a:rPr sz="1200" lang="he-IL"/>
              <a:t>•  להבין שמשימה עוברת סטטוסים.</a:t>
            </a:r>
          </a:p>
          <a:p>
            <a:pPr rtl="1" algn="r" marL="0" indent="0">
              <a:buNone/>
            </a:pPr>
            <a:r>
              <a:rPr sz="1200" lang="he-IL"/>
              <a:t>•  הפלט אמיתי, מ-Redis ו-Celery שהורצו.</a:t>
            </a:r>
          </a:p>
          <a:p>
            <a:pPr rtl="1" algn="r" marL="0" indent="0">
              <a:buNone/>
            </a:pPr>
            <a:r>
              <a:rPr sz="1200" lang="he-IL"/>
              <a:t>•  הציור: queued (בתור), running (עובד עליה), done (הסתיימה).</a:t>
            </a:r>
          </a:p>
          <a:p>
            <a:pPr rtl="1" algn="r" marL="0" indent="0">
              <a:buNone/>
            </a:pPr>
            <a:r>
              <a:rPr sz="1200" lang="he-IL"/>
              <a:t>•  מתחת, שלוש תגובות אמיתיות של GET /jobs/4: queued עם result null; running; done עם התוצאה category delay ו-urgent true.</a:t>
            </a:r>
          </a:p>
          <a:p>
            <a:pPr rtl="1" algn="r" marL="0" indent="0">
              <a:buNone/>
            </a:pPr>
            <a:r>
              <a:rPr sz="1200" lang="he-IL"/>
              <a:t>•  הקופסה האדומה: אם העובד נופל באמצע, המשימה נשארת תקועה; בתור או ב-running לנצח.</a:t>
            </a:r>
          </a:p>
          <a:p>
            <a:pPr rtl="1" algn="r" marL="0" indent="0">
              <a:buNone/>
            </a:pPr>
            <a:r>
              <a:rPr sz="1200" lang="he-IL"/>
              <a:t>•  לכן צריך ניטור (Flower), זמן קצוב (timeout) וניסיון חוזר.</a:t>
            </a:r>
          </a:p>
          <a:p>
            <a:pPr rtl="1" algn="r" marL="0" indent="0">
              <a:buNone/>
            </a:pPr>
            <a:r>
              <a:rPr sz="1200" lang="he-IL"/>
              <a:t>•  דוגמה אמיתית מההרצה של המחבר: משימות שנשלחו כשהעובד היה תקול נשארו queued במסד.</a:t>
            </a:r>
          </a:p>
          <a:p>
            <a:pPr rtl="1" algn="r" marL="0" indent="0">
              <a:buNone/>
            </a:pPr>
            <a:r>
              <a:rPr b="1" sz="1200" lang="he-IL"/>
              <a:t>שאלה לכיתה</a:t>
            </a:r>
          </a:p>
          <a:p>
            <a:pPr rtl="1" algn="r" marL="0" indent="0">
              <a:buNone/>
            </a:pPr>
            <a:r>
              <a:rPr sz="1200" lang="he-IL"/>
              <a:t>•  איך הממשק יודע שהמשימה הסתיימה?</a:t>
            </a:r>
          </a:p>
          <a:p>
            <a:pPr rtl="1" algn="r" marL="0" indent="0">
              <a:buNone/>
            </a:pPr>
            <a:r>
              <a:rPr b="1" sz="1200" lang="he-IL"/>
              <a:t>תשובה</a:t>
            </a:r>
          </a:p>
          <a:p>
            <a:pPr rtl="1" algn="r" marL="0" indent="0">
              <a:buNone/>
            </a:pPr>
            <a:r>
              <a:rPr sz="1200" lang="he-IL"/>
              <a:t>•  הוא שואל את ה-API שוב ושוב (polling) עד שהסטטוס done או failed; בקוד הממשק יש לולאה עם sleep של שנייה.</a:t>
            </a:r>
          </a:p>
          <a:p>
            <a:pPr rtl="1" algn="r" marL="0" indent="0">
              <a:buNone/>
            </a:pPr>
            <a:r>
              <a:rPr b="1" sz="1200" lang="he-IL"/>
              <a:t>שימו לב</a:t>
            </a:r>
          </a:p>
          <a:p>
            <a:pPr rtl="1" algn="r" marL="0" indent="0">
              <a:buNone/>
            </a:pPr>
            <a:r>
              <a:rPr sz="1200" lang="he-IL"/>
              <a:t>•  סטטוס failed הוא שדה במסד, ולא רק אי-הצלחה.</a:t>
            </a:r>
          </a:p>
          <a:p>
            <a:pPr rtl="1" algn="r" marL="0" indent="0">
              <a:buNone/>
            </a:pPr>
            <a:r>
              <a:rPr b="1" sz="1200" lang="he-IL"/>
              <a:t>חיבור לשיעורים קודמים</a:t>
            </a:r>
          </a:p>
          <a:p>
            <a:pPr rtl="1" algn="r" marL="0" indent="0">
              <a:buNone/>
            </a:pPr>
            <a:r>
              <a:rPr sz="1200" lang="he-IL"/>
              <a:t>•  שיעור 9 (דיבוג).</a:t>
            </a:r>
          </a:p>
          <a:p>
            <a:pPr rtl="1" algn="r" marL="0" indent="0">
              <a:buNone/>
            </a:pPr>
            <a:r>
              <a:rPr sz="1200" lang="he-IL"/>
              <a:t>•  העמקה, המיפוי לשמות של Celery: בשירות הקורס עמודת status בטבלת jobs היא שדה של האפליקציה (queued, running, done, failed).</a:t>
            </a:r>
          </a:p>
          <a:p>
            <a:pPr rtl="1" algn="r" marL="0" indent="0">
              <a:buNone/>
            </a:pPr>
            <a:r>
              <a:rPr sz="1200" lang="he-IL"/>
              <a:t>•  Celery מדווחת מצבים משלה: PENDING, STARTED, SUCCESS, FAILURE ו־RETRY, ובסימולציית המחברת משתמשים בשמות האלה.</a:t>
            </a:r>
          </a:p>
          <a:p>
            <a:pPr rtl="1" algn="r" marL="0" indent="0">
              <a:buNone/>
            </a:pPr>
            <a:r>
              <a:rPr sz="1200" lang="he-IL"/>
              <a:t>•  שני דברים שכדאי לדעת, לפי תיעוד Celery: PENDING פירושו גם ״מזהה משימה לא מוכר״, ו־STARTED אינו מדווח כברירת מחדל (צריך להפעיל track_started).</a:t>
            </a:r>
          </a:p>
          <a:p>
            <a:pPr rtl="1" algn="r" marL="0" indent="0">
              <a:buNone/>
            </a:pPr>
            <a:r>
              <a:rPr sz="1200" lang="he-IL"/>
              <a:t>•  לכן משימה שנעלמה עלולה להיראות כממתינה לנצח.</a:t>
            </a:r>
          </a:p>
          <a:p>
            <a:pPr rtl="1" algn="r" marL="0" indent="0">
              <a:buNone/>
            </a:pPr>
            <a:r>
              <a:rPr sz="1200" lang="he-IL"/>
              <a:t>•  פירוט בשקף 80.</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כ־1.2 דקות.</a:t>
            </a:r>
          </a:p>
          <a:p>
            <a:pPr rtl="1" algn="r" marL="0" indent="0">
              <a:buNone/>
            </a:pPr>
            <a:r>
              <a:rPr b="1" sz="1200" lang="he-IL"/>
              <a:t>מטרה</a:t>
            </a:r>
          </a:p>
          <a:p>
            <a:pPr rtl="1" algn="r" marL="0" indent="0">
              <a:buNone/>
            </a:pPr>
            <a:r>
              <a:rPr sz="1200" lang="he-IL"/>
              <a:t>•  להראות שרואים מה קורה במערכת בלי לנחש.</a:t>
            </a:r>
          </a:p>
          <a:p>
            <a:pPr rtl="1" algn="r" marL="0" indent="0">
              <a:buNone/>
            </a:pPr>
            <a:r>
              <a:rPr sz="1200" lang="he-IL"/>
              <a:t>•  הצילומים אמיתיים מההרצה.</a:t>
            </a:r>
          </a:p>
          <a:p>
            <a:pPr rtl="1" algn="r" marL="0" indent="0">
              <a:buNone/>
            </a:pPr>
            <a:r>
              <a:rPr sz="1200" lang="he-IL"/>
              <a:t>•  בשמאל (Tasks) רואים משימות, מצב, זמן ריצה ועובד; בימין (Workers) רואים עובדים מחוברים, פעילים וכמה כשלו.</a:t>
            </a:r>
          </a:p>
          <a:p>
            <a:pPr rtl="1" algn="r" marL="0" indent="0">
              <a:buNone/>
            </a:pPr>
            <a:r>
              <a:rPr sz="1200" lang="he-IL"/>
              <a:t>•  בצילום מופיעה הצלחה אחת ושלושה כשלונות אמיתיים: זו תקלה בהגדרת העובד ב-macOS, שבה בלי --pool=solo העובד נכשל עם ValueError (not enough values to unpack).</a:t>
            </a:r>
          </a:p>
          <a:p>
            <a:pPr rtl="1" algn="r" marL="0" indent="0">
              <a:buNone/>
            </a:pPr>
            <a:r>
              <a:rPr sz="1200" lang="he-IL"/>
              <a:t>•  ב-Windows וב-macOS מריצים את העובד עם --pool=solo; ב-Docker (לינוקס) אין בעיה.</a:t>
            </a:r>
          </a:p>
          <a:p>
            <a:pPr rtl="1" algn="r" marL="0" indent="0">
              <a:buNone/>
            </a:pPr>
            <a:r>
              <a:rPr sz="1200" lang="he-IL"/>
              <a:t>•  בדיוק בשביל זה יש ניטור.</a:t>
            </a:r>
          </a:p>
          <a:p>
            <a:pPr rtl="1" algn="r" marL="0" indent="0">
              <a:buNone/>
            </a:pPr>
            <a:r>
              <a:rPr b="1" sz="1200" lang="he-IL"/>
              <a:t>אנלוגיה</a:t>
            </a:r>
          </a:p>
          <a:p>
            <a:pPr rtl="1" algn="r" marL="0" indent="0">
              <a:buNone/>
            </a:pPr>
            <a:r>
              <a:rPr sz="1200" lang="he-IL"/>
              <a:t>•  לוח בקרה במפעל שמציג עמדות תקולות.</a:t>
            </a:r>
          </a:p>
          <a:p>
            <a:pPr rtl="1" algn="r" marL="0" indent="0">
              <a:buNone/>
            </a:pPr>
            <a:r>
              <a:rPr b="1" sz="1200" lang="he-IL"/>
              <a:t>מסר מרכזי</a:t>
            </a:r>
          </a:p>
          <a:p>
            <a:pPr rtl="1" algn="r" marL="0" indent="0">
              <a:buNone/>
            </a:pPr>
            <a:r>
              <a:rPr sz="1200" lang="he-IL"/>
              <a:t>•  בעיות מתגלות במסך, לא כשמשתמש מתלונן.</a:t>
            </a:r>
          </a:p>
          <a:p>
            <a:pPr rtl="1" algn="r" marL="0" indent="0">
              <a:buNone/>
            </a:pPr>
            <a:r>
              <a:rPr sz="1200" lang="he-IL"/>
              <a:t>•  Flower נפתח ב-localhost:5555 אחרי celery -A worker.tasks flower.</a:t>
            </a:r>
          </a:p>
          <a:p>
            <a:pPr rtl="1" algn="r" marL="0" indent="0">
              <a:buNone/>
            </a:pPr>
            <a:r>
              <a:rPr sz="1200" lang="he-IL"/>
              <a:t>•  Flower לא רץ ב־Colab: הוא מוצג על המקרן, ובסימולציה של חלק ה׳ (לבית) הפונקציה status_counts ממלאת תפקיד דומה.</a:t>
            </a:r>
          </a:p>
          <a:p>
            <a:pPr rtl="1" algn="r" marL="0" indent="0">
              <a:buNone/>
            </a:pPr>
            <a:r>
              <a:rPr b="1" sz="1200" lang="he-IL"/>
              <a:t>שאלה לכיתה</a:t>
            </a:r>
          </a:p>
          <a:p>
            <a:pPr rtl="1" algn="r" marL="0" indent="0">
              <a:buNone/>
            </a:pPr>
            <a:r>
              <a:rPr sz="1200" lang="he-IL"/>
              <a:t>•  מה אפשר ללמוד מ-3 כשלונות ו-1 הצלחה?</a:t>
            </a:r>
          </a:p>
          <a:p>
            <a:pPr rtl="1" algn="r" marL="0" indent="0">
              <a:buNone/>
            </a:pPr>
            <a:r>
              <a:rPr b="1" sz="1200" lang="he-IL"/>
              <a:t>תשובה</a:t>
            </a:r>
          </a:p>
          <a:p>
            <a:pPr rtl="1" algn="r" marL="0" indent="0">
              <a:buNone/>
            </a:pPr>
            <a:r>
              <a:rPr sz="1200" lang="he-IL"/>
              <a:t>•  משהו שבור בעובד, וצריך לבדוק את הלוג שלו.</a:t>
            </a:r>
          </a:p>
          <a:p>
            <a:pPr rtl="1" algn="r" marL="0" indent="0">
              <a:buNone/>
            </a:pPr>
            <a:r>
              <a:rPr b="1" sz="1200" lang="he-IL"/>
              <a:t>חיבור לשיעורים קודמים</a:t>
            </a:r>
          </a:p>
          <a:p>
            <a:pPr rtl="1" algn="r" marL="0" indent="0">
              <a:buNone/>
            </a:pPr>
            <a:r>
              <a:rPr sz="1200" lang="he-IL"/>
              <a:t>•  שיעור 9.</a:t>
            </a:r>
          </a:p>
          <a:p>
            <a:pPr rtl="1" algn="r" marL="0" indent="0">
              <a:buNone/>
            </a:pPr>
            <a:r>
              <a:rPr b="1" sz="1200" lang="he-IL"/>
              <a:t>מקורות</a:t>
            </a:r>
          </a:p>
          <a:p>
            <a:pPr rtl="1" algn="r" marL="0" indent="0">
              <a:buNone/>
            </a:pPr>
            <a:r>
              <a:rPr sz="1200" lang="he-IL"/>
              <a:t>•  תיעוד Flower — כלי קוד פתוח לניטור וניהול של אשכולות Celery, ברירת מחדל פורט 5555 (celery -A &lt;app&gt; flower).</a:t>
            </a:r>
          </a:p>
          <a:p>
            <a:pPr rtl="1" algn="r" marL="0" indent="0">
              <a:buNone/>
            </a:pPr>
            <a:r>
              <a:rPr sz="1200" lang="he-IL"/>
              <a:t>•  הסיבה הדיוקית לכשלים בצילום (ValueError ב־macOS) לא אומתה: זו תצפית של המחבר, והתיקון --pool=solo ידוע; יש לבדוק לפני השיעור.</a:t>
            </a:r>
          </a:p>
          <a:p>
            <a:pPr rtl="1" algn="r" marL="0" indent="0">
              <a:buNone/>
            </a:pPr>
            <a:r>
              <a:rPr b="1" sz="1200" lang="he-IL"/>
              <a:t>מתי לדלג</a:t>
            </a:r>
          </a:p>
          <a:p>
            <a:pPr rtl="1" algn="r" marL="0" indent="0">
              <a:buNone/>
            </a:pPr>
            <a:r>
              <a:rPr sz="1200" lang="he-IL"/>
              <a:t>•  אם אין זמן: הצילומים עצמם מובנים בלי הסבר, ואפשר להשאיר לקריאה.</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לסכם את ארכיטקטורת השירות שמריץ מודל, עם כל החלקים ביחד.</a:t>
            </a:r>
          </a:p>
          <a:p>
            <a:pPr rtl="1" algn="r" marL="0" indent="0">
              <a:buNone/>
            </a:pPr>
            <a:r>
              <a:rPr sz="1200" lang="he-IL"/>
              <a:t>•  זה אותה מפה של מפת היום, הפעם עם פס Docker בתחתית: הכול ארוז בקונטיינרים, ואפשר להריץ אותם על מכונות רבות (Kubernetes).</a:t>
            </a:r>
          </a:p>
          <a:p>
            <a:pPr rtl="1" algn="r" marL="0" indent="0">
              <a:buNone/>
            </a:pPr>
            <a:r>
              <a:rPr sz="1200" lang="he-IL"/>
              <a:t>•  הדגישו את העקרונות: API דק שלא מריץ מודל; תור; עובדים שמחזיקים את המודל טעון בזיכרון (טוענים פעם אחת בהפעלה); מסד נתונים למצב ותוצאות; ניטור; קונטיינרים.</a:t>
            </a:r>
          </a:p>
          <a:p>
            <a:pPr rtl="1" algn="r" marL="0" indent="0">
              <a:buNone/>
            </a:pPr>
            <a:r>
              <a:rPr sz="1200" lang="he-IL"/>
              <a:t>•  כך מגדילים קיבולת על ידי הוספת עובדים בלי לגעת ב-API.</a:t>
            </a:r>
          </a:p>
          <a:p>
            <a:pPr rtl="1" algn="r" marL="0" indent="0">
              <a:buNone/>
            </a:pPr>
            <a:r>
              <a:rPr b="1" sz="1200" lang="he-IL"/>
              <a:t>אנלוגיה</a:t>
            </a:r>
          </a:p>
          <a:p>
            <a:pPr rtl="1" algn="r" marL="0" indent="0">
              <a:buNone/>
            </a:pPr>
            <a:r>
              <a:rPr sz="1200" lang="he-IL"/>
              <a:t>•  מפעל מודרני עם קבלה, מחסן ביניים, קו ייצור ולוח בקרה.</a:t>
            </a:r>
          </a:p>
          <a:p>
            <a:pPr rtl="1" algn="r" marL="0" indent="0">
              <a:buNone/>
            </a:pPr>
            <a:r>
              <a:rPr b="1" sz="1200" lang="he-IL"/>
              <a:t>שאלה לכיתה</a:t>
            </a:r>
          </a:p>
          <a:p>
            <a:pPr rtl="1" algn="r" marL="0" indent="0">
              <a:buNone/>
            </a:pPr>
            <a:r>
              <a:rPr sz="1200" lang="he-IL"/>
              <a:t>•  מה מתחזק יותר, API שמריץ את המודל או API שמעביר לתור?</a:t>
            </a:r>
          </a:p>
          <a:p>
            <a:pPr rtl="1" algn="r" marL="0" indent="0">
              <a:buNone/>
            </a:pPr>
            <a:r>
              <a:rPr b="1" sz="1200" lang="he-IL"/>
              <a:t>תשובה</a:t>
            </a:r>
          </a:p>
          <a:p>
            <a:pPr rtl="1" algn="r" marL="0" indent="0">
              <a:buNone/>
            </a:pPr>
            <a:r>
              <a:rPr sz="1200" lang="he-IL"/>
              <a:t>•  השני, כי אפשר לשנות כל חלק בנפרד.</a:t>
            </a:r>
          </a:p>
          <a:p>
            <a:pPr rtl="1" algn="r" marL="0" indent="0">
              <a:buNone/>
            </a:pPr>
            <a:r>
              <a:rPr b="1" sz="1200" lang="he-IL"/>
              <a:t>חיבור לשיעורים קודמים</a:t>
            </a:r>
          </a:p>
          <a:p>
            <a:pPr rtl="1" algn="r" marL="0" indent="0">
              <a:buNone/>
            </a:pPr>
            <a:r>
              <a:rPr sz="1200" lang="he-IL"/>
              <a:t>•  שיעור 11 מרחיב על ארכיטקטורה, והפרויקט הקבוצתי יכול להשתמש בגרסה פשוטה של אותו מבנה.</a:t>
            </a:r>
          </a:p>
          <a:p>
            <a:pPr rtl="1" algn="r" marL="0" indent="0">
              <a:buNone/>
            </a:pPr>
            <a:r>
              <a:rPr b="1" sz="1200" lang="he-IL"/>
              <a:t>מתי לדלג</a:t>
            </a:r>
          </a:p>
          <a:p>
            <a:pPr rtl="1" algn="r" marL="0" indent="0">
              <a:buNone/>
            </a:pPr>
            <a:r>
              <a:rPr sz="1200" lang="he-IL"/>
              <a:t>•  אם אין זמן: הציור כבר הוצג בשקף מפת היום.</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מה אומרים</a:t>
            </a:r>
          </a:p>
          <a:p>
            <a:pPr rtl="1" algn="r" marL="0" indent="0">
              <a:buNone/>
            </a:pPr>
            <a:r>
              <a:rPr sz="1200" lang="he-IL"/>
              <a:t>•  ארבעה עקרונות לשירות שמריץ מודל.</a:t>
            </a:r>
          </a:p>
          <a:p>
            <a:pPr rtl="1" algn="r" marL="0" indent="0">
              <a:buNone/>
            </a:pPr>
            <a:r>
              <a:rPr sz="1200" lang="he-IL"/>
              <a:t>•  (1) API דק: הוא לא מריץ את המודל, רק רושם משימה ומחזיר 202.</a:t>
            </a:r>
          </a:p>
          <a:p>
            <a:pPr rtl="1" algn="r" marL="0" indent="0">
              <a:buNone/>
            </a:pPr>
            <a:r>
              <a:rPr sz="1200" lang="he-IL"/>
              <a:t>•  (2) המודל נטען פעם אחת בעובד, בהפעלה, ולא בכל בקשה; טעינה בכל בקשה היא איטית ומבזבזת זיכרון.</a:t>
            </a:r>
          </a:p>
          <a:p>
            <a:pPr rtl="1" algn="r" marL="0" indent="0">
              <a:buNone/>
            </a:pPr>
            <a:r>
              <a:rPr sz="1200" lang="he-IL"/>
              <a:t>•  (3) ניסיון חוזר בטוח (idempotent): אם משימה רצה פעמיים, אין נזק; למשל עדכון סטטוס ל-done הוא בטוח, אבל שליחת מייל פעמיים אינה.</a:t>
            </a:r>
          </a:p>
          <a:p>
            <a:pPr rtl="1" algn="r" marL="0" indent="0">
              <a:buNone/>
            </a:pPr>
            <a:r>
              <a:rPr sz="1200" lang="he-IL"/>
              <a:t>•  (4) זמן קצוב והגבלות: כמה זמן מותר למשימה, כמה משימות במקביל, ומה קורה בכשל.</a:t>
            </a:r>
          </a:p>
          <a:p>
            <a:pPr rtl="1" algn="r" marL="0" indent="0">
              <a:buNone/>
            </a:pPr>
            <a:r>
              <a:rPr b="1" sz="1200" lang="he-IL"/>
              <a:t>אנלוגיה</a:t>
            </a:r>
          </a:p>
          <a:p>
            <a:pPr rtl="1" algn="r" marL="0" indent="0">
              <a:buNone/>
            </a:pPr>
            <a:r>
              <a:rPr sz="1200" lang="he-IL"/>
              <a:t>•  הזמנת רכש שנשלחת פעמיים לספק היא בעיה; לכן המשימה צריכה לבדוק אם כבר בוצעה.</a:t>
            </a:r>
          </a:p>
          <a:p>
            <a:pPr rtl="1" algn="r" marL="0" indent="0">
              <a:buNone/>
            </a:pPr>
            <a:r>
              <a:rPr b="1" sz="1200" lang="he-IL"/>
              <a:t>שאלה לכיתה</a:t>
            </a:r>
          </a:p>
          <a:p>
            <a:pPr rtl="1" algn="r" marL="0" indent="0">
              <a:buNone/>
            </a:pPr>
            <a:r>
              <a:rPr sz="1200" lang="he-IL"/>
              <a:t>•  איזו משימה ב-ERP אינה idempotent?</a:t>
            </a:r>
          </a:p>
          <a:p>
            <a:pPr rtl="1" algn="r" marL="0" indent="0">
              <a:buNone/>
            </a:pPr>
            <a:r>
              <a:rPr b="1" sz="1200" lang="he-IL"/>
              <a:t>תשובה</a:t>
            </a:r>
          </a:p>
          <a:p>
            <a:pPr rtl="1" algn="r" marL="0" indent="0">
              <a:buNone/>
            </a:pPr>
            <a:r>
              <a:rPr sz="1200" lang="he-IL"/>
              <a:t>•  יצירת הזמנה חדשה בכל הרצה.</a:t>
            </a:r>
          </a:p>
          <a:p>
            <a:pPr rtl="1" algn="r" marL="0" indent="0">
              <a:buNone/>
            </a:pPr>
            <a:r>
              <a:rPr b="1" sz="1200" lang="he-IL"/>
              <a:t>חיבור לשיעורים קודמים</a:t>
            </a:r>
          </a:p>
          <a:p>
            <a:pPr rtl="1" algn="r" marL="0" indent="0">
              <a:buNone/>
            </a:pPr>
            <a:r>
              <a:rPr sz="1200" lang="he-IL"/>
              <a:t>•  שיעורים 9 ו-10.</a:t>
            </a:r>
          </a:p>
          <a:p>
            <a:pPr rtl="1" algn="r" marL="0" indent="0">
              <a:buNone/>
            </a:pPr>
            <a:r>
              <a:rPr b="1" sz="1200" lang="he-IL"/>
              <a:t>להעמקה</a:t>
            </a:r>
          </a:p>
          <a:p>
            <a:pPr rtl="1" algn="r" marL="0" indent="0">
              <a:buNone/>
            </a:pPr>
            <a:r>
              <a:rPr sz="1200" lang="he-IL"/>
              <a:t>•  אלה המלצות פרקטיקה לשירות עם מודל, ולא תקן.</a:t>
            </a:r>
          </a:p>
          <a:p>
            <a:pPr rtl="1" algn="r" marL="0" indent="0">
              <a:buNone/>
            </a:pPr>
            <a:r>
              <a:rPr sz="1200" lang="he-IL"/>
              <a:t>•  הפירוט של מה Celery מבטיחה בפועל נמצא בשקף 80, על בסיס התיעוד הרשמי שלה.</a:t>
            </a:r>
          </a:p>
          <a:p>
            <a:pPr rtl="1" algn="r" marL="0" indent="0">
              <a:buNone/>
            </a:pPr>
            <a:r>
              <a:rPr b="1" sz="1200" lang="he-IL"/>
              <a:t>מתי לדלג</a:t>
            </a:r>
          </a:p>
          <a:p>
            <a:pPr rtl="1" algn="r" marL="0" indent="0">
              <a:buNone/>
            </a:pPr>
            <a:r>
              <a:rPr sz="1200" lang="he-IL"/>
              <a:t>•  אם אין זמן, דלגו; ״ניסיון חוזר בטוח״ מפורט בשקף 80.</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כ־1.4 דקות.</a:t>
            </a:r>
          </a:p>
          <a:p>
            <a:pPr rtl="1" algn="r" marL="0" indent="0">
              <a:buNone/>
            </a:pPr>
            <a:r>
              <a:rPr b="1" sz="1200" lang="he-IL"/>
              <a:t>מה אומרים</a:t>
            </a:r>
          </a:p>
          <a:p>
            <a:pPr rtl="1" algn="r" marL="0" indent="0">
              <a:buNone/>
            </a:pPr>
            <a:r>
              <a:rPr sz="1200" lang="he-IL"/>
              <a:t>•  זה שקף מרכזי: פרויקט הגמר דורש קריאה ל-API של מודל שפה, ובדרך כלל בשירות חינמי.</a:t>
            </a:r>
          </a:p>
          <a:p>
            <a:pPr rtl="1" algn="r" marL="0" indent="0">
              <a:buNone/>
            </a:pPr>
            <a:r>
              <a:rPr sz="1200" lang="he-IL"/>
              <a:t>•  כל ספק מציע כתובת, מפתח והודעות.</a:t>
            </a:r>
          </a:p>
          <a:p>
            <a:pPr rtl="1" algn="r" marL="0" indent="0">
              <a:buNone/>
            </a:pPr>
            <a:r>
              <a:rPr sz="1200" lang="he-IL"/>
              <a:t>•  מבנה ההודעות: בצד ימין למעלה, הודעת מערכת (system) שמגדירה תפקיד וכללים, כאן: סווג מיילים מספקים ותחזיר JSON בלבד עם category ו-urgent.</a:t>
            </a:r>
          </a:p>
          <a:p>
            <a:pPr rtl="1" algn="r" marL="0" indent="0">
              <a:buNone/>
            </a:pPr>
            <a:r>
              <a:rPr sz="1200" lang="he-IL"/>
              <a:t>•  מתחתיה הודעת משתמש (user): הקלט, כאן מייל על משלוח מאחר.</a:t>
            </a:r>
          </a:p>
          <a:p>
            <a:pPr rtl="1" algn="r" marL="0" indent="0">
              <a:buNone/>
            </a:pPr>
            <a:r>
              <a:rPr sz="1200" lang="he-IL"/>
              <a:t>•  משמאל, תשובת המודל: JSON עם category delay ו-urgent true.</a:t>
            </a:r>
          </a:p>
          <a:p>
            <a:pPr rtl="1" algn="r" marL="0" indent="0">
              <a:buNone/>
            </a:pPr>
            <a:r>
              <a:rPr sz="1200" lang="he-IL"/>
              <a:t>•  פרמטר temperature (שיעור 2): נמוך נותן פלט יציב יותר, לא דטרמיניסטי לחלוטין.</a:t>
            </a:r>
          </a:p>
          <a:p>
            <a:pPr rtl="1" algn="r" marL="0" indent="0">
              <a:buNone/>
            </a:pPr>
            <a:r>
              <a:rPr sz="1200" lang="he-IL"/>
              <a:t>•  הקוד המדויק תלוי בספק, ולכן הוא בדף ההוראות של הקבוצה.</a:t>
            </a:r>
          </a:p>
          <a:p>
            <a:pPr rtl="1" algn="r" marL="0" indent="0">
              <a:buNone/>
            </a:pPr>
            <a:r>
              <a:rPr sz="1200" lang="he-IL"/>
              <a:t>•  חשוב: מבקשים פלט JSON כדי שהקוד יוכל להשתמש בו, ומאמתים אותו (שיעור 10).</a:t>
            </a:r>
          </a:p>
          <a:p>
            <a:pPr rtl="1" algn="r" marL="0" indent="0">
              <a:buNone/>
            </a:pPr>
            <a:r>
              <a:rPr sz="1200" lang="he-IL"/>
              <a:t>•  המפתח במשתנה סביבה, לא בקוד.</a:t>
            </a:r>
          </a:p>
          <a:p>
            <a:pPr rtl="1" algn="r" marL="0" indent="0">
              <a:buNone/>
            </a:pPr>
            <a:r>
              <a:rPr sz="1200" lang="he-IL"/>
              <a:t>•  שימו לב למגבלות: מכסות חינמיות, ושגיאת 429 (מגבלת קצב, קוד שראינו בשקף 8).</a:t>
            </a:r>
          </a:p>
          <a:p>
            <a:pPr rtl="1" algn="r" marL="0" indent="0">
              <a:buNone/>
            </a:pPr>
            <a:r>
              <a:rPr sz="1200" lang="he-IL"/>
              <a:t>•  זמינות ומכסות של שכבות חינמיות משתנות, ויש לאמת לפני הסמסטר.</a:t>
            </a:r>
          </a:p>
          <a:p>
            <a:pPr rtl="1" algn="r" marL="0" indent="0">
              <a:buNone/>
            </a:pPr>
            <a:r>
              <a:rPr b="1" sz="1200" lang="he-IL"/>
              <a:t>שימו לב</a:t>
            </a:r>
          </a:p>
          <a:p>
            <a:pPr rtl="1" algn="r" marL="0" indent="0">
              <a:buNone/>
            </a:pPr>
            <a:r>
              <a:rPr sz="1200" lang="he-IL"/>
              <a:t>•  טמפרטורה נמוכה מצמצמת שונות בפלט אך אינה מבטיחה פלט זהה או תקין, ולכן מאמתים את הפלט (העשרה, שקף 81).</a:t>
            </a:r>
          </a:p>
          <a:p>
            <a:pPr rtl="1" algn="r" marL="0" indent="0">
              <a:buNone/>
            </a:pPr>
            <a:r>
              <a:rPr b="1" sz="1200" lang="he-IL"/>
              <a:t>חיבור לשיעורים קודמים</a:t>
            </a:r>
          </a:p>
          <a:p>
            <a:pPr rtl="1" algn="r" marL="0" indent="0">
              <a:buNone/>
            </a:pPr>
            <a:r>
              <a:rPr sz="1200" lang="he-IL"/>
              <a:t>•  במפגש 2 למדנו שבצ׳אט אין בדרך כלל שליטה בטמפרטורה, ושבעבודה דרך API אפשר לקבוע אותה; כאן זה קורה בפועל (temperature נמוכה לסיווג).</a:t>
            </a:r>
          </a:p>
          <a:p>
            <a:pPr rtl="1" algn="r" marL="0" indent="0">
              <a:buNone/>
            </a:pPr>
            <a:r>
              <a:rPr b="1" sz="1200" lang="he-IL"/>
              <a:t>שאלת היזכרות</a:t>
            </a:r>
          </a:p>
          <a:p>
            <a:pPr rtl="1" algn="r" marL="0" indent="0">
              <a:buNone/>
            </a:pPr>
            <a:r>
              <a:rPr sz="1200" lang="he-IL"/>
              <a:t>•  האם טמפרטורה 0 מבטיחה שהמודל צודק?</a:t>
            </a:r>
          </a:p>
          <a:p>
            <a:pPr rtl="1" algn="r" marL="0" indent="0">
              <a:buNone/>
            </a:pPr>
            <a:r>
              <a:rPr b="1" sz="1200" lang="he-IL"/>
              <a:t>תשובה</a:t>
            </a:r>
          </a:p>
          <a:p>
            <a:pPr rtl="1" algn="r" marL="0" indent="0">
              <a:buNone/>
            </a:pPr>
            <a:r>
              <a:rPr sz="1200" lang="he-IL"/>
              <a:t>•  לא, היא רק עקבית: אם הערכת המודל שגויה הוא יטעה באותו אופן.</a:t>
            </a:r>
          </a:p>
          <a:p>
            <a:pPr rtl="1" algn="r" marL="0" indent="0">
              <a:buNone/>
            </a:pPr>
            <a:r>
              <a:rPr b="1" sz="1200" lang="he-IL"/>
              <a:t>אם הכיתה לא זוכרת</a:t>
            </a:r>
          </a:p>
          <a:p>
            <a:pPr rtl="1" algn="r" marL="0" indent="0">
              <a:buNone/>
            </a:pPr>
            <a:r>
              <a:rPr sz="1200" lang="he-IL"/>
              <a:t>•  ״נמוכה היא עקבית, לא בהכרח נכונה״, והמשיכו.</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כ־1.1 דקות.</a:t>
            </a:r>
          </a:p>
          <a:p>
            <a:pPr rtl="1" algn="r" marL="0" indent="0">
              <a:buNone/>
            </a:pPr>
            <a:r>
              <a:rPr b="1" sz="1200" lang="he-IL"/>
              <a:t>מטרה</a:t>
            </a:r>
          </a:p>
          <a:p>
            <a:pPr rtl="1" algn="r" marL="0" indent="0">
              <a:buNone/>
            </a:pPr>
            <a:r>
              <a:rPr sz="1200" lang="he-IL"/>
              <a:t>•  להראות איך מחברים מודל אמיתי לשירות בלי לשנות את החוזה.</a:t>
            </a:r>
          </a:p>
          <a:p>
            <a:pPr rtl="1" algn="r" marL="0" indent="0">
              <a:buNone/>
            </a:pPr>
            <a:r>
              <a:rPr sz="1200" lang="he-IL"/>
              <a:t>•  בצד ימין הפונקציה classify() שבשירות הדוגמה: כללים פשוטים (מכיל invoice, late או delay), שמשמשת תחליף למודל.</a:t>
            </a:r>
          </a:p>
          <a:p>
            <a:pPr rtl="1" algn="r" marL="0" indent="0">
              <a:buNone/>
            </a:pPr>
            <a:r>
              <a:rPr sz="1200" lang="he-IL"/>
              <a:t>•  בשירות המלא, הקוד עונה גם עם urgent ועם שלוש קטגוריות; הקטע בשקף מקוצר.</a:t>
            </a:r>
          </a:p>
          <a:p>
            <a:pPr rtl="1" algn="r" marL="0" indent="0">
              <a:buNone/>
            </a:pPr>
            <a:r>
              <a:rPr sz="1200" lang="he-IL"/>
              <a:t>•  משמאל מה שתכתבו בפרויקט: קריאה ל-LLM API עם המפתח ממשתנה סביבה, הנחיית מערכת, טמפרטורה נמוכה, ו-json.loads על התשובה.</a:t>
            </a:r>
          </a:p>
          <a:p>
            <a:pPr rtl="1" algn="r" marL="0" indent="0">
              <a:buNone/>
            </a:pPr>
            <a:r>
              <a:rPr b="1" sz="1200" lang="he-IL"/>
              <a:t>מסר מרכזי</a:t>
            </a:r>
          </a:p>
          <a:p>
            <a:pPr rtl="1" algn="r" marL="0" indent="0">
              <a:buNone/>
            </a:pPr>
            <a:r>
              <a:rPr sz="1200" lang="he-IL"/>
              <a:t>•  אותה פונקציה, אותו חוזה; מחליפים רק את מה שבפנים.</a:t>
            </a:r>
          </a:p>
          <a:p>
            <a:pPr rtl="1" algn="r" marL="0" indent="0">
              <a:buNone/>
            </a:pPr>
            <a:r>
              <a:rPr sz="1200" lang="he-IL"/>
              <a:t>•  זו גם הסיבה שהסוכן יכול לעשות את ההחלפה בבטחה כל עוד הבדיקות קיימות.</a:t>
            </a:r>
          </a:p>
          <a:p>
            <a:pPr rtl="1" algn="r" marL="0" indent="0">
              <a:buNone/>
            </a:pPr>
            <a:r>
              <a:rPr sz="1200" lang="he-IL"/>
              <a:t>•  אזהרות: להוסיף אימות לפלט (אולי המודל החזיר טקסט לא תקין), טיפול ב-timeout, והמפתח לא בקוד.</a:t>
            </a:r>
          </a:p>
          <a:p>
            <a:pPr rtl="1" algn="r" marL="0" indent="0">
              <a:buNone/>
            </a:pPr>
            <a:r>
              <a:rPr b="1" sz="1200" lang="he-IL"/>
              <a:t>שאלה לכיתה</a:t>
            </a:r>
          </a:p>
          <a:p>
            <a:pPr rtl="1" algn="r" marL="0" indent="0">
              <a:buNone/>
            </a:pPr>
            <a:r>
              <a:rPr sz="1200" lang="he-IL"/>
              <a:t>•  מה הייתם בודקים אחרי החלפה ל-LLM?</a:t>
            </a:r>
          </a:p>
          <a:p>
            <a:pPr rtl="1" algn="r" marL="0" indent="0">
              <a:buNone/>
            </a:pPr>
            <a:r>
              <a:rPr b="1" sz="1200" lang="he-IL"/>
              <a:t>תשובה</a:t>
            </a:r>
          </a:p>
          <a:p>
            <a:pPr rtl="1" algn="r" marL="0" indent="0">
              <a:buNone/>
            </a:pPr>
            <a:r>
              <a:rPr sz="1200" lang="he-IL"/>
              <a:t>•  שהפלט JSON תקין, שהקטגוריות נכונות, ושההרצה פעמיים לא נותנת תשובות סותרות.</a:t>
            </a:r>
          </a:p>
          <a:p>
            <a:pPr rtl="1" algn="r" marL="0" indent="0">
              <a:buNone/>
            </a:pPr>
            <a:r>
              <a:rPr b="1" sz="1200" lang="he-IL"/>
              <a:t>חיבור לשיעורים קודמים</a:t>
            </a:r>
          </a:p>
          <a:p>
            <a:pPr rtl="1" algn="r" marL="0" indent="0">
              <a:buNone/>
            </a:pPr>
            <a:r>
              <a:rPr sz="1200" lang="he-IL"/>
              <a:t>•  שיעורים 2 ו-10.</a:t>
            </a:r>
          </a:p>
          <a:p>
            <a:pPr rtl="1" algn="r" marL="0" indent="0">
              <a:buNone/>
            </a:pPr>
            <a:r>
              <a:rPr sz="1200" lang="he-IL"/>
              <a:t>•  במחברת, בחלק ה׳ (לבית), classify היא כללי מילים פשוטים, כמו בשקף.</a:t>
            </a:r>
          </a:p>
          <a:p>
            <a:pPr rtl="1" algn="r" marL="0" indent="0">
              <a:buNone/>
            </a:pPr>
            <a:r>
              <a:rPr sz="1200" lang="he-IL"/>
              <a:t>•  חיבור למפגש 6: החלפה כזו מבצע סוכן, ולכן commit לפני ו־diff אחרי: ה־diff חייב להראות שרק גוף הפונקציה השתנה ושהחוזה נשאר.</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12 דקות.</a:t>
            </a:r>
          </a:p>
          <a:p>
            <a:pPr rtl="1" algn="r" marL="0" indent="0">
              <a:buNone/>
            </a:pPr>
            <a:r>
              <a:rPr b="1" sz="1200" lang="he-IL"/>
              <a:t>מה אומרים</a:t>
            </a:r>
          </a:p>
          <a:p>
            <a:pPr rtl="1" algn="r" marL="0" indent="0">
              <a:buNone/>
            </a:pPr>
            <a:r>
              <a:rPr sz="1200" lang="he-IL"/>
              <a:t>•  מעבדה ג׳, 12 דקות, בזוגות: חלק ג׳ במחברת HM_07 (כ־10 דקות) ומסקנה, חלק ד׳ (2 דקות).</a:t>
            </a:r>
          </a:p>
          <a:p>
            <a:pPr rtl="1" algn="r" marL="0" indent="0">
              <a:buNone/>
            </a:pPr>
            <a:r>
              <a:rPr sz="1200" lang="he-IL"/>
              <a:t>•  זו מעבדה שמחברת את הכול: שרת שני בתוך Colab, שהנתונים שלו מגיעים מהמסד של מעבדה ב׳.</a:t>
            </a:r>
          </a:p>
          <a:p>
            <a:pPr rtl="1" algn="r" marL="0" indent="0">
              <a:buNone/>
            </a:pPr>
            <a:r>
              <a:rPr sz="1200" lang="he-IL"/>
              <a:t>•  שלב 1: top_products_from_db מחברת את GET /reports/top-products לשאילתה q_top_products.</a:t>
            </a:r>
          </a:p>
          <a:p>
            <a:pPr rtl="1" algn="r" marL="0" indent="0">
              <a:buNone/>
            </a:pPr>
            <a:r>
              <a:rPr sz="1200" lang="he-IL"/>
              <a:t>•  שלב 2: e2e_test, בדיקה מקצה לקצה, ואחריה בדיקה של הבדיקה: תא הבדיקה מריץ אותה על ארבע גרסאות שגויות של top_products_from_db (ascending, alphabetical, by_quantity, one_extra), והיא חייבת להיכשל על כולן.</a:t>
            </a:r>
          </a:p>
          <a:p>
            <a:pPr rtl="1" algn="r" marL="0" indent="0">
              <a:buNone/>
            </a:pPr>
            <a:r>
              <a:rPr sz="1200" lang="he-IL"/>
              <a:t>•  שלב 3: צעד אמיתי עם AI: מבקשים מ־Gemini (או מכל צ׳אט) לכתוב get_supplier לפי חוזה נתון, מדביקים, ובודקים עם check_contract שבנו במעבדה א׳ ועם בדיקות תוכן.</a:t>
            </a:r>
          </a:p>
          <a:p>
            <a:pPr rtl="1" algn="r" marL="0" indent="0">
              <a:buNone/>
            </a:pPr>
            <a:r>
              <a:rPr sz="1200" lang="he-IL"/>
              <a:t>•  בסוף, שלושה משפטים של מסקנה.</a:t>
            </a:r>
          </a:p>
          <a:p>
            <a:pPr rtl="1" algn="r" marL="0" indent="0">
              <a:buNone/>
            </a:pPr>
            <a:r>
              <a:rPr sz="1200" lang="he-IL"/>
              <a:t>•  על המקרן, ולא במחברת: תור (Redis), Celery ו־Flower לא רצים ב־Colab, לכן מציגים את שקפי החלק הקודם ואת Flower; הסימולציה של אותו מבנה (queue.Queue ו־threads) נמצאת בחלק ה׳ של המחברת, לבית.</a:t>
            </a:r>
          </a:p>
          <a:p>
            <a:pPr rtl="1" algn="r" marL="0" indent="0">
              <a:buNone/>
            </a:pPr>
            <a:r>
              <a:rPr b="1" sz="1200" lang="he-IL"/>
              <a:t>הכנה לפני השיעור</a:t>
            </a:r>
          </a:p>
          <a:p>
            <a:pPr rtl="1" algn="r" marL="0" indent="0">
              <a:buNone/>
            </a:pPr>
            <a:r>
              <a:rPr sz="1200" lang="he-IL"/>
              <a:t>•  להחליף את ה־QR (מקום שמור) בקישור למחברת, ולהריץ Run all על הפתרון.</a:t>
            </a:r>
          </a:p>
          <a:p>
            <a:pPr rtl="1" algn="r" marL="0" indent="0">
              <a:buNone/>
            </a:pPr>
            <a:r>
              <a:rPr sz="1200" lang="he-IL"/>
              <a:t>•  אם הזמן קצר: את צעד ה־AI (שלב 3) להעביר לבית.</a:t>
            </a:r>
          </a:p>
          <a:p>
            <a:pPr rtl="1" algn="r" marL="0" indent="0">
              <a:buNone/>
            </a:pPr>
            <a:r>
              <a:rPr sz="1200" lang="he-IL"/>
              <a:t>•  לוודא שהסטודנטים באמת מדביקים קוד מכלי AI ולא כותבים בעצמם.</a:t>
            </a:r>
          </a:p>
          <a:p>
            <a:pPr rtl="1" algn="r" marL="0" indent="0">
              <a:buNone/>
            </a:pPr>
            <a:r>
              <a:rPr b="1" sz="1200" lang="he-IL"/>
              <a:t>למה עושים את זה</a:t>
            </a:r>
          </a:p>
          <a:p>
            <a:pPr rtl="1" algn="r" marL="0" indent="0">
              <a:buNone/>
            </a:pPr>
            <a:r>
              <a:rPr sz="1200" lang="he-IL"/>
              <a:t>•  בשירות אמיתי שכבה אחת נשענת על האחרת, ולכן בודקים מקצה לקצה ובודקים גם את הבדיקה.</a:t>
            </a:r>
          </a:p>
          <a:p>
            <a:pPr rtl="1" algn="r" marL="0" indent="0">
              <a:buNone/>
            </a:pPr>
            <a:r>
              <a:rPr sz="1200" lang="he-IL"/>
              <a:t>•  החיבור לתיאוריה: top_products_from_db ו־e2e_test ← שקף 50 (שכבות); צעד ה־AI וה־check_contract ← שקף 53 (spec-first) ושקף 56; מסקנה (חלק ד׳) ← שקף 87.</a:t>
            </a:r>
          </a:p>
          <a:p>
            <a:pPr rtl="1" algn="r" marL="0" indent="0">
              <a:buNone/>
            </a:pPr>
            <a:r>
              <a:rPr b="1" sz="1200" lang="he-IL"/>
              <a:t>חיבור לשיעורים קודמים</a:t>
            </a:r>
          </a:p>
          <a:p>
            <a:pPr rtl="1" algn="r" marL="0" indent="0">
              <a:buNone/>
            </a:pPr>
            <a:r>
              <a:rPr sz="1200" lang="he-IL"/>
              <a:t>•  ai_log הוא גרסה קטנה של יומן ה־AI ממפגש 5 (איזה כלי, כמה זמן, כמה בעיות נמצאו)</a:t>
            </a:r>
          </a:p>
          <a:p>
            <a:pPr rtl="1" algn="r" marL="0" indent="0">
              <a:buNone/>
            </a:pPr>
            <a:r>
              <a:rPr sz="1200" lang="he-IL"/>
              <a:t>•  הפרומפט הממוקד נשען על נושא מפגש 3, לפי הסילבוס</a:t>
            </a:r>
          </a:p>
          <a:p>
            <a:pPr rtl="1" algn="r" marL="0" indent="0">
              <a:buNone/>
            </a:pPr>
            <a:r>
              <a:rPr sz="1200" lang="he-IL"/>
              <a:t>•  הדבקת הקוד ובדיקתו מול החוזה, ולא לפי ״זה רץ״, היא הכלל ממפגשים 1, 2 ו־6</a:t>
            </a:r>
          </a:p>
          <a:p>
            <a:pPr rtl="1" algn="r" marL="0" indent="0">
              <a:buNone/>
            </a:pPr>
            <a:r>
              <a:rPr sz="1200" lang="he-IL"/>
              <a:t>•  בפרויקט אמיתי עושים commit לפני ההדבקה וקוראים diff אחרי (מפגש 6), ובמחברת אין Git.</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לתת מסגרת מושגית לרעיון ״מפרט קודם״ שהקורס מציג (הסילבוס כולל מבוא ל־spec-driven development), ולהבהיר שהתחום עדיין בהגדרה.</a:t>
            </a:r>
          </a:p>
          <a:p>
            <a:pPr rtl="1" algn="r" marL="0" indent="0">
              <a:buNone/>
            </a:pPr>
            <a:r>
              <a:rPr b="1" sz="1200" lang="he-IL"/>
              <a:t>מקורות</a:t>
            </a:r>
          </a:p>
          <a:p>
            <a:pPr rtl="1" algn="r" marL="0" indent="0">
              <a:buNone/>
            </a:pPr>
            <a:r>
              <a:rPr sz="1200" lang="he-IL"/>
              <a:t>•  Birgitta Böckeler, ״Understanding Spec-Driven-Development: Kiro, spec-kit, and Tessl״, martinfowler.com, 15 באוקטובר 2025.</a:t>
            </a:r>
          </a:p>
          <a:p>
            <a:pPr rtl="1" algn="r" marL="0" indent="0">
              <a:buNone/>
            </a:pPr>
            <a:r>
              <a:rPr sz="1200" lang="he-IL"/>
              <a:t>•  הגדרת העבודה שלה: spec-driven development פירושו לכתוב מפרט לפני כתיבת קוד עם AI (״documentation first״), והמפרט משמש מקור אמת לאדם וגם ל־AI.</a:t>
            </a:r>
          </a:p>
          <a:p>
            <a:pPr rtl="1" algn="r" marL="0" indent="0">
              <a:buNone/>
            </a:pPr>
            <a:r>
              <a:rPr sz="1200" lang="he-IL"/>
              <a:t>•  היא מבחינה בשלוש רמות: spec-first, שבה מפרט מסודר נכתב ומשמש למשימה הנוכחית ולא נשמר אחריה; spec-anchored, שבה המפרט נשמר ומשמש לפיתוח ותחזוקה לאורך זמן; ו־spec-as-source, שבה המפרט הוא הקובץ הראשי, בני אדם עורכים רק אותו והקוד נוצר ממנו.</a:t>
            </a:r>
          </a:p>
          <a:p>
            <a:pPr rtl="1" algn="r" marL="0" indent="0">
              <a:buNone/>
            </a:pPr>
            <a:r>
              <a:rPr sz="1200" lang="he-IL"/>
              <a:t>•  ברמת הקורס אנחנו עובדים ב־spec-first: החוזה ובדיקות הקבלה נכתבים קודם, ה־AI מממש, ואנחנו מאמתים (מעבדה ג׳).</a:t>
            </a:r>
          </a:p>
          <a:p>
            <a:pPr rtl="1" algn="r" marL="0" indent="0">
              <a:buNone/>
            </a:pPr>
            <a:r>
              <a:rPr sz="1200" lang="he-IL"/>
              <a:t>•  חשוב להציג גם את הביקורת שהיא מעלה, כי זו הבחנה בין עובדה למסקנה: לדבריה כלים כמו spec-kit ו־Kiro יצרו הרבה קבצי מפרט ארוכים שקשה לסקור</a:t>
            </a:r>
          </a:p>
          <a:p>
            <a:pPr rtl="1" algn="r" marL="0" indent="0">
              <a:buNone/>
            </a:pPr>
            <a:r>
              <a:rPr sz="1200" lang="he-IL"/>
              <a:t>•  סוכנים התעלמו לפעמים מהוראות במפרט</a:t>
            </a:r>
          </a:p>
          <a:p>
            <a:pPr rtl="1" algn="r" marL="0" indent="0">
              <a:buNone/>
            </a:pPr>
            <a:r>
              <a:rPr sz="1200" lang="he-IL"/>
              <a:t>•  יצירת קוד מאותו מפרט כמה פעמים נתנה תוצאות שונות (אי־דטרמיניזם)</a:t>
            </a:r>
          </a:p>
          <a:p>
            <a:pPr rtl="1" algn="r" marL="0" indent="0">
              <a:buNone/>
            </a:pPr>
            <a:r>
              <a:rPr sz="1200" lang="he-IL"/>
              <a:t>•  וקשה לדעת מתי להישאר ברמה פונקציונלית ומתי להוסיף פרטים טכניים.</a:t>
            </a:r>
          </a:p>
          <a:p>
            <a:pPr rtl="1" algn="r" marL="0" indent="0">
              <a:buNone/>
            </a:pPr>
            <a:r>
              <a:rPr sz="1200" lang="he-IL"/>
              <a:t>•  היא גם מציינת שהמונח ״spec״ הפך עמום וחלק משתמשים בו כמילה נרדפת ל״פרומפט מפורט״.</a:t>
            </a:r>
          </a:p>
          <a:p>
            <a:pPr rtl="1" algn="r" marL="0" indent="0">
              <a:buNone/>
            </a:pPr>
            <a:r>
              <a:rPr sz="1200" lang="he-IL"/>
              <a:t>•  כלומר אין כאן שיטה מוכחת אלא כיוון מתפתח.</a:t>
            </a:r>
          </a:p>
          <a:p>
            <a:pPr rtl="1" algn="r" marL="0" indent="0">
              <a:buNone/>
            </a:pPr>
            <a:r>
              <a:rPr sz="1200" lang="he-IL"/>
              <a:t>•  שאלה פתוחה לדיון: האם מפרט שאפשר לבדוק (קריטריוני קבלה עם מספרים) מצמצם את בעיית האי־דטרמיניזם?</a:t>
            </a:r>
          </a:p>
          <a:p>
            <a:pPr rtl="1" algn="r" marL="0" indent="0">
              <a:buNone/>
            </a:pPr>
            <a:r>
              <a:rPr b="1" sz="1200" lang="he-IL"/>
              <a:t>מתי לדלג</a:t>
            </a:r>
          </a:p>
          <a:p>
            <a:pPr rtl="1" algn="r" marL="0" indent="0">
              <a:buNone/>
            </a:pPr>
            <a:r>
              <a:rPr sz="1200" lang="he-IL"/>
              <a:t>•  אם אין זמן, דלגו, והשאירו כקריאה לפני הפרויקט הקבוצתי.</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להרחיב את השאלה מהשקף על הסכמה (למה יש כפילות של שם המוצר) לעיקרון מוכר: נרמול.</a:t>
            </a:r>
          </a:p>
          <a:p>
            <a:pPr rtl="1" algn="r" marL="0" indent="0">
              <a:buNone/>
            </a:pPr>
            <a:r>
              <a:rPr sz="1200" lang="he-IL"/>
              <a:t>•  הגדרה: נרמול (normalization) הוא תכנון סכמה כך שכל עובדה נשמרת במקום אחד, כדי שעדכון יהיה במקום אחד ולא ייווצר מצב של אי־התאמה (update anomaly).</a:t>
            </a:r>
          </a:p>
          <a:p>
            <a:pPr rtl="1" algn="r" marL="0" indent="0">
              <a:buNone/>
            </a:pPr>
            <a:r>
              <a:rPr sz="1200" lang="he-IL"/>
              <a:t>•  הרעיון צמח מהמודל היחסי שהציג E.</a:t>
            </a:r>
          </a:p>
          <a:p>
            <a:pPr rtl="1" algn="r" marL="0" indent="0">
              <a:buNone/>
            </a:pPr>
            <a:r>
              <a:rPr sz="1200" lang="he-IL"/>
              <a:t>•  F.</a:t>
            </a:r>
          </a:p>
          <a:p>
            <a:pPr rtl="1" algn="r" marL="0" indent="0">
              <a:buNone/>
            </a:pPr>
            <a:r>
              <a:rPr sz="1200" lang="he-IL"/>
              <a:t>•  Codd במאמר ״A Relational Model of Data for Large Shared Data Banks״ (Communications of the ACM, 1970).</a:t>
            </a:r>
          </a:p>
          <a:p>
            <a:pPr rtl="1" algn="r" marL="0" indent="0">
              <a:buNone/>
            </a:pPr>
            <a:r>
              <a:rPr sz="1200" lang="he-IL"/>
              <a:t>•  דוגמה מספרית מנתוני המחברת: בטבלת orders יש 3,000 שורות, ובכל אחת נשמרים שם המוצר והמחיר בנוסף ל־product_id, כלומר שם המוצר מופיע 3,000 פעמים ובטבלת products פעם אחת לכל מוצר.</a:t>
            </a:r>
          </a:p>
          <a:p>
            <a:pPr rtl="1" algn="r" marL="0" indent="0">
              <a:buNone/>
            </a:pPr>
            <a:r>
              <a:rPr sz="1200" lang="he-IL"/>
              <a:t>•  בדקנו על הנתונים: ב־0 מתוך 3,000 הזמנות השם או המחיר שונים מאלה שבטבלת products, כלומר כרגע אין אי־התאמה.</a:t>
            </a:r>
          </a:p>
          <a:p>
            <a:pPr rtl="1" algn="r" marL="0" indent="0">
              <a:buNone/>
            </a:pPr>
            <a:r>
              <a:rPr sz="1200" lang="he-IL"/>
              <a:t>•  אבל אם נשנה שם מוצר ב־products בלבד, 15 הזמנות בערך לכל מוצר (3,000 הזמנות חלקי 200 מוצרים) יישארו עם השם הישן.</a:t>
            </a:r>
          </a:p>
          <a:p>
            <a:pPr rtl="1" algn="r" marL="0" indent="0">
              <a:buNone/>
            </a:pPr>
            <a:r>
              <a:rPr sz="1200" lang="he-IL"/>
              <a:t>•  למה בכל זאת מותר לשמור כפילות: סיבה עסקית.</a:t>
            </a:r>
          </a:p>
          <a:p>
            <a:pPr rtl="1" algn="r" marL="0" indent="0">
              <a:buNone/>
            </a:pPr>
            <a:r>
              <a:rPr sz="1200" lang="he-IL"/>
              <a:t>•  המחיר שנשמר בהזמנה הוא ״המחיר ביום ההזמנה״, עובדה היסטורית שונה מהמחיר הנוכחי של המוצר, ולכן שמירתו אינה כפילות אמיתית.</a:t>
            </a:r>
          </a:p>
          <a:p>
            <a:pPr rtl="1" algn="r" marL="0" indent="0">
              <a:buNone/>
            </a:pPr>
            <a:r>
              <a:rPr sz="1200" lang="he-IL"/>
              <a:t>•  לעומת זאת שם המוצר בהזמנה הוא כפילות נוחות לדוחות (denormalization), והמחיר שלה הוא סיכון.</a:t>
            </a:r>
          </a:p>
          <a:p>
            <a:pPr rtl="1" algn="r" marL="0" indent="0">
              <a:buNone/>
            </a:pPr>
            <a:r>
              <a:rPr b="1" sz="1200" lang="he-IL"/>
              <a:t>מסר מרכזי</a:t>
            </a:r>
          </a:p>
          <a:p>
            <a:pPr rtl="1" algn="r" marL="0" indent="0">
              <a:buNone/>
            </a:pPr>
            <a:r>
              <a:rPr sz="1200" lang="he-IL"/>
              <a:t>•  מנרמלים כברירת מחדל, ומפרים בכוונה ובתיעוד.</a:t>
            </a:r>
          </a:p>
          <a:p>
            <a:pPr rtl="1" algn="r" marL="0" indent="0">
              <a:buNone/>
            </a:pPr>
            <a:r>
              <a:rPr sz="1200" lang="he-IL"/>
              <a:t>•  זו המלצת פרקטיקה ולא חוק.</a:t>
            </a:r>
          </a:p>
          <a:p>
            <a:pPr rtl="1" algn="r" marL="0" indent="0">
              <a:buNone/>
            </a:pPr>
            <a:r>
              <a:rPr b="1" sz="1200" lang="he-IL"/>
              <a:t>שאלה לכיתה</a:t>
            </a:r>
          </a:p>
          <a:p>
            <a:pPr rtl="1" algn="r" marL="0" indent="0">
              <a:buNone/>
            </a:pPr>
            <a:r>
              <a:rPr sz="1200" lang="he-IL"/>
              <a:t>•  איזה שדה בהזמנה הייתם שומרים גם אם הייתם מנרמלים הכול?</a:t>
            </a:r>
          </a:p>
          <a:p>
            <a:pPr rtl="1" algn="r" marL="0" indent="0">
              <a:buNone/>
            </a:pPr>
            <a:r>
              <a:rPr b="1" sz="1200" lang="he-IL"/>
              <a:t>תשובה</a:t>
            </a:r>
          </a:p>
          <a:p>
            <a:pPr rtl="1" algn="r" marL="0" indent="0">
              <a:buNone/>
            </a:pPr>
            <a:r>
              <a:rPr sz="1200" lang="he-IL"/>
              <a:t>•  את המחיר ביום ההזמנה.</a:t>
            </a:r>
          </a:p>
          <a:p>
            <a:pPr rtl="1" algn="r" marL="0" indent="0">
              <a:buNone/>
            </a:pPr>
            <a:r>
              <a:rPr b="1" sz="1200" lang="he-IL"/>
              <a:t>מתי לדלג</a:t>
            </a:r>
          </a:p>
          <a:p>
            <a:pPr rtl="1" algn="r" marL="0" indent="0">
              <a:buNone/>
            </a:pPr>
            <a:r>
              <a:rPr sz="1200" lang="he-IL"/>
              <a:t>•  אם אין זמן, אפשר לדלג, והנקודה כבר נאמרה בשקף הסכמה.</a:t>
            </a:r>
          </a:p>
          <a:p>
            <a:pPr rtl="1" algn="r" marL="0" indent="0">
              <a:buNone/>
            </a:pPr>
            <a:r>
              <a:rPr b="1" sz="1200" lang="he-IL"/>
              <a:t>מקורות</a:t>
            </a:r>
          </a:p>
          <a:p>
            <a:pPr rtl="1" algn="r" marL="0" indent="0">
              <a:buNone/>
            </a:pPr>
            <a:r>
              <a:rPr sz="1200" lang="he-IL"/>
              <a:t>•  Codd (1970), CACM 13(6), 377-387.</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כ־1.5 דקות.</a:t>
            </a:r>
          </a:p>
          <a:p>
            <a:pPr rtl="1" algn="r" marL="0" indent="0">
              <a:buNone/>
            </a:pPr>
            <a:r>
              <a:rPr b="1" sz="1200" lang="he-IL"/>
              <a:t>מטרה</a:t>
            </a:r>
          </a:p>
          <a:p>
            <a:pPr rtl="1" algn="r" marL="0" indent="0">
              <a:buNone/>
            </a:pPr>
            <a:r>
              <a:rPr sz="1200" lang="he-IL"/>
              <a:t>•  להשלים את תמונת ה־JOIN.</a:t>
            </a:r>
          </a:p>
          <a:p>
            <a:pPr rtl="1" algn="r" marL="0" indent="0">
              <a:buNone/>
            </a:pPr>
            <a:r>
              <a:rPr sz="1200" lang="he-IL"/>
              <a:t>•  בליבה ראינו שני כשלים של חיבור: הכפלה של שורות (שקף ״JOIN שמכפיל שורות״) ואובדן שורות.</a:t>
            </a:r>
          </a:p>
          <a:p>
            <a:pPr rtl="1" algn="r" marL="0" indent="0">
              <a:buNone/>
            </a:pPr>
            <a:r>
              <a:rPr sz="1200" lang="he-IL"/>
              <a:t>•  הגדרות: INNER JOIN מחזיר רק שורות שיש להן התאמה בשני הצדדים, והוא ברירת המחדל של JOIN; LEFT JOIN מחזיר את כל שורות הטבלה השמאלית, ובמקום התאמה חסרה מציב NULL.</a:t>
            </a:r>
          </a:p>
          <a:p>
            <a:pPr rtl="1" algn="r" marL="0" indent="0">
              <a:buNone/>
            </a:pPr>
            <a:r>
              <a:rPr sz="1200" lang="he-IL"/>
              <a:t>•  כלל אצבע לגבי מספר השורות: בחיבור של צד ״רבים״ לצד ״אחד״ (הזמנות למוצרים) מספר השורות נשאר כמספר ההזמנות; בחיבור של צד ״אחד״ לצד ״רבים״ (ספקים למוצרים) כל ספק חוזר פעם לכל מוצר שלו, וזו ההכפלה: 8 ספקים הפכו ל־200 שורות במעבדה.</a:t>
            </a:r>
          </a:p>
          <a:p>
            <a:pPr rtl="1" algn="r" marL="0" indent="0">
              <a:buNone/>
            </a:pPr>
            <a:r>
              <a:rPr sz="1200" lang="he-IL"/>
              <a:t>•  בדיקת השפיות מהמעבדה משווה ספירות לפני ואחרי: גידול מעיד על הכפלה, וקיטון מעיד על אובדן; הפונקציה join_multiplies במחברת בודקת רק גידול, ולכן כדאי להזכיר שגם קיטון הוא סימן אזהרה.</a:t>
            </a:r>
          </a:p>
          <a:p>
            <a:pPr rtl="1" algn="r" marL="0" indent="0">
              <a:buNone/>
            </a:pPr>
            <a:r>
              <a:rPr sz="1200" lang="he-IL"/>
              <a:t>•  מפתח זר: בסכמה שבמחברת מוגדר REFERENCES, אבל לפי תיעוד SQLite אילוצי מפתח זר כבויים כברירת מחדל מטעמי תאימות לאחור, וצריך להפעיל אותם בנפרד בכל חיבור באמצעות PRAGMA foreign_keys = ON.</a:t>
            </a:r>
          </a:p>
          <a:p>
            <a:pPr rtl="1" algn="r" marL="0" indent="0">
              <a:buNone/>
            </a:pPr>
            <a:r>
              <a:rPr sz="1200" lang="he-IL"/>
              <a:t>•  בדקנו ב־SQLite 3.40: בלי ה־PRAGMA אפשר להכניס הזמנה עם product_id שלא קיים; עם ה־PRAGMA מתקבלת שגיאת IntegrityError.</a:t>
            </a:r>
          </a:p>
          <a:p>
            <a:pPr rtl="1" algn="r" marL="0" indent="0">
              <a:buNone/>
            </a:pPr>
            <a:r>
              <a:rPr sz="1200" lang="he-IL"/>
              <a:t>•  אחרי שנכנסה הזמנה יתומה, INNER JOIN יסתיר אותה ו־LEFT JOIN יציג אותה עם NULL, ולכן סכום ההכנסות לפי קטגוריה יהיה נמוך מהסכום הכולל.</a:t>
            </a:r>
          </a:p>
          <a:p>
            <a:pPr rtl="1" algn="r" marL="0" indent="0">
              <a:buNone/>
            </a:pPr>
            <a:r>
              <a:rPr sz="1200" lang="he-IL"/>
              <a:t>•  בנתוני החנות אין יתומות (0 הזמנות בלי מוצר), כי הנתונים נטענו מקבצים עקביים.</a:t>
            </a:r>
          </a:p>
          <a:p>
            <a:pPr rtl="1" algn="r" marL="0" indent="0">
              <a:buNone/>
            </a:pPr>
            <a:r>
              <a:rPr b="1" sz="1200" lang="he-IL"/>
              <a:t>שאלה לכיתה</a:t>
            </a:r>
          </a:p>
          <a:p>
            <a:pPr rtl="1" algn="r" marL="0" indent="0">
              <a:buNone/>
            </a:pPr>
            <a:r>
              <a:rPr sz="1200" lang="he-IL"/>
              <a:t>•  איזה סוג JOIN תבחרו לדוח ״כמה הזמנות לכל מוצר, כולל מוצרים שלא הוזמנו״?</a:t>
            </a:r>
          </a:p>
          <a:p>
            <a:pPr rtl="1" algn="r" marL="0" indent="0">
              <a:buNone/>
            </a:pPr>
            <a:r>
              <a:rPr b="1" sz="1200" lang="he-IL"/>
              <a:t>תשובה</a:t>
            </a:r>
          </a:p>
          <a:p>
            <a:pPr rtl="1" algn="r" marL="0" indent="0">
              <a:buNone/>
            </a:pPr>
            <a:r>
              <a:rPr sz="1200" lang="he-IL"/>
              <a:t>•  LEFT JOIN מטבלת המוצרים.</a:t>
            </a:r>
          </a:p>
          <a:p>
            <a:pPr rtl="1" algn="r" marL="0" indent="0">
              <a:buNone/>
            </a:pPr>
            <a:r>
              <a:rPr b="1" sz="1200" lang="he-IL"/>
              <a:t>מתי לדלג</a:t>
            </a:r>
          </a:p>
          <a:p>
            <a:pPr rtl="1" algn="r" marL="0" indent="0">
              <a:buNone/>
            </a:pPr>
            <a:r>
              <a:rPr sz="1200" lang="he-IL"/>
              <a:t>•  אם אין זמן, השאירו לקריאה.</a:t>
            </a:r>
          </a:p>
          <a:p>
            <a:pPr rtl="1" algn="r" marL="0" indent="0">
              <a:buNone/>
            </a:pPr>
            <a:r>
              <a:rPr b="1" sz="1200" lang="he-IL"/>
              <a:t>מקורות</a:t>
            </a:r>
          </a:p>
          <a:p>
            <a:pPr rtl="1" algn="r" marL="0" indent="0">
              <a:buNone/>
            </a:pPr>
            <a:r>
              <a:rPr sz="1200" lang="he-IL"/>
              <a:t>•  תיעוד SQLite, ״Foreign Key Support״ (sqlite.org/foreignkeys.html).</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כ־1.2 דקות.</a:t>
            </a:r>
          </a:p>
          <a:p>
            <a:pPr rtl="1" algn="r" marL="0" indent="0">
              <a:buNone/>
            </a:pPr>
            <a:r>
              <a:rPr b="1" sz="1200" lang="he-IL"/>
              <a:t>מטרה</a:t>
            </a:r>
          </a:p>
          <a:p>
            <a:pPr rtl="1" algn="r" marL="0" indent="0">
              <a:buNone/>
            </a:pPr>
            <a:r>
              <a:rPr sz="1200" lang="he-IL"/>
              <a:t>•  להסביר את הרעיון המרכזי של Kubernetes, הצהרה על מצב רצוי, ואת המחיר שלו.</a:t>
            </a:r>
          </a:p>
          <a:p>
            <a:pPr rtl="1" algn="r" marL="0" indent="0">
              <a:buNone/>
            </a:pPr>
            <a:r>
              <a:rPr sz="1200" lang="he-IL"/>
              <a:t>•  הגדרה לפי התיעוד הרשמי: Kubernetes היא פלטפורמה ניידת, ניתנת להרחבה ובקוד פתוח לניהול עומסי עבודה ושירותים בקונטיינרים, שמאפשרת הגדרה הצהרתית ואוטומציה.</a:t>
            </a:r>
          </a:p>
          <a:p>
            <a:pPr rtl="1" algn="r" marL="0" indent="0">
              <a:buNone/>
            </a:pPr>
            <a:r>
              <a:rPr sz="1200" lang="he-IL"/>
              <a:t>•  הדוגמה: בקובץ Deployment כותבים replicas: 3.</a:t>
            </a:r>
          </a:p>
          <a:p>
            <a:pPr rtl="1" algn="r" marL="0" indent="0">
              <a:buNone/>
            </a:pPr>
            <a:r>
              <a:rPr sz="1200" lang="he-IL"/>
              <a:t>•  זו הצהרה על מצב רצוי ולא פקודה ״הפעל שלושה״.</a:t>
            </a:r>
          </a:p>
          <a:p>
            <a:pPr rtl="1" algn="r" marL="0" indent="0">
              <a:buNone/>
            </a:pPr>
            <a:r>
              <a:rPr sz="1200" lang="he-IL"/>
              <a:t>•  Kubernetes משווה כל הזמן בין המצב בפועל למצב הרצוי ופועלת להשוותם: אם Pod נפל, היא יוצרת אחר במקומו.</a:t>
            </a:r>
          </a:p>
          <a:p>
            <a:pPr rtl="1" algn="r" marL="0" indent="0">
              <a:buNone/>
            </a:pPr>
            <a:r>
              <a:rPr sz="1200" lang="he-IL"/>
              <a:t>•  לפי התיעוד היא מספקת, בין השאר, איזון עומסים וגילוי שירותים, ריפוי עצמי (הפעלה מחדש של קונטיינרים שנכשלו והחלפתם), פריסת גרסאות ושחזורן בקצב מבוקר, והגדלה והקטנה של מספר העותקים.</a:t>
            </a:r>
          </a:p>
          <a:p>
            <a:pPr rtl="1" algn="r" marL="0" indent="0">
              <a:buNone/>
            </a:pPr>
            <a:r>
              <a:rPr sz="1200" lang="he-IL"/>
              <a:t>•  הרקע ההיסטורי: המאמר ״Borg, Omega, and Kubernetes״ (Burns ועמיתים, ACM Queue, 2016) מתאר Kubernetes כחלק מרצף מערכות לניהול קונטיינרים שגוגל בנתה במשך כעשור, ולפיו הלקחים מהמערכות הקודמות עיצבו אותה.</a:t>
            </a:r>
          </a:p>
          <a:p>
            <a:pPr rtl="1" algn="r" marL="0" indent="0">
              <a:buNone/>
            </a:pPr>
            <a:r>
              <a:rPr sz="1200" lang="he-IL"/>
              <a:t>•  מה היא לא: התיעוד מדגיש שאינה פלטפורמה שלמה (PaaS) ואינה בונה את הקוד שלכם; היא כלי בנייה לפלטפורמות.</a:t>
            </a:r>
          </a:p>
          <a:p>
            <a:pPr rtl="1" algn="r" marL="0" indent="0">
              <a:buNone/>
            </a:pPr>
            <a:r>
              <a:rPr sz="1200" lang="he-IL"/>
              <a:t>•  המלצת פרקטיקה: משתמשים בה כשיש הרבה משתמשים, הרבה שירותים וצוות תפעול; בפרויקט קבוצתי של סמסטר היא עודף.</a:t>
            </a:r>
          </a:p>
          <a:p>
            <a:pPr rtl="1" algn="r" marL="0" indent="0">
              <a:buNone/>
            </a:pPr>
            <a:r>
              <a:rPr sz="1200" lang="he-IL"/>
              <a:t>•  זה תואם את שקף ״מה מתי״ בליבה.</a:t>
            </a:r>
          </a:p>
          <a:p>
            <a:pPr rtl="1" algn="r" marL="0" indent="0">
              <a:buNone/>
            </a:pPr>
            <a:r>
              <a:rPr b="1" sz="1200" lang="he-IL"/>
              <a:t>שאלה לכיתה</a:t>
            </a:r>
          </a:p>
          <a:p>
            <a:pPr rtl="1" algn="r" marL="0" indent="0">
              <a:buNone/>
            </a:pPr>
            <a:r>
              <a:rPr sz="1200" lang="he-IL"/>
              <a:t>•  מה ההבדל בין ״הפעל שלושה עותקים״ ל״אני רוצה שלושה עותקים״?</a:t>
            </a:r>
          </a:p>
          <a:p>
            <a:pPr rtl="1" algn="r" marL="0" indent="0">
              <a:buNone/>
            </a:pPr>
            <a:r>
              <a:rPr b="1" sz="1200" lang="he-IL"/>
              <a:t>תשובה</a:t>
            </a:r>
          </a:p>
          <a:p>
            <a:pPr rtl="1" algn="r" marL="0" indent="0">
              <a:buNone/>
            </a:pPr>
            <a:r>
              <a:rPr sz="1200" lang="he-IL"/>
              <a:t>•  הראשון מבוצע פעם אחת, והשני נשמר גם כשעותק נופל.</a:t>
            </a:r>
          </a:p>
          <a:p>
            <a:pPr rtl="1" algn="r" marL="0" indent="0">
              <a:buNone/>
            </a:pPr>
            <a:r>
              <a:rPr b="1" sz="1200" lang="he-IL"/>
              <a:t>מתי לדלג</a:t>
            </a:r>
          </a:p>
          <a:p>
            <a:pPr rtl="1" algn="r" marL="0" indent="0">
              <a:buNone/>
            </a:pPr>
            <a:r>
              <a:rPr sz="1200" lang="he-IL"/>
              <a:t>•  אם אין זמן, די במשפט ״Kubernetes היא מנהלת משמרת: מצהירים כמה עותקים רוצים, והיא דואגת לכך״.</a:t>
            </a:r>
          </a:p>
          <a:p>
            <a:pPr rtl="1" algn="r" marL="0" indent="0">
              <a:buNone/>
            </a:pPr>
            <a:r>
              <a:rPr b="1" sz="1200" lang="he-IL"/>
              <a:t>מקורות</a:t>
            </a:r>
          </a:p>
          <a:p>
            <a:pPr rtl="1" algn="r" marL="0" indent="0">
              <a:buNone/>
            </a:pPr>
            <a:r>
              <a:rPr sz="1200" lang="he-IL"/>
              <a:t>•  kubernetes.io/docs/concepts/overview; Burns et al.</a:t>
            </a:r>
          </a:p>
          <a:p>
            <a:pPr rtl="1" algn="r" marL="0" indent="0">
              <a:buNone/>
            </a:pPr>
            <a:r>
              <a:rPr sz="1200" lang="he-IL"/>
              <a:t>•  (2016).</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 כ־דקה.</a:t>
            </a:r>
          </a:p>
          <a:p>
            <a:pPr rtl="1" algn="r" marL="0" indent="0">
              <a:buNone/>
            </a:pPr>
            <a:r>
              <a:rPr b="1" sz="1200" lang="he-IL"/>
              <a:t>מה אומרים</a:t>
            </a:r>
          </a:p>
          <a:p>
            <a:pPr rtl="1" algn="r" marL="0" indent="0">
              <a:buNone/>
            </a:pPr>
            <a:r>
              <a:rPr sz="1200" lang="he-IL"/>
              <a:t>•  זה שלב חשוב לקראת הפרויקט, כי קריאה ל־LLM API היא דרישה בפרויקט הגמר, והיא אינה חלק מהמחברת: classify במחברת (חלק ה׳, לבית) היא כללי מילים פשוטים שמדמים מודל.</a:t>
            </a:r>
          </a:p>
          <a:p>
            <a:pPr rtl="1" algn="r" marL="0" indent="0">
              <a:buNone/>
            </a:pPr>
            <a:r>
              <a:rPr b="1" sz="1200" lang="he-IL"/>
              <a:t>מטרה</a:t>
            </a:r>
          </a:p>
          <a:p>
            <a:pPr rtl="1" algn="r" marL="0" indent="0">
              <a:buNone/>
            </a:pPr>
            <a:r>
              <a:rPr sz="1200" lang="he-IL"/>
              <a:t>•  להחליף את classify() בקריאה ל־LLM API חינמי, לפי הספק שנבחר בקבוצה.</a:t>
            </a:r>
          </a:p>
          <a:p>
            <a:pPr rtl="1" algn="r" marL="0" indent="0">
              <a:buNone/>
            </a:pPr>
            <a:r>
              <a:rPr sz="1200" lang="he-IL"/>
              <a:t>•  הקוד בשקף הוא מסגרת: key מ־os.environ בשם LLM_KEY, קריאה ל־call_llm_api עם הנחיית מערכת, הודעת המשתמש וטמפרטורה 0.2, ואז validate(json.loads(reply)) לבדיקת הפורמט. call_llm_api ו־PROMPT הם שמות מייצגים: הקוד המדויק תלוי בספק.</a:t>
            </a:r>
          </a:p>
          <a:p>
            <a:pPr rtl="1" algn="r" marL="0" indent="0">
              <a:buNone/>
            </a:pPr>
            <a:r>
              <a:rPr sz="1200" lang="he-IL"/>
              <a:t>•  מה בודקים: שהפלט JSON תקין בפורמט שהוגדר; שהמיילים משלושת הסוגים מסווגים נכון; שהרצה חוזרת נותנת תשובה זהה (טמפרטורה, שיעור 2).</a:t>
            </a:r>
          </a:p>
          <a:p>
            <a:pPr rtl="1" algn="r" marL="0" indent="0">
              <a:buNone/>
            </a:pPr>
            <a:r>
              <a:rPr sz="1200" lang="he-IL"/>
              <a:t>•  אם אין גישה ל־API או שהמכסה נחסמה: לשמור תשובות לדוגמה.</a:t>
            </a:r>
          </a:p>
          <a:p>
            <a:pPr rtl="1" algn="r" marL="0" indent="0">
              <a:buNone/>
            </a:pPr>
            <a:r>
              <a:rPr sz="1200" lang="he-IL"/>
              <a:t>•  תקלות: 429, מפתח לא נטען, תשובה שאינה JSON, או הסבר מילולי סביב ה־JSON.</a:t>
            </a:r>
          </a:p>
          <a:p>
            <a:pPr rtl="1" algn="r" marL="0" indent="0">
              <a:buNone/>
            </a:pPr>
            <a:r>
              <a:rPr sz="1200" lang="he-IL"/>
              <a:t>•  אל תדביקו את המפתח בקוד: זה שיעור 10.</a:t>
            </a:r>
          </a:p>
          <a:p>
            <a:pPr rtl="1" algn="r" marL="0" indent="0">
              <a:buNone/>
            </a:pPr>
            <a:r>
              <a:rPr b="1" sz="1200" lang="he-IL"/>
              <a:t>מתי לדלג</a:t>
            </a:r>
          </a:p>
          <a:p>
            <a:pPr rtl="1" algn="r" marL="0" indent="0">
              <a:buNone/>
            </a:pPr>
            <a:r>
              <a:rPr sz="1200" lang="he-IL"/>
              <a:t>•  אם אין זמן: מקצים לבית ללא הסבר, כל קבוצה לפי הספק שבחרה.</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כ־0.8 דקות.</a:t>
            </a:r>
          </a:p>
          <a:p>
            <a:pPr rtl="1" algn="r" marL="0" indent="0">
              <a:buNone/>
            </a:pPr>
            <a:r>
              <a:rPr b="1" sz="1200" lang="he-IL"/>
              <a:t>מה אומרים</a:t>
            </a:r>
          </a:p>
          <a:p>
            <a:pPr rtl="1" algn="r" marL="0" indent="0">
              <a:buNone/>
            </a:pPr>
            <a:r>
              <a:rPr sz="1200" lang="he-IL"/>
              <a:t>•  סיכום בלוק אחרון, 6 דקות בסך הכול: שקף הבית 55 ושקפים 86-91 (ללא מקטע ההעשרה).</a:t>
            </a:r>
          </a:p>
          <a:p>
            <a:pPr rtl="1" algn="r" marL="0" indent="0">
              <a:buNone/>
            </a:pPr>
            <a:r>
              <a:rPr b="1" sz="1200" lang="he-IL"/>
              <a:t>מטרה</a:t>
            </a:r>
          </a:p>
          <a:p>
            <a:pPr rtl="1" algn="r" marL="0" indent="0">
              <a:buNone/>
            </a:pPr>
            <a:r>
              <a:rPr sz="1200" lang="he-IL"/>
              <a:t>•  לחבר את מה שנלמד לפרויקט הגמר.</a:t>
            </a:r>
          </a:p>
          <a:p>
            <a:pPr rtl="1" algn="r" marL="0" indent="0">
              <a:buNone/>
            </a:pPr>
            <a:r>
              <a:rPr sz="1200" lang="he-IL"/>
              <a:t>•  שישה כרטיסים עם תגיות: API עם חוזה (OpenAPI) ובדיקות (חובה); מסד נתונים וסכמה מתועדת (חובה); ממשק פשוט (מומלץ); Dockerfile או compose (מומלץ); תור ועובד (אם המודל איטי); וקריאה ל-LLM API חינמי (חובה).</a:t>
            </a:r>
          </a:p>
          <a:p>
            <a:pPr rtl="1" algn="r" marL="0" indent="0">
              <a:buNone/>
            </a:pPr>
            <a:r>
              <a:rPr b="1" sz="1200" lang="he-IL"/>
              <a:t>שימו לב</a:t>
            </a:r>
          </a:p>
          <a:p>
            <a:pPr rtl="1" algn="r" marL="0" indent="0">
              <a:buNone/>
            </a:pPr>
            <a:r>
              <a:rPr sz="1200" lang="he-IL"/>
              <a:t>•  התגיות הן המלצת המחבר, ויש לאמת אותן מול הנחיות הפרויקט הרשמיות לפני השיעור ולתקן בהתאם.</a:t>
            </a:r>
          </a:p>
          <a:p>
            <a:pPr rtl="1" algn="r" marL="0" indent="0">
              <a:buNone/>
            </a:pPr>
            <a:r>
              <a:rPr sz="1200" lang="he-IL"/>
              <a:t>•  Kubernetes אינו נדרש, והוא להכרה בלבד.</a:t>
            </a:r>
          </a:p>
          <a:p>
            <a:pPr rtl="1" algn="r" marL="0" indent="0">
              <a:buNone/>
            </a:pPr>
            <a:r>
              <a:rPr sz="1200" lang="he-IL"/>
              <a:t>•  מינימום סביר: API עם חוזה ובדיקות, מסד נתונים, ממשק, וקריאה למודל.</a:t>
            </a:r>
          </a:p>
          <a:p>
            <a:pPr rtl="1" algn="r" marL="0" indent="0">
              <a:buNone/>
            </a:pPr>
            <a:r>
              <a:rPr sz="1200" lang="he-IL"/>
              <a:t>•  תור רלוונטי רק אם המודל איטי.</a:t>
            </a:r>
          </a:p>
          <a:p>
            <a:pPr rtl="1" algn="r" marL="0" indent="0">
              <a:buNone/>
            </a:pPr>
            <a:r>
              <a:rPr b="1" sz="1200" lang="he-IL"/>
              <a:t>שאלה לכיתה</a:t>
            </a:r>
          </a:p>
          <a:p>
            <a:pPr rtl="1" algn="r" marL="0" indent="0">
              <a:buNone/>
            </a:pPr>
            <a:r>
              <a:rPr sz="1200" lang="he-IL"/>
              <a:t>•  מה בפרויקט שלכם יכול להיות איטי?</a:t>
            </a:r>
          </a:p>
          <a:p>
            <a:pPr rtl="1" algn="r" marL="0" indent="0">
              <a:buNone/>
            </a:pPr>
            <a:r>
              <a:rPr b="1" sz="1200" lang="he-IL"/>
              <a:t>תשובה</a:t>
            </a:r>
          </a:p>
          <a:p>
            <a:pPr rtl="1" algn="r" marL="0" indent="0">
              <a:buNone/>
            </a:pPr>
            <a:r>
              <a:rPr sz="1200" lang="he-IL"/>
              <a:t>•  קריאה למודל, עיבוד קבצים גדולים.</a:t>
            </a:r>
          </a:p>
          <a:p>
            <a:pPr rtl="1" algn="r" marL="0" indent="0">
              <a:buNone/>
            </a:pPr>
            <a:r>
              <a:rPr b="1" sz="1200" lang="he-IL"/>
              <a:t>חיבור לשיעורים קודמים</a:t>
            </a:r>
          </a:p>
          <a:p>
            <a:pPr rtl="1" algn="r" marL="0" indent="0">
              <a:buNone/>
            </a:pPr>
            <a:r>
              <a:rPr sz="1200" lang="he-IL"/>
              <a:t>•  שיעור 8 הבא יעסוק בבדיקות ואיכות.</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לשימוש בזמן הסיור.</a:t>
            </a:r>
          </a:p>
          <a:p>
            <a:pPr rtl="1" algn="r" marL="0" indent="0">
              <a:buNone/>
            </a:pPr>
            <a:r>
              <a:rPr b="1" sz="1200" lang="he-IL"/>
              <a:t>מה אומרים</a:t>
            </a:r>
          </a:p>
          <a:p>
            <a:pPr rtl="1" algn="r" marL="0" indent="0">
              <a:buNone/>
            </a:pPr>
            <a:r>
              <a:rPr sz="1200" lang="he-IL"/>
              <a:t>•  מה אמור לצאת במעבדה א׳, כדקה, לשימוש בזמן הסיור בין הזוגות.</a:t>
            </a:r>
          </a:p>
          <a:p>
            <a:pPr rtl="1" algn="r" marL="0" indent="0">
              <a:buNone/>
            </a:pPr>
            <a:r>
              <a:rPr sz="1200" lang="he-IL"/>
              <a:t>•  אחרי תא שלב 0 מודפס ✓ השרת רץ ברקע בכתובת http://127.0.0.1 ופורט אקראי; אם לא, זו בעיית התקנה.</a:t>
            </a:r>
          </a:p>
          <a:p>
            <a:pPr rtl="1" algn="r" marL="0" indent="0">
              <a:buNone/>
            </a:pPr>
            <a:r>
              <a:rPr sz="1200" lang="he-IL"/>
              <a:t>•  אחרי שלב 1 אצל כולם GET /products/P001 מחזיר 500, וזה מכוון: find_product עוד לא נכתבה.</a:t>
            </a:r>
          </a:p>
          <a:p>
            <a:pPr rtl="1" algn="r" marL="0" indent="0">
              <a:buNone/>
            </a:pPr>
            <a:r>
              <a:rPr sz="1200" lang="he-IL"/>
              <a:t>•  הזדמנות לשאול מי אשם.</a:t>
            </a:r>
          </a:p>
          <a:p>
            <a:pPr rtl="1" algn="r" marL="0" indent="0">
              <a:buNone/>
            </a:pPr>
            <a:r>
              <a:rPr sz="1200" lang="he-IL"/>
              <a:t>•  שאר הקודים: GET /health 200, GET /products עם limit=0 קוד 422 (Input should be greater than or equal to 1), GET /no-such-page קוד 404.</a:t>
            </a:r>
          </a:p>
          <a:p>
            <a:pPr rtl="1" algn="r" marL="0" indent="0">
              <a:buNone/>
            </a:pPr>
            <a:r>
              <a:rPr sz="1200" lang="he-IL"/>
              <a:t>•  אחרי שלבים 2 ו־3: P001 מחזיר 200 (Desk Lamp Basic), NOPE מחזיר 404, הזמנה חדשה מחזירה 201, וכמות 0 מחזירה 422.</a:t>
            </a:r>
          </a:p>
          <a:p>
            <a:pPr rtl="1" algn="r" marL="0" indent="0">
              <a:buNone/>
            </a:pPr>
            <a:r>
              <a:rPr sz="1200" lang="he-IL"/>
              <a:t>•  ב־openapi.json מופיעות חמש נקודות קצה, ולמשל POST /orders מתעד 201, 404 ו־422.</a:t>
            </a:r>
          </a:p>
          <a:p>
            <a:pPr rtl="1" algn="r" marL="0" indent="0">
              <a:buNone/>
            </a:pPr>
            <a:r>
              <a:rPr sz="1200" lang="he-IL"/>
              <a:t>•  בשלב 6 check_contract מוצא בדיוק אי־התאמה אחת: GET /orders/O1 -&gt; 404, spec lists ['200', '422'].</a:t>
            </a:r>
          </a:p>
          <a:p>
            <a:pPr rtl="1" algn="r" marL="0" indent="0">
              <a:buNone/>
            </a:pPr>
            <a:r>
              <a:rPr sz="1200" lang="he-IL"/>
              <a:t>•  זו תקלה מכוונת: בקוד של get_order אין responses עם 404.</a:t>
            </a:r>
          </a:p>
          <a:p>
            <a:pPr rtl="1" algn="r" marL="0" indent="0">
              <a:buNone/>
            </a:pPr>
            <a:r>
              <a:rPr sz="1200" lang="he-IL"/>
              <a:t>•  אל תגלו לפני שהסטודנטים ענו על תא התחזית.</a:t>
            </a:r>
          </a:p>
          <a:p>
            <a:pPr rtl="1" algn="r" marL="0" indent="0">
              <a:buNone/>
            </a:pPr>
            <a:r>
              <a:rPr sz="1200" lang="he-IL"/>
              <a:t>•  טעויות צפויות: return HTTPException בלי raise (השרת מחזיר 200 עם גוף מוזר); PRODUCTS[product_id] במקום get (KeyError, 500); order[quantity] במקום order.quantity (TypeError, 500); השוואת r.status_code (מספר) למפתחות הטקסט של החוזה בלי str; שכחו method.lower.</a:t>
            </a:r>
          </a:p>
          <a:p>
            <a:pPr rtl="1" algn="r" marL="0" indent="0">
              <a:buNone/>
            </a:pPr>
            <a:r>
              <a:rPr b="1" sz="1200" lang="he-IL"/>
              <a:t>שאלה לכיתה</a:t>
            </a:r>
          </a:p>
          <a:p>
            <a:pPr rtl="1" algn="r" marL="0" indent="0">
              <a:buNone/>
            </a:pPr>
            <a:r>
              <a:rPr sz="1200" lang="he-IL"/>
              <a:t>•  האם אפשר להסתמך על openapi.json בלי לבדוק?</a:t>
            </a:r>
          </a:p>
          <a:p>
            <a:pPr rtl="1" algn="r" marL="0" indent="0">
              <a:buNone/>
            </a:pPr>
            <a:r>
              <a:rPr sz="1200" lang="he-IL"/>
              <a:t>•  לא: הוא נוצר מהקוד, והכלי מצא פער בין מה שמתועד למה שקורה בפועל.</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לשימוש בזמן הסיור.</a:t>
            </a:r>
          </a:p>
          <a:p>
            <a:pPr rtl="1" algn="r" marL="0" indent="0">
              <a:buNone/>
            </a:pPr>
            <a:r>
              <a:rPr b="1" sz="1200" lang="he-IL"/>
              <a:t>מה אומרים</a:t>
            </a:r>
          </a:p>
          <a:p>
            <a:pPr rtl="1" algn="r" marL="0" indent="0">
              <a:buNone/>
            </a:pPr>
            <a:r>
              <a:rPr sz="1200" lang="he-IL"/>
              <a:t>•  מה אמור לצאת במעבדה ב׳, כדקה.</a:t>
            </a:r>
          </a:p>
          <a:p>
            <a:pPr rtl="1" algn="r" marL="0" indent="0">
              <a:buNone/>
            </a:pPr>
            <a:r>
              <a:rPr sz="1200" lang="he-IL"/>
              <a:t>•  שלב 1: הספקים הכי פחות דייקנים הם Supplier A (0.80), Supplier H (0.83) ו־Supplier D (0.88).</a:t>
            </a:r>
          </a:p>
          <a:p>
            <a:pPr rtl="1" algn="r" marL="0" indent="0">
              <a:buNone/>
            </a:pPr>
            <a:r>
              <a:rPr sz="1200" lang="he-IL"/>
              <a:t>•  שלב 2: הכנסה לכל קטגוריה, מהגבוה לנמוך: Office 185,100, Home 182,963, Tech 107,257, Sports 105,490, Kitchen 105,468.</a:t>
            </a:r>
          </a:p>
          <a:p>
            <a:pPr rtl="1" algn="r" marL="0" indent="0">
              <a:buNone/>
            </a:pPr>
            <a:r>
              <a:rPr sz="1200" lang="he-IL"/>
              <a:t>•  שלב 3: חמשת המוצרים המובילים הם Plant Pot Plus 33,595.62, Desk Organizer Basic 33,378.87, Stapler Plus 20,521.52, Office Chair Mat Plus 18,829.26 ו־Storage Basket Pro 15,467.34; עם N=2 חוזרות שתי שורות.</a:t>
            </a:r>
          </a:p>
          <a:p>
            <a:pPr rtl="1" algn="r" marL="0" indent="0">
              <a:buNone/>
            </a:pPr>
            <a:r>
              <a:rPr sz="1200" lang="he-IL"/>
              <a:t>•  שלב 4: 8 ספקים הופכים ל־200 שורות אחרי JOIN למוצרים, וסכום lead_time_days קופץ מ־82 ל־2,053; חיבור הזמנות למוצרים נשאר 3,000 שורות.</a:t>
            </a:r>
          </a:p>
          <a:p>
            <a:pPr rtl="1" algn="r" marL="0" indent="0">
              <a:buNone/>
            </a:pPr>
            <a:r>
              <a:rPr sz="1200" lang="he-IL"/>
              <a:t>•  שלב 5: השם הזדוני עם f־string מחזיר 200 שורות, ועם ?</a:t>
            </a:r>
          </a:p>
          <a:p>
            <a:pPr rtl="1" algn="r" marL="0" indent="0">
              <a:buNone/>
            </a:pPr>
            <a:r>
              <a:rPr sz="1200" lang="he-IL"/>
              <a:t>•  מחזיר אפס.</a:t>
            </a:r>
          </a:p>
          <a:p>
            <a:pPr rtl="1" algn="r" marL="0" indent="0">
              <a:buNone/>
            </a:pPr>
            <a:r>
              <a:rPr sz="1200" lang="he-IL"/>
              <a:t>•  טעויות צפויות: ambiguous column name unit_price (חסרה הקידומת o.); LIMIT ?</a:t>
            </a:r>
          </a:p>
          <a:p>
            <a:pPr rtl="1" algn="r" marL="0" indent="0">
              <a:buNone/>
            </a:pPr>
            <a:r>
              <a:rPr sz="1200" lang="he-IL"/>
              <a:t>•  עם (n) במקום (n,); con.execute עם מחרוזת במקום tuple (Incorrect number of bindings supplied); שכחו AS revenue.</a:t>
            </a:r>
          </a:p>
          <a:p>
            <a:pPr rtl="1" algn="r" marL="0" indent="0">
              <a:buNone/>
            </a:pPr>
            <a:r>
              <a:rPr b="1" sz="1200" lang="he-IL"/>
              <a:t>שאלה לכיתה</a:t>
            </a:r>
          </a:p>
          <a:p>
            <a:pPr rtl="1" algn="r" marL="0" indent="0">
              <a:buNone/>
            </a:pPr>
            <a:r>
              <a:rPr sz="1200" lang="he-IL"/>
              <a:t>•  איך מגלים הכפלה כשלא מכירים את התשובה?</a:t>
            </a:r>
          </a:p>
          <a:p>
            <a:pPr rtl="1" algn="r" marL="0" indent="0">
              <a:buNone/>
            </a:pPr>
            <a:r>
              <a:rPr sz="1200" lang="he-IL"/>
              <a:t>•  סופרים שורות לפני ואחרי, ומשווים לסכום מוכר.</a:t>
            </a:r>
          </a:p>
          <a:p>
            <a:pPr rtl="1" algn="r" marL="0" indent="0">
              <a:buNone/>
            </a:pPr>
            <a:r>
              <a:rPr sz="1200" lang="he-IL"/>
              <a:t>•  למה ?</a:t>
            </a:r>
          </a:p>
          <a:p>
            <a:pPr rtl="1" algn="r" marL="0" indent="0">
              <a:buNone/>
            </a:pPr>
            <a:r>
              <a:rPr sz="1200" lang="he-IL"/>
              <a:t>•  מונע הזרקה?</a:t>
            </a:r>
          </a:p>
          <a:p>
            <a:pPr rtl="1" algn="r" marL="0" indent="0">
              <a:buNone/>
            </a:pPr>
            <a:r>
              <a:rPr sz="1200" lang="he-IL"/>
              <a:t>•  הערך מועבר בנפרד ומטופל כנתון, לא כקוד.</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2 דקות.</a:t>
            </a:r>
          </a:p>
          <a:p>
            <a:pPr rtl="1" algn="r" marL="0" indent="0">
              <a:buNone/>
            </a:pPr>
            <a:r>
              <a:rPr b="1" sz="1200" lang="he-IL"/>
              <a:t>מה אומרים</a:t>
            </a:r>
          </a:p>
          <a:p>
            <a:pPr rtl="1" algn="r" marL="0" indent="0">
              <a:buNone/>
            </a:pPr>
            <a:r>
              <a:rPr sz="1200" lang="he-IL"/>
              <a:t>•  זמן: כ־2 דקות הסבר, בתוך מעבדה ג׳.</a:t>
            </a:r>
          </a:p>
          <a:p>
            <a:pPr rtl="1" algn="r" marL="0" indent="0">
              <a:buNone/>
            </a:pPr>
            <a:r>
              <a:rPr b="1" sz="1200" lang="he-IL"/>
              <a:t>מטרה</a:t>
            </a:r>
          </a:p>
          <a:p>
            <a:pPr rtl="1" algn="r" marL="0" indent="0">
              <a:buNone/>
            </a:pPr>
            <a:r>
              <a:rPr sz="1200" lang="he-IL"/>
              <a:t>•  ללמד לנסח בקשה ממוקדת ל־AI, ולבדוק את מה שחזר.</a:t>
            </a:r>
          </a:p>
          <a:p>
            <a:pPr rtl="1" algn="r" marL="0" indent="0">
              <a:buNone/>
            </a:pPr>
            <a:r>
              <a:rPr sz="1200" lang="he-IL"/>
              <a:t>•  הפרומפט בשקף הוא גרסה מקוצרת של הפרומפט במחברת (חלק ג׳, שלב 3), שהסטודנטים מעתיקים כמו שהוא לעוזר ה־Gemini של Colab.</a:t>
            </a:r>
          </a:p>
          <a:p>
            <a:pPr rtl="1" algn="r" marL="0" indent="0">
              <a:buNone/>
            </a:pPr>
            <a:r>
              <a:rPr sz="1200" lang="he-IL"/>
              <a:t>•  ארבעה מרכיבים בבקשה טובה: היקף (פונקציה אחת, get_supplier), אילוץ (סימן ?</a:t>
            </a:r>
          </a:p>
          <a:p>
            <a:pPr rtl="1" algn="r" marL="0" indent="0">
              <a:buNone/>
            </a:pPr>
            <a:r>
              <a:rPr sz="1200" lang="he-IL"/>
              <a:t>•  ולא f־string), חוזה (אילו מפתחות מחזירים ומתי 404) ופלט (רק הפונקציה והייבואים שלה).</a:t>
            </a:r>
          </a:p>
          <a:p>
            <a:pPr rtl="1" algn="r" marL="0" indent="0">
              <a:buNone/>
            </a:pPr>
            <a:r>
              <a:rPr sz="1200" lang="he-IL"/>
              <a:t>•  אחרי שהכלי כתב, הסטודנטים מדביקים את הפונקציה בתא המיועד, ותא הבדיקה מפעיל את check_contract על החוזה של השרת השני, ועוד בדיקות תוכן: ספק S01, ספק NOPE ושם זדוני.</a:t>
            </a:r>
          </a:p>
          <a:p>
            <a:pPr rtl="1" algn="r" marL="0" indent="0">
              <a:buNone/>
            </a:pPr>
            <a:r>
              <a:rPr sz="1200" lang="he-IL"/>
              <a:t>•  מה בודקים בזמן הסיור: שבאמת הדביקו קוד של כלי; ש־ai_log[problems_found] תואם למה שהודפס.</a:t>
            </a:r>
          </a:p>
          <a:p>
            <a:pPr rtl="1" algn="r" marL="0" indent="0">
              <a:buNone/>
            </a:pPr>
            <a:r>
              <a:rPr sz="1200" lang="he-IL"/>
              <a:t>•  תקלות נפוצות: הכלי משתמש ב־f־string (ההזרקה תופיע כבעיה, וזה טוב לדיון), פותח sqlite3.connect חדש בזיכרון (מסד ריק: no such table), משתמש בשם משתנה אחר מ־con, או שוכח לייבא HTTPException (500).</a:t>
            </a:r>
          </a:p>
          <a:p>
            <a:pPr rtl="1" algn="r" marL="0" indent="0">
              <a:buNone/>
            </a:pPr>
            <a:r>
              <a:rPr sz="1200" lang="he-IL"/>
              <a:t>•  אם הכלי סגר את החיבור con: להריץ מחדש את תא ההכנה של חלק ב׳.</a:t>
            </a:r>
          </a:p>
          <a:p>
            <a:pPr rtl="1" algn="r" marL="0" indent="0">
              <a:buNone/>
            </a:pPr>
            <a:r>
              <a:rPr sz="1200" lang="he-IL"/>
              <a:t>•  אם אין גישה ל־Gemini: מותר כל צ׳אט חינמי, או שהמרצה מציג תוצאה מוכנה.</a:t>
            </a:r>
          </a:p>
          <a:p>
            <a:pPr rtl="1" algn="r" marL="0" indent="0">
              <a:buNone/>
            </a:pPr>
            <a:r>
              <a:rPr b="1" sz="1200" lang="he-IL"/>
              <a:t>אנלוגיה</a:t>
            </a:r>
          </a:p>
          <a:p>
            <a:pPr rtl="1" algn="r" marL="0" indent="0">
              <a:buNone/>
            </a:pPr>
            <a:r>
              <a:rPr sz="1200" lang="he-IL"/>
              <a:t>•  הוראת עבודה לטכנאי: מה לעשות, על איזה ציוד, מה לא לגעת, ואיך מוודאים.</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 לשימוש בזמן הסיור.</a:t>
            </a:r>
          </a:p>
          <a:p>
            <a:pPr rtl="1" algn="r" marL="0" indent="0">
              <a:buNone/>
            </a:pPr>
            <a:r>
              <a:rPr b="1" sz="1200" lang="he-IL"/>
              <a:t>מה אומרים</a:t>
            </a:r>
          </a:p>
          <a:p>
            <a:pPr rtl="1" algn="r" marL="0" indent="0">
              <a:buNone/>
            </a:pPr>
            <a:r>
              <a:rPr sz="1200" lang="he-IL"/>
              <a:t>•  מה אמור לצאת במעבדה ג׳, כדקה, לשימוש בזמן הסיור.</a:t>
            </a:r>
          </a:p>
          <a:p>
            <a:pPr rtl="1" algn="r" marL="0" indent="0">
              <a:buNone/>
            </a:pPr>
            <a:r>
              <a:rPr sz="1200" lang="he-IL"/>
              <a:t>•  שלב 1: GET /reports/top-products עם n=2 מחזיר 200 עם Plant Pot Plus 33,595.62 ו־Desk Organizer Basic 33,378.87; עם n=0 מקבלים 422.</a:t>
            </a:r>
          </a:p>
          <a:p>
            <a:pPr rtl="1" algn="r" marL="0" indent="0">
              <a:buNone/>
            </a:pPr>
            <a:r>
              <a:rPr sz="1200" lang="he-IL"/>
              <a:t>•  שלב 2: e2e_test עוברת על הגרסה הנכונה, ותא הבדיקה מדפיס שהיא תפסה את כל ארבע הגרסאות השגויות: ascending (מיון הפוך), alphabetical (מיון אלפביתי), by_quantity (כמות במקום הכנסה) ו־one_extra (שורה אחת יותר מדי).</a:t>
            </a:r>
          </a:p>
          <a:p>
            <a:pPr rtl="1" algn="r" marL="0" indent="0">
              <a:buNone/>
            </a:pPr>
            <a:r>
              <a:rPr sz="1200" lang="he-IL"/>
              <a:t>•  אם הסטודנטים נכשלים כאן, בדרך כלל חסרה בדיקת מיון או בדיקת מספר השורות; זה הלקח.</a:t>
            </a:r>
          </a:p>
          <a:p>
            <a:pPr rtl="1" algn="r" marL="0" indent="0">
              <a:buNone/>
            </a:pPr>
            <a:r>
              <a:rPr sz="1200" lang="he-IL"/>
              <a:t>•  שלב 3: אם הקוד של הכלי תקין, מודפס שלא נמצאו בעיות, GET /suppliers/S01 מחזיר 200 עם Supplier A (lead_time_days 3, on_time_rate 0.8), ו־GET /suppliers/NOPE מחזיר 404 עם Supplier not found.</a:t>
            </a:r>
          </a:p>
          <a:p>
            <a:pPr rtl="1" algn="r" marL="0" indent="0">
              <a:buNone/>
            </a:pPr>
            <a:r>
              <a:rPr sz="1200" lang="he-IL"/>
              <a:t>•  תא הבדיקה גם מוכיח שהכלי שלהם תופס נקודת קצה שוכחת (forgetful) שמחזירה 500 במקום 404, כי 500 לא מופיע בחוזה.</a:t>
            </a:r>
          </a:p>
          <a:p>
            <a:pPr rtl="1" algn="r" marL="0" indent="0">
              <a:buNone/>
            </a:pPr>
            <a:r>
              <a:rPr b="1" sz="1200" lang="he-IL"/>
              <a:t>שאלה לכיתה</a:t>
            </a:r>
          </a:p>
          <a:p>
            <a:pPr rtl="1" algn="r" marL="0" indent="0">
              <a:buNone/>
            </a:pPr>
            <a:r>
              <a:rPr sz="1200" lang="he-IL"/>
              <a:t>•  מה לא היה נתפס בלי הקריאה עם NOPE?</a:t>
            </a:r>
          </a:p>
          <a:p>
            <a:pPr rtl="1" algn="r" marL="0" indent="0">
              <a:buNone/>
            </a:pPr>
            <a:r>
              <a:rPr sz="1200" lang="he-IL"/>
              <a:t>•  רואים רק הצלחה.</a:t>
            </a:r>
          </a:p>
          <a:p>
            <a:pPr rtl="1" algn="r" marL="0" indent="0">
              <a:buNone/>
            </a:pPr>
            <a:r>
              <a:rPr sz="1200" lang="he-IL"/>
              <a:t>•  מסקנה בחלק ד׳: שלושה משפטים, אחד לכל חלק: מה מימשתי, איזו חוליה זה מראה, ומה עושים בעבודה עם AI.</a:t>
            </a:r>
          </a:p>
          <a:p>
            <a:pPr rtl="1" algn="r" marL="0" indent="0">
              <a:buNone/>
            </a:pPr>
            <a:r>
              <a:rPr sz="1200" lang="he-IL"/>
              <a:t>•  אחרי שקף זה: שקף הבית.</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ליבה · כ־0.7 דקות.</a:t>
            </a:r>
          </a:p>
          <a:p>
            <a:pPr rtl="1" algn="r" marL="0" indent="0">
              <a:buNone/>
            </a:pPr>
            <a:r>
              <a:rPr b="1" sz="1200" lang="he-IL"/>
              <a:t>מה אומרים</a:t>
            </a:r>
          </a:p>
          <a:p>
            <a:pPr rtl="1" algn="r" marL="0" indent="0">
              <a:buNone/>
            </a:pPr>
            <a:r>
              <a:rPr sz="1200" lang="he-IL"/>
              <a:t>•  לבית, כדקה בכיתה, כ־30 דקות בבית: שלושה חלקים של אותה מחברת HM_07, שלא נכנסו לשעה וחצי.</a:t>
            </a:r>
          </a:p>
          <a:p>
            <a:pPr rtl="1" algn="r" marL="0" indent="0">
              <a:buNone/>
            </a:pPr>
            <a:r>
              <a:rPr sz="1200" lang="he-IL"/>
              <a:t>•  הם עצמאיים, ולא תלויים בשרת ובמסד של חלקי הכיתה.</a:t>
            </a:r>
          </a:p>
          <a:p>
            <a:pPr rtl="1" algn="r" marL="0" indent="0">
              <a:buNone/>
            </a:pPr>
            <a:r>
              <a:rPr sz="1200" lang="he-IL"/>
              <a:t>•  חלק ה׳ (12 דקות), תור ו־worker: סימולציה אמיתית של Celery, Redis ו־Flower בעזרת queue.Queue ו־threads; הסטודנטים כותבים submit_job (מחזירה מיד, כמו 202), worker_loop, get_status ו־status_counts.</a:t>
            </a:r>
          </a:p>
          <a:p>
            <a:pPr rtl="1" algn="r" marL="0" indent="0">
              <a:buNone/>
            </a:pPr>
            <a:r>
              <a:rPr sz="1200" lang="he-IL"/>
              <a:t>•  בניסוי 1 העובד כבוי והמשימות לא אובדות: שלוש משימות נשארות PENDING עד שמפעילים עובד.</a:t>
            </a:r>
          </a:p>
          <a:p>
            <a:pPr rtl="1" algn="r" marL="0" indent="0">
              <a:buNone/>
            </a:pPr>
            <a:r>
              <a:rPr sz="1200" lang="he-IL"/>
              <a:t>•  בניסוי 2 שש משימות של חצי שנייה מסתיימות בכ־3 שניות עם עובד אחד, בכ־1.5 עם שניים ובכ־1 עם שלושה (הזמנים משתנים קצת בין מחשבים).</a:t>
            </a:r>
          </a:p>
          <a:p>
            <a:pPr rtl="1" algn="r" marL="0" indent="0">
              <a:buNone/>
            </a:pPr>
            <a:r>
              <a:rPr sz="1200" lang="he-IL"/>
              <a:t>•  חלק ו׳ (12 דקות), Docker ו־Kubernetes בקריאה: Docker, Redis ו־Kubernetes לא רצים ב־Colab, ולכן הקבצים נקראים ונבדקים כטקסט: parse_dockerfile, שלושה כללי lint (תמונת בסיס מוצמדת, requirements לפני הקוד, בלי סיסמה ב־ENV), compose_services ו־k8s_replicas (replicas 3).</a:t>
            </a:r>
          </a:p>
          <a:p>
            <a:pPr rtl="1" algn="r" marL="0" indent="0">
              <a:buNone/>
            </a:pPr>
            <a:r>
              <a:rPr sz="1200" lang="he-IL"/>
              <a:t>•  חלק ז׳ (6 דקות, אופציונלי): get_rate קוראת ל־api.frankfurter.dev ונבדקת בשרת מזויף, כך שהבדיקה יציבה גם בלי אינטרנט.</a:t>
            </a:r>
          </a:p>
          <a:p>
            <a:pPr rtl="1" algn="r" marL="0" indent="0">
              <a:buNone/>
            </a:pPr>
            <a:r>
              <a:rPr sz="1200" lang="he-IL"/>
              <a:t>•  מה מוצג על המקרן, ולא רץ במחברת: Flower, Redis, Celery ו־Docker עצמו, בשקפי חלק ג׳ וד׳.</a:t>
            </a:r>
          </a:p>
          <a:p>
            <a:pPr rtl="1" algn="r" marL="0" indent="0">
              <a:buNone/>
            </a:pPr>
            <a:r>
              <a:rPr b="1" sz="1200" lang="he-IL"/>
              <a:t>הכנה לפני השיעור</a:t>
            </a:r>
          </a:p>
          <a:p>
            <a:pPr rtl="1" algn="r" marL="0" indent="0">
              <a:buNone/>
            </a:pPr>
            <a:r>
              <a:rPr sz="1200" lang="he-IL"/>
              <a:t>•  להחליף את ה־QR בקישור אמיתי, ולהזכיר שכדאי לעשות את חלקי ה׳ ו־ו׳ לפני מפגש 8.</a:t>
            </a:r>
          </a:p>
          <a:p>
            <a:pPr rtl="1" algn="r" marL="0" indent="0">
              <a:buNone/>
            </a:pPr>
            <a:r>
              <a:rPr sz="1200" lang="he-IL"/>
              <a:t>•  תלות בתיאוריה: חלק ה׳ במחברת נשען על שקפים 42-45; חלק ו׳ על שקפים 33-38 ועל Kubernetes בהעשרה (73-74); חלק ז׳ על שקפים 8 ו־59-63.</a:t>
            </a:r>
          </a:p>
          <a:p>
            <a:pPr rtl="1" algn="r" marL="0" indent="0">
              <a:buNone/>
            </a:pPr>
            <a:r>
              <a:rPr sz="1200" lang="he-IL"/>
              <a:t>•  זמן הבית כ־30 דקות, מחוץ לתקציב ה־90.</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13 דקות</a:t>
            </a:r>
          </a:p>
          <a:p>
            <a:pPr rtl="1" algn="r" marL="0" indent="0">
              <a:buNone/>
            </a:pPr>
            <a:r>
              <a:rPr lang="he-IL"/>
              <a:t>מה אומרים</a:t>
            </a:r>
          </a:p>
          <a:p>
            <a:pPr rtl="1" algn="r" marL="0" indent="0">
              <a:buNone/>
            </a:pPr>
            <a:r>
              <a:rPr lang="he-IL"/>
              <a:t>• הקובץ לתרגול הזה: HM_07.ipynb. חלק א׳: HTTP ו־OpenAPI.</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HM_07.ipynb ל־Colab או ל־Drive, ולהחליף את ה־QR (מקום שמור) בקישור אמיתי.</a:t>
            </a:r>
          </a:p>
          <a:p>
            <a:pPr rtl="1" algn="r" marL="0" indent="0">
              <a:buNone/>
            </a:pPr>
            <a:r>
              <a:rPr lang="he-IL"/>
              <a:t>• להריץ Run all על HM_07_SOLUTION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12 דקות</a:t>
            </a:r>
          </a:p>
          <a:p>
            <a:pPr rtl="1" algn="r" marL="0" indent="0">
              <a:buNone/>
            </a:pPr>
            <a:r>
              <a:rPr lang="he-IL"/>
              <a:t>מה אומרים</a:t>
            </a:r>
          </a:p>
          <a:p>
            <a:pPr rtl="1" algn="r" marL="0" indent="0">
              <a:buNone/>
            </a:pPr>
            <a:r>
              <a:rPr lang="he-IL"/>
              <a:t>• הקובץ לתרגול הזה: HM_07.ipynb. חלק ב׳: SQL.</a:t>
            </a:r>
          </a:p>
          <a:p>
            <a:pPr rtl="1" algn="r" marL="0" indent="0">
              <a:buNone/>
            </a:pPr>
            <a:r>
              <a:rPr lang="he-IL"/>
              <a:t>• זה אותו קובץ HM_07.ipynb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HM_07.ipynb ל־Colab או ל־Drive, ולהחליף את ה־QR (מקום שמור) בקישור אמיתי.</a:t>
            </a:r>
          </a:p>
          <a:p>
            <a:pPr rtl="1" algn="r" marL="0" indent="0">
              <a:buNone/>
            </a:pPr>
            <a:r>
              <a:rPr lang="he-IL"/>
              <a:t>• להריץ Run all על HM_07_SOLUTION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12 דקות</a:t>
            </a:r>
          </a:p>
          <a:p>
            <a:pPr rtl="1" algn="r" marL="0" indent="0">
              <a:buNone/>
            </a:pPr>
            <a:r>
              <a:rPr lang="he-IL"/>
              <a:t>מה אומרים</a:t>
            </a:r>
          </a:p>
          <a:p>
            <a:pPr rtl="1" algn="r" marL="0" indent="0">
              <a:buNone/>
            </a:pPr>
            <a:r>
              <a:rPr lang="he-IL"/>
              <a:t>• הקובץ לתרגול הזה: HM_07.ipynb. חלקים ג׳-ד׳: שירות מקצה לקצה.</a:t>
            </a:r>
          </a:p>
          <a:p>
            <a:pPr rtl="1" algn="r" marL="0" indent="0">
              <a:buNone/>
            </a:pPr>
            <a:r>
              <a:rPr lang="he-IL"/>
              <a:t>• זה אותו קובץ HM_07.ipynb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HM_07.ipynb ל־Colab או ל־Drive, ולהחליף את ה־QR (מקום שמור) בקישור אמיתי.</a:t>
            </a:r>
          </a:p>
          <a:p>
            <a:pPr rtl="1" algn="r" marL="0" indent="0">
              <a:buNone/>
            </a:pPr>
            <a:r>
              <a:rPr lang="he-IL"/>
              <a:t>• להריץ Run all על HM_07_SOLUTION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7</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801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800" b="1" i="0" lang="he-IL">
                <a:solidFill>
                  <a:srgbClr val="4285F4"/>
                </a:solidFill>
              </a:rPr>
              <a:t>"זה עובד אצלי ב־Notebook." ומה עכשיו?</a:t>
            </a:r>
          </a:p>
        </p:txBody>
      </p:sp>
      <p:sp>
        <p:nvSpPr>
          <p:cNvPr id="6" name="Rounded Rectangle 5"/>
          <p:cNvSpPr/>
          <p:nvPr/>
        </p:nvSpPr>
        <p:spPr>
          <a:xfrm>
            <a:off x="5577840" y="2194560"/>
            <a:ext cx="3200400" cy="22860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Notebook</a:t>
            </a:r>
          </a:p>
          <a:p>
            <a:pPr rtl="1" algn="ctr" marL="0" indent="0">
              <a:lnSpc>
                <a:spcPct val="105000"/>
              </a:lnSpc>
              <a:spcBef>
                <a:spcPts val="0"/>
              </a:spcBef>
              <a:spcAft>
                <a:spcPts val="0"/>
              </a:spcAft>
              <a:buNone/>
            </a:pPr>
            <a:r>
              <a:rPr sz="1600" b="0" i="0" lang="he-IL">
                <a:solidFill>
                  <a:srgbClr val="595959"/>
                </a:solidFill>
              </a:rPr>
              <a:t>משתמש אחד
מחשב אחד
מריצים ידנית</a:t>
            </a:r>
          </a:p>
        </p:txBody>
      </p:sp>
      <p:sp>
        <p:nvSpPr>
          <p:cNvPr id="7" name="Rounded Rectangle 6"/>
          <p:cNvSpPr/>
          <p:nvPr/>
        </p:nvSpPr>
        <p:spPr>
          <a:xfrm>
            <a:off x="365760" y="2194560"/>
            <a:ext cx="4297680" cy="22860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שירות</a:t>
            </a:r>
          </a:p>
          <a:p>
            <a:pPr rtl="1" algn="ctr" marL="0" indent="0">
              <a:lnSpc>
                <a:spcPct val="105000"/>
              </a:lnSpc>
              <a:spcBef>
                <a:spcPts val="0"/>
              </a:spcBef>
              <a:spcAft>
                <a:spcPts val="0"/>
              </a:spcAft>
              <a:buNone/>
            </a:pPr>
            <a:r>
              <a:rPr sz="1600" b="0" i="0" lang="he-IL">
                <a:solidFill>
                  <a:srgbClr val="595959"/>
                </a:solidFill>
              </a:rPr>
              <a:t>הרבה משתמשים בו־זמנית
זמין תמיד
נבדק, מנוטר ומתעדכן</a:t>
            </a:r>
          </a:p>
        </p:txBody>
      </p:sp>
      <p:cxnSp>
        <p:nvCxnSpPr>
          <p:cNvPr id="8" name="Connector 7"/>
          <p:cNvCxnSpPr/>
          <p:nvPr/>
        </p:nvCxnSpPr>
        <p:spPr>
          <a:xfrm flipH="1">
            <a:off x="4709160" y="3337560"/>
            <a:ext cx="82296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0" i="0" lang="he-IL">
                <a:solidFill>
                  <a:srgbClr val="595959"/>
                </a:solidFill>
              </a:rPr>
              <a:t>היום: API, חוזה (OpenAPI), ממשק, Docker ותור עבודה למודל.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להסביר HTTP: בקשה, תגובה וקוד סטטוס, ולעבוד מול API חיצוני.</a:t>
            </a:r>
          </a:p>
        </p:txBody>
      </p:sp>
      <p:sp>
        <p:nvSpPr>
          <p:cNvPr id="7" name="Oval 6"/>
          <p:cNvSpPr/>
          <p:nvPr/>
        </p:nvSpPr>
        <p:spPr>
          <a:xfrm>
            <a:off x="8229600" y="20726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1981199"/>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להשתמש ב־OpenAPI ובתיעוד שלו כדי לנסות ולבדוק API.</a:t>
            </a:r>
          </a:p>
        </p:txBody>
      </p:sp>
      <p:sp>
        <p:nvSpPr>
          <p:cNvPr id="9" name="Oval 8"/>
          <p:cNvSpPr/>
          <p:nvPr/>
        </p:nvSpPr>
        <p:spPr>
          <a:xfrm>
            <a:off x="8229600" y="26822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2590799"/>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לתכנן סכמה, לקרוא SQL (WHERE, GROUP BY, JOIN) ולאמת אותו.</a:t>
            </a:r>
          </a:p>
        </p:txBody>
      </p:sp>
      <p:sp>
        <p:nvSpPr>
          <p:cNvPr id="11" name="Oval 10"/>
          <p:cNvSpPr/>
          <p:nvPr/>
        </p:nvSpPr>
        <p:spPr>
          <a:xfrm>
            <a:off x="8229600" y="32918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200400"/>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לכתוב מפרט לפני הקוד, ולבדוק קוד ש־AI כתב לפיו.</a:t>
            </a:r>
          </a:p>
        </p:txBody>
      </p:sp>
      <p:sp>
        <p:nvSpPr>
          <p:cNvPr id="13" name="Oval 12"/>
          <p:cNvSpPr/>
          <p:nvPr/>
        </p:nvSpPr>
        <p:spPr>
          <a:xfrm>
            <a:off x="8229600" y="3901439"/>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5</a:t>
            </a:r>
          </a:p>
        </p:txBody>
      </p:sp>
      <p:sp>
        <p:nvSpPr>
          <p:cNvPr id="14" name="TextBox 13"/>
          <p:cNvSpPr txBox="1"/>
          <p:nvPr/>
        </p:nvSpPr>
        <p:spPr>
          <a:xfrm>
            <a:off x="365760" y="3809999"/>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להסביר Docker מול מכונה וירטואלית, ולקרוא Dockerfile.</a:t>
            </a:r>
          </a:p>
        </p:txBody>
      </p:sp>
      <p:sp>
        <p:nvSpPr>
          <p:cNvPr id="15" name="Oval 14"/>
          <p:cNvSpPr/>
          <p:nvPr/>
        </p:nvSpPr>
        <p:spPr>
          <a:xfrm>
            <a:off x="8229600" y="4511039"/>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6</a:t>
            </a:r>
          </a:p>
        </p:txBody>
      </p:sp>
      <p:sp>
        <p:nvSpPr>
          <p:cNvPr id="16" name="TextBox 15"/>
          <p:cNvSpPr txBox="1"/>
          <p:nvPr/>
        </p:nvSpPr>
        <p:spPr>
          <a:xfrm>
            <a:off x="365760" y="4419600"/>
            <a:ext cx="7726679" cy="56387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להכיר תור, עובד ו־Celery, ולקרוא ל־LLM API.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235696" y="2011680"/>
            <a:ext cx="524255"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6׳</a:t>
            </a:r>
          </a:p>
        </p:txBody>
      </p:sp>
      <p:sp>
        <p:nvSpPr>
          <p:cNvPr id="6" name="Rounded Rectangle 5"/>
          <p:cNvSpPr/>
          <p:nvPr/>
        </p:nvSpPr>
        <p:spPr>
          <a:xfrm>
            <a:off x="6933185" y="2011680"/>
            <a:ext cx="1265934"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14׳</a:t>
            </a:r>
          </a:p>
        </p:txBody>
      </p:sp>
      <p:sp>
        <p:nvSpPr>
          <p:cNvPr id="7" name="Rounded Rectangle 6"/>
          <p:cNvSpPr/>
          <p:nvPr/>
        </p:nvSpPr>
        <p:spPr>
          <a:xfrm>
            <a:off x="5721098" y="2011680"/>
            <a:ext cx="117551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13׳</a:t>
            </a:r>
          </a:p>
        </p:txBody>
      </p:sp>
      <p:sp>
        <p:nvSpPr>
          <p:cNvPr id="8" name="Rounded Rectangle 7"/>
          <p:cNvSpPr/>
          <p:nvPr/>
        </p:nvSpPr>
        <p:spPr>
          <a:xfrm>
            <a:off x="4780284" y="2011680"/>
            <a:ext cx="904238"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10׳</a:t>
            </a:r>
          </a:p>
        </p:txBody>
      </p:sp>
      <p:sp>
        <p:nvSpPr>
          <p:cNvPr id="9" name="Rounded Rectangle 8"/>
          <p:cNvSpPr/>
          <p:nvPr/>
        </p:nvSpPr>
        <p:spPr>
          <a:xfrm>
            <a:off x="3658620" y="2011680"/>
            <a:ext cx="1085086"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12׳</a:t>
            </a:r>
          </a:p>
        </p:txBody>
      </p:sp>
      <p:sp>
        <p:nvSpPr>
          <p:cNvPr id="10" name="Rounded Rectangle 9"/>
          <p:cNvSpPr/>
          <p:nvPr/>
        </p:nvSpPr>
        <p:spPr>
          <a:xfrm>
            <a:off x="2989077" y="2011680"/>
            <a:ext cx="632967"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7׳</a:t>
            </a:r>
          </a:p>
        </p:txBody>
      </p:sp>
      <p:sp>
        <p:nvSpPr>
          <p:cNvPr id="11" name="Rounded Rectangle 10"/>
          <p:cNvSpPr/>
          <p:nvPr/>
        </p:nvSpPr>
        <p:spPr>
          <a:xfrm>
            <a:off x="2048262" y="2011680"/>
            <a:ext cx="904238"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ד׳</a:t>
            </a:r>
          </a:p>
          <a:p>
            <a:pPr rtl="1" algn="ctr" marL="0" indent="0">
              <a:lnSpc>
                <a:spcPct val="105000"/>
              </a:lnSpc>
              <a:spcBef>
                <a:spcPts val="0"/>
              </a:spcBef>
              <a:spcAft>
                <a:spcPts val="0"/>
              </a:spcAft>
              <a:buNone/>
            </a:pPr>
            <a:r>
              <a:rPr sz="1300" b="0" i="0" lang="he-IL">
                <a:solidFill>
                  <a:srgbClr val="FFFFFF"/>
                </a:solidFill>
              </a:rPr>
              <a:t>10׳</a:t>
            </a:r>
          </a:p>
        </p:txBody>
      </p:sp>
      <p:sp>
        <p:nvSpPr>
          <p:cNvPr id="12" name="Rounded Rectangle 11"/>
          <p:cNvSpPr/>
          <p:nvPr/>
        </p:nvSpPr>
        <p:spPr>
          <a:xfrm>
            <a:off x="926599" y="2011680"/>
            <a:ext cx="1085086"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12׳</a:t>
            </a:r>
          </a:p>
        </p:txBody>
      </p:sp>
      <p:sp>
        <p:nvSpPr>
          <p:cNvPr id="13" name="Rounded Rectangle 12"/>
          <p:cNvSpPr/>
          <p:nvPr/>
        </p:nvSpPr>
        <p:spPr>
          <a:xfrm>
            <a:off x="365767" y="2011680"/>
            <a:ext cx="524255"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6׳</a:t>
            </a:r>
          </a:p>
        </p:txBody>
      </p:sp>
      <p:cxnSp>
        <p:nvCxnSpPr>
          <p:cNvPr id="14" name="Connector 13"/>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6" name="Rectangle 15"/>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7" name="TextBox 16"/>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8" name="Rectangle 17"/>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9" name="TextBox 18"/>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12480" cy="3555488"/>
        </p:xfrm>
        <a:graphic>
          <a:graphicData uri="http://schemas.openxmlformats.org/drawingml/2006/table">
            <a:tbl>
              <a:tblPr firstRow="0" bandRow="0">
                <a:tableStyleId>{2D5ABB26-0587-4C30-8999-92F81FD0307C}</a:tableStyleId>
              </a:tblPr>
              <a:tblGrid>
                <a:gridCol w="3600000"/>
                <a:gridCol w="3700000"/>
                <a:gridCol w="1112480"/>
              </a:tblGrid>
              <a:tr h="475488">
                <a:tc>
                  <a:txBody>
                    <a:bodyPr wrap="square"/>
                    <a:lstStyle/>
                    <a:p>
                      <a:pPr rtl="1" algn="ctr" marL="0" indent="0">
                        <a:lnSpc>
                          <a:spcPct val="100000"/>
                        </a:lnSpc>
                        <a:spcBef>
                          <a:spcPts val="0"/>
                        </a:spcBef>
                        <a:spcAft>
                          <a:spcPts val="0"/>
                        </a:spcAft>
                        <a:buNone/>
                      </a:pPr>
                      <a:r>
                        <a:rPr sz="13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70000">
                <a:tc>
                  <a:txBody>
                    <a:bodyPr wrap="square"/>
                    <a:lstStyle/>
                    <a:p>
                      <a:pPr rtl="1" algn="r" marL="0" indent="0">
                        <a:lnSpc>
                          <a:spcPct val="100000"/>
                        </a:lnSpc>
                        <a:spcBef>
                          <a:spcPts val="0"/>
                        </a:spcBef>
                        <a:spcAft>
                          <a:spcPts val="0"/>
                        </a:spcAft>
                        <a:buNone/>
                      </a:pPr>
                      <a:r>
                        <a:rPr sz="1500" b="0" i="0" lang="he-IL">
                          <a:solidFill>
                            <a:srgbClr val="212121"/>
                          </a:solidFill>
                        </a:rPr>
                        <a:t>החוזה הוא התיעוד: check_contract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הזיות: שם סביר שלא קיים, בודקים בתיעוד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70000">
                <a:tc>
                  <a:txBody>
                    <a:bodyPr wrap="square"/>
                    <a:lstStyle/>
                    <a:p>
                      <a:pPr rtl="1" algn="r" marL="0" indent="0">
                        <a:lnSpc>
                          <a:spcPct val="100000"/>
                        </a:lnSpc>
                        <a:spcBef>
                          <a:spcPts val="0"/>
                        </a:spcBef>
                        <a:spcAft>
                          <a:spcPts val="0"/>
                        </a:spcAft>
                        <a:buNone/>
                      </a:pPr>
                      <a:r>
                        <a:rPr sz="1500" b="0" i="0" lang="he-IL">
                          <a:solidFill>
                            <a:srgbClr val="212121"/>
                          </a:solidFill>
                        </a:rPr>
                        <a:t>בקשה ממוקדת ל־AI; חוזה כהקשר לסוכן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פרומפט והקשר (לפי הסילבוס)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3‎–‎4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70000">
                <a:tc>
                  <a:txBody>
                    <a:bodyPr wrap="square"/>
                    <a:lstStyle/>
                    <a:p>
                      <a:pPr rtl="1" algn="r" marL="0" indent="0">
                        <a:lnSpc>
                          <a:spcPct val="100000"/>
                        </a:lnSpc>
                        <a:spcBef>
                          <a:spcPts val="0"/>
                        </a:spcBef>
                        <a:spcAft>
                          <a:spcPts val="0"/>
                        </a:spcAft>
                        <a:buNone/>
                      </a:pPr>
                      <a:r>
                        <a:rPr sz="1500" b="0" i="0" lang="he-IL">
                          <a:solidFill>
                            <a:srgbClr val="212121"/>
                          </a:solidFill>
                        </a:rPr>
                        <a:t>Plant Pot Plus ב־SQL; ai_log במעבדה 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בודקים מול ידוע מראש; יומן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70000">
                <a:tc>
                  <a:txBody>
                    <a:bodyPr wrap="square"/>
                    <a:lstStyle/>
                    <a:p>
                      <a:pPr rtl="1" algn="r" marL="0" indent="0">
                        <a:lnSpc>
                          <a:spcPct val="100000"/>
                        </a:lnSpc>
                        <a:spcBef>
                          <a:spcPts val="0"/>
                        </a:spcBef>
                        <a:spcAft>
                          <a:spcPts val="0"/>
                        </a:spcAft>
                        <a:buNone/>
                      </a:pPr>
                      <a:r>
                        <a:rPr sz="1500" b="0" i="0" lang="he-IL">
                          <a:solidFill>
                            <a:srgbClr val="212121"/>
                          </a:solidFill>
                        </a:rPr>
                        <a:t>קוד של AI נבדק, לא ״זה רץ״</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commit לפני, diff אחרי; ״סיימתי״ אינו הוכחה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מפגש 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801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800" b="1" i="0" lang="he-IL">
                <a:solidFill>
                  <a:srgbClr val="4285F4"/>
                </a:solidFill>
              </a:rPr>
              <a:t>איך קוד של סוכן הופך לשירות שאפשר לסמוך עליו?</a:t>
            </a:r>
          </a:p>
        </p:txBody>
      </p:sp>
      <p:sp>
        <p:nvSpPr>
          <p:cNvPr id="6" name="Rounded Rectangle 5"/>
          <p:cNvSpPr/>
          <p:nvPr/>
        </p:nvSpPr>
        <p:spPr>
          <a:xfrm>
            <a:off x="4962240" y="2194560"/>
            <a:ext cx="3816000" cy="22860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נשאר פתוח ממפגש 6</a:t>
            </a:r>
          </a:p>
          <a:p>
            <a:pPr rtl="1" algn="ctr" marL="0" indent="0">
              <a:lnSpc>
                <a:spcPct val="105000"/>
              </a:lnSpc>
              <a:spcBef>
                <a:spcPts val="0"/>
              </a:spcBef>
              <a:spcAft>
                <a:spcPts val="0"/>
              </a:spcAft>
              <a:buNone/>
            </a:pPr>
            <a:r>
              <a:rPr sz="1600" b="0" i="0" lang="he-IL">
                <a:solidFill>
                  <a:srgbClr val="595959"/>
                </a:solidFill>
              </a:rPr>
              <a:t>הסוכן כותב, ו־Git מגן עלינו</a:t>
            </a:r>
          </a:p>
          <a:p>
            <a:pPr rtl="1" algn="ctr" marL="0" indent="0">
              <a:lnSpc>
                <a:spcPct val="105000"/>
              </a:lnSpc>
              <a:spcBef>
                <a:spcPts val="0"/>
              </a:spcBef>
              <a:spcAft>
                <a:spcPts val="0"/>
              </a:spcAft>
              <a:buNone/>
            </a:pPr>
            <a:r>
              <a:rPr sz="1600" b="0" i="0" lang="he-IL">
                <a:solidFill>
                  <a:srgbClr val="595959"/>
                </a:solidFill>
              </a:rPr>
              <a:t>אבל הקוד רץ רק אצלנו</a:t>
            </a:r>
          </a:p>
          <a:p>
            <a:pPr rtl="1" algn="ctr" marL="0" indent="0">
              <a:lnSpc>
                <a:spcPct val="105000"/>
              </a:lnSpc>
              <a:spcBef>
                <a:spcPts val="0"/>
              </a:spcBef>
              <a:spcAft>
                <a:spcPts val="0"/>
              </a:spcAft>
              <a:buNone/>
            </a:pPr>
            <a:r>
              <a:rPr sz="1600" b="0" i="0" lang="he-IL">
                <a:solidFill>
                  <a:srgbClr val="595959"/>
                </a:solidFill>
              </a:rPr>
              <a:t>ו״סיימתי״ של הסוכן אינו הוכחה</a:t>
            </a:r>
          </a:p>
        </p:txBody>
      </p:sp>
      <p:sp>
        <p:nvSpPr>
          <p:cNvPr id="7" name="Rounded Rectangle 6"/>
          <p:cNvSpPr/>
          <p:nvPr/>
        </p:nvSpPr>
        <p:spPr>
          <a:xfrm>
            <a:off x="360000" y="2194560"/>
            <a:ext cx="3816000" cy="22860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מה עושים היום</a:t>
            </a:r>
          </a:p>
          <a:p>
            <a:pPr rtl="1" algn="ctr" marL="0" indent="0">
              <a:lnSpc>
                <a:spcPct val="105000"/>
              </a:lnSpc>
              <a:spcBef>
                <a:spcPts val="0"/>
              </a:spcBef>
              <a:spcAft>
                <a:spcPts val="0"/>
              </a:spcAft>
              <a:buNone/>
            </a:pPr>
            <a:r>
              <a:rPr sz="1600" b="0" i="0" lang="he-IL">
                <a:solidFill>
                  <a:srgbClr val="595959"/>
                </a:solidFill>
              </a:rPr>
              <a:t>חוזה (OpenAPI) שמולו בודקים</a:t>
            </a:r>
          </a:p>
          <a:p>
            <a:pPr rtl="1" algn="ctr" marL="0" indent="0">
              <a:lnSpc>
                <a:spcPct val="105000"/>
              </a:lnSpc>
              <a:spcBef>
                <a:spcPts val="0"/>
              </a:spcBef>
              <a:spcAft>
                <a:spcPts val="0"/>
              </a:spcAft>
              <a:buNone/>
            </a:pPr>
            <a:r>
              <a:rPr sz="1600" b="0" i="0" lang="he-IL">
                <a:solidFill>
                  <a:srgbClr val="595959"/>
                </a:solidFill>
              </a:rPr>
              <a:t>מסד נתונים ושאילתות מאומתות</a:t>
            </a:r>
          </a:p>
          <a:p>
            <a:pPr rtl="1" algn="ctr" marL="0" indent="0">
              <a:lnSpc>
                <a:spcPct val="105000"/>
              </a:lnSpc>
              <a:spcBef>
                <a:spcPts val="0"/>
              </a:spcBef>
              <a:spcAft>
                <a:spcPts val="0"/>
              </a:spcAft>
              <a:buNone/>
            </a:pPr>
            <a:r>
              <a:rPr sz="1600" b="0" i="0" lang="he-IL">
                <a:solidFill>
                  <a:srgbClr val="595959"/>
                </a:solidFill>
              </a:rPr>
              <a:t>תור ו־Docker למודל איטי</a:t>
            </a:r>
          </a:p>
        </p:txBody>
      </p:sp>
      <p:cxnSp>
        <p:nvCxnSpPr>
          <p:cNvPr id="8" name="Connector 7"/>
          <p:cNvCxnSpPr/>
          <p:nvPr/>
        </p:nvCxnSpPr>
        <p:spPr>
          <a:xfrm flipH="1">
            <a:off x="4216000" y="3337560"/>
            <a:ext cx="70624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0" i="0" lang="he-IL">
                <a:solidFill>
                  <a:srgbClr val="595959"/>
                </a:solidFill>
              </a:rPr>
              <a:t>החוזה הוא ה״ידוע מראש״ של השירות: מולו בודקים, גם קוד ש־AI כתב.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מפת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766560" y="1234440"/>
            <a:ext cx="2011680" cy="7772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ממשק</a:t>
            </a:r>
          </a:p>
          <a:p>
            <a:pPr rtl="1" algn="ctr" marL="0" indent="0">
              <a:lnSpc>
                <a:spcPct val="105000"/>
              </a:lnSpc>
              <a:spcBef>
                <a:spcPts val="0"/>
              </a:spcBef>
              <a:spcAft>
                <a:spcPts val="0"/>
              </a:spcAft>
              <a:buNone/>
            </a:pPr>
            <a:r>
              <a:rPr sz="1400" b="1" i="0" lang="he-IL">
                <a:solidFill>
                  <a:srgbClr val="212121"/>
                </a:solidFill>
              </a:rPr>
              <a:t>(Streamlit)</a:t>
            </a:r>
          </a:p>
        </p:txBody>
      </p:sp>
      <p:sp>
        <p:nvSpPr>
          <p:cNvPr id="6" name="Rounded Rectangle 5"/>
          <p:cNvSpPr/>
          <p:nvPr/>
        </p:nvSpPr>
        <p:spPr>
          <a:xfrm>
            <a:off x="6766560" y="2423160"/>
            <a:ext cx="2011680" cy="7772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API</a:t>
            </a:r>
          </a:p>
          <a:p>
            <a:pPr rtl="1" algn="ctr" marL="0" indent="0">
              <a:lnSpc>
                <a:spcPct val="105000"/>
              </a:lnSpc>
              <a:spcBef>
                <a:spcPts val="0"/>
              </a:spcBef>
              <a:spcAft>
                <a:spcPts val="0"/>
              </a:spcAft>
              <a:buNone/>
            </a:pPr>
            <a:r>
              <a:rPr sz="1400" b="1" i="0" lang="he-IL">
                <a:solidFill>
                  <a:srgbClr val="212121"/>
                </a:solidFill>
              </a:rPr>
              <a:t>(FastAPI)</a:t>
            </a:r>
          </a:p>
        </p:txBody>
      </p:sp>
      <p:sp>
        <p:nvSpPr>
          <p:cNvPr id="7" name="Rounded Rectangle 6"/>
          <p:cNvSpPr/>
          <p:nvPr/>
        </p:nvSpPr>
        <p:spPr>
          <a:xfrm>
            <a:off x="3657600" y="2423160"/>
            <a:ext cx="2011680" cy="77724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מסד נתונים</a:t>
            </a:r>
          </a:p>
          <a:p>
            <a:pPr rtl="1" algn="ctr" marL="0" indent="0">
              <a:lnSpc>
                <a:spcPct val="105000"/>
              </a:lnSpc>
              <a:spcBef>
                <a:spcPts val="0"/>
              </a:spcBef>
              <a:spcAft>
                <a:spcPts val="0"/>
              </a:spcAft>
              <a:buNone/>
            </a:pPr>
            <a:r>
              <a:rPr sz="1400" b="1" i="0" lang="he-IL">
                <a:solidFill>
                  <a:srgbClr val="212121"/>
                </a:solidFill>
              </a:rPr>
              <a:t>(SQL)</a:t>
            </a:r>
          </a:p>
        </p:txBody>
      </p:sp>
      <p:sp>
        <p:nvSpPr>
          <p:cNvPr id="8" name="Rounded Rectangle 7"/>
          <p:cNvSpPr/>
          <p:nvPr/>
        </p:nvSpPr>
        <p:spPr>
          <a:xfrm>
            <a:off x="6766560" y="3611880"/>
            <a:ext cx="2011680" cy="7772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תור</a:t>
            </a:r>
          </a:p>
          <a:p>
            <a:pPr rtl="1" algn="ctr" marL="0" indent="0">
              <a:lnSpc>
                <a:spcPct val="105000"/>
              </a:lnSpc>
              <a:spcBef>
                <a:spcPts val="0"/>
              </a:spcBef>
              <a:spcAft>
                <a:spcPts val="0"/>
              </a:spcAft>
              <a:buNone/>
            </a:pPr>
            <a:r>
              <a:rPr sz="1400" b="1" i="0" lang="he-IL">
                <a:solidFill>
                  <a:srgbClr val="212121"/>
                </a:solidFill>
              </a:rPr>
              <a:t>(Redis)</a:t>
            </a:r>
          </a:p>
        </p:txBody>
      </p:sp>
      <p:sp>
        <p:nvSpPr>
          <p:cNvPr id="9" name="Rounded Rectangle 8"/>
          <p:cNvSpPr/>
          <p:nvPr/>
        </p:nvSpPr>
        <p:spPr>
          <a:xfrm>
            <a:off x="3657600" y="3611880"/>
            <a:ext cx="2011680" cy="7772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עובד</a:t>
            </a:r>
          </a:p>
          <a:p>
            <a:pPr rtl="1" algn="ctr" marL="0" indent="0">
              <a:lnSpc>
                <a:spcPct val="105000"/>
              </a:lnSpc>
              <a:spcBef>
                <a:spcPts val="0"/>
              </a:spcBef>
              <a:spcAft>
                <a:spcPts val="0"/>
              </a:spcAft>
              <a:buNone/>
            </a:pPr>
            <a:r>
              <a:rPr sz="1400" b="1" i="0" lang="he-IL">
                <a:solidFill>
                  <a:srgbClr val="212121"/>
                </a:solidFill>
              </a:rPr>
              <a:t>(Celery + מודל)</a:t>
            </a:r>
          </a:p>
        </p:txBody>
      </p:sp>
      <p:sp>
        <p:nvSpPr>
          <p:cNvPr id="10" name="Rounded Rectangle 9"/>
          <p:cNvSpPr/>
          <p:nvPr/>
        </p:nvSpPr>
        <p:spPr>
          <a:xfrm>
            <a:off x="548640" y="3611880"/>
            <a:ext cx="219456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ניטור</a:t>
            </a:r>
          </a:p>
          <a:p>
            <a:pPr rtl="1" algn="ctr" marL="0" indent="0">
              <a:lnSpc>
                <a:spcPct val="105000"/>
              </a:lnSpc>
              <a:spcBef>
                <a:spcPts val="0"/>
              </a:spcBef>
              <a:spcAft>
                <a:spcPts val="0"/>
              </a:spcAft>
              <a:buNone/>
            </a:pPr>
            <a:r>
              <a:rPr sz="1400" b="1" i="0" lang="he-IL">
                <a:solidFill>
                  <a:srgbClr val="212121"/>
                </a:solidFill>
              </a:rPr>
              <a:t>(Flower)</a:t>
            </a:r>
          </a:p>
        </p:txBody>
      </p:sp>
      <p:cxnSp>
        <p:nvCxnSpPr>
          <p:cNvPr id="11" name="Connector 10"/>
          <p:cNvCxnSpPr/>
          <p:nvPr/>
        </p:nvCxnSpPr>
        <p:spPr>
          <a:xfrm>
            <a:off x="7772400" y="201168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669280" y="280720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669280" y="399592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6344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743200" y="3995928"/>
            <a:ext cx="91440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28600" y="4617720"/>
            <a:ext cx="8732520" cy="457200"/>
          </a:xfrm>
          <a:prstGeom prst="roundRect">
            <a:avLst>
              <a:gd name="adj" fmla="val 20000"/>
            </a:avLst>
          </a:prstGeom>
          <a:solidFill>
            <a:srgbClr val="FFFFFF"/>
          </a:solidFill>
          <a:ln w="19050">
            <a:solidFill>
              <a:srgbClr val="4285F4"/>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הכל ארוז בקונטיינרים (Docker), ואפשר להריץ אותם על מכונות רבות (Kubernetes)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HTTP: בקשה ותגובה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846320" y="1280160"/>
            <a:ext cx="3931920" cy="4114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בקשה (request)</a:t>
            </a:r>
          </a:p>
        </p:txBody>
      </p:sp>
      <p:sp>
        <p:nvSpPr>
          <p:cNvPr id="6" name="Rectangle 5"/>
          <p:cNvSpPr/>
          <p:nvPr/>
        </p:nvSpPr>
        <p:spPr>
          <a:xfrm>
            <a:off x="4846320" y="1737360"/>
            <a:ext cx="3931920" cy="118872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GET /products/NOPE HTTP/1.1</a:t>
            </a:r>
          </a:p>
          <a:p>
            <a:pPr rtl="0" algn="l" marL="0" indent="0">
              <a:lnSpc>
                <a:spcPct val="105000"/>
              </a:lnSpc>
              <a:spcBef>
                <a:spcPts val="0"/>
              </a:spcBef>
              <a:spcAft>
                <a:spcPts val="0"/>
              </a:spcAft>
              <a:buNone/>
            </a:pPr>
            <a:r>
              <a:rPr sz="1200" b="0" i="0" lang="he-IL">
                <a:solidFill>
                  <a:srgbClr val="212121"/>
                </a:solidFill>
              </a:rPr>
              <a:t>Host: localhost:8000</a:t>
            </a:r>
          </a:p>
          <a:p>
            <a:pPr rtl="0" algn="l" marL="0" indent="0">
              <a:lnSpc>
                <a:spcPct val="105000"/>
              </a:lnSpc>
              <a:spcBef>
                <a:spcPts val="0"/>
              </a:spcBef>
              <a:spcAft>
                <a:spcPts val="0"/>
              </a:spcAft>
              <a:buNone/>
            </a:pPr>
            <a:r>
              <a:rPr sz="1200" b="0" i="0" lang="he-IL">
                <a:solidFill>
                  <a:srgbClr val="212121"/>
                </a:solidFill>
              </a:rPr>
              <a:t>Accept: application/json</a:t>
            </a:r>
          </a:p>
        </p:txBody>
      </p:sp>
      <p:sp>
        <p:nvSpPr>
          <p:cNvPr id="7" name="Rounded Rectangle 6"/>
          <p:cNvSpPr/>
          <p:nvPr/>
        </p:nvSpPr>
        <p:spPr>
          <a:xfrm>
            <a:off x="365760" y="1280160"/>
            <a:ext cx="4297680" cy="4114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תגובה (response)</a:t>
            </a:r>
          </a:p>
        </p:txBody>
      </p:sp>
      <p:sp>
        <p:nvSpPr>
          <p:cNvPr id="8" name="Rectangle 7"/>
          <p:cNvSpPr/>
          <p:nvPr/>
        </p:nvSpPr>
        <p:spPr>
          <a:xfrm>
            <a:off x="365760" y="1737360"/>
            <a:ext cx="4297680" cy="141732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HTTP/1.1 404 Not Found</a:t>
            </a:r>
          </a:p>
          <a:p>
            <a:pPr rtl="0" algn="l" marL="0" indent="0">
              <a:lnSpc>
                <a:spcPct val="105000"/>
              </a:lnSpc>
              <a:spcBef>
                <a:spcPts val="0"/>
              </a:spcBef>
              <a:spcAft>
                <a:spcPts val="0"/>
              </a:spcAft>
              <a:buNone/>
            </a:pPr>
            <a:r>
              <a:rPr sz="1200" b="0" i="0" lang="he-IL">
                <a:solidFill>
                  <a:srgbClr val="212121"/>
                </a:solidFill>
              </a:rPr>
              <a:t>content-type: application/json</a:t>
            </a:r>
          </a:p>
          <a:p>
            <a:pPr rtl="0" algn="l" marL="0" indent="0">
              <a:lnSpc>
                <a:spcPct val="105000"/>
              </a:lnSpc>
              <a:spcBef>
                <a:spcPts val="0"/>
              </a:spcBef>
              <a:spcAft>
                <a:spcPts val="0"/>
              </a:spcAft>
              <a:buNone/>
            </a:pPr>
            <a:r>
              <a:rPr sz="1200" b="0" i="0" lang="he-IL">
                <a:solidFill>
                  <a:srgbClr val="212121"/>
                </a:solidFill>
              </a:rPr>
              <a:t>content-length: 30</a:t>
            </a:r>
          </a:p>
          <a:p>
            <a:pPr rtl="0" algn="l" marL="0" indent="0">
              <a:lnSpc>
                <a:spcPct val="105000"/>
              </a:lnSpc>
              <a:spcBef>
                <a:spcPts val="0"/>
              </a:spcBef>
              <a:spcAft>
                <a:spcPts val="0"/>
              </a:spcAft>
              <a:buNone/>
            </a:pPr>
          </a:p>
          <a:p>
            <a:pPr rtl="0" algn="l" marL="0" indent="0">
              <a:lnSpc>
                <a:spcPct val="105000"/>
              </a:lnSpc>
              <a:spcBef>
                <a:spcPts val="0"/>
              </a:spcBef>
              <a:spcAft>
                <a:spcPts val="0"/>
              </a:spcAft>
              <a:buNone/>
            </a:pPr>
            <a:r>
              <a:rPr sz="1200" b="0" i="0" lang="he-IL">
                <a:solidFill>
                  <a:srgbClr val="212121"/>
                </a:solidFill>
              </a:rPr>
              <a:t>{"detail":"Product not found"}</a:t>
            </a:r>
          </a:p>
        </p:txBody>
      </p:sp>
      <p:cxnSp>
        <p:nvCxnSpPr>
          <p:cNvPr id="9" name="Connector 8"/>
          <p:cNvCxnSpPr/>
          <p:nvPr/>
        </p:nvCxnSpPr>
        <p:spPr>
          <a:xfrm flipH="1">
            <a:off x="4709160" y="2286000"/>
            <a:ext cx="914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72200" y="3474720"/>
            <a:ext cx="2697480" cy="109728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EA4335"/>
                </a:solidFill>
              </a:rPr>
              <a:t>שורת סטטוס</a:t>
            </a:r>
          </a:p>
          <a:p>
            <a:pPr rtl="1" algn="ctr" marL="0" indent="0">
              <a:lnSpc>
                <a:spcPct val="105000"/>
              </a:lnSpc>
              <a:spcBef>
                <a:spcPts val="0"/>
              </a:spcBef>
              <a:spcAft>
                <a:spcPts val="0"/>
              </a:spcAft>
              <a:buNone/>
            </a:pPr>
            <a:r>
              <a:rPr sz="1300" b="0" i="0" lang="he-IL">
                <a:solidFill>
                  <a:srgbClr val="212121"/>
                </a:solidFill>
              </a:rPr>
              <a:t>קוד ומשמעות: 404 Not Found</a:t>
            </a:r>
          </a:p>
        </p:txBody>
      </p:sp>
      <p:sp>
        <p:nvSpPr>
          <p:cNvPr id="11" name="Rounded Rectangle 10"/>
          <p:cNvSpPr/>
          <p:nvPr/>
        </p:nvSpPr>
        <p:spPr>
          <a:xfrm>
            <a:off x="3246120" y="3474720"/>
            <a:ext cx="2697480" cy="10972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FFAB40"/>
                </a:solidFill>
              </a:rPr>
              <a:t>כותרות (headers)</a:t>
            </a:r>
          </a:p>
          <a:p>
            <a:pPr rtl="1" algn="ctr" marL="0" indent="0">
              <a:lnSpc>
                <a:spcPct val="105000"/>
              </a:lnSpc>
              <a:spcBef>
                <a:spcPts val="0"/>
              </a:spcBef>
              <a:spcAft>
                <a:spcPts val="0"/>
              </a:spcAft>
              <a:buNone/>
            </a:pPr>
            <a:r>
              <a:rPr sz="1300" b="0" i="0" lang="he-IL">
                <a:solidFill>
                  <a:srgbClr val="212121"/>
                </a:solidFill>
              </a:rPr>
              <a:t>מידע על התגובה: סוג, אורך</a:t>
            </a:r>
          </a:p>
        </p:txBody>
      </p:sp>
      <p:sp>
        <p:nvSpPr>
          <p:cNvPr id="12" name="Rounded Rectangle 11"/>
          <p:cNvSpPr/>
          <p:nvPr/>
        </p:nvSpPr>
        <p:spPr>
          <a:xfrm>
            <a:off x="320039" y="3474720"/>
            <a:ext cx="2697480" cy="10972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34A853"/>
                </a:solidFill>
              </a:rPr>
              <a:t>גוף (body)</a:t>
            </a:r>
          </a:p>
          <a:p>
            <a:pPr rtl="1" algn="ctr" marL="0" indent="0">
              <a:lnSpc>
                <a:spcPct val="105000"/>
              </a:lnSpc>
              <a:spcBef>
                <a:spcPts val="0"/>
              </a:spcBef>
              <a:spcAft>
                <a:spcPts val="0"/>
              </a:spcAft>
              <a:buNone/>
            </a:pPr>
            <a:r>
              <a:rPr sz="1300" b="0" i="0" lang="he-IL">
                <a:solidFill>
                  <a:srgbClr val="212121"/>
                </a:solidFill>
              </a:rPr>
              <a:t>התוכן עצמו, בדרך כלל JSON</a:t>
            </a:r>
          </a:p>
        </p:txBody>
      </p:sp>
      <p:sp>
        <p:nvSpPr>
          <p:cNvPr id="13" name="TextBox 12"/>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תגובת HTTP = שורת סטטוס + כותרות + גוף.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תגובות HTTP: קודי סטטוס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12480" cy="3328416"/>
        </p:xfrm>
        <a:graphic>
          <a:graphicData uri="http://schemas.openxmlformats.org/drawingml/2006/table">
            <a:tbl>
              <a:tblPr firstRow="0" bandRow="0">
                <a:tableStyleId>{2D5ABB26-0587-4C30-8999-92F81FD0307C}</a:tableStyleId>
              </a:tblPr>
              <a:tblGrid>
                <a:gridCol w="3840480"/>
                <a:gridCol w="1828800"/>
                <a:gridCol w="2743200"/>
              </a:tblGrid>
              <a:tr h="475488">
                <a:tc>
                  <a:txBody>
                    <a:bodyPr wrap="square"/>
                    <a:lstStyle/>
                    <a:p>
                      <a:pPr rtl="1" algn="ctr" marL="0" indent="0">
                        <a:lnSpc>
                          <a:spcPct val="100000"/>
                        </a:lnSpc>
                        <a:spcBef>
                          <a:spcPts val="0"/>
                        </a:spcBef>
                        <a:spcAft>
                          <a:spcPts val="0"/>
                        </a:spcAft>
                        <a:buNone/>
                      </a:pPr>
                      <a:r>
                        <a:rPr sz="1300" b="1" i="0" lang="he-IL">
                          <a:solidFill>
                            <a:srgbClr val="212121"/>
                          </a:solidFill>
                        </a:rPr>
                        <a:t>דוגמה מהשירות שלנו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משמעות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GET /products ← רשימה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הצליח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200 OK</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POST /jobs ← {job_id: 1, status: queued}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התקבל, יטופל ברקע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202 Accepted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GET /products/NOPE ← Product not found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לא נמצא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404 Not Found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GET /products?limit=0 ← Input should be &gt;= 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הקלט לא חוקי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422 Unprocessable Content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מחכים ומנסים שוב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חריגה ממגבלת קצב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429 Too Many Requests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לא אצלכם: מנסים מאוחר יותר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תקלה בשרת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500 Internal Server 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bl>
          </a:graphicData>
        </a:graphic>
      </p:graphicFrame>
      <p:sp>
        <p:nvSpPr>
          <p:cNvPr id="6"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5: ״רץ״ אינו ״נכון״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הספרה הראשונה אומרת הכול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2xx: הצליח</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200 הצלחה, 201 נוצר, 202 התקבל ויטופל ברקע.</a:t>
            </a:r>
          </a:p>
        </p:txBody>
      </p:sp>
      <p:sp>
        <p:nvSpPr>
          <p:cNvPr id="9" name="Rounded Rectangle 8"/>
          <p:cNvSpPr/>
          <p:nvPr/>
        </p:nvSpPr>
        <p:spPr>
          <a:xfrm>
            <a:off x="36576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3xx: הכתובת עברה</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301: עוקבים אחרי כתובת חדשה. כך נתפסת כתובת ישנה.</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4xx: הלקוח טעה</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מתקנים את הבקשה. יוצא מהכלל: 429, מחכים ומנסים שוב.</a:t>
            </a:r>
          </a:p>
        </p:txBody>
      </p:sp>
      <p:sp>
        <p:nvSpPr>
          <p:cNvPr id="17" name="Rounded Rectangle 16"/>
          <p:cNvSpPr/>
          <p:nvPr/>
        </p:nvSpPr>
        <p:spPr>
          <a:xfrm>
            <a:off x="365760" y="306324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5xx: השרת נכשל</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הבקשה תקינה. מנסים שוב מאוחר יותר, בהמתנה.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מהו OpenAPI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26480" y="1554480"/>
            <a:ext cx="2651760" cy="10058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קוד השירות</a:t>
            </a:r>
          </a:p>
          <a:p>
            <a:pPr rtl="1" algn="ctr" marL="0" indent="0">
              <a:lnSpc>
                <a:spcPct val="105000"/>
              </a:lnSpc>
              <a:spcBef>
                <a:spcPts val="0"/>
              </a:spcBef>
              <a:spcAft>
                <a:spcPts val="0"/>
              </a:spcAft>
              <a:buNone/>
            </a:pPr>
            <a:r>
              <a:rPr sz="1600" b="1" i="0" lang="he-IL">
                <a:solidFill>
                  <a:srgbClr val="212121"/>
                </a:solidFill>
              </a:rPr>
              <a:t>(FastAPI)</a:t>
            </a:r>
          </a:p>
        </p:txBody>
      </p:sp>
      <p:sp>
        <p:nvSpPr>
          <p:cNvPr id="6" name="Rounded Rectangle 5"/>
          <p:cNvSpPr/>
          <p:nvPr/>
        </p:nvSpPr>
        <p:spPr>
          <a:xfrm>
            <a:off x="3291840" y="1554480"/>
            <a:ext cx="2468880" cy="1005840"/>
          </a:xfrm>
          <a:prstGeom prst="roundRect">
            <a:avLst>
              <a:gd name="adj" fmla="val 12000"/>
            </a:avLst>
          </a:prstGeom>
          <a:solidFill>
            <a:srgbClr val="E3EEFF"/>
          </a:solidFill>
          <a:ln w="381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openapi.json</a:t>
            </a:r>
          </a:p>
          <a:p>
            <a:pPr rtl="1" algn="ctr" marL="0" indent="0">
              <a:lnSpc>
                <a:spcPct val="105000"/>
              </a:lnSpc>
              <a:spcBef>
                <a:spcPts val="0"/>
              </a:spcBef>
              <a:spcAft>
                <a:spcPts val="0"/>
              </a:spcAft>
              <a:buNone/>
            </a:pPr>
            <a:r>
              <a:rPr sz="1600" b="1" i="0" lang="he-IL">
                <a:solidFill>
                  <a:srgbClr val="212121"/>
                </a:solidFill>
              </a:rPr>
              <a:t>החוזה</a:t>
            </a:r>
          </a:p>
        </p:txBody>
      </p:sp>
      <p:cxnSp>
        <p:nvCxnSpPr>
          <p:cNvPr id="7" name="Connector 6"/>
          <p:cNvCxnSpPr/>
          <p:nvPr/>
        </p:nvCxnSpPr>
        <p:spPr>
          <a:xfrm flipH="1">
            <a:off x="5806440" y="2057400"/>
            <a:ext cx="27432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0" y="3291840"/>
            <a:ext cx="2011680" cy="10972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תיעוד חי</a:t>
            </a:r>
          </a:p>
          <a:p>
            <a:pPr rtl="1" algn="ctr" marL="0" indent="0">
              <a:lnSpc>
                <a:spcPct val="105000"/>
              </a:lnSpc>
              <a:spcBef>
                <a:spcPts val="0"/>
              </a:spcBef>
              <a:spcAft>
                <a:spcPts val="0"/>
              </a:spcAft>
              <a:buNone/>
            </a:pPr>
            <a:r>
              <a:rPr sz="1200" b="0" i="0" lang="he-IL">
                <a:solidFill>
                  <a:srgbClr val="595959"/>
                </a:solidFill>
              </a:rPr>
              <a:t>Swagger UI: מציג ומנסים</a:t>
            </a:r>
          </a:p>
        </p:txBody>
      </p:sp>
      <p:cxnSp>
        <p:nvCxnSpPr>
          <p:cNvPr id="9" name="Connector 8"/>
          <p:cNvCxnSpPr/>
          <p:nvPr/>
        </p:nvCxnSpPr>
        <p:spPr>
          <a:xfrm>
            <a:off x="4526280" y="2606040"/>
            <a:ext cx="3337560" cy="64008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63440" y="3291840"/>
            <a:ext cx="2011680" cy="109728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בדיקות</a:t>
            </a:r>
          </a:p>
          <a:p>
            <a:pPr rtl="1" algn="ctr" marL="0" indent="0">
              <a:lnSpc>
                <a:spcPct val="105000"/>
              </a:lnSpc>
              <a:spcBef>
                <a:spcPts val="0"/>
              </a:spcBef>
              <a:spcAft>
                <a:spcPts val="0"/>
              </a:spcAft>
              <a:buNone/>
            </a:pPr>
            <a:r>
              <a:rPr sz="1200" b="0" i="0" lang="he-IL">
                <a:solidFill>
                  <a:srgbClr val="595959"/>
                </a:solidFill>
              </a:rPr>
              <a:t>אוטומטיות לפי החוזה</a:t>
            </a:r>
          </a:p>
        </p:txBody>
      </p:sp>
      <p:cxnSp>
        <p:nvCxnSpPr>
          <p:cNvPr id="11" name="Connector 10"/>
          <p:cNvCxnSpPr/>
          <p:nvPr/>
        </p:nvCxnSpPr>
        <p:spPr>
          <a:xfrm>
            <a:off x="4526280" y="2606040"/>
            <a:ext cx="1142999" cy="64008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68880" y="3291840"/>
            <a:ext cx="2011680" cy="109728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הקשר ל־AI</a:t>
            </a:r>
          </a:p>
          <a:p>
            <a:pPr rtl="1" algn="ctr" marL="0" indent="0">
              <a:lnSpc>
                <a:spcPct val="105000"/>
              </a:lnSpc>
              <a:spcBef>
                <a:spcPts val="0"/>
              </a:spcBef>
              <a:spcAft>
                <a:spcPts val="0"/>
              </a:spcAft>
              <a:buNone/>
            </a:pPr>
            <a:r>
              <a:rPr sz="1200" b="0" i="0" lang="he-IL">
                <a:solidFill>
                  <a:srgbClr val="595959"/>
                </a:solidFill>
              </a:rPr>
              <a:t>הדביקו אותו לסוכן</a:t>
            </a:r>
          </a:p>
        </p:txBody>
      </p:sp>
      <p:cxnSp>
        <p:nvCxnSpPr>
          <p:cNvPr id="13" name="Connector 12"/>
          <p:cNvCxnSpPr/>
          <p:nvPr/>
        </p:nvCxnSpPr>
        <p:spPr>
          <a:xfrm flipH="1">
            <a:off x="3474720" y="2606040"/>
            <a:ext cx="1051560" cy="64008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4320" y="3291840"/>
            <a:ext cx="2011680" cy="1097280"/>
          </a:xfrm>
          <a:prstGeom prst="roundRect">
            <a:avLst>
              <a:gd name="adj" fmla="val 12000"/>
            </a:avLst>
          </a:prstGeom>
          <a:solidFill>
            <a:srgbClr val="FFFFFF"/>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קוד לקוח</a:t>
            </a:r>
          </a:p>
          <a:p>
            <a:pPr rtl="1" algn="ctr" marL="0" indent="0">
              <a:lnSpc>
                <a:spcPct val="105000"/>
              </a:lnSpc>
              <a:spcBef>
                <a:spcPts val="0"/>
              </a:spcBef>
              <a:spcAft>
                <a:spcPts val="0"/>
              </a:spcAft>
              <a:buNone/>
            </a:pPr>
            <a:r>
              <a:rPr sz="1200" b="0" i="0" lang="he-IL">
                <a:solidFill>
                  <a:srgbClr val="595959"/>
                </a:solidFill>
              </a:rPr>
              <a:t>נוצר אוטומטית</a:t>
            </a:r>
          </a:p>
        </p:txBody>
      </p:sp>
      <p:cxnSp>
        <p:nvCxnSpPr>
          <p:cNvPr id="15" name="Connector 14"/>
          <p:cNvCxnSpPr/>
          <p:nvPr/>
        </p:nvCxnSpPr>
        <p:spPr>
          <a:xfrm flipH="1">
            <a:off x="1280160" y="2606040"/>
            <a:ext cx="3246120" cy="64008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1554480"/>
            <a:ext cx="2743200" cy="1005840"/>
          </a:xfrm>
          <a:prstGeom prst="roundRect">
            <a:avLst>
              <a:gd name="adj" fmla="val 12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OpenAPI</a:t>
            </a:r>
          </a:p>
          <a:p>
            <a:pPr rtl="1" algn="ctr" marL="0" indent="0">
              <a:lnSpc>
                <a:spcPct val="105000"/>
              </a:lnSpc>
              <a:spcBef>
                <a:spcPts val="0"/>
              </a:spcBef>
              <a:spcAft>
                <a:spcPts val="0"/>
              </a:spcAft>
              <a:buNone/>
            </a:pPr>
            <a:r>
              <a:rPr sz="1300" b="0" i="0" lang="he-IL">
                <a:solidFill>
                  <a:srgbClr val="595959"/>
                </a:solidFill>
              </a:rPr>
              <a:t>תיאור של ה־API בקובץ</a:t>
            </a:r>
          </a:p>
        </p:txBody>
      </p:sp>
      <p:sp>
        <p:nvSpPr>
          <p:cNvPr id="17" name="TextBox 16"/>
          <p:cNvSpPr txBox="1"/>
          <p:nvPr/>
        </p:nvSpPr>
        <p:spPr>
          <a:xfrm>
            <a:off x="365760" y="457200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OpenAPI הוא החוזה. Swagger UI הוא ממשק שמציג אותו. FastAPI מייצר אותו מהקוד.</a:t>
            </a:r>
          </a:p>
        </p:txBody>
      </p:sp>
      <p:sp>
        <p:nvSpPr>
          <p:cNvPr id="18"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4: תיעוד ידידותי ל־AI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נקודת קצה ב־FastAPI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25880"/>
            <a:ext cx="4937760" cy="32918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@app.get("/products/{product_id}",</a:t>
            </a:r>
          </a:p>
          <a:p>
            <a:pPr rtl="0" algn="l" marL="0" indent="0">
              <a:lnSpc>
                <a:spcPct val="105000"/>
              </a:lnSpc>
              <a:spcBef>
                <a:spcPts val="0"/>
              </a:spcBef>
              <a:spcAft>
                <a:spcPts val="0"/>
              </a:spcAft>
              <a:buNone/>
            </a:pPr>
            <a:r>
              <a:rPr sz="1200" b="0" i="0" lang="he-IL">
                <a:solidFill>
                  <a:srgbClr val="212121"/>
                </a:solidFill>
              </a:rPr>
              <a:t>         response_model=Product)</a:t>
            </a:r>
          </a:p>
          <a:p>
            <a:pPr rtl="0" algn="l" marL="0" indent="0">
              <a:lnSpc>
                <a:spcPct val="105000"/>
              </a:lnSpc>
              <a:spcBef>
                <a:spcPts val="0"/>
              </a:spcBef>
              <a:spcAft>
                <a:spcPts val="0"/>
              </a:spcAft>
              <a:buNone/>
            </a:pPr>
            <a:r>
              <a:rPr sz="1200" b="0" i="0" lang="he-IL">
                <a:solidFill>
                  <a:srgbClr val="212121"/>
                </a:solidFill>
              </a:rPr>
              <a:t>def get_product(product_id: str):</a:t>
            </a:r>
          </a:p>
          <a:p>
            <a:pPr rtl="0" algn="l" marL="0" indent="0">
              <a:lnSpc>
                <a:spcPct val="105000"/>
              </a:lnSpc>
              <a:spcBef>
                <a:spcPts val="0"/>
              </a:spcBef>
              <a:spcAft>
                <a:spcPts val="0"/>
              </a:spcAft>
              <a:buNone/>
            </a:pPr>
            <a:r>
              <a:rPr sz="1200" b="0" i="0" lang="he-IL">
                <a:solidFill>
                  <a:srgbClr val="212121"/>
                </a:solidFill>
              </a:rPr>
              <a:t>    row = db.execute(</a:t>
            </a:r>
          </a:p>
          <a:p>
            <a:pPr rtl="0" algn="l" marL="0" indent="0">
              <a:lnSpc>
                <a:spcPct val="105000"/>
              </a:lnSpc>
              <a:spcBef>
                <a:spcPts val="0"/>
              </a:spcBef>
              <a:spcAft>
                <a:spcPts val="0"/>
              </a:spcAft>
              <a:buNone/>
            </a:pPr>
            <a:r>
              <a:rPr sz="1200" b="0" i="0" lang="he-IL">
                <a:solidFill>
                  <a:srgbClr val="212121"/>
                </a:solidFill>
              </a:rPr>
              <a:t>        "SELECT ... WHERE product_id = ?",</a:t>
            </a:r>
          </a:p>
          <a:p>
            <a:pPr rtl="0" algn="l" marL="0" indent="0">
              <a:lnSpc>
                <a:spcPct val="105000"/>
              </a:lnSpc>
              <a:spcBef>
                <a:spcPts val="0"/>
              </a:spcBef>
              <a:spcAft>
                <a:spcPts val="0"/>
              </a:spcAft>
              <a:buNone/>
            </a:pPr>
            <a:r>
              <a:rPr sz="1200" b="0" i="0" lang="he-IL">
                <a:solidFill>
                  <a:srgbClr val="212121"/>
                </a:solidFill>
              </a:rPr>
              <a:t>        (product_id,)).fetchone()</a:t>
            </a:r>
          </a:p>
          <a:p>
            <a:pPr rtl="0" algn="l" marL="0" indent="0">
              <a:lnSpc>
                <a:spcPct val="105000"/>
              </a:lnSpc>
              <a:spcBef>
                <a:spcPts val="0"/>
              </a:spcBef>
              <a:spcAft>
                <a:spcPts val="0"/>
              </a:spcAft>
              <a:buNone/>
            </a:pPr>
            <a:r>
              <a:rPr sz="1200" b="0" i="0" lang="he-IL">
                <a:solidFill>
                  <a:srgbClr val="212121"/>
                </a:solidFill>
              </a:rPr>
              <a:t>    if row is None:</a:t>
            </a:r>
          </a:p>
          <a:p>
            <a:pPr rtl="0" algn="l" marL="0" indent="0">
              <a:lnSpc>
                <a:spcPct val="105000"/>
              </a:lnSpc>
              <a:spcBef>
                <a:spcPts val="0"/>
              </a:spcBef>
              <a:spcAft>
                <a:spcPts val="0"/>
              </a:spcAft>
              <a:buNone/>
            </a:pPr>
            <a:r>
              <a:rPr sz="1200" b="0" i="0" lang="he-IL">
                <a:solidFill>
                  <a:srgbClr val="212121"/>
                </a:solidFill>
              </a:rPr>
              <a:t>        raise HTTPException(</a:t>
            </a:r>
          </a:p>
          <a:p>
            <a:pPr rtl="0" algn="l" marL="0" indent="0">
              <a:lnSpc>
                <a:spcPct val="105000"/>
              </a:lnSpc>
              <a:spcBef>
                <a:spcPts val="0"/>
              </a:spcBef>
              <a:spcAft>
                <a:spcPts val="0"/>
              </a:spcAft>
              <a:buNone/>
            </a:pPr>
            <a:r>
              <a:rPr sz="1200" b="0" i="0" lang="he-IL">
                <a:solidFill>
                  <a:srgbClr val="212121"/>
                </a:solidFill>
              </a:rPr>
              <a:t>            status_code=404,</a:t>
            </a:r>
          </a:p>
          <a:p>
            <a:pPr rtl="0" algn="l" marL="0" indent="0">
              <a:lnSpc>
                <a:spcPct val="105000"/>
              </a:lnSpc>
              <a:spcBef>
                <a:spcPts val="0"/>
              </a:spcBef>
              <a:spcAft>
                <a:spcPts val="0"/>
              </a:spcAft>
              <a:buNone/>
            </a:pPr>
            <a:r>
              <a:rPr sz="1200" b="0" i="0" lang="he-IL">
                <a:solidFill>
                  <a:srgbClr val="212121"/>
                </a:solidFill>
              </a:rPr>
              <a:t>            detail="Product not found")</a:t>
            </a:r>
          </a:p>
          <a:p>
            <a:pPr rtl="0" algn="l" marL="0" indent="0">
              <a:lnSpc>
                <a:spcPct val="105000"/>
              </a:lnSpc>
              <a:spcBef>
                <a:spcPts val="0"/>
              </a:spcBef>
              <a:spcAft>
                <a:spcPts val="0"/>
              </a:spcAft>
              <a:buNone/>
            </a:pPr>
            <a:r>
              <a:rPr sz="1200" b="0" i="0" lang="he-IL">
                <a:solidFill>
                  <a:srgbClr val="212121"/>
                </a:solidFill>
              </a:rPr>
              <a:t>    return dict(row)</a:t>
            </a:r>
          </a:p>
        </p:txBody>
      </p:sp>
      <p:sp>
        <p:nvSpPr>
          <p:cNvPr id="6" name="Rounded Rectangle 5"/>
          <p:cNvSpPr/>
          <p:nvPr/>
        </p:nvSpPr>
        <p:spPr>
          <a:xfrm>
            <a:off x="5486400" y="1371600"/>
            <a:ext cx="3291840" cy="749808"/>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FFAB40"/>
                </a:solidFill>
              </a:rPr>
              <a:t>שיטה וכתובת</a:t>
            </a:r>
          </a:p>
          <a:p>
            <a:pPr rtl="0" algn="ctr" marL="0" indent="0">
              <a:lnSpc>
                <a:spcPct val="105000"/>
              </a:lnSpc>
              <a:spcBef>
                <a:spcPts val="0"/>
              </a:spcBef>
              <a:spcAft>
                <a:spcPts val="0"/>
              </a:spcAft>
              <a:buNone/>
            </a:pPr>
            <a:r>
              <a:rPr sz="1200" b="0" i="0" lang="he-IL">
                <a:solidFill>
                  <a:srgbClr val="212121"/>
                </a:solidFill>
              </a:rPr>
              <a:t>get + /products/{product_id}</a:t>
            </a:r>
          </a:p>
        </p:txBody>
      </p:sp>
      <p:sp>
        <p:nvSpPr>
          <p:cNvPr id="7" name="Rounded Rectangle 6"/>
          <p:cNvSpPr/>
          <p:nvPr/>
        </p:nvSpPr>
        <p:spPr>
          <a:xfrm>
            <a:off x="5486400" y="2240280"/>
            <a:ext cx="3291840" cy="749808"/>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4285F4"/>
                </a:solidFill>
              </a:rPr>
              <a:t>פרמטר</a:t>
            </a:r>
          </a:p>
          <a:p>
            <a:pPr rtl="0" algn="ctr" marL="0" indent="0">
              <a:lnSpc>
                <a:spcPct val="105000"/>
              </a:lnSpc>
              <a:spcBef>
                <a:spcPts val="0"/>
              </a:spcBef>
              <a:spcAft>
                <a:spcPts val="0"/>
              </a:spcAft>
              <a:buNone/>
            </a:pPr>
            <a:r>
              <a:rPr sz="1200" b="0" i="0" lang="he-IL">
                <a:solidFill>
                  <a:srgbClr val="212121"/>
                </a:solidFill>
              </a:rPr>
              <a:t>product_id מגיע מהכתובת</a:t>
            </a:r>
          </a:p>
        </p:txBody>
      </p:sp>
      <p:sp>
        <p:nvSpPr>
          <p:cNvPr id="8" name="Rounded Rectangle 7"/>
          <p:cNvSpPr/>
          <p:nvPr/>
        </p:nvSpPr>
        <p:spPr>
          <a:xfrm>
            <a:off x="5486400" y="3108960"/>
            <a:ext cx="3291840" cy="749808"/>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34A853"/>
                </a:solidFill>
              </a:rPr>
              <a:t>חוזה</a:t>
            </a:r>
          </a:p>
          <a:p>
            <a:pPr rtl="0" algn="ctr" marL="0" indent="0">
              <a:lnSpc>
                <a:spcPct val="105000"/>
              </a:lnSpc>
              <a:spcBef>
                <a:spcPts val="0"/>
              </a:spcBef>
              <a:spcAft>
                <a:spcPts val="0"/>
              </a:spcAft>
              <a:buNone/>
            </a:pPr>
            <a:r>
              <a:rPr sz="1200" b="0" i="0" lang="he-IL">
                <a:solidFill>
                  <a:srgbClr val="212121"/>
                </a:solidFill>
              </a:rPr>
              <a:t>response_model: מבנה התשובה</a:t>
            </a:r>
          </a:p>
        </p:txBody>
      </p:sp>
      <p:sp>
        <p:nvSpPr>
          <p:cNvPr id="9" name="Rounded Rectangle 8"/>
          <p:cNvSpPr/>
          <p:nvPr/>
        </p:nvSpPr>
        <p:spPr>
          <a:xfrm>
            <a:off x="5486400" y="3977639"/>
            <a:ext cx="3291840" cy="749808"/>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EA4335"/>
                </a:solidFill>
              </a:rPr>
              <a:t>שגיאה</a:t>
            </a:r>
          </a:p>
          <a:p>
            <a:pPr rtl="0" algn="ctr" marL="0" indent="0">
              <a:lnSpc>
                <a:spcPct val="105000"/>
              </a:lnSpc>
              <a:spcBef>
                <a:spcPts val="0"/>
              </a:spcBef>
              <a:spcAft>
                <a:spcPts val="0"/>
              </a:spcAft>
              <a:buNone/>
            </a:pPr>
            <a:r>
              <a:rPr sz="1200" b="0" i="0" lang="he-IL">
                <a:solidFill>
                  <a:srgbClr val="212121"/>
                </a:solidFill>
              </a:rPr>
              <a:t>404 כשהמוצר לא קיים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מודל = חוזה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71600"/>
            <a:ext cx="4572000" cy="137160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limit: int = Query(20, ge=1, le=200)</a:t>
            </a:r>
          </a:p>
          <a:p>
            <a:pPr rtl="0" algn="l" marL="0" indent="0">
              <a:lnSpc>
                <a:spcPct val="105000"/>
              </a:lnSpc>
              <a:spcBef>
                <a:spcPts val="0"/>
              </a:spcBef>
              <a:spcAft>
                <a:spcPts val="0"/>
              </a:spcAft>
              <a:buNone/>
            </a:pPr>
          </a:p>
          <a:p>
            <a:pPr rtl="0" algn="l" marL="0" indent="0">
              <a:lnSpc>
                <a:spcPct val="105000"/>
              </a:lnSpc>
              <a:spcBef>
                <a:spcPts val="0"/>
              </a:spcBef>
              <a:spcAft>
                <a:spcPts val="0"/>
              </a:spcAft>
              <a:buNone/>
            </a:pPr>
            <a:r>
              <a:rPr sz="1200" b="0" i="0" lang="he-IL">
                <a:solidFill>
                  <a:srgbClr val="212121"/>
                </a:solidFill>
              </a:rPr>
              <a:t>class JobIn(BaseModel):</a:t>
            </a:r>
          </a:p>
          <a:p>
            <a:pPr rtl="0" algn="l" marL="0" indent="0">
              <a:lnSpc>
                <a:spcPct val="105000"/>
              </a:lnSpc>
              <a:spcBef>
                <a:spcPts val="0"/>
              </a:spcBef>
              <a:spcAft>
                <a:spcPts val="0"/>
              </a:spcAft>
              <a:buNone/>
            </a:pPr>
            <a:r>
              <a:rPr sz="1200" b="0" i="0" lang="he-IL">
                <a:solidFill>
                  <a:srgbClr val="212121"/>
                </a:solidFill>
              </a:rPr>
              <a:t>    text: str = Field(min_length=1)</a:t>
            </a:r>
          </a:p>
        </p:txBody>
      </p:sp>
      <p:sp>
        <p:nvSpPr>
          <p:cNvPr id="6" name="Rounded Rectangle 5"/>
          <p:cNvSpPr/>
          <p:nvPr/>
        </p:nvSpPr>
        <p:spPr>
          <a:xfrm>
            <a:off x="6309359" y="3017520"/>
            <a:ext cx="2468880" cy="10972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שורה אחת</a:t>
            </a:r>
          </a:p>
          <a:p>
            <a:pPr rtl="1" algn="ctr" marL="0" indent="0">
              <a:lnSpc>
                <a:spcPct val="105000"/>
              </a:lnSpc>
              <a:spcBef>
                <a:spcPts val="0"/>
              </a:spcBef>
              <a:spcAft>
                <a:spcPts val="0"/>
              </a:spcAft>
              <a:buNone/>
            </a:pPr>
            <a:r>
              <a:rPr sz="1400" b="1" i="0" lang="he-IL">
                <a:solidFill>
                  <a:srgbClr val="212121"/>
                </a:solidFill>
              </a:rPr>
              <a:t>בקוד</a:t>
            </a:r>
          </a:p>
        </p:txBody>
      </p:sp>
      <p:cxnSp>
        <p:nvCxnSpPr>
          <p:cNvPr id="7" name="Connector 6"/>
          <p:cNvCxnSpPr/>
          <p:nvPr/>
        </p:nvCxnSpPr>
        <p:spPr>
          <a:xfrm flipH="1">
            <a:off x="5961887" y="356616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74719" y="3017520"/>
            <a:ext cx="2468880" cy="109728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מוודאת קלט</a:t>
            </a:r>
          </a:p>
          <a:p>
            <a:pPr rtl="1" algn="ctr" marL="0" indent="0">
              <a:lnSpc>
                <a:spcPct val="105000"/>
              </a:lnSpc>
              <a:spcBef>
                <a:spcPts val="0"/>
              </a:spcBef>
              <a:spcAft>
                <a:spcPts val="0"/>
              </a:spcAft>
              <a:buNone/>
            </a:pPr>
            <a:r>
              <a:rPr sz="1400" b="1" i="0" lang="he-IL">
                <a:solidFill>
                  <a:srgbClr val="212121"/>
                </a:solidFill>
              </a:rPr>
              <a:t>ומחזירה 422</a:t>
            </a:r>
          </a:p>
        </p:txBody>
      </p:sp>
      <p:cxnSp>
        <p:nvCxnSpPr>
          <p:cNvPr id="9" name="Connector 8"/>
          <p:cNvCxnSpPr/>
          <p:nvPr/>
        </p:nvCxnSpPr>
        <p:spPr>
          <a:xfrm flipH="1">
            <a:off x="3127247" y="356616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79" y="3017520"/>
            <a:ext cx="24688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נכנסת ל־</a:t>
            </a:r>
          </a:p>
          <a:p>
            <a:pPr rtl="1" algn="ctr" marL="0" indent="0">
              <a:lnSpc>
                <a:spcPct val="105000"/>
              </a:lnSpc>
              <a:spcBef>
                <a:spcPts val="0"/>
              </a:spcBef>
              <a:spcAft>
                <a:spcPts val="0"/>
              </a:spcAft>
              <a:buNone/>
            </a:pPr>
            <a:r>
              <a:rPr sz="1400" b="1" i="0" lang="he-IL">
                <a:solidFill>
                  <a:srgbClr val="212121"/>
                </a:solidFill>
              </a:rPr>
              <a:t>openapi.json</a:t>
            </a:r>
          </a:p>
        </p:txBody>
      </p:sp>
      <p:sp>
        <p:nvSpPr>
          <p:cNvPr id="11" name="TextBox 10"/>
          <p:cNvSpPr txBox="1"/>
          <p:nvPr/>
        </p:nvSpPr>
        <p:spPr>
          <a:xfrm>
            <a:off x="365760" y="438912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מגדירים פעם אחת, ומקבלים: ולידציה, חוזה ותיעוד.</a:t>
            </a:r>
          </a:p>
        </p:txBody>
      </p:sp>
      <p:sp>
        <p:nvSpPr>
          <p:cNvPr id="12" name="Rounded Rectangle 11"/>
          <p:cNvSpPr/>
          <p:nvPr/>
        </p:nvSpPr>
        <p:spPr>
          <a:xfrm>
            <a:off x="5120640" y="1371600"/>
            <a:ext cx="3657600" cy="137160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EA4335"/>
                </a:solidFill>
              </a:rPr>
              <a:t>בלי זה</a:t>
            </a:r>
          </a:p>
          <a:p>
            <a:pPr rtl="1" algn="ctr" marL="0" indent="0">
              <a:lnSpc>
                <a:spcPct val="105000"/>
              </a:lnSpc>
              <a:spcBef>
                <a:spcPts val="0"/>
              </a:spcBef>
              <a:spcAft>
                <a:spcPts val="0"/>
              </a:spcAft>
              <a:buNone/>
            </a:pPr>
            <a:r>
              <a:rPr sz="1400" b="0" i="0" lang="he-IL">
                <a:solidFill>
                  <a:srgbClr val="212121"/>
                </a:solidFill>
              </a:rPr>
              <a:t>כל קלט נכנס. כל בדיקה ידנית.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בתוך openapi.json</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4023360" y="1280160"/>
            <a:ext cx="4754880" cy="379476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a:t>
            </a:r>
          </a:p>
          <a:p>
            <a:pPr rtl="0" algn="l" marL="0" indent="0">
              <a:lnSpc>
                <a:spcPct val="105000"/>
              </a:lnSpc>
              <a:spcBef>
                <a:spcPts val="0"/>
              </a:spcBef>
              <a:spcAft>
                <a:spcPts val="0"/>
              </a:spcAft>
              <a:buNone/>
            </a:pPr>
            <a:r>
              <a:rPr sz="1200" b="0" i="0" lang="he-IL">
                <a:solidFill>
                  <a:srgbClr val="212121"/>
                </a:solidFill>
              </a:rPr>
              <a:t>  "openapi": "3.1.0",</a:t>
            </a:r>
          </a:p>
          <a:p>
            <a:pPr rtl="0" algn="l" marL="0" indent="0">
              <a:lnSpc>
                <a:spcPct val="105000"/>
              </a:lnSpc>
              <a:spcBef>
                <a:spcPts val="0"/>
              </a:spcBef>
              <a:spcAft>
                <a:spcPts val="0"/>
              </a:spcAft>
              <a:buNone/>
            </a:pPr>
            <a:r>
              <a:rPr sz="1200" b="0" i="0" lang="he-IL">
                <a:solidFill>
                  <a:srgbClr val="212121"/>
                </a:solidFill>
              </a:rPr>
              <a:t>  "paths": {</a:t>
            </a:r>
          </a:p>
          <a:p>
            <a:pPr rtl="0" algn="l" marL="0" indent="0">
              <a:lnSpc>
                <a:spcPct val="105000"/>
              </a:lnSpc>
              <a:spcBef>
                <a:spcPts val="0"/>
              </a:spcBef>
              <a:spcAft>
                <a:spcPts val="0"/>
              </a:spcAft>
              <a:buNone/>
            </a:pPr>
            <a:r>
              <a:rPr sz="1200" b="0" i="0" lang="he-IL">
                <a:solidFill>
                  <a:srgbClr val="212121"/>
                </a:solidFill>
              </a:rPr>
              <a:t>    "/products": {</a:t>
            </a:r>
          </a:p>
          <a:p>
            <a:pPr rtl="0" algn="l" marL="0" indent="0">
              <a:lnSpc>
                <a:spcPct val="105000"/>
              </a:lnSpc>
              <a:spcBef>
                <a:spcPts val="0"/>
              </a:spcBef>
              <a:spcAft>
                <a:spcPts val="0"/>
              </a:spcAft>
              <a:buNone/>
            </a:pPr>
            <a:r>
              <a:rPr sz="1200" b="0" i="0" lang="he-IL">
                <a:solidFill>
                  <a:srgbClr val="212121"/>
                </a:solidFill>
              </a:rPr>
              <a:t>      "get": {</a:t>
            </a:r>
          </a:p>
          <a:p>
            <a:pPr rtl="0" algn="l" marL="0" indent="0">
              <a:lnSpc>
                <a:spcPct val="105000"/>
              </a:lnSpc>
              <a:spcBef>
                <a:spcPts val="0"/>
              </a:spcBef>
              <a:spcAft>
                <a:spcPts val="0"/>
              </a:spcAft>
              <a:buNone/>
            </a:pPr>
            <a:r>
              <a:rPr sz="1200" b="0" i="0" lang="he-IL">
                <a:solidFill>
                  <a:srgbClr val="212121"/>
                </a:solidFill>
              </a:rPr>
              <a:t>        "parameters": [{</a:t>
            </a:r>
          </a:p>
          <a:p>
            <a:pPr rtl="0" algn="l" marL="0" indent="0">
              <a:lnSpc>
                <a:spcPct val="105000"/>
              </a:lnSpc>
              <a:spcBef>
                <a:spcPts val="0"/>
              </a:spcBef>
              <a:spcAft>
                <a:spcPts val="0"/>
              </a:spcAft>
              <a:buNone/>
            </a:pPr>
            <a:r>
              <a:rPr sz="1200" b="0" i="0" lang="he-IL">
                <a:solidFill>
                  <a:srgbClr val="212121"/>
                </a:solidFill>
              </a:rPr>
              <a:t>          "name": "limit",</a:t>
            </a:r>
          </a:p>
          <a:p>
            <a:pPr rtl="0" algn="l" marL="0" indent="0">
              <a:lnSpc>
                <a:spcPct val="105000"/>
              </a:lnSpc>
              <a:spcBef>
                <a:spcPts val="0"/>
              </a:spcBef>
              <a:spcAft>
                <a:spcPts val="0"/>
              </a:spcAft>
              <a:buNone/>
            </a:pPr>
            <a:r>
              <a:rPr sz="1200" b="0" i="0" lang="he-IL">
                <a:solidFill>
                  <a:srgbClr val="212121"/>
                </a:solidFill>
              </a:rPr>
              <a:t>          "in": "query",</a:t>
            </a:r>
          </a:p>
          <a:p>
            <a:pPr rtl="0" algn="l" marL="0" indent="0">
              <a:lnSpc>
                <a:spcPct val="105000"/>
              </a:lnSpc>
              <a:spcBef>
                <a:spcPts val="0"/>
              </a:spcBef>
              <a:spcAft>
                <a:spcPts val="0"/>
              </a:spcAft>
              <a:buNone/>
            </a:pPr>
            <a:r>
              <a:rPr sz="1200" b="0" i="0" lang="he-IL">
                <a:solidFill>
                  <a:srgbClr val="212121"/>
                </a:solidFill>
              </a:rPr>
              <a:t>          "schema": {"type": "integer",</a:t>
            </a:r>
          </a:p>
          <a:p>
            <a:pPr rtl="0" algn="l" marL="0" indent="0">
              <a:lnSpc>
                <a:spcPct val="105000"/>
              </a:lnSpc>
              <a:spcBef>
                <a:spcPts val="0"/>
              </a:spcBef>
              <a:spcAft>
                <a:spcPts val="0"/>
              </a:spcAft>
              <a:buNone/>
            </a:pPr>
            <a:r>
              <a:rPr sz="1200" b="0" i="0" lang="he-IL">
                <a:solidFill>
                  <a:srgbClr val="212121"/>
                </a:solidFill>
              </a:rPr>
              <a:t>            "minimum": 1,</a:t>
            </a:r>
          </a:p>
          <a:p>
            <a:pPr rtl="0" algn="l" marL="0" indent="0">
              <a:lnSpc>
                <a:spcPct val="105000"/>
              </a:lnSpc>
              <a:spcBef>
                <a:spcPts val="0"/>
              </a:spcBef>
              <a:spcAft>
                <a:spcPts val="0"/>
              </a:spcAft>
              <a:buNone/>
            </a:pPr>
            <a:r>
              <a:rPr sz="1200" b="0" i="0" lang="he-IL">
                <a:solidFill>
                  <a:srgbClr val="212121"/>
                </a:solidFill>
              </a:rPr>
              <a:t>            "maximum": 200}</a:t>
            </a:r>
          </a:p>
          <a:p>
            <a:pPr rtl="0" algn="l" marL="0" indent="0">
              <a:lnSpc>
                <a:spcPct val="105000"/>
              </a:lnSpc>
              <a:spcBef>
                <a:spcPts val="0"/>
              </a:spcBef>
              <a:spcAft>
                <a:spcPts val="0"/>
              </a:spcAft>
              <a:buNone/>
            </a:pPr>
            <a:r>
              <a:rPr sz="1200" b="0" i="0" lang="he-IL">
                <a:solidFill>
                  <a:srgbClr val="212121"/>
                </a:solidFill>
              </a:rPr>
              <a:t>        }],</a:t>
            </a:r>
          </a:p>
          <a:p>
            <a:pPr rtl="0" algn="l" marL="0" indent="0">
              <a:lnSpc>
                <a:spcPct val="105000"/>
              </a:lnSpc>
              <a:spcBef>
                <a:spcPts val="0"/>
              </a:spcBef>
              <a:spcAft>
                <a:spcPts val="0"/>
              </a:spcAft>
              <a:buNone/>
            </a:pPr>
            <a:r>
              <a:rPr sz="1200" b="0" i="0" lang="he-IL">
                <a:solidFill>
                  <a:srgbClr val="212121"/>
                </a:solidFill>
              </a:rPr>
              <a:t>        "responses": {</a:t>
            </a:r>
          </a:p>
          <a:p>
            <a:pPr rtl="0" algn="l" marL="0" indent="0">
              <a:lnSpc>
                <a:spcPct val="105000"/>
              </a:lnSpc>
              <a:spcBef>
                <a:spcPts val="0"/>
              </a:spcBef>
              <a:spcAft>
                <a:spcPts val="0"/>
              </a:spcAft>
              <a:buNone/>
            </a:pPr>
            <a:r>
              <a:rPr sz="1200" b="0" i="0" lang="he-IL">
                <a:solidFill>
                  <a:srgbClr val="212121"/>
                </a:solidFill>
              </a:rPr>
              <a:t>          "200": {...},</a:t>
            </a:r>
          </a:p>
          <a:p>
            <a:pPr rtl="0" algn="l" marL="0" indent="0">
              <a:lnSpc>
                <a:spcPct val="105000"/>
              </a:lnSpc>
              <a:spcBef>
                <a:spcPts val="0"/>
              </a:spcBef>
              <a:spcAft>
                <a:spcPts val="0"/>
              </a:spcAft>
              <a:buNone/>
            </a:pPr>
            <a:r>
              <a:rPr sz="1200" b="0" i="0" lang="he-IL">
                <a:solidFill>
                  <a:srgbClr val="212121"/>
                </a:solidFill>
              </a:rPr>
              <a:t>          "422": {...}</a:t>
            </a:r>
          </a:p>
          <a:p>
            <a:pPr rtl="0" algn="l" marL="0" indent="0">
              <a:lnSpc>
                <a:spcPct val="105000"/>
              </a:lnSpc>
              <a:spcBef>
                <a:spcPts val="0"/>
              </a:spcBef>
              <a:spcAft>
                <a:spcPts val="0"/>
              </a:spcAft>
              <a:buNone/>
            </a:pPr>
            <a:r>
              <a:rPr sz="1200" b="0" i="0" lang="he-IL">
                <a:solidFill>
                  <a:srgbClr val="212121"/>
                </a:solidFill>
              </a:rPr>
              <a:t>        }</a:t>
            </a:r>
          </a:p>
          <a:p>
            <a:pPr rtl="0" algn="l" marL="0" indent="0">
              <a:lnSpc>
                <a:spcPct val="105000"/>
              </a:lnSpc>
              <a:spcBef>
                <a:spcPts val="0"/>
              </a:spcBef>
              <a:spcAft>
                <a:spcPts val="0"/>
              </a:spcAft>
              <a:buNone/>
            </a:pPr>
            <a:r>
              <a:rPr sz="1200" b="0" i="0" lang="he-IL">
                <a:solidFill>
                  <a:srgbClr val="212121"/>
                </a:solidFill>
              </a:rPr>
              <a:t>      }</a:t>
            </a:r>
          </a:p>
          <a:p>
            <a:pPr rtl="0" algn="l" marL="0" indent="0">
              <a:lnSpc>
                <a:spcPct val="105000"/>
              </a:lnSpc>
              <a:spcBef>
                <a:spcPts val="0"/>
              </a:spcBef>
              <a:spcAft>
                <a:spcPts val="0"/>
              </a:spcAft>
              <a:buNone/>
            </a:pPr>
            <a:r>
              <a:rPr sz="1200" b="0" i="0" lang="he-IL">
                <a:solidFill>
                  <a:srgbClr val="212121"/>
                </a:solidFill>
              </a:rPr>
              <a:t>    }</a:t>
            </a:r>
          </a:p>
          <a:p>
            <a:pPr rtl="0" algn="l" marL="0" indent="0">
              <a:lnSpc>
                <a:spcPct val="105000"/>
              </a:lnSpc>
              <a:spcBef>
                <a:spcPts val="0"/>
              </a:spcBef>
              <a:spcAft>
                <a:spcPts val="0"/>
              </a:spcAft>
              <a:buNone/>
            </a:pPr>
            <a:r>
              <a:rPr sz="1200" b="0" i="0" lang="he-IL">
                <a:solidFill>
                  <a:srgbClr val="212121"/>
                </a:solidFill>
              </a:rPr>
              <a:t>  }</a:t>
            </a:r>
          </a:p>
          <a:p>
            <a:pPr rtl="0" algn="l" marL="0" indent="0">
              <a:lnSpc>
                <a:spcPct val="105000"/>
              </a:lnSpc>
              <a:spcBef>
                <a:spcPts val="0"/>
              </a:spcBef>
              <a:spcAft>
                <a:spcPts val="0"/>
              </a:spcAft>
              <a:buNone/>
            </a:pPr>
            <a:r>
              <a:rPr sz="1200" b="0" i="0" lang="he-IL">
                <a:solidFill>
                  <a:srgbClr val="212121"/>
                </a:solidFill>
              </a:rPr>
              <a:t>}</a:t>
            </a:r>
          </a:p>
        </p:txBody>
      </p:sp>
      <p:sp>
        <p:nvSpPr>
          <p:cNvPr id="6" name="Rounded Rectangle 5"/>
          <p:cNvSpPr/>
          <p:nvPr/>
        </p:nvSpPr>
        <p:spPr>
          <a:xfrm>
            <a:off x="365760" y="1371600"/>
            <a:ext cx="3474720" cy="73152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4285F4"/>
                </a:solidFill>
              </a:rPr>
              <a:t>paths</a:t>
            </a:r>
          </a:p>
          <a:p>
            <a:pPr rtl="1" algn="ctr" marL="0" indent="0">
              <a:lnSpc>
                <a:spcPct val="105000"/>
              </a:lnSpc>
              <a:spcBef>
                <a:spcPts val="0"/>
              </a:spcBef>
              <a:spcAft>
                <a:spcPts val="0"/>
              </a:spcAft>
              <a:buNone/>
            </a:pPr>
            <a:r>
              <a:rPr sz="1300" b="0" i="0" lang="he-IL">
                <a:solidFill>
                  <a:srgbClr val="212121"/>
                </a:solidFill>
              </a:rPr>
              <a:t>כל הכתובות שקיימות</a:t>
            </a:r>
          </a:p>
        </p:txBody>
      </p:sp>
      <p:sp>
        <p:nvSpPr>
          <p:cNvPr id="7" name="Rounded Rectangle 6"/>
          <p:cNvSpPr/>
          <p:nvPr/>
        </p:nvSpPr>
        <p:spPr>
          <a:xfrm>
            <a:off x="365760" y="2240280"/>
            <a:ext cx="3474720" cy="73152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FFAB40"/>
                </a:solidFill>
              </a:rPr>
              <a:t>get / post</a:t>
            </a:r>
          </a:p>
          <a:p>
            <a:pPr rtl="1" algn="ctr" marL="0" indent="0">
              <a:lnSpc>
                <a:spcPct val="105000"/>
              </a:lnSpc>
              <a:spcBef>
                <a:spcPts val="0"/>
              </a:spcBef>
              <a:spcAft>
                <a:spcPts val="0"/>
              </a:spcAft>
              <a:buNone/>
            </a:pPr>
            <a:r>
              <a:rPr sz="1300" b="0" i="0" lang="he-IL">
                <a:solidFill>
                  <a:srgbClr val="212121"/>
                </a:solidFill>
              </a:rPr>
              <a:t>השיטה</a:t>
            </a:r>
          </a:p>
        </p:txBody>
      </p:sp>
      <p:sp>
        <p:nvSpPr>
          <p:cNvPr id="8" name="Rounded Rectangle 7"/>
          <p:cNvSpPr/>
          <p:nvPr/>
        </p:nvSpPr>
        <p:spPr>
          <a:xfrm>
            <a:off x="365760" y="3108960"/>
            <a:ext cx="3474720" cy="73152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0097A7"/>
                </a:solidFill>
              </a:rPr>
              <a:t>parameters</a:t>
            </a:r>
          </a:p>
          <a:p>
            <a:pPr rtl="1" algn="ctr" marL="0" indent="0">
              <a:lnSpc>
                <a:spcPct val="105000"/>
              </a:lnSpc>
              <a:spcBef>
                <a:spcPts val="0"/>
              </a:spcBef>
              <a:spcAft>
                <a:spcPts val="0"/>
              </a:spcAft>
              <a:buNone/>
            </a:pPr>
            <a:r>
              <a:rPr sz="1300" b="0" i="0" lang="he-IL">
                <a:solidFill>
                  <a:srgbClr val="212121"/>
                </a:solidFill>
              </a:rPr>
              <a:t>מה אפשר לשלוח, כולל גבולות</a:t>
            </a:r>
          </a:p>
        </p:txBody>
      </p:sp>
      <p:sp>
        <p:nvSpPr>
          <p:cNvPr id="9" name="Rounded Rectangle 8"/>
          <p:cNvSpPr/>
          <p:nvPr/>
        </p:nvSpPr>
        <p:spPr>
          <a:xfrm>
            <a:off x="365760" y="3977639"/>
            <a:ext cx="3474720" cy="73152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34A853"/>
                </a:solidFill>
              </a:rPr>
              <a:t>responses</a:t>
            </a:r>
          </a:p>
          <a:p>
            <a:pPr rtl="1" algn="ctr" marL="0" indent="0">
              <a:lnSpc>
                <a:spcPct val="105000"/>
              </a:lnSpc>
              <a:spcBef>
                <a:spcPts val="0"/>
              </a:spcBef>
              <a:spcAft>
                <a:spcPts val="0"/>
              </a:spcAft>
              <a:buNone/>
            </a:pPr>
            <a:r>
              <a:rPr sz="1300" b="0" i="0" lang="he-IL">
                <a:solidFill>
                  <a:srgbClr val="212121"/>
                </a:solidFill>
              </a:rPr>
              <a:t>אילו תגובות אפשריות</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Swagger UI: התיעוד החי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docs_overview.png"/>
          <p:cNvPicPr>
            <a:picLocks noChangeAspect="1"/>
          </p:cNvPicPr>
          <p:nvPr/>
        </p:nvPicPr>
        <p:blipFill>
          <a:blip r:embed="rId2"/>
          <a:stretch>
            <a:fillRect/>
          </a:stretch>
        </p:blipFill>
        <p:spPr>
          <a:xfrm>
            <a:off x="365760" y="1325880"/>
            <a:ext cx="5669280" cy="3543300"/>
          </a:xfrm>
          <a:prstGeom prst="rect">
            <a:avLst/>
          </a:prstGeom>
          <a:ln w="12700">
            <a:solidFill>
              <a:srgbClr val="78909C"/>
            </a:solidFill>
          </a:ln>
        </p:spPr>
      </p:pic>
      <p:sp>
        <p:nvSpPr>
          <p:cNvPr id="6" name="Oval 5"/>
          <p:cNvSpPr/>
          <p:nvPr/>
        </p:nvSpPr>
        <p:spPr>
          <a:xfrm>
            <a:off x="8412480" y="155448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1</a:t>
            </a:r>
          </a:p>
        </p:txBody>
      </p:sp>
      <p:sp>
        <p:nvSpPr>
          <p:cNvPr id="7" name="TextBox 6"/>
          <p:cNvSpPr txBox="1"/>
          <p:nvPr/>
        </p:nvSpPr>
        <p:spPr>
          <a:xfrm>
            <a:off x="6217920" y="1463040"/>
            <a:ext cx="2148840" cy="73152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כותרת, גרסה והקישור ל־openapi.json</a:t>
            </a:r>
          </a:p>
        </p:txBody>
      </p:sp>
      <p:sp>
        <p:nvSpPr>
          <p:cNvPr id="8" name="Oval 7"/>
          <p:cNvSpPr/>
          <p:nvPr/>
        </p:nvSpPr>
        <p:spPr>
          <a:xfrm>
            <a:off x="8412480" y="2560320"/>
            <a:ext cx="411480" cy="41148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2</a:t>
            </a:r>
          </a:p>
        </p:txBody>
      </p:sp>
      <p:sp>
        <p:nvSpPr>
          <p:cNvPr id="9" name="TextBox 8"/>
          <p:cNvSpPr txBox="1"/>
          <p:nvPr/>
        </p:nvSpPr>
        <p:spPr>
          <a:xfrm>
            <a:off x="6217920" y="2468880"/>
            <a:ext cx="2148840" cy="73152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קבוצות (tags) של נקודות קצה</a:t>
            </a:r>
          </a:p>
        </p:txBody>
      </p:sp>
      <p:sp>
        <p:nvSpPr>
          <p:cNvPr id="10" name="Oval 9"/>
          <p:cNvSpPr/>
          <p:nvPr/>
        </p:nvSpPr>
        <p:spPr>
          <a:xfrm>
            <a:off x="8412480" y="3566160"/>
            <a:ext cx="411480" cy="41148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3</a:t>
            </a:r>
          </a:p>
        </p:txBody>
      </p:sp>
      <p:sp>
        <p:nvSpPr>
          <p:cNvPr id="11" name="TextBox 10"/>
          <p:cNvSpPr txBox="1"/>
          <p:nvPr/>
        </p:nvSpPr>
        <p:spPr>
          <a:xfrm>
            <a:off x="6217920" y="3474720"/>
            <a:ext cx="2148840" cy="73152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כל שורה: שיטה, כתובת ושם. לוחצים כדי לפתוח</a:t>
            </a:r>
          </a:p>
        </p:txBody>
      </p:sp>
      <p:sp>
        <p:nvSpPr>
          <p:cNvPr id="12" name="Oval 11"/>
          <p:cNvSpPr/>
          <p:nvPr/>
        </p:nvSpPr>
        <p:spPr>
          <a:xfrm>
            <a:off x="1600200" y="1463040"/>
            <a:ext cx="320040" cy="32004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200" b="1" i="0" lang="he-IL">
                <a:solidFill>
                  <a:srgbClr val="FFFFFF"/>
                </a:solidFill>
              </a:rPr>
              <a:t>1</a:t>
            </a:r>
          </a:p>
        </p:txBody>
      </p:sp>
      <p:sp>
        <p:nvSpPr>
          <p:cNvPr id="13" name="Oval 12"/>
          <p:cNvSpPr/>
          <p:nvPr/>
        </p:nvSpPr>
        <p:spPr>
          <a:xfrm>
            <a:off x="1051560" y="2167128"/>
            <a:ext cx="320040" cy="32004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200" b="1" i="0" lang="he-IL">
                <a:solidFill>
                  <a:srgbClr val="FFFFFF"/>
                </a:solidFill>
              </a:rPr>
              <a:t>2</a:t>
            </a:r>
          </a:p>
        </p:txBody>
      </p:sp>
      <p:sp>
        <p:nvSpPr>
          <p:cNvPr id="14" name="Oval 13"/>
          <p:cNvSpPr/>
          <p:nvPr/>
        </p:nvSpPr>
        <p:spPr>
          <a:xfrm>
            <a:off x="914400" y="2395728"/>
            <a:ext cx="320040" cy="32004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200" b="1" i="0" lang="he-IL">
                <a:solidFill>
                  <a:srgbClr val="FFFFFF"/>
                </a:solidFill>
              </a:rPr>
              <a:t>3</a:t>
            </a:r>
          </a:p>
        </p:txBody>
      </p:sp>
      <p:sp>
        <p:nvSpPr>
          <p:cNvPr id="15" name="TextBox 14"/>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הכתובת: /docs בשירות שרץ. ללא התקנה נוספת.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Try it out: בודקים בלי לכתוב 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try_params.png"/>
          <p:cNvPicPr>
            <a:picLocks noChangeAspect="1"/>
          </p:cNvPicPr>
          <p:nvPr/>
        </p:nvPicPr>
        <p:blipFill>
          <a:blip r:embed="rId2"/>
          <a:stretch>
            <a:fillRect/>
          </a:stretch>
        </p:blipFill>
        <p:spPr>
          <a:xfrm>
            <a:off x="365760" y="1325880"/>
            <a:ext cx="4114800" cy="1414462"/>
          </a:xfrm>
          <a:prstGeom prst="rect">
            <a:avLst/>
          </a:prstGeom>
          <a:ln w="12700">
            <a:solidFill>
              <a:srgbClr val="78909C"/>
            </a:solidFill>
          </a:ln>
        </p:spPr>
      </p:pic>
      <p:pic>
        <p:nvPicPr>
          <p:cNvPr id="6" name="Picture 5" descr="try_response.png"/>
          <p:cNvPicPr>
            <a:picLocks noChangeAspect="1"/>
          </p:cNvPicPr>
          <p:nvPr/>
        </p:nvPicPr>
        <p:blipFill>
          <a:blip r:embed="rId3"/>
          <a:stretch>
            <a:fillRect/>
          </a:stretch>
        </p:blipFill>
        <p:spPr>
          <a:xfrm>
            <a:off x="4663440" y="1325880"/>
            <a:ext cx="4114800" cy="2346722"/>
          </a:xfrm>
          <a:prstGeom prst="rect">
            <a:avLst/>
          </a:prstGeom>
          <a:ln w="12700">
            <a:solidFill>
              <a:srgbClr val="78909C"/>
            </a:solidFill>
          </a:ln>
        </p:spPr>
      </p:pic>
      <p:sp>
        <p:nvSpPr>
          <p:cNvPr id="7" name="Rounded Rectangle 6"/>
          <p:cNvSpPr/>
          <p:nvPr/>
        </p:nvSpPr>
        <p:spPr>
          <a:xfrm>
            <a:off x="365760" y="3520440"/>
            <a:ext cx="4114800" cy="150876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1" i="0" lang="he-IL">
                <a:solidFill>
                  <a:srgbClr val="212121"/>
                </a:solidFill>
              </a:rPr>
              <a:t>①  ממלאים פרמטרים</a:t>
            </a:r>
          </a:p>
          <a:p>
            <a:pPr rtl="1" algn="r" marL="0" indent="0">
              <a:lnSpc>
                <a:spcPct val="105000"/>
              </a:lnSpc>
              <a:spcBef>
                <a:spcPts val="0"/>
              </a:spcBef>
              <a:spcAft>
                <a:spcPts val="0"/>
              </a:spcAft>
              <a:buNone/>
            </a:pPr>
            <a:r>
              <a:rPr sz="1300" b="0" i="0" lang="he-IL">
                <a:solidFill>
                  <a:srgbClr val="595959"/>
                </a:solidFill>
              </a:rPr>
              <a:t>השדות והגבולות (min 1, max 200) מגיעים מהחוזה.</a:t>
            </a:r>
          </a:p>
          <a:p>
            <a:pPr rtl="1" algn="r" marL="0" indent="0">
              <a:lnSpc>
                <a:spcPct val="105000"/>
              </a:lnSpc>
              <a:spcBef>
                <a:spcPts val="0"/>
              </a:spcBef>
              <a:spcAft>
                <a:spcPts val="0"/>
              </a:spcAft>
              <a:buNone/>
            </a:pPr>
            <a:r>
              <a:rPr sz="1500" b="1" i="0" lang="he-IL">
                <a:solidFill>
                  <a:srgbClr val="212121"/>
                </a:solidFill>
              </a:rPr>
              <a:t>②  Execute</a:t>
            </a:r>
          </a:p>
        </p:txBody>
      </p:sp>
      <p:sp>
        <p:nvSpPr>
          <p:cNvPr id="8" name="Rounded Rectangle 7"/>
          <p:cNvSpPr/>
          <p:nvPr/>
        </p:nvSpPr>
        <p:spPr>
          <a:xfrm>
            <a:off x="4663440" y="3657600"/>
            <a:ext cx="4114800" cy="13716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1" i="0" lang="he-IL">
                <a:solidFill>
                  <a:srgbClr val="212121"/>
                </a:solidFill>
              </a:rPr>
              <a:t>③  רואים בקשה (curl), תגובה אמיתית וכותרות</a:t>
            </a:r>
          </a:p>
          <a:p>
            <a:pPr rtl="1" algn="r" marL="0" indent="0">
              <a:lnSpc>
                <a:spcPct val="105000"/>
              </a:lnSpc>
              <a:spcBef>
                <a:spcPts val="0"/>
              </a:spcBef>
              <a:spcAft>
                <a:spcPts val="0"/>
              </a:spcAft>
              <a:buNone/>
            </a:pPr>
            <a:r>
              <a:rPr sz="1300" b="0" i="0" lang="he-IL">
                <a:solidFill>
                  <a:srgbClr val="595959"/>
                </a:solidFill>
              </a:rPr>
              <a:t>אותה תגובה שהיה מקבל הקוד שלכם.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מה שבחוזה: גם תגובות שגויות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try_schema.png"/>
          <p:cNvPicPr>
            <a:picLocks noChangeAspect="1"/>
          </p:cNvPicPr>
          <p:nvPr/>
        </p:nvPicPr>
        <p:blipFill>
          <a:blip r:embed="rId2"/>
          <a:stretch>
            <a:fillRect/>
          </a:stretch>
        </p:blipFill>
        <p:spPr>
          <a:xfrm>
            <a:off x="365760" y="1325880"/>
            <a:ext cx="4937760" cy="2970371"/>
          </a:xfrm>
          <a:prstGeom prst="rect">
            <a:avLst/>
          </a:prstGeom>
          <a:ln w="12700">
            <a:solidFill>
              <a:srgbClr val="78909C"/>
            </a:solidFill>
          </a:ln>
        </p:spPr>
      </p:pic>
      <p:sp>
        <p:nvSpPr>
          <p:cNvPr id="6" name="Rounded Rectangle 5"/>
          <p:cNvSpPr/>
          <p:nvPr/>
        </p:nvSpPr>
        <p:spPr>
          <a:xfrm>
            <a:off x="5486400" y="1371600"/>
            <a:ext cx="3291840" cy="137160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34A853"/>
                </a:solidFill>
              </a:rPr>
              <a:t>200  תגובת הצלחה</a:t>
            </a:r>
          </a:p>
          <a:p>
            <a:pPr rtl="1" algn="ctr" marL="0" indent="0">
              <a:lnSpc>
                <a:spcPct val="105000"/>
              </a:lnSpc>
              <a:spcBef>
                <a:spcPts val="0"/>
              </a:spcBef>
              <a:spcAft>
                <a:spcPts val="0"/>
              </a:spcAft>
              <a:buNone/>
            </a:pPr>
            <a:r>
              <a:rPr sz="1300" b="0" i="0" lang="he-IL">
                <a:solidFill>
                  <a:srgbClr val="212121"/>
                </a:solidFill>
              </a:rPr>
              <a:t>מבנה התשובה: product_id, name, category ועוד</a:t>
            </a:r>
          </a:p>
        </p:txBody>
      </p:sp>
      <p:sp>
        <p:nvSpPr>
          <p:cNvPr id="7" name="Rounded Rectangle 6"/>
          <p:cNvSpPr/>
          <p:nvPr/>
        </p:nvSpPr>
        <p:spPr>
          <a:xfrm>
            <a:off x="5486400" y="2926080"/>
            <a:ext cx="3291840" cy="137160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EA4335"/>
                </a:solidFill>
              </a:rPr>
              <a:t>422  קלט לא חוקי</a:t>
            </a:r>
          </a:p>
          <a:p>
            <a:pPr rtl="1" algn="ctr" marL="0" indent="0">
              <a:lnSpc>
                <a:spcPct val="105000"/>
              </a:lnSpc>
              <a:spcBef>
                <a:spcPts val="0"/>
              </a:spcBef>
              <a:spcAft>
                <a:spcPts val="0"/>
              </a:spcAft>
              <a:buNone/>
            </a:pPr>
            <a:r>
              <a:rPr sz="1300" b="0" i="0" lang="he-IL">
                <a:solidFill>
                  <a:srgbClr val="212121"/>
                </a:solidFill>
              </a:rPr>
              <a:t>מה חוזר כשהפרמטר מחוץ לגבולות</a:t>
            </a:r>
          </a:p>
        </p:txBody>
      </p:sp>
      <p:sp>
        <p:nvSpPr>
          <p:cNvPr id="8" name="TextBox 7"/>
          <p:cNvSpPr txBox="1"/>
          <p:nvPr/>
        </p:nvSpPr>
        <p:spPr>
          <a:xfrm>
            <a:off x="5486400" y="4480560"/>
            <a:ext cx="329184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212121"/>
                </a:solidFill>
              </a:rPr>
              <a:t>הבדיקות צריכות לכסות את שניהם.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שימושים בחוזה לבדיקות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ידנית</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Swagger UI: Try it out. הכי מהיר להתחלה.</a:t>
            </a:r>
          </a:p>
        </p:txBody>
      </p:sp>
      <p:sp>
        <p:nvSpPr>
          <p:cNvPr id="9" name="Rounded Rectangle 8"/>
          <p:cNvSpPr/>
          <p:nvPr/>
        </p:nvSpPr>
        <p:spPr>
          <a:xfrm>
            <a:off x="36576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בדיקות שנכתבות לפי החוזה</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כל שורה בחוזה: בדיקה של הצלחה ושל שגיאה.</a:t>
            </a:r>
          </a:p>
        </p:txBody>
      </p:sp>
      <p:sp>
        <p:nvSpPr>
          <p:cNvPr id="13" name="Rounded Rectangle 12"/>
          <p:cNvSpPr/>
          <p:nvPr/>
        </p:nvSpPr>
        <p:spPr>
          <a:xfrm>
            <a:off x="466344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בדיקות אוטומטיות מהחוזה</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כלים כמו Schemathesis מייצרים קלטים לפי הסכמה.</a:t>
            </a:r>
          </a:p>
        </p:txBody>
      </p:sp>
      <p:sp>
        <p:nvSpPr>
          <p:cNvPr id="17" name="Rounded Rectangle 16"/>
          <p:cNvSpPr/>
          <p:nvPr/>
        </p:nvSpPr>
        <p:spPr>
          <a:xfrm>
            <a:off x="36576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AI כותב בדיקות</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מדביקים את openapi.json ומבקשים בדיקות. אתם מאמתים.</a:t>
            </a:r>
          </a:p>
        </p:txBody>
      </p:sp>
      <p:sp>
        <p:nvSpPr>
          <p:cNvPr id="21"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5: בודקים מול ידוע מראש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א׳ :</a:t>
            </a:r>
            <a:r>
              <a:rPr sz="3000" b="1" i="0" lang="he-IL">
                <a:solidFill>
                  <a:srgbClr val="212121"/>
                </a:solidFill>
              </a:rPr>
              <a:t>בדיקה שנגזרת מהחוזה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71600"/>
            <a:ext cx="4114800" cy="14630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"limit": {"minimum": 1,</a:t>
            </a:r>
          </a:p>
          <a:p>
            <a:pPr rtl="0" algn="l" marL="0" indent="0">
              <a:lnSpc>
                <a:spcPct val="105000"/>
              </a:lnSpc>
              <a:spcBef>
                <a:spcPts val="0"/>
              </a:spcBef>
              <a:spcAft>
                <a:spcPts val="0"/>
              </a:spcAft>
              <a:buNone/>
            </a:pPr>
            <a:r>
              <a:rPr sz="1400" b="0" i="0" lang="he-IL">
                <a:solidFill>
                  <a:srgbClr val="212121"/>
                </a:solidFill>
              </a:rPr>
              <a:t>           "maximum": 200}</a:t>
            </a:r>
          </a:p>
        </p:txBody>
      </p:sp>
      <p:sp>
        <p:nvSpPr>
          <p:cNvPr id="6" name="Rectangle 5"/>
          <p:cNvSpPr/>
          <p:nvPr/>
        </p:nvSpPr>
        <p:spPr>
          <a:xfrm>
            <a:off x="4663440" y="1371600"/>
            <a:ext cx="4114800" cy="146304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def test_invalid_limit():</a:t>
            </a:r>
          </a:p>
          <a:p>
            <a:pPr rtl="0" algn="l" marL="0" indent="0">
              <a:lnSpc>
                <a:spcPct val="105000"/>
              </a:lnSpc>
              <a:spcBef>
                <a:spcPts val="0"/>
              </a:spcBef>
              <a:spcAft>
                <a:spcPts val="0"/>
              </a:spcAft>
              <a:buNone/>
            </a:pPr>
            <a:r>
              <a:rPr sz="1200" b="0" i="0" lang="he-IL">
                <a:solidFill>
                  <a:srgbClr val="212121"/>
                </a:solidFill>
              </a:rPr>
              <a:t>    r = client.get('/products',</a:t>
            </a:r>
          </a:p>
          <a:p>
            <a:pPr rtl="0" algn="l" marL="0" indent="0">
              <a:lnSpc>
                <a:spcPct val="105000"/>
              </a:lnSpc>
              <a:spcBef>
                <a:spcPts val="0"/>
              </a:spcBef>
              <a:spcAft>
                <a:spcPts val="0"/>
              </a:spcAft>
              <a:buNone/>
            </a:pPr>
            <a:r>
              <a:rPr sz="1200" b="0" i="0" lang="he-IL">
                <a:solidFill>
                  <a:srgbClr val="212121"/>
                </a:solidFill>
              </a:rPr>
              <a:t>        params={'limit': 0})</a:t>
            </a:r>
          </a:p>
          <a:p>
            <a:pPr rtl="0" algn="l" marL="0" indent="0">
              <a:lnSpc>
                <a:spcPct val="105000"/>
              </a:lnSpc>
              <a:spcBef>
                <a:spcPts val="0"/>
              </a:spcBef>
              <a:spcAft>
                <a:spcPts val="0"/>
              </a:spcAft>
              <a:buNone/>
            </a:pPr>
            <a:r>
              <a:rPr sz="1200" b="0" i="0" lang="he-IL">
                <a:solidFill>
                  <a:srgbClr val="212121"/>
                </a:solidFill>
              </a:rPr>
              <a:t>    assert r.status_code == 422</a:t>
            </a:r>
          </a:p>
        </p:txBody>
      </p:sp>
      <p:cxnSp>
        <p:nvCxnSpPr>
          <p:cNvPr id="7" name="Connector 6"/>
          <p:cNvCxnSpPr/>
          <p:nvPr/>
        </p:nvCxnSpPr>
        <p:spPr>
          <a:xfrm>
            <a:off x="4526280" y="2103120"/>
            <a:ext cx="914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5760" y="3063240"/>
            <a:ext cx="8412480" cy="13258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9" name="Rectangle 8"/>
          <p:cNvSpPr/>
          <p:nvPr/>
        </p:nvSpPr>
        <p:spPr>
          <a:xfrm>
            <a:off x="365760" y="3063240"/>
            <a:ext cx="841248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10" name="TextBox 9"/>
          <p:cNvSpPr txBox="1"/>
          <p:nvPr/>
        </p:nvSpPr>
        <p:spPr>
          <a:xfrm>
            <a:off x="457200" y="3447288"/>
            <a:ext cx="8229600" cy="8686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400" b="0" i="0" lang="he-IL">
                <a:solidFill>
                  <a:srgbClr val="7CFC8A"/>
                </a:solidFill>
                <a:latin typeface="Courier New"/>
                <a:ea typeface="Courier New"/>
                <a:cs typeface="Courier New"/>
              </a:rPr>
              <a:t>$ python -m pytest -q tests</a:t>
            </a:r>
          </a:p>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   8 passed</a:t>
            </a:r>
          </a:p>
        </p:txBody>
      </p:sp>
      <p:sp>
        <p:nvSpPr>
          <p:cNvPr id="11" name="TextBox 10"/>
          <p:cNvSpPr txBox="1"/>
          <p:nvPr/>
        </p:nvSpPr>
        <p:spPr>
          <a:xfrm>
            <a:off x="365760" y="452628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212121"/>
                </a:solidFill>
              </a:rPr>
              <a:t>החוזה קובע מה אמור לקרות. הבדיקה מוודאת שהקוד עומד בו.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HM_07.ipynb. חלק א׳: HTTP ו־OpenAPI.</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HM_07.ipynb. חלק א׳: HTTP ו־OpenAPI</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ל־HM_07.ipynb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א׳</a:t>
            </a:r>
            <a:r>
              <a:rPr sz="3000" b="0" i="0" lang="he-IL">
                <a:solidFill>
                  <a:srgbClr val="212121"/>
                </a:solidFill>
              </a:rPr>
              <a:t> : שירות וחוזה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לכתוב צד שרת קטן, ולבנות כלי שבודק אם השרת עומד בחוזה שלו.</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קודי סטטוס</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status_family, find_product, create_order</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קוראים חוזה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list_endpoints: כל נקודות הקצה מתוך openapi.json</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בודקים לפי חוזה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check_contract: האם כל קוד שחזר מתועד בחוזה?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אחד מקליד, אחד קורא, ומחליפים. כותבים תחזית לפני כל הרצה. Swagger UI מוצג על המקרן: ב־Colab הוא לא נפתח.</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א׳</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לפני המימוש</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GET /products/P001 מחזיר 500: find_product עוד לא נכתבה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אחרי המימוש</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P001: 200. NOPE: 404. הזמנה חדשה: 201. כמות 0: 422</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הכלי מול החוזה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אי־התאמה אחת: GET /orders/O1 מחזיר 404 שלא מתועד</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החוזה נוצר מהקוד, ולכן אי אפשר לסמוך עליו בלי לבדוק.</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סכמת הנתונים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6675120" y="1444751"/>
            <a:ext cx="201168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300" b="1" i="0" lang="he-IL">
                <a:solidFill>
                  <a:srgbClr val="4285F4"/>
                </a:solidFill>
              </a:rPr>
              <a:t>suppliers</a:t>
            </a:r>
          </a:p>
        </p:txBody>
      </p:sp>
      <p:sp>
        <p:nvSpPr>
          <p:cNvPr id="6" name="Rectangle 5"/>
          <p:cNvSpPr/>
          <p:nvPr/>
        </p:nvSpPr>
        <p:spPr>
          <a:xfrm>
            <a:off x="6675120" y="1737360"/>
            <a:ext cx="2011680" cy="329184"/>
          </a:xfrm>
          <a:prstGeom prst="rect">
            <a:avLst/>
          </a:prstGeom>
          <a:solidFill>
            <a:srgbClr val="E3EEFF"/>
          </a:solidFill>
          <a:ln w="19050">
            <a:solidFill>
              <a:srgbClr val="4285F4"/>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1" i="0" lang="he-IL">
                <a:solidFill>
                  <a:srgbClr val="212121"/>
                </a:solidFill>
              </a:rPr>
              <a:t>supplier_id 🔑</a:t>
            </a:r>
          </a:p>
        </p:txBody>
      </p:sp>
      <p:sp>
        <p:nvSpPr>
          <p:cNvPr id="7" name="Rectangle 6"/>
          <p:cNvSpPr/>
          <p:nvPr/>
        </p:nvSpPr>
        <p:spPr>
          <a:xfrm>
            <a:off x="6675120" y="2066543"/>
            <a:ext cx="2011680" cy="329184"/>
          </a:xfrm>
          <a:prstGeom prst="rect">
            <a:avLst/>
          </a:prstGeom>
          <a:solidFill>
            <a:srgbClr val="FFFFFF"/>
          </a:solidFill>
          <a:ln w="19050">
            <a:solidFill>
              <a:srgbClr val="4285F4"/>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name</a:t>
            </a:r>
          </a:p>
        </p:txBody>
      </p:sp>
      <p:sp>
        <p:nvSpPr>
          <p:cNvPr id="8" name="Rectangle 7"/>
          <p:cNvSpPr/>
          <p:nvPr/>
        </p:nvSpPr>
        <p:spPr>
          <a:xfrm>
            <a:off x="6675120" y="2395728"/>
            <a:ext cx="2011680" cy="329184"/>
          </a:xfrm>
          <a:prstGeom prst="rect">
            <a:avLst/>
          </a:prstGeom>
          <a:solidFill>
            <a:srgbClr val="FFFFFF"/>
          </a:solidFill>
          <a:ln w="19050">
            <a:solidFill>
              <a:srgbClr val="4285F4"/>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lead_time_days</a:t>
            </a:r>
          </a:p>
        </p:txBody>
      </p:sp>
      <p:sp>
        <p:nvSpPr>
          <p:cNvPr id="9" name="Rectangle 8"/>
          <p:cNvSpPr/>
          <p:nvPr/>
        </p:nvSpPr>
        <p:spPr>
          <a:xfrm>
            <a:off x="6675120" y="2724912"/>
            <a:ext cx="2011680" cy="329184"/>
          </a:xfrm>
          <a:prstGeom prst="rect">
            <a:avLst/>
          </a:prstGeom>
          <a:solidFill>
            <a:srgbClr val="FFFFFF"/>
          </a:solidFill>
          <a:ln w="19050">
            <a:solidFill>
              <a:srgbClr val="4285F4"/>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on_time_rate</a:t>
            </a:r>
          </a:p>
        </p:txBody>
      </p:sp>
      <p:sp>
        <p:nvSpPr>
          <p:cNvPr id="10" name="TextBox 9"/>
          <p:cNvSpPr txBox="1"/>
          <p:nvPr/>
        </p:nvSpPr>
        <p:spPr>
          <a:xfrm>
            <a:off x="4114800" y="1444751"/>
            <a:ext cx="201168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300" b="1" i="0" lang="he-IL">
                <a:solidFill>
                  <a:srgbClr val="FFAB40"/>
                </a:solidFill>
              </a:rPr>
              <a:t>products</a:t>
            </a:r>
          </a:p>
        </p:txBody>
      </p:sp>
      <p:sp>
        <p:nvSpPr>
          <p:cNvPr id="11" name="Rectangle 10"/>
          <p:cNvSpPr/>
          <p:nvPr/>
        </p:nvSpPr>
        <p:spPr>
          <a:xfrm>
            <a:off x="4114800" y="1737360"/>
            <a:ext cx="2011680" cy="329184"/>
          </a:xfrm>
          <a:prstGeom prst="rect">
            <a:avLst/>
          </a:prstGeom>
          <a:solidFill>
            <a:srgbClr val="FFF0D9"/>
          </a:solidFill>
          <a:ln w="19050">
            <a:solidFill>
              <a:srgbClr val="FFAB40"/>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1" i="0" lang="he-IL">
                <a:solidFill>
                  <a:srgbClr val="212121"/>
                </a:solidFill>
              </a:rPr>
              <a:t>product_id 🔑</a:t>
            </a:r>
          </a:p>
        </p:txBody>
      </p:sp>
      <p:sp>
        <p:nvSpPr>
          <p:cNvPr id="12" name="Rectangle 11"/>
          <p:cNvSpPr/>
          <p:nvPr/>
        </p:nvSpPr>
        <p:spPr>
          <a:xfrm>
            <a:off x="4114800" y="2066543"/>
            <a:ext cx="2011680" cy="329184"/>
          </a:xfrm>
          <a:prstGeom prst="rect">
            <a:avLst/>
          </a:prstGeom>
          <a:solidFill>
            <a:srgbClr val="FFFFFF"/>
          </a:solidFill>
          <a:ln w="19050">
            <a:solidFill>
              <a:srgbClr val="FFAB40"/>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name</a:t>
            </a:r>
          </a:p>
        </p:txBody>
      </p:sp>
      <p:sp>
        <p:nvSpPr>
          <p:cNvPr id="13" name="Rectangle 12"/>
          <p:cNvSpPr/>
          <p:nvPr/>
        </p:nvSpPr>
        <p:spPr>
          <a:xfrm>
            <a:off x="4114800" y="2395728"/>
            <a:ext cx="2011680" cy="329184"/>
          </a:xfrm>
          <a:prstGeom prst="rect">
            <a:avLst/>
          </a:prstGeom>
          <a:solidFill>
            <a:srgbClr val="FFFFFF"/>
          </a:solidFill>
          <a:ln w="19050">
            <a:solidFill>
              <a:srgbClr val="FFAB40"/>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category</a:t>
            </a:r>
          </a:p>
        </p:txBody>
      </p:sp>
      <p:sp>
        <p:nvSpPr>
          <p:cNvPr id="14" name="Rectangle 13"/>
          <p:cNvSpPr/>
          <p:nvPr/>
        </p:nvSpPr>
        <p:spPr>
          <a:xfrm>
            <a:off x="4114800" y="2724912"/>
            <a:ext cx="2011680" cy="329184"/>
          </a:xfrm>
          <a:prstGeom prst="rect">
            <a:avLst/>
          </a:prstGeom>
          <a:solidFill>
            <a:srgbClr val="FFFFFF"/>
          </a:solidFill>
          <a:ln w="19050">
            <a:solidFill>
              <a:srgbClr val="FFAB40"/>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unit_price</a:t>
            </a:r>
          </a:p>
        </p:txBody>
      </p:sp>
      <p:sp>
        <p:nvSpPr>
          <p:cNvPr id="15" name="Rectangle 14"/>
          <p:cNvSpPr/>
          <p:nvPr/>
        </p:nvSpPr>
        <p:spPr>
          <a:xfrm>
            <a:off x="4114800" y="3054096"/>
            <a:ext cx="2011680" cy="329184"/>
          </a:xfrm>
          <a:prstGeom prst="rect">
            <a:avLst/>
          </a:prstGeom>
          <a:solidFill>
            <a:srgbClr val="FFFFFF"/>
          </a:solidFill>
          <a:ln w="19050">
            <a:solidFill>
              <a:srgbClr val="FFAB40"/>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supplier_id 🔗</a:t>
            </a:r>
          </a:p>
        </p:txBody>
      </p:sp>
      <p:sp>
        <p:nvSpPr>
          <p:cNvPr id="16" name="TextBox 15"/>
          <p:cNvSpPr txBox="1"/>
          <p:nvPr/>
        </p:nvSpPr>
        <p:spPr>
          <a:xfrm>
            <a:off x="1554480" y="1444751"/>
            <a:ext cx="201168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300" b="1" i="0" lang="he-IL">
                <a:solidFill>
                  <a:srgbClr val="0097A7"/>
                </a:solidFill>
              </a:rPr>
              <a:t>orders</a:t>
            </a:r>
          </a:p>
        </p:txBody>
      </p:sp>
      <p:sp>
        <p:nvSpPr>
          <p:cNvPr id="17" name="Rectangle 16"/>
          <p:cNvSpPr/>
          <p:nvPr/>
        </p:nvSpPr>
        <p:spPr>
          <a:xfrm>
            <a:off x="1554480" y="1737360"/>
            <a:ext cx="2011680" cy="329184"/>
          </a:xfrm>
          <a:prstGeom prst="rect">
            <a:avLst/>
          </a:prstGeom>
          <a:solidFill>
            <a:srgbClr val="DDF2F5"/>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1" i="0" lang="he-IL">
                <a:solidFill>
                  <a:srgbClr val="212121"/>
                </a:solidFill>
              </a:rPr>
              <a:t>order_id 🔑</a:t>
            </a:r>
          </a:p>
        </p:txBody>
      </p:sp>
      <p:sp>
        <p:nvSpPr>
          <p:cNvPr id="18" name="Rectangle 17"/>
          <p:cNvSpPr/>
          <p:nvPr/>
        </p:nvSpPr>
        <p:spPr>
          <a:xfrm>
            <a:off x="1554480" y="2066543"/>
            <a:ext cx="2011680" cy="329184"/>
          </a:xfrm>
          <a:prstGeom prst="rect">
            <a:avLst/>
          </a:prstGeom>
          <a:solidFill>
            <a:srgbClr val="FFFFFF"/>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order_date</a:t>
            </a:r>
          </a:p>
        </p:txBody>
      </p:sp>
      <p:sp>
        <p:nvSpPr>
          <p:cNvPr id="19" name="Rectangle 18"/>
          <p:cNvSpPr/>
          <p:nvPr/>
        </p:nvSpPr>
        <p:spPr>
          <a:xfrm>
            <a:off x="1554480" y="2395728"/>
            <a:ext cx="2011680" cy="329184"/>
          </a:xfrm>
          <a:prstGeom prst="rect">
            <a:avLst/>
          </a:prstGeom>
          <a:solidFill>
            <a:srgbClr val="FFFFFF"/>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product_id 🔗</a:t>
            </a:r>
          </a:p>
        </p:txBody>
      </p:sp>
      <p:sp>
        <p:nvSpPr>
          <p:cNvPr id="20" name="Rectangle 19"/>
          <p:cNvSpPr/>
          <p:nvPr/>
        </p:nvSpPr>
        <p:spPr>
          <a:xfrm>
            <a:off x="1554480" y="2724912"/>
            <a:ext cx="2011680" cy="329184"/>
          </a:xfrm>
          <a:prstGeom prst="rect">
            <a:avLst/>
          </a:prstGeom>
          <a:solidFill>
            <a:srgbClr val="FFFFFF"/>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product_name</a:t>
            </a:r>
          </a:p>
        </p:txBody>
      </p:sp>
      <p:sp>
        <p:nvSpPr>
          <p:cNvPr id="21" name="Rectangle 20"/>
          <p:cNvSpPr/>
          <p:nvPr/>
        </p:nvSpPr>
        <p:spPr>
          <a:xfrm>
            <a:off x="1554480" y="3054096"/>
            <a:ext cx="2011680" cy="329184"/>
          </a:xfrm>
          <a:prstGeom prst="rect">
            <a:avLst/>
          </a:prstGeom>
          <a:solidFill>
            <a:srgbClr val="FFFFFF"/>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quantity</a:t>
            </a:r>
          </a:p>
        </p:txBody>
      </p:sp>
      <p:sp>
        <p:nvSpPr>
          <p:cNvPr id="22" name="Rectangle 21"/>
          <p:cNvSpPr/>
          <p:nvPr/>
        </p:nvSpPr>
        <p:spPr>
          <a:xfrm>
            <a:off x="1554480" y="3383279"/>
            <a:ext cx="2011680" cy="329184"/>
          </a:xfrm>
          <a:prstGeom prst="rect">
            <a:avLst/>
          </a:prstGeom>
          <a:solidFill>
            <a:srgbClr val="FFFFFF"/>
          </a:solidFill>
          <a:ln w="19050">
            <a:solidFill>
              <a:srgbClr val="0097A7"/>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unit_price</a:t>
            </a:r>
          </a:p>
        </p:txBody>
      </p:sp>
      <p:sp>
        <p:nvSpPr>
          <p:cNvPr id="23" name="TextBox 22"/>
          <p:cNvSpPr txBox="1"/>
          <p:nvPr/>
        </p:nvSpPr>
        <p:spPr>
          <a:xfrm>
            <a:off x="6675120" y="3364992"/>
            <a:ext cx="201168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300" b="1" i="0" lang="he-IL">
                <a:solidFill>
                  <a:srgbClr val="EA4335"/>
                </a:solidFill>
              </a:rPr>
              <a:t>jobs  (התור)</a:t>
            </a:r>
          </a:p>
        </p:txBody>
      </p:sp>
      <p:sp>
        <p:nvSpPr>
          <p:cNvPr id="24" name="Rectangle 23"/>
          <p:cNvSpPr/>
          <p:nvPr/>
        </p:nvSpPr>
        <p:spPr>
          <a:xfrm>
            <a:off x="6675120" y="3657600"/>
            <a:ext cx="2011680" cy="329184"/>
          </a:xfrm>
          <a:prstGeom prst="rect">
            <a:avLst/>
          </a:prstGeom>
          <a:solidFill>
            <a:srgbClr val="FDE3E0"/>
          </a:solidFill>
          <a:ln w="19050">
            <a:solidFill>
              <a:srgbClr val="EA4335"/>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1" i="0" lang="he-IL">
                <a:solidFill>
                  <a:srgbClr val="212121"/>
                </a:solidFill>
              </a:rPr>
              <a:t>job_id 🔑</a:t>
            </a:r>
          </a:p>
        </p:txBody>
      </p:sp>
      <p:sp>
        <p:nvSpPr>
          <p:cNvPr id="25" name="Rectangle 24"/>
          <p:cNvSpPr/>
          <p:nvPr/>
        </p:nvSpPr>
        <p:spPr>
          <a:xfrm>
            <a:off x="6675120" y="3986784"/>
            <a:ext cx="2011680" cy="329184"/>
          </a:xfrm>
          <a:prstGeom prst="rect">
            <a:avLst/>
          </a:prstGeom>
          <a:solidFill>
            <a:srgbClr val="FFFFFF"/>
          </a:solidFill>
          <a:ln w="19050">
            <a:solidFill>
              <a:srgbClr val="EA4335"/>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text</a:t>
            </a:r>
          </a:p>
        </p:txBody>
      </p:sp>
      <p:sp>
        <p:nvSpPr>
          <p:cNvPr id="26" name="Rectangle 25"/>
          <p:cNvSpPr/>
          <p:nvPr/>
        </p:nvSpPr>
        <p:spPr>
          <a:xfrm>
            <a:off x="6675120" y="4315968"/>
            <a:ext cx="2011680" cy="329184"/>
          </a:xfrm>
          <a:prstGeom prst="rect">
            <a:avLst/>
          </a:prstGeom>
          <a:solidFill>
            <a:srgbClr val="FFFFFF"/>
          </a:solidFill>
          <a:ln w="19050">
            <a:solidFill>
              <a:srgbClr val="EA4335"/>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status</a:t>
            </a:r>
          </a:p>
        </p:txBody>
      </p:sp>
      <p:sp>
        <p:nvSpPr>
          <p:cNvPr id="27" name="Rectangle 26"/>
          <p:cNvSpPr/>
          <p:nvPr/>
        </p:nvSpPr>
        <p:spPr>
          <a:xfrm>
            <a:off x="6675120" y="4645152"/>
            <a:ext cx="2011680" cy="329184"/>
          </a:xfrm>
          <a:prstGeom prst="rect">
            <a:avLst/>
          </a:prstGeom>
          <a:solidFill>
            <a:srgbClr val="FFFFFF"/>
          </a:solidFill>
          <a:ln w="19050">
            <a:solidFill>
              <a:srgbClr val="EA4335"/>
            </a:solidFill>
          </a:ln>
        </p:spPr>
        <p:txBody>
          <a:bodyPr rtlCol="0" anchor="ctr" wrap="square" lIns="27432" rIns="27432" tIns="27432" bIns="27432">
            <a:noAutofit/>
          </a:bodyPr>
          <a:lstStyle/>
          <a:p>
            <a:pPr rtl="0" algn="l" marL="0" indent="0">
              <a:lnSpc>
                <a:spcPct val="105000"/>
              </a:lnSpc>
              <a:spcBef>
                <a:spcPts val="0"/>
              </a:spcBef>
              <a:spcAft>
                <a:spcPts val="0"/>
              </a:spcAft>
              <a:buNone/>
            </a:pPr>
            <a:r>
              <a:rPr sz="1200" b="0" i="0" lang="he-IL">
                <a:solidFill>
                  <a:srgbClr val="212121"/>
                </a:solidFill>
              </a:rPr>
              <a:t>result</a:t>
            </a:r>
          </a:p>
        </p:txBody>
      </p:sp>
      <p:cxnSp>
        <p:nvCxnSpPr>
          <p:cNvPr id="28" name="Connector 27"/>
          <p:cNvCxnSpPr/>
          <p:nvPr/>
        </p:nvCxnSpPr>
        <p:spPr>
          <a:xfrm flipH="1">
            <a:off x="6172200" y="2331720"/>
            <a:ext cx="45720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611880" y="2377440"/>
            <a:ext cx="45720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5760" y="3931920"/>
            <a:ext cx="6126480" cy="1143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1" i="0" lang="he-IL">
                <a:solidFill>
                  <a:srgbClr val="212121"/>
                </a:solidFill>
              </a:rPr>
              <a:t>מפתח ראשי 🔑 מזהה שורה. מפתח זר 🔗 מצביע על טבלה אחרת.</a:t>
            </a:r>
          </a:p>
          <a:p>
            <a:pPr rtl="1" algn="r" marL="0" indent="0">
              <a:lnSpc>
                <a:spcPct val="110000"/>
              </a:lnSpc>
              <a:spcBef>
                <a:spcPts val="0"/>
              </a:spcBef>
              <a:spcAft>
                <a:spcPts val="0"/>
              </a:spcAft>
              <a:buNone/>
            </a:pPr>
            <a:r>
              <a:rPr sz="1400" b="0" i="0" lang="he-IL">
                <a:solidFill>
                  <a:srgbClr val="595959"/>
                </a:solidFill>
              </a:rPr>
              <a:t>jobs היא שורה לכל בקשה בתור: מה ביקשו, באיזה מצב, ומה התוצאה.</a:t>
            </a:r>
          </a:p>
          <a:p>
            <a:pPr rtl="1" algn="r" marL="0" indent="0">
              <a:lnSpc>
                <a:spcPct val="110000"/>
              </a:lnSpc>
              <a:spcBef>
                <a:spcPts val="0"/>
              </a:spcBef>
              <a:spcAft>
                <a:spcPts val="0"/>
              </a:spcAft>
              <a:buNone/>
            </a:pPr>
            <a:r>
              <a:rPr sz="1200" b="0" i="0" lang="he-IL">
                <a:solidFill>
                  <a:srgbClr val="595959"/>
                </a:solidFill>
              </a:rPr>
              <a:t>מוצגות העמודות העיקריות בלבד.</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SQL בשירות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498079" y="1371600"/>
            <a:ext cx="1280160" cy="6858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סינון</a:t>
            </a:r>
          </a:p>
        </p:txBody>
      </p:sp>
      <p:sp>
        <p:nvSpPr>
          <p:cNvPr id="6" name="Rectangle 5"/>
          <p:cNvSpPr/>
          <p:nvPr/>
        </p:nvSpPr>
        <p:spPr>
          <a:xfrm>
            <a:off x="2377440" y="1371600"/>
            <a:ext cx="5029200" cy="68580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WHERE category = ?</a:t>
            </a:r>
          </a:p>
        </p:txBody>
      </p:sp>
      <p:sp>
        <p:nvSpPr>
          <p:cNvPr id="7" name="TextBox 6"/>
          <p:cNvSpPr txBox="1"/>
          <p:nvPr/>
        </p:nvSpPr>
        <p:spPr>
          <a:xfrm>
            <a:off x="365760" y="1371600"/>
            <a:ext cx="192024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595959"/>
                </a:solidFill>
              </a:rPr>
              <a:t>החזר רק מוצרים מקטגוריה</a:t>
            </a:r>
          </a:p>
        </p:txBody>
      </p:sp>
      <p:sp>
        <p:nvSpPr>
          <p:cNvPr id="8" name="Rounded Rectangle 7"/>
          <p:cNvSpPr/>
          <p:nvPr/>
        </p:nvSpPr>
        <p:spPr>
          <a:xfrm>
            <a:off x="7498079" y="2240280"/>
            <a:ext cx="1280160" cy="11430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סיכום וקיבוץ</a:t>
            </a:r>
          </a:p>
        </p:txBody>
      </p:sp>
      <p:sp>
        <p:nvSpPr>
          <p:cNvPr id="9" name="Rectangle 8"/>
          <p:cNvSpPr/>
          <p:nvPr/>
        </p:nvSpPr>
        <p:spPr>
          <a:xfrm>
            <a:off x="2377440" y="2240280"/>
            <a:ext cx="5029200" cy="114300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SELECT product_name,</a:t>
            </a:r>
          </a:p>
          <a:p>
            <a:pPr rtl="0" algn="l" marL="0" indent="0">
              <a:lnSpc>
                <a:spcPct val="105000"/>
              </a:lnSpc>
              <a:spcBef>
                <a:spcPts val="0"/>
              </a:spcBef>
              <a:spcAft>
                <a:spcPts val="0"/>
              </a:spcAft>
              <a:buNone/>
            </a:pPr>
            <a:r>
              <a:rPr sz="1200" b="0" i="0" lang="he-IL">
                <a:solidFill>
                  <a:srgbClr val="212121"/>
                </a:solidFill>
              </a:rPr>
              <a:t>       SUM(quantity * unit_price) AS revenue</a:t>
            </a:r>
          </a:p>
          <a:p>
            <a:pPr rtl="0" algn="l" marL="0" indent="0">
              <a:lnSpc>
                <a:spcPct val="105000"/>
              </a:lnSpc>
              <a:spcBef>
                <a:spcPts val="0"/>
              </a:spcBef>
              <a:spcAft>
                <a:spcPts val="0"/>
              </a:spcAft>
              <a:buNone/>
            </a:pPr>
            <a:r>
              <a:rPr sz="1200" b="0" i="0" lang="he-IL">
                <a:solidFill>
                  <a:srgbClr val="212121"/>
                </a:solidFill>
              </a:rPr>
              <a:t>FROM orders GROUP BY product_name</a:t>
            </a:r>
          </a:p>
          <a:p>
            <a:pPr rtl="0" algn="l" marL="0" indent="0">
              <a:lnSpc>
                <a:spcPct val="105000"/>
              </a:lnSpc>
              <a:spcBef>
                <a:spcPts val="0"/>
              </a:spcBef>
              <a:spcAft>
                <a:spcPts val="0"/>
              </a:spcAft>
              <a:buNone/>
            </a:pPr>
            <a:r>
              <a:rPr sz="1200" b="0" i="0" lang="he-IL">
                <a:solidFill>
                  <a:srgbClr val="212121"/>
                </a:solidFill>
              </a:rPr>
              <a:t>ORDER BY revenue DESC LIMIT ?</a:t>
            </a:r>
          </a:p>
        </p:txBody>
      </p:sp>
      <p:sp>
        <p:nvSpPr>
          <p:cNvPr id="10" name="TextBox 9"/>
          <p:cNvSpPr txBox="1"/>
          <p:nvPr/>
        </p:nvSpPr>
        <p:spPr>
          <a:xfrm>
            <a:off x="365760" y="2240280"/>
            <a:ext cx="1920240" cy="11430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595959"/>
                </a:solidFill>
              </a:rPr>
              <a:t>הכנסות לכל מוצר, הגבוהה קודם</a:t>
            </a:r>
          </a:p>
        </p:txBody>
      </p:sp>
      <p:sp>
        <p:nvSpPr>
          <p:cNvPr id="11" name="Rounded Rectangle 10"/>
          <p:cNvSpPr/>
          <p:nvPr/>
        </p:nvSpPr>
        <p:spPr>
          <a:xfrm>
            <a:off x="7498079" y="3611880"/>
            <a:ext cx="1280160" cy="6858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הוספה</a:t>
            </a:r>
          </a:p>
        </p:txBody>
      </p:sp>
      <p:sp>
        <p:nvSpPr>
          <p:cNvPr id="12" name="Rectangle 11"/>
          <p:cNvSpPr/>
          <p:nvPr/>
        </p:nvSpPr>
        <p:spPr>
          <a:xfrm>
            <a:off x="2377440" y="3611880"/>
            <a:ext cx="5029200" cy="68580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INSERT INTO jobs (text) VALUES (?)</a:t>
            </a:r>
          </a:p>
        </p:txBody>
      </p:sp>
      <p:sp>
        <p:nvSpPr>
          <p:cNvPr id="13" name="TextBox 12"/>
          <p:cNvSpPr txBox="1"/>
          <p:nvPr/>
        </p:nvSpPr>
        <p:spPr>
          <a:xfrm>
            <a:off x="365760" y="3611880"/>
            <a:ext cx="192024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595959"/>
                </a:solidFill>
              </a:rPr>
              <a:t>בקשה חדשה לתור</a:t>
            </a:r>
          </a:p>
        </p:txBody>
      </p:sp>
      <p:sp>
        <p:nvSpPr>
          <p:cNvPr id="14" name="Rounded Rectangle 13"/>
          <p:cNvSpPr/>
          <p:nvPr/>
        </p:nvSpPr>
        <p:spPr>
          <a:xfrm>
            <a:off x="365760" y="4526280"/>
            <a:ext cx="8412480" cy="4572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מאמתים: המוצר הראשון חייב להיות Plant Pot Plus, בהכנסה 33,595.62.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שאילתה כמשפט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132320" y="1417320"/>
            <a:ext cx="1600200" cy="594360"/>
          </a:xfrm>
          <a:prstGeom prst="roundRect">
            <a:avLst>
              <a:gd name="adj" fmla="val 12000"/>
            </a:avLst>
          </a:prstGeom>
          <a:solidFill>
            <a:srgbClr val="4285F4"/>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FFFFFF"/>
                </a:solidFill>
              </a:rPr>
              <a:t>SELECT</a:t>
            </a:r>
          </a:p>
        </p:txBody>
      </p:sp>
      <p:sp>
        <p:nvSpPr>
          <p:cNvPr id="6" name="TextBox 5"/>
          <p:cNvSpPr txBox="1"/>
          <p:nvPr/>
        </p:nvSpPr>
        <p:spPr>
          <a:xfrm>
            <a:off x="7132320" y="2057400"/>
            <a:ext cx="1600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מה להציג</a:t>
            </a:r>
          </a:p>
        </p:txBody>
      </p:sp>
      <p:sp>
        <p:nvSpPr>
          <p:cNvPr id="7" name="Rounded Rectangle 6"/>
          <p:cNvSpPr/>
          <p:nvPr/>
        </p:nvSpPr>
        <p:spPr>
          <a:xfrm>
            <a:off x="5394960" y="1417320"/>
            <a:ext cx="1600200" cy="594360"/>
          </a:xfrm>
          <a:prstGeom prst="roundRect">
            <a:avLst>
              <a:gd name="adj" fmla="val 12000"/>
            </a:avLst>
          </a:prstGeom>
          <a:solidFill>
            <a:srgbClr val="FFAB40"/>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212121"/>
                </a:solidFill>
              </a:rPr>
              <a:t>FROM</a:t>
            </a:r>
          </a:p>
        </p:txBody>
      </p:sp>
      <p:sp>
        <p:nvSpPr>
          <p:cNvPr id="8" name="TextBox 7"/>
          <p:cNvSpPr txBox="1"/>
          <p:nvPr/>
        </p:nvSpPr>
        <p:spPr>
          <a:xfrm>
            <a:off x="5394960" y="2057400"/>
            <a:ext cx="1600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מאיזו טבלה</a:t>
            </a:r>
          </a:p>
        </p:txBody>
      </p:sp>
      <p:sp>
        <p:nvSpPr>
          <p:cNvPr id="9" name="Rounded Rectangle 8"/>
          <p:cNvSpPr/>
          <p:nvPr/>
        </p:nvSpPr>
        <p:spPr>
          <a:xfrm>
            <a:off x="3657600" y="1417320"/>
            <a:ext cx="1600200" cy="594360"/>
          </a:xfrm>
          <a:prstGeom prst="roundRect">
            <a:avLst>
              <a:gd name="adj" fmla="val 12000"/>
            </a:avLst>
          </a:prstGeom>
          <a:solidFill>
            <a:srgbClr val="0097A7"/>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FFFFFF"/>
                </a:solidFill>
              </a:rPr>
              <a:t>WHERE</a:t>
            </a:r>
          </a:p>
        </p:txBody>
      </p:sp>
      <p:sp>
        <p:nvSpPr>
          <p:cNvPr id="10" name="TextBox 9"/>
          <p:cNvSpPr txBox="1"/>
          <p:nvPr/>
        </p:nvSpPr>
        <p:spPr>
          <a:xfrm>
            <a:off x="3657600" y="2057400"/>
            <a:ext cx="1600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רק אם...</a:t>
            </a:r>
          </a:p>
        </p:txBody>
      </p:sp>
      <p:sp>
        <p:nvSpPr>
          <p:cNvPr id="11" name="Rounded Rectangle 10"/>
          <p:cNvSpPr/>
          <p:nvPr/>
        </p:nvSpPr>
        <p:spPr>
          <a:xfrm>
            <a:off x="1920240" y="1417320"/>
            <a:ext cx="1600200" cy="594360"/>
          </a:xfrm>
          <a:prstGeom prst="roundRect">
            <a:avLst>
              <a:gd name="adj" fmla="val 12000"/>
            </a:avLst>
          </a:prstGeom>
          <a:solidFill>
            <a:srgbClr val="34A853"/>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FFFFFF"/>
                </a:solidFill>
              </a:rPr>
              <a:t>GROUP BY</a:t>
            </a:r>
          </a:p>
        </p:txBody>
      </p:sp>
      <p:sp>
        <p:nvSpPr>
          <p:cNvPr id="12" name="TextBox 11"/>
          <p:cNvSpPr txBox="1"/>
          <p:nvPr/>
        </p:nvSpPr>
        <p:spPr>
          <a:xfrm>
            <a:off x="1920240" y="2057400"/>
            <a:ext cx="1600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לקבץ לפי</a:t>
            </a:r>
          </a:p>
        </p:txBody>
      </p:sp>
      <p:sp>
        <p:nvSpPr>
          <p:cNvPr id="13" name="Rounded Rectangle 12"/>
          <p:cNvSpPr/>
          <p:nvPr/>
        </p:nvSpPr>
        <p:spPr>
          <a:xfrm>
            <a:off x="182880" y="1417320"/>
            <a:ext cx="1600200" cy="594360"/>
          </a:xfrm>
          <a:prstGeom prst="roundRect">
            <a:avLst>
              <a:gd name="adj" fmla="val 12000"/>
            </a:avLst>
          </a:prstGeom>
          <a:solidFill>
            <a:srgbClr val="EA4335"/>
          </a:solidFill>
          <a:ln>
            <a:no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FFFFFF"/>
                </a:solidFill>
              </a:rPr>
              <a:t>ORDER BY</a:t>
            </a:r>
          </a:p>
        </p:txBody>
      </p:sp>
      <p:sp>
        <p:nvSpPr>
          <p:cNvPr id="14" name="TextBox 13"/>
          <p:cNvSpPr txBox="1"/>
          <p:nvPr/>
        </p:nvSpPr>
        <p:spPr>
          <a:xfrm>
            <a:off x="182880" y="2057400"/>
            <a:ext cx="16002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למיין</a:t>
            </a:r>
          </a:p>
        </p:txBody>
      </p:sp>
      <p:sp>
        <p:nvSpPr>
          <p:cNvPr id="15" name="Rectangle 14"/>
          <p:cNvSpPr/>
          <p:nvPr/>
        </p:nvSpPr>
        <p:spPr>
          <a:xfrm>
            <a:off x="365760" y="2697480"/>
            <a:ext cx="8412480" cy="14630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500" b="0" i="0" lang="he-IL">
                <a:solidFill>
                  <a:srgbClr val="212121"/>
                </a:solidFill>
              </a:rPr>
              <a:t>SELECT p.category, SUM(o.quantity * o.unit_price) AS revenue</a:t>
            </a:r>
          </a:p>
          <a:p>
            <a:pPr rtl="0" algn="l" marL="0" indent="0">
              <a:lnSpc>
                <a:spcPct val="105000"/>
              </a:lnSpc>
              <a:spcBef>
                <a:spcPts val="0"/>
              </a:spcBef>
              <a:spcAft>
                <a:spcPts val="0"/>
              </a:spcAft>
              <a:buNone/>
            </a:pPr>
            <a:r>
              <a:rPr sz="1500" b="0" i="0" lang="he-IL">
                <a:solidFill>
                  <a:srgbClr val="212121"/>
                </a:solidFill>
              </a:rPr>
              <a:t>FROM orders o JOIN products p USING (product_id)</a:t>
            </a:r>
          </a:p>
          <a:p>
            <a:pPr rtl="0" algn="l" marL="0" indent="0">
              <a:lnSpc>
                <a:spcPct val="105000"/>
              </a:lnSpc>
              <a:spcBef>
                <a:spcPts val="0"/>
              </a:spcBef>
              <a:spcAft>
                <a:spcPts val="0"/>
              </a:spcAft>
              <a:buNone/>
            </a:pPr>
            <a:r>
              <a:rPr sz="1500" b="0" i="0" lang="he-IL">
                <a:solidFill>
                  <a:srgbClr val="212121"/>
                </a:solidFill>
              </a:rPr>
              <a:t>GROUP BY p.category</a:t>
            </a:r>
          </a:p>
          <a:p>
            <a:pPr rtl="0" algn="l" marL="0" indent="0">
              <a:lnSpc>
                <a:spcPct val="105000"/>
              </a:lnSpc>
              <a:spcBef>
                <a:spcPts val="0"/>
              </a:spcBef>
              <a:spcAft>
                <a:spcPts val="0"/>
              </a:spcAft>
              <a:buNone/>
            </a:pPr>
            <a:r>
              <a:rPr sz="1500" b="0" i="0" lang="he-IL">
                <a:solidFill>
                  <a:srgbClr val="212121"/>
                </a:solidFill>
              </a:rPr>
              <a:t>ORDER BY revenue DESC;</a:t>
            </a:r>
          </a:p>
        </p:txBody>
      </p:sp>
      <p:sp>
        <p:nvSpPr>
          <p:cNvPr id="16" name="TextBox 15"/>
          <p:cNvSpPr txBox="1"/>
          <p:nvPr/>
        </p:nvSpPr>
        <p:spPr>
          <a:xfrm>
            <a:off x="365760" y="429768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4285F4"/>
                </a:solidFill>
              </a:rPr>
              <a:t>"הכנסה לכל קטגוריה, מהגבוהה לנמוכה."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JOIN: חיבור טבלאות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5669280" y="1261872"/>
            <a:ext cx="3099815"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orders</a:t>
            </a:r>
          </a:p>
        </p:txBody>
      </p:sp>
      <p:sp>
        <p:nvSpPr>
          <p:cNvPr id="6" name="Rectangle 5"/>
          <p:cNvSpPr/>
          <p:nvPr/>
        </p:nvSpPr>
        <p:spPr>
          <a:xfrm>
            <a:off x="5669280" y="1554480"/>
            <a:ext cx="1033271" cy="310896"/>
          </a:xfrm>
          <a:prstGeom prst="rect">
            <a:avLst/>
          </a:prstGeom>
          <a:solidFill>
            <a:srgbClr val="FFF0D9"/>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order</a:t>
            </a:r>
          </a:p>
        </p:txBody>
      </p:sp>
      <p:sp>
        <p:nvSpPr>
          <p:cNvPr id="7" name="Rectangle 6"/>
          <p:cNvSpPr/>
          <p:nvPr/>
        </p:nvSpPr>
        <p:spPr>
          <a:xfrm>
            <a:off x="6702552" y="1554480"/>
            <a:ext cx="1033271" cy="310896"/>
          </a:xfrm>
          <a:prstGeom prst="rect">
            <a:avLst/>
          </a:prstGeom>
          <a:solidFill>
            <a:srgbClr val="FFF0D9"/>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product_id</a:t>
            </a:r>
          </a:p>
        </p:txBody>
      </p:sp>
      <p:sp>
        <p:nvSpPr>
          <p:cNvPr id="8" name="Rectangle 7"/>
          <p:cNvSpPr/>
          <p:nvPr/>
        </p:nvSpPr>
        <p:spPr>
          <a:xfrm>
            <a:off x="7735824" y="1554480"/>
            <a:ext cx="1033271" cy="310896"/>
          </a:xfrm>
          <a:prstGeom prst="rect">
            <a:avLst/>
          </a:prstGeom>
          <a:solidFill>
            <a:srgbClr val="FFF0D9"/>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qty</a:t>
            </a:r>
          </a:p>
        </p:txBody>
      </p:sp>
      <p:sp>
        <p:nvSpPr>
          <p:cNvPr id="9" name="Rectangle 8"/>
          <p:cNvSpPr/>
          <p:nvPr/>
        </p:nvSpPr>
        <p:spPr>
          <a:xfrm>
            <a:off x="5669280" y="1865376"/>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O1</a:t>
            </a:r>
          </a:p>
        </p:txBody>
      </p:sp>
      <p:sp>
        <p:nvSpPr>
          <p:cNvPr id="10" name="Rectangle 9"/>
          <p:cNvSpPr/>
          <p:nvPr/>
        </p:nvSpPr>
        <p:spPr>
          <a:xfrm>
            <a:off x="6702552" y="1865376"/>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P002</a:t>
            </a:r>
          </a:p>
        </p:txBody>
      </p:sp>
      <p:sp>
        <p:nvSpPr>
          <p:cNvPr id="11" name="Rectangle 10"/>
          <p:cNvSpPr/>
          <p:nvPr/>
        </p:nvSpPr>
        <p:spPr>
          <a:xfrm>
            <a:off x="7735824" y="1865376"/>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2</a:t>
            </a:r>
          </a:p>
        </p:txBody>
      </p:sp>
      <p:sp>
        <p:nvSpPr>
          <p:cNvPr id="12" name="Rectangle 11"/>
          <p:cNvSpPr/>
          <p:nvPr/>
        </p:nvSpPr>
        <p:spPr>
          <a:xfrm>
            <a:off x="5669280" y="2176272"/>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O2</a:t>
            </a:r>
          </a:p>
        </p:txBody>
      </p:sp>
      <p:sp>
        <p:nvSpPr>
          <p:cNvPr id="13" name="Rectangle 12"/>
          <p:cNvSpPr/>
          <p:nvPr/>
        </p:nvSpPr>
        <p:spPr>
          <a:xfrm>
            <a:off x="6702552" y="2176272"/>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P001</a:t>
            </a:r>
          </a:p>
        </p:txBody>
      </p:sp>
      <p:sp>
        <p:nvSpPr>
          <p:cNvPr id="14" name="Rectangle 13"/>
          <p:cNvSpPr/>
          <p:nvPr/>
        </p:nvSpPr>
        <p:spPr>
          <a:xfrm>
            <a:off x="7735824" y="2176272"/>
            <a:ext cx="1033271"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a:t>
            </a:r>
          </a:p>
        </p:txBody>
      </p:sp>
      <p:sp>
        <p:nvSpPr>
          <p:cNvPr id="15" name="TextBox 14"/>
          <p:cNvSpPr txBox="1"/>
          <p:nvPr/>
        </p:nvSpPr>
        <p:spPr>
          <a:xfrm>
            <a:off x="5669280" y="2633472"/>
            <a:ext cx="274320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products</a:t>
            </a:r>
          </a:p>
        </p:txBody>
      </p:sp>
      <p:sp>
        <p:nvSpPr>
          <p:cNvPr id="16" name="Rectangle 15"/>
          <p:cNvSpPr/>
          <p:nvPr/>
        </p:nvSpPr>
        <p:spPr>
          <a:xfrm>
            <a:off x="5669280" y="2926080"/>
            <a:ext cx="1371600" cy="310896"/>
          </a:xfrm>
          <a:prstGeom prst="rect">
            <a:avLst/>
          </a:prstGeom>
          <a:solidFill>
            <a:srgbClr val="DDF2F5"/>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product_id</a:t>
            </a:r>
          </a:p>
        </p:txBody>
      </p:sp>
      <p:sp>
        <p:nvSpPr>
          <p:cNvPr id="17" name="Rectangle 16"/>
          <p:cNvSpPr/>
          <p:nvPr/>
        </p:nvSpPr>
        <p:spPr>
          <a:xfrm>
            <a:off x="7040880" y="2926080"/>
            <a:ext cx="1371600" cy="310896"/>
          </a:xfrm>
          <a:prstGeom prst="rect">
            <a:avLst/>
          </a:prstGeom>
          <a:solidFill>
            <a:srgbClr val="DDF2F5"/>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category</a:t>
            </a:r>
          </a:p>
        </p:txBody>
      </p:sp>
      <p:sp>
        <p:nvSpPr>
          <p:cNvPr id="18" name="Rectangle 17"/>
          <p:cNvSpPr/>
          <p:nvPr/>
        </p:nvSpPr>
        <p:spPr>
          <a:xfrm>
            <a:off x="5669280" y="3236976"/>
            <a:ext cx="1371600" cy="310896"/>
          </a:xfrm>
          <a:prstGeom prst="rect">
            <a:avLst/>
          </a:prstGeom>
          <a:solidFill>
            <a:srgbClr val="FFFFFF"/>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P001</a:t>
            </a:r>
          </a:p>
        </p:txBody>
      </p:sp>
      <p:sp>
        <p:nvSpPr>
          <p:cNvPr id="19" name="Rectangle 18"/>
          <p:cNvSpPr/>
          <p:nvPr/>
        </p:nvSpPr>
        <p:spPr>
          <a:xfrm>
            <a:off x="7040880" y="3236976"/>
            <a:ext cx="1371600" cy="310896"/>
          </a:xfrm>
          <a:prstGeom prst="rect">
            <a:avLst/>
          </a:prstGeom>
          <a:solidFill>
            <a:srgbClr val="FFFFFF"/>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Office</a:t>
            </a:r>
          </a:p>
        </p:txBody>
      </p:sp>
      <p:sp>
        <p:nvSpPr>
          <p:cNvPr id="20" name="Rectangle 19"/>
          <p:cNvSpPr/>
          <p:nvPr/>
        </p:nvSpPr>
        <p:spPr>
          <a:xfrm>
            <a:off x="5669280" y="3547872"/>
            <a:ext cx="1371600" cy="310896"/>
          </a:xfrm>
          <a:prstGeom prst="rect">
            <a:avLst/>
          </a:prstGeom>
          <a:solidFill>
            <a:srgbClr val="FFFFFF"/>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P002</a:t>
            </a:r>
          </a:p>
        </p:txBody>
      </p:sp>
      <p:sp>
        <p:nvSpPr>
          <p:cNvPr id="21" name="Rectangle 20"/>
          <p:cNvSpPr/>
          <p:nvPr/>
        </p:nvSpPr>
        <p:spPr>
          <a:xfrm>
            <a:off x="7040880" y="3547872"/>
            <a:ext cx="1371600" cy="310896"/>
          </a:xfrm>
          <a:prstGeom prst="rect">
            <a:avLst/>
          </a:prstGeom>
          <a:solidFill>
            <a:srgbClr val="FFFFFF"/>
          </a:solidFill>
          <a:ln w="19050">
            <a:solidFill>
              <a:srgbClr val="0097A7"/>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Tech</a:t>
            </a:r>
          </a:p>
        </p:txBody>
      </p:sp>
      <p:cxnSp>
        <p:nvCxnSpPr>
          <p:cNvPr id="22" name="Connector 21"/>
          <p:cNvCxnSpPr/>
          <p:nvPr/>
        </p:nvCxnSpPr>
        <p:spPr>
          <a:xfrm flipH="1">
            <a:off x="4023360" y="2377440"/>
            <a:ext cx="1554480" cy="54864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023360" y="3108960"/>
            <a:ext cx="1554480" cy="36576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5760" y="2176272"/>
            <a:ext cx="3291839"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תוצאת JOIN</a:t>
            </a:r>
          </a:p>
        </p:txBody>
      </p:sp>
      <p:sp>
        <p:nvSpPr>
          <p:cNvPr id="25" name="Rectangle 24"/>
          <p:cNvSpPr/>
          <p:nvPr/>
        </p:nvSpPr>
        <p:spPr>
          <a:xfrm>
            <a:off x="365760" y="2468880"/>
            <a:ext cx="1097280" cy="310896"/>
          </a:xfrm>
          <a:prstGeom prst="rect">
            <a:avLst/>
          </a:prstGeom>
          <a:solidFill>
            <a:srgbClr val="E1F4E6"/>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order</a:t>
            </a:r>
          </a:p>
        </p:txBody>
      </p:sp>
      <p:sp>
        <p:nvSpPr>
          <p:cNvPr id="26" name="Rectangle 25"/>
          <p:cNvSpPr/>
          <p:nvPr/>
        </p:nvSpPr>
        <p:spPr>
          <a:xfrm>
            <a:off x="1463040" y="2468880"/>
            <a:ext cx="1097280" cy="310896"/>
          </a:xfrm>
          <a:prstGeom prst="rect">
            <a:avLst/>
          </a:prstGeom>
          <a:solidFill>
            <a:srgbClr val="E1F4E6"/>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qty</a:t>
            </a:r>
          </a:p>
        </p:txBody>
      </p:sp>
      <p:sp>
        <p:nvSpPr>
          <p:cNvPr id="27" name="Rectangle 26"/>
          <p:cNvSpPr/>
          <p:nvPr/>
        </p:nvSpPr>
        <p:spPr>
          <a:xfrm>
            <a:off x="2560320" y="2468880"/>
            <a:ext cx="1097280" cy="310896"/>
          </a:xfrm>
          <a:prstGeom prst="rect">
            <a:avLst/>
          </a:prstGeom>
          <a:solidFill>
            <a:srgbClr val="E1F4E6"/>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category</a:t>
            </a:r>
          </a:p>
        </p:txBody>
      </p:sp>
      <p:sp>
        <p:nvSpPr>
          <p:cNvPr id="28" name="Rectangle 27"/>
          <p:cNvSpPr/>
          <p:nvPr/>
        </p:nvSpPr>
        <p:spPr>
          <a:xfrm>
            <a:off x="365760" y="2779776"/>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O1</a:t>
            </a:r>
          </a:p>
        </p:txBody>
      </p:sp>
      <p:sp>
        <p:nvSpPr>
          <p:cNvPr id="29" name="Rectangle 28"/>
          <p:cNvSpPr/>
          <p:nvPr/>
        </p:nvSpPr>
        <p:spPr>
          <a:xfrm>
            <a:off x="1463040" y="2779776"/>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2</a:t>
            </a:r>
          </a:p>
        </p:txBody>
      </p:sp>
      <p:sp>
        <p:nvSpPr>
          <p:cNvPr id="30" name="Rectangle 29"/>
          <p:cNvSpPr/>
          <p:nvPr/>
        </p:nvSpPr>
        <p:spPr>
          <a:xfrm>
            <a:off x="2560320" y="2779776"/>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Tech</a:t>
            </a:r>
          </a:p>
        </p:txBody>
      </p:sp>
      <p:sp>
        <p:nvSpPr>
          <p:cNvPr id="31" name="Rectangle 30"/>
          <p:cNvSpPr/>
          <p:nvPr/>
        </p:nvSpPr>
        <p:spPr>
          <a:xfrm>
            <a:off x="365760" y="3090672"/>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O2</a:t>
            </a:r>
          </a:p>
        </p:txBody>
      </p:sp>
      <p:sp>
        <p:nvSpPr>
          <p:cNvPr id="32" name="Rectangle 31"/>
          <p:cNvSpPr/>
          <p:nvPr/>
        </p:nvSpPr>
        <p:spPr>
          <a:xfrm>
            <a:off x="1463040" y="3090672"/>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a:t>
            </a:r>
          </a:p>
        </p:txBody>
      </p:sp>
      <p:sp>
        <p:nvSpPr>
          <p:cNvPr id="33" name="Rectangle 32"/>
          <p:cNvSpPr/>
          <p:nvPr/>
        </p:nvSpPr>
        <p:spPr>
          <a:xfrm>
            <a:off x="2560320" y="3090672"/>
            <a:ext cx="1097280" cy="310896"/>
          </a:xfrm>
          <a:prstGeom prst="rect">
            <a:avLst/>
          </a:prstGeom>
          <a:solidFill>
            <a:srgbClr val="FFFFFF"/>
          </a:solidFill>
          <a:ln w="19050">
            <a:solidFill>
              <a:srgbClr val="34A853"/>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Office</a:t>
            </a:r>
          </a:p>
        </p:txBody>
      </p:sp>
      <p:sp>
        <p:nvSpPr>
          <p:cNvPr id="34" name="TextBox 33"/>
          <p:cNvSpPr txBox="1"/>
          <p:nvPr/>
        </p:nvSpPr>
        <p:spPr>
          <a:xfrm>
            <a:off x="365760" y="42976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JOIN מצמיד לכל הזמנה את פרטי המוצר, לפי product_id.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JOIN שמכפיל שורות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6035040" y="1353312"/>
            <a:ext cx="256032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suppliers</a:t>
            </a:r>
          </a:p>
        </p:txBody>
      </p:sp>
      <p:sp>
        <p:nvSpPr>
          <p:cNvPr id="6" name="Rectangle 5"/>
          <p:cNvSpPr/>
          <p:nvPr/>
        </p:nvSpPr>
        <p:spPr>
          <a:xfrm>
            <a:off x="6035040" y="1645920"/>
            <a:ext cx="1280160" cy="310896"/>
          </a:xfrm>
          <a:prstGeom prst="rect">
            <a:avLst/>
          </a:prstGeom>
          <a:solidFill>
            <a:srgbClr val="E3EEFF"/>
          </a:solidFill>
          <a:ln w="19050">
            <a:solidFill>
              <a:srgbClr val="4285F4"/>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supplier</a:t>
            </a:r>
          </a:p>
        </p:txBody>
      </p:sp>
      <p:sp>
        <p:nvSpPr>
          <p:cNvPr id="7" name="Rectangle 6"/>
          <p:cNvSpPr/>
          <p:nvPr/>
        </p:nvSpPr>
        <p:spPr>
          <a:xfrm>
            <a:off x="7315200" y="1645920"/>
            <a:ext cx="1280160" cy="310896"/>
          </a:xfrm>
          <a:prstGeom prst="rect">
            <a:avLst/>
          </a:prstGeom>
          <a:solidFill>
            <a:srgbClr val="E3EEFF"/>
          </a:solidFill>
          <a:ln w="19050">
            <a:solidFill>
              <a:srgbClr val="4285F4"/>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paid</a:t>
            </a:r>
          </a:p>
        </p:txBody>
      </p:sp>
      <p:sp>
        <p:nvSpPr>
          <p:cNvPr id="8" name="Rectangle 7"/>
          <p:cNvSpPr/>
          <p:nvPr/>
        </p:nvSpPr>
        <p:spPr>
          <a:xfrm>
            <a:off x="6035040" y="1956816"/>
            <a:ext cx="1280160" cy="310896"/>
          </a:xfrm>
          <a:prstGeom prst="rect">
            <a:avLst/>
          </a:prstGeom>
          <a:solidFill>
            <a:srgbClr val="FFFFFF"/>
          </a:solidFill>
          <a:ln w="19050">
            <a:solidFill>
              <a:srgbClr val="4285F4"/>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9" name="Rectangle 8"/>
          <p:cNvSpPr/>
          <p:nvPr/>
        </p:nvSpPr>
        <p:spPr>
          <a:xfrm>
            <a:off x="7315200" y="1956816"/>
            <a:ext cx="1280160" cy="310896"/>
          </a:xfrm>
          <a:prstGeom prst="rect">
            <a:avLst/>
          </a:prstGeom>
          <a:solidFill>
            <a:srgbClr val="FFFFFF"/>
          </a:solidFill>
          <a:ln w="19050">
            <a:solidFill>
              <a:srgbClr val="4285F4"/>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100</a:t>
            </a:r>
          </a:p>
        </p:txBody>
      </p:sp>
      <p:sp>
        <p:nvSpPr>
          <p:cNvPr id="10" name="TextBox 9"/>
          <p:cNvSpPr txBox="1"/>
          <p:nvPr/>
        </p:nvSpPr>
        <p:spPr>
          <a:xfrm>
            <a:off x="6035040" y="2542032"/>
            <a:ext cx="2560320"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products</a:t>
            </a:r>
          </a:p>
        </p:txBody>
      </p:sp>
      <p:sp>
        <p:nvSpPr>
          <p:cNvPr id="11" name="Rectangle 10"/>
          <p:cNvSpPr/>
          <p:nvPr/>
        </p:nvSpPr>
        <p:spPr>
          <a:xfrm>
            <a:off x="6035040" y="2834640"/>
            <a:ext cx="1280160" cy="310896"/>
          </a:xfrm>
          <a:prstGeom prst="rect">
            <a:avLst/>
          </a:prstGeom>
          <a:solidFill>
            <a:srgbClr val="FFF0D9"/>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supplier</a:t>
            </a:r>
          </a:p>
        </p:txBody>
      </p:sp>
      <p:sp>
        <p:nvSpPr>
          <p:cNvPr id="12" name="Rectangle 11"/>
          <p:cNvSpPr/>
          <p:nvPr/>
        </p:nvSpPr>
        <p:spPr>
          <a:xfrm>
            <a:off x="7315200" y="2834640"/>
            <a:ext cx="1280160" cy="310896"/>
          </a:xfrm>
          <a:prstGeom prst="rect">
            <a:avLst/>
          </a:prstGeom>
          <a:solidFill>
            <a:srgbClr val="FFF0D9"/>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product</a:t>
            </a:r>
          </a:p>
        </p:txBody>
      </p:sp>
      <p:sp>
        <p:nvSpPr>
          <p:cNvPr id="13" name="Rectangle 12"/>
          <p:cNvSpPr/>
          <p:nvPr/>
        </p:nvSpPr>
        <p:spPr>
          <a:xfrm>
            <a:off x="6035040" y="3145536"/>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14" name="Rectangle 13"/>
          <p:cNvSpPr/>
          <p:nvPr/>
        </p:nvSpPr>
        <p:spPr>
          <a:xfrm>
            <a:off x="7315200" y="3145536"/>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A</a:t>
            </a:r>
          </a:p>
        </p:txBody>
      </p:sp>
      <p:sp>
        <p:nvSpPr>
          <p:cNvPr id="15" name="Rectangle 14"/>
          <p:cNvSpPr/>
          <p:nvPr/>
        </p:nvSpPr>
        <p:spPr>
          <a:xfrm>
            <a:off x="6035040" y="3456432"/>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16" name="Rectangle 15"/>
          <p:cNvSpPr/>
          <p:nvPr/>
        </p:nvSpPr>
        <p:spPr>
          <a:xfrm>
            <a:off x="7315200" y="3456432"/>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B</a:t>
            </a:r>
          </a:p>
        </p:txBody>
      </p:sp>
      <p:sp>
        <p:nvSpPr>
          <p:cNvPr id="17" name="Rectangle 16"/>
          <p:cNvSpPr/>
          <p:nvPr/>
        </p:nvSpPr>
        <p:spPr>
          <a:xfrm>
            <a:off x="6035040" y="3767328"/>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18" name="Rectangle 17"/>
          <p:cNvSpPr/>
          <p:nvPr/>
        </p:nvSpPr>
        <p:spPr>
          <a:xfrm>
            <a:off x="7315200" y="3767328"/>
            <a:ext cx="1280160" cy="310896"/>
          </a:xfrm>
          <a:prstGeom prst="rect">
            <a:avLst/>
          </a:prstGeom>
          <a:solidFill>
            <a:srgbClr val="FFFFFF"/>
          </a:solidFill>
          <a:ln w="19050">
            <a:solidFill>
              <a:srgbClr val="FFAB40"/>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C</a:t>
            </a:r>
          </a:p>
        </p:txBody>
      </p:sp>
      <p:sp>
        <p:nvSpPr>
          <p:cNvPr id="19" name="TextBox 18"/>
          <p:cNvSpPr txBox="1"/>
          <p:nvPr/>
        </p:nvSpPr>
        <p:spPr>
          <a:xfrm>
            <a:off x="365760" y="2267712"/>
            <a:ext cx="3291839" cy="274320"/>
          </a:xfrm>
          <a:prstGeom prst="rect">
            <a:avLst/>
          </a:prstGeom>
          <a:noFill/>
        </p:spPr>
        <p:txBody>
          <a:bodyPr wrap="square" lIns="73152" rIns="73152" tIns="73152" bIns="73152" anchor="t">
            <a:noAutofit/>
          </a:bodyPr>
          <a:lstStyle/>
          <a:p>
            <a:pPr rtl="0" algn="l" marL="0" indent="0">
              <a:lnSpc>
                <a:spcPct val="110000"/>
              </a:lnSpc>
              <a:spcBef>
                <a:spcPts val="0"/>
              </a:spcBef>
              <a:spcAft>
                <a:spcPts val="0"/>
              </a:spcAft>
              <a:buNone/>
            </a:pPr>
            <a:r>
              <a:rPr sz="1200" b="1" i="0" lang="he-IL">
                <a:solidFill>
                  <a:srgbClr val="595959"/>
                </a:solidFill>
              </a:rPr>
              <a:t>אחרי JOIN</a:t>
            </a:r>
          </a:p>
        </p:txBody>
      </p:sp>
      <p:sp>
        <p:nvSpPr>
          <p:cNvPr id="20" name="Rectangle 19"/>
          <p:cNvSpPr/>
          <p:nvPr/>
        </p:nvSpPr>
        <p:spPr>
          <a:xfrm>
            <a:off x="365760" y="2560320"/>
            <a:ext cx="1097280" cy="310896"/>
          </a:xfrm>
          <a:prstGeom prst="rect">
            <a:avLst/>
          </a:prstGeom>
          <a:solidFill>
            <a:srgbClr val="FDE3E0"/>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supplier</a:t>
            </a:r>
          </a:p>
        </p:txBody>
      </p:sp>
      <p:sp>
        <p:nvSpPr>
          <p:cNvPr id="21" name="Rectangle 20"/>
          <p:cNvSpPr/>
          <p:nvPr/>
        </p:nvSpPr>
        <p:spPr>
          <a:xfrm>
            <a:off x="1463040" y="2560320"/>
            <a:ext cx="1097280" cy="310896"/>
          </a:xfrm>
          <a:prstGeom prst="rect">
            <a:avLst/>
          </a:prstGeom>
          <a:solidFill>
            <a:srgbClr val="FDE3E0"/>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product</a:t>
            </a:r>
          </a:p>
        </p:txBody>
      </p:sp>
      <p:sp>
        <p:nvSpPr>
          <p:cNvPr id="22" name="Rectangle 21"/>
          <p:cNvSpPr/>
          <p:nvPr/>
        </p:nvSpPr>
        <p:spPr>
          <a:xfrm>
            <a:off x="2560320" y="2560320"/>
            <a:ext cx="1097280" cy="310896"/>
          </a:xfrm>
          <a:prstGeom prst="rect">
            <a:avLst/>
          </a:prstGeom>
          <a:solidFill>
            <a:srgbClr val="FDE3E0"/>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1" i="0" lang="he-IL">
                <a:solidFill>
                  <a:srgbClr val="212121"/>
                </a:solidFill>
              </a:rPr>
              <a:t>paid</a:t>
            </a:r>
          </a:p>
        </p:txBody>
      </p:sp>
      <p:sp>
        <p:nvSpPr>
          <p:cNvPr id="23" name="Rectangle 22"/>
          <p:cNvSpPr/>
          <p:nvPr/>
        </p:nvSpPr>
        <p:spPr>
          <a:xfrm>
            <a:off x="365760" y="2871215"/>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24" name="Rectangle 23"/>
          <p:cNvSpPr/>
          <p:nvPr/>
        </p:nvSpPr>
        <p:spPr>
          <a:xfrm>
            <a:off x="1463040" y="2871215"/>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A</a:t>
            </a:r>
          </a:p>
        </p:txBody>
      </p:sp>
      <p:sp>
        <p:nvSpPr>
          <p:cNvPr id="25" name="Rectangle 24"/>
          <p:cNvSpPr/>
          <p:nvPr/>
        </p:nvSpPr>
        <p:spPr>
          <a:xfrm>
            <a:off x="2560320" y="2871215"/>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100</a:t>
            </a:r>
          </a:p>
        </p:txBody>
      </p:sp>
      <p:sp>
        <p:nvSpPr>
          <p:cNvPr id="26" name="Rectangle 25"/>
          <p:cNvSpPr/>
          <p:nvPr/>
        </p:nvSpPr>
        <p:spPr>
          <a:xfrm>
            <a:off x="365760" y="3182112"/>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27" name="Rectangle 26"/>
          <p:cNvSpPr/>
          <p:nvPr/>
        </p:nvSpPr>
        <p:spPr>
          <a:xfrm>
            <a:off x="1463040" y="3182112"/>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B</a:t>
            </a:r>
          </a:p>
        </p:txBody>
      </p:sp>
      <p:sp>
        <p:nvSpPr>
          <p:cNvPr id="28" name="Rectangle 27"/>
          <p:cNvSpPr/>
          <p:nvPr/>
        </p:nvSpPr>
        <p:spPr>
          <a:xfrm>
            <a:off x="2560320" y="3182112"/>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100</a:t>
            </a:r>
          </a:p>
        </p:txBody>
      </p:sp>
      <p:sp>
        <p:nvSpPr>
          <p:cNvPr id="29" name="Rectangle 28"/>
          <p:cNvSpPr/>
          <p:nvPr/>
        </p:nvSpPr>
        <p:spPr>
          <a:xfrm>
            <a:off x="365760" y="3493008"/>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S1</a:t>
            </a:r>
          </a:p>
        </p:txBody>
      </p:sp>
      <p:sp>
        <p:nvSpPr>
          <p:cNvPr id="30" name="Rectangle 29"/>
          <p:cNvSpPr/>
          <p:nvPr/>
        </p:nvSpPr>
        <p:spPr>
          <a:xfrm>
            <a:off x="1463040" y="3493008"/>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C</a:t>
            </a:r>
          </a:p>
        </p:txBody>
      </p:sp>
      <p:sp>
        <p:nvSpPr>
          <p:cNvPr id="31" name="Rectangle 30"/>
          <p:cNvSpPr/>
          <p:nvPr/>
        </p:nvSpPr>
        <p:spPr>
          <a:xfrm>
            <a:off x="2560320" y="3493008"/>
            <a:ext cx="1097280" cy="310896"/>
          </a:xfrm>
          <a:prstGeom prst="rect">
            <a:avLst/>
          </a:prstGeom>
          <a:solidFill>
            <a:srgbClr val="FFFFFF"/>
          </a:solidFill>
          <a:ln w="19050">
            <a:solidFill>
              <a:srgbClr val="EA4335"/>
            </a:solidFill>
          </a:ln>
        </p:spPr>
        <p:txBody>
          <a:bodyPr rtlCol="0" anchor="ctr" wrap="square" lIns="18288" rIns="18288" tIns="18288" bIns="18288">
            <a:noAutofit/>
          </a:bodyPr>
          <a:lstStyle/>
          <a:p>
            <a:pPr rtl="0" algn="ctr" marL="0" indent="0">
              <a:lnSpc>
                <a:spcPct val="105000"/>
              </a:lnSpc>
              <a:spcBef>
                <a:spcPts val="0"/>
              </a:spcBef>
              <a:spcAft>
                <a:spcPts val="0"/>
              </a:spcAft>
              <a:buNone/>
            </a:pPr>
            <a:r>
              <a:rPr sz="1200" b="0" i="0" lang="he-IL">
                <a:solidFill>
                  <a:srgbClr val="212121"/>
                </a:solidFill>
              </a:rPr>
              <a:t>100</a:t>
            </a:r>
          </a:p>
        </p:txBody>
      </p:sp>
      <p:sp>
        <p:nvSpPr>
          <p:cNvPr id="32" name="TextBox 31"/>
          <p:cNvSpPr txBox="1"/>
          <p:nvPr/>
        </p:nvSpPr>
        <p:spPr>
          <a:xfrm>
            <a:off x="365760" y="457200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EA4335"/>
                </a:solidFill>
              </a:rPr>
              <a:t>סכום paid אחרי JOIN = 300, אבל האמת היא 100. שורה אחת נהפכה לשלוש.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איך מאמתים שאילתה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ספירת שורות</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כמה שורות היו לפני ואחרי JOIN? אם גדל, יש הכפלה.</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סכום מוכר</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האם הסכום הכולל זהה למה שאנו יודעים (למשל מ־pandas)?</a:t>
            </a:r>
          </a:p>
        </p:txBody>
      </p:sp>
      <p:sp>
        <p:nvSpPr>
          <p:cNvPr id="13" name="Rounded Rectangle 12"/>
          <p:cNvSpPr/>
          <p:nvPr/>
        </p:nvSpPr>
        <p:spPr>
          <a:xfrm>
            <a:off x="320039" y="1463040"/>
            <a:ext cx="2697480" cy="31089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דוגמה קטנה</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בודקים שורה אחת או שתיים ביד.</a:t>
            </a:r>
          </a:p>
        </p:txBody>
      </p:sp>
      <p:sp>
        <p:nvSpPr>
          <p:cNvPr id="17"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5: בדיקה מול תוצאה ידועה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הזרקת SQL והסימן ?</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737360"/>
            <a:ext cx="4114800" cy="228600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name = "x' OR '1'='1"</a:t>
            </a:r>
          </a:p>
          <a:p>
            <a:pPr rtl="0" algn="l" marL="0" indent="0">
              <a:lnSpc>
                <a:spcPct val="105000"/>
              </a:lnSpc>
              <a:spcBef>
                <a:spcPts val="0"/>
              </a:spcBef>
              <a:spcAft>
                <a:spcPts val="0"/>
              </a:spcAft>
              <a:buNone/>
            </a:pPr>
            <a:r>
              <a:rPr sz="1200" b="0" i="0" lang="he-IL">
                <a:solidFill>
                  <a:srgbClr val="212121"/>
                </a:solidFill>
              </a:rPr>
              <a:t>sql = "SELECT * FROM products</a:t>
            </a:r>
          </a:p>
          <a:p>
            <a:pPr rtl="0" algn="l" marL="0" indent="0">
              <a:lnSpc>
                <a:spcPct val="105000"/>
              </a:lnSpc>
              <a:spcBef>
                <a:spcPts val="0"/>
              </a:spcBef>
              <a:spcAft>
                <a:spcPts val="0"/>
              </a:spcAft>
              <a:buNone/>
            </a:pPr>
            <a:r>
              <a:rPr sz="1200" b="0" i="0" lang="he-IL">
                <a:solidFill>
                  <a:srgbClr val="212121"/>
                </a:solidFill>
              </a:rPr>
              <a:t>        WHERE name = ?"</a:t>
            </a:r>
          </a:p>
          <a:p>
            <a:pPr rtl="0" algn="l" marL="0" indent="0">
              <a:lnSpc>
                <a:spcPct val="105000"/>
              </a:lnSpc>
              <a:spcBef>
                <a:spcPts val="0"/>
              </a:spcBef>
              <a:spcAft>
                <a:spcPts val="0"/>
              </a:spcAft>
              <a:buNone/>
            </a:pPr>
            <a:r>
              <a:rPr sz="1200" b="0" i="0" lang="he-IL">
                <a:solidFill>
                  <a:srgbClr val="212121"/>
                </a:solidFill>
              </a:rPr>
              <a:t>con.execute(sql, (name,))</a:t>
            </a:r>
          </a:p>
          <a:p>
            <a:pPr rtl="0" algn="l" marL="0" indent="0">
              <a:lnSpc>
                <a:spcPct val="105000"/>
              </a:lnSpc>
              <a:spcBef>
                <a:spcPts val="0"/>
              </a:spcBef>
              <a:spcAft>
                <a:spcPts val="0"/>
              </a:spcAft>
              <a:buNone/>
            </a:pPr>
            <a:r>
              <a:rPr sz="1200" b="0" i="0" lang="he-IL">
                <a:solidFill>
                  <a:srgbClr val="212121"/>
                </a:solidFill>
              </a:rPr>
              <a:t># the value is data, never code: 0 rows</a:t>
            </a:r>
          </a:p>
        </p:txBody>
      </p:sp>
      <p:sp>
        <p:nvSpPr>
          <p:cNvPr id="6" name="Rectangle 5"/>
          <p:cNvSpPr/>
          <p:nvPr/>
        </p:nvSpPr>
        <p:spPr>
          <a:xfrm>
            <a:off x="4663440" y="1737360"/>
            <a:ext cx="4114800" cy="2286000"/>
          </a:xfrm>
          <a:prstGeom prst="rect">
            <a:avLst/>
          </a:prstGeom>
          <a:solidFill>
            <a:srgbClr val="FFF0D9"/>
          </a:solidFill>
          <a:ln w="19050">
            <a:solidFill>
              <a:srgbClr val="FFAB40"/>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name = "x' OR '1'='1"</a:t>
            </a:r>
          </a:p>
          <a:p>
            <a:pPr rtl="0" algn="l" marL="0" indent="0">
              <a:lnSpc>
                <a:spcPct val="105000"/>
              </a:lnSpc>
              <a:spcBef>
                <a:spcPts val="0"/>
              </a:spcBef>
              <a:spcAft>
                <a:spcPts val="0"/>
              </a:spcAft>
              <a:buNone/>
            </a:pPr>
            <a:r>
              <a:rPr sz="1200" b="0" i="0" lang="he-IL">
                <a:solidFill>
                  <a:srgbClr val="212121"/>
                </a:solidFill>
              </a:rPr>
              <a:t>sql = f"SELECT * FROM products</a:t>
            </a:r>
          </a:p>
          <a:p>
            <a:pPr rtl="0" algn="l" marL="0" indent="0">
              <a:lnSpc>
                <a:spcPct val="105000"/>
              </a:lnSpc>
              <a:spcBef>
                <a:spcPts val="0"/>
              </a:spcBef>
              <a:spcAft>
                <a:spcPts val="0"/>
              </a:spcAft>
              <a:buNone/>
            </a:pPr>
            <a:r>
              <a:rPr sz="1200" b="0" i="0" lang="he-IL">
                <a:solidFill>
                  <a:srgbClr val="212121"/>
                </a:solidFill>
              </a:rPr>
              <a:t>        WHERE name = '{name}'"</a:t>
            </a:r>
          </a:p>
          <a:p>
            <a:pPr rtl="0" algn="l" marL="0" indent="0">
              <a:lnSpc>
                <a:spcPct val="105000"/>
              </a:lnSpc>
              <a:spcBef>
                <a:spcPts val="0"/>
              </a:spcBef>
              <a:spcAft>
                <a:spcPts val="0"/>
              </a:spcAft>
              <a:buNone/>
            </a:pPr>
            <a:r>
              <a:rPr sz="1200" b="0" i="0" lang="he-IL">
                <a:solidFill>
                  <a:srgbClr val="212121"/>
                </a:solidFill>
              </a:rPr>
              <a:t># runs: WHERE name = 'x' OR '1'='1'</a:t>
            </a:r>
          </a:p>
          <a:p>
            <a:pPr rtl="0" algn="l" marL="0" indent="0">
              <a:lnSpc>
                <a:spcPct val="105000"/>
              </a:lnSpc>
              <a:spcBef>
                <a:spcPts val="0"/>
              </a:spcBef>
              <a:spcAft>
                <a:spcPts val="0"/>
              </a:spcAft>
              <a:buNone/>
            </a:pPr>
            <a:r>
              <a:rPr sz="1200" b="0" i="0" lang="he-IL">
                <a:solidFill>
                  <a:srgbClr val="212121"/>
                </a:solidFill>
              </a:rPr>
              <a:t># always true: all 200 rows come back</a:t>
            </a:r>
          </a:p>
        </p:txBody>
      </p:sp>
      <p:sp>
        <p:nvSpPr>
          <p:cNvPr id="7" name="Rounded Rectangle 6"/>
          <p:cNvSpPr/>
          <p:nvPr/>
        </p:nvSpPr>
        <p:spPr>
          <a:xfrm>
            <a:off x="4663440" y="1353312"/>
            <a:ext cx="4114800" cy="329184"/>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בעייתי: מדביקים לטקסט</a:t>
            </a:r>
          </a:p>
        </p:txBody>
      </p:sp>
      <p:sp>
        <p:nvSpPr>
          <p:cNvPr id="8" name="Rounded Rectangle 7"/>
          <p:cNvSpPr/>
          <p:nvPr/>
        </p:nvSpPr>
        <p:spPr>
          <a:xfrm>
            <a:off x="365760" y="1353312"/>
            <a:ext cx="4114800" cy="329184"/>
          </a:xfrm>
          <a:prstGeom prst="roundRect">
            <a:avLst>
              <a:gd name="adj" fmla="val 12000"/>
            </a:avLst>
          </a:prstGeom>
          <a:solidFill>
            <a:srgbClr val="FFFFFF"/>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בטוח: הערך עובר בנפרד</a:t>
            </a:r>
          </a:p>
        </p:txBody>
      </p:sp>
      <p:sp>
        <p:nvSpPr>
          <p:cNvPr id="9" name="TextBox 8"/>
          <p:cNvSpPr txBox="1"/>
          <p:nvPr/>
        </p:nvSpPr>
        <p:spPr>
          <a:xfrm>
            <a:off x="365760" y="4160520"/>
            <a:ext cx="8412480" cy="8686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השאילתה קבועה, והערכים עוברים בנפרד.</a:t>
            </a:r>
          </a:p>
          <a:p>
            <a:pPr rtl="1" algn="ctr" marL="0" indent="0">
              <a:lnSpc>
                <a:spcPct val="110000"/>
              </a:lnSpc>
              <a:spcBef>
                <a:spcPts val="0"/>
              </a:spcBef>
              <a:spcAft>
                <a:spcPts val="0"/>
              </a:spcAft>
              <a:buNone/>
            </a:pPr>
            <a:r>
              <a:rPr sz="1900" b="1" i="0" lang="he-IL">
                <a:solidFill>
                  <a:srgbClr val="212121"/>
                </a:solidFill>
              </a:rPr>
              <a:t>כך גם בקוד ש־AI כתב: אם הערך מודבק לטקסט השאילתה, לא סומכים.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ב׳ :</a:t>
            </a:r>
            <a:r>
              <a:rPr sz="3000" b="1" i="0" lang="he-IL">
                <a:solidFill>
                  <a:srgbClr val="212121"/>
                </a:solidFill>
              </a:rPr>
              <a:t>סכמה בעזרת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173736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Design a SQLite schema for an online store with products, suppliers,</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orders and a queue of background jobs. For each table list the columns,</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the primary key and the foreign keys. Avoid duplicated data.</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Then write the CREATE TABLE statements.</a:t>
            </a:r>
          </a:p>
        </p:txBody>
      </p:sp>
      <p:sp>
        <p:nvSpPr>
          <p:cNvPr id="6" name="Rounded Rectangle 5"/>
          <p:cNvSpPr/>
          <p:nvPr/>
        </p:nvSpPr>
        <p:spPr>
          <a:xfrm>
            <a:off x="6172200" y="3383280"/>
            <a:ext cx="2697480" cy="137160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4285F4"/>
                </a:solidFill>
              </a:rPr>
              <a:t>אין כפילות</a:t>
            </a:r>
          </a:p>
          <a:p>
            <a:pPr rtl="1" algn="ctr" marL="0" indent="0">
              <a:lnSpc>
                <a:spcPct val="105000"/>
              </a:lnSpc>
              <a:spcBef>
                <a:spcPts val="0"/>
              </a:spcBef>
              <a:spcAft>
                <a:spcPts val="0"/>
              </a:spcAft>
              <a:buNone/>
            </a:pPr>
            <a:r>
              <a:rPr sz="1400" b="0" i="0" lang="he-IL">
                <a:solidFill>
                  <a:srgbClr val="212121"/>
                </a:solidFill>
              </a:rPr>
              <a:t>כל עובדה במקום אחד</a:t>
            </a:r>
          </a:p>
        </p:txBody>
      </p:sp>
      <p:sp>
        <p:nvSpPr>
          <p:cNvPr id="7" name="Rounded Rectangle 6"/>
          <p:cNvSpPr/>
          <p:nvPr/>
        </p:nvSpPr>
        <p:spPr>
          <a:xfrm>
            <a:off x="3246120" y="3383280"/>
            <a:ext cx="2697480" cy="137160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FFAB40"/>
                </a:solidFill>
              </a:rPr>
              <a:t>מפתחות</a:t>
            </a:r>
          </a:p>
          <a:p>
            <a:pPr rtl="1" algn="ctr" marL="0" indent="0">
              <a:lnSpc>
                <a:spcPct val="105000"/>
              </a:lnSpc>
              <a:spcBef>
                <a:spcPts val="0"/>
              </a:spcBef>
              <a:spcAft>
                <a:spcPts val="0"/>
              </a:spcAft>
              <a:buNone/>
            </a:pPr>
            <a:r>
              <a:rPr sz="1400" b="0" i="0" lang="he-IL">
                <a:solidFill>
                  <a:srgbClr val="212121"/>
                </a:solidFill>
              </a:rPr>
              <a:t>ראשי וזר לכל טבלה</a:t>
            </a:r>
          </a:p>
        </p:txBody>
      </p:sp>
      <p:sp>
        <p:nvSpPr>
          <p:cNvPr id="8" name="Rounded Rectangle 7"/>
          <p:cNvSpPr/>
          <p:nvPr/>
        </p:nvSpPr>
        <p:spPr>
          <a:xfrm>
            <a:off x="320039" y="3383280"/>
            <a:ext cx="2697480" cy="137160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34A853"/>
                </a:solidFill>
              </a:rPr>
              <a:t>מריצים</a:t>
            </a:r>
          </a:p>
          <a:p>
            <a:pPr rtl="1" algn="ctr" marL="0" indent="0">
              <a:lnSpc>
                <a:spcPct val="105000"/>
              </a:lnSpc>
              <a:spcBef>
                <a:spcPts val="0"/>
              </a:spcBef>
              <a:spcAft>
                <a:spcPts val="0"/>
              </a:spcAft>
              <a:buNone/>
            </a:pPr>
            <a:r>
              <a:rPr sz="1400" b="0" i="0" lang="he-IL">
                <a:solidFill>
                  <a:srgbClr val="212121"/>
                </a:solidFill>
              </a:rPr>
              <a:t>CREATE TABLE ונתוני דוגמה</a:t>
            </a:r>
          </a:p>
        </p:txBody>
      </p:sp>
      <p:sp>
        <p:nvSpPr>
          <p:cNvPr id="9"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3: מבנה פרומפט אפקטיבי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HM_07.ipynb. חלק ב׳: SQL.</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HM_07.ipynb. חלק ב׳: SQL</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ל־HM_07.ipynb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ב׳</a:t>
            </a:r>
            <a:r>
              <a:rPr sz="3000" b="0" i="0" lang="he-IL">
                <a:solidFill>
                  <a:srgbClr val="212121"/>
                </a:solidFill>
              </a:rPr>
              <a:t> : שואלים את המסד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לכתוב שאילתות SQL על נתוני החנות, ולבדוק שהן נכונות.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שאילתות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q_slow_suppliers, q_category_revenue: JOIN ו־GROUP BY</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פרמטר ?</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q_top_products: את N מעבירים ב־LIMIT ?</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שתי מלכודות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join_multiplies, find_products_safe: הכפלה והזרקה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בכל תא בדיקה: קודם תחזית. אם הזמן קצר, שלב 5 (הזרקת SQL) עובר לבית. הסכמה והנתונים כבר טעונים.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ב׳</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הכנסה לקטגוריה</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Office ראשונה: 185,100. אחריה Home: 182,963</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מוצר מוביל</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Plant Pot Plus ראשון, עם 33,595.62</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שתי מלכודות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JOIN: סכום 2,053 במקום 82. שם זדוני עם ?: 0 שורות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הכלל: סופרים שורות לפני ואחרי JOIN, והערך עובר ב־? ולא לתוך הטקסט.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אצלי זה עובד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554480"/>
            <a:ext cx="2697480" cy="21945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המחשב שלי</a:t>
            </a:r>
          </a:p>
          <a:p>
            <a:pPr rtl="1" algn="ctr" marL="0" indent="0">
              <a:lnSpc>
                <a:spcPct val="105000"/>
              </a:lnSpc>
              <a:spcBef>
                <a:spcPts val="0"/>
              </a:spcBef>
              <a:spcAft>
                <a:spcPts val="0"/>
              </a:spcAft>
              <a:buNone/>
            </a:pPr>
            <a:r>
              <a:rPr sz="1500" b="0" i="0" lang="he-IL">
                <a:solidFill>
                  <a:srgbClr val="595959"/>
                </a:solidFill>
              </a:rPr>
              <a:t>Python 3.11
pandas 2.2
הכל עובד</a:t>
            </a:r>
          </a:p>
        </p:txBody>
      </p:sp>
      <p:sp>
        <p:nvSpPr>
          <p:cNvPr id="6" name="Rounded Rectangle 5"/>
          <p:cNvSpPr/>
          <p:nvPr/>
        </p:nvSpPr>
        <p:spPr>
          <a:xfrm>
            <a:off x="3246120" y="1554480"/>
            <a:ext cx="2697480" cy="21945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המחשב של חבר</a:t>
            </a:r>
          </a:p>
          <a:p>
            <a:pPr rtl="1" algn="ctr" marL="0" indent="0">
              <a:lnSpc>
                <a:spcPct val="105000"/>
              </a:lnSpc>
              <a:spcBef>
                <a:spcPts val="0"/>
              </a:spcBef>
              <a:spcAft>
                <a:spcPts val="0"/>
              </a:spcAft>
              <a:buNone/>
            </a:pPr>
            <a:r>
              <a:rPr sz="1500" b="0" i="0" lang="he-IL">
                <a:solidFill>
                  <a:srgbClr val="595959"/>
                </a:solidFill>
              </a:rPr>
              <a:t>Python 3.8
pandas 1.5
שגיאות</a:t>
            </a:r>
          </a:p>
        </p:txBody>
      </p:sp>
      <p:sp>
        <p:nvSpPr>
          <p:cNvPr id="7" name="Rounded Rectangle 6"/>
          <p:cNvSpPr/>
          <p:nvPr/>
        </p:nvSpPr>
        <p:spPr>
          <a:xfrm>
            <a:off x="320039" y="1554480"/>
            <a:ext cx="2697480" cy="21945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שרת בענן</a:t>
            </a:r>
          </a:p>
          <a:p>
            <a:pPr rtl="1" algn="ctr" marL="0" indent="0">
              <a:lnSpc>
                <a:spcPct val="105000"/>
              </a:lnSpc>
              <a:spcBef>
                <a:spcPts val="0"/>
              </a:spcBef>
              <a:spcAft>
                <a:spcPts val="0"/>
              </a:spcAft>
              <a:buNone/>
            </a:pPr>
            <a:r>
              <a:rPr sz="1500" b="0" i="0" lang="he-IL">
                <a:solidFill>
                  <a:srgbClr val="595959"/>
                </a:solidFill>
              </a:rPr>
              <a:t>בלי Python
הגדרות אחרות
לא עולה</a:t>
            </a:r>
          </a:p>
        </p:txBody>
      </p:sp>
      <p:sp>
        <p:nvSpPr>
          <p:cNvPr id="8" name="TextBox 7"/>
          <p:cNvSpPr txBox="1"/>
          <p:nvPr/>
        </p:nvSpPr>
        <p:spPr>
          <a:xfrm>
            <a:off x="365760" y="4023360"/>
            <a:ext cx="841248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200" b="1" i="0" lang="he-IL">
                <a:solidFill>
                  <a:srgbClr val="212121"/>
                </a:solidFill>
              </a:rPr>
              <a:t>אותו קוד, סביבות שונות, תוצאות שונות.</a:t>
            </a:r>
          </a:p>
          <a:p>
            <a:pPr rtl="1" algn="ctr" marL="0" indent="0">
              <a:lnSpc>
                <a:spcPct val="110000"/>
              </a:lnSpc>
              <a:spcBef>
                <a:spcPts val="0"/>
              </a:spcBef>
              <a:spcAft>
                <a:spcPts val="0"/>
              </a:spcAft>
              <a:buNone/>
            </a:pPr>
            <a:r>
              <a:rPr sz="1800" b="0" i="0" lang="he-IL">
                <a:solidFill>
                  <a:srgbClr val="4285F4"/>
                </a:solidFill>
              </a:rPr>
              <a:t>הפתרון: לארוז את הקוד יחד עם הסביבה שלו.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מהו Docker</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01752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אריזה אחת</a:t>
            </a:r>
          </a:p>
        </p:txBody>
      </p:sp>
      <p:sp>
        <p:nvSpPr>
          <p:cNvPr id="8" name="TextBox 7"/>
          <p:cNvSpPr txBox="1"/>
          <p:nvPr/>
        </p:nvSpPr>
        <p:spPr>
          <a:xfrm>
            <a:off x="6309360" y="306324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קוד, ספריות, גרסת Python והגדרות, ביחד.</a:t>
            </a:r>
          </a:p>
        </p:txBody>
      </p:sp>
      <p:sp>
        <p:nvSpPr>
          <p:cNvPr id="9" name="Rounded Rectangle 8"/>
          <p:cNvSpPr/>
          <p:nvPr/>
        </p:nvSpPr>
        <p:spPr>
          <a:xfrm>
            <a:off x="3246120" y="1463040"/>
            <a:ext cx="2697480" cy="301752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רץ אותו דבר בכל מקום</a:t>
            </a:r>
          </a:p>
        </p:txBody>
      </p:sp>
      <p:sp>
        <p:nvSpPr>
          <p:cNvPr id="12" name="TextBox 11"/>
          <p:cNvSpPr txBox="1"/>
          <p:nvPr/>
        </p:nvSpPr>
        <p:spPr>
          <a:xfrm>
            <a:off x="3383279" y="306324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בלפטופ, בשרת ובענן. אותה תוצאה.</a:t>
            </a:r>
          </a:p>
        </p:txBody>
      </p:sp>
      <p:sp>
        <p:nvSpPr>
          <p:cNvPr id="13" name="Rounded Rectangle 12"/>
          <p:cNvSpPr/>
          <p:nvPr/>
        </p:nvSpPr>
        <p:spPr>
          <a:xfrm>
            <a:off x="320039" y="1463040"/>
            <a:ext cx="2697480" cy="30175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קל ומהיר</a:t>
            </a:r>
          </a:p>
        </p:txBody>
      </p:sp>
      <p:sp>
        <p:nvSpPr>
          <p:cNvPr id="16" name="TextBox 15"/>
          <p:cNvSpPr txBox="1"/>
          <p:nvPr/>
        </p:nvSpPr>
        <p:spPr>
          <a:xfrm>
            <a:off x="457199" y="306324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מתחיל בשניות, וחולק את מערכת ההפעלה של המארח.</a:t>
            </a:r>
          </a:p>
        </p:txBody>
      </p:sp>
      <p:sp>
        <p:nvSpPr>
          <p:cNvPr id="17" name="TextBox 16"/>
          <p:cNvSpPr txBox="1"/>
          <p:nvPr/>
        </p:nvSpPr>
        <p:spPr>
          <a:xfrm>
            <a:off x="365760" y="4663440"/>
            <a:ext cx="8412480" cy="411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כמו מכולת משא: כל מה שצריך בפנים, והספינה לא צריכה להכיר את התוכן.</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Docker מול מכונה וירטואלית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4754880" y="1261872"/>
            <a:ext cx="4023360" cy="384048"/>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EA4335"/>
                </a:solidFill>
              </a:rPr>
              <a:t>מכונה וירטואלית (VM)</a:t>
            </a:r>
          </a:p>
        </p:txBody>
      </p:sp>
      <p:sp>
        <p:nvSpPr>
          <p:cNvPr id="6" name="Rectangle 5"/>
          <p:cNvSpPr/>
          <p:nvPr/>
        </p:nvSpPr>
        <p:spPr>
          <a:xfrm>
            <a:off x="4754880" y="1645920"/>
            <a:ext cx="4023360" cy="310896"/>
          </a:xfrm>
          <a:prstGeom prst="rect">
            <a:avLst/>
          </a:prstGeom>
          <a:solidFill>
            <a:srgbClr val="FFF0D9"/>
          </a:solidFill>
          <a:ln w="19050">
            <a:solidFill>
              <a:srgbClr val="FFAB40"/>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אפליקציה A  |  אפליקציה B</a:t>
            </a:r>
          </a:p>
        </p:txBody>
      </p:sp>
      <p:sp>
        <p:nvSpPr>
          <p:cNvPr id="7" name="Rectangle 6"/>
          <p:cNvSpPr/>
          <p:nvPr/>
        </p:nvSpPr>
        <p:spPr>
          <a:xfrm>
            <a:off x="4754880" y="1993392"/>
            <a:ext cx="4023360" cy="310896"/>
          </a:xfrm>
          <a:prstGeom prst="rect">
            <a:avLst/>
          </a:prstGeom>
          <a:solidFill>
            <a:srgbClr val="FFFFFF"/>
          </a:solidFill>
          <a:ln w="19050">
            <a:solidFill>
              <a:srgbClr val="78909C"/>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ספריות</a:t>
            </a:r>
          </a:p>
        </p:txBody>
      </p:sp>
      <p:sp>
        <p:nvSpPr>
          <p:cNvPr id="8" name="Rectangle 7"/>
          <p:cNvSpPr/>
          <p:nvPr/>
        </p:nvSpPr>
        <p:spPr>
          <a:xfrm>
            <a:off x="4754880" y="2340864"/>
            <a:ext cx="4023360" cy="310896"/>
          </a:xfrm>
          <a:prstGeom prst="rect">
            <a:avLst/>
          </a:prstGeom>
          <a:solidFill>
            <a:srgbClr val="FDE3E0"/>
          </a:solidFill>
          <a:ln w="19050">
            <a:solidFill>
              <a:srgbClr val="EA4335"/>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מערכת הפעלה אורחת (שלמה) לכל אחת</a:t>
            </a:r>
          </a:p>
        </p:txBody>
      </p:sp>
      <p:sp>
        <p:nvSpPr>
          <p:cNvPr id="9" name="Rectangle 8"/>
          <p:cNvSpPr/>
          <p:nvPr/>
        </p:nvSpPr>
        <p:spPr>
          <a:xfrm>
            <a:off x="4754880" y="2688336"/>
            <a:ext cx="4023360" cy="310896"/>
          </a:xfrm>
          <a:prstGeom prst="rect">
            <a:avLst/>
          </a:prstGeom>
          <a:solidFill>
            <a:srgbClr val="E3EEFF"/>
          </a:solidFill>
          <a:ln w="19050">
            <a:solidFill>
              <a:srgbClr val="4285F4"/>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Hypervisor</a:t>
            </a:r>
          </a:p>
        </p:txBody>
      </p:sp>
      <p:sp>
        <p:nvSpPr>
          <p:cNvPr id="10" name="Rectangle 9"/>
          <p:cNvSpPr/>
          <p:nvPr/>
        </p:nvSpPr>
        <p:spPr>
          <a:xfrm>
            <a:off x="4754880" y="3035808"/>
            <a:ext cx="4023360" cy="310896"/>
          </a:xfrm>
          <a:prstGeom prst="rect">
            <a:avLst/>
          </a:prstGeom>
          <a:solidFill>
            <a:srgbClr val="F2F2F2"/>
          </a:solidFill>
          <a:ln w="19050">
            <a:solidFill>
              <a:srgbClr val="78909C"/>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מערכת הפעלה של המארח</a:t>
            </a:r>
          </a:p>
        </p:txBody>
      </p:sp>
      <p:sp>
        <p:nvSpPr>
          <p:cNvPr id="11" name="Rectangle 10"/>
          <p:cNvSpPr/>
          <p:nvPr/>
        </p:nvSpPr>
        <p:spPr>
          <a:xfrm>
            <a:off x="4754880" y="3383280"/>
            <a:ext cx="4023360" cy="310896"/>
          </a:xfrm>
          <a:prstGeom prst="rect">
            <a:avLst/>
          </a:prstGeom>
          <a:solidFill>
            <a:srgbClr val="E0E0E0"/>
          </a:solidFill>
          <a:ln w="19050">
            <a:solidFill>
              <a:srgbClr val="78909C"/>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חומרה</a:t>
            </a:r>
          </a:p>
        </p:txBody>
      </p:sp>
      <p:sp>
        <p:nvSpPr>
          <p:cNvPr id="12" name="TextBox 11"/>
          <p:cNvSpPr txBox="1"/>
          <p:nvPr/>
        </p:nvSpPr>
        <p:spPr>
          <a:xfrm>
            <a:off x="365760" y="1261872"/>
            <a:ext cx="4023360" cy="384048"/>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34A853"/>
                </a:solidFill>
              </a:rPr>
              <a:t>קונטיינרים (Docker)</a:t>
            </a:r>
          </a:p>
        </p:txBody>
      </p:sp>
      <p:sp>
        <p:nvSpPr>
          <p:cNvPr id="13" name="Rectangle 12"/>
          <p:cNvSpPr/>
          <p:nvPr/>
        </p:nvSpPr>
        <p:spPr>
          <a:xfrm>
            <a:off x="365760" y="1645920"/>
            <a:ext cx="4023360" cy="310896"/>
          </a:xfrm>
          <a:prstGeom prst="rect">
            <a:avLst/>
          </a:prstGeom>
          <a:solidFill>
            <a:srgbClr val="FFF0D9"/>
          </a:solidFill>
          <a:ln w="19050">
            <a:solidFill>
              <a:srgbClr val="FFAB40"/>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אפליקציה A  |  אפליקציה B</a:t>
            </a:r>
          </a:p>
        </p:txBody>
      </p:sp>
      <p:sp>
        <p:nvSpPr>
          <p:cNvPr id="14" name="Rectangle 13"/>
          <p:cNvSpPr/>
          <p:nvPr/>
        </p:nvSpPr>
        <p:spPr>
          <a:xfrm>
            <a:off x="365760" y="1993392"/>
            <a:ext cx="4023360" cy="310896"/>
          </a:xfrm>
          <a:prstGeom prst="rect">
            <a:avLst/>
          </a:prstGeom>
          <a:solidFill>
            <a:srgbClr val="FFFFFF"/>
          </a:solidFill>
          <a:ln w="19050">
            <a:solidFill>
              <a:srgbClr val="78909C"/>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ספריות ארוזות לכל אחת</a:t>
            </a:r>
          </a:p>
        </p:txBody>
      </p:sp>
      <p:sp>
        <p:nvSpPr>
          <p:cNvPr id="15" name="Rectangle 14"/>
          <p:cNvSpPr/>
          <p:nvPr/>
        </p:nvSpPr>
        <p:spPr>
          <a:xfrm>
            <a:off x="365760" y="2340864"/>
            <a:ext cx="4023360" cy="310896"/>
          </a:xfrm>
          <a:prstGeom prst="rect">
            <a:avLst/>
          </a:prstGeom>
          <a:solidFill>
            <a:srgbClr val="E3EEFF"/>
          </a:solidFill>
          <a:ln w="19050">
            <a:solidFill>
              <a:srgbClr val="4285F4"/>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Docker Engine</a:t>
            </a:r>
          </a:p>
        </p:txBody>
      </p:sp>
      <p:sp>
        <p:nvSpPr>
          <p:cNvPr id="16" name="Rectangle 15"/>
          <p:cNvSpPr/>
          <p:nvPr/>
        </p:nvSpPr>
        <p:spPr>
          <a:xfrm>
            <a:off x="365760" y="2688336"/>
            <a:ext cx="4023360" cy="310896"/>
          </a:xfrm>
          <a:prstGeom prst="rect">
            <a:avLst/>
          </a:prstGeom>
          <a:solidFill>
            <a:srgbClr val="E1F4E6"/>
          </a:solidFill>
          <a:ln w="19050">
            <a:solidFill>
              <a:srgbClr val="34A853"/>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מערכת הפעלה של המארח (גרעין משותף)</a:t>
            </a:r>
          </a:p>
        </p:txBody>
      </p:sp>
      <p:sp>
        <p:nvSpPr>
          <p:cNvPr id="17" name="Rectangle 16"/>
          <p:cNvSpPr/>
          <p:nvPr/>
        </p:nvSpPr>
        <p:spPr>
          <a:xfrm>
            <a:off x="365760" y="3035808"/>
            <a:ext cx="4023360" cy="310896"/>
          </a:xfrm>
          <a:prstGeom prst="rect">
            <a:avLst/>
          </a:prstGeom>
          <a:solidFill>
            <a:srgbClr val="E0E0E0"/>
          </a:solidFill>
          <a:ln w="19050">
            <a:solidFill>
              <a:srgbClr val="78909C"/>
            </a:solidFill>
          </a:ln>
        </p:spPr>
        <p:txBody>
          <a:bodyPr rtlCol="0" anchor="ctr" wrap="square" lIns="27432" rIns="27432" tIns="27432" bIns="27432">
            <a:noAutofit/>
          </a:bodyPr>
          <a:lstStyle/>
          <a:p>
            <a:pPr rtl="1" algn="ctr" marL="0" indent="0">
              <a:lnSpc>
                <a:spcPct val="105000"/>
              </a:lnSpc>
              <a:spcBef>
                <a:spcPts val="0"/>
              </a:spcBef>
              <a:spcAft>
                <a:spcPts val="0"/>
              </a:spcAft>
              <a:buNone/>
            </a:pPr>
            <a:r>
              <a:rPr sz="1200" b="1" i="0" lang="he-IL">
                <a:solidFill>
                  <a:srgbClr val="212121"/>
                </a:solidFill>
              </a:rPr>
              <a:t>חומרה</a:t>
            </a:r>
          </a:p>
        </p:txBody>
      </p:sp>
      <p:graphicFrame>
        <p:nvGraphicFramePr>
          <p:cNvPr id="18" name="Table 17"/>
          <p:cNvGraphicFramePr>
            <a:graphicFrameLocks noGrp="1"/>
          </p:cNvGraphicFramePr>
          <p:nvPr/>
        </p:nvGraphicFramePr>
        <p:xfrm>
          <a:off x="365760" y="3840480"/>
          <a:ext cx="8412477" cy="1097280"/>
        </p:xfrm>
        <a:graphic>
          <a:graphicData uri="http://schemas.openxmlformats.org/drawingml/2006/table">
            <a:tbl>
              <a:tblPr firstRow="0" bandRow="0">
                <a:tableStyleId>{2D5ABB26-0587-4C30-8999-92F81FD0307C}</a:tableStyleId>
              </a:tblPr>
              <a:tblGrid>
                <a:gridCol w="3840479"/>
                <a:gridCol w="3291839"/>
                <a:gridCol w="1280159"/>
              </a:tblGrid>
              <a:tr h="274320">
                <a:tc>
                  <a:txBody>
                    <a:bodyPr wrap="square"/>
                    <a:lstStyle/>
                    <a:p>
                      <a:pPr rtl="1" algn="ctr" marL="0" indent="0">
                        <a:lnSpc>
                          <a:spcPct val="100000"/>
                        </a:lnSpc>
                        <a:spcBef>
                          <a:spcPts val="0"/>
                        </a:spcBef>
                        <a:spcAft>
                          <a:spcPts val="0"/>
                        </a:spcAft>
                        <a:buNone/>
                      </a:pPr>
                      <a:r>
                        <a:rPr sz="1200" b="1" i="0" lang="he-IL">
                          <a:solidFill>
                            <a:srgbClr val="212121"/>
                          </a:solidFill>
                        </a:rPr>
                        <a:t>קונטיינר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VM</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274320">
                <a:tc>
                  <a:txBody>
                    <a:bodyPr wrap="square"/>
                    <a:lstStyle/>
                    <a:p>
                      <a:pPr rtl="1" algn="r" marL="0" indent="0">
                        <a:lnSpc>
                          <a:spcPct val="100000"/>
                        </a:lnSpc>
                        <a:spcBef>
                          <a:spcPts val="0"/>
                        </a:spcBef>
                        <a:spcAft>
                          <a:spcPts val="0"/>
                        </a:spcAft>
                        <a:buNone/>
                      </a:pPr>
                      <a:r>
                        <a:rPr sz="1200" b="0" i="0" lang="he-IL">
                          <a:solidFill>
                            <a:srgbClr val="212121"/>
                          </a:solidFill>
                        </a:rPr>
                        <a:t>עשרות עד מאות מגה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גיגה־בייטים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גודל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274320">
                <a:tc>
                  <a:txBody>
                    <a:bodyPr wrap="square"/>
                    <a:lstStyle/>
                    <a:p>
                      <a:pPr rtl="1" algn="r" marL="0" indent="0">
                        <a:lnSpc>
                          <a:spcPct val="100000"/>
                        </a:lnSpc>
                        <a:spcBef>
                          <a:spcPts val="0"/>
                        </a:spcBef>
                        <a:spcAft>
                          <a:spcPts val="0"/>
                        </a:spcAft>
                        <a:buNone/>
                      </a:pPr>
                      <a:r>
                        <a:rPr sz="1200" b="0" i="0" lang="he-IL">
                          <a:solidFill>
                            <a:srgbClr val="212121"/>
                          </a:solidFill>
                        </a:rPr>
                        <a:t>שניות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דקות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הפעלה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274320">
                <a:tc>
                  <a:txBody>
                    <a:bodyPr wrap="square"/>
                    <a:lstStyle/>
                    <a:p>
                      <a:pPr rtl="1" algn="r" marL="0" indent="0">
                        <a:lnSpc>
                          <a:spcPct val="100000"/>
                        </a:lnSpc>
                        <a:spcBef>
                          <a:spcPts val="0"/>
                        </a:spcBef>
                        <a:spcAft>
                          <a:spcPts val="0"/>
                        </a:spcAft>
                        <a:buNone/>
                      </a:pPr>
                      <a:r>
                        <a:rPr sz="1200" b="0" i="0" lang="he-IL">
                          <a:solidFill>
                            <a:srgbClr val="212121"/>
                          </a:solidFill>
                        </a:rPr>
                        <a:t>קל יותר (גרעין משותף)</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חזק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בידוד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איך Docker בנוי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217920" y="1371600"/>
            <a:ext cx="256032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Dockerfile</a:t>
            </a:r>
          </a:p>
          <a:p>
            <a:pPr rtl="1" algn="ctr" marL="0" indent="0">
              <a:lnSpc>
                <a:spcPct val="105000"/>
              </a:lnSpc>
              <a:spcBef>
                <a:spcPts val="0"/>
              </a:spcBef>
              <a:spcAft>
                <a:spcPts val="0"/>
              </a:spcAft>
              <a:buNone/>
            </a:pPr>
            <a:r>
              <a:rPr sz="1400" b="1" i="0" lang="he-IL">
                <a:solidFill>
                  <a:srgbClr val="212121"/>
                </a:solidFill>
              </a:rPr>
              <a:t>המתכון</a:t>
            </a:r>
          </a:p>
        </p:txBody>
      </p:sp>
      <p:cxnSp>
        <p:nvCxnSpPr>
          <p:cNvPr id="6" name="Connector 5"/>
          <p:cNvCxnSpPr/>
          <p:nvPr/>
        </p:nvCxnSpPr>
        <p:spPr>
          <a:xfrm flipH="1">
            <a:off x="5870447" y="196596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91840" y="1371600"/>
            <a:ext cx="2560320" cy="118872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docker build</a:t>
            </a:r>
          </a:p>
          <a:p>
            <a:pPr rtl="1" algn="ctr" marL="0" indent="0">
              <a:lnSpc>
                <a:spcPct val="105000"/>
              </a:lnSpc>
              <a:spcBef>
                <a:spcPts val="0"/>
              </a:spcBef>
              <a:spcAft>
                <a:spcPts val="0"/>
              </a:spcAft>
              <a:buNone/>
            </a:pPr>
            <a:r>
              <a:rPr sz="1400" b="1" i="0" lang="he-IL">
                <a:solidFill>
                  <a:srgbClr val="212121"/>
                </a:solidFill>
              </a:rPr>
              <a:t>← Image (תבנית)</a:t>
            </a:r>
          </a:p>
        </p:txBody>
      </p:sp>
      <p:cxnSp>
        <p:nvCxnSpPr>
          <p:cNvPr id="8" name="Connector 7"/>
          <p:cNvCxnSpPr/>
          <p:nvPr/>
        </p:nvCxnSpPr>
        <p:spPr>
          <a:xfrm flipH="1">
            <a:off x="2944368" y="196596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1371600"/>
            <a:ext cx="2560320" cy="11887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docker run</a:t>
            </a:r>
          </a:p>
          <a:p>
            <a:pPr rtl="1" algn="ctr" marL="0" indent="0">
              <a:lnSpc>
                <a:spcPct val="105000"/>
              </a:lnSpc>
              <a:spcBef>
                <a:spcPts val="0"/>
              </a:spcBef>
              <a:spcAft>
                <a:spcPts val="0"/>
              </a:spcAft>
              <a:buNone/>
            </a:pPr>
            <a:r>
              <a:rPr sz="1400" b="1" i="0" lang="he-IL">
                <a:solidFill>
                  <a:srgbClr val="212121"/>
                </a:solidFill>
              </a:rPr>
              <a:t>← Container (רץ)</a:t>
            </a:r>
          </a:p>
        </p:txBody>
      </p:sp>
      <p:sp>
        <p:nvSpPr>
          <p:cNvPr id="10" name="Rounded Rectangle 9"/>
          <p:cNvSpPr/>
          <p:nvPr/>
        </p:nvSpPr>
        <p:spPr>
          <a:xfrm>
            <a:off x="365760" y="2926080"/>
            <a:ext cx="4114800" cy="914400"/>
          </a:xfrm>
          <a:prstGeom prst="roundRect">
            <a:avLst>
              <a:gd name="adj" fmla="val 12000"/>
            </a:avLst>
          </a:prstGeom>
          <a:solidFill>
            <a:srgbClr val="FFFFFF"/>
          </a:solidFill>
          <a:ln w="190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Registry (Docker Hub)</a:t>
            </a:r>
          </a:p>
          <a:p>
            <a:pPr rtl="1" algn="ctr" marL="0" indent="0">
              <a:lnSpc>
                <a:spcPct val="105000"/>
              </a:lnSpc>
              <a:spcBef>
                <a:spcPts val="0"/>
              </a:spcBef>
              <a:spcAft>
                <a:spcPts val="0"/>
              </a:spcAft>
              <a:buNone/>
            </a:pPr>
            <a:r>
              <a:rPr sz="1200" b="0" i="0" lang="he-IL">
                <a:solidFill>
                  <a:srgbClr val="595959"/>
                </a:solidFill>
              </a:rPr>
              <a:t>מאגר תמונות לשיתוף: docker pull / push</a:t>
            </a:r>
          </a:p>
        </p:txBody>
      </p:sp>
      <p:sp>
        <p:nvSpPr>
          <p:cNvPr id="11" name="Rounded Rectangle 10"/>
          <p:cNvSpPr/>
          <p:nvPr/>
        </p:nvSpPr>
        <p:spPr>
          <a:xfrm>
            <a:off x="4663440" y="2926080"/>
            <a:ext cx="4114800" cy="914400"/>
          </a:xfrm>
          <a:prstGeom prst="roundRect">
            <a:avLst>
              <a:gd name="adj" fmla="val 12000"/>
            </a:avLst>
          </a:prstGeom>
          <a:solidFill>
            <a:srgbClr val="FFFFFF"/>
          </a:solidFill>
          <a:ln w="190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Client ← Daemon</a:t>
            </a:r>
          </a:p>
          <a:p>
            <a:pPr rtl="1" algn="ctr" marL="0" indent="0">
              <a:lnSpc>
                <a:spcPct val="105000"/>
              </a:lnSpc>
              <a:spcBef>
                <a:spcPts val="0"/>
              </a:spcBef>
              <a:spcAft>
                <a:spcPts val="0"/>
              </a:spcAft>
              <a:buNone/>
            </a:pPr>
            <a:r>
              <a:rPr sz="1200" b="0" i="0" lang="he-IL">
                <a:solidFill>
                  <a:srgbClr val="595959"/>
                </a:solidFill>
              </a:rPr>
              <a:t>הפקודה docker מבקשת, והשירות dockerd מבצע</a:t>
            </a:r>
          </a:p>
        </p:txBody>
      </p:sp>
      <p:sp>
        <p:nvSpPr>
          <p:cNvPr id="12" name="Rounded Rectangle 11"/>
          <p:cNvSpPr/>
          <p:nvPr/>
        </p:nvSpPr>
        <p:spPr>
          <a:xfrm>
            <a:off x="6172200" y="4069080"/>
            <a:ext cx="2697480" cy="96012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4285F4"/>
                </a:solidFill>
              </a:rPr>
              <a:t>Layers</a:t>
            </a:r>
          </a:p>
          <a:p>
            <a:pPr rtl="1" algn="ctr" marL="0" indent="0">
              <a:lnSpc>
                <a:spcPct val="105000"/>
              </a:lnSpc>
              <a:spcBef>
                <a:spcPts val="0"/>
              </a:spcBef>
              <a:spcAft>
                <a:spcPts val="0"/>
              </a:spcAft>
              <a:buNone/>
            </a:pPr>
            <a:r>
              <a:rPr sz="1200" b="0" i="0" lang="he-IL">
                <a:solidFill>
                  <a:srgbClr val="212121"/>
                </a:solidFill>
              </a:rPr>
              <a:t>תמונה בנויה משכבות, ואפשר לשתף אותן</a:t>
            </a:r>
          </a:p>
        </p:txBody>
      </p:sp>
      <p:sp>
        <p:nvSpPr>
          <p:cNvPr id="13" name="Rounded Rectangle 12"/>
          <p:cNvSpPr/>
          <p:nvPr/>
        </p:nvSpPr>
        <p:spPr>
          <a:xfrm>
            <a:off x="3246120" y="4069080"/>
            <a:ext cx="2697480" cy="96012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34A853"/>
                </a:solidFill>
              </a:rPr>
              <a:t>Namespaces</a:t>
            </a:r>
          </a:p>
          <a:p>
            <a:pPr rtl="1" algn="ctr" marL="0" indent="0">
              <a:lnSpc>
                <a:spcPct val="105000"/>
              </a:lnSpc>
              <a:spcBef>
                <a:spcPts val="0"/>
              </a:spcBef>
              <a:spcAft>
                <a:spcPts val="0"/>
              </a:spcAft>
              <a:buNone/>
            </a:pPr>
            <a:r>
              <a:rPr sz="1200" b="0" i="0" lang="he-IL">
                <a:solidFill>
                  <a:srgbClr val="212121"/>
                </a:solidFill>
              </a:rPr>
              <a:t>בידוד: כל קונטיינר רואה תהליכים וקבצים משלו</a:t>
            </a:r>
          </a:p>
        </p:txBody>
      </p:sp>
      <p:sp>
        <p:nvSpPr>
          <p:cNvPr id="14" name="Rounded Rectangle 13"/>
          <p:cNvSpPr/>
          <p:nvPr/>
        </p:nvSpPr>
        <p:spPr>
          <a:xfrm>
            <a:off x="320039" y="4069080"/>
            <a:ext cx="2697480" cy="96012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AB40"/>
                </a:solidFill>
              </a:rPr>
              <a:t>cgroups</a:t>
            </a:r>
          </a:p>
          <a:p>
            <a:pPr rtl="1" algn="ctr" marL="0" indent="0">
              <a:lnSpc>
                <a:spcPct val="105000"/>
              </a:lnSpc>
              <a:spcBef>
                <a:spcPts val="0"/>
              </a:spcBef>
              <a:spcAft>
                <a:spcPts val="0"/>
              </a:spcAft>
              <a:buNone/>
            </a:pPr>
            <a:r>
              <a:rPr sz="1200" b="0" i="0" lang="he-IL">
                <a:solidFill>
                  <a:srgbClr val="212121"/>
                </a:solidFill>
              </a:rPr>
              <a:t>הגבלת זיכרון ו־CPU לכל קונטיינר</a:t>
            </a:r>
          </a:p>
        </p:txBody>
      </p:sp>
      <p:sp>
        <p:nvSpPr>
          <p:cNvPr id="15"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Dockerfile שורה אחר שורה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25880"/>
            <a:ext cx="5029200" cy="292608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FROM python:3.11-slim</a:t>
            </a:r>
          </a:p>
          <a:p>
            <a:pPr rtl="0" algn="l" marL="0" indent="0">
              <a:lnSpc>
                <a:spcPct val="105000"/>
              </a:lnSpc>
              <a:spcBef>
                <a:spcPts val="0"/>
              </a:spcBef>
              <a:spcAft>
                <a:spcPts val="0"/>
              </a:spcAft>
              <a:buNone/>
            </a:pPr>
            <a:r>
              <a:rPr sz="1200" b="0" i="0" lang="he-IL">
                <a:solidFill>
                  <a:srgbClr val="212121"/>
                </a:solidFill>
              </a:rPr>
              <a:t>WORKDIR /srv</a:t>
            </a:r>
          </a:p>
          <a:p>
            <a:pPr rtl="0" algn="l" marL="0" indent="0">
              <a:lnSpc>
                <a:spcPct val="105000"/>
              </a:lnSpc>
              <a:spcBef>
                <a:spcPts val="0"/>
              </a:spcBef>
              <a:spcAft>
                <a:spcPts val="0"/>
              </a:spcAft>
              <a:buNone/>
            </a:pPr>
            <a:r>
              <a:rPr sz="1200" b="0" i="0" lang="he-IL">
                <a:solidFill>
                  <a:srgbClr val="212121"/>
                </a:solidFill>
              </a:rPr>
              <a:t>COPY requirements.txt .</a:t>
            </a:r>
          </a:p>
          <a:p>
            <a:pPr rtl="0" algn="l" marL="0" indent="0">
              <a:lnSpc>
                <a:spcPct val="105000"/>
              </a:lnSpc>
              <a:spcBef>
                <a:spcPts val="0"/>
              </a:spcBef>
              <a:spcAft>
                <a:spcPts val="0"/>
              </a:spcAft>
              <a:buNone/>
            </a:pPr>
            <a:r>
              <a:rPr sz="1200" b="0" i="0" lang="he-IL">
                <a:solidFill>
                  <a:srgbClr val="212121"/>
                </a:solidFill>
              </a:rPr>
              <a:t>RUN pip install --no-cache-dir -r requirements.txt</a:t>
            </a:r>
          </a:p>
          <a:p>
            <a:pPr rtl="0" algn="l" marL="0" indent="0">
              <a:lnSpc>
                <a:spcPct val="105000"/>
              </a:lnSpc>
              <a:spcBef>
                <a:spcPts val="0"/>
              </a:spcBef>
              <a:spcAft>
                <a:spcPts val="0"/>
              </a:spcAft>
              <a:buNone/>
            </a:pPr>
            <a:r>
              <a:rPr sz="1200" b="0" i="0" lang="he-IL">
                <a:solidFill>
                  <a:srgbClr val="212121"/>
                </a:solidFill>
              </a:rPr>
              <a:t>COPY . .</a:t>
            </a:r>
          </a:p>
          <a:p>
            <a:pPr rtl="0" algn="l" marL="0" indent="0">
              <a:lnSpc>
                <a:spcPct val="105000"/>
              </a:lnSpc>
              <a:spcBef>
                <a:spcPts val="0"/>
              </a:spcBef>
              <a:spcAft>
                <a:spcPts val="0"/>
              </a:spcAft>
              <a:buNone/>
            </a:pPr>
            <a:r>
              <a:rPr sz="1200" b="0" i="0" lang="he-IL">
                <a:solidFill>
                  <a:srgbClr val="212121"/>
                </a:solidFill>
              </a:rPr>
              <a:t>EXPOSE 8000</a:t>
            </a:r>
          </a:p>
          <a:p>
            <a:pPr rtl="0" algn="l" marL="0" indent="0">
              <a:lnSpc>
                <a:spcPct val="105000"/>
              </a:lnSpc>
              <a:spcBef>
                <a:spcPts val="0"/>
              </a:spcBef>
              <a:spcAft>
                <a:spcPts val="0"/>
              </a:spcAft>
              <a:buNone/>
            </a:pPr>
            <a:r>
              <a:rPr sz="1200" b="0" i="0" lang="he-IL">
                <a:solidFill>
                  <a:srgbClr val="212121"/>
                </a:solidFill>
              </a:rPr>
              <a:t>CMD ["uvicorn", "app.main:app",</a:t>
            </a:r>
          </a:p>
          <a:p>
            <a:pPr rtl="0" algn="l" marL="0" indent="0">
              <a:lnSpc>
                <a:spcPct val="105000"/>
              </a:lnSpc>
              <a:spcBef>
                <a:spcPts val="0"/>
              </a:spcBef>
              <a:spcAft>
                <a:spcPts val="0"/>
              </a:spcAft>
              <a:buNone/>
            </a:pPr>
            <a:r>
              <a:rPr sz="1200" b="0" i="0" lang="he-IL">
                <a:solidFill>
                  <a:srgbClr val="212121"/>
                </a:solidFill>
              </a:rPr>
              <a:t>     "--host", "0.0.0.0", "--port", "8000"]</a:t>
            </a:r>
          </a:p>
        </p:txBody>
      </p:sp>
      <p:sp>
        <p:nvSpPr>
          <p:cNvPr id="6" name="Rounded Rectangle 5"/>
          <p:cNvSpPr/>
          <p:nvPr/>
        </p:nvSpPr>
        <p:spPr>
          <a:xfrm>
            <a:off x="5532120" y="1325880"/>
            <a:ext cx="3246120" cy="548640"/>
          </a:xfrm>
          <a:prstGeom prst="roundRect">
            <a:avLst>
              <a:gd name="adj" fmla="val 12000"/>
            </a:avLst>
          </a:prstGeom>
          <a:solidFill>
            <a:srgbClr val="FFFFFF"/>
          </a:solidFill>
          <a:ln w="2286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1" i="0" lang="he-IL">
                <a:solidFill>
                  <a:srgbClr val="212121"/>
                </a:solidFill>
              </a:rPr>
              <a:t>FROM</a:t>
            </a:r>
          </a:p>
          <a:p>
            <a:pPr rtl="1" algn="r" marL="0" indent="0">
              <a:lnSpc>
                <a:spcPct val="105000"/>
              </a:lnSpc>
              <a:spcBef>
                <a:spcPts val="0"/>
              </a:spcBef>
              <a:spcAft>
                <a:spcPts val="0"/>
              </a:spcAft>
              <a:buNone/>
            </a:pPr>
            <a:r>
              <a:rPr sz="1200" b="0" i="0" lang="he-IL">
                <a:solidFill>
                  <a:srgbClr val="212121"/>
                </a:solidFill>
              </a:rPr>
              <a:t>תמונת בסיס עם Python</a:t>
            </a:r>
          </a:p>
        </p:txBody>
      </p:sp>
      <p:sp>
        <p:nvSpPr>
          <p:cNvPr id="7" name="Rounded Rectangle 6"/>
          <p:cNvSpPr/>
          <p:nvPr/>
        </p:nvSpPr>
        <p:spPr>
          <a:xfrm>
            <a:off x="5532120" y="1965960"/>
            <a:ext cx="3246120" cy="548640"/>
          </a:xfrm>
          <a:prstGeom prst="roundRect">
            <a:avLst>
              <a:gd name="adj" fmla="val 12000"/>
            </a:avLst>
          </a:prstGeom>
          <a:solidFill>
            <a:srgbClr val="FFFFFF"/>
          </a:solidFill>
          <a:ln w="2286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1" i="0" lang="he-IL">
                <a:solidFill>
                  <a:srgbClr val="212121"/>
                </a:solidFill>
              </a:rPr>
              <a:t>WORKDIR</a:t>
            </a:r>
          </a:p>
          <a:p>
            <a:pPr rtl="1" algn="r" marL="0" indent="0">
              <a:lnSpc>
                <a:spcPct val="105000"/>
              </a:lnSpc>
              <a:spcBef>
                <a:spcPts val="0"/>
              </a:spcBef>
              <a:spcAft>
                <a:spcPts val="0"/>
              </a:spcAft>
              <a:buNone/>
            </a:pPr>
            <a:r>
              <a:rPr sz="1200" b="0" i="0" lang="he-IL">
                <a:solidFill>
                  <a:srgbClr val="212121"/>
                </a:solidFill>
              </a:rPr>
              <a:t>תיקיית העבודה בפנים</a:t>
            </a:r>
          </a:p>
        </p:txBody>
      </p:sp>
      <p:sp>
        <p:nvSpPr>
          <p:cNvPr id="8" name="Rounded Rectangle 7"/>
          <p:cNvSpPr/>
          <p:nvPr/>
        </p:nvSpPr>
        <p:spPr>
          <a:xfrm>
            <a:off x="5532120" y="2606039"/>
            <a:ext cx="3246120" cy="548640"/>
          </a:xfrm>
          <a:prstGeom prst="roundRect">
            <a:avLst>
              <a:gd name="adj" fmla="val 12000"/>
            </a:avLst>
          </a:prstGeom>
          <a:solidFill>
            <a:srgbClr val="FFFFFF"/>
          </a:solidFill>
          <a:ln w="2286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1" i="0" lang="he-IL">
                <a:solidFill>
                  <a:srgbClr val="212121"/>
                </a:solidFill>
              </a:rPr>
              <a:t>COPY + RUN</a:t>
            </a:r>
          </a:p>
          <a:p>
            <a:pPr rtl="1" algn="r" marL="0" indent="0">
              <a:lnSpc>
                <a:spcPct val="105000"/>
              </a:lnSpc>
              <a:spcBef>
                <a:spcPts val="0"/>
              </a:spcBef>
              <a:spcAft>
                <a:spcPts val="0"/>
              </a:spcAft>
              <a:buNone/>
            </a:pPr>
            <a:r>
              <a:rPr sz="1200" b="0" i="0" lang="he-IL">
                <a:solidFill>
                  <a:srgbClr val="212121"/>
                </a:solidFill>
              </a:rPr>
              <a:t>מעתיקים ומתקינים תלויות</a:t>
            </a:r>
          </a:p>
        </p:txBody>
      </p:sp>
      <p:sp>
        <p:nvSpPr>
          <p:cNvPr id="9" name="Rounded Rectangle 8"/>
          <p:cNvSpPr/>
          <p:nvPr/>
        </p:nvSpPr>
        <p:spPr>
          <a:xfrm>
            <a:off x="5532120" y="3246120"/>
            <a:ext cx="3246120" cy="548640"/>
          </a:xfrm>
          <a:prstGeom prst="roundRect">
            <a:avLst>
              <a:gd name="adj" fmla="val 12000"/>
            </a:avLst>
          </a:prstGeom>
          <a:solidFill>
            <a:srgbClr val="FFFFFF"/>
          </a:solidFill>
          <a:ln w="2286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1" i="0" lang="he-IL">
                <a:solidFill>
                  <a:srgbClr val="212121"/>
                </a:solidFill>
              </a:rPr>
              <a:t>COPY . .</a:t>
            </a:r>
          </a:p>
          <a:p>
            <a:pPr rtl="1" algn="r" marL="0" indent="0">
              <a:lnSpc>
                <a:spcPct val="105000"/>
              </a:lnSpc>
              <a:spcBef>
                <a:spcPts val="0"/>
              </a:spcBef>
              <a:spcAft>
                <a:spcPts val="0"/>
              </a:spcAft>
              <a:buNone/>
            </a:pPr>
            <a:r>
              <a:rPr sz="1200" b="0" i="0" lang="he-IL">
                <a:solidFill>
                  <a:srgbClr val="212121"/>
                </a:solidFill>
              </a:rPr>
              <a:t>מעתיקים את הקוד</a:t>
            </a:r>
          </a:p>
        </p:txBody>
      </p:sp>
      <p:sp>
        <p:nvSpPr>
          <p:cNvPr id="10" name="Rounded Rectangle 9"/>
          <p:cNvSpPr/>
          <p:nvPr/>
        </p:nvSpPr>
        <p:spPr>
          <a:xfrm>
            <a:off x="5532120" y="3886200"/>
            <a:ext cx="3246120" cy="548640"/>
          </a:xfrm>
          <a:prstGeom prst="roundRect">
            <a:avLst>
              <a:gd name="adj" fmla="val 12000"/>
            </a:avLst>
          </a:prstGeom>
          <a:solidFill>
            <a:srgbClr val="FFFFFF"/>
          </a:solidFill>
          <a:ln w="2286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1" i="0" lang="he-IL">
                <a:solidFill>
                  <a:srgbClr val="212121"/>
                </a:solidFill>
              </a:rPr>
              <a:t>CMD</a:t>
            </a:r>
          </a:p>
          <a:p>
            <a:pPr rtl="1" algn="r" marL="0" indent="0">
              <a:lnSpc>
                <a:spcPct val="105000"/>
              </a:lnSpc>
              <a:spcBef>
                <a:spcPts val="0"/>
              </a:spcBef>
              <a:spcAft>
                <a:spcPts val="0"/>
              </a:spcAft>
              <a:buNone/>
            </a:pPr>
            <a:r>
              <a:rPr sz="1200" b="0" i="0" lang="he-IL">
                <a:solidFill>
                  <a:srgbClr val="212121"/>
                </a:solidFill>
              </a:rPr>
              <a:t>מה רץ כשהקונטיינר מתחיל</a:t>
            </a:r>
          </a:p>
        </p:txBody>
      </p:sp>
      <p:sp>
        <p:nvSpPr>
          <p:cNvPr id="11" name="TextBox 10"/>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כל שורה היא שכבה. סדר השורות קובע כמה מהר בונים מחדש.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docker compose</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25880"/>
            <a:ext cx="4206240" cy="329184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services:</a:t>
            </a:r>
          </a:p>
          <a:p>
            <a:pPr rtl="0" algn="l" marL="0" indent="0">
              <a:lnSpc>
                <a:spcPct val="105000"/>
              </a:lnSpc>
              <a:spcBef>
                <a:spcPts val="0"/>
              </a:spcBef>
              <a:spcAft>
                <a:spcPts val="0"/>
              </a:spcAft>
              <a:buNone/>
            </a:pPr>
            <a:r>
              <a:rPr sz="1200" b="0" i="0" lang="he-IL">
                <a:solidFill>
                  <a:srgbClr val="212121"/>
                </a:solidFill>
              </a:rPr>
              <a:t>  redis:</a:t>
            </a:r>
          </a:p>
          <a:p>
            <a:pPr rtl="0" algn="l" marL="0" indent="0">
              <a:lnSpc>
                <a:spcPct val="105000"/>
              </a:lnSpc>
              <a:spcBef>
                <a:spcPts val="0"/>
              </a:spcBef>
              <a:spcAft>
                <a:spcPts val="0"/>
              </a:spcAft>
              <a:buNone/>
            </a:pPr>
            <a:r>
              <a:rPr sz="1200" b="0" i="0" lang="he-IL">
                <a:solidFill>
                  <a:srgbClr val="212121"/>
                </a:solidFill>
              </a:rPr>
              <a:t>    image: redis:7-alpine</a:t>
            </a:r>
          </a:p>
          <a:p>
            <a:pPr rtl="0" algn="l" marL="0" indent="0">
              <a:lnSpc>
                <a:spcPct val="105000"/>
              </a:lnSpc>
              <a:spcBef>
                <a:spcPts val="0"/>
              </a:spcBef>
              <a:spcAft>
                <a:spcPts val="0"/>
              </a:spcAft>
              <a:buNone/>
            </a:pPr>
            <a:r>
              <a:rPr sz="1200" b="0" i="0" lang="he-IL">
                <a:solidFill>
                  <a:srgbClr val="212121"/>
                </a:solidFill>
              </a:rPr>
              <a:t>  api:</a:t>
            </a:r>
          </a:p>
          <a:p>
            <a:pPr rtl="0" algn="l" marL="0" indent="0">
              <a:lnSpc>
                <a:spcPct val="105000"/>
              </a:lnSpc>
              <a:spcBef>
                <a:spcPts val="0"/>
              </a:spcBef>
              <a:spcAft>
                <a:spcPts val="0"/>
              </a:spcAft>
              <a:buNone/>
            </a:pPr>
            <a:r>
              <a:rPr sz="1200" b="0" i="0" lang="he-IL">
                <a:solidFill>
                  <a:srgbClr val="212121"/>
                </a:solidFill>
              </a:rPr>
              <a:t>    build: .</a:t>
            </a:r>
          </a:p>
          <a:p>
            <a:pPr rtl="0" algn="l" marL="0" indent="0">
              <a:lnSpc>
                <a:spcPct val="105000"/>
              </a:lnSpc>
              <a:spcBef>
                <a:spcPts val="0"/>
              </a:spcBef>
              <a:spcAft>
                <a:spcPts val="0"/>
              </a:spcAft>
              <a:buNone/>
            </a:pPr>
            <a:r>
              <a:rPr sz="1200" b="0" i="0" lang="he-IL">
                <a:solidFill>
                  <a:srgbClr val="212121"/>
                </a:solidFill>
              </a:rPr>
              <a:t>    ports: ["8000:8000"]</a:t>
            </a:r>
          </a:p>
          <a:p>
            <a:pPr rtl="0" algn="l" marL="0" indent="0">
              <a:lnSpc>
                <a:spcPct val="105000"/>
              </a:lnSpc>
              <a:spcBef>
                <a:spcPts val="0"/>
              </a:spcBef>
              <a:spcAft>
                <a:spcPts val="0"/>
              </a:spcAft>
              <a:buNone/>
            </a:pPr>
            <a:r>
              <a:rPr sz="1200" b="0" i="0" lang="he-IL">
                <a:solidFill>
                  <a:srgbClr val="212121"/>
                </a:solidFill>
              </a:rPr>
              <a:t>  worker:</a:t>
            </a:r>
          </a:p>
          <a:p>
            <a:pPr rtl="0" algn="l" marL="0" indent="0">
              <a:lnSpc>
                <a:spcPct val="105000"/>
              </a:lnSpc>
              <a:spcBef>
                <a:spcPts val="0"/>
              </a:spcBef>
              <a:spcAft>
                <a:spcPts val="0"/>
              </a:spcAft>
              <a:buNone/>
            </a:pPr>
            <a:r>
              <a:rPr sz="1200" b="0" i="0" lang="he-IL">
                <a:solidFill>
                  <a:srgbClr val="212121"/>
                </a:solidFill>
              </a:rPr>
              <a:t>    build: .</a:t>
            </a:r>
          </a:p>
          <a:p>
            <a:pPr rtl="0" algn="l" marL="0" indent="0">
              <a:lnSpc>
                <a:spcPct val="105000"/>
              </a:lnSpc>
              <a:spcBef>
                <a:spcPts val="0"/>
              </a:spcBef>
              <a:spcAft>
                <a:spcPts val="0"/>
              </a:spcAft>
              <a:buNone/>
            </a:pPr>
            <a:r>
              <a:rPr sz="1200" b="0" i="0" lang="he-IL">
                <a:solidFill>
                  <a:srgbClr val="212121"/>
                </a:solidFill>
              </a:rPr>
              <a:t>    command: celery -A worker.tasks</a:t>
            </a:r>
          </a:p>
          <a:p>
            <a:pPr rtl="0" algn="l" marL="0" indent="0">
              <a:lnSpc>
                <a:spcPct val="105000"/>
              </a:lnSpc>
              <a:spcBef>
                <a:spcPts val="0"/>
              </a:spcBef>
              <a:spcAft>
                <a:spcPts val="0"/>
              </a:spcAft>
              <a:buNone/>
            </a:pPr>
            <a:r>
              <a:rPr sz="1200" b="0" i="0" lang="he-IL">
                <a:solidFill>
                  <a:srgbClr val="212121"/>
                </a:solidFill>
              </a:rPr>
              <a:t>             worker</a:t>
            </a:r>
          </a:p>
          <a:p>
            <a:pPr rtl="0" algn="l" marL="0" indent="0">
              <a:lnSpc>
                <a:spcPct val="105000"/>
              </a:lnSpc>
              <a:spcBef>
                <a:spcPts val="0"/>
              </a:spcBef>
              <a:spcAft>
                <a:spcPts val="0"/>
              </a:spcAft>
              <a:buNone/>
            </a:pPr>
            <a:r>
              <a:rPr sz="1200" b="0" i="0" lang="he-IL">
                <a:solidFill>
                  <a:srgbClr val="212121"/>
                </a:solidFill>
              </a:rPr>
              <a:t>  flower: ...</a:t>
            </a:r>
          </a:p>
          <a:p>
            <a:pPr rtl="0" algn="l" marL="0" indent="0">
              <a:lnSpc>
                <a:spcPct val="105000"/>
              </a:lnSpc>
              <a:spcBef>
                <a:spcPts val="0"/>
              </a:spcBef>
              <a:spcAft>
                <a:spcPts val="0"/>
              </a:spcAft>
              <a:buNone/>
            </a:pPr>
            <a:r>
              <a:rPr sz="1200" b="0" i="0" lang="he-IL">
                <a:solidFill>
                  <a:srgbClr val="212121"/>
                </a:solidFill>
              </a:rPr>
              <a:t>  ui: ...</a:t>
            </a:r>
          </a:p>
        </p:txBody>
      </p:sp>
      <p:sp>
        <p:nvSpPr>
          <p:cNvPr id="6" name="Rounded Rectangle 5"/>
          <p:cNvSpPr/>
          <p:nvPr/>
        </p:nvSpPr>
        <p:spPr>
          <a:xfrm>
            <a:off x="4846320" y="1417320"/>
            <a:ext cx="1234440" cy="77724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redis</a:t>
            </a:r>
          </a:p>
        </p:txBody>
      </p:sp>
      <p:sp>
        <p:nvSpPr>
          <p:cNvPr id="7" name="Rounded Rectangle 6"/>
          <p:cNvSpPr/>
          <p:nvPr/>
        </p:nvSpPr>
        <p:spPr>
          <a:xfrm>
            <a:off x="6172200" y="1417320"/>
            <a:ext cx="1234440" cy="77724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api</a:t>
            </a:r>
          </a:p>
        </p:txBody>
      </p:sp>
      <p:sp>
        <p:nvSpPr>
          <p:cNvPr id="8" name="Rounded Rectangle 7"/>
          <p:cNvSpPr/>
          <p:nvPr/>
        </p:nvSpPr>
        <p:spPr>
          <a:xfrm>
            <a:off x="7498079" y="1417320"/>
            <a:ext cx="1234440" cy="77724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worker</a:t>
            </a:r>
          </a:p>
        </p:txBody>
      </p:sp>
      <p:sp>
        <p:nvSpPr>
          <p:cNvPr id="9" name="Rounded Rectangle 8"/>
          <p:cNvSpPr/>
          <p:nvPr/>
        </p:nvSpPr>
        <p:spPr>
          <a:xfrm>
            <a:off x="4846320" y="2377440"/>
            <a:ext cx="1234440" cy="777240"/>
          </a:xfrm>
          <a:prstGeom prst="roundRect">
            <a:avLst>
              <a:gd name="adj" fmla="val 12000"/>
            </a:avLst>
          </a:prstGeom>
          <a:solidFill>
            <a:srgbClr val="FFFFFF"/>
          </a:solidFill>
          <a:ln w="31750">
            <a:solidFill>
              <a:srgbClr val="78909C"/>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flower</a:t>
            </a:r>
          </a:p>
        </p:txBody>
      </p:sp>
      <p:sp>
        <p:nvSpPr>
          <p:cNvPr id="10" name="Rounded Rectangle 9"/>
          <p:cNvSpPr/>
          <p:nvPr/>
        </p:nvSpPr>
        <p:spPr>
          <a:xfrm>
            <a:off x="6172200" y="2377440"/>
            <a:ext cx="1234440" cy="77724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ui</a:t>
            </a:r>
          </a:p>
        </p:txBody>
      </p:sp>
      <p:sp>
        <p:nvSpPr>
          <p:cNvPr id="11" name="Rounded Rectangle 10"/>
          <p:cNvSpPr/>
          <p:nvPr/>
        </p:nvSpPr>
        <p:spPr>
          <a:xfrm>
            <a:off x="4846320" y="3429000"/>
            <a:ext cx="3931920" cy="118872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12" name="Rectangle 11"/>
          <p:cNvSpPr/>
          <p:nvPr/>
        </p:nvSpPr>
        <p:spPr>
          <a:xfrm>
            <a:off x="4846320" y="3429000"/>
            <a:ext cx="393192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13" name="TextBox 12"/>
          <p:cNvSpPr txBox="1"/>
          <p:nvPr/>
        </p:nvSpPr>
        <p:spPr>
          <a:xfrm>
            <a:off x="4937759" y="3813048"/>
            <a:ext cx="3749039" cy="73152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300" b="0" i="0" lang="he-IL">
                <a:solidFill>
                  <a:srgbClr val="7CFC8A"/>
                </a:solidFill>
                <a:latin typeface="Courier New"/>
                <a:ea typeface="Courier New"/>
                <a:cs typeface="Courier New"/>
              </a:rPr>
              <a:t>$ docker compose up --build</a:t>
            </a:r>
          </a:p>
        </p:txBody>
      </p:sp>
      <p:sp>
        <p:nvSpPr>
          <p:cNvPr id="14" name="TextBox 13"/>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פקודה אחת מפעילה את כל המערכת, על כל מחשב עם Docker.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מה מתי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2560320"/>
            <a:ext cx="2697480" cy="2011680"/>
          </a:xfrm>
          <a:prstGeom prst="roundRect">
            <a:avLst>
              <a:gd name="adj" fmla="val 12000"/>
            </a:avLst>
          </a:prstGeom>
          <a:solidFill>
            <a:srgbClr val="E3EEFF"/>
          </a:solidFill>
          <a:ln w="31750">
            <a:solidFill>
              <a:srgbClr val="4285F4"/>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700" b="1" i="0" lang="he-IL">
                <a:solidFill>
                  <a:srgbClr val="212121"/>
                </a:solidFill>
              </a:rPr>
              <a:t>venv על המחשב</a:t>
            </a:r>
          </a:p>
          <a:p>
            <a:pPr rtl="1" algn="ctr" marL="0" indent="0">
              <a:lnSpc>
                <a:spcPct val="105000"/>
              </a:lnSpc>
              <a:spcBef>
                <a:spcPts val="0"/>
              </a:spcBef>
              <a:spcAft>
                <a:spcPts val="0"/>
              </a:spcAft>
              <a:buNone/>
            </a:pPr>
            <a:r>
              <a:rPr sz="1300" b="0" i="0" lang="he-IL">
                <a:solidFill>
                  <a:srgbClr val="595959"/>
                </a:solidFill>
              </a:rPr>
              <a:t>פיתוח אישי, מהיר</a:t>
            </a:r>
          </a:p>
        </p:txBody>
      </p:sp>
      <p:sp>
        <p:nvSpPr>
          <p:cNvPr id="6" name="Rounded Rectangle 5"/>
          <p:cNvSpPr/>
          <p:nvPr/>
        </p:nvSpPr>
        <p:spPr>
          <a:xfrm>
            <a:off x="3246120" y="2103120"/>
            <a:ext cx="2697480" cy="246888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700" b="1" i="0" lang="he-IL">
                <a:solidFill>
                  <a:srgbClr val="212121"/>
                </a:solidFill>
              </a:rPr>
              <a:t>Docker + compose</a:t>
            </a:r>
          </a:p>
          <a:p>
            <a:pPr rtl="1" algn="ctr" marL="0" indent="0">
              <a:lnSpc>
                <a:spcPct val="105000"/>
              </a:lnSpc>
              <a:spcBef>
                <a:spcPts val="0"/>
              </a:spcBef>
              <a:spcAft>
                <a:spcPts val="0"/>
              </a:spcAft>
              <a:buNone/>
            </a:pPr>
            <a:r>
              <a:rPr sz="1300" b="0" i="0" lang="he-IL">
                <a:solidFill>
                  <a:srgbClr val="595959"/>
                </a:solidFill>
              </a:rPr>
              <a:t>פרויקט קבוצתי, הדגמה ופריסה אחת</a:t>
            </a:r>
          </a:p>
        </p:txBody>
      </p:sp>
      <p:sp>
        <p:nvSpPr>
          <p:cNvPr id="7" name="Rounded Rectangle 6"/>
          <p:cNvSpPr/>
          <p:nvPr/>
        </p:nvSpPr>
        <p:spPr>
          <a:xfrm>
            <a:off x="320039" y="1645919"/>
            <a:ext cx="2697480" cy="2926080"/>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700" b="1" i="0" lang="he-IL">
                <a:solidFill>
                  <a:srgbClr val="212121"/>
                </a:solidFill>
              </a:rPr>
              <a:t>Kubernetes</a:t>
            </a:r>
          </a:p>
          <a:p>
            <a:pPr rtl="1" algn="ctr" marL="0" indent="0">
              <a:lnSpc>
                <a:spcPct val="105000"/>
              </a:lnSpc>
              <a:spcBef>
                <a:spcPts val="0"/>
              </a:spcBef>
              <a:spcAft>
                <a:spcPts val="0"/>
              </a:spcAft>
              <a:buNone/>
            </a:pPr>
            <a:r>
              <a:rPr sz="1300" b="0" i="0" lang="he-IL">
                <a:solidFill>
                  <a:srgbClr val="595959"/>
                </a:solidFill>
              </a:rPr>
              <a:t>הרבה משתמשים, הרבה שירותים, צוות תפעול</a:t>
            </a:r>
          </a:p>
        </p:txBody>
      </p:sp>
      <p:sp>
        <p:nvSpPr>
          <p:cNvPr id="8" name="TextBox 7"/>
          <p:cNvSpPr txBox="1"/>
          <p:nvPr/>
        </p:nvSpPr>
        <p:spPr>
          <a:xfrm>
            <a:off x="365760" y="4709160"/>
            <a:ext cx="8412480" cy="411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34A853"/>
                </a:solidFill>
              </a:rPr>
              <a:t>בפרויקט שלכם: compose מספיק. Kubernetes להכרות.</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מה ההבדל המרכזי בין קונטיינר למכונה וירטואלית, ומה המשמעות?</a:t>
            </a:r>
          </a:p>
        </p:txBody>
      </p:sp>
      <p:sp>
        <p:nvSpPr>
          <p:cNvPr id="6"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מה ההבדל המרכזי בין קונטיינר למכונה וירטואלית, ומה המשמעות?</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VM מריצה מערכת הפעלה שלמה על Hypervisor. קונטיינרים חולקים את הגרעין של המארח.</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לכן קונטיינרים קלים ומהירים יותר, אבל מבודדים פחות.</a:t>
            </a:r>
          </a:p>
        </p:txBody>
      </p:sp>
      <p:sp>
        <p:nvSpPr>
          <p:cNvPr id="7"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מודל איטי מול משתמשים רבים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274320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EA4335"/>
                </a:solidFill>
              </a:rPr>
              <a:t>סינכרוני</a:t>
            </a:r>
          </a:p>
          <a:p>
            <a:pPr rtl="1" algn="ctr" marL="0" indent="0">
              <a:lnSpc>
                <a:spcPct val="105000"/>
              </a:lnSpc>
              <a:spcBef>
                <a:spcPts val="0"/>
              </a:spcBef>
              <a:spcAft>
                <a:spcPts val="0"/>
              </a:spcAft>
              <a:buNone/>
            </a:pPr>
            <a:r>
              <a:rPr sz="1500" b="0" i="0" lang="he-IL">
                <a:solidFill>
                  <a:srgbClr val="212121"/>
                </a:solidFill>
              </a:rPr>
              <a:t>הבקשה מחכה עד שהמודל מסיים.
משתמש 2 מחכה למשתמש 1.
חיבור שנפל = עבודה אבדה.</a:t>
            </a:r>
          </a:p>
        </p:txBody>
      </p:sp>
      <p:sp>
        <p:nvSpPr>
          <p:cNvPr id="6" name="Rounded Rectangle 5"/>
          <p:cNvSpPr/>
          <p:nvPr/>
        </p:nvSpPr>
        <p:spPr>
          <a:xfrm>
            <a:off x="365760" y="1371600"/>
            <a:ext cx="4114800" cy="27432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34A853"/>
                </a:solidFill>
              </a:rPr>
              <a:t>אסינכרוני עם תור</a:t>
            </a:r>
          </a:p>
          <a:p>
            <a:pPr rtl="1" algn="ctr" marL="0" indent="0">
              <a:lnSpc>
                <a:spcPct val="105000"/>
              </a:lnSpc>
              <a:spcBef>
                <a:spcPts val="0"/>
              </a:spcBef>
              <a:spcAft>
                <a:spcPts val="0"/>
              </a:spcAft>
              <a:buNone/>
            </a:pPr>
            <a:r>
              <a:rPr sz="1500" b="0" i="0" lang="he-IL">
                <a:solidFill>
                  <a:srgbClr val="212121"/>
                </a:solidFill>
              </a:rPr>
              <a:t>מחזירים מיד "קיבלתי" (202).
העבודה ממתינה בתור.
עובד מטפל, והלקוח בודק סטטוס.</a:t>
            </a:r>
          </a:p>
        </p:txBody>
      </p:sp>
      <p:sp>
        <p:nvSpPr>
          <p:cNvPr id="7" name="TextBox 6"/>
          <p:cNvSpPr txBox="1"/>
          <p:nvPr/>
        </p:nvSpPr>
        <p:spPr>
          <a:xfrm>
            <a:off x="365760" y="4389120"/>
            <a:ext cx="8412480" cy="6858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מודל שלוקח 10 שניות לא יכול לחסום שרת שמשרת מאה משתמשים.</a:t>
            </a:r>
          </a:p>
        </p:txBody>
      </p:sp>
      <p:sp>
        <p:nvSpPr>
          <p:cNvPr id="8"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2: תשובה נבנית טוקן אחר טוקן</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תור ועובדים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766560" y="1234440"/>
            <a:ext cx="201168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ממשק</a:t>
            </a:r>
          </a:p>
          <a:p>
            <a:pPr rtl="1" algn="ctr" marL="0" indent="0">
              <a:lnSpc>
                <a:spcPct val="105000"/>
              </a:lnSpc>
              <a:spcBef>
                <a:spcPts val="0"/>
              </a:spcBef>
              <a:spcAft>
                <a:spcPts val="0"/>
              </a:spcAft>
              <a:buNone/>
            </a:pPr>
            <a:r>
              <a:rPr sz="1400" b="1" i="0" lang="he-IL">
                <a:solidFill>
                  <a:srgbClr val="212121"/>
                </a:solidFill>
              </a:rPr>
              <a:t>(Streamlit)</a:t>
            </a:r>
          </a:p>
        </p:txBody>
      </p:sp>
      <p:sp>
        <p:nvSpPr>
          <p:cNvPr id="6" name="Rounded Rectangle 5"/>
          <p:cNvSpPr/>
          <p:nvPr/>
        </p:nvSpPr>
        <p:spPr>
          <a:xfrm>
            <a:off x="6766560" y="2423160"/>
            <a:ext cx="201168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API</a:t>
            </a:r>
          </a:p>
          <a:p>
            <a:pPr rtl="1" algn="ctr" marL="0" indent="0">
              <a:lnSpc>
                <a:spcPct val="105000"/>
              </a:lnSpc>
              <a:spcBef>
                <a:spcPts val="0"/>
              </a:spcBef>
              <a:spcAft>
                <a:spcPts val="0"/>
              </a:spcAft>
              <a:buNone/>
            </a:pPr>
            <a:r>
              <a:rPr sz="1400" b="1" i="0" lang="he-IL">
                <a:solidFill>
                  <a:srgbClr val="212121"/>
                </a:solidFill>
              </a:rPr>
              <a:t>(FastAPI)</a:t>
            </a:r>
          </a:p>
        </p:txBody>
      </p:sp>
      <p:sp>
        <p:nvSpPr>
          <p:cNvPr id="7" name="Rounded Rectangle 6"/>
          <p:cNvSpPr/>
          <p:nvPr/>
        </p:nvSpPr>
        <p:spPr>
          <a:xfrm>
            <a:off x="3657600" y="2423160"/>
            <a:ext cx="201168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מסד נתונים</a:t>
            </a:r>
          </a:p>
          <a:p>
            <a:pPr rtl="1" algn="ctr" marL="0" indent="0">
              <a:lnSpc>
                <a:spcPct val="105000"/>
              </a:lnSpc>
              <a:spcBef>
                <a:spcPts val="0"/>
              </a:spcBef>
              <a:spcAft>
                <a:spcPts val="0"/>
              </a:spcAft>
              <a:buNone/>
            </a:pPr>
            <a:r>
              <a:rPr sz="1400" b="1" i="0" lang="he-IL">
                <a:solidFill>
                  <a:srgbClr val="212121"/>
                </a:solidFill>
              </a:rPr>
              <a:t>(SQL)</a:t>
            </a:r>
          </a:p>
        </p:txBody>
      </p:sp>
      <p:sp>
        <p:nvSpPr>
          <p:cNvPr id="8" name="Rounded Rectangle 7"/>
          <p:cNvSpPr/>
          <p:nvPr/>
        </p:nvSpPr>
        <p:spPr>
          <a:xfrm>
            <a:off x="6766560" y="3611880"/>
            <a:ext cx="2011680" cy="7772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תור</a:t>
            </a:r>
          </a:p>
          <a:p>
            <a:pPr rtl="1" algn="ctr" marL="0" indent="0">
              <a:lnSpc>
                <a:spcPct val="105000"/>
              </a:lnSpc>
              <a:spcBef>
                <a:spcPts val="0"/>
              </a:spcBef>
              <a:spcAft>
                <a:spcPts val="0"/>
              </a:spcAft>
              <a:buNone/>
            </a:pPr>
            <a:r>
              <a:rPr sz="1400" b="1" i="0" lang="he-IL">
                <a:solidFill>
                  <a:srgbClr val="212121"/>
                </a:solidFill>
              </a:rPr>
              <a:t>(Redis)</a:t>
            </a:r>
          </a:p>
        </p:txBody>
      </p:sp>
      <p:sp>
        <p:nvSpPr>
          <p:cNvPr id="9" name="Rounded Rectangle 8"/>
          <p:cNvSpPr/>
          <p:nvPr/>
        </p:nvSpPr>
        <p:spPr>
          <a:xfrm>
            <a:off x="3657600" y="3611880"/>
            <a:ext cx="2011680" cy="7772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עובד</a:t>
            </a:r>
          </a:p>
          <a:p>
            <a:pPr rtl="1" algn="ctr" marL="0" indent="0">
              <a:lnSpc>
                <a:spcPct val="105000"/>
              </a:lnSpc>
              <a:spcBef>
                <a:spcPts val="0"/>
              </a:spcBef>
              <a:spcAft>
                <a:spcPts val="0"/>
              </a:spcAft>
              <a:buNone/>
            </a:pPr>
            <a:r>
              <a:rPr sz="1400" b="1" i="0" lang="he-IL">
                <a:solidFill>
                  <a:srgbClr val="212121"/>
                </a:solidFill>
              </a:rPr>
              <a:t>(Celery + מודל)</a:t>
            </a:r>
          </a:p>
        </p:txBody>
      </p:sp>
      <p:sp>
        <p:nvSpPr>
          <p:cNvPr id="10" name="Rounded Rectangle 9"/>
          <p:cNvSpPr/>
          <p:nvPr/>
        </p:nvSpPr>
        <p:spPr>
          <a:xfrm>
            <a:off x="548640" y="3611880"/>
            <a:ext cx="219456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ניטור</a:t>
            </a:r>
          </a:p>
          <a:p>
            <a:pPr rtl="1" algn="ctr" marL="0" indent="0">
              <a:lnSpc>
                <a:spcPct val="105000"/>
              </a:lnSpc>
              <a:spcBef>
                <a:spcPts val="0"/>
              </a:spcBef>
              <a:spcAft>
                <a:spcPts val="0"/>
              </a:spcAft>
              <a:buNone/>
            </a:pPr>
            <a:r>
              <a:rPr sz="1400" b="1" i="0" lang="he-IL">
                <a:solidFill>
                  <a:srgbClr val="212121"/>
                </a:solidFill>
              </a:rPr>
              <a:t>(Flower)</a:t>
            </a:r>
          </a:p>
        </p:txBody>
      </p:sp>
      <p:cxnSp>
        <p:nvCxnSpPr>
          <p:cNvPr id="11" name="Connector 10"/>
          <p:cNvCxnSpPr/>
          <p:nvPr/>
        </p:nvCxnSpPr>
        <p:spPr>
          <a:xfrm>
            <a:off x="7772400" y="201168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669280" y="280720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669280" y="399592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6344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743200" y="3995928"/>
            <a:ext cx="91440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הרכיבים: מי עושה 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12480" cy="3328416"/>
        </p:xfrm>
        <a:graphic>
          <a:graphicData uri="http://schemas.openxmlformats.org/drawingml/2006/table">
            <a:tbl>
              <a:tblPr firstRow="0" bandRow="0">
                <a:tableStyleId>{2D5ABB26-0587-4C30-8999-92F81FD0307C}</a:tableStyleId>
              </a:tblPr>
              <a:tblGrid>
                <a:gridCol w="2103120"/>
                <a:gridCol w="4206240"/>
                <a:gridCol w="2103120"/>
              </a:tblGrid>
              <a:tr h="475488">
                <a:tc>
                  <a:txBody>
                    <a:bodyPr wrap="square"/>
                    <a:lstStyle/>
                    <a:p>
                      <a:pPr rtl="1" algn="ctr" marL="0" indent="0">
                        <a:lnSpc>
                          <a:spcPct val="100000"/>
                        </a:lnSpc>
                        <a:spcBef>
                          <a:spcPts val="0"/>
                        </a:spcBef>
                        <a:spcAft>
                          <a:spcPts val="0"/>
                        </a:spcAft>
                        <a:buNone/>
                      </a:pPr>
                      <a:r>
                        <a:rPr sz="1300" b="1" i="0" lang="he-IL">
                          <a:solidFill>
                            <a:srgbClr val="212121"/>
                          </a:solidFill>
                        </a:rPr>
                        <a:t>במסעדה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תפקיד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רכיב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מלצר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מקבל בקשות ורושם משימה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FastAPI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פס ההזמנות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התור: מחזיק משימות עד שיטופלו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Redis (broker)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שיטת העבודה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ספרייה: מגדירה משימות ועובדים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Celery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טבח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מריץ את המודל ושומר תוצאה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Worker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מסך המנהל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לוח בקרה: משימות ועובדים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Flower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300" b="0" i="0" lang="he-IL">
                          <a:solidFill>
                            <a:srgbClr val="212121"/>
                          </a:solidFill>
                        </a:rPr>
                        <a:t>פנקס הזמנות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מצב ותוצאה של כל משימה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SQL / DB</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מחזור החיים של משימה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400800" y="1371600"/>
            <a:ext cx="2377440" cy="10058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queued</a:t>
            </a:r>
          </a:p>
          <a:p>
            <a:pPr rtl="1" algn="ctr" marL="0" indent="0">
              <a:lnSpc>
                <a:spcPct val="105000"/>
              </a:lnSpc>
              <a:spcBef>
                <a:spcPts val="0"/>
              </a:spcBef>
              <a:spcAft>
                <a:spcPts val="0"/>
              </a:spcAft>
              <a:buNone/>
            </a:pPr>
            <a:r>
              <a:rPr sz="1500" b="1" i="0" lang="he-IL">
                <a:solidFill>
                  <a:srgbClr val="212121"/>
                </a:solidFill>
              </a:rPr>
              <a:t>בתור</a:t>
            </a:r>
          </a:p>
        </p:txBody>
      </p:sp>
      <p:cxnSp>
        <p:nvCxnSpPr>
          <p:cNvPr id="6" name="Connector 5"/>
          <p:cNvCxnSpPr/>
          <p:nvPr/>
        </p:nvCxnSpPr>
        <p:spPr>
          <a:xfrm flipH="1">
            <a:off x="5870448" y="1874519"/>
            <a:ext cx="5120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74720" y="1371600"/>
            <a:ext cx="2377440" cy="100584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running</a:t>
            </a:r>
          </a:p>
          <a:p>
            <a:pPr rtl="1" algn="ctr" marL="0" indent="0">
              <a:lnSpc>
                <a:spcPct val="105000"/>
              </a:lnSpc>
              <a:spcBef>
                <a:spcPts val="0"/>
              </a:spcBef>
              <a:spcAft>
                <a:spcPts val="0"/>
              </a:spcAft>
              <a:buNone/>
            </a:pPr>
            <a:r>
              <a:rPr sz="1500" b="1" i="0" lang="he-IL">
                <a:solidFill>
                  <a:srgbClr val="212121"/>
                </a:solidFill>
              </a:rPr>
              <a:t>עובד עליה</a:t>
            </a:r>
          </a:p>
        </p:txBody>
      </p:sp>
      <p:cxnSp>
        <p:nvCxnSpPr>
          <p:cNvPr id="8" name="Connector 7"/>
          <p:cNvCxnSpPr/>
          <p:nvPr/>
        </p:nvCxnSpPr>
        <p:spPr>
          <a:xfrm flipH="1">
            <a:off x="2944368" y="1874519"/>
            <a:ext cx="5120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39" y="1371600"/>
            <a:ext cx="2377440" cy="100584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done</a:t>
            </a:r>
          </a:p>
          <a:p>
            <a:pPr rtl="1" algn="ctr" marL="0" indent="0">
              <a:lnSpc>
                <a:spcPct val="105000"/>
              </a:lnSpc>
              <a:spcBef>
                <a:spcPts val="0"/>
              </a:spcBef>
              <a:spcAft>
                <a:spcPts val="0"/>
              </a:spcAft>
              <a:buNone/>
            </a:pPr>
            <a:r>
              <a:rPr sz="1500" b="1" i="0" lang="he-IL">
                <a:solidFill>
                  <a:srgbClr val="212121"/>
                </a:solidFill>
              </a:rPr>
              <a:t>הסתיימה</a:t>
            </a:r>
          </a:p>
        </p:txBody>
      </p:sp>
      <p:sp>
        <p:nvSpPr>
          <p:cNvPr id="10" name="Rectangle 9"/>
          <p:cNvSpPr/>
          <p:nvPr/>
        </p:nvSpPr>
        <p:spPr>
          <a:xfrm>
            <a:off x="365760" y="2651760"/>
            <a:ext cx="8412480" cy="128016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{"job_id":4,"status":"queued","result":null}</a:t>
            </a:r>
          </a:p>
          <a:p>
            <a:pPr rtl="0" algn="l" marL="0" indent="0">
              <a:lnSpc>
                <a:spcPct val="105000"/>
              </a:lnSpc>
              <a:spcBef>
                <a:spcPts val="0"/>
              </a:spcBef>
              <a:spcAft>
                <a:spcPts val="0"/>
              </a:spcAft>
              <a:buNone/>
            </a:pPr>
            <a:r>
              <a:rPr sz="1200" b="0" i="0" lang="he-IL">
                <a:solidFill>
                  <a:srgbClr val="212121"/>
                </a:solidFill>
              </a:rPr>
              <a:t>{"job_id":4,"status":"running","result":null}</a:t>
            </a:r>
          </a:p>
          <a:p>
            <a:pPr rtl="0" algn="l" marL="0" indent="0">
              <a:lnSpc>
                <a:spcPct val="105000"/>
              </a:lnSpc>
              <a:spcBef>
                <a:spcPts val="0"/>
              </a:spcBef>
              <a:spcAft>
                <a:spcPts val="0"/>
              </a:spcAft>
              <a:buNone/>
            </a:pPr>
            <a:r>
              <a:rPr sz="1200" b="0" i="0" lang="he-IL">
                <a:solidFill>
                  <a:srgbClr val="212121"/>
                </a:solidFill>
              </a:rPr>
              <a:t>{"job_id":4,"status":"done","result":"{\"category\": \"delay\", \"urgent\": true}"}</a:t>
            </a:r>
          </a:p>
        </p:txBody>
      </p:sp>
      <p:sp>
        <p:nvSpPr>
          <p:cNvPr id="11" name="Rounded Rectangle 10"/>
          <p:cNvSpPr/>
          <p:nvPr/>
        </p:nvSpPr>
        <p:spPr>
          <a:xfrm>
            <a:off x="365760" y="4160520"/>
            <a:ext cx="8412480" cy="86868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EA4335"/>
                </a:solidFill>
              </a:rPr>
              <a:t>אם העובד נופל באמצע, המשימה נשארת תקועה. לכן: ניטור, זמן קצוב וניסיון חוזר.</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קריאה ל־LLM API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846320" y="1371600"/>
            <a:ext cx="3931920" cy="15544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AB40"/>
                </a:solidFill>
              </a:rPr>
              <a:t>הודעת מערכת (system)</a:t>
            </a:r>
          </a:p>
          <a:p>
            <a:pPr rtl="0" algn="l" marL="0" indent="0">
              <a:lnSpc>
                <a:spcPct val="105000"/>
              </a:lnSpc>
              <a:spcBef>
                <a:spcPts val="0"/>
              </a:spcBef>
              <a:spcAft>
                <a:spcPts val="0"/>
              </a:spcAft>
              <a:buNone/>
            </a:pPr>
            <a:r>
              <a:rPr sz="1200" b="0" i="0" lang="he-IL">
                <a:solidFill>
                  <a:srgbClr val="212121"/>
                </a:solidFill>
              </a:rPr>
              <a:t>You classify supplier emails. Reply with JSON only: category (delay | price | invoice | other), urgent (true/false).</a:t>
            </a:r>
          </a:p>
        </p:txBody>
      </p:sp>
      <p:sp>
        <p:nvSpPr>
          <p:cNvPr id="6" name="Rounded Rectangle 5"/>
          <p:cNvSpPr/>
          <p:nvPr/>
        </p:nvSpPr>
        <p:spPr>
          <a:xfrm>
            <a:off x="4846320" y="3063240"/>
            <a:ext cx="393192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4285F4"/>
                </a:solidFill>
              </a:rPr>
              <a:t>הודעת משתמש (user)</a:t>
            </a:r>
          </a:p>
          <a:p>
            <a:pPr rtl="0" algn="l" marL="0" indent="0">
              <a:lnSpc>
                <a:spcPct val="105000"/>
              </a:lnSpc>
              <a:spcBef>
                <a:spcPts val="0"/>
              </a:spcBef>
              <a:spcAft>
                <a:spcPts val="0"/>
              </a:spcAft>
              <a:buNone/>
            </a:pPr>
            <a:r>
              <a:rPr sz="1300" b="0" i="0" lang="he-IL">
                <a:solidFill>
                  <a:srgbClr val="212121"/>
                </a:solidFill>
              </a:rPr>
              <a:t>"Shipment of Desk Lamps will be 5 days late."</a:t>
            </a:r>
          </a:p>
        </p:txBody>
      </p:sp>
      <p:sp>
        <p:nvSpPr>
          <p:cNvPr id="7" name="Rounded Rectangle 6"/>
          <p:cNvSpPr/>
          <p:nvPr/>
        </p:nvSpPr>
        <p:spPr>
          <a:xfrm>
            <a:off x="365760" y="1371600"/>
            <a:ext cx="4023360" cy="15544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34A853"/>
                </a:solidFill>
              </a:rPr>
              <a:t>תשובת המודל</a:t>
            </a:r>
          </a:p>
          <a:p>
            <a:pPr rtl="0" algn="l" marL="0" indent="0">
              <a:lnSpc>
                <a:spcPct val="105000"/>
              </a:lnSpc>
              <a:spcBef>
                <a:spcPts val="0"/>
              </a:spcBef>
              <a:spcAft>
                <a:spcPts val="0"/>
              </a:spcAft>
              <a:buNone/>
            </a:pPr>
            <a:r>
              <a:rPr sz="1500" b="0" i="0" lang="he-IL">
                <a:solidFill>
                  <a:srgbClr val="212121"/>
                </a:solidFill>
              </a:rPr>
              <a:t>{"category": "delay",
 "urgent": true}</a:t>
            </a:r>
          </a:p>
        </p:txBody>
      </p:sp>
      <p:sp>
        <p:nvSpPr>
          <p:cNvPr id="8" name="Rounded Rectangle 7"/>
          <p:cNvSpPr/>
          <p:nvPr/>
        </p:nvSpPr>
        <p:spPr>
          <a:xfrm>
            <a:off x="365760" y="3063240"/>
            <a:ext cx="4023360" cy="1097280"/>
          </a:xfrm>
          <a:prstGeom prst="roundRect">
            <a:avLst>
              <a:gd name="adj" fmla="val 12000"/>
            </a:avLst>
          </a:prstGeom>
          <a:solidFill>
            <a:srgbClr val="DDF2F5"/>
          </a:solidFill>
          <a:ln w="19050">
            <a:solidFill>
              <a:srgbClr val="0097A7"/>
            </a:solidFill>
          </a:ln>
        </p:spPr>
        <p:txBody>
          <a:bodyPr rtlCol="0" anchor="ctr" wrap="square" lIns="36576" rIns="36576" tIns="36576" bIns="36576">
            <a:noAutofit/>
          </a:bodyPr>
          <a:lstStyle/>
          <a:p>
            <a:pPr rtl="1" algn="ctr" marL="0" indent="0">
              <a:lnSpc>
                <a:spcPct val="105000"/>
              </a:lnSpc>
              <a:spcBef>
                <a:spcPts val="0"/>
              </a:spcBef>
              <a:spcAft>
                <a:spcPts val="0"/>
              </a:spcAft>
              <a:buNone/>
            </a:pPr>
            <a:r>
              <a:rPr sz="1300" b="0" i="0" lang="he-IL">
                <a:solidFill>
                  <a:srgbClr val="595959"/>
                </a:solidFill>
              </a:rPr>
              <a:t>הגדרה חשובה</a:t>
            </a:r>
          </a:p>
          <a:p>
            <a:pPr rtl="1" algn="ctr" marL="0" indent="0">
              <a:lnSpc>
                <a:spcPct val="105000"/>
              </a:lnSpc>
              <a:spcBef>
                <a:spcPts val="0"/>
              </a:spcBef>
              <a:spcAft>
                <a:spcPts val="0"/>
              </a:spcAft>
              <a:buNone/>
            </a:pPr>
            <a:r>
              <a:rPr sz="1500" b="1" i="0" lang="he-IL">
                <a:solidFill>
                  <a:srgbClr val="212121"/>
                </a:solidFill>
              </a:rPr>
              <a:t>temperature נמוכה = פלט יציב יותר</a:t>
            </a:r>
          </a:p>
        </p:txBody>
      </p:sp>
      <p:cxnSp>
        <p:nvCxnSpPr>
          <p:cNvPr id="9" name="Connector 8"/>
          <p:cNvCxnSpPr/>
          <p:nvPr/>
        </p:nvCxnSpPr>
        <p:spPr>
          <a:xfrm flipH="1">
            <a:off x="4434840" y="2103120"/>
            <a:ext cx="36576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 y="4343400"/>
            <a:ext cx="8412480" cy="7772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אותו מבנה אצל כל ספק: הודעות נכנסות, תשובה יוצאת, מפתח במשתנה סביבה.</a:t>
            </a:r>
          </a:p>
          <a:p>
            <a:pPr rtl="1" algn="ctr" marL="0" indent="0">
              <a:lnSpc>
                <a:spcPct val="110000"/>
              </a:lnSpc>
              <a:spcBef>
                <a:spcPts val="0"/>
              </a:spcBef>
              <a:spcAft>
                <a:spcPts val="0"/>
              </a:spcAft>
              <a:buNone/>
            </a:pPr>
            <a:r>
              <a:rPr sz="1300" b="0" i="0" lang="he-IL">
                <a:solidFill>
                  <a:srgbClr val="595959"/>
                </a:solidFill>
              </a:rPr>
              <a:t>הקוד המדויק לפי הספק שנבחר, בדף ההוראות. מכסות חינמיות משתנות: לבדוק.</a:t>
            </a:r>
          </a:p>
        </p:txBody>
      </p:sp>
      <p:sp>
        <p:nvSpPr>
          <p:cNvPr id="11"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2: טמפרטורה, כאן דרך API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המודל בתוך העובד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737360"/>
            <a:ext cx="4114800" cy="228600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def classify(text):</a:t>
            </a:r>
          </a:p>
          <a:p>
            <a:pPr rtl="0" algn="l" marL="0" indent="0">
              <a:lnSpc>
                <a:spcPct val="105000"/>
              </a:lnSpc>
              <a:spcBef>
                <a:spcPts val="0"/>
              </a:spcBef>
              <a:spcAft>
                <a:spcPts val="0"/>
              </a:spcAft>
              <a:buNone/>
            </a:pPr>
            <a:r>
              <a:rPr sz="1200" b="0" i="0" lang="he-IL">
                <a:solidFill>
                  <a:srgbClr val="212121"/>
                </a:solidFill>
              </a:rPr>
              <a:t>    t = text.lower()</a:t>
            </a:r>
          </a:p>
          <a:p>
            <a:pPr rtl="0" algn="l" marL="0" indent="0">
              <a:lnSpc>
                <a:spcPct val="105000"/>
              </a:lnSpc>
              <a:spcBef>
                <a:spcPts val="0"/>
              </a:spcBef>
              <a:spcAft>
                <a:spcPts val="0"/>
              </a:spcAft>
              <a:buNone/>
            </a:pPr>
            <a:r>
              <a:rPr sz="1200" b="0" i="0" lang="he-IL">
                <a:solidFill>
                  <a:srgbClr val="212121"/>
                </a:solidFill>
              </a:rPr>
              <a:t>    if "invoice" in t:</a:t>
            </a:r>
          </a:p>
          <a:p>
            <a:pPr rtl="0" algn="l" marL="0" indent="0">
              <a:lnSpc>
                <a:spcPct val="105000"/>
              </a:lnSpc>
              <a:spcBef>
                <a:spcPts val="0"/>
              </a:spcBef>
              <a:spcAft>
                <a:spcPts val="0"/>
              </a:spcAft>
              <a:buNone/>
            </a:pPr>
            <a:r>
              <a:rPr sz="1200" b="0" i="0" lang="he-IL">
                <a:solidFill>
                  <a:srgbClr val="212121"/>
                </a:solidFill>
              </a:rPr>
              <a:t>        return {"category": "invoice"}</a:t>
            </a:r>
          </a:p>
          <a:p>
            <a:pPr rtl="0" algn="l" marL="0" indent="0">
              <a:lnSpc>
                <a:spcPct val="105000"/>
              </a:lnSpc>
              <a:spcBef>
                <a:spcPts val="0"/>
              </a:spcBef>
              <a:spcAft>
                <a:spcPts val="0"/>
              </a:spcAft>
              <a:buNone/>
            </a:pPr>
            <a:r>
              <a:rPr sz="1200" b="0" i="0" lang="he-IL">
                <a:solidFill>
                  <a:srgbClr val="212121"/>
                </a:solidFill>
              </a:rPr>
              <a:t>    if "late" in t or "delay" in t:</a:t>
            </a:r>
          </a:p>
          <a:p>
            <a:pPr rtl="0" algn="l" marL="0" indent="0">
              <a:lnSpc>
                <a:spcPct val="105000"/>
              </a:lnSpc>
              <a:spcBef>
                <a:spcPts val="0"/>
              </a:spcBef>
              <a:spcAft>
                <a:spcPts val="0"/>
              </a:spcAft>
              <a:buNone/>
            </a:pPr>
            <a:r>
              <a:rPr sz="1200" b="0" i="0" lang="he-IL">
                <a:solidFill>
                  <a:srgbClr val="212121"/>
                </a:solidFill>
              </a:rPr>
              <a:t>        return {"category": "delay"}</a:t>
            </a:r>
          </a:p>
          <a:p>
            <a:pPr rtl="0" algn="l" marL="0" indent="0">
              <a:lnSpc>
                <a:spcPct val="105000"/>
              </a:lnSpc>
              <a:spcBef>
                <a:spcPts val="0"/>
              </a:spcBef>
              <a:spcAft>
                <a:spcPts val="0"/>
              </a:spcAft>
              <a:buNone/>
            </a:pPr>
            <a:r>
              <a:rPr sz="1200" b="0" i="0" lang="he-IL">
                <a:solidFill>
                  <a:srgbClr val="212121"/>
                </a:solidFill>
              </a:rPr>
              <a:t>    return {"category": "other"}</a:t>
            </a:r>
          </a:p>
        </p:txBody>
      </p:sp>
      <p:sp>
        <p:nvSpPr>
          <p:cNvPr id="6" name="Rectangle 5"/>
          <p:cNvSpPr/>
          <p:nvPr/>
        </p:nvSpPr>
        <p:spPr>
          <a:xfrm>
            <a:off x="4663440" y="1737360"/>
            <a:ext cx="4114800" cy="2286000"/>
          </a:xfrm>
          <a:prstGeom prst="rect">
            <a:avLst/>
          </a:prstGeom>
          <a:solidFill>
            <a:srgbClr val="FFF0D9"/>
          </a:solidFill>
          <a:ln w="19050">
            <a:solidFill>
              <a:srgbClr val="FFAB40"/>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def classify(text):</a:t>
            </a:r>
          </a:p>
          <a:p>
            <a:pPr rtl="0" algn="l" marL="0" indent="0">
              <a:lnSpc>
                <a:spcPct val="105000"/>
              </a:lnSpc>
              <a:spcBef>
                <a:spcPts val="0"/>
              </a:spcBef>
              <a:spcAft>
                <a:spcPts val="0"/>
              </a:spcAft>
              <a:buNone/>
            </a:pPr>
            <a:r>
              <a:rPr sz="1200" b="0" i="0" lang="he-IL">
                <a:solidFill>
                  <a:srgbClr val="212121"/>
                </a:solidFill>
              </a:rPr>
              <a:t>    key = os.environ["LLM_KEY"]</a:t>
            </a:r>
          </a:p>
          <a:p>
            <a:pPr rtl="0" algn="l" marL="0" indent="0">
              <a:lnSpc>
                <a:spcPct val="105000"/>
              </a:lnSpc>
              <a:spcBef>
                <a:spcPts val="0"/>
              </a:spcBef>
              <a:spcAft>
                <a:spcPts val="0"/>
              </a:spcAft>
              <a:buNone/>
            </a:pPr>
            <a:r>
              <a:rPr sz="1200" b="0" i="0" lang="he-IL">
                <a:solidFill>
                  <a:srgbClr val="212121"/>
                </a:solidFill>
              </a:rPr>
              <a:t>    reply = call_llm_api(</a:t>
            </a:r>
          </a:p>
          <a:p>
            <a:pPr rtl="0" algn="l" marL="0" indent="0">
              <a:lnSpc>
                <a:spcPct val="105000"/>
              </a:lnSpc>
              <a:spcBef>
                <a:spcPts val="0"/>
              </a:spcBef>
              <a:spcAft>
                <a:spcPts val="0"/>
              </a:spcAft>
              <a:buNone/>
            </a:pPr>
            <a:r>
              <a:rPr sz="1200" b="0" i="0" lang="he-IL">
                <a:solidFill>
                  <a:srgbClr val="212121"/>
                </a:solidFill>
              </a:rPr>
              <a:t>        key, system=PROMPT,</a:t>
            </a:r>
          </a:p>
          <a:p>
            <a:pPr rtl="0" algn="l" marL="0" indent="0">
              <a:lnSpc>
                <a:spcPct val="105000"/>
              </a:lnSpc>
              <a:spcBef>
                <a:spcPts val="0"/>
              </a:spcBef>
              <a:spcAft>
                <a:spcPts val="0"/>
              </a:spcAft>
              <a:buNone/>
            </a:pPr>
            <a:r>
              <a:rPr sz="1200" b="0" i="0" lang="he-IL">
                <a:solidFill>
                  <a:srgbClr val="212121"/>
                </a:solidFill>
              </a:rPr>
              <a:t>        user=text, temperature=0.2)</a:t>
            </a:r>
          </a:p>
          <a:p>
            <a:pPr rtl="0" algn="l" marL="0" indent="0">
              <a:lnSpc>
                <a:spcPct val="105000"/>
              </a:lnSpc>
              <a:spcBef>
                <a:spcPts val="0"/>
              </a:spcBef>
              <a:spcAft>
                <a:spcPts val="0"/>
              </a:spcAft>
              <a:buNone/>
            </a:pPr>
            <a:r>
              <a:rPr sz="1200" b="0" i="0" lang="he-IL">
                <a:solidFill>
                  <a:srgbClr val="212121"/>
                </a:solidFill>
              </a:rPr>
              <a:t>    return json.loads(reply)</a:t>
            </a:r>
          </a:p>
        </p:txBody>
      </p:sp>
      <p:sp>
        <p:nvSpPr>
          <p:cNvPr id="7" name="Rounded Rectangle 6"/>
          <p:cNvSpPr/>
          <p:nvPr/>
        </p:nvSpPr>
        <p:spPr>
          <a:xfrm>
            <a:off x="4663440" y="1353312"/>
            <a:ext cx="4114800" cy="329184"/>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בפרויקט: קריאה ל־LLM API</a:t>
            </a:r>
          </a:p>
        </p:txBody>
      </p:sp>
      <p:sp>
        <p:nvSpPr>
          <p:cNvPr id="8" name="Rounded Rectangle 7"/>
          <p:cNvSpPr/>
          <p:nvPr/>
        </p:nvSpPr>
        <p:spPr>
          <a:xfrm>
            <a:off x="365760" y="1353312"/>
            <a:ext cx="4114800" cy="329184"/>
          </a:xfrm>
          <a:prstGeom prst="roundRect">
            <a:avLst>
              <a:gd name="adj" fmla="val 12000"/>
            </a:avLst>
          </a:prstGeom>
          <a:solidFill>
            <a:srgbClr val="FFFFFF"/>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בדוגמה: כללים פשוטים</a:t>
            </a:r>
          </a:p>
        </p:txBody>
      </p:sp>
      <p:sp>
        <p:nvSpPr>
          <p:cNvPr id="9" name="TextBox 8"/>
          <p:cNvSpPr txBox="1"/>
          <p:nvPr/>
        </p:nvSpPr>
        <p:spPr>
          <a:xfrm>
            <a:off x="365760" y="4160520"/>
            <a:ext cx="8412480" cy="8686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אותה פונקציה, אותו חוזה. מחליפים רק את מה שבפנים.</a:t>
            </a:r>
          </a:p>
          <a:p>
            <a:pPr rtl="1" algn="ctr" marL="0" indent="0">
              <a:lnSpc>
                <a:spcPct val="110000"/>
              </a:lnSpc>
              <a:spcBef>
                <a:spcPts val="0"/>
              </a:spcBef>
              <a:spcAft>
                <a:spcPts val="0"/>
              </a:spcAft>
              <a:buNone/>
            </a:pPr>
            <a:r>
              <a:rPr sz="1500" b="0" i="0" lang="he-IL">
                <a:solidFill>
                  <a:srgbClr val="595959"/>
                </a:solidFill>
              </a:rPr>
              <a:t>המפתח במשתנה סביבה, ופלט המודל עובר אימות (מפגש 10).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ה־API מחזיר 202 ולא מחכה לתוצאה של המודל?</a:t>
            </a:r>
          </a:p>
        </p:txBody>
      </p:sp>
      <p:sp>
        <p:nvSpPr>
          <p:cNvPr id="6"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ה־API מחזיר 202 ולא מחכה לתוצאה של המודל?</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כדי לא לחסום את השרת ולא להשאיר את המשתמש ממתין (ולהיכשל בזמן קצוב).</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העבודה עוברת לתור ולעובד, והלקוח בודק סטטוס ב־GET /jobs/{id}.</a:t>
            </a:r>
          </a:p>
        </p:txBody>
      </p:sp>
      <p:sp>
        <p:nvSpPr>
          <p:cNvPr id="7"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שכבות ותפקידים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400800" y="1645920"/>
            <a:ext cx="2011680" cy="118872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ממשק</a:t>
            </a:r>
          </a:p>
          <a:p>
            <a:pPr rtl="1" algn="ctr" marL="0" indent="0">
              <a:lnSpc>
                <a:spcPct val="105000"/>
              </a:lnSpc>
              <a:spcBef>
                <a:spcPts val="0"/>
              </a:spcBef>
              <a:spcAft>
                <a:spcPts val="0"/>
              </a:spcAft>
              <a:buNone/>
            </a:pPr>
            <a:r>
              <a:rPr sz="1400" b="0" i="0" lang="he-IL">
                <a:solidFill>
                  <a:srgbClr val="595959"/>
                </a:solidFill>
              </a:rPr>
              <a:t>Streamlit</a:t>
            </a:r>
          </a:p>
        </p:txBody>
      </p:sp>
      <p:sp>
        <p:nvSpPr>
          <p:cNvPr id="6" name="Rounded Rectangle 5"/>
          <p:cNvSpPr/>
          <p:nvPr/>
        </p:nvSpPr>
        <p:spPr>
          <a:xfrm>
            <a:off x="3566160" y="1645920"/>
            <a:ext cx="2011680" cy="118872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API</a:t>
            </a:r>
          </a:p>
          <a:p>
            <a:pPr rtl="1" algn="ctr" marL="0" indent="0">
              <a:lnSpc>
                <a:spcPct val="105000"/>
              </a:lnSpc>
              <a:spcBef>
                <a:spcPts val="0"/>
              </a:spcBef>
              <a:spcAft>
                <a:spcPts val="0"/>
              </a:spcAft>
              <a:buNone/>
            </a:pPr>
            <a:r>
              <a:rPr sz="1400" b="0" i="0" lang="he-IL">
                <a:solidFill>
                  <a:srgbClr val="595959"/>
                </a:solidFill>
              </a:rPr>
              <a:t>FastAPI</a:t>
            </a:r>
          </a:p>
        </p:txBody>
      </p:sp>
      <p:sp>
        <p:nvSpPr>
          <p:cNvPr id="7" name="Rounded Rectangle 6"/>
          <p:cNvSpPr/>
          <p:nvPr/>
        </p:nvSpPr>
        <p:spPr>
          <a:xfrm>
            <a:off x="731520" y="1645920"/>
            <a:ext cx="2011680" cy="118872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נתונים</a:t>
            </a:r>
          </a:p>
          <a:p>
            <a:pPr rtl="1" algn="ctr" marL="0" indent="0">
              <a:lnSpc>
                <a:spcPct val="105000"/>
              </a:lnSpc>
              <a:spcBef>
                <a:spcPts val="0"/>
              </a:spcBef>
              <a:spcAft>
                <a:spcPts val="0"/>
              </a:spcAft>
              <a:buNone/>
            </a:pPr>
            <a:r>
              <a:rPr sz="1400" b="0" i="0" lang="he-IL">
                <a:solidFill>
                  <a:srgbClr val="595959"/>
                </a:solidFill>
              </a:rPr>
              <a:t>SQL</a:t>
            </a:r>
          </a:p>
        </p:txBody>
      </p:sp>
      <p:cxnSp>
        <p:nvCxnSpPr>
          <p:cNvPr id="8" name="Connector 7"/>
          <p:cNvCxnSpPr/>
          <p:nvPr/>
        </p:nvCxnSpPr>
        <p:spPr>
          <a:xfrm flipH="1">
            <a:off x="5623560" y="2240280"/>
            <a:ext cx="731520" cy="0"/>
          </a:xfrm>
          <a:prstGeom prst="line">
            <a:avLst/>
          </a:prstGeom>
          <a:ln w="3810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2788920" y="2240280"/>
            <a:ext cx="731520" cy="0"/>
          </a:xfrm>
          <a:prstGeom prst="line">
            <a:avLst/>
          </a:prstGeom>
          <a:ln w="3810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0" y="2926080"/>
            <a:ext cx="320040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1" i="0" lang="he-IL">
                <a:solidFill>
                  <a:srgbClr val="4285F4"/>
                </a:solidFill>
              </a:rPr>
              <a:t>HTTP + JSON (החוזה)</a:t>
            </a:r>
          </a:p>
        </p:txBody>
      </p:sp>
      <p:sp>
        <p:nvSpPr>
          <p:cNvPr id="11" name="TextBox 10"/>
          <p:cNvSpPr txBox="1"/>
          <p:nvPr/>
        </p:nvSpPr>
        <p:spPr>
          <a:xfrm>
            <a:off x="365760" y="3566160"/>
            <a:ext cx="8412480" cy="1371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הממשק לא נוגע במסד. ה־API הוא השער היחיד.</a:t>
            </a:r>
          </a:p>
          <a:p>
            <a:pPr rtl="1" algn="ctr" marL="0" indent="0">
              <a:lnSpc>
                <a:spcPct val="110000"/>
              </a:lnSpc>
              <a:spcBef>
                <a:spcPts val="0"/>
              </a:spcBef>
              <a:spcAft>
                <a:spcPts val="0"/>
              </a:spcAft>
              <a:buNone/>
            </a:pPr>
            <a:r>
              <a:rPr sz="1700" b="0" i="0" lang="he-IL">
                <a:solidFill>
                  <a:srgbClr val="595959"/>
                </a:solidFill>
              </a:rPr>
              <a:t>כך אפשר להחליף ממשק או מסד בלי לשבור את השאר.</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מדוע הממשק (Streamlit) פונה ל־API ולא ישירות למסד הנתונים?</a:t>
            </a:r>
          </a:p>
        </p:txBody>
      </p:sp>
      <p:sp>
        <p:nvSpPr>
          <p:cNvPr id="6"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מדוע הממשק (Streamlit) פונה ל־API ולא ישירות למסד הנתונים?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ה־API הוא נקודת בקרה אחת: ולידציה, הרשאות וחוזה מוגדר.</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אפשר להחליף ממשק או מסד בלי לשבור את השאר, ולא חושפים את המסד.</a:t>
            </a:r>
          </a:p>
        </p:txBody>
      </p:sp>
      <p:sp>
        <p:nvSpPr>
          <p:cNvPr id="7" name="Badge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חלק ד׳ :</a:t>
            </a:r>
            <a:r>
              <a:rPr sz="3000" b="1" i="0" lang="he-IL">
                <a:solidFill>
                  <a:srgbClr val="212121"/>
                </a:solidFill>
              </a:rPr>
              <a:t>חוזה קודם: Spec-first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1554480"/>
            <a:ext cx="1920240" cy="146304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מפרט / חוזה</a:t>
            </a:r>
          </a:p>
          <a:p>
            <a:pPr rtl="1" algn="ctr" marL="0" indent="0">
              <a:lnSpc>
                <a:spcPct val="105000"/>
              </a:lnSpc>
              <a:spcBef>
                <a:spcPts val="0"/>
              </a:spcBef>
              <a:spcAft>
                <a:spcPts val="0"/>
              </a:spcAft>
              <a:buNone/>
            </a:pPr>
            <a:r>
              <a:rPr sz="1300" b="1" i="0" lang="he-IL">
                <a:solidFill>
                  <a:srgbClr val="212121"/>
                </a:solidFill>
              </a:rPr>
              <a:t>נקודות קצה, גבולות, שגיאות</a:t>
            </a:r>
          </a:p>
        </p:txBody>
      </p:sp>
      <p:cxnSp>
        <p:nvCxnSpPr>
          <p:cNvPr id="6" name="Connector 5"/>
          <p:cNvCxnSpPr/>
          <p:nvPr/>
        </p:nvCxnSpPr>
        <p:spPr>
          <a:xfrm flipH="1">
            <a:off x="6601968" y="228600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1554480"/>
            <a:ext cx="1920240" cy="146304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בדיקות</a:t>
            </a:r>
          </a:p>
          <a:p>
            <a:pPr rtl="1" algn="ctr" marL="0" indent="0">
              <a:lnSpc>
                <a:spcPct val="105000"/>
              </a:lnSpc>
              <a:spcBef>
                <a:spcPts val="0"/>
              </a:spcBef>
              <a:spcAft>
                <a:spcPts val="0"/>
              </a:spcAft>
              <a:buNone/>
            </a:pPr>
            <a:r>
              <a:rPr sz="1300" b="1" i="0" lang="he-IL">
                <a:solidFill>
                  <a:srgbClr val="212121"/>
                </a:solidFill>
              </a:rPr>
              <a:t>מהחוזה</a:t>
            </a:r>
          </a:p>
        </p:txBody>
      </p:sp>
      <p:cxnSp>
        <p:nvCxnSpPr>
          <p:cNvPr id="8" name="Connector 7"/>
          <p:cNvCxnSpPr/>
          <p:nvPr/>
        </p:nvCxnSpPr>
        <p:spPr>
          <a:xfrm flipH="1">
            <a:off x="4407407" y="228600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554480"/>
            <a:ext cx="1920240" cy="14630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הסוכן מממש</a:t>
            </a:r>
          </a:p>
          <a:p>
            <a:pPr rtl="1" algn="ctr" marL="0" indent="0">
              <a:lnSpc>
                <a:spcPct val="105000"/>
              </a:lnSpc>
              <a:spcBef>
                <a:spcPts val="0"/>
              </a:spcBef>
              <a:spcAft>
                <a:spcPts val="0"/>
              </a:spcAft>
              <a:buNone/>
            </a:pPr>
            <a:r>
              <a:rPr sz="1300" b="1" i="0" lang="he-IL">
                <a:solidFill>
                  <a:srgbClr val="212121"/>
                </a:solidFill>
              </a:rPr>
              <a:t>עד שהכל ירוק</a:t>
            </a:r>
          </a:p>
        </p:txBody>
      </p:sp>
      <p:cxnSp>
        <p:nvCxnSpPr>
          <p:cNvPr id="10" name="Connector 9"/>
          <p:cNvCxnSpPr/>
          <p:nvPr/>
        </p:nvCxnSpPr>
        <p:spPr>
          <a:xfrm flipH="1">
            <a:off x="2212848" y="228600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1554480"/>
            <a:ext cx="1920240" cy="146304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אימות</a:t>
            </a:r>
          </a:p>
          <a:p>
            <a:pPr rtl="1" algn="ctr" marL="0" indent="0">
              <a:lnSpc>
                <a:spcPct val="105000"/>
              </a:lnSpc>
              <a:spcBef>
                <a:spcPts val="0"/>
              </a:spcBef>
              <a:spcAft>
                <a:spcPts val="0"/>
              </a:spcAft>
              <a:buNone/>
            </a:pPr>
            <a:r>
              <a:rPr sz="1300" b="1" i="0" lang="he-IL">
                <a:solidFill>
                  <a:srgbClr val="212121"/>
                </a:solidFill>
              </a:rPr>
              <a:t>בידיים שלכם</a:t>
            </a:r>
          </a:p>
        </p:txBody>
      </p:sp>
      <p:sp>
        <p:nvSpPr>
          <p:cNvPr id="12" name="Rounded Rectangle 11"/>
          <p:cNvSpPr/>
          <p:nvPr/>
        </p:nvSpPr>
        <p:spPr>
          <a:xfrm>
            <a:off x="365760" y="3474720"/>
            <a:ext cx="841248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מתחילים ממה נחשב נכון, ולא מקוד.</a:t>
            </a:r>
          </a:p>
          <a:p>
            <a:pPr rtl="1" algn="ctr" marL="0" indent="0">
              <a:lnSpc>
                <a:spcPct val="105000"/>
              </a:lnSpc>
              <a:spcBef>
                <a:spcPts val="0"/>
              </a:spcBef>
              <a:spcAft>
                <a:spcPts val="0"/>
              </a:spcAft>
              <a:buNone/>
            </a:pPr>
            <a:r>
              <a:rPr sz="1600" b="0" i="0" lang="he-IL">
                <a:solidFill>
                  <a:srgbClr val="595959"/>
                </a:solidFill>
              </a:rPr>
              <a:t>במעבדה ג׳ מקבלים חוזה, מבקשים מ־AI קוד, ובודקים אותו.</a:t>
            </a:r>
          </a:p>
        </p:txBody>
      </p:sp>
      <p:sp>
        <p:nvSpPr>
          <p:cNvPr id="13" name="Badge ממפגש"/>
          <p:cNvSpPr/>
          <p:nvPr/>
        </p:nvSpPr>
        <p:spPr>
          <a:xfrm>
            <a:off x="109728" y="91440"/>
            <a:ext cx="2743200" cy="338328"/>
          </a:xfrm>
          <a:prstGeom prst="roundRect">
            <a:avLst>
              <a:gd name="adj" fmla="val 40000"/>
            </a:avLst>
          </a:prstGeom>
          <a:solidFill>
            <a:srgbClr val="FFF3E0"/>
          </a:solidFill>
          <a:ln w="19050">
            <a:solidFill>
              <a:srgbClr val="E8710A"/>
            </a:solidFill>
          </a:ln>
        </p:spPr>
        <p:txBody>
          <a:bodyPr rtlCol="0" anchor="ctr" wrap="square" lIns="64008" rIns="64008" tIns="36576" bIns="36576">
            <a:noAutofit/>
          </a:bodyPr>
          <a:lstStyle/>
          <a:p>
            <a:pPr rtl="1" algn="ctr" marL="0" indent="0">
              <a:lnSpc>
                <a:spcPct val="100000"/>
              </a:lnSpc>
              <a:spcBef>
                <a:spcPts val="0"/>
              </a:spcBef>
              <a:spcAft>
                <a:spcPts val="0"/>
              </a:spcAft>
              <a:buNone/>
            </a:pPr>
            <a:r>
              <a:rPr sz="1200" b="1" i="0" lang="he-IL">
                <a:solidFill>
                  <a:srgbClr val="212121"/>
                </a:solidFill>
              </a:rPr>
              <a:t>ממפגש 6: לולאת plan-act-observe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HM_07.ipynb. חלקים ג׳-ד׳: שירות מקצה לקצה.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HM_07.ipynb. חלקים ג׳-ד׳: שירות מקצה לקצה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ל־HM_07.ipynb</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ג׳</a:t>
            </a:r>
            <a:r>
              <a:rPr sz="3000" b="0" i="0" lang="he-IL">
                <a:solidFill>
                  <a:srgbClr val="212121"/>
                </a:solidFill>
              </a:rPr>
              <a:t> : מחברים הכל ובודקים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לחבר API למסד, לבדוק מקצה לקצה, ולבדוק קוד ש־AI כתב.</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חיבור למסד</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top_products_from_db: השרת מחזיר נתונים מהמסד</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בדיקה מקצה לקצה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e2e_test חייבת להיכשל על 4 גרסאות שגויות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AI לפי חוזה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Gemini כותב get_supplier, ואתם בודקים אותו</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תור, Celery ו־Flower לא רצים ב־Colab: מוצגים על המקרן. הסימולציה שלהם היא חלק ה׳, בבית.</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ג׳</a:t>
            </a:r>
            <a:r>
              <a:rPr sz="3000" b="0" i="0" lang="he-IL">
                <a:solidFill>
                  <a:srgbClr val="212121"/>
                </a:solidFill>
              </a:rPr>
              <a:t> : בקשה ממוקדת ל־AI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71600"/>
            <a:ext cx="8412480" cy="182880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I have an SQLite connection con and a table suppliers(supplier_id,</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name, lead_time_days, on_time_rate). Write ONE function</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get_supplier(supplier_id) for a FastAPI endpoint: use a ? placeholder</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(no f-strings), return a dict with those keys, and if there is no</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such supplier raise HTTPException(404, "Supplier not found"). Return</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only the function and the imports it needs.</a:t>
            </a:r>
          </a:p>
        </p:txBody>
      </p:sp>
      <p:sp>
        <p:nvSpPr>
          <p:cNvPr id="7" name="Rounded Rectangle 6"/>
          <p:cNvSpPr/>
          <p:nvPr/>
        </p:nvSpPr>
        <p:spPr>
          <a:xfrm>
            <a:off x="365760" y="3474720"/>
            <a:ext cx="8412480" cy="14173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אחרי שה־AI כתב:  ① הדביקו  ② check_contract  ③ קראו</a:t>
            </a:r>
          </a:p>
          <a:p>
            <a:pPr rtl="1" algn="ctr" marL="0" indent="0">
              <a:lnSpc>
                <a:spcPct val="105000"/>
              </a:lnSpc>
              <a:spcBef>
                <a:spcPts val="0"/>
              </a:spcBef>
              <a:spcAft>
                <a:spcPts val="0"/>
              </a:spcAft>
              <a:buNone/>
            </a:pPr>
            <a:r>
              <a:rPr sz="2000" b="1" i="0" lang="he-IL">
                <a:solidFill>
                  <a:srgbClr val="212121"/>
                </a:solidFill>
              </a:rPr>
              <a:t>יש ? ולא f־string? מה עם NOPE: 404 או 500?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מעבדה ג׳</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ה־API והמסד</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Plant Pot Plus ראשון, עם 33,595.62</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בדיקה שתופסת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הבדיקה נכשלת על ארבע גרסאות שגויות, ועוברת על הנכונה</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בדיקת ה־AI</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S01: 200. NOPE: 404. גרסה ששוכחת: 500</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מסקנה (חלק ד׳): שלושה משפטים, על HTTP והחוזה, על SQL, ועל שילוב עם AI.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לבית</a:t>
            </a:r>
            <a:r>
              <a:rPr sz="3000" b="0" i="0" lang="he-IL">
                <a:solidFill>
                  <a:srgbClr val="212121"/>
                </a:solidFill>
              </a:rPr>
              <a:t> : תור, Docker ו־API חיצוני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30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להשלים בבית שלושה חלקים במחברת: תור, Docker ו־API חיצוני.</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חלק ה׳: תור</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submit_job, worker_loop, get_status: Celery בקטן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חלק ו׳: Docker</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parse_dockerfile, lint, k8s_replicas: קוראים קבצים</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חלק ז׳: API חיצוני</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get_rate נבדקת בשרת מזויף. אופציונלי</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תור ו־Docker הם חלק מהסילבוס: מומלץ מאוד. חלק ז׳ אופציונלי. כל חלק עצמאי.</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מפת ההעמקה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00000" cy="3010000"/>
        </p:xfrm>
        <a:graphic>
          <a:graphicData uri="http://schemas.openxmlformats.org/drawingml/2006/table">
            <a:tbl>
              <a:tblPr firstRow="0" bandRow="0">
                <a:tableStyleId>{2D5ABB26-0587-4C30-8999-92F81FD0307C}</a:tableStyleId>
              </a:tblPr>
              <a:tblGrid>
                <a:gridCol w="5300000"/>
                <a:gridCol w="900000"/>
                <a:gridCol w="2200000"/>
              </a:tblGrid>
              <a:tr h="430000">
                <a:tc>
                  <a:txBody>
                    <a:bodyPr wrap="square"/>
                    <a:lstStyle/>
                    <a:p>
                      <a:pPr rtl="1" algn="ctr" marL="0" indent="0">
                        <a:lnSpc>
                          <a:spcPct val="100000"/>
                        </a:lnSpc>
                        <a:spcBef>
                          <a:spcPts val="0"/>
                        </a:spcBef>
                        <a:spcAft>
                          <a:spcPts val="0"/>
                        </a:spcAft>
                        <a:buNone/>
                      </a:pPr>
                      <a:r>
                        <a:rPr sz="1300" b="1" i="0" lang="he-IL">
                          <a:solidFill>
                            <a:srgbClr val="212121"/>
                          </a:solidFill>
                        </a:rPr>
                        <a:t>מה בפנים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דקות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מודול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שיטות HTTP, בטוח ואידמפוטנטי, הזיות API, מפתח ומגבלת קצב, בקשה אמיתית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HTTP ו־API חיצוני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בדיקות אוטומטיות מהחוזה, תבנית מפרט, שלוש רמות של spec-driven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חוזים ו־spec-driven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נרמול מול כפילות מכוונת, INNER מול LEFT JOIN, מפתח זר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SQL לעומק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מבנה קבצי השירות, ממשק Streamlit, מבנה מומלץ ועקרונות לשירות עם מודל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ארכיטקטורה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Kubernetes: ארכיטקטורה, מושגים והצהרה מול פקודה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Kubernetes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30000">
                <a:tc>
                  <a:txBody>
                    <a:bodyPr wrap="square"/>
                    <a:lstStyle/>
                    <a:p>
                      <a:pPr rtl="1" algn="r" marL="0" indent="0">
                        <a:lnSpc>
                          <a:spcPct val="100000"/>
                        </a:lnSpc>
                        <a:spcBef>
                          <a:spcPts val="0"/>
                        </a:spcBef>
                        <a:spcAft>
                          <a:spcPts val="0"/>
                        </a:spcAft>
                        <a:buNone/>
                      </a:pPr>
                      <a:r>
                        <a:rPr sz="1300" b="0" i="0" lang="he-IL">
                          <a:solidFill>
                            <a:srgbClr val="212121"/>
                          </a:solidFill>
                        </a:rPr>
                        <a:t>Flower, מה Celery מבטיחה, פלט JSON ממודל, אתגר classify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תור ו־LLM</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bl>
          </a:graphicData>
        </a:graphic>
      </p:graphicFrame>
      <p:sp>
        <p:nvSpPr>
          <p:cNvPr id="6" name="TextBox 5"/>
          <p:cNvSpPr txBox="1"/>
          <p:nvPr/>
        </p:nvSpPr>
        <p:spPr>
          <a:xfrm>
            <a:off x="365760" y="4620000"/>
            <a:ext cx="8412480" cy="38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4285F4"/>
                </a:solidFill>
              </a:rPr>
              <a:t>בכיתה: עוברים לשקף 83. המודולים לזמן פנוי או לקריאה בבית. מקורות בסוף המקטע.</a:t>
            </a:r>
          </a:p>
        </p:txBody>
      </p:sp>
      <p:sp>
        <p:nvSpPr>
          <p:cNvPr id="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שיטות HTTP ו־REST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2834640"/>
        </p:xfrm>
        <a:graphic>
          <a:graphicData uri="http://schemas.openxmlformats.org/drawingml/2006/table">
            <a:tbl>
              <a:tblPr firstRow="0" bandRow="0">
                <a:tableStyleId>{2D5ABB26-0587-4C30-8999-92F81FD0307C}</a:tableStyleId>
              </a:tblPr>
              <a:tblGrid>
                <a:gridCol w="3291840"/>
                <a:gridCol w="1645920"/>
                <a:gridCol w="1645920"/>
                <a:gridCol w="1828800"/>
              </a:tblGrid>
              <a:tr h="566928">
                <a:tc>
                  <a:txBody>
                    <a:bodyPr wrap="square"/>
                    <a:lstStyle/>
                    <a:p>
                      <a:pPr rtl="1" algn="ctr" marL="0" indent="0">
                        <a:lnSpc>
                          <a:spcPct val="100000"/>
                        </a:lnSpc>
                        <a:spcBef>
                          <a:spcPts val="0"/>
                        </a:spcBef>
                        <a:spcAft>
                          <a:spcPts val="0"/>
                        </a:spcAft>
                        <a:buNone/>
                      </a:pPr>
                      <a:r>
                        <a:rPr sz="1500" b="1" i="0" lang="he-IL">
                          <a:solidFill>
                            <a:srgbClr val="212121"/>
                          </a:solidFill>
                        </a:rPr>
                        <a:t>דוגמה בשירות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SQL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פעולה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שיטה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GET /products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SELECT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לקרוא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GET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POST /jobs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INSERT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ליצור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POST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(לא בשירות הדוגמה)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UPDATE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לעדכן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PUT / PATCH</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500" b="0" i="0" lang="he-IL">
                          <a:solidFill>
                            <a:srgbClr val="212121"/>
                          </a:solidFill>
                        </a:rPr>
                        <a:t>(לא בשירות הדוגמה)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DELETE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למחוק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DELETE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ounded Rectangle 5"/>
          <p:cNvSpPr/>
          <p:nvPr/>
        </p:nvSpPr>
        <p:spPr>
          <a:xfrm>
            <a:off x="365760" y="4297680"/>
            <a:ext cx="8412480" cy="77724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REST: הכתובת היא שם של משהו (/products, /jobs/7), והשיטה היא הפעולה.</a:t>
            </a:r>
          </a:p>
        </p:txBody>
      </p:sp>
      <p:sp>
        <p:nvSpPr>
          <p:cNvPr id="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מה מותר לשלוח שוב</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בטוח (safe)</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לא משנה מצב בשרת: GET, HEAD, OPTIONS.</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אידמפוטנטי</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פעם או פעמיים: אותה השפעה. GET, PUT, DELETE.</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POST: לא</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שליחה כפולה עלולה ליצור שתי הזמנות. צריך מפתח ייחודי.</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הזיות API והחוזה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108960"/>
        </p:xfrm>
        <a:graphic>
          <a:graphicData uri="http://schemas.openxmlformats.org/drawingml/2006/table">
            <a:tbl>
              <a:tblPr firstRow="0" bandRow="0">
                <a:tableStyleId>{2D5ABB26-0587-4C30-8999-92F81FD0307C}</a:tableStyleId>
              </a:tblPr>
              <a:tblGrid>
                <a:gridCol w="2237361"/>
                <a:gridCol w="2953317"/>
                <a:gridCol w="3221800"/>
              </a:tblGrid>
              <a:tr h="777240">
                <a:tc>
                  <a:txBody>
                    <a:bodyPr wrap="square"/>
                    <a:lstStyle/>
                    <a:p>
                      <a:pPr rtl="1" algn="ctr" marL="0" indent="0">
                        <a:lnSpc>
                          <a:spcPct val="100000"/>
                        </a:lnSpc>
                        <a:spcBef>
                          <a:spcPts val="0"/>
                        </a:spcBef>
                        <a:spcAft>
                          <a:spcPts val="0"/>
                        </a:spcAft>
                        <a:buNone/>
                      </a:pPr>
                      <a:r>
                        <a:rPr sz="1400" b="1" i="0" lang="he-IL">
                          <a:solidFill>
                            <a:srgbClr val="212121"/>
                          </a:solidFill>
                        </a:rPr>
                        <a:t>סוג הזיה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מה קרה בפועל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מה ה־AI כתב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נקודת קצה מומצאת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404 not found (נתפס מיד)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400" b="0" i="0" lang="he-IL">
                          <a:solidFill>
                            <a:srgbClr val="212121"/>
                          </a:solidFill>
                        </a:rPr>
                        <a:t>GET /v1/convert?from=USD&amp;to=ILS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פרמטר מומצא, מתעלמים ממנו בשקט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200 OK, אבל חזרו כל המטבעות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400" b="0" i="0" lang="he-IL">
                          <a:solidFill>
                            <a:srgbClr val="212121"/>
                          </a:solidFill>
                        </a:rPr>
                        <a:t>/v1/latest?base=USD&amp;currency=ILS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מקור מיושן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301: הכתובת הישנה הועברה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400" b="0" i="0" lang="he-IL">
                          <a:solidFill>
                            <a:srgbClr val="212121"/>
                          </a:solidFill>
                        </a:rPr>
                        <a:t>api.frankfurter.app/latest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572000"/>
            <a:ext cx="8412480" cy="5029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4285F4"/>
                </a:solidFill>
              </a:rPr>
              <a:t>כשיש חוזה (OpenAPI), בודקים מולו: האם הפרמטר או הנתיב קיימים?</a:t>
            </a:r>
          </a:p>
        </p:txBody>
      </p:sp>
      <p:sp>
        <p:nvSpPr>
          <p:cNvPr id="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מפתח API ומגבלת קצב</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מפתח (API key)</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כרטיס כניסה אישי. מזהה אתכם, ובדרך כלל קשור למכסה או לתשלום.</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מגבלת קצב</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כמות הבקשות בדקה או ביום מוגבלת. מעבר לה: קוד 429.</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הכלל</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המפתח לא נכנס לקוד ולא למאגר: משתנה סביבה (מפגש 10).</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שאלת בדיקה: API מומצא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ה־AI כתב קריאה עם פרמטר שאינו מופיע ב־openapi.json, והשרת החזיר 200. מה עושים?</a:t>
            </a:r>
          </a:p>
        </p:txBody>
      </p:sp>
      <p:sp>
        <p:nvSpPr>
          <p:cNvPr id="6"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שאלת בדיקה: API מומצא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ה־AI כתב קריאה עם פרמטר שאינו מופיע ב־openapi.json, והשרת החזיר 200. מה עושים?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לא סומכים על ה־200: הפרמטר אינו בחוזה, ולכן ככל הנראה הוא הוזה והשרת התעלם ממנו.</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מתקנים לפי החוזה ובודקים שהתוצאה משתנה כפי שציפיתם.</a:t>
            </a:r>
          </a:p>
        </p:txBody>
      </p:sp>
      <p:sp>
        <p:nvSpPr>
          <p:cNvPr id="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בקשה אמיתית ל־API חיצוני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846320" y="1325880"/>
            <a:ext cx="3931920" cy="4114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הקוד (requests)</a:t>
            </a:r>
          </a:p>
        </p:txBody>
      </p:sp>
      <p:sp>
        <p:nvSpPr>
          <p:cNvPr id="6" name="Rectangle 5"/>
          <p:cNvSpPr/>
          <p:nvPr/>
        </p:nvSpPr>
        <p:spPr>
          <a:xfrm>
            <a:off x="4846320" y="1783080"/>
            <a:ext cx="3931920" cy="173736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import requests</a:t>
            </a:r>
          </a:p>
          <a:p>
            <a:pPr rtl="0" algn="l" marL="0" indent="0">
              <a:lnSpc>
                <a:spcPct val="105000"/>
              </a:lnSpc>
              <a:spcBef>
                <a:spcPts val="0"/>
              </a:spcBef>
              <a:spcAft>
                <a:spcPts val="0"/>
              </a:spcAft>
              <a:buNone/>
            </a:pPr>
            <a:r>
              <a:rPr sz="1200" b="0" i="0" lang="he-IL">
                <a:solidFill>
                  <a:srgbClr val="212121"/>
                </a:solidFill>
              </a:rPr>
              <a:t>r = requests.get(</a:t>
            </a:r>
          </a:p>
          <a:p>
            <a:pPr rtl="0" algn="l" marL="0" indent="0">
              <a:lnSpc>
                <a:spcPct val="105000"/>
              </a:lnSpc>
              <a:spcBef>
                <a:spcPts val="0"/>
              </a:spcBef>
              <a:spcAft>
                <a:spcPts val="0"/>
              </a:spcAft>
              <a:buNone/>
            </a:pPr>
            <a:r>
              <a:rPr sz="1200" b="0" i="0" lang="he-IL">
                <a:solidFill>
                  <a:srgbClr val="212121"/>
                </a:solidFill>
              </a:rPr>
              <a:t>  "https://api.frankfurter.dev/v1/latest",</a:t>
            </a:r>
          </a:p>
          <a:p>
            <a:pPr rtl="0" algn="l" marL="0" indent="0">
              <a:lnSpc>
                <a:spcPct val="105000"/>
              </a:lnSpc>
              <a:spcBef>
                <a:spcPts val="0"/>
              </a:spcBef>
              <a:spcAft>
                <a:spcPts val="0"/>
              </a:spcAft>
              <a:buNone/>
            </a:pPr>
            <a:r>
              <a:rPr sz="1200" b="0" i="0" lang="he-IL">
                <a:solidFill>
                  <a:srgbClr val="212121"/>
                </a:solidFill>
              </a:rPr>
              <a:t>  params={"base": "USD", "symbols": "ILS"},</a:t>
            </a:r>
          </a:p>
          <a:p>
            <a:pPr rtl="0" algn="l" marL="0" indent="0">
              <a:lnSpc>
                <a:spcPct val="105000"/>
              </a:lnSpc>
              <a:spcBef>
                <a:spcPts val="0"/>
              </a:spcBef>
              <a:spcAft>
                <a:spcPts val="0"/>
              </a:spcAft>
              <a:buNone/>
            </a:pPr>
            <a:r>
              <a:rPr sz="1200" b="0" i="0" lang="he-IL">
                <a:solidFill>
                  <a:srgbClr val="212121"/>
                </a:solidFill>
              </a:rPr>
              <a:t>  timeout=10)</a:t>
            </a:r>
          </a:p>
          <a:p>
            <a:pPr rtl="0" algn="l" marL="0" indent="0">
              <a:lnSpc>
                <a:spcPct val="105000"/>
              </a:lnSpc>
              <a:spcBef>
                <a:spcPts val="0"/>
              </a:spcBef>
              <a:spcAft>
                <a:spcPts val="0"/>
              </a:spcAft>
              <a:buNone/>
            </a:pPr>
            <a:r>
              <a:rPr sz="1200" b="0" i="0" lang="he-IL">
                <a:solidFill>
                  <a:srgbClr val="212121"/>
                </a:solidFill>
              </a:rPr>
              <a:t>print(r.status_code, r.json())</a:t>
            </a:r>
          </a:p>
        </p:txBody>
      </p:sp>
      <p:sp>
        <p:nvSpPr>
          <p:cNvPr id="7" name="Rounded Rectangle 6"/>
          <p:cNvSpPr/>
          <p:nvPr/>
        </p:nvSpPr>
        <p:spPr>
          <a:xfrm>
            <a:off x="365760" y="1325880"/>
            <a:ext cx="4297680" cy="4114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התוצאה (נבדק באוקטובר 2026)</a:t>
            </a:r>
          </a:p>
        </p:txBody>
      </p:sp>
      <p:sp>
        <p:nvSpPr>
          <p:cNvPr id="8" name="Rectangle 7"/>
          <p:cNvSpPr/>
          <p:nvPr/>
        </p:nvSpPr>
        <p:spPr>
          <a:xfrm>
            <a:off x="365760" y="1783080"/>
            <a:ext cx="4297680" cy="173736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200 {"amount": 1.0, "base": "USD",</a:t>
            </a:r>
          </a:p>
          <a:p>
            <a:pPr rtl="0" algn="l" marL="0" indent="0">
              <a:lnSpc>
                <a:spcPct val="105000"/>
              </a:lnSpc>
              <a:spcBef>
                <a:spcPts val="0"/>
              </a:spcBef>
              <a:spcAft>
                <a:spcPts val="0"/>
              </a:spcAft>
              <a:buNone/>
            </a:pPr>
            <a:r>
              <a:rPr sz="1200" b="0" i="0" lang="he-IL">
                <a:solidFill>
                  <a:srgbClr val="212121"/>
                </a:solidFill>
              </a:rPr>
              <a:t>     "date": "2026‎-‎10‎-‎16",</a:t>
            </a:r>
          </a:p>
          <a:p>
            <a:pPr rtl="0" algn="l" marL="0" indent="0">
              <a:lnSpc>
                <a:spcPct val="105000"/>
              </a:lnSpc>
              <a:spcBef>
                <a:spcPts val="0"/>
              </a:spcBef>
              <a:spcAft>
                <a:spcPts val="0"/>
              </a:spcAft>
              <a:buNone/>
            </a:pPr>
            <a:r>
              <a:rPr sz="1200" b="0" i="0" lang="he-IL">
                <a:solidFill>
                  <a:srgbClr val="212121"/>
                </a:solidFill>
              </a:rPr>
              <a:t>     "rates": {"ILS": 3.0945}}</a:t>
            </a:r>
          </a:p>
        </p:txBody>
      </p:sp>
      <p:sp>
        <p:nvSpPr>
          <p:cNvPr id="9" name="Rounded Rectangle 8"/>
          <p:cNvSpPr/>
          <p:nvPr/>
        </p:nvSpPr>
        <p:spPr>
          <a:xfrm>
            <a:off x="6172200" y="3749039"/>
            <a:ext cx="2697480" cy="109728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34A853"/>
                </a:solidFill>
              </a:rPr>
              <a:t>קוד 200</a:t>
            </a:r>
          </a:p>
          <a:p>
            <a:pPr rtl="1" algn="ctr" marL="0" indent="0">
              <a:lnSpc>
                <a:spcPct val="105000"/>
              </a:lnSpc>
              <a:spcBef>
                <a:spcPts val="0"/>
              </a:spcBef>
              <a:spcAft>
                <a:spcPts val="0"/>
              </a:spcAft>
              <a:buNone/>
            </a:pPr>
            <a:r>
              <a:rPr sz="1300" b="0" i="0" lang="he-IL">
                <a:solidFill>
                  <a:srgbClr val="212121"/>
                </a:solidFill>
              </a:rPr>
              <a:t>ההצלחה מאומתת</a:t>
            </a:r>
          </a:p>
        </p:txBody>
      </p:sp>
      <p:sp>
        <p:nvSpPr>
          <p:cNvPr id="10" name="Rounded Rectangle 9"/>
          <p:cNvSpPr/>
          <p:nvPr/>
        </p:nvSpPr>
        <p:spPr>
          <a:xfrm>
            <a:off x="3246120" y="3749039"/>
            <a:ext cx="2697480" cy="109728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4285F4"/>
                </a:solidFill>
              </a:rPr>
              <a:t>rates</a:t>
            </a:r>
          </a:p>
          <a:p>
            <a:pPr rtl="1" algn="ctr" marL="0" indent="0">
              <a:lnSpc>
                <a:spcPct val="105000"/>
              </a:lnSpc>
              <a:spcBef>
                <a:spcPts val="0"/>
              </a:spcBef>
              <a:spcAft>
                <a:spcPts val="0"/>
              </a:spcAft>
              <a:buNone/>
            </a:pPr>
            <a:r>
              <a:rPr sz="1300" b="0" i="0" lang="he-IL">
                <a:solidFill>
                  <a:srgbClr val="212121"/>
                </a:solidFill>
              </a:rPr>
              <a:t>הערך נמצא בתוך המפתח הזה</a:t>
            </a:r>
          </a:p>
        </p:txBody>
      </p:sp>
      <p:sp>
        <p:nvSpPr>
          <p:cNvPr id="11" name="Rounded Rectangle 10"/>
          <p:cNvSpPr/>
          <p:nvPr/>
        </p:nvSpPr>
        <p:spPr>
          <a:xfrm>
            <a:off x="320039" y="3749039"/>
            <a:ext cx="2697480" cy="109728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1" i="0" lang="he-IL">
                <a:solidFill>
                  <a:srgbClr val="EA4335"/>
                </a:solidFill>
              </a:rPr>
              <a:t>timeout</a:t>
            </a:r>
          </a:p>
          <a:p>
            <a:pPr rtl="1" algn="ctr" marL="0" indent="0">
              <a:lnSpc>
                <a:spcPct val="105000"/>
              </a:lnSpc>
              <a:spcBef>
                <a:spcPts val="0"/>
              </a:spcBef>
              <a:spcAft>
                <a:spcPts val="0"/>
              </a:spcAft>
              <a:buNone/>
            </a:pPr>
            <a:r>
              <a:rPr sz="1300" b="0" i="0" lang="he-IL">
                <a:solidFill>
                  <a:srgbClr val="212121"/>
                </a:solidFill>
              </a:rPr>
              <a:t>בלי זה הקוד עלול להיתקע</a:t>
            </a:r>
          </a:p>
        </p:txBody>
      </p:sp>
      <p:sp>
        <p:nvSpPr>
          <p:cNvPr id="12" name="TextBox 11"/>
          <p:cNvSpPr txBox="1"/>
          <p:nvPr/>
        </p:nvSpPr>
        <p:spPr>
          <a:xfrm>
            <a:off x="365760" y="4892040"/>
            <a:ext cx="8412480" cy="228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השער משתנה מיום ליום. השירות פתוח ללא מפתח.</a:t>
            </a:r>
          </a:p>
        </p:txBody>
      </p:sp>
      <p:sp>
        <p:nvSpPr>
          <p:cNvPr id="13"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בדיקות אוטומטיות מהחוזה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זה</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כלי שמייצר בדיקות מתוך openapi.json: קלטים תקינים וגם מוזרים.</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הוא בודק</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שקוד הסטטוס והתוכן מתועדים בחוזה, ושאין שגיאות 5xx.</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במעבדה א׳</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check_contract היא גרסה קטנה של בדיוק הרעיון הזה.</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תבנית מפרט של עמוד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730752"/>
        </p:xfrm>
        <a:graphic>
          <a:graphicData uri="http://schemas.openxmlformats.org/drawingml/2006/table">
            <a:tbl>
              <a:tblPr firstRow="0" bandRow="0">
                <a:tableStyleId>{2D5ABB26-0587-4C30-8999-92F81FD0307C}</a:tableStyleId>
              </a:tblPr>
              <a:tblGrid>
                <a:gridCol w="6766559"/>
                <a:gridCol w="1645919"/>
              </a:tblGrid>
              <a:tr h="621792">
                <a:tc>
                  <a:txBody>
                    <a:bodyPr wrap="square"/>
                    <a:lstStyle/>
                    <a:p>
                      <a:pPr rtl="1" algn="r" marL="0" indent="0">
                        <a:lnSpc>
                          <a:spcPct val="100000"/>
                        </a:lnSpc>
                        <a:spcBef>
                          <a:spcPts val="0"/>
                        </a:spcBef>
                        <a:spcAft>
                          <a:spcPts val="0"/>
                        </a:spcAft>
                        <a:buNone/>
                      </a:pPr>
                      <a:r>
                        <a:rPr sz="1500" b="0" i="0" lang="he-IL">
                          <a:solidFill>
                            <a:srgbClr val="212121"/>
                          </a:solidFill>
                        </a:rPr>
                        <a:t>מה השירות או הפונקציה אמורים להשיג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מטרה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אילו נתונים נכנסים, ובאיזה פורמט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קלט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מה חוזר, בכל התגובות (200, 404, 422)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פלט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נוסחאות וחוקים עסקיים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כללים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ריק, אפס, ערך חסר, קלט לא חוקי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מקרי קצה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21792">
                <a:tc>
                  <a:txBody>
                    <a:bodyPr wrap="square"/>
                    <a:lstStyle/>
                    <a:p>
                      <a:pPr rtl="1" algn="r" marL="0" indent="0">
                        <a:lnSpc>
                          <a:spcPct val="100000"/>
                        </a:lnSpc>
                        <a:spcBef>
                          <a:spcPts val="0"/>
                        </a:spcBef>
                        <a:spcAft>
                          <a:spcPts val="0"/>
                        </a:spcAft>
                        <a:buNone/>
                      </a:pPr>
                      <a:r>
                        <a:rPr sz="1500" b="0" i="0" lang="he-IL">
                          <a:solidFill>
                            <a:srgbClr val="212121"/>
                          </a:solidFill>
                        </a:rPr>
                        <a:t>מה נחשב נכון: מספרים ובדיקות שאפשר להריץ</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קבלה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שלוש רמות של spec-driven</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spec-first</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מפרט מסודר לפני הקוד, ומשתמשים בו למשימה הנוכחית.</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spec-anchored</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המפרט נשמר אחרי המשימה, ומנחה גם תחזוקה ושינויים.</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spec-as-source</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המפרט הוא הקובץ המרכזי. בני אדם עורכים רק אותו.</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נרמול מול כפילות מכוונת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נרמול</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עובדה נשמרת במקום אחד: שם מוצר רק בטבלת products.</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כפילות מכוונת</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בטבלת orders נשמרים גם שם ומחיר: נוח לדוחות ולמחיר ההיסטורי.</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המחיר</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שינוי בטבלה אחת לא מתעדכן בשנייה. בחנות: 0 פערים מתוך 3,000.</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INNER מול LEFT JOIN, ומפתח זר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INNER JOIN</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רק שורות עם התאמה בשני הצדדים. הזמנה בלי מוצר נעלמת.</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LEFT JOIN</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שורות הטבלה השמאלית. בלי התאמה: NULL.</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מפתח זר</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ב־SQLite לא נאכף כברירת מחדל: צריך PRAGMA foreign_keys = ON.</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בונים שירות מאבני בניין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480560" y="1325880"/>
            <a:ext cx="4297680" cy="530352"/>
          </a:xfrm>
          <a:prstGeom prst="roundRect">
            <a:avLst>
              <a:gd name="adj" fmla="val 12000"/>
            </a:avLst>
          </a:prstGeom>
          <a:solidFill>
            <a:srgbClr val="FFF0D9"/>
          </a:solidFill>
          <a:ln w="2540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app/main.py</a:t>
            </a:r>
          </a:p>
        </p:txBody>
      </p:sp>
      <p:sp>
        <p:nvSpPr>
          <p:cNvPr id="6" name="Rounded Rectangle 5"/>
          <p:cNvSpPr/>
          <p:nvPr/>
        </p:nvSpPr>
        <p:spPr>
          <a:xfrm>
            <a:off x="365760" y="1325880"/>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נקודות הקצה של ה־API</a:t>
            </a:r>
          </a:p>
        </p:txBody>
      </p:sp>
      <p:sp>
        <p:nvSpPr>
          <p:cNvPr id="7" name="Rounded Rectangle 6"/>
          <p:cNvSpPr/>
          <p:nvPr/>
        </p:nvSpPr>
        <p:spPr>
          <a:xfrm>
            <a:off x="4480560" y="1947672"/>
            <a:ext cx="4297680" cy="530352"/>
          </a:xfrm>
          <a:prstGeom prst="roundRect">
            <a:avLst>
              <a:gd name="adj" fmla="val 12000"/>
            </a:avLst>
          </a:prstGeom>
          <a:solidFill>
            <a:srgbClr val="FFF0D9"/>
          </a:solidFill>
          <a:ln w="2540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app/models.py</a:t>
            </a:r>
          </a:p>
        </p:txBody>
      </p:sp>
      <p:sp>
        <p:nvSpPr>
          <p:cNvPr id="8" name="Rounded Rectangle 7"/>
          <p:cNvSpPr/>
          <p:nvPr/>
        </p:nvSpPr>
        <p:spPr>
          <a:xfrm>
            <a:off x="365760" y="1947672"/>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החוזה: מבנה הנתונים (Pydantic)</a:t>
            </a:r>
          </a:p>
        </p:txBody>
      </p:sp>
      <p:sp>
        <p:nvSpPr>
          <p:cNvPr id="9" name="Rounded Rectangle 8"/>
          <p:cNvSpPr/>
          <p:nvPr/>
        </p:nvSpPr>
        <p:spPr>
          <a:xfrm>
            <a:off x="4480560" y="2569464"/>
            <a:ext cx="4297680" cy="530352"/>
          </a:xfrm>
          <a:prstGeom prst="roundRect">
            <a:avLst>
              <a:gd name="adj" fmla="val 12000"/>
            </a:avLst>
          </a:prstGeom>
          <a:solidFill>
            <a:srgbClr val="DDF2F5"/>
          </a:solidFill>
          <a:ln w="25400">
            <a:solidFill>
              <a:srgbClr val="0097A7"/>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app/db.py + schema.sql</a:t>
            </a:r>
          </a:p>
        </p:txBody>
      </p:sp>
      <p:sp>
        <p:nvSpPr>
          <p:cNvPr id="10" name="Rounded Rectangle 9"/>
          <p:cNvSpPr/>
          <p:nvPr/>
        </p:nvSpPr>
        <p:spPr>
          <a:xfrm>
            <a:off x="365760" y="2569464"/>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מסד הנתונים והסכמה</a:t>
            </a:r>
          </a:p>
        </p:txBody>
      </p:sp>
      <p:sp>
        <p:nvSpPr>
          <p:cNvPr id="11" name="Rounded Rectangle 10"/>
          <p:cNvSpPr/>
          <p:nvPr/>
        </p:nvSpPr>
        <p:spPr>
          <a:xfrm>
            <a:off x="4480560" y="3191256"/>
            <a:ext cx="4297680" cy="530352"/>
          </a:xfrm>
          <a:prstGeom prst="roundRect">
            <a:avLst>
              <a:gd name="adj" fmla="val 12000"/>
            </a:avLst>
          </a:prstGeom>
          <a:solidFill>
            <a:srgbClr val="E3EEFF"/>
          </a:solidFill>
          <a:ln w="2540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ui/app.py</a:t>
            </a:r>
          </a:p>
        </p:txBody>
      </p:sp>
      <p:sp>
        <p:nvSpPr>
          <p:cNvPr id="12" name="Rounded Rectangle 11"/>
          <p:cNvSpPr/>
          <p:nvPr/>
        </p:nvSpPr>
        <p:spPr>
          <a:xfrm>
            <a:off x="365760" y="3191256"/>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ממשק Streamlit</a:t>
            </a:r>
          </a:p>
        </p:txBody>
      </p:sp>
      <p:sp>
        <p:nvSpPr>
          <p:cNvPr id="13" name="Rounded Rectangle 12"/>
          <p:cNvSpPr/>
          <p:nvPr/>
        </p:nvSpPr>
        <p:spPr>
          <a:xfrm>
            <a:off x="4480560" y="3813048"/>
            <a:ext cx="4297680" cy="530352"/>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worker/tasks.py</a:t>
            </a:r>
          </a:p>
        </p:txBody>
      </p:sp>
      <p:sp>
        <p:nvSpPr>
          <p:cNvPr id="14" name="Rounded Rectangle 13"/>
          <p:cNvSpPr/>
          <p:nvPr/>
        </p:nvSpPr>
        <p:spPr>
          <a:xfrm>
            <a:off x="365760" y="3813048"/>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עבודה ברקע (נראה בחלק ד׳)</a:t>
            </a:r>
          </a:p>
        </p:txBody>
      </p:sp>
      <p:sp>
        <p:nvSpPr>
          <p:cNvPr id="15" name="Rounded Rectangle 14"/>
          <p:cNvSpPr/>
          <p:nvPr/>
        </p:nvSpPr>
        <p:spPr>
          <a:xfrm>
            <a:off x="4480560" y="4434840"/>
            <a:ext cx="4297680" cy="530352"/>
          </a:xfrm>
          <a:prstGeom prst="roundRect">
            <a:avLst>
              <a:gd name="adj" fmla="val 12000"/>
            </a:avLst>
          </a:prstGeom>
          <a:solidFill>
            <a:srgbClr val="FDE3E0"/>
          </a:solidFill>
          <a:ln w="2540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212121"/>
                </a:solidFill>
              </a:rPr>
              <a:t>tests/test_api.py</a:t>
            </a:r>
          </a:p>
        </p:txBody>
      </p:sp>
      <p:sp>
        <p:nvSpPr>
          <p:cNvPr id="16" name="Rounded Rectangle 15"/>
          <p:cNvSpPr/>
          <p:nvPr/>
        </p:nvSpPr>
        <p:spPr>
          <a:xfrm>
            <a:off x="365760" y="4434840"/>
            <a:ext cx="4023360" cy="530352"/>
          </a:xfrm>
          <a:prstGeom prst="roundRect">
            <a:avLst>
              <a:gd name="adj" fmla="val 12000"/>
            </a:avLst>
          </a:prstGeom>
          <a:solidFill>
            <a:srgbClr val="FFFFFF"/>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בדיקות לפי החוזה</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ממשק ב־Streamlit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streamlit.png"/>
          <p:cNvPicPr>
            <a:picLocks noChangeAspect="1"/>
          </p:cNvPicPr>
          <p:nvPr/>
        </p:nvPicPr>
        <p:blipFill>
          <a:blip r:embed="rId2"/>
          <a:stretch>
            <a:fillRect/>
          </a:stretch>
        </p:blipFill>
        <p:spPr>
          <a:xfrm>
            <a:off x="365760" y="1280160"/>
            <a:ext cx="3238195" cy="3794760"/>
          </a:xfrm>
          <a:prstGeom prst="rect">
            <a:avLst/>
          </a:prstGeom>
          <a:ln w="12700">
            <a:solidFill>
              <a:srgbClr val="78909C"/>
            </a:solidFill>
          </a:ln>
        </p:spPr>
      </p:pic>
      <p:sp>
        <p:nvSpPr>
          <p:cNvPr id="6" name="Rectangle 5"/>
          <p:cNvSpPr/>
          <p:nvPr/>
        </p:nvSpPr>
        <p:spPr>
          <a:xfrm>
            <a:off x="4206240" y="1371600"/>
            <a:ext cx="2926080" cy="5486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st.selectbox(...)</a:t>
            </a:r>
          </a:p>
        </p:txBody>
      </p:sp>
      <p:sp>
        <p:nvSpPr>
          <p:cNvPr id="7" name="TextBox 6"/>
          <p:cNvSpPr txBox="1"/>
          <p:nvPr/>
        </p:nvSpPr>
        <p:spPr>
          <a:xfrm>
            <a:off x="7223760" y="1371600"/>
            <a:ext cx="155448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212121"/>
                </a:solidFill>
              </a:rPr>
              <a:t>בחירת קטגוריה</a:t>
            </a:r>
          </a:p>
        </p:txBody>
      </p:sp>
      <p:sp>
        <p:nvSpPr>
          <p:cNvPr id="8" name="Rectangle 7"/>
          <p:cNvSpPr/>
          <p:nvPr/>
        </p:nvSpPr>
        <p:spPr>
          <a:xfrm>
            <a:off x="4206240" y="2057400"/>
            <a:ext cx="2926080" cy="5486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requests.get(API/products)</a:t>
            </a:r>
          </a:p>
        </p:txBody>
      </p:sp>
      <p:sp>
        <p:nvSpPr>
          <p:cNvPr id="9" name="TextBox 8"/>
          <p:cNvSpPr txBox="1"/>
          <p:nvPr/>
        </p:nvSpPr>
        <p:spPr>
          <a:xfrm>
            <a:off x="7223760" y="2057400"/>
            <a:ext cx="155448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212121"/>
                </a:solidFill>
              </a:rPr>
              <a:t>קוראים ל־API</a:t>
            </a:r>
          </a:p>
        </p:txBody>
      </p:sp>
      <p:sp>
        <p:nvSpPr>
          <p:cNvPr id="10" name="Rectangle 9"/>
          <p:cNvSpPr/>
          <p:nvPr/>
        </p:nvSpPr>
        <p:spPr>
          <a:xfrm>
            <a:off x="4206240" y="2743200"/>
            <a:ext cx="2926080" cy="5486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st.dataframe(df)</a:t>
            </a:r>
          </a:p>
        </p:txBody>
      </p:sp>
      <p:sp>
        <p:nvSpPr>
          <p:cNvPr id="11" name="TextBox 10"/>
          <p:cNvSpPr txBox="1"/>
          <p:nvPr/>
        </p:nvSpPr>
        <p:spPr>
          <a:xfrm>
            <a:off x="7223760" y="2743200"/>
            <a:ext cx="155448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212121"/>
                </a:solidFill>
              </a:rPr>
              <a:t>טבלה</a:t>
            </a:r>
          </a:p>
        </p:txBody>
      </p:sp>
      <p:sp>
        <p:nvSpPr>
          <p:cNvPr id="12" name="Rectangle 11"/>
          <p:cNvSpPr/>
          <p:nvPr/>
        </p:nvSpPr>
        <p:spPr>
          <a:xfrm>
            <a:off x="4206240" y="3429000"/>
            <a:ext cx="2926080" cy="5486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st.bar_chart(df)</a:t>
            </a:r>
          </a:p>
        </p:txBody>
      </p:sp>
      <p:sp>
        <p:nvSpPr>
          <p:cNvPr id="13" name="TextBox 12"/>
          <p:cNvSpPr txBox="1"/>
          <p:nvPr/>
        </p:nvSpPr>
        <p:spPr>
          <a:xfrm>
            <a:off x="7223760" y="3429000"/>
            <a:ext cx="155448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212121"/>
                </a:solidFill>
              </a:rPr>
              <a:t>גרף</a:t>
            </a:r>
          </a:p>
        </p:txBody>
      </p:sp>
      <p:sp>
        <p:nvSpPr>
          <p:cNvPr id="14" name="Rectangle 13"/>
          <p:cNvSpPr/>
          <p:nvPr/>
        </p:nvSpPr>
        <p:spPr>
          <a:xfrm>
            <a:off x="4206240" y="4114800"/>
            <a:ext cx="2926080" cy="54864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st.button(...)</a:t>
            </a:r>
          </a:p>
        </p:txBody>
      </p:sp>
      <p:sp>
        <p:nvSpPr>
          <p:cNvPr id="15" name="TextBox 14"/>
          <p:cNvSpPr txBox="1"/>
          <p:nvPr/>
        </p:nvSpPr>
        <p:spPr>
          <a:xfrm>
            <a:off x="7223760" y="4114800"/>
            <a:ext cx="155448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300" b="0" i="0" lang="he-IL">
                <a:solidFill>
                  <a:srgbClr val="212121"/>
                </a:solidFill>
              </a:rPr>
              <a:t>שליחה לתור</a:t>
            </a:r>
          </a:p>
        </p:txBody>
      </p:sp>
      <p:sp>
        <p:nvSpPr>
          <p:cNvPr id="16"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מבנה מומלץ לשירות עם מודל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766560" y="1234440"/>
            <a:ext cx="2011680" cy="7772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ממשק</a:t>
            </a:r>
          </a:p>
          <a:p>
            <a:pPr rtl="1" algn="ctr" marL="0" indent="0">
              <a:lnSpc>
                <a:spcPct val="105000"/>
              </a:lnSpc>
              <a:spcBef>
                <a:spcPts val="0"/>
              </a:spcBef>
              <a:spcAft>
                <a:spcPts val="0"/>
              </a:spcAft>
              <a:buNone/>
            </a:pPr>
            <a:r>
              <a:rPr sz="1400" b="1" i="0" lang="he-IL">
                <a:solidFill>
                  <a:srgbClr val="212121"/>
                </a:solidFill>
              </a:rPr>
              <a:t>(Streamlit)</a:t>
            </a:r>
          </a:p>
        </p:txBody>
      </p:sp>
      <p:sp>
        <p:nvSpPr>
          <p:cNvPr id="6" name="Rounded Rectangle 5"/>
          <p:cNvSpPr/>
          <p:nvPr/>
        </p:nvSpPr>
        <p:spPr>
          <a:xfrm>
            <a:off x="6766560" y="2423160"/>
            <a:ext cx="2011680" cy="7772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API</a:t>
            </a:r>
          </a:p>
          <a:p>
            <a:pPr rtl="1" algn="ctr" marL="0" indent="0">
              <a:lnSpc>
                <a:spcPct val="105000"/>
              </a:lnSpc>
              <a:spcBef>
                <a:spcPts val="0"/>
              </a:spcBef>
              <a:spcAft>
                <a:spcPts val="0"/>
              </a:spcAft>
              <a:buNone/>
            </a:pPr>
            <a:r>
              <a:rPr sz="1400" b="1" i="0" lang="he-IL">
                <a:solidFill>
                  <a:srgbClr val="212121"/>
                </a:solidFill>
              </a:rPr>
              <a:t>(FastAPI)</a:t>
            </a:r>
          </a:p>
        </p:txBody>
      </p:sp>
      <p:sp>
        <p:nvSpPr>
          <p:cNvPr id="7" name="Rounded Rectangle 6"/>
          <p:cNvSpPr/>
          <p:nvPr/>
        </p:nvSpPr>
        <p:spPr>
          <a:xfrm>
            <a:off x="3657600" y="2423160"/>
            <a:ext cx="2011680" cy="77724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מסד נתונים</a:t>
            </a:r>
          </a:p>
          <a:p>
            <a:pPr rtl="1" algn="ctr" marL="0" indent="0">
              <a:lnSpc>
                <a:spcPct val="105000"/>
              </a:lnSpc>
              <a:spcBef>
                <a:spcPts val="0"/>
              </a:spcBef>
              <a:spcAft>
                <a:spcPts val="0"/>
              </a:spcAft>
              <a:buNone/>
            </a:pPr>
            <a:r>
              <a:rPr sz="1400" b="1" i="0" lang="he-IL">
                <a:solidFill>
                  <a:srgbClr val="212121"/>
                </a:solidFill>
              </a:rPr>
              <a:t>(SQL)</a:t>
            </a:r>
          </a:p>
        </p:txBody>
      </p:sp>
      <p:sp>
        <p:nvSpPr>
          <p:cNvPr id="8" name="Rounded Rectangle 7"/>
          <p:cNvSpPr/>
          <p:nvPr/>
        </p:nvSpPr>
        <p:spPr>
          <a:xfrm>
            <a:off x="6766560" y="3611880"/>
            <a:ext cx="2011680" cy="7772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תור</a:t>
            </a:r>
          </a:p>
          <a:p>
            <a:pPr rtl="1" algn="ctr" marL="0" indent="0">
              <a:lnSpc>
                <a:spcPct val="105000"/>
              </a:lnSpc>
              <a:spcBef>
                <a:spcPts val="0"/>
              </a:spcBef>
              <a:spcAft>
                <a:spcPts val="0"/>
              </a:spcAft>
              <a:buNone/>
            </a:pPr>
            <a:r>
              <a:rPr sz="1400" b="1" i="0" lang="he-IL">
                <a:solidFill>
                  <a:srgbClr val="212121"/>
                </a:solidFill>
              </a:rPr>
              <a:t>(Redis)</a:t>
            </a:r>
          </a:p>
        </p:txBody>
      </p:sp>
      <p:sp>
        <p:nvSpPr>
          <p:cNvPr id="9" name="Rounded Rectangle 8"/>
          <p:cNvSpPr/>
          <p:nvPr/>
        </p:nvSpPr>
        <p:spPr>
          <a:xfrm>
            <a:off x="3657600" y="3611880"/>
            <a:ext cx="2011680" cy="7772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עובד</a:t>
            </a:r>
          </a:p>
          <a:p>
            <a:pPr rtl="1" algn="ctr" marL="0" indent="0">
              <a:lnSpc>
                <a:spcPct val="105000"/>
              </a:lnSpc>
              <a:spcBef>
                <a:spcPts val="0"/>
              </a:spcBef>
              <a:spcAft>
                <a:spcPts val="0"/>
              </a:spcAft>
              <a:buNone/>
            </a:pPr>
            <a:r>
              <a:rPr sz="1400" b="1" i="0" lang="he-IL">
                <a:solidFill>
                  <a:srgbClr val="212121"/>
                </a:solidFill>
              </a:rPr>
              <a:t>(Celery + מודל)</a:t>
            </a:r>
          </a:p>
        </p:txBody>
      </p:sp>
      <p:sp>
        <p:nvSpPr>
          <p:cNvPr id="10" name="Rounded Rectangle 9"/>
          <p:cNvSpPr/>
          <p:nvPr/>
        </p:nvSpPr>
        <p:spPr>
          <a:xfrm>
            <a:off x="548640" y="3611880"/>
            <a:ext cx="2194560" cy="777240"/>
          </a:xfrm>
          <a:prstGeom prst="roundRect">
            <a:avLst>
              <a:gd name="adj" fmla="val 12000"/>
            </a:avLst>
          </a:prstGeom>
          <a:solidFill>
            <a:srgbClr val="F2F2F2"/>
          </a:solidFill>
          <a:ln w="317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ניטור</a:t>
            </a:r>
          </a:p>
          <a:p>
            <a:pPr rtl="1" algn="ctr" marL="0" indent="0">
              <a:lnSpc>
                <a:spcPct val="105000"/>
              </a:lnSpc>
              <a:spcBef>
                <a:spcPts val="0"/>
              </a:spcBef>
              <a:spcAft>
                <a:spcPts val="0"/>
              </a:spcAft>
              <a:buNone/>
            </a:pPr>
            <a:r>
              <a:rPr sz="1400" b="1" i="0" lang="he-IL">
                <a:solidFill>
                  <a:srgbClr val="212121"/>
                </a:solidFill>
              </a:rPr>
              <a:t>(Flower)</a:t>
            </a:r>
          </a:p>
        </p:txBody>
      </p:sp>
      <p:cxnSp>
        <p:nvCxnSpPr>
          <p:cNvPr id="11" name="Connector 10"/>
          <p:cNvCxnSpPr/>
          <p:nvPr/>
        </p:nvCxnSpPr>
        <p:spPr>
          <a:xfrm>
            <a:off x="7772400" y="201168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669280" y="280720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669280" y="3995928"/>
            <a:ext cx="109728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663440" y="3200400"/>
            <a:ext cx="0" cy="41148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743200" y="3995928"/>
            <a:ext cx="914400"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28600" y="4617720"/>
            <a:ext cx="8732520" cy="457200"/>
          </a:xfrm>
          <a:prstGeom prst="roundRect">
            <a:avLst>
              <a:gd name="adj" fmla="val 20000"/>
            </a:avLst>
          </a:prstGeom>
          <a:solidFill>
            <a:srgbClr val="FFFFFF"/>
          </a:solidFill>
          <a:ln w="19050">
            <a:solidFill>
              <a:srgbClr val="4285F4"/>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 הכל ארוז בקונטיינרים (Docker), ואפשר להריץ אותם על מכונות רבות (Kubernetes)</a:t>
            </a:r>
          </a:p>
        </p:txBody>
      </p:sp>
      <p:sp>
        <p:nvSpPr>
          <p:cNvPr id="18"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עקרונות מומלצים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API דק</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ה־API לא מריץ את המודל. הוא רושם משימה ומחזיר 202.</a:t>
            </a:r>
          </a:p>
        </p:txBody>
      </p:sp>
      <p:sp>
        <p:nvSpPr>
          <p:cNvPr id="9" name="Rounded Rectangle 8"/>
          <p:cNvSpPr/>
          <p:nvPr/>
        </p:nvSpPr>
        <p:spPr>
          <a:xfrm>
            <a:off x="36576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המודל נטען פעם אחת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בעובד, בהפעלה: לא בכל בקשה.</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ניסיון חוזר בטוח</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אם משימה רצה פעמיים, אין נזק (idempotent).</a:t>
            </a:r>
          </a:p>
        </p:txBody>
      </p:sp>
      <p:sp>
        <p:nvSpPr>
          <p:cNvPr id="17" name="Rounded Rectangle 16"/>
          <p:cNvSpPr/>
          <p:nvPr/>
        </p:nvSpPr>
        <p:spPr>
          <a:xfrm>
            <a:off x="365760" y="306324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זמן קצוב והגבלות</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כמה זמן מותר, כמה במקביל, ומה בכשל.</a:t>
            </a:r>
          </a:p>
        </p:txBody>
      </p:sp>
      <p:sp>
        <p:nvSpPr>
          <p:cNvPr id="21"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Kubernetes (K8s)</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291840" y="1325880"/>
            <a:ext cx="2560320" cy="73152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Control plane</a:t>
            </a:r>
          </a:p>
          <a:p>
            <a:pPr rtl="1" algn="ctr" marL="0" indent="0">
              <a:lnSpc>
                <a:spcPct val="105000"/>
              </a:lnSpc>
              <a:spcBef>
                <a:spcPts val="0"/>
              </a:spcBef>
              <a:spcAft>
                <a:spcPts val="0"/>
              </a:spcAft>
              <a:buNone/>
            </a:pPr>
            <a:r>
              <a:rPr sz="1200" b="0" i="0" lang="he-IL">
                <a:solidFill>
                  <a:srgbClr val="595959"/>
                </a:solidFill>
              </a:rPr>
              <a:t>מחליט איפה מה רץ</a:t>
            </a:r>
          </a:p>
        </p:txBody>
      </p:sp>
      <p:sp>
        <p:nvSpPr>
          <p:cNvPr id="6" name="Rounded Rectangle 5"/>
          <p:cNvSpPr/>
          <p:nvPr/>
        </p:nvSpPr>
        <p:spPr>
          <a:xfrm>
            <a:off x="6400800" y="2423160"/>
            <a:ext cx="2377440" cy="1920240"/>
          </a:xfrm>
          <a:prstGeom prst="roundRect">
            <a:avLst>
              <a:gd name="adj" fmla="val 5000"/>
            </a:avLst>
          </a:prstGeom>
          <a:solidFill>
            <a:srgbClr val="F7F7F7"/>
          </a:solidFill>
          <a:ln w="19050">
            <a:solidFill>
              <a:srgbClr val="78909C"/>
            </a:solidFill>
          </a:ln>
        </p:spPr>
        <p:txBody>
          <a:bodyPr rtlCol="0" anchor="ctr" wrap="square" lIns="73152" rIns="73152" tIns="73152" bIns="73152">
            <a:noAutofit/>
          </a:bodyPr>
          <a:lstStyle/>
          <a:p>
            <a:pPr algn="ctr"/>
          </a:p>
        </p:txBody>
      </p:sp>
      <p:sp>
        <p:nvSpPr>
          <p:cNvPr id="7" name="TextBox 6"/>
          <p:cNvSpPr txBox="1"/>
          <p:nvPr/>
        </p:nvSpPr>
        <p:spPr>
          <a:xfrm>
            <a:off x="6400800" y="2450592"/>
            <a:ext cx="237744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1" i="0" lang="he-IL">
                <a:solidFill>
                  <a:srgbClr val="595959"/>
                </a:solidFill>
              </a:rPr>
              <a:t>Node 1 (מכונה)</a:t>
            </a:r>
          </a:p>
        </p:txBody>
      </p:sp>
      <p:sp>
        <p:nvSpPr>
          <p:cNvPr id="8" name="Rounded Rectangle 7"/>
          <p:cNvSpPr/>
          <p:nvPr/>
        </p:nvSpPr>
        <p:spPr>
          <a:xfrm>
            <a:off x="6629400" y="2880360"/>
            <a:ext cx="96012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pod</a:t>
            </a:r>
          </a:p>
        </p:txBody>
      </p:sp>
      <p:sp>
        <p:nvSpPr>
          <p:cNvPr id="9" name="Rounded Rectangle 8"/>
          <p:cNvSpPr/>
          <p:nvPr/>
        </p:nvSpPr>
        <p:spPr>
          <a:xfrm>
            <a:off x="7726679" y="2880360"/>
            <a:ext cx="96012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pod</a:t>
            </a:r>
          </a:p>
        </p:txBody>
      </p:sp>
      <p:cxnSp>
        <p:nvCxnSpPr>
          <p:cNvPr id="10" name="Connector 9"/>
          <p:cNvCxnSpPr/>
          <p:nvPr/>
        </p:nvCxnSpPr>
        <p:spPr>
          <a:xfrm>
            <a:off x="4572000" y="2075688"/>
            <a:ext cx="3017520" cy="32004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4720" y="2423160"/>
            <a:ext cx="2377440" cy="1920240"/>
          </a:xfrm>
          <a:prstGeom prst="roundRect">
            <a:avLst>
              <a:gd name="adj" fmla="val 5000"/>
            </a:avLst>
          </a:prstGeom>
          <a:solidFill>
            <a:srgbClr val="F7F7F7"/>
          </a:solidFill>
          <a:ln w="19050">
            <a:solidFill>
              <a:srgbClr val="78909C"/>
            </a:solidFill>
          </a:ln>
        </p:spPr>
        <p:txBody>
          <a:bodyPr rtlCol="0" anchor="ctr" wrap="square" lIns="73152" rIns="73152" tIns="73152" bIns="73152">
            <a:noAutofit/>
          </a:bodyPr>
          <a:lstStyle/>
          <a:p>
            <a:pPr algn="ctr"/>
          </a:p>
        </p:txBody>
      </p:sp>
      <p:sp>
        <p:nvSpPr>
          <p:cNvPr id="12" name="TextBox 11"/>
          <p:cNvSpPr txBox="1"/>
          <p:nvPr/>
        </p:nvSpPr>
        <p:spPr>
          <a:xfrm>
            <a:off x="3474720" y="2450592"/>
            <a:ext cx="237744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1" i="0" lang="he-IL">
                <a:solidFill>
                  <a:srgbClr val="595959"/>
                </a:solidFill>
              </a:rPr>
              <a:t>Node 2 (מכונה)</a:t>
            </a:r>
          </a:p>
        </p:txBody>
      </p:sp>
      <p:sp>
        <p:nvSpPr>
          <p:cNvPr id="13" name="Rounded Rectangle 12"/>
          <p:cNvSpPr/>
          <p:nvPr/>
        </p:nvSpPr>
        <p:spPr>
          <a:xfrm>
            <a:off x="3703320" y="2880360"/>
            <a:ext cx="96012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pod</a:t>
            </a:r>
          </a:p>
        </p:txBody>
      </p:sp>
      <p:sp>
        <p:nvSpPr>
          <p:cNvPr id="14" name="Rounded Rectangle 13"/>
          <p:cNvSpPr/>
          <p:nvPr/>
        </p:nvSpPr>
        <p:spPr>
          <a:xfrm>
            <a:off x="4800600" y="2880360"/>
            <a:ext cx="96012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pod</a:t>
            </a:r>
          </a:p>
        </p:txBody>
      </p:sp>
      <p:cxnSp>
        <p:nvCxnSpPr>
          <p:cNvPr id="15" name="Connector 14"/>
          <p:cNvCxnSpPr/>
          <p:nvPr/>
        </p:nvCxnSpPr>
        <p:spPr>
          <a:xfrm>
            <a:off x="4572000" y="2075688"/>
            <a:ext cx="91440" cy="32004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39" y="2423160"/>
            <a:ext cx="2377440" cy="1920240"/>
          </a:xfrm>
          <a:prstGeom prst="roundRect">
            <a:avLst>
              <a:gd name="adj" fmla="val 5000"/>
            </a:avLst>
          </a:prstGeom>
          <a:solidFill>
            <a:srgbClr val="F7F7F7"/>
          </a:solidFill>
          <a:ln w="19050">
            <a:solidFill>
              <a:srgbClr val="78909C"/>
            </a:solidFill>
          </a:ln>
        </p:spPr>
        <p:txBody>
          <a:bodyPr rtlCol="0" anchor="ctr" wrap="square" lIns="73152" rIns="73152" tIns="73152" bIns="73152">
            <a:noAutofit/>
          </a:bodyPr>
          <a:lstStyle/>
          <a:p>
            <a:pPr algn="ctr"/>
          </a:p>
        </p:txBody>
      </p:sp>
      <p:sp>
        <p:nvSpPr>
          <p:cNvPr id="17" name="TextBox 16"/>
          <p:cNvSpPr txBox="1"/>
          <p:nvPr/>
        </p:nvSpPr>
        <p:spPr>
          <a:xfrm>
            <a:off x="548639" y="2450592"/>
            <a:ext cx="237744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1" i="0" lang="he-IL">
                <a:solidFill>
                  <a:srgbClr val="595959"/>
                </a:solidFill>
              </a:rPr>
              <a:t>Node 3 (מכונה)</a:t>
            </a:r>
          </a:p>
        </p:txBody>
      </p:sp>
      <p:sp>
        <p:nvSpPr>
          <p:cNvPr id="18" name="Rounded Rectangle 17"/>
          <p:cNvSpPr/>
          <p:nvPr/>
        </p:nvSpPr>
        <p:spPr>
          <a:xfrm>
            <a:off x="777239" y="2880360"/>
            <a:ext cx="960120" cy="7315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300" b="1" i="0" lang="he-IL">
                <a:solidFill>
                  <a:srgbClr val="212121"/>
                </a:solidFill>
              </a:rPr>
              <a:t>pod</a:t>
            </a:r>
          </a:p>
        </p:txBody>
      </p:sp>
      <p:cxnSp>
        <p:nvCxnSpPr>
          <p:cNvPr id="19" name="Connector 18"/>
          <p:cNvCxnSpPr/>
          <p:nvPr/>
        </p:nvCxnSpPr>
        <p:spPr>
          <a:xfrm flipH="1">
            <a:off x="1737359" y="2075688"/>
            <a:ext cx="2834641" cy="320040"/>
          </a:xfrm>
          <a:prstGeom prst="line">
            <a:avLst/>
          </a:prstGeom>
          <a:ln w="2286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4480560"/>
            <a:ext cx="8412480" cy="5943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אתם מצהירים: "אני רוצה 3 עותקים". Kubernetes דואג לכך, ומחליף עותק שנפל.</a:t>
            </a:r>
          </a:p>
        </p:txBody>
      </p:sp>
      <p:sp>
        <p:nvSpPr>
          <p:cNvPr id="21"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מושגים ב־Kubernetes</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5120638" cy="3401568"/>
        </p:xfrm>
        <a:graphic>
          <a:graphicData uri="http://schemas.openxmlformats.org/drawingml/2006/table">
            <a:tbl>
              <a:tblPr firstRow="0" bandRow="0">
                <a:tableStyleId>{2D5ABB26-0587-4C30-8999-92F81FD0307C}</a:tableStyleId>
              </a:tblPr>
              <a:tblGrid>
                <a:gridCol w="1452121"/>
                <a:gridCol w="2292823"/>
                <a:gridCol w="1375694"/>
              </a:tblGrid>
              <a:tr h="566928">
                <a:tc>
                  <a:txBody>
                    <a:bodyPr wrap="square"/>
                    <a:lstStyle/>
                    <a:p>
                      <a:pPr rtl="1" algn="ctr" marL="0" indent="0">
                        <a:lnSpc>
                          <a:spcPct val="100000"/>
                        </a:lnSpc>
                        <a:spcBef>
                          <a:spcPts val="0"/>
                        </a:spcBef>
                        <a:spcAft>
                          <a:spcPts val="0"/>
                        </a:spcAft>
                        <a:buNone/>
                      </a:pPr>
                      <a:r>
                        <a:rPr sz="1200" b="1" i="0" lang="he-IL">
                          <a:solidFill>
                            <a:srgbClr val="212121"/>
                          </a:solidFill>
                        </a:rPr>
                        <a:t>בדוגמה שלנו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מה זה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מושג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6928">
                <a:tc>
                  <a:txBody>
                    <a:bodyPr wrap="square"/>
                    <a:lstStyle/>
                    <a:p>
                      <a:pPr rtl="1" algn="r" marL="0" indent="0">
                        <a:lnSpc>
                          <a:spcPct val="100000"/>
                        </a:lnSpc>
                        <a:spcBef>
                          <a:spcPts val="0"/>
                        </a:spcBef>
                        <a:spcAft>
                          <a:spcPts val="0"/>
                        </a:spcAft>
                        <a:buNone/>
                      </a:pPr>
                      <a:r>
                        <a:rPr sz="1200" b="0" i="0" lang="he-IL">
                          <a:solidFill>
                            <a:srgbClr val="212121"/>
                          </a:solidFill>
                        </a:rPr>
                        <a:t>עותק אחד של ה־API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יחידת ההרצה הקטנה: קונטיינר אחד או יותר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Pod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200" b="0" i="0" lang="he-IL">
                          <a:solidFill>
                            <a:srgbClr val="212121"/>
                          </a:solidFill>
                        </a:rPr>
                        <a:t>replicas: 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כמה עותקים, ואיך מעדכנים גרסה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Deployment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200" b="0" i="0" lang="he-IL">
                          <a:solidFill>
                            <a:srgbClr val="212121"/>
                          </a:solidFill>
                        </a:rPr>
                        <a:t>store-api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כתובת קבועה מול העותקים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Service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200" b="0" i="0" lang="he-IL">
                          <a:solidFill>
                            <a:srgbClr val="212121"/>
                          </a:solidFill>
                        </a:rPr>
                        <a:t>(לא בדוגמה)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כניסה מהאינטרנט לשירותים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Ingress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6928">
                <a:tc>
                  <a:txBody>
                    <a:bodyPr wrap="square"/>
                    <a:lstStyle/>
                    <a:p>
                      <a:pPr rtl="1" algn="r" marL="0" indent="0">
                        <a:lnSpc>
                          <a:spcPct val="100000"/>
                        </a:lnSpc>
                        <a:spcBef>
                          <a:spcPts val="0"/>
                        </a:spcBef>
                        <a:spcAft>
                          <a:spcPts val="0"/>
                        </a:spcAft>
                        <a:buNone/>
                      </a:pPr>
                      <a:r>
                        <a:rPr sz="1200" b="0" i="0" lang="he-IL">
                          <a:solidFill>
                            <a:srgbClr val="212121"/>
                          </a:solidFill>
                        </a:rPr>
                        <a:t>משתנה env</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סיסמאות והגדרות מחוץ לקוד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Secret / ConfigMap</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ectangle 5"/>
          <p:cNvSpPr/>
          <p:nvPr/>
        </p:nvSpPr>
        <p:spPr>
          <a:xfrm>
            <a:off x="5669280" y="1325880"/>
            <a:ext cx="3108960" cy="292608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kind: Deployment</a:t>
            </a:r>
          </a:p>
          <a:p>
            <a:pPr rtl="0" algn="l" marL="0" indent="0">
              <a:lnSpc>
                <a:spcPct val="105000"/>
              </a:lnSpc>
              <a:spcBef>
                <a:spcPts val="0"/>
              </a:spcBef>
              <a:spcAft>
                <a:spcPts val="0"/>
              </a:spcAft>
              <a:buNone/>
            </a:pPr>
            <a:r>
              <a:rPr sz="1200" b="0" i="0" lang="he-IL">
                <a:solidFill>
                  <a:srgbClr val="212121"/>
                </a:solidFill>
              </a:rPr>
              <a:t>spec:</a:t>
            </a:r>
          </a:p>
          <a:p>
            <a:pPr rtl="0" algn="l" marL="0" indent="0">
              <a:lnSpc>
                <a:spcPct val="105000"/>
              </a:lnSpc>
              <a:spcBef>
                <a:spcPts val="0"/>
              </a:spcBef>
              <a:spcAft>
                <a:spcPts val="0"/>
              </a:spcAft>
              <a:buNone/>
            </a:pPr>
            <a:r>
              <a:rPr sz="1200" b="0" i="0" lang="he-IL">
                <a:solidFill>
                  <a:srgbClr val="212121"/>
                </a:solidFill>
              </a:rPr>
              <a:t>  replicas: 3</a:t>
            </a:r>
          </a:p>
          <a:p>
            <a:pPr rtl="0" algn="l" marL="0" indent="0">
              <a:lnSpc>
                <a:spcPct val="105000"/>
              </a:lnSpc>
              <a:spcBef>
                <a:spcPts val="0"/>
              </a:spcBef>
              <a:spcAft>
                <a:spcPts val="0"/>
              </a:spcAft>
              <a:buNone/>
            </a:pPr>
            <a:r>
              <a:rPr sz="1200" b="0" i="0" lang="he-IL">
                <a:solidFill>
                  <a:srgbClr val="212121"/>
                </a:solidFill>
              </a:rPr>
              <a:t>  template:</a:t>
            </a:r>
          </a:p>
          <a:p>
            <a:pPr rtl="0" algn="l" marL="0" indent="0">
              <a:lnSpc>
                <a:spcPct val="105000"/>
              </a:lnSpc>
              <a:spcBef>
                <a:spcPts val="0"/>
              </a:spcBef>
              <a:spcAft>
                <a:spcPts val="0"/>
              </a:spcAft>
              <a:buNone/>
            </a:pPr>
            <a:r>
              <a:rPr sz="1200" b="0" i="0" lang="he-IL">
                <a:solidFill>
                  <a:srgbClr val="212121"/>
                </a:solidFill>
              </a:rPr>
              <a:t>    spec:</a:t>
            </a:r>
          </a:p>
          <a:p>
            <a:pPr rtl="0" algn="l" marL="0" indent="0">
              <a:lnSpc>
                <a:spcPct val="105000"/>
              </a:lnSpc>
              <a:spcBef>
                <a:spcPts val="0"/>
              </a:spcBef>
              <a:spcAft>
                <a:spcPts val="0"/>
              </a:spcAft>
              <a:buNone/>
            </a:pPr>
            <a:r>
              <a:rPr sz="1200" b="0" i="0" lang="he-IL">
                <a:solidFill>
                  <a:srgbClr val="212121"/>
                </a:solidFill>
              </a:rPr>
              <a:t>      containers:</a:t>
            </a:r>
          </a:p>
          <a:p>
            <a:pPr rtl="0" algn="l" marL="0" indent="0">
              <a:lnSpc>
                <a:spcPct val="105000"/>
              </a:lnSpc>
              <a:spcBef>
                <a:spcPts val="0"/>
              </a:spcBef>
              <a:spcAft>
                <a:spcPts val="0"/>
              </a:spcAft>
              <a:buNone/>
            </a:pPr>
            <a:r>
              <a:rPr sz="1200" b="0" i="0" lang="he-IL">
                <a:solidFill>
                  <a:srgbClr val="212121"/>
                </a:solidFill>
              </a:rPr>
              <a:t>      - name: api</a:t>
            </a:r>
          </a:p>
          <a:p>
            <a:pPr rtl="0" algn="l" marL="0" indent="0">
              <a:lnSpc>
                <a:spcPct val="105000"/>
              </a:lnSpc>
              <a:spcBef>
                <a:spcPts val="0"/>
              </a:spcBef>
              <a:spcAft>
                <a:spcPts val="0"/>
              </a:spcAft>
              <a:buNone/>
            </a:pPr>
            <a:r>
              <a:rPr sz="1200" b="0" i="0" lang="he-IL">
                <a:solidFill>
                  <a:srgbClr val="212121"/>
                </a:solidFill>
              </a:rPr>
              <a:t>        image: myregistry/</a:t>
            </a:r>
          </a:p>
          <a:p>
            <a:pPr rtl="0" algn="l" marL="0" indent="0">
              <a:lnSpc>
                <a:spcPct val="105000"/>
              </a:lnSpc>
              <a:spcBef>
                <a:spcPts val="0"/>
              </a:spcBef>
              <a:spcAft>
                <a:spcPts val="0"/>
              </a:spcAft>
              <a:buNone/>
            </a:pPr>
            <a:r>
              <a:rPr sz="1200" b="0" i="0" lang="he-IL">
                <a:solidFill>
                  <a:srgbClr val="212121"/>
                </a:solidFill>
              </a:rPr>
              <a:t>          store-service:1.0.0</a:t>
            </a:r>
          </a:p>
        </p:txBody>
      </p:sp>
      <p:sp>
        <p:nvSpPr>
          <p:cNvPr id="7" name="TextBox 6"/>
          <p:cNvSpPr txBox="1"/>
          <p:nvPr/>
        </p:nvSpPr>
        <p:spPr>
          <a:xfrm>
            <a:off x="365760" y="4663440"/>
            <a:ext cx="8412480" cy="411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0" i="0" lang="he-IL">
                <a:solidFill>
                  <a:srgbClr val="595959"/>
                </a:solidFill>
              </a:rPr>
              <a:t>דוגמה להמחשה בלבד: הקובץ k8s/deployment.yaml של השירות.</a:t>
            </a:r>
          </a:p>
        </p:txBody>
      </p:sp>
      <p:sp>
        <p:nvSpPr>
          <p:cNvPr id="8"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Kubernetes: הצהרה מול פקודה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הצהרה, לא פקודה</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מצב רצוי (replicas: 3), והמערכת מתקנת עד שהוא מתקיים.</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ריפוי עצמי</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מפעילה מחדש קונטיינרים שנכשלו ומחליפה Pod שנפל.</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המחיר</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מורכבות ותפעול. בפרויקט שלכם compose מספיק.</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Flower: רואים מה קורה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flower_tasks.png"/>
          <p:cNvPicPr>
            <a:picLocks noChangeAspect="1"/>
          </p:cNvPicPr>
          <p:nvPr/>
        </p:nvPicPr>
        <p:blipFill>
          <a:blip r:embed="rId2"/>
          <a:stretch>
            <a:fillRect/>
          </a:stretch>
        </p:blipFill>
        <p:spPr>
          <a:xfrm>
            <a:off x="365760" y="1280160"/>
            <a:ext cx="4206240" cy="1971675"/>
          </a:xfrm>
          <a:prstGeom prst="rect">
            <a:avLst/>
          </a:prstGeom>
          <a:ln w="12700">
            <a:solidFill>
              <a:srgbClr val="78909C"/>
            </a:solidFill>
          </a:ln>
        </p:spPr>
      </p:pic>
      <p:pic>
        <p:nvPicPr>
          <p:cNvPr id="6" name="Picture 5" descr="flower_workers.png"/>
          <p:cNvPicPr>
            <a:picLocks noChangeAspect="1"/>
          </p:cNvPicPr>
          <p:nvPr/>
        </p:nvPicPr>
        <p:blipFill>
          <a:blip r:embed="rId3"/>
          <a:stretch>
            <a:fillRect/>
          </a:stretch>
        </p:blipFill>
        <p:spPr>
          <a:xfrm>
            <a:off x="4663440" y="1280160"/>
            <a:ext cx="4114800" cy="1800225"/>
          </a:xfrm>
          <a:prstGeom prst="rect">
            <a:avLst/>
          </a:prstGeom>
          <a:ln w="12700">
            <a:solidFill>
              <a:srgbClr val="78909C"/>
            </a:solidFill>
          </a:ln>
        </p:spPr>
      </p:pic>
      <p:sp>
        <p:nvSpPr>
          <p:cNvPr id="7" name="Rounded Rectangle 6"/>
          <p:cNvSpPr/>
          <p:nvPr/>
        </p:nvSpPr>
        <p:spPr>
          <a:xfrm>
            <a:off x="365760" y="3200400"/>
            <a:ext cx="4206240" cy="109728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משימות: מצב, זמן ריצה ועובד</a:t>
            </a:r>
          </a:p>
          <a:p>
            <a:pPr rtl="1" algn="ctr" marL="0" indent="0">
              <a:lnSpc>
                <a:spcPct val="105000"/>
              </a:lnSpc>
              <a:spcBef>
                <a:spcPts val="0"/>
              </a:spcBef>
              <a:spcAft>
                <a:spcPts val="0"/>
              </a:spcAft>
              <a:buNone/>
            </a:pPr>
            <a:r>
              <a:rPr sz="1300" b="0" i="0" lang="he-IL">
                <a:solidFill>
                  <a:srgbClr val="EA4335"/>
                </a:solidFill>
              </a:rPr>
              <a:t>כאן: הצלחה אחת ושלושה כשלונות אמיתיים</a:t>
            </a:r>
          </a:p>
        </p:txBody>
      </p:sp>
      <p:sp>
        <p:nvSpPr>
          <p:cNvPr id="8" name="Rounded Rectangle 7"/>
          <p:cNvSpPr/>
          <p:nvPr/>
        </p:nvSpPr>
        <p:spPr>
          <a:xfrm>
            <a:off x="4663440" y="3200400"/>
            <a:ext cx="4114800" cy="109728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עובדים: מחוברים, פעילים, נכשלו</a:t>
            </a:r>
          </a:p>
          <a:p>
            <a:pPr rtl="1" algn="ctr" marL="0" indent="0">
              <a:lnSpc>
                <a:spcPct val="105000"/>
              </a:lnSpc>
              <a:spcBef>
                <a:spcPts val="0"/>
              </a:spcBef>
              <a:spcAft>
                <a:spcPts val="0"/>
              </a:spcAft>
              <a:buNone/>
            </a:pPr>
            <a:r>
              <a:rPr sz="1300" b="0" i="0" lang="he-IL">
                <a:solidFill>
                  <a:srgbClr val="595959"/>
                </a:solidFill>
              </a:rPr>
              <a:t>ובכמה עומס כל עובד</a:t>
            </a:r>
          </a:p>
        </p:txBody>
      </p:sp>
      <p:sp>
        <p:nvSpPr>
          <p:cNvPr id="9" name="TextBox 8"/>
          <p:cNvSpPr txBox="1"/>
          <p:nvPr/>
        </p:nvSpPr>
        <p:spPr>
          <a:xfrm>
            <a:off x="365760" y="452628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בעיות מתגלות במסך, ולא רק כשמשתמש מתלונן.</a:t>
            </a:r>
          </a:p>
        </p:txBody>
      </p:sp>
      <p:sp>
        <p:nvSpPr>
          <p:cNvPr id="10"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מה Celery מבטיחה ומה לא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אישור (ack)</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ברירת מחדל: מאשרים לפני הביצוע. משימה שהתחילה לא תרוץ שוב.</a:t>
            </a:r>
          </a:p>
        </p:txBody>
      </p:sp>
      <p:sp>
        <p:nvSpPr>
          <p:cNvPr id="9" name="Rounded Rectangle 8"/>
          <p:cNvSpPr/>
          <p:nvPr/>
        </p:nvSpPr>
        <p:spPr>
          <a:xfrm>
            <a:off x="36576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acks_late</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מאשרים אחרי הביצוע: עובד שקרס יגרום להרצה חוזרת.</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Visibility timeout</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ב־Redis: משימה ארוכה מהזמן הקצוב עלולה לרוץ פעמיים.</a:t>
            </a:r>
          </a:p>
        </p:txBody>
      </p:sp>
      <p:sp>
        <p:nvSpPr>
          <p:cNvPr id="17" name="Rounded Rectangle 16"/>
          <p:cNvSpPr/>
          <p:nvPr/>
        </p:nvSpPr>
        <p:spPr>
          <a:xfrm>
            <a:off x="365760" y="306324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סטטוס STARTED</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לא מדווח כברירת מחדל. מפעילים track_started.</a:t>
            </a:r>
          </a:p>
        </p:txBody>
      </p:sp>
      <p:sp>
        <p:nvSpPr>
          <p:cNvPr id="21"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פלט JSON ממודל: מאמתים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מבקשים JSON</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מגדירים בהנחיה אילו מפתחות וערכים מותרים.</a:t>
            </a:r>
          </a:p>
        </p:txBody>
      </p:sp>
      <p:sp>
        <p:nvSpPr>
          <p:cNvPr id="9" name="Rounded Rectangle 8"/>
          <p:cNvSpPr/>
          <p:nvPr/>
        </p:nvSpPr>
        <p:spPr>
          <a:xfrm>
            <a:off x="324612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מאמתים</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json.loads, ואז בדיקת מפתחות וערכים (למשל עם Pydantic).</a:t>
            </a:r>
          </a:p>
        </p:txBody>
      </p:sp>
      <p:sp>
        <p:nvSpPr>
          <p:cNvPr id="13" name="Rounded Rectangle 12"/>
          <p:cNvSpPr/>
          <p:nvPr/>
        </p:nvSpPr>
        <p:spPr>
          <a:xfrm>
            <a:off x="320039" y="1463040"/>
            <a:ext cx="2697480" cy="310896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כשל</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פלט לא תקין: ניסיון נוסף אחד, ואז failed. לא ממציאים ערך.</a:t>
            </a:r>
          </a:p>
        </p:txBody>
      </p:sp>
      <p:sp>
        <p:nvSpPr>
          <p:cNvPr id="1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a:t>
            </a:r>
            <a:r>
              <a:rPr sz="3000" b="1" i="0" lang="he-IL">
                <a:solidFill>
                  <a:srgbClr val="212121"/>
                </a:solidFill>
              </a:rPr>
              <a:t>העשרה</a:t>
            </a:r>
            <a:r>
              <a:rPr sz="3000" b="0" i="0" lang="he-IL">
                <a:solidFill>
                  <a:srgbClr val="212121"/>
                </a:solidFill>
              </a:rPr>
              <a:t> : אתגר: מחליפים את classify</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ectangle 5"/>
          <p:cNvSpPr/>
          <p:nvPr/>
        </p:nvSpPr>
        <p:spPr>
          <a:xfrm>
            <a:off x="365760" y="1371600"/>
            <a:ext cx="8412480" cy="210312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import os, json</a:t>
            </a:r>
          </a:p>
          <a:p>
            <a:pPr rtl="0" algn="l" marL="0" indent="0">
              <a:lnSpc>
                <a:spcPct val="105000"/>
              </a:lnSpc>
              <a:spcBef>
                <a:spcPts val="0"/>
              </a:spcBef>
              <a:spcAft>
                <a:spcPts val="0"/>
              </a:spcAft>
              <a:buNone/>
            </a:pPr>
          </a:p>
          <a:p>
            <a:pPr rtl="0" algn="l" marL="0" indent="0">
              <a:lnSpc>
                <a:spcPct val="105000"/>
              </a:lnSpc>
              <a:spcBef>
                <a:spcPts val="0"/>
              </a:spcBef>
              <a:spcAft>
                <a:spcPts val="0"/>
              </a:spcAft>
              <a:buNone/>
            </a:pPr>
            <a:r>
              <a:rPr sz="1300" b="0" i="0" lang="he-IL">
                <a:solidFill>
                  <a:srgbClr val="212121"/>
                </a:solidFill>
              </a:rPr>
              <a:t>def classify(text):</a:t>
            </a:r>
          </a:p>
          <a:p>
            <a:pPr rtl="0" algn="l" marL="0" indent="0">
              <a:lnSpc>
                <a:spcPct val="105000"/>
              </a:lnSpc>
              <a:spcBef>
                <a:spcPts val="0"/>
              </a:spcBef>
              <a:spcAft>
                <a:spcPts val="0"/>
              </a:spcAft>
              <a:buNone/>
            </a:pPr>
            <a:r>
              <a:rPr sz="1300" b="0" i="0" lang="he-IL">
                <a:solidFill>
                  <a:srgbClr val="212121"/>
                </a:solidFill>
              </a:rPr>
              <a:t>    key = os.environ["LLM_KEY"]          # never in the code</a:t>
            </a:r>
          </a:p>
          <a:p>
            <a:pPr rtl="0" algn="l" marL="0" indent="0">
              <a:lnSpc>
                <a:spcPct val="105000"/>
              </a:lnSpc>
              <a:spcBef>
                <a:spcPts val="0"/>
              </a:spcBef>
              <a:spcAft>
                <a:spcPts val="0"/>
              </a:spcAft>
              <a:buNone/>
            </a:pPr>
            <a:r>
              <a:rPr sz="1300" b="0" i="0" lang="he-IL">
                <a:solidFill>
                  <a:srgbClr val="212121"/>
                </a:solidFill>
              </a:rPr>
              <a:t>    reply = call_llm_api(key, system=PROMPT, user=text, temperature=0.2)</a:t>
            </a:r>
          </a:p>
          <a:p>
            <a:pPr rtl="0" algn="l" marL="0" indent="0">
              <a:lnSpc>
                <a:spcPct val="105000"/>
              </a:lnSpc>
              <a:spcBef>
                <a:spcPts val="0"/>
              </a:spcBef>
              <a:spcAft>
                <a:spcPts val="0"/>
              </a:spcAft>
              <a:buNone/>
            </a:pPr>
            <a:r>
              <a:rPr sz="1300" b="0" i="0" lang="he-IL">
                <a:solidFill>
                  <a:srgbClr val="212121"/>
                </a:solidFill>
              </a:rPr>
              <a:t>    return validate(json.loads(reply))   # check the format</a:t>
            </a:r>
          </a:p>
        </p:txBody>
      </p:sp>
      <p:sp>
        <p:nvSpPr>
          <p:cNvPr id="7" name="Rounded Rectangle 6"/>
          <p:cNvSpPr/>
          <p:nvPr/>
        </p:nvSpPr>
        <p:spPr>
          <a:xfrm>
            <a:off x="365760" y="3657600"/>
            <a:ext cx="8412480" cy="12801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בדקו: האם הפלט JSON תקין? האם הקטגוריה נכונה?</a:t>
            </a:r>
          </a:p>
          <a:p>
            <a:pPr rtl="1" algn="ctr" marL="0" indent="0">
              <a:lnSpc>
                <a:spcPct val="105000"/>
              </a:lnSpc>
              <a:spcBef>
                <a:spcPts val="0"/>
              </a:spcBef>
              <a:spcAft>
                <a:spcPts val="0"/>
              </a:spcAft>
              <a:buNone/>
            </a:pPr>
            <a:r>
              <a:rPr sz="1600" b="0" i="0" lang="he-IL">
                <a:solidFill>
                  <a:srgbClr val="595959"/>
                </a:solidFill>
              </a:rPr>
              <a:t>הריצו כל מייל פעמיים. האם התשובה זהה? (טמפרטורה, מפגש 2)</a:t>
            </a:r>
          </a:p>
        </p:txBody>
      </p:sp>
      <p:sp>
        <p:nvSpPr>
          <p:cNvPr id="8"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שאלות פתוחות לדיון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שאלות פתוחות, בלי תשובה אחת נכונה:</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לדיון:</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חוזה שנוצר מהקוד: האם זה חוזה, או תיעוד של מה שקורה?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כש־AI הוא הלקוח של ה־API: מה משתנה בתיעוד ובהודעות שגיאה?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מתי תור הוא מורכבות מיותרת, ומתי הכרח?</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האם מפרט שאפשר לבדוק מספיק כדי לסמוך על קוד ש־AI כתב?</a:t>
            </a:r>
          </a:p>
        </p:txBody>
      </p:sp>
      <p:sp>
        <p:nvSpPr>
          <p:cNvPr id="7"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מקורות להעמקה: תיעוד ותקנים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680000"/>
        </p:xfrm>
        <a:graphic>
          <a:graphicData uri="http://schemas.openxmlformats.org/drawingml/2006/table">
            <a:tbl>
              <a:tblPr firstRow="0" bandRow="0">
                <a:tableStyleId>{2D5ABB26-0587-4C30-8999-92F81FD0307C}</a:tableStyleId>
              </a:tblPr>
              <a:tblGrid>
                <a:gridCol w="7450000"/>
                <a:gridCol w="962478"/>
              </a:tblGrid>
              <a:tr h="460000">
                <a:tc>
                  <a:txBody>
                    <a:bodyPr wrap="square"/>
                    <a:lstStyle/>
                    <a:p>
                      <a:pPr rtl="0" algn="l" marL="0" indent="0">
                        <a:lnSpc>
                          <a:spcPct val="100000"/>
                        </a:lnSpc>
                        <a:spcBef>
                          <a:spcPts val="0"/>
                        </a:spcBef>
                        <a:spcAft>
                          <a:spcPts val="0"/>
                        </a:spcAft>
                        <a:buNone/>
                      </a:pPr>
                      <a:r>
                        <a:rPr sz="1200" b="0" i="0" lang="he-IL">
                          <a:solidFill>
                            <a:srgbClr val="212121"/>
                          </a:solidFill>
                        </a:rPr>
                        <a:t>IETF (2022). RFC 9110: HTTP Semantics.</a:t>
                      </a:r>
                    </a:p>
                    <a:p>
                      <a:pPr rtl="0" algn="l" marL="0" indent="0">
                        <a:lnSpc>
                          <a:spcPct val="100000"/>
                        </a:lnSpc>
                        <a:spcBef>
                          <a:spcPts val="0"/>
                        </a:spcBef>
                        <a:spcAft>
                          <a:spcPts val="0"/>
                        </a:spcAft>
                        <a:buNone/>
                      </a:pPr>
                      <a:r>
                        <a:rPr sz="1200" b="0" i="0" lang="he-IL">
                          <a:solidFill>
                            <a:srgbClr val="212121"/>
                          </a:solidFill>
                        </a:rPr>
                        <a:t>rfc-editor.org/rfc/rfc9110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תקן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OpenAPI Initiative (2026). OpenAPI Specification v3.2.1.</a:t>
                      </a:r>
                    </a:p>
                    <a:p>
                      <a:pPr rtl="0" algn="l" marL="0" indent="0">
                        <a:lnSpc>
                          <a:spcPct val="100000"/>
                        </a:lnSpc>
                        <a:spcBef>
                          <a:spcPts val="0"/>
                        </a:spcBef>
                        <a:spcAft>
                          <a:spcPts val="0"/>
                        </a:spcAft>
                        <a:buNone/>
                      </a:pPr>
                      <a:r>
                        <a:rPr sz="1200" b="0" i="0" lang="he-IL">
                          <a:solidFill>
                            <a:srgbClr val="212121"/>
                          </a:solidFill>
                        </a:rPr>
                        <a:t>spec.openapis.org/oas/latest.html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תקן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FastAPI. First Steps (OpenAPI, /docs, /redoc).</a:t>
                      </a:r>
                    </a:p>
                    <a:p>
                      <a:pPr rtl="0" algn="l" marL="0" indent="0">
                        <a:lnSpc>
                          <a:spcPct val="100000"/>
                        </a:lnSpc>
                        <a:spcBef>
                          <a:spcPts val="0"/>
                        </a:spcBef>
                        <a:spcAft>
                          <a:spcPts val="0"/>
                        </a:spcAft>
                        <a:buNone/>
                      </a:pPr>
                      <a:r>
                        <a:rPr sz="1200" b="0" i="0" lang="he-IL">
                          <a:solidFill>
                            <a:srgbClr val="212121"/>
                          </a:solidFill>
                        </a:rPr>
                        <a:t>fastapi.tiangolo.com/tutorial/first-steps/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Python Software Foundation. sqlite3: placeholders and SQL injection.</a:t>
                      </a:r>
                    </a:p>
                    <a:p>
                      <a:pPr rtl="0" algn="l" marL="0" indent="0">
                        <a:lnSpc>
                          <a:spcPct val="100000"/>
                        </a:lnSpc>
                        <a:spcBef>
                          <a:spcPts val="0"/>
                        </a:spcBef>
                        <a:spcAft>
                          <a:spcPts val="0"/>
                        </a:spcAft>
                        <a:buNone/>
                      </a:pPr>
                      <a:r>
                        <a:rPr sz="1200" b="0" i="0" lang="he-IL">
                          <a:solidFill>
                            <a:srgbClr val="212121"/>
                          </a:solidFill>
                        </a:rPr>
                        <a:t>docs.python.org/3/library/sqlite3.html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OWASP. SQL Injection Prevention Cheat Sheet.</a:t>
                      </a:r>
                    </a:p>
                    <a:p>
                      <a:pPr rtl="0" algn="l" marL="0" indent="0">
                        <a:lnSpc>
                          <a:spcPct val="100000"/>
                        </a:lnSpc>
                        <a:spcBef>
                          <a:spcPts val="0"/>
                        </a:spcBef>
                        <a:spcAft>
                          <a:spcPts val="0"/>
                        </a:spcAft>
                        <a:buNone/>
                      </a:pPr>
                      <a:r>
                        <a:rPr sz="1200" b="0" i="0" lang="he-IL">
                          <a:solidFill>
                            <a:srgbClr val="212121"/>
                          </a:solidFill>
                        </a:rPr>
                        <a:t>cheatsheetseries.owasp.org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מדריך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Docker Docs. What is a container?</a:t>
                      </a:r>
                    </a:p>
                    <a:p>
                      <a:pPr rtl="0" algn="l" marL="0" indent="0">
                        <a:lnSpc>
                          <a:spcPct val="100000"/>
                        </a:lnSpc>
                        <a:spcBef>
                          <a:spcPts val="0"/>
                        </a:spcBef>
                        <a:spcAft>
                          <a:spcPts val="0"/>
                        </a:spcAft>
                        <a:buNone/>
                      </a:pPr>
                      <a:r>
                        <a:rPr sz="1200" b="0" i="0" lang="he-IL">
                          <a:solidFill>
                            <a:srgbClr val="212121"/>
                          </a:solidFill>
                        </a:rPr>
                        <a:t>docs.docker.com/get-started/docker-concepts/the-basics/what-is-a-container/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Kubernetes Docs. Overview.</a:t>
                      </a:r>
                    </a:p>
                    <a:p>
                      <a:pPr rtl="0" algn="l" marL="0" indent="0">
                        <a:lnSpc>
                          <a:spcPct val="100000"/>
                        </a:lnSpc>
                        <a:spcBef>
                          <a:spcPts val="0"/>
                        </a:spcBef>
                        <a:spcAft>
                          <a:spcPts val="0"/>
                        </a:spcAft>
                        <a:buNone/>
                      </a:pPr>
                      <a:r>
                        <a:rPr sz="1200" b="0" i="0" lang="he-IL">
                          <a:solidFill>
                            <a:srgbClr val="212121"/>
                          </a:solidFill>
                        </a:rPr>
                        <a:t>kubernetes.io/docs/concepts/overview/</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60000">
                <a:tc>
                  <a:txBody>
                    <a:bodyPr wrap="square"/>
                    <a:lstStyle/>
                    <a:p>
                      <a:pPr rtl="0" algn="l" marL="0" indent="0">
                        <a:lnSpc>
                          <a:spcPct val="100000"/>
                        </a:lnSpc>
                        <a:spcBef>
                          <a:spcPts val="0"/>
                        </a:spcBef>
                        <a:spcAft>
                          <a:spcPts val="0"/>
                        </a:spcAft>
                        <a:buNone/>
                      </a:pPr>
                      <a:r>
                        <a:rPr sz="1200" b="0" i="0" lang="he-IL">
                          <a:solidFill>
                            <a:srgbClr val="212121"/>
                          </a:solidFill>
                        </a:rPr>
                        <a:t>Celery Docs. Tasks (states, acks_late, retry).</a:t>
                      </a:r>
                    </a:p>
                    <a:p>
                      <a:pPr rtl="0" algn="l" marL="0" indent="0">
                        <a:lnSpc>
                          <a:spcPct val="100000"/>
                        </a:lnSpc>
                        <a:spcBef>
                          <a:spcPts val="0"/>
                        </a:spcBef>
                        <a:spcAft>
                          <a:spcPts val="0"/>
                        </a:spcAft>
                        <a:buNone/>
                      </a:pPr>
                      <a:r>
                        <a:rPr sz="1200" b="0" i="0" lang="he-IL">
                          <a:solidFill>
                            <a:srgbClr val="212121"/>
                          </a:solidFill>
                        </a:rPr>
                        <a:t>docs.celeryq.dev/en/stable/userguide/tasks.html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תיעוד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 העשרה :</a:t>
            </a:r>
            <a:r>
              <a:rPr sz="3000" b="1" i="0" lang="he-IL">
                <a:solidFill>
                  <a:srgbClr val="212121"/>
                </a:solidFill>
              </a:rPr>
              <a:t>מקורות להעמקה: מחקר ומאמרים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360000"/>
        </p:xfrm>
        <a:graphic>
          <a:graphicData uri="http://schemas.openxmlformats.org/drawingml/2006/table">
            <a:tbl>
              <a:tblPr firstRow="0" bandRow="0">
                <a:tableStyleId>{2D5ABB26-0587-4C30-8999-92F81FD0307C}</a:tableStyleId>
              </a:tblPr>
              <a:tblGrid>
                <a:gridCol w="7450000"/>
                <a:gridCol w="962478"/>
              </a:tblGrid>
              <a:tr h="560000">
                <a:tc>
                  <a:txBody>
                    <a:bodyPr wrap="square"/>
                    <a:lstStyle/>
                    <a:p>
                      <a:pPr rtl="0" algn="l" marL="0" indent="0">
                        <a:lnSpc>
                          <a:spcPct val="100000"/>
                        </a:lnSpc>
                        <a:spcBef>
                          <a:spcPts val="0"/>
                        </a:spcBef>
                        <a:spcAft>
                          <a:spcPts val="0"/>
                        </a:spcAft>
                        <a:buNone/>
                      </a:pPr>
                      <a:r>
                        <a:rPr sz="1200" b="0" i="0" lang="he-IL">
                          <a:solidFill>
                            <a:srgbClr val="212121"/>
                          </a:solidFill>
                        </a:rPr>
                        <a:t>Codd, E. F. (1970). A Relational Model of Data for Large Shared Data Banks. CACM 13(6).</a:t>
                      </a:r>
                    </a:p>
                    <a:p>
                      <a:pPr rtl="0" algn="l" marL="0" indent="0">
                        <a:lnSpc>
                          <a:spcPct val="100000"/>
                        </a:lnSpc>
                        <a:spcBef>
                          <a:spcPts val="0"/>
                        </a:spcBef>
                        <a:spcAft>
                          <a:spcPts val="0"/>
                        </a:spcAft>
                        <a:buNone/>
                      </a:pPr>
                      <a:r>
                        <a:rPr sz="1200" b="0" i="0" lang="he-IL">
                          <a:solidFill>
                            <a:srgbClr val="212121"/>
                          </a:solidFill>
                        </a:rPr>
                        <a:t>doi.org/10.1145/362384.362685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מאמר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0" algn="l" marL="0" indent="0">
                        <a:lnSpc>
                          <a:spcPct val="100000"/>
                        </a:lnSpc>
                        <a:spcBef>
                          <a:spcPts val="0"/>
                        </a:spcBef>
                        <a:spcAft>
                          <a:spcPts val="0"/>
                        </a:spcAft>
                        <a:buNone/>
                      </a:pPr>
                      <a:r>
                        <a:rPr sz="1200" b="0" i="0" lang="he-IL">
                          <a:solidFill>
                            <a:srgbClr val="212121"/>
                          </a:solidFill>
                        </a:rPr>
                        <a:t>Fielding, R. T. (2000). Architectural Styles and the Design of Network-based Software Architectures. UC Irvine.</a:t>
                      </a:r>
                    </a:p>
                    <a:p>
                      <a:pPr rtl="0" algn="l" marL="0" indent="0">
                        <a:lnSpc>
                          <a:spcPct val="100000"/>
                        </a:lnSpc>
                        <a:spcBef>
                          <a:spcPts val="0"/>
                        </a:spcBef>
                        <a:spcAft>
                          <a:spcPts val="0"/>
                        </a:spcAft>
                        <a:buNone/>
                      </a:pPr>
                      <a:r>
                        <a:rPr sz="1200" b="0" i="0" lang="he-IL">
                          <a:solidFill>
                            <a:srgbClr val="212121"/>
                          </a:solidFill>
                        </a:rPr>
                        <a:t>ics.uci.edu/~fielding/pubs/dissertation/top.htm</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דוקטורט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0" algn="l" marL="0" indent="0">
                        <a:lnSpc>
                          <a:spcPct val="100000"/>
                        </a:lnSpc>
                        <a:spcBef>
                          <a:spcPts val="0"/>
                        </a:spcBef>
                        <a:spcAft>
                          <a:spcPts val="0"/>
                        </a:spcAft>
                        <a:buNone/>
                      </a:pPr>
                      <a:r>
                        <a:rPr sz="1200" b="0" i="0" lang="he-IL">
                          <a:solidFill>
                            <a:srgbClr val="212121"/>
                          </a:solidFill>
                        </a:rPr>
                        <a:t>Merkel, D. (2014). Docker: Lightweight Linux Containers for Consistent Development and Deployment.</a:t>
                      </a:r>
                    </a:p>
                    <a:p>
                      <a:pPr rtl="0" algn="l" marL="0" indent="0">
                        <a:lnSpc>
                          <a:spcPct val="100000"/>
                        </a:lnSpc>
                        <a:spcBef>
                          <a:spcPts val="0"/>
                        </a:spcBef>
                        <a:spcAft>
                          <a:spcPts val="0"/>
                        </a:spcAft>
                        <a:buNone/>
                      </a:pPr>
                      <a:r>
                        <a:rPr sz="1200" b="0" i="0" lang="he-IL">
                          <a:solidFill>
                            <a:srgbClr val="212121"/>
                          </a:solidFill>
                        </a:rPr>
                        <a:t>linuxjournal.com</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מאמר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0" algn="l" marL="0" indent="0">
                        <a:lnSpc>
                          <a:spcPct val="100000"/>
                        </a:lnSpc>
                        <a:spcBef>
                          <a:spcPts val="0"/>
                        </a:spcBef>
                        <a:spcAft>
                          <a:spcPts val="0"/>
                        </a:spcAft>
                        <a:buNone/>
                      </a:pPr>
                      <a:r>
                        <a:rPr sz="1200" b="0" i="0" lang="he-IL">
                          <a:solidFill>
                            <a:srgbClr val="212121"/>
                          </a:solidFill>
                        </a:rPr>
                        <a:t>Burns, B., Grant, B., Oppenheimer, D., Brewer, E., Wilkes, J. (2016). Borg, Omega, and Kubernetes. ACM Queue 14(1).</a:t>
                      </a:r>
                    </a:p>
                    <a:p>
                      <a:pPr rtl="0" algn="l" marL="0" indent="0">
                        <a:lnSpc>
                          <a:spcPct val="100000"/>
                        </a:lnSpc>
                        <a:spcBef>
                          <a:spcPts val="0"/>
                        </a:spcBef>
                        <a:spcAft>
                          <a:spcPts val="0"/>
                        </a:spcAft>
                        <a:buNone/>
                      </a:pPr>
                      <a:r>
                        <a:rPr sz="1200" b="0" i="0" lang="he-IL">
                          <a:solidFill>
                            <a:srgbClr val="212121"/>
                          </a:solidFill>
                        </a:rPr>
                        <a:t>research.google/pubs/pub44843/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מאמר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0" algn="l" marL="0" indent="0">
                        <a:lnSpc>
                          <a:spcPct val="100000"/>
                        </a:lnSpc>
                        <a:spcBef>
                          <a:spcPts val="0"/>
                        </a:spcBef>
                        <a:spcAft>
                          <a:spcPts val="0"/>
                        </a:spcAft>
                        <a:buNone/>
                      </a:pPr>
                      <a:r>
                        <a:rPr sz="1200" b="0" i="0" lang="he-IL">
                          <a:solidFill>
                            <a:srgbClr val="212121"/>
                          </a:solidFill>
                        </a:rPr>
                        <a:t>Hatfield-Dodds, Z., Dygalo, D. (2021). Deriving Semantics-Aware Fuzzers from Web API Schemas.</a:t>
                      </a:r>
                    </a:p>
                    <a:p>
                      <a:pPr rtl="0" algn="l" marL="0" indent="0">
                        <a:lnSpc>
                          <a:spcPct val="100000"/>
                        </a:lnSpc>
                        <a:spcBef>
                          <a:spcPts val="0"/>
                        </a:spcBef>
                        <a:spcAft>
                          <a:spcPts val="0"/>
                        </a:spcAft>
                        <a:buNone/>
                      </a:pPr>
                      <a:r>
                        <a:rPr sz="1200" b="0" i="0" lang="he-IL">
                          <a:solidFill>
                            <a:srgbClr val="212121"/>
                          </a:solidFill>
                        </a:rPr>
                        <a:t>arxiv.org/abs/2112.10328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מאמר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60000">
                <a:tc>
                  <a:txBody>
                    <a:bodyPr wrap="square"/>
                    <a:lstStyle/>
                    <a:p>
                      <a:pPr rtl="0" algn="l" marL="0" indent="0">
                        <a:lnSpc>
                          <a:spcPct val="100000"/>
                        </a:lnSpc>
                        <a:spcBef>
                          <a:spcPts val="0"/>
                        </a:spcBef>
                        <a:spcAft>
                          <a:spcPts val="0"/>
                        </a:spcAft>
                        <a:buNone/>
                      </a:pPr>
                      <a:r>
                        <a:rPr sz="1200" b="0" i="0" lang="he-IL">
                          <a:solidFill>
                            <a:srgbClr val="212121"/>
                          </a:solidFill>
                        </a:rPr>
                        <a:t>Böckeler, B. (2025). Understanding Spec-Driven-Development: Kiro, spec-kit, and Tessl.</a:t>
                      </a:r>
                    </a:p>
                    <a:p>
                      <a:pPr rtl="0" algn="l" marL="0" indent="0">
                        <a:lnSpc>
                          <a:spcPct val="100000"/>
                        </a:lnSpc>
                        <a:spcBef>
                          <a:spcPts val="0"/>
                        </a:spcBef>
                        <a:spcAft>
                          <a:spcPts val="0"/>
                        </a:spcAft>
                        <a:buNone/>
                      </a:pPr>
                      <a:r>
                        <a:rPr sz="1200" b="0" i="0" lang="he-IL">
                          <a:solidFill>
                            <a:srgbClr val="212121"/>
                          </a:solidFill>
                        </a:rPr>
                        <a:t>martinfowler.com/articles/exploring-gen-ai/sdd-3-tools.html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מאמר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Badge העשרה"/>
          <p:cNvSpPr/>
          <p:nvPr/>
        </p:nvSpPr>
        <p:spPr>
          <a:xfrm>
            <a:off x="109728" y="91440"/>
            <a:ext cx="1417320" cy="384048"/>
          </a:xfrm>
          <a:prstGeom prst="roundRect">
            <a:avLst>
              <a:gd name="adj" fmla="val 40000"/>
            </a:avLst>
          </a:prstGeom>
          <a:solidFill>
            <a:srgbClr val="F3E8FD"/>
          </a:solidFill>
          <a:ln w="19050">
            <a:solidFill>
              <a:srgbClr val="9334E6"/>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איך זה מתחבר לפרויקט שלכם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51560"/>
          </a:xfrm>
          <a:prstGeom prst="roundRect">
            <a:avLst>
              <a:gd name="adj" fmla="val 8000"/>
            </a:avLst>
          </a:prstGeom>
          <a:solidFill>
            <a:srgbClr val="FFFFFF"/>
          </a:solidFill>
          <a:ln w="317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863840" y="146304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4754879" y="1463040"/>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API עם חוזה (OpenAPI) ובדיקות</a:t>
            </a:r>
          </a:p>
        </p:txBody>
      </p:sp>
      <p:sp>
        <p:nvSpPr>
          <p:cNvPr id="8" name="Rounded Rectangle 7"/>
          <p:cNvSpPr/>
          <p:nvPr/>
        </p:nvSpPr>
        <p:spPr>
          <a:xfrm>
            <a:off x="4800600" y="2029967"/>
            <a:ext cx="1554480" cy="292608"/>
          </a:xfrm>
          <a:prstGeom prst="roundRect">
            <a:avLst>
              <a:gd name="adj" fmla="val 40000"/>
            </a:avLst>
          </a:prstGeom>
          <a:solidFill>
            <a:srgbClr val="34A853"/>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FFFFFF"/>
                </a:solidFill>
              </a:rPr>
              <a:t>חובה</a:t>
            </a:r>
          </a:p>
        </p:txBody>
      </p:sp>
      <p:sp>
        <p:nvSpPr>
          <p:cNvPr id="9" name="Rounded Rectangle 8"/>
          <p:cNvSpPr/>
          <p:nvPr/>
        </p:nvSpPr>
        <p:spPr>
          <a:xfrm>
            <a:off x="365760" y="1371600"/>
            <a:ext cx="4114800" cy="1051560"/>
          </a:xfrm>
          <a:prstGeom prst="roundRect">
            <a:avLst>
              <a:gd name="adj" fmla="val 8000"/>
            </a:avLst>
          </a:prstGeom>
          <a:solidFill>
            <a:srgbClr val="FFFFFF"/>
          </a:solidFill>
          <a:ln w="3175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566160" y="146304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1" name="TextBox 10"/>
          <p:cNvSpPr txBox="1"/>
          <p:nvPr/>
        </p:nvSpPr>
        <p:spPr>
          <a:xfrm>
            <a:off x="457200" y="1463040"/>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מסד נתונים וסכמה מתועדת</a:t>
            </a:r>
          </a:p>
        </p:txBody>
      </p:sp>
      <p:sp>
        <p:nvSpPr>
          <p:cNvPr id="12" name="Rounded Rectangle 11"/>
          <p:cNvSpPr/>
          <p:nvPr/>
        </p:nvSpPr>
        <p:spPr>
          <a:xfrm>
            <a:off x="502920" y="2029967"/>
            <a:ext cx="1554480" cy="292608"/>
          </a:xfrm>
          <a:prstGeom prst="roundRect">
            <a:avLst>
              <a:gd name="adj" fmla="val 40000"/>
            </a:avLst>
          </a:prstGeom>
          <a:solidFill>
            <a:srgbClr val="34A853"/>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FFFFFF"/>
                </a:solidFill>
              </a:rPr>
              <a:t>חובה</a:t>
            </a:r>
          </a:p>
        </p:txBody>
      </p:sp>
      <p:sp>
        <p:nvSpPr>
          <p:cNvPr id="13" name="Rounded Rectangle 12"/>
          <p:cNvSpPr/>
          <p:nvPr/>
        </p:nvSpPr>
        <p:spPr>
          <a:xfrm>
            <a:off x="4663440" y="2560320"/>
            <a:ext cx="4114800" cy="1051560"/>
          </a:xfrm>
          <a:prstGeom prst="roundRect">
            <a:avLst>
              <a:gd name="adj" fmla="val 8000"/>
            </a:avLst>
          </a:prstGeom>
          <a:solidFill>
            <a:srgbClr val="FFFFFF"/>
          </a:solidFill>
          <a:ln w="31750">
            <a:solidFill>
              <a:srgbClr val="4285F4"/>
            </a:solidFill>
          </a:ln>
        </p:spPr>
        <p:txBody>
          <a:bodyPr rtlCol="0" anchor="ctr" wrap="square" lIns="73152" rIns="73152" tIns="73152" bIns="73152">
            <a:noAutofit/>
          </a:bodyPr>
          <a:lstStyle/>
          <a:p>
            <a:pPr algn="ctr"/>
          </a:p>
        </p:txBody>
      </p:sp>
      <p:sp>
        <p:nvSpPr>
          <p:cNvPr id="14" name="TextBox 13"/>
          <p:cNvSpPr txBox="1"/>
          <p:nvPr/>
        </p:nvSpPr>
        <p:spPr>
          <a:xfrm>
            <a:off x="7863840" y="265176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5" name="TextBox 14"/>
          <p:cNvSpPr txBox="1"/>
          <p:nvPr/>
        </p:nvSpPr>
        <p:spPr>
          <a:xfrm>
            <a:off x="4754879" y="2651760"/>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ממשק פשוט (Streamlit)</a:t>
            </a:r>
          </a:p>
        </p:txBody>
      </p:sp>
      <p:sp>
        <p:nvSpPr>
          <p:cNvPr id="16" name="Rounded Rectangle 15"/>
          <p:cNvSpPr/>
          <p:nvPr/>
        </p:nvSpPr>
        <p:spPr>
          <a:xfrm>
            <a:off x="4800600" y="3218687"/>
            <a:ext cx="1554480" cy="292608"/>
          </a:xfrm>
          <a:prstGeom prst="roundRect">
            <a:avLst>
              <a:gd name="adj" fmla="val 40000"/>
            </a:avLst>
          </a:prstGeom>
          <a:solidFill>
            <a:srgbClr val="4285F4"/>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FFFFFF"/>
                </a:solidFill>
              </a:rPr>
              <a:t>מומלץ</a:t>
            </a:r>
          </a:p>
        </p:txBody>
      </p:sp>
      <p:sp>
        <p:nvSpPr>
          <p:cNvPr id="17" name="Rounded Rectangle 16"/>
          <p:cNvSpPr/>
          <p:nvPr/>
        </p:nvSpPr>
        <p:spPr>
          <a:xfrm>
            <a:off x="365760" y="2560320"/>
            <a:ext cx="4114800" cy="1051560"/>
          </a:xfrm>
          <a:prstGeom prst="roundRect">
            <a:avLst>
              <a:gd name="adj" fmla="val 8000"/>
            </a:avLst>
          </a:prstGeom>
          <a:solidFill>
            <a:srgbClr val="FFFFFF"/>
          </a:solidFill>
          <a:ln w="31750">
            <a:solidFill>
              <a:srgbClr val="4285F4"/>
            </a:solidFill>
          </a:ln>
        </p:spPr>
        <p:txBody>
          <a:bodyPr rtlCol="0" anchor="ctr" wrap="square" lIns="73152" rIns="73152" tIns="73152" bIns="73152">
            <a:noAutofit/>
          </a:bodyPr>
          <a:lstStyle/>
          <a:p>
            <a:pPr algn="ctr"/>
          </a:p>
        </p:txBody>
      </p:sp>
      <p:sp>
        <p:nvSpPr>
          <p:cNvPr id="18" name="TextBox 17"/>
          <p:cNvSpPr txBox="1"/>
          <p:nvPr/>
        </p:nvSpPr>
        <p:spPr>
          <a:xfrm>
            <a:off x="3566160" y="265176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9" name="TextBox 18"/>
          <p:cNvSpPr txBox="1"/>
          <p:nvPr/>
        </p:nvSpPr>
        <p:spPr>
          <a:xfrm>
            <a:off x="457200" y="2651760"/>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Dockerfile או compose</a:t>
            </a:r>
          </a:p>
        </p:txBody>
      </p:sp>
      <p:sp>
        <p:nvSpPr>
          <p:cNvPr id="20" name="Rounded Rectangle 19"/>
          <p:cNvSpPr/>
          <p:nvPr/>
        </p:nvSpPr>
        <p:spPr>
          <a:xfrm>
            <a:off x="502920" y="3218687"/>
            <a:ext cx="1554480" cy="292608"/>
          </a:xfrm>
          <a:prstGeom prst="roundRect">
            <a:avLst>
              <a:gd name="adj" fmla="val 40000"/>
            </a:avLst>
          </a:prstGeom>
          <a:solidFill>
            <a:srgbClr val="4285F4"/>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FFFFFF"/>
                </a:solidFill>
              </a:rPr>
              <a:t>מומלץ</a:t>
            </a:r>
          </a:p>
        </p:txBody>
      </p:sp>
      <p:sp>
        <p:nvSpPr>
          <p:cNvPr id="21" name="Rounded Rectangle 20"/>
          <p:cNvSpPr/>
          <p:nvPr/>
        </p:nvSpPr>
        <p:spPr>
          <a:xfrm>
            <a:off x="4663440" y="3749039"/>
            <a:ext cx="4114800" cy="1051560"/>
          </a:xfrm>
          <a:prstGeom prst="roundRect">
            <a:avLst>
              <a:gd name="adj" fmla="val 8000"/>
            </a:avLst>
          </a:prstGeom>
          <a:solidFill>
            <a:srgbClr val="FFFFFF"/>
          </a:solidFill>
          <a:ln w="31750">
            <a:solidFill>
              <a:srgbClr val="FFAB40"/>
            </a:solidFill>
          </a:ln>
        </p:spPr>
        <p:txBody>
          <a:bodyPr rtlCol="0" anchor="ctr" wrap="square" lIns="73152" rIns="73152" tIns="73152" bIns="73152">
            <a:noAutofit/>
          </a:bodyPr>
          <a:lstStyle/>
          <a:p>
            <a:pPr algn="ctr"/>
          </a:p>
        </p:txBody>
      </p:sp>
      <p:sp>
        <p:nvSpPr>
          <p:cNvPr id="22" name="TextBox 21"/>
          <p:cNvSpPr txBox="1"/>
          <p:nvPr/>
        </p:nvSpPr>
        <p:spPr>
          <a:xfrm>
            <a:off x="7863840" y="3840479"/>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3" name="TextBox 22"/>
          <p:cNvSpPr txBox="1"/>
          <p:nvPr/>
        </p:nvSpPr>
        <p:spPr>
          <a:xfrm>
            <a:off x="4754879" y="3840479"/>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תור ועובד</a:t>
            </a:r>
          </a:p>
        </p:txBody>
      </p:sp>
      <p:sp>
        <p:nvSpPr>
          <p:cNvPr id="24" name="Rounded Rectangle 23"/>
          <p:cNvSpPr/>
          <p:nvPr/>
        </p:nvSpPr>
        <p:spPr>
          <a:xfrm>
            <a:off x="4800600" y="4407407"/>
            <a:ext cx="1554480" cy="292608"/>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אם המודל איטי</a:t>
            </a:r>
          </a:p>
        </p:txBody>
      </p:sp>
      <p:sp>
        <p:nvSpPr>
          <p:cNvPr id="25" name="Rounded Rectangle 24"/>
          <p:cNvSpPr/>
          <p:nvPr/>
        </p:nvSpPr>
        <p:spPr>
          <a:xfrm>
            <a:off x="365760" y="3749039"/>
            <a:ext cx="4114800" cy="1051560"/>
          </a:xfrm>
          <a:prstGeom prst="roundRect">
            <a:avLst>
              <a:gd name="adj" fmla="val 8000"/>
            </a:avLst>
          </a:prstGeom>
          <a:solidFill>
            <a:srgbClr val="FFFFFF"/>
          </a:solidFill>
          <a:ln w="31750">
            <a:solidFill>
              <a:srgbClr val="34A853"/>
            </a:solidFill>
          </a:ln>
        </p:spPr>
        <p:txBody>
          <a:bodyPr rtlCol="0" anchor="ctr" wrap="square" lIns="73152" rIns="73152" tIns="73152" bIns="73152">
            <a:noAutofit/>
          </a:bodyPr>
          <a:lstStyle/>
          <a:p>
            <a:pPr algn="ctr"/>
          </a:p>
        </p:txBody>
      </p:sp>
      <p:sp>
        <p:nvSpPr>
          <p:cNvPr id="26" name="TextBox 25"/>
          <p:cNvSpPr txBox="1"/>
          <p:nvPr/>
        </p:nvSpPr>
        <p:spPr>
          <a:xfrm>
            <a:off x="3566160" y="3840479"/>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7" name="TextBox 26"/>
          <p:cNvSpPr txBox="1"/>
          <p:nvPr/>
        </p:nvSpPr>
        <p:spPr>
          <a:xfrm>
            <a:off x="457200" y="3840479"/>
            <a:ext cx="3108960" cy="5486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1" i="0" lang="he-IL">
                <a:solidFill>
                  <a:srgbClr val="212121"/>
                </a:solidFill>
              </a:rPr>
              <a:t>קריאה ל־LLM API (חינמי)</a:t>
            </a:r>
          </a:p>
        </p:txBody>
      </p:sp>
      <p:sp>
        <p:nvSpPr>
          <p:cNvPr id="28" name="Rounded Rectangle 27"/>
          <p:cNvSpPr/>
          <p:nvPr/>
        </p:nvSpPr>
        <p:spPr>
          <a:xfrm>
            <a:off x="502920" y="4407407"/>
            <a:ext cx="1554480" cy="292608"/>
          </a:xfrm>
          <a:prstGeom prst="roundRect">
            <a:avLst>
              <a:gd name="adj" fmla="val 40000"/>
            </a:avLst>
          </a:prstGeom>
          <a:solidFill>
            <a:srgbClr val="34A853"/>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FFFFFF"/>
                </a:solidFill>
              </a:rPr>
              <a:t>חובה</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החוזה קודם: מגדירים מה נכנס, מה יוצא,</a:t>
            </a:r>
          </a:p>
          <a:p>
            <a:pPr rtl="1" algn="ctr" marL="0" indent="0">
              <a:lnSpc>
                <a:spcPct val="105000"/>
              </a:lnSpc>
              <a:spcBef>
                <a:spcPts val="0"/>
              </a:spcBef>
              <a:spcAft>
                <a:spcPts val="0"/>
              </a:spcAft>
              <a:buNone/>
            </a:pPr>
            <a:r>
              <a:rPr sz="3000" b="1" i="0" lang="he-IL">
                <a:solidFill>
                  <a:srgbClr val="212121"/>
                </a:solidFill>
              </a:rPr>
              <a:t>ומה נחשב נכון. ואז בודקים.</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ושירות איטי שמים מאחורי תור.</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7218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 ההבדל בין OpenAPI ל־Swagger UI?</a:t>
            </a:r>
          </a:p>
        </p:txBody>
      </p:sp>
      <p:sp>
        <p:nvSpPr>
          <p:cNvPr id="7" name="Oval 6"/>
          <p:cNvSpPr/>
          <p:nvPr/>
        </p:nvSpPr>
        <p:spPr>
          <a:xfrm>
            <a:off x="8412480" y="2203703"/>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קיבלתם 404, 422 ו־500: מי אשם בכל אחד, ומה עושים?</a:t>
            </a:r>
          </a:p>
        </p:txBody>
      </p:sp>
      <p:sp>
        <p:nvSpPr>
          <p:cNvPr id="9" name="Oval 8"/>
          <p:cNvSpPr/>
          <p:nvPr/>
        </p:nvSpPr>
        <p:spPr>
          <a:xfrm>
            <a:off x="8412480" y="293522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JOIN הכפיל שורות: איך מגלים, ולמה הסכום שגוי?</a:t>
            </a:r>
          </a:p>
        </p:txBody>
      </p:sp>
      <p:sp>
        <p:nvSpPr>
          <p:cNvPr id="11" name="Oval 10"/>
          <p:cNvSpPr/>
          <p:nvPr/>
        </p:nvSpPr>
        <p:spPr>
          <a:xfrm>
            <a:off x="8412480" y="36667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 ההבדל המרכזי בין קונטיינר ל־VM?</a:t>
            </a:r>
          </a:p>
        </p:txBody>
      </p:sp>
      <p:sp>
        <p:nvSpPr>
          <p:cNvPr id="13" name="Oval 12"/>
          <p:cNvSpPr/>
          <p:nvPr/>
        </p:nvSpPr>
        <p:spPr>
          <a:xfrm>
            <a:off x="8412480" y="439826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58368"/>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API שמשרת מודל איטי מחזיר 202? מי התור ומי הספרייה?</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49047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OpenAPI הוא תיאור (חוזה) של ה־API בקובץ. Swagger UI הוא ממשק שמציג אותו ומאפשר לנסות.</a:t>
            </a:r>
          </a:p>
        </p:txBody>
      </p:sp>
      <p:sp>
        <p:nvSpPr>
          <p:cNvPr id="7" name="Oval 6"/>
          <p:cNvSpPr/>
          <p:nvPr/>
        </p:nvSpPr>
        <p:spPr>
          <a:xfrm>
            <a:off x="8412480" y="2221991"/>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10312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404: המשאב לא קיים. 422: הקלט לא חוקי לפי החוזה. 500: השרת נכשל. מתקנים בקשה ב־4xx ומנסים מאוחר יותר ב־5xx.</a:t>
            </a:r>
          </a:p>
        </p:txBody>
      </p:sp>
      <p:sp>
        <p:nvSpPr>
          <p:cNvPr id="9" name="Oval 8"/>
          <p:cNvSpPr/>
          <p:nvPr/>
        </p:nvSpPr>
        <p:spPr>
          <a:xfrm>
            <a:off x="8412480" y="295351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283464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סופרים שורות לפני ואחרי ומשווים לסכום מוכר. שורה בצד ״אחד״ חוזרת פעם לכל התאמה, ולכן הסכום גדל.</a:t>
            </a:r>
          </a:p>
        </p:txBody>
      </p:sp>
      <p:sp>
        <p:nvSpPr>
          <p:cNvPr id="11" name="Oval 10"/>
          <p:cNvSpPr/>
          <p:nvPr/>
        </p:nvSpPr>
        <p:spPr>
          <a:xfrm>
            <a:off x="8412480" y="36850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56616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VM מריצה מערכת הפעלה שלמה על Hypervisor. קונטיינרים חולקים את הגרעין של המארח: קלים ומהירים, מבודדים פחות.</a:t>
            </a:r>
          </a:p>
        </p:txBody>
      </p:sp>
      <p:sp>
        <p:nvSpPr>
          <p:cNvPr id="13" name="Oval 12"/>
          <p:cNvSpPr/>
          <p:nvPr/>
        </p:nvSpPr>
        <p:spPr>
          <a:xfrm>
            <a:off x="8412480" y="441655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5</a:t>
            </a:r>
          </a:p>
        </p:txBody>
      </p:sp>
      <p:sp>
        <p:nvSpPr>
          <p:cNvPr id="14" name="TextBox 13"/>
          <p:cNvSpPr txBox="1"/>
          <p:nvPr/>
        </p:nvSpPr>
        <p:spPr>
          <a:xfrm>
            <a:off x="365760" y="4297680"/>
            <a:ext cx="7909560" cy="694944"/>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כדי לא לחסום את השרת: העבודה עוברת לתור (Redis) ולעובד, והלקוח בודק סטטוס. Celery היא הספרייה, Redis הוא התור.</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HTTP: בקשה ותגובה (סטטוס, כותרות, גוף). OpenAPI הוא החוזה, ו־Swagger UI מציג וממשיך לבדוק לפיו.</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שירות מאבני בניין: FastAPI, מסד SQL עם סכמה, וממשק Streamlit. ה־AI כותב חלקים קטנים, הבדיקות מאמתות.</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Docker אורז קוד וסביבה. קונטיינרים חולקים גרעין (שונה מ־VM). Kubernetes מנהל קונטיינרים רבים.</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מודל איטי: API דק, תור (Redis), עובדים (Celery) וניטור (Flower).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7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לבחור API ונתונים לפרויקט הקבוצתי</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לכתוב חוזה (OpenAPI) וסכמה לליבת הפרויקט</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לוודא שהשירות עובר בדיקות בהרצה נקייה</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בדיקות ואיכות קוד</a:t>
            </a:r>
          </a:p>
          <a:p>
            <a:pPr rtl="1" algn="ctr" marL="0" indent="0">
              <a:lnSpc>
                <a:spcPct val="105000"/>
              </a:lnSpc>
              <a:spcBef>
                <a:spcPts val="0"/>
              </a:spcBef>
              <a:spcAft>
                <a:spcPts val="0"/>
              </a:spcAft>
              <a:buNone/>
            </a:pPr>
            <a:r>
              <a:rPr sz="1600" b="0" i="0" lang="he-IL">
                <a:solidFill>
                  <a:srgbClr val="595959"/>
                </a:solidFill>
              </a:rPr>
              <a:t>מ"זה עובד" ל"זה נכון".</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