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11"/>
    <p:sldId id="257" r:id="rId12"/>
    <p:sldId id="258" r:id="rId13"/>
    <p:sldId id="325" r:id="rId72"/>
    <p:sldId id="326" r:id="rId73"/>
    <p:sldId id="259" r:id="rId14"/>
    <p:sldId id="260" r:id="rId15"/>
    <p:sldId id="261" r:id="rId16"/>
    <p:sldId id="262" r:id="rId17"/>
    <p:sldId id="263" r:id="rId18"/>
    <p:sldId id="264" r:id="rId19"/>
    <p:sldId id="265" r:id="rId20"/>
    <p:sldId id="266" r:id="rId21"/>
    <p:sldId id="314" r:id="rId55"/>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315" r:id="rId54"/>
    <p:sldId id="316" r:id="rId53"/>
    <p:sldId id="317" r:id="rId52"/>
    <p:sldId id="318" r:id="rId40"/>
    <p:sldId id="319" r:id="rId39"/>
    <p:sldId id="327" r:id="rId74"/>
    <p:sldId id="282" r:id="rId37"/>
    <p:sldId id="310" r:id="rId65"/>
    <p:sldId id="311" r:id="rId66"/>
    <p:sldId id="286" r:id="rId41"/>
    <p:sldId id="287" r:id="rId42"/>
    <p:sldId id="288" r:id="rId43"/>
    <p:sldId id="289" r:id="rId44"/>
    <p:sldId id="320" r:id="rId38"/>
    <p:sldId id="290" r:id="rId45"/>
    <p:sldId id="291" r:id="rId46"/>
    <p:sldId id="292" r:id="rId47"/>
    <p:sldId id="293" r:id="rId48"/>
    <p:sldId id="294" r:id="rId49"/>
    <p:sldId id="295" r:id="rId50"/>
    <p:sldId id="321" r:id="rId10"/>
    <p:sldId id="322" r:id="rId69"/>
    <p:sldId id="323" r:id="rId70"/>
    <p:sldId id="324" r:id="rId71"/>
    <p:sldId id="328" r:id="rId75"/>
    <p:sldId id="296" r:id="rId51"/>
    <p:sldId id="313" r:id="rId68"/>
    <p:sldId id="301" r:id="rId56"/>
    <p:sldId id="303" r:id="rId9"/>
    <p:sldId id="312" r:id="rId67"/>
    <p:sldId id="304" r:id="rId8"/>
    <p:sldId id="305" r:id="rId7"/>
    <p:sldId id="306" r:id="rId61"/>
    <p:sldId id="307" r:id="rId62"/>
    <p:sldId id="308" r:id="rId63"/>
    <p:sldId id="309" r:id="rId64"/>
    <p:sldId id="281" r:id="rId36"/>
  </p:sldIdLst>
  <p:sldSz cy="5143500" cx="9144000"/>
  <p:notesSz cx="6858000" cy="9144000"/>
  <p:embeddedFontLst>
    <p:embeddedFont>
      <p:font typeface="Roboto Mono"/>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DD8FB8-E6A7-485A-9FB0-3124AB043D13}">
  <a:tblStyle styleId="{E9DD8FB8-E6A7-485A-9FB0-3124AB043D1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60.xml"/><Relationship Id="rId8" Type="http://schemas.openxmlformats.org/officeDocument/2006/relationships/slide" Target="slides/slide59.xml"/><Relationship Id="rId9" Type="http://schemas.openxmlformats.org/officeDocument/2006/relationships/slide" Target="slides/slide57.xml"/><Relationship Id="rId10" Type="http://schemas.openxmlformats.org/officeDocument/2006/relationships/slide" Target="slides/slide49.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65.xml"/><Relationship Id="rId37" Type="http://schemas.openxmlformats.org/officeDocument/2006/relationships/slide" Target="slides/slide35.xml"/><Relationship Id="rId38" Type="http://schemas.openxmlformats.org/officeDocument/2006/relationships/slide" Target="slides/slide42.xml"/><Relationship Id="rId39" Type="http://schemas.openxmlformats.org/officeDocument/2006/relationships/slide" Target="slides/slide33.xml"/><Relationship Id="rId40" Type="http://schemas.openxmlformats.org/officeDocument/2006/relationships/slide" Target="slides/slide32.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54.xml"/><Relationship Id="rId52" Type="http://schemas.openxmlformats.org/officeDocument/2006/relationships/slide" Target="slides/slide31.xml"/><Relationship Id="rId53" Type="http://schemas.openxmlformats.org/officeDocument/2006/relationships/slide" Target="slides/slide30.xml"/><Relationship Id="rId54" Type="http://schemas.openxmlformats.org/officeDocument/2006/relationships/slide" Target="slides/slide29.xml"/><Relationship Id="rId55" Type="http://schemas.openxmlformats.org/officeDocument/2006/relationships/slide" Target="slides/slide14.xml"/><Relationship Id="rId56" Type="http://schemas.openxmlformats.org/officeDocument/2006/relationships/slide" Target="slides/slide56.xml"/><Relationship Id="rId57" Type="http://schemas.openxmlformats.org/officeDocument/2006/relationships/font" Target="fonts/RobotoMono-regular.fntdata"/><Relationship Id="rId58" Type="http://schemas.openxmlformats.org/officeDocument/2006/relationships/font" Target="fonts/RobotoMono-bold.fntdata"/><Relationship Id="rId59" Type="http://schemas.openxmlformats.org/officeDocument/2006/relationships/font" Target="fonts/RobotoMono-italic.fntdata"/><Relationship Id="rId60" Type="http://schemas.openxmlformats.org/officeDocument/2006/relationships/font" Target="fonts/RobotoMono-boldItalic.fntdata"/><Relationship Id="rId61" Type="http://schemas.openxmlformats.org/officeDocument/2006/relationships/slide" Target="slides/slide61.xml"/><Relationship Id="rId62" Type="http://schemas.openxmlformats.org/officeDocument/2006/relationships/slide" Target="slides/slide62.xml"/><Relationship Id="rId63" Type="http://schemas.openxmlformats.org/officeDocument/2006/relationships/slide" Target="slides/slide63.xml"/><Relationship Id="rId64" Type="http://schemas.openxmlformats.org/officeDocument/2006/relationships/slide" Target="slides/slide64.xml"/><Relationship Id="rId65" Type="http://schemas.openxmlformats.org/officeDocument/2006/relationships/slide" Target="slides/slide36.xml"/><Relationship Id="rId66" Type="http://schemas.openxmlformats.org/officeDocument/2006/relationships/slide" Target="slides/slide37.xml"/><Relationship Id="rId67" Type="http://schemas.openxmlformats.org/officeDocument/2006/relationships/slide" Target="slides/slide58.xml"/><Relationship Id="rId68" Type="http://schemas.openxmlformats.org/officeDocument/2006/relationships/slide" Target="slides/slide55.xml"/><Relationship Id="rId69" Type="http://schemas.openxmlformats.org/officeDocument/2006/relationships/slide" Target="slides/slide50.xml"/><Relationship Id="rId70" Type="http://schemas.openxmlformats.org/officeDocument/2006/relationships/slide" Target="slides/slide51.xml"/><Relationship Id="rId71" Type="http://schemas.openxmlformats.org/officeDocument/2006/relationships/slide" Target="slides/slide52.xml"/><Relationship Id="rId72" Type="http://schemas.openxmlformats.org/officeDocument/2006/relationships/slide" Target="slides/slide4.xml"/><Relationship Id="rId73" Type="http://schemas.openxmlformats.org/officeDocument/2006/relationships/slide" Target="slides/slide5.xml"/><Relationship Id="rId74" Type="http://schemas.openxmlformats.org/officeDocument/2006/relationships/slide" Target="slides/slide34.xml"/><Relationship Id="rId7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לוגיסטיקה לתחילת המפגש.</a:t>
            </a:r>
          </a:p>
          <a:p>
            <a:pPr rtl="1" algn="r" marL="0" indent="0">
              <a:buNone/>
            </a:pPr>
            <a:r>
              <a:rPr b="1" sz="1200" lang="he-IL"/>
              <a:t>מה אומרים</a:t>
            </a:r>
          </a:p>
          <a:p>
            <a:pPr rtl="1" algn="r" marL="0" indent="0">
              <a:buNone/>
            </a:pPr>
            <a:r>
              <a:rPr sz="1200" lang="he-IL"/>
              <a:t>•  הבוחן הוא בוחן אמריקאי על מושגי יסוד ומכסה את מפגשים 1 עד 5 (בהנחה שהוא נערך בתחילת המפגש).</a:t>
            </a:r>
          </a:p>
          <a:p>
            <a:pPr rtl="1" algn="r" marL="0" indent="0">
              <a:buNone/>
            </a:pPr>
            <a:r>
              <a:rPr sz="1200" lang="he-IL"/>
              <a:t>•  משך הבוחן (כ-30 דקות מתוך 90), המועד, אופן ההגשה (נייר או מקוון) ומה מותר להחזיק על השולחן הם נתונים לאישור המרצה לפני השיעור.</a:t>
            </a:r>
          </a:p>
          <a:p>
            <a:pPr rtl="1" algn="r" marL="0" indent="0">
              <a:buNone/>
            </a:pPr>
            <a:r>
              <a:rPr sz="1200" lang="he-IL"/>
              <a:t>•  לפני שמתחילים: לוודא שכל הסטודנטים נמצאים, שהמכשירים סגורים (או שהכלי המקוון מוכן אם הבוחן מקוון), ולהכריז על שעת הסיום המדויקת.</a:t>
            </a:r>
          </a:p>
          <a:p>
            <a:pPr rtl="1" algn="r" marL="0" indent="0">
              <a:buNone/>
            </a:pPr>
            <a:r>
              <a:rPr sz="1200" lang="he-IL"/>
              <a:t>•  מי שמסיים מוקדם ממתין בשקט עד לסיום הזמן, וכשכולם סיימו עוברים לשקף הפתיחה.</a:t>
            </a:r>
          </a:p>
          <a:p>
            <a:pPr rtl="1" algn="r" marL="0" indent="0">
              <a:buNone/>
            </a:pPr>
            <a:r>
              <a:rPr sz="1200" lang="he-IL"/>
              <a:t>•  אם הבוחן נמשך יותר מהמתוכנן, זה בא על חשבון חלק א׳ ולא על המעבדות, ולכן מקצצים שם (ראו שקפים אופציונליים).</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שעון לבוחן: משאירים אותו על המקרן במהלך הבוחן כדי שכולם יראו כמה זמן נשאר.</a:t>
            </a:r>
          </a:p>
          <a:p>
            <a:pPr rtl="1" algn="r" marL="0" indent="0">
              <a:buNone/>
            </a:pPr>
            <a:r>
              <a:rPr b="1" sz="1200" lang="he-IL"/>
              <a:t>מה אומרים</a:t>
            </a:r>
          </a:p>
          <a:p>
            <a:pPr rtl="1" algn="r" marL="0" indent="0">
              <a:buNone/>
            </a:pPr>
            <a:r>
              <a:rPr sz="1200" lang="he-IL"/>
              <a:t>•  אם יש טיימר אמיתי (בדפדפן או בכלי המצגת), מפעילים אותו כאן והמספר 00:30 הוא רק מקום שמור לערך ההתחלתי.</a:t>
            </a:r>
          </a:p>
          <a:p>
            <a:pPr rtl="1" algn="r" marL="0" indent="0">
              <a:buNone/>
            </a:pPr>
            <a:r>
              <a:rPr sz="1200" lang="he-IL"/>
              <a:t>•  המשך האמיתי לעדכון לפי הערכה של המרצה.</a:t>
            </a:r>
          </a:p>
          <a:p>
            <a:pPr rtl="1" algn="r" marL="0" indent="0">
              <a:buNone/>
            </a:pPr>
            <a:r>
              <a:rPr sz="1200" lang="he-IL"/>
              <a:t>•  כדאי להכריז בקול כשנשארו 10 ו-5 דקות.</a:t>
            </a:r>
          </a:p>
          <a:p>
            <a:pPr rtl="1" algn="r" marL="0" indent="0">
              <a:buNone/>
            </a:pPr>
            <a:r>
              <a:rPr sz="1200" lang="he-IL"/>
              <a:t>•  בסיום הבוחן אוספים את הטפסים (או סוגרים את הכלי המקוון), נותנים לכולם דקה להתארגן, ורק אז עוברים לפתיחה.</a:t>
            </a:r>
          </a:p>
          <a:p>
            <a:pPr rtl="1" algn="r" marL="0" indent="0">
              <a:buNone/>
            </a:pPr>
            <a:r>
              <a:rPr sz="1200" lang="he-IL"/>
              <a:t>•  אם לא מתכוונים להציג את התוצאות באותו מפגש, לומר מתי יפורסמו.</a:t>
            </a:r>
          </a:p>
          <a:p>
            <a:pPr rtl="1" algn="r" marL="0" indent="0">
              <a:buNone/>
            </a:pPr>
            <a:r>
              <a:rPr sz="1200" lang="he-IL"/>
              <a:t>•  מותר לדלג על שקף זה אם הבוחן נערך במקום אחר או כשהשעון מנוהל בדרך אחרת.</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פתיחה, כ-5 דקות לחמשת השקפים הבאים (הסיפור כדקה, שרשרת הקורס כ־2 דקות, השאלה של היום כ־45 שניות, המטרות והמפה כחצי דקה כל אחד).</a:t>
            </a:r>
          </a:p>
          <a:p>
            <a:pPr rtl="1" algn="r" marL="0" indent="0">
              <a:buNone/>
            </a:pPr>
            <a:r>
              <a:rPr b="1" sz="1200" lang="he-IL"/>
              <a:t>מה אומרים</a:t>
            </a:r>
          </a:p>
          <a:p>
            <a:pPr rtl="1" algn="r" marL="0" indent="0">
              <a:buNone/>
            </a:pPr>
            <a:r>
              <a:rPr sz="1200" lang="he-IL"/>
              <a:t>•  השקף הוא תרחיש להמחשה ולא אירוע אמיתי מתועד: משתמש מבקש מסוכן ״נקה לי את התיקייה מקבצים מיותרים״, והסוכן מוחק את orders.csv ו-products.csv, בלי גיבוי ובלי דרך חזרה.</a:t>
            </a:r>
          </a:p>
          <a:p>
            <a:pPr rtl="1" algn="r" marL="0" indent="0">
              <a:buNone/>
            </a:pPr>
            <a:r>
              <a:rPr sz="1200" lang="he-IL"/>
              <a:t>•  קראו את הבקשה ואת הפלט של הטרמינל בקול, והדגישו שאין כאן אשמה בכלי: הבקשה הייתה עמומה (מה זה ״מיותר״?), ההרשאות היו רחבות, ולא היה גיבוי.</a:t>
            </a:r>
          </a:p>
          <a:p>
            <a:pPr rtl="1" algn="r" marL="0" indent="0">
              <a:buNone/>
            </a:pPr>
            <a:r>
              <a:rPr b="1" sz="1200" lang="he-IL"/>
              <a:t>שאלה לכיתה</a:t>
            </a:r>
          </a:p>
          <a:p>
            <a:pPr rtl="1" algn="r" marL="0" indent="0">
              <a:buNone/>
            </a:pPr>
            <a:r>
              <a:rPr sz="1200" lang="he-IL"/>
              <a:t>•  מי אשם, ומה היה צריך להיות שונה?</a:t>
            </a:r>
          </a:p>
          <a:p>
            <a:pPr rtl="1" algn="r" marL="0" indent="0">
              <a:buNone/>
            </a:pPr>
            <a:r>
              <a:rPr b="1" sz="1200" lang="he-IL"/>
              <a:t>תשובה</a:t>
            </a:r>
          </a:p>
          <a:p>
            <a:pPr rtl="1" algn="r" marL="0" indent="0">
              <a:buNone/>
            </a:pPr>
            <a:r>
              <a:rPr sz="1200" lang="he-IL"/>
              <a:t>•  בקשה מדויקת יותר, דרישה לאישור לפני מחיקה, ו-commit לפני שהסוכן מתחיל.</a:t>
            </a:r>
          </a:p>
          <a:p>
            <a:pPr rtl="1" algn="r" marL="0" indent="0">
              <a:buNone/>
            </a:pPr>
            <a:r>
              <a:rPr sz="1200" lang="he-IL"/>
              <a:t>•  זה בדיוק מה שנלמד היום: להבין איך סוכן עובד, איך לקבוע לו גבולות (רמות אוטונומיה), ואיך Git מאפשר לבטל נזק.</a:t>
            </a:r>
          </a:p>
          <a:p>
            <a:pPr rtl="1" algn="r" marL="0" indent="0">
              <a:buNone/>
            </a:pPr>
            <a:r>
              <a:rPr sz="1200" lang="he-IL"/>
              <a:t>•  קישור לשיעורים קודמים: במפגש 5 ראינו שהמודל מקבל כלים בתוך מעטפת, וכאן רואים מה קורה כשהכלים חזקים והבקשה לא מוגדרת.</a:t>
            </a:r>
          </a:p>
          <a:p>
            <a:pPr rtl="1" algn="r" marL="0" indent="0">
              <a:buNone/>
            </a:pPr>
            <a:r>
              <a:rPr sz="1200" lang="he-IL"/>
              <a:t>•  הסיפור פותח את המפגש אחרי הבוחן וגם מחבר אותו אחורה: זה הכשל הראשון מתוך ארבעת הכשלים שהוצגו בשקף ״מה יכול להשתבש״ במפגש 5, והמפגש הזה בא לענות עליו.</a:t>
            </a:r>
          </a:p>
          <a:p>
            <a:pPr rtl="1" algn="r" marL="0" indent="0">
              <a:buNone/>
            </a:pPr>
            <a:r>
              <a:rPr sz="1200" lang="he-IL"/>
              <a:t>•  כדי לעמוד בחמש הדקות, שאלו ״מי אשם?״ ושמעו שתי תשובות בלבד: הדיון המלא נמצא בשקף השרשרת ובחלק ב׳.</a:t>
            </a:r>
          </a:p>
          <a:p>
            <a:pPr rtl="1" algn="r" marL="0" indent="0">
              <a:buNone/>
            </a:pPr>
            <a:r>
              <a:rPr b="1" sz="1200" lang="he-IL"/>
              <a:t>שאלת היזכרות</a:t>
            </a:r>
          </a:p>
          <a:p>
            <a:pPr rtl="1" algn="r" marL="0" indent="0">
              <a:buNone/>
            </a:pPr>
            <a:r>
              <a:rPr sz="1200" lang="he-IL"/>
              <a:t>•  איזה כשל של סוכן הופיע בשקף ״מה יכול להשתבש״ במפגש 5?</a:t>
            </a:r>
          </a:p>
          <a:p>
            <a:pPr rtl="1" algn="r" marL="0" indent="0">
              <a:buNone/>
            </a:pPr>
            <a:r>
              <a:rPr b="1" sz="1200" lang="he-IL"/>
              <a:t>תשובה</a:t>
            </a:r>
          </a:p>
          <a:p>
            <a:pPr rtl="1" algn="r" marL="0" indent="0">
              <a:buNone/>
            </a:pPr>
            <a:r>
              <a:rPr sz="1200" lang="he-IL"/>
              <a:t>•  מחיקת קובץ בשוגג, כולל קובץ שלא התבקש.</a:t>
            </a:r>
          </a:p>
          <a:p>
            <a:pPr rtl="1" algn="r" marL="0" indent="0">
              <a:buNone/>
            </a:pPr>
            <a:r>
              <a:rPr b="1" sz="1200" lang="he-IL"/>
              <a:t>אם הכיתה לא זוכרת</a:t>
            </a:r>
          </a:p>
          <a:p>
            <a:pPr rtl="1" algn="r" marL="0" indent="0">
              <a:buNone/>
            </a:pPr>
            <a:r>
              <a:rPr sz="1200" lang="he-IL"/>
              <a:t>•  להגיד שזה בדיוק מה שרואים כאן.</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מטרות המפגש, כחצי דקה (המטרות כבר נולדו מהשאלה של היום, ולכן קוראים אותן מהר).</a:t>
            </a:r>
          </a:p>
          <a:p>
            <a:pPr rtl="1" algn="r" marL="0" indent="0">
              <a:buNone/>
            </a:pPr>
            <a:r>
              <a:rPr b="1" sz="1200" lang="he-IL"/>
              <a:t>מה אומרים</a:t>
            </a:r>
          </a:p>
          <a:p>
            <a:pPr rtl="1" algn="r" marL="0" indent="0">
              <a:buNone/>
            </a:pPr>
            <a:r>
              <a:rPr sz="1200" lang="he-IL"/>
              <a:t>•  ארבע מטרות: להסביר ולזהות את לולאת תכנון, פעולה והתבוננות בתמלול של סוכן; להסביר מהו Tool Use ולבחור רמת אוטונומיה לפי סיכון המשימה; לעבוד עם Git (commit, ענף, מיזוג, diff ושחזור) כרשת ביטחון לפני סוכן; ולהגיש הצעת פרויקט.</a:t>
            </a:r>
          </a:p>
          <a:p>
            <a:pPr rtl="1" algn="r" marL="0" indent="0">
              <a:buNone/>
            </a:pPr>
            <a:r>
              <a:rPr sz="1200" lang="he-IL"/>
              <a:t>•  הסבירו שהמפגש בנוי משני חלקים: קודם מבינים איך סוכן עובד ואיזה סיכון הוא יוצר, ואחר כך לומדים כלי שמאפשר לעבוד איתו בבטחה.</a:t>
            </a:r>
          </a:p>
          <a:p>
            <a:pPr rtl="1" algn="r" marL="0" indent="0">
              <a:buNone/>
            </a:pPr>
            <a:r>
              <a:rPr b="1" sz="1200" lang="he-IL"/>
              <a:t>אנלוגיה</a:t>
            </a:r>
          </a:p>
          <a:p>
            <a:pPr rtl="1" algn="r" marL="0" indent="0">
              <a:buNone/>
            </a:pPr>
            <a:r>
              <a:rPr sz="1200" lang="he-IL"/>
              <a:t>•  קודם לומדים להפעיל מכונה חדשה בפס הייצור, ואחר כך את נהלי הבטיחות והגיבוי.</a:t>
            </a:r>
          </a:p>
          <a:p>
            <a:pPr rtl="1" algn="r" marL="0" indent="0">
              <a:buNone/>
            </a:pPr>
            <a:r>
              <a:rPr sz="1200" lang="he-IL"/>
              <a:t>•  הערה למרצה: סקירת קוד בעזרת AI היא חלק מנושא המפגש בסילבוס, אבל הועברה למפגש 8 ומופיעה כאן רק כמבט מקדים.</a:t>
            </a:r>
          </a:p>
          <a:p>
            <a:pPr rtl="1" algn="r" marL="0" indent="0">
              <a:buNone/>
            </a:pPr>
            <a:r>
              <a:rPr sz="1200" lang="he-IL"/>
              <a:t>•  אפשר להגיד זאת כבר עכשיו כדי שלא יתפלאו.</a:t>
            </a:r>
          </a:p>
          <a:p>
            <a:pPr rtl="1" algn="r" marL="0" indent="0">
              <a:buNone/>
            </a:pPr>
            <a:r>
              <a:rPr b="1" sz="1200" lang="he-IL"/>
              <a:t>שאלה לכיתה</a:t>
            </a:r>
          </a:p>
          <a:p>
            <a:pPr rtl="1" algn="r" marL="0" indent="0">
              <a:buNone/>
            </a:pPr>
            <a:r>
              <a:rPr sz="1200" lang="he-IL"/>
              <a:t>•  מי כבר עבד עם Git?</a:t>
            </a:r>
          </a:p>
          <a:p>
            <a:pPr rtl="1" algn="r" marL="0" indent="0">
              <a:buNone/>
            </a:pPr>
            <a:r>
              <a:rPr b="1" sz="1200" lang="he-IL"/>
              <a:t>תשובה</a:t>
            </a:r>
          </a:p>
          <a:p>
            <a:pPr rtl="1" algn="r" marL="0" indent="0">
              <a:buNone/>
            </a:pPr>
            <a:r>
              <a:rPr sz="1200" lang="he-IL"/>
              <a:t>•  מעטים מאוד, ולכן מתחילים מאפס.</a:t>
            </a:r>
          </a:p>
          <a:p>
            <a:pPr rtl="1" algn="r" marL="0" indent="0">
              <a:buNone/>
            </a:pPr>
            <a:r>
              <a:rPr sz="1200" lang="he-IL"/>
              <a:t>•  יעדי העשרה (אופציונליים): להבין מה ReAct ו־Toolformer הוסיפו לתחום, איך מודדים סוכן קוד, איך Git שומר היסטוריה כגרף של commits ולמה ענף זול, ומה ההבדל בין merge ל־rebase ובין restore, revert ו-reset.</a:t>
            </a:r>
          </a:p>
          <a:p>
            <a:pPr rtl="1" algn="r" marL="0" indent="0">
              <a:buNone/>
            </a:pPr>
            <a:r>
              <a:rPr sz="1200" lang="he-IL"/>
              <a:t>•  תזכורת: ללא ידע קודם בתכנות, ולכן כל פונקציה במחברת קצרה (עד 8 שורות), עם הסבר, דוגמה ורמז.</a:t>
            </a:r>
          </a:p>
          <a:p>
            <a:pPr rtl="1" algn="r" marL="0" indent="0">
              <a:buNone/>
            </a:pPr>
            <a:r>
              <a:rPr b="1" sz="1200" lang="he-IL"/>
              <a:t>חיבור לשיעורים קודמים</a:t>
            </a:r>
          </a:p>
          <a:p>
            <a:pPr rtl="1" algn="r" marL="0" indent="0">
              <a:buNone/>
            </a:pPr>
            <a:r>
              <a:rPr sz="1200" lang="he-IL"/>
              <a:t>•  מטרה 2 (רמות אוטונומיה) ממשיכה את הסולם שהוצג כתצוגה מקדימה במפגש 5, ומטרה 3 (Git) היא ההבטחה שניתנה בסוף מפגש 5 (״במפגש הבא נלמד Git״).</a:t>
            </a:r>
          </a:p>
          <a:p>
            <a:pPr rtl="1" algn="r" marL="0" indent="0">
              <a:buNone/>
            </a:pPr>
            <a:r>
              <a:rPr sz="1200" lang="he-IL"/>
              <a:t>•  מטרה 1 (הלולאה) מפורטת כאן אחרי שבמפגש 5 נאמר ״את הלולאה נפרט במפגש 6״.</a:t>
            </a:r>
          </a:p>
          <a:p>
            <a:pPr rtl="1" algn="r" marL="0" indent="0">
              <a:buNone/>
            </a:pPr>
            <a:r>
              <a:rPr b="1" sz="1200" lang="he-IL"/>
              <a:t>שאלת היזכרות</a:t>
            </a:r>
          </a:p>
          <a:p>
            <a:pPr rtl="1" algn="r" marL="0" indent="0">
              <a:buNone/>
            </a:pPr>
            <a:r>
              <a:rPr sz="1200" lang="he-IL"/>
              <a:t>•  מי זוכר איזו הבטחה קיבלנו בסוף מפגש 5?</a:t>
            </a:r>
          </a:p>
          <a:p>
            <a:pPr rtl="1" algn="r" marL="0" indent="0">
              <a:buNone/>
            </a:pPr>
            <a:r>
              <a:rPr b="1" sz="1200" lang="he-IL"/>
              <a:t>תשובה</a:t>
            </a:r>
          </a:p>
          <a:p>
            <a:pPr rtl="1" algn="r" marL="0" indent="0">
              <a:buNone/>
            </a:pPr>
            <a:r>
              <a:rPr sz="1200" lang="he-IL"/>
              <a:t>•  ללמוד Git, רשת ביטחון לפני שנותנים לסוכן לפעול.</a:t>
            </a:r>
          </a:p>
          <a:p>
            <a:pPr rtl="1" algn="r" marL="0" indent="0">
              <a:buNone/>
            </a:pPr>
            <a:r>
              <a:rPr b="1" sz="1200" lang="he-IL"/>
              <a:t>אם הכיתה לא זוכרת</a:t>
            </a:r>
          </a:p>
          <a:p>
            <a:pPr rtl="1" algn="r" marL="0" indent="0">
              <a:buNone/>
            </a:pPr>
            <a:r>
              <a:rPr sz="1200" lang="he-IL"/>
              <a:t>•  להפנות לשקף השאלה של היום, שבו זה כתוב.</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מפת המפגש, כחצי דקה.</a:t>
            </a:r>
          </a:p>
          <a:p>
            <a:pPr rtl="1" algn="r" marL="0" indent="0">
              <a:buNone/>
            </a:pPr>
            <a:r>
              <a:rPr b="1" sz="1200" lang="he-IL"/>
              <a:t>מה אומרים</a:t>
            </a:r>
          </a:p>
          <a:p>
            <a:pPr rtl="1" algn="r" marL="0" indent="0">
              <a:buNone/>
            </a:pPr>
            <a:r>
              <a:rPr sz="1200" lang="he-IL"/>
              <a:t>•  90 דקות בלי שקפים אופציונליים: בוחן (30), פתיחה (5: הסיפור, שרשרת הקורס, השאלה של היום, המטרות והמפה), חלק א׳ תיאוריה של סוכנים (18), מעבדה א׳ (9), חלק ב׳ Git (10), מעבדה ב׳ (11), סיום (7).</a:t>
            </a:r>
          </a:p>
          <a:p>
            <a:pPr rtl="1" algn="r" marL="0" indent="0">
              <a:buNone/>
            </a:pPr>
            <a:r>
              <a:rPr sz="1200" lang="he-IL"/>
              <a:t>•  כחול הוא הסבר קצר וכתום הוא עבודה של הסטודנטים.</a:t>
            </a:r>
          </a:p>
          <a:p>
            <a:pPr rtl="1" algn="r" marL="0" indent="0">
              <a:buNone/>
            </a:pPr>
            <a:r>
              <a:rPr sz="1200" lang="he-IL"/>
              <a:t>•  התקציב בחלק א׳ (18): הלולאה והרכיבים כ-6 דקות, Tool Use וקריאה לכלי כ-2.5, CoT ו-PoT כ-2.5, זיכרון ו-RAG כ-2, רמות אוטונומיה ובחירת רמה כ-3.5, טעות נפוצה ושאלת בדיקה כ-1.5 (סוכן אחד לכל דקה וחצי נותן 18).</a:t>
            </a:r>
          </a:p>
          <a:p>
            <a:pPr rtl="1" algn="r" marL="0" indent="0">
              <a:buNone/>
            </a:pPr>
            <a:r>
              <a:rPr sz="1200" lang="he-IL"/>
              <a:t>•  בחלק ב׳ (10): שמירת משחק, שלושת האזורים ושש הפעולות כ-3.5, Git מבפנים כ-1.5, ענף ומיזוג כ-1.5, הכלל ו-diff כ-2, שאלת בדיקה כ-1.5.</a:t>
            </a:r>
          </a:p>
          <a:p>
            <a:pPr rtl="1" algn="r" marL="0" indent="0">
              <a:buNone/>
            </a:pPr>
            <a:r>
              <a:rPr sz="1200" lang="he-IL"/>
              <a:t>•  בסיום (7): מבט מקדים לסקירת קוד ושקף ״לבית״ כ-2, הצעת פרויקט כ-1.5, הכלל וחידון כ-2, סיכום והכנה כ-1.5.</a:t>
            </a:r>
          </a:p>
          <a:p>
            <a:pPr rtl="1" algn="r" marL="0" indent="0">
              <a:buNone/>
            </a:pPr>
            <a:r>
              <a:rPr sz="1200" lang="he-IL"/>
              <a:t>•  שקפים שהם בחירה: אופציונלי (קיימים): חמישה סוגי סוכנים, אסטרטגיות חשיבה, מאיפה זה בא, כמה סוכנים ומסגרות, שאלת PoT, הודעת commit, מקורות.</a:t>
            </a:r>
          </a:p>
          <a:p>
            <a:pPr rtl="1" algn="r" marL="0" indent="0">
              <a:buNone/>
            </a:pPr>
            <a:r>
              <a:rPr sz="1200" lang="he-IL"/>
              <a:t>•  העשרה (חדשים, כ-1.5 דקות כל אחד): ReAct, Toolformer, איך מודדים סוכן קוד, רמות אוטונומיה במחקר, זיכרון והקשר; בחלק ב׳: למה ענף זול, מיזוג, merge מול rebase, איך מבטלים.</a:t>
            </a:r>
          </a:p>
          <a:p>
            <a:pPr rtl="1" algn="r" marL="0" indent="0">
              <a:buNone/>
            </a:pPr>
            <a:r>
              <a:rPr sz="1200" lang="he-IL"/>
              <a:t>•  אם הבוחן התארך, מקצצים בסדר הזה: כל העשרה, אחר כך האופציונליים, ובסוף את הצעד האחרון במעבדה ב׳ (״בלי commit״), לא את הקוד.</a:t>
            </a:r>
          </a:p>
          <a:p>
            <a:pPr rtl="1" algn="r" marL="0" indent="0">
              <a:buNone/>
            </a:pPr>
            <a:r>
              <a:rPr sz="1200" lang="he-IL"/>
              <a:t>•  אם יש עד 10 דקות פנויות, העדיפו: למה ענף זול, מיזוג, ReAct, רמות אוטונומיה במחקר.</a:t>
            </a:r>
          </a:p>
          <a:p>
            <a:pPr rtl="1" algn="r" marL="0" indent="0">
              <a:buNone/>
            </a:pPr>
            <a:r>
              <a:rPr sz="1200" lang="he-IL"/>
              <a:t>•  כל השקפים האופציונליים וההעשרה יחד הם כ-20 דקות, כלומר עד כ-110 דקות: בחרו, לא מציגים הכל.</a:t>
            </a:r>
          </a:p>
          <a:p>
            <a:pPr rtl="1" algn="r" marL="0" indent="0">
              <a:buNone/>
            </a:pPr>
            <a:r>
              <a:rPr sz="1200" lang="he-IL"/>
              <a:t>•  המעבדות הן במחברת HM_06: חלקים א׳ ו־ב׳ (חובה) בכיתה, וחלקים ג׳ ו־ד׳ בבית (שקף ״לבית״).</a:t>
            </a:r>
          </a:p>
          <a:p>
            <a:pPr rtl="1" algn="r" marL="0" indent="0">
              <a:buNone/>
            </a:pPr>
            <a:r>
              <a:rPr b="1" sz="1200" lang="he-IL"/>
              <a:t>חיבור לשיעורים קודמים</a:t>
            </a:r>
          </a:p>
          <a:p>
            <a:pPr rtl="1" algn="r" marL="0" indent="0">
              <a:buNone/>
            </a:pPr>
            <a:r>
              <a:rPr sz="1200" lang="he-IL"/>
              <a:t>•  חמש דקות הפתיחה כוללות עכשיו את החיבור לשיעורים הקודמים: שקף השרשרת (מפגשים 1, 2, 3 ו־5) ושקף השאלה של היום.</a:t>
            </a:r>
          </a:p>
          <a:p>
            <a:pPr rtl="1" algn="r" marL="0" indent="0">
              <a:buNone/>
            </a:pPr>
            <a:r>
              <a:rPr sz="1200" lang="he-IL"/>
              <a:t>•  אם הבוחן התארך, אפשר לדלג על השאלות לכיתה בשקף השרשרת ולהסתפק בהקראת העמודה השלישית (כדקה אחת במקום שתיים).</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תחילת חלק א׳, כ-18 דקות בסך הכל, וזה צפוף כי המפגש כולל בוחן.</a:t>
            </a:r>
          </a:p>
          <a:p>
            <a:pPr rtl="1" algn="r" marL="0" indent="0">
              <a:buNone/>
            </a:pPr>
            <a:r>
              <a:rPr b="1" sz="1200" lang="he-IL"/>
              <a:t>מה אומרים</a:t>
            </a:r>
          </a:p>
          <a:p>
            <a:pPr rtl="1" algn="r" marL="0" indent="0">
              <a:buNone/>
            </a:pPr>
            <a:r>
              <a:rPr sz="1200" lang="he-IL"/>
              <a:t>•  התקציב: 18 דקות בלי שקפים אופציונליים וההעשרה.</a:t>
            </a:r>
          </a:p>
          <a:p>
            <a:pPr rtl="1" algn="r" marL="0" indent="0">
              <a:buNone/>
            </a:pPr>
            <a:r>
              <a:rPr sz="1200" lang="he-IL"/>
              <a:t>•  הנתיב המומלץ במצב זמן קצר: שקף זה, הרכיבים, הלולאה, התמלול המסומן, Tool Use, CoT ו-PoT בקצרה, זיכרון ו-RAG בדקה כל אחד, רמות אוטונומיה ובחירת רמה, הטעות הנפוצה, ושאלת בדיקה אחת.</a:t>
            </a:r>
          </a:p>
          <a:p>
            <a:pPr rtl="1" algn="r" marL="0" indent="0">
              <a:buNone/>
            </a:pPr>
            <a:r>
              <a:rPr sz="1200" lang="he-IL"/>
              <a:t>•  שקפים אופציונליים שאפשר לדלג עליהם: חמישה סוגי סוכנים, אסטרטגיות חשיבה (הטבלה), מאיפה זה בא, כמה סוכנים ומסגרות, ומקורות להעמקה (מסומנים בתג ״אופציונלי״ או ״העשרה״ בפינה).</a:t>
            </a:r>
          </a:p>
          <a:p>
            <a:pPr rtl="1" algn="r" marL="0" indent="0">
              <a:buNone/>
            </a:pPr>
            <a:r>
              <a:rPr sz="1200" lang="he-IL"/>
              <a:t>•  בשקף: הפס העליון הוא צ׳אט, שאלה, תשובה אחת, וזה הסוף.</a:t>
            </a:r>
          </a:p>
          <a:p>
            <a:pPr rtl="1" algn="r" marL="0" indent="0">
              <a:buNone/>
            </a:pPr>
            <a:r>
              <a:rPr sz="1200" lang="he-IL"/>
              <a:t>•  הפס התחתון הוא סוכן: משימה, תכנון, פעולה, התבוננות, וחוזר חלילה עד שהמשימה מסתיימת.</a:t>
            </a:r>
          </a:p>
          <a:p>
            <a:pPr rtl="1" algn="r" marL="0" indent="0">
              <a:buNone/>
            </a:pPr>
            <a:r>
              <a:rPr b="1" sz="1200" lang="he-IL"/>
              <a:t>אנלוגיה</a:t>
            </a:r>
          </a:p>
          <a:p>
            <a:pPr rtl="1" algn="r" marL="0" indent="0">
              <a:buNone/>
            </a:pPr>
            <a:r>
              <a:rPr sz="1200" lang="he-IL"/>
              <a:t>•  צ׳אט הוא כמו יועץ שעונה על שאלה בטלפון.</a:t>
            </a:r>
          </a:p>
          <a:p>
            <a:pPr rtl="1" algn="r" marL="0" indent="0">
              <a:buNone/>
            </a:pPr>
            <a:r>
              <a:rPr sz="1200" lang="he-IL"/>
              <a:t>•  סוכן הוא כמו מתכנן ייצור שמקבל יעד, בודק מצב מלאי, מפעיל פעולה, בודק מה קרה, ומתקן.</a:t>
            </a:r>
          </a:p>
          <a:p>
            <a:pPr rtl="1" algn="r" marL="0" indent="0">
              <a:buNone/>
            </a:pPr>
            <a:r>
              <a:rPr b="1" sz="1200" lang="he-IL"/>
              <a:t>שאלה לכיתה</a:t>
            </a:r>
          </a:p>
          <a:p>
            <a:pPr rtl="1" algn="r" marL="0" indent="0">
              <a:buNone/>
            </a:pPr>
            <a:r>
              <a:rPr sz="1200" lang="he-IL"/>
              <a:t>•  מה גורם לסוכן לעצור?</a:t>
            </a:r>
          </a:p>
          <a:p>
            <a:pPr rtl="1" algn="r" marL="0" indent="0">
              <a:buNone/>
            </a:pPr>
            <a:r>
              <a:rPr b="1" sz="1200" lang="he-IL"/>
              <a:t>תשובה</a:t>
            </a:r>
          </a:p>
          <a:p>
            <a:pPr rtl="1" algn="r" marL="0" indent="0">
              <a:buNone/>
            </a:pPr>
            <a:r>
              <a:rPr sz="1200" lang="he-IL"/>
              <a:t>•  שהמשימה הושלמה, שהגיע למגבלת צעדים, או שאדם עצר אותו.</a:t>
            </a:r>
          </a:p>
          <a:p>
            <a:pPr rtl="1" algn="r" marL="0" indent="0">
              <a:buNone/>
            </a:pPr>
            <a:r>
              <a:rPr sz="1200" lang="he-IL"/>
              <a:t>•  קישור למפגש 5: הלולאה רצה בתוך המעטפת.</a:t>
            </a:r>
          </a:p>
          <a:p>
            <a:pPr rtl="1" algn="r" marL="0" indent="0">
              <a:buNone/>
            </a:pPr>
            <a:r>
              <a:rPr sz="1200" lang="he-IL"/>
              <a:t>•  הגדרה: סוכן (Anthropic, Building effective agents, 2024) הוא מערכת שבה מודל מנהל בעצמו את התהליך ואת השימוש בכלים, בניגוד ל״workflow״ שבו הקוד קובע את המסלול מראש.</a:t>
            </a:r>
          </a:p>
          <a:p>
            <a:pPr rtl="1" algn="r" marL="0" indent="0">
              <a:buNone/>
            </a:pPr>
            <a:r>
              <a:rPr sz="1200" lang="he-IL"/>
              <a:t>•  ההבחנה הזו חשובה: לא כל מערכת עם מודל היא סוכן, ולרוב כדאי להתחיל בפתרון הפשוט ביותר.</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סוכן הוא מודל ועוד רכיבים (כ-1 דקה).</a:t>
            </a:r>
          </a:p>
          <a:p>
            <a:pPr rtl="1" algn="r" marL="0" indent="0">
              <a:buNone/>
            </a:pPr>
            <a:r>
              <a:rPr b="1" sz="1200" lang="he-IL"/>
              <a:t>מה אומרים</a:t>
            </a:r>
          </a:p>
          <a:p>
            <a:pPr rtl="1" algn="r" marL="0" indent="0">
              <a:buNone/>
            </a:pPr>
            <a:r>
              <a:rPr sz="1200" lang="he-IL"/>
              <a:t>•  במרכז, בכתום, המודל, מנוע החשיבה.</a:t>
            </a:r>
          </a:p>
          <a:p>
            <a:pPr rtl="1" algn="r" marL="0" indent="0">
              <a:buNone/>
            </a:pPr>
            <a:r>
              <a:rPr sz="1200" lang="he-IL"/>
              <a:t>•  סביבו ארבעה רכיבים: תכנון (מפרק משימה לצעדים), זיכרון (קצר וארוך טווח), כלים (קבצים, חיפוש, הרצה, API) וביצוע (פעולה והתבוננות בתוצאה).</a:t>
            </a:r>
          </a:p>
          <a:p>
            <a:pPr rtl="1" algn="r" marL="0" indent="0">
              <a:buNone/>
            </a:pPr>
            <a:r>
              <a:rPr b="1" sz="1200" lang="he-IL"/>
              <a:t>מסר מרכזי</a:t>
            </a:r>
          </a:p>
          <a:p>
            <a:pPr rtl="1" algn="r" marL="0" indent="0">
              <a:buNone/>
            </a:pPr>
            <a:r>
              <a:rPr sz="1200" lang="he-IL"/>
              <a:t>•  המודל הוא רכיב אחד, והסוכן הוא כל המערכת.</a:t>
            </a:r>
          </a:p>
          <a:p>
            <a:pPr rtl="1" algn="r" marL="0" indent="0">
              <a:buNone/>
            </a:pPr>
            <a:r>
              <a:rPr sz="1200" lang="he-IL"/>
              <a:t>•  זה חיבור ישיר ל׳מודל ומעטפת׳ ממפגש 5.</a:t>
            </a:r>
          </a:p>
          <a:p>
            <a:pPr rtl="1" algn="r" marL="0" indent="0">
              <a:buNone/>
            </a:pPr>
            <a:r>
              <a:rPr sz="1200" lang="he-IL"/>
              <a:t>•  מתוך המצגת LLM Agents של הקורס.</a:t>
            </a:r>
          </a:p>
          <a:p>
            <a:pPr rtl="1" algn="r" marL="0" indent="0">
              <a:buNone/>
            </a:pPr>
            <a:r>
              <a:rPr b="1" sz="1200" lang="he-IL"/>
              <a:t>אנלוגיה</a:t>
            </a:r>
          </a:p>
          <a:p>
            <a:pPr rtl="1" algn="r" marL="0" indent="0">
              <a:buNone/>
            </a:pPr>
            <a:r>
              <a:rPr sz="1200" lang="he-IL"/>
              <a:t>•  מודל הוא כמו מהנדס מצוין, אבל סוכן הוא המהנדס עם תוכנית עבודה, יומן, ארגז כלים ואחריות לביצוע.</a:t>
            </a:r>
          </a:p>
          <a:p>
            <a:pPr rtl="1" algn="r" marL="0" indent="0">
              <a:buNone/>
            </a:pPr>
            <a:r>
              <a:rPr sz="1200" lang="he-IL"/>
              <a:t>•  בלי הרכיבים האחרים, המהנדס רק מדבר.</a:t>
            </a:r>
          </a:p>
          <a:p>
            <a:pPr rtl="1" algn="r" marL="0" indent="0">
              <a:buNone/>
            </a:pPr>
            <a:r>
              <a:rPr b="1" sz="1200" lang="he-IL"/>
              <a:t>שאלה לכיתה</a:t>
            </a:r>
          </a:p>
          <a:p>
            <a:pPr rtl="1" algn="r" marL="0" indent="0">
              <a:buNone/>
            </a:pPr>
            <a:r>
              <a:rPr sz="1200" lang="he-IL"/>
              <a:t>•  איזה רכיב לדעתכם הוא הקריטי ביותר לסוכן שמנהל מלאי?</a:t>
            </a:r>
          </a:p>
          <a:p>
            <a:pPr rtl="1" algn="r" marL="0" indent="0">
              <a:buNone/>
            </a:pPr>
            <a:r>
              <a:rPr sz="1200" lang="he-IL"/>
              <a:t>•  תשובות אפשריות: כלים (גישה לנתונים) וזיכרון (מה הוזמן).</a:t>
            </a:r>
          </a:p>
          <a:p>
            <a:pPr rtl="1" algn="r" marL="0" indent="0">
              <a:buNone/>
            </a:pPr>
            <a:r>
              <a:rPr sz="1200" lang="he-IL"/>
              <a:t>•  אין תשובה אחת נכונה.</a:t>
            </a:r>
          </a:p>
          <a:p>
            <a:pPr rtl="1" algn="r" marL="0" indent="0">
              <a:buNone/>
            </a:pPr>
            <a:r>
              <a:rPr sz="1200" lang="he-IL"/>
              <a:t>•  קישור למפגש 2: זיכרון קשור לחלון ההקשר, ולמפגש 5: הכלים והמעטפת.</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אופציונלי, כ-1 דקה אם יש זמן, אחרת לדלג.</a:t>
            </a:r>
          </a:p>
          <a:p>
            <a:pPr rtl="1" algn="r" marL="0" indent="0">
              <a:buNone/>
            </a:pPr>
            <a:r>
              <a:rPr b="1" sz="1200" lang="he-IL"/>
              <a:t>מה אומרים</a:t>
            </a:r>
          </a:p>
          <a:p>
            <a:pPr rtl="1" algn="r" marL="0" indent="0">
              <a:buNone/>
            </a:pPr>
            <a:r>
              <a:rPr sz="1200" lang="he-IL"/>
              <a:t>•  חמישה סוגי סוכנים לפי החלוקה הקלאסית של Russell ו-Norvig בספר בינה מלאכותית: תגובתי (פועל לפי כלל פשוט), מבוסס מודל (מחזיק תמונה פנימית של המצב), ממוקד מטרה, ממוקד תועלת (מאזן בין חלופות), ולומד (משתפר מניסיון).</a:t>
            </a:r>
          </a:p>
          <a:p>
            <a:pPr rtl="1" algn="r" marL="0" indent="0">
              <a:buNone/>
            </a:pPr>
            <a:r>
              <a:rPr sz="1200" lang="he-IL"/>
              <a:t>•  הדוגמאות כולן מניהול מלאי: אם מלאי קטן מ-5, הזמן; מחזיקים תמונה של ביקוש והזמנות בדרך; שואפים שלא להגיע למלאי אפס; מאזנים עלות החזקה מול עלות חוסר; ומשפרים את הכללים מניסיון.</a:t>
            </a:r>
          </a:p>
          <a:p>
            <a:pPr rtl="1" algn="r" marL="0" indent="0">
              <a:buNone/>
            </a:pPr>
            <a:r>
              <a:rPr sz="1200" lang="he-IL"/>
              <a:t>•  הסולם עולה בכוח ובמורכבות.</a:t>
            </a:r>
          </a:p>
          <a:p>
            <a:pPr rtl="1" algn="r" marL="0" indent="0">
              <a:buNone/>
            </a:pPr>
            <a:r>
              <a:rPr b="1" sz="1200" lang="he-IL"/>
              <a:t>שימו לב</a:t>
            </a:r>
          </a:p>
          <a:p>
            <a:pPr rtl="1" algn="r" marL="0" indent="0">
              <a:buNone/>
            </a:pPr>
            <a:r>
              <a:rPr sz="1200" lang="he-IL"/>
              <a:t>•  המספרים כאן הם לא רמות האוטונומיה של הקורס (שקף נפרד בהמשך).</a:t>
            </a:r>
          </a:p>
          <a:p>
            <a:pPr rtl="1" algn="r" marL="0" indent="0">
              <a:buNone/>
            </a:pPr>
            <a:r>
              <a:rPr b="1" sz="1200" lang="he-IL"/>
              <a:t>שאלה לכיתה</a:t>
            </a:r>
          </a:p>
          <a:p>
            <a:pPr rtl="1" algn="r" marL="0" indent="0">
              <a:buNone/>
            </a:pPr>
            <a:r>
              <a:rPr sz="1200" lang="he-IL"/>
              <a:t>•  איזה סוג הוא מערכת הזמנות עם נקודת הזמנה קבועה?</a:t>
            </a:r>
          </a:p>
          <a:p>
            <a:pPr rtl="1" algn="r" marL="0" indent="0">
              <a:buNone/>
            </a:pPr>
            <a:r>
              <a:rPr b="1" sz="1200" lang="he-IL"/>
              <a:t>תשובה</a:t>
            </a:r>
          </a:p>
          <a:p>
            <a:pPr rtl="1" algn="r" marL="0" indent="0">
              <a:buNone/>
            </a:pPr>
            <a:r>
              <a:rPr sz="1200" lang="he-IL"/>
              <a:t>•  תגובתי.</a:t>
            </a:r>
          </a:p>
          <a:p>
            <a:pPr rtl="1" algn="r" marL="0" indent="0">
              <a:buNone/>
            </a:pPr>
            <a:r>
              <a:rPr sz="1200" lang="he-IL"/>
              <a:t>•  ואיזה סוג רוב סוכני ה-LLM שתבנו?</a:t>
            </a:r>
          </a:p>
          <a:p>
            <a:pPr rtl="1" algn="r" marL="0" indent="0">
              <a:buNone/>
            </a:pPr>
            <a:r>
              <a:rPr sz="1200" lang="he-IL"/>
              <a:t>•  כנראה ממוקדי מטרה, אך המושג מתאים לכל הסולם.</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זה הלב של חלק א׳ (כ-1.5 דקות).</a:t>
            </a:r>
          </a:p>
          <a:p>
            <a:pPr rtl="1" algn="r" marL="0" indent="0">
              <a:buNone/>
            </a:pPr>
            <a:r>
              <a:rPr b="1" sz="1200" lang="he-IL"/>
              <a:t>מה אומרים</a:t>
            </a:r>
          </a:p>
          <a:p>
            <a:pPr rtl="1" algn="r" marL="0" indent="0">
              <a:buNone/>
            </a:pPr>
            <a:r>
              <a:rPr sz="1200" lang="he-IL"/>
              <a:t>•  שלוש תחנות במעגל: תכנון (מה הצעד הבא?), פעולה (קריאה לכלי: קרא, ערוך, הרץ), התבוננות (התוצאה חוזרת להקשר של הסוכן).</a:t>
            </a:r>
          </a:p>
          <a:p>
            <a:pPr rtl="1" algn="r" marL="0" indent="0">
              <a:buNone/>
            </a:pPr>
            <a:r>
              <a:rPr sz="1200" lang="he-IL"/>
              <a:t>•  אחרי ההתבוננות חוזרים לתכנון, עד שהמשימה נגמרת.</a:t>
            </a:r>
          </a:p>
          <a:p>
            <a:pPr rtl="1" algn="r" marL="0" indent="0">
              <a:buNone/>
            </a:pPr>
            <a:r>
              <a:rPr sz="1200" lang="he-IL"/>
              <a:t>•  הדוגמה בפינה: ״הוסף חישוב הכנסה חודשית״.</a:t>
            </a:r>
          </a:p>
          <a:p>
            <a:pPr rtl="1" algn="r" marL="0" indent="0">
              <a:buNone/>
            </a:pPr>
            <a:r>
              <a:rPr sz="1200" lang="he-IL"/>
              <a:t>•  הסוכן מתכנן לקרוא את הקובץ, קורא אותו, רואה את העמודות, מתכנן עריכה, עורך, מריץ, ורק אז מחליט אם סיים.</a:t>
            </a:r>
          </a:p>
          <a:p>
            <a:pPr rtl="1" algn="r" marL="0" indent="0">
              <a:buNone/>
            </a:pPr>
            <a:r>
              <a:rPr sz="1200" lang="he-IL"/>
              <a:t>•  זה הרעיון של ReAct (Yao ועמיתים, 2023, ICLR): חשיבה ופעולה לסירוגין, כשכל תוצאה של פעולה משפיעה על החשיבה הבאה.</a:t>
            </a:r>
          </a:p>
          <a:p>
            <a:pPr rtl="1" algn="r" marL="0" indent="0">
              <a:buNone/>
            </a:pPr>
            <a:r>
              <a:rPr sz="1200" lang="he-IL"/>
              <a:t>•  אנלוגיה לתעשייה וניהול: כמו מעגל PDCA או בקרת תהליכים: מתכננים, מבצעים, מודדים, ומתקנים.</a:t>
            </a:r>
          </a:p>
          <a:p>
            <a:pPr rtl="1" algn="r" marL="0" indent="0">
              <a:buNone/>
            </a:pPr>
            <a:r>
              <a:rPr b="1" sz="1200" lang="he-IL"/>
              <a:t>שאלה לכיתה</a:t>
            </a:r>
          </a:p>
          <a:p>
            <a:pPr rtl="1" algn="r" marL="0" indent="0">
              <a:buNone/>
            </a:pPr>
            <a:r>
              <a:rPr sz="1200" lang="he-IL"/>
              <a:t>•  מה יקרה אם אין שלב התבוננות?</a:t>
            </a:r>
          </a:p>
          <a:p>
            <a:pPr rtl="1" algn="r" marL="0" indent="0">
              <a:buNone/>
            </a:pPr>
            <a:r>
              <a:rPr b="1" sz="1200" lang="he-IL"/>
              <a:t>תשובה</a:t>
            </a:r>
          </a:p>
          <a:p>
            <a:pPr rtl="1" algn="r" marL="0" indent="0">
              <a:buNone/>
            </a:pPr>
            <a:r>
              <a:rPr sz="1200" lang="he-IL"/>
              <a:t>•  הסוכן ימשיך על סמך הנחות, כמו מפעל בלי בקרת איכות.</a:t>
            </a:r>
          </a:p>
          <a:p>
            <a:pPr rtl="1" algn="r" marL="0" indent="0">
              <a:buNone/>
            </a:pPr>
            <a:r>
              <a:rPr sz="1200" lang="he-IL"/>
              <a:t>•  נקודות זהירות: לולאה עלולה להיתקע ולחזור על אותה פעולה שוב ושוב, ולכן יש מגבלת צעדים ועלות.</a:t>
            </a:r>
          </a:p>
          <a:p>
            <a:pPr rtl="1" algn="r" marL="0" indent="0">
              <a:buNone/>
            </a:pPr>
            <a:r>
              <a:rPr sz="1200" lang="he-IL"/>
              <a:t>•  החלטות של הסוכן מבוססות על הקשר מוגבל (חלון הקשר, ראו מפגש 2).</a:t>
            </a:r>
          </a:p>
          <a:p>
            <a:pPr rtl="1" algn="r" marL="0" indent="0">
              <a:buNone/>
            </a:pPr>
            <a:r>
              <a:rPr b="1" sz="1200" lang="he-IL"/>
              <a:t>חיבור לשיעורים קודמים</a:t>
            </a:r>
          </a:p>
          <a:p>
            <a:pPr rtl="1" algn="r" marL="0" indent="0">
              <a:buNone/>
            </a:pPr>
            <a:r>
              <a:rPr sz="1200" lang="he-IL"/>
              <a:t>•  בשקף ״משפחה 3: סוכן״ אמרנו שהסוכן פועל בלולאה ושאת הלולאה נפרט במפגש 6.</a:t>
            </a:r>
          </a:p>
          <a:p>
            <a:pPr rtl="1" algn="r" marL="0" indent="0">
              <a:buNone/>
            </a:pPr>
            <a:r>
              <a:rPr sz="1200" lang="he-IL"/>
              <a:t>•  זו ההבטחה שמתקיימת כאן.</a:t>
            </a:r>
          </a:p>
          <a:p>
            <a:pPr rtl="1" algn="r" marL="0" indent="0">
              <a:buNone/>
            </a:pPr>
            <a:r>
              <a:rPr b="1" sz="1200" lang="he-IL"/>
              <a:t>שאלת היזכרות</a:t>
            </a:r>
          </a:p>
          <a:p>
            <a:pPr rtl="1" algn="r" marL="0" indent="0">
              <a:buNone/>
            </a:pPr>
            <a:r>
              <a:rPr sz="1200" lang="he-IL"/>
              <a:t>•  מי זוכר איך נראה תמלול של סוכן במעבדה ב׳ של מפגש 5?</a:t>
            </a:r>
          </a:p>
          <a:p>
            <a:pPr rtl="1" algn="r" marL="0" indent="0">
              <a:buNone/>
            </a:pPr>
            <a:r>
              <a:rPr b="1" sz="1200" lang="he-IL"/>
              <a:t>תשובה</a:t>
            </a:r>
          </a:p>
          <a:p>
            <a:pPr rtl="1" algn="r" marL="0" indent="0">
              <a:buNone/>
            </a:pPr>
            <a:r>
              <a:rPr sz="1200" lang="he-IL"/>
              <a:t>•  שורות של read, create, edit ו־run, ושורת שגיאה (!) שהסוכן קיבל ותיקן.</a:t>
            </a:r>
          </a:p>
          <a:p>
            <a:pPr rtl="1" algn="r" marL="0" indent="0">
              <a:buNone/>
            </a:pPr>
            <a:r>
              <a:rPr b="1" sz="1200" lang="he-IL"/>
              <a:t>אם הכיתה לא זוכרת</a:t>
            </a:r>
          </a:p>
          <a:p>
            <a:pPr rtl="1" algn="r" marL="0" indent="0">
              <a:buNone/>
            </a:pPr>
            <a:r>
              <a:rPr sz="1200" lang="he-IL"/>
              <a:t>•  השקף הבא (תמלול מסומן) הוא אותו פורמט, עכשיו עם תג לכל סוג צעד.</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תמלול מסומן של ריצה (דוגמה להמחשה, לא פלט של כלי מסוים), כ-1.5 דקות.</a:t>
            </a:r>
          </a:p>
          <a:p>
            <a:pPr rtl="1" algn="r" marL="0" indent="0">
              <a:buNone/>
            </a:pPr>
            <a:r>
              <a:rPr b="1" sz="1200" lang="he-IL"/>
              <a:t>מה אומרים</a:t>
            </a:r>
          </a:p>
          <a:p>
            <a:pPr rtl="1" algn="r" marL="0" indent="0">
              <a:buNone/>
            </a:pPr>
            <a:r>
              <a:rPr sz="1200" lang="he-IL"/>
              <a:t>•  בצד ימין של כל שורה תג צבעוני עם סוג הצעד (תכנון בכחול, פעולה בכתום, התבוננות בטורקיז, ואדום לשגיאה), ובצד שמאל מה שקרה בצעד.</a:t>
            </a:r>
          </a:p>
          <a:p>
            <a:pPr rtl="1" algn="r" marL="0" indent="0">
              <a:buNone/>
            </a:pPr>
            <a:r>
              <a:rPr sz="1200" lang="he-IL"/>
              <a:t>•  עברו על התמלול מלמעלה למטה: הסוכן מתכנן לקרוא קובץ, קורא את orders.csv, רואה שהעמודות הן order_date, quantity, unit_price, עורך את analysis.py, מריץ, ומקבל KeyError על העמודה month.</a:t>
            </a:r>
          </a:p>
          <a:p>
            <a:pPr rtl="1" algn="r" marL="0" indent="0">
              <a:buNone/>
            </a:pPr>
            <a:r>
              <a:rPr b="1" sz="1200" lang="he-IL"/>
              <a:t>שאלה לכיתה</a:t>
            </a:r>
          </a:p>
          <a:p>
            <a:pPr rtl="1" algn="r" marL="0" indent="0">
              <a:buNone/>
            </a:pPr>
            <a:r>
              <a:rPr sz="1200" lang="he-IL"/>
              <a:t>•  איפה הסוכן התבונן ושינה את התוכנית?</a:t>
            </a:r>
          </a:p>
          <a:p>
            <a:pPr rtl="1" algn="r" marL="0" indent="0">
              <a:buNone/>
            </a:pPr>
            <a:r>
              <a:rPr b="1" sz="1200" lang="he-IL"/>
              <a:t>תשובה</a:t>
            </a:r>
          </a:p>
          <a:p>
            <a:pPr rtl="1" algn="r" marL="0" indent="0">
              <a:buNone/>
            </a:pPr>
            <a:r>
              <a:rPr sz="1200" lang="he-IL"/>
              <a:t>•  אחרי השגיאה הוא מבין שחסרה עמודת חודש וחוזר לתכנון, ומוסיף חישוב חודש מתוך order_date.</a:t>
            </a:r>
          </a:p>
          <a:p>
            <a:pPr rtl="1" algn="r" marL="0" indent="0">
              <a:buNone/>
            </a:pPr>
            <a:r>
              <a:rPr sz="1200" lang="he-IL"/>
              <a:t>•  אפשר גם לשאול: איזה צעד היה צריך אישור שלכם אם הייתם ברמה 2?</a:t>
            </a:r>
          </a:p>
          <a:p>
            <a:pPr rtl="1" algn="r" marL="0" indent="0">
              <a:buNone/>
            </a:pPr>
            <a:r>
              <a:rPr sz="1200" lang="he-IL"/>
              <a:t>•  כל צעד של עריכה והרצה.</a:t>
            </a:r>
          </a:p>
          <a:p>
            <a:pPr rtl="1" algn="r" marL="0" indent="0">
              <a:buNone/>
            </a:pPr>
            <a:r>
              <a:rPr sz="1200" lang="he-IL"/>
              <a:t>•  זה גם ההכנה למעבדה א׳, שבה הסטודנטים יקראו תמלול של סוכן מדומה (show_transcript) באותו מבנה: תכנון, פעולה, התבוננות.</a:t>
            </a:r>
          </a:p>
          <a:p>
            <a:pPr rtl="1" algn="r" marL="0" indent="0">
              <a:buNone/>
            </a:pPr>
            <a:r>
              <a:rPr sz="1200" lang="he-IL"/>
              <a:t>•  נקודה חשובה: השגיאה היא מידע ולא כישלון, כי היא מזינה את הלולאה ומאפשרת לסוכן לתקן.</a:t>
            </a:r>
          </a:p>
          <a:p>
            <a:pPr rtl="1" algn="r" marL="0" indent="0">
              <a:buNone/>
            </a:pPr>
            <a:r>
              <a:rPr sz="1200" lang="he-IL"/>
              <a:t>•  חזרה ממפגש 5, מעבדה ב׳: שם סיכמתם תמלול בפונקציה summarize_transcript וסימנתם שורות מסוכנות בפונקציה find_risky.</a:t>
            </a:r>
          </a:p>
          <a:p>
            <a:pPr rtl="1" algn="r" marL="0" indent="0">
              <a:buNone/>
            </a:pPr>
            <a:r>
              <a:rPr sz="1200" lang="he-IL"/>
              <a:t>•  כאן מוסיפים שכבה: כל שורה בתמלול מקבלת תג של תכנון, פעולה או התבוננות.</a:t>
            </a:r>
          </a:p>
          <a:p>
            <a:pPr rtl="1" algn="r" marL="0" indent="0">
              <a:buNone/>
            </a:pPr>
            <a:r>
              <a:rPr b="1" sz="1200" lang="he-IL"/>
              <a:t>שאלת היזכרות</a:t>
            </a:r>
          </a:p>
          <a:p>
            <a:pPr rtl="1" algn="r" marL="0" indent="0">
              <a:buNone/>
            </a:pPr>
            <a:r>
              <a:rPr sz="1200" lang="he-IL"/>
              <a:t>•  איזו שורה בתמלול של מפגש 5 עצרתם?</a:t>
            </a:r>
          </a:p>
          <a:p>
            <a:pPr rtl="1" algn="r" marL="0" indent="0">
              <a:buNone/>
            </a:pPr>
            <a:r>
              <a:rPr b="1" sz="1200" lang="he-IL"/>
              <a:t>תשובה</a:t>
            </a:r>
          </a:p>
          <a:p>
            <a:pPr rtl="1" algn="r" marL="0" indent="0">
              <a:buNone/>
            </a:pPr>
            <a:r>
              <a:rPr sz="1200" lang="he-IL"/>
              <a:t>•  התקנת חבילה, מחיקה או עריכה של קובץ שלא ברשימה המותרת.</a:t>
            </a:r>
          </a:p>
          <a:p>
            <a:pPr rtl="1" algn="r" marL="0" indent="0">
              <a:buNone/>
            </a:pPr>
            <a:r>
              <a:rPr b="1" sz="1200" lang="he-IL"/>
              <a:t>אם הכיתה לא זוכרת</a:t>
            </a:r>
          </a:p>
          <a:p>
            <a:pPr rtl="1" algn="r" marL="0" indent="0">
              <a:buNone/>
            </a:pPr>
            <a:r>
              <a:rPr sz="1200" lang="he-IL"/>
              <a:t>•  לשאול על התמלול שלפניכם איזו שורה הייתם עוצרים.</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כ-1 דקה.</a:t>
            </a:r>
          </a:p>
          <a:p>
            <a:pPr rtl="1" algn="r" marL="0" indent="0">
              <a:buNone/>
            </a:pPr>
            <a:r>
              <a:rPr b="1" sz="1200" lang="he-IL"/>
              <a:t>מה אומרים</a:t>
            </a:r>
          </a:p>
          <a:p>
            <a:pPr rtl="1" algn="r" marL="0" indent="0">
              <a:buNone/>
            </a:pPr>
            <a:r>
              <a:rPr sz="1200" lang="he-IL"/>
              <a:t>•  הסוכן (מודל ומעטפת, כמו במפגש 5) לא נוגע בקבצים בעצמו: הוא מבקש מכלי לבצע, והכלי מחזיר תוצאה.</a:t>
            </a:r>
          </a:p>
          <a:p>
            <a:pPr rtl="1" algn="r" marL="0" indent="0">
              <a:buNone/>
            </a:pPr>
            <a:r>
              <a:rPr sz="1200" lang="he-IL"/>
              <a:t>•  בשקף ארבעה כלים טיפוסיים: קרא קובץ, ערוך קובץ, הרץ פקודה, חפש בפרויקט, והחצים הדו-כיווניים מראים בקשה ותשובה.</a:t>
            </a:r>
          </a:p>
          <a:p>
            <a:pPr rtl="1" algn="r" marL="0" indent="0">
              <a:buNone/>
            </a:pPr>
            <a:r>
              <a:rPr sz="1200" lang="he-IL"/>
              <a:t>•  שמות הכלים משתנים בין מוצרים, אבל הסוגים דומים.</a:t>
            </a:r>
          </a:p>
          <a:p>
            <a:pPr rtl="1" algn="r" marL="0" indent="0">
              <a:buNone/>
            </a:pPr>
            <a:r>
              <a:rPr sz="1200" lang="he-IL"/>
              <a:t>•  הכלים הם מה שמבדיל סוכן משיחה: בלי כלים המודל רק מייצר טקסט.</a:t>
            </a:r>
          </a:p>
          <a:p>
            <a:pPr rtl="1" algn="r" marL="0" indent="0">
              <a:buNone/>
            </a:pPr>
            <a:r>
              <a:rPr sz="1200" lang="he-IL"/>
              <a:t>•  המשמעות לסיכון: ככל שיש יותר כלים והרשאות (למשל מחיקה, גישה לרשת), כך גדל הנזק האפשרי, ולכן קובעים רמת אוטונומיה (שקף בהמשך).</a:t>
            </a:r>
          </a:p>
          <a:p>
            <a:pPr rtl="1" algn="r" marL="0" indent="0">
              <a:buNone/>
            </a:pPr>
            <a:r>
              <a:rPr sz="1200" lang="he-IL"/>
              <a:t>•  הרעיון האקדמי: Toolformer (Schick ועמיתים, 2023) הראה מודל שלומד בעצמו מתי לקרוא לכלי חיצוני.</a:t>
            </a:r>
          </a:p>
          <a:p>
            <a:pPr rtl="1" algn="r" marL="0" indent="0">
              <a:buNone/>
            </a:pPr>
            <a:r>
              <a:rPr b="1" sz="1200" lang="he-IL"/>
              <a:t>אנלוגיה</a:t>
            </a:r>
          </a:p>
          <a:p>
            <a:pPr rtl="1" algn="r" marL="0" indent="0">
              <a:buNone/>
            </a:pPr>
            <a:r>
              <a:rPr sz="1200" lang="he-IL"/>
              <a:t>•  מנהל פרויקט לא מרים בעצמו משאות, הוא מורה לעובדים או לציוד, ומקבל דיווח.</a:t>
            </a:r>
          </a:p>
          <a:p>
            <a:pPr rtl="1" algn="r" marL="0" indent="0">
              <a:buNone/>
            </a:pPr>
            <a:r>
              <a:rPr b="1" sz="1200" lang="he-IL"/>
              <a:t>שאלה לכיתה</a:t>
            </a:r>
          </a:p>
          <a:p>
            <a:pPr rtl="1" algn="r" marL="0" indent="0">
              <a:buNone/>
            </a:pPr>
            <a:r>
              <a:rPr sz="1200" lang="he-IL"/>
              <a:t>•  איזה כלי של סוכן הכי מסוכן?</a:t>
            </a:r>
          </a:p>
          <a:p>
            <a:pPr rtl="1" algn="r" marL="0" indent="0">
              <a:buNone/>
            </a:pPr>
            <a:r>
              <a:rPr b="1" sz="1200" lang="he-IL"/>
              <a:t>תשובה</a:t>
            </a:r>
          </a:p>
          <a:p>
            <a:pPr rtl="1" algn="r" marL="0" indent="0">
              <a:buNone/>
            </a:pPr>
            <a:r>
              <a:rPr sz="1200" lang="he-IL"/>
              <a:t>•  הרצת פקודות ומחיקת קבצים.</a:t>
            </a:r>
          </a:p>
          <a:p>
            <a:pPr rtl="1" algn="r" marL="0" indent="0">
              <a:buNone/>
            </a:pPr>
            <a:r>
              <a:rPr sz="1200" lang="he-IL"/>
              <a:t>•  קישור למפגש 10 (אבטחה) ולמפגש 5.</a:t>
            </a:r>
          </a:p>
          <a:p>
            <a:pPr rtl="1" algn="r" marL="0" indent="0">
              <a:buNone/>
            </a:pPr>
            <a:r>
              <a:rPr sz="1200" lang="he-IL"/>
              <a:t>•  המשך בשקף הבא: איך נראית קריאה לכלי מבפנים.</a:t>
            </a:r>
          </a:p>
          <a:p>
            <a:pPr rtl="1" algn="r" marL="0" indent="0">
              <a:buNone/>
            </a:pPr>
            <a:r>
              <a:rPr sz="1200" lang="he-IL"/>
              <a:t>•  הרעיון האקדמי של Toolformer מוסבר בהרחבה בשקף ההעשרה.</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שרשרת מחשבה, Chain of Thought, מתוך Wei ועמיתים 2022 (כ-1 דקה; PoT בשקף הבא כ-1.5 דקות).</a:t>
            </a:r>
          </a:p>
          <a:p>
            <a:pPr rtl="1" algn="r" marL="0" indent="0">
              <a:buNone/>
            </a:pPr>
            <a:r>
              <a:rPr b="1" sz="1200" lang="he-IL"/>
              <a:t>מה אומרים</a:t>
            </a:r>
          </a:p>
          <a:p>
            <a:pPr rtl="1" algn="r" marL="0" indent="0">
              <a:buNone/>
            </a:pPr>
            <a:r>
              <a:rPr sz="1200" lang="he-IL"/>
              <a:t>•  הדוגמה: ביקוש יומי 12, זמן אספקה 7 ימים, ימי ביטחון 3, מה נקודת ההזמנה?</a:t>
            </a:r>
          </a:p>
          <a:p>
            <a:pPr rtl="1" algn="r" marL="0" indent="0">
              <a:buNone/>
            </a:pPr>
            <a:r>
              <a:rPr sz="1200" lang="he-IL"/>
              <a:t>•  משמאל: צעד אחר צעד, 7 ועוד 3 הם 10 ימים, כפול 12 הוא 120.</a:t>
            </a:r>
          </a:p>
          <a:p>
            <a:pPr rtl="1" algn="r" marL="0" indent="0">
              <a:buNone/>
            </a:pPr>
            <a:r>
              <a:rPr sz="1200" lang="he-IL"/>
              <a:t>•  מימין: תשובה ישירה 84, ששכחה את ימי הביטחון.</a:t>
            </a:r>
          </a:p>
          <a:p>
            <a:pPr rtl="1" algn="r" marL="0" indent="0">
              <a:buNone/>
            </a:pPr>
            <a:r>
              <a:rPr sz="1200" lang="he-IL"/>
              <a:t>•  המחשה בלבד, לא פלט אמיתי של מודל.</a:t>
            </a:r>
          </a:p>
          <a:p>
            <a:pPr rtl="1" algn="r" marL="0" indent="0">
              <a:buNone/>
            </a:pPr>
            <a:r>
              <a:rPr sz="1200" lang="he-IL"/>
              <a:t>•  מבקשים מהמודל להראות שלבים, וכך יש לו מקום לחשוב ואפשר לבדוק כל שלב.</a:t>
            </a:r>
          </a:p>
          <a:p>
            <a:pPr rtl="1" algn="r" marL="0" indent="0">
              <a:buNone/>
            </a:pPr>
            <a:r>
              <a:rPr b="1" sz="1200" lang="he-IL"/>
              <a:t>להעמקה</a:t>
            </a:r>
          </a:p>
          <a:p>
            <a:pPr rtl="1" algn="r" marL="0" indent="0">
              <a:buNone/>
            </a:pPr>
            <a:r>
              <a:rPr sz="1200" lang="he-IL"/>
              <a:t>•  Zero-shot CoT, Kojima ועמיתים 2022, משפט כמו ״בוא נחשוב צעד אחר צעד״.</a:t>
            </a:r>
          </a:p>
          <a:p>
            <a:pPr rtl="1" algn="r" marL="0" indent="0">
              <a:buNone/>
            </a:pPr>
            <a:r>
              <a:rPr sz="1200" lang="he-IL"/>
              <a:t>•  מודלים מודרניים רבים חושבים כך בעצמם (מודלי חשיבה), אבל הרעיון נשאר חשוב לבדיקה.</a:t>
            </a:r>
          </a:p>
          <a:p>
            <a:pPr rtl="1" algn="r" marL="0" indent="0">
              <a:buNone/>
            </a:pPr>
            <a:r>
              <a:rPr b="1" sz="1200" lang="he-IL"/>
              <a:t>שאלה לכיתה</a:t>
            </a:r>
          </a:p>
          <a:p>
            <a:pPr rtl="1" algn="r" marL="0" indent="0">
              <a:buNone/>
            </a:pPr>
            <a:r>
              <a:rPr sz="1200" lang="he-IL"/>
              <a:t>•  איפה בדיוק טעות התשובה הישירה?</a:t>
            </a:r>
          </a:p>
          <a:p>
            <a:pPr rtl="1" algn="r" marL="0" indent="0">
              <a:buNone/>
            </a:pPr>
            <a:r>
              <a:rPr b="1" sz="1200" lang="he-IL"/>
              <a:t>תשובה</a:t>
            </a:r>
          </a:p>
          <a:p>
            <a:pPr rtl="1" algn="r" marL="0" indent="0">
              <a:buNone/>
            </a:pPr>
            <a:r>
              <a:rPr sz="1200" lang="he-IL"/>
              <a:t>•  שכחה את ימי הביטחון, ובלי שלבים לא היינו מגלים.</a:t>
            </a:r>
          </a:p>
          <a:p>
            <a:pPr rtl="1" algn="r" marL="0" indent="0">
              <a:buNone/>
            </a:pPr>
            <a:r>
              <a:rPr b="1" sz="1200" lang="he-IL"/>
              <a:t>שימו לב</a:t>
            </a:r>
          </a:p>
          <a:p>
            <a:pPr rtl="1" algn="r" marL="0" indent="0">
              <a:buNone/>
            </a:pPr>
            <a:r>
              <a:rPr sz="1200" lang="he-IL"/>
              <a:t>•  גם שרשרת מחשבה נראית משכנעת יכולה להכיל טעות, ולכן בודקים את התוצאה.</a:t>
            </a:r>
          </a:p>
          <a:p>
            <a:pPr rtl="1" algn="r" marL="0" indent="0">
              <a:buNone/>
            </a:pPr>
            <a:r>
              <a:rPr sz="1200" lang="he-IL"/>
              <a:t>•  קישור למפגש 2: הזיות.</a:t>
            </a:r>
          </a:p>
          <a:p>
            <a:pPr rtl="1" algn="r" marL="0" indent="0">
              <a:buNone/>
            </a:pPr>
            <a:r>
              <a:rPr sz="1200" lang="he-IL"/>
              <a:t>•  מקור ודיוק: Wei ועמיתים, NeurIPS 2022: התקציר טוען שיכולת ההסקה הזו מופיעה במודלים גדולים דיה, ומדווח שמודל PaLM בן 540 מיליארד פרמטרים עם שמונה דוגמאות הגיע לתוצאה חדשה בשיא בבעיות המילים של GSM8K.</a:t>
            </a:r>
          </a:p>
          <a:p>
            <a:pPr rtl="1" algn="r" marL="0" indent="0">
              <a:buNone/>
            </a:pPr>
            <a:r>
              <a:rPr b="1" sz="1200" lang="he-IL"/>
              <a:t>חיבור לשיעורים קודמים</a:t>
            </a:r>
          </a:p>
          <a:p>
            <a:pPr rtl="1" algn="r" marL="0" indent="0">
              <a:buNone/>
            </a:pPr>
            <a:r>
              <a:rPr sz="1200" lang="he-IL"/>
              <a:t>•  המודל מייצר טוקן אחרי טוקן.</a:t>
            </a:r>
          </a:p>
          <a:p>
            <a:pPr rtl="1" algn="r" marL="0" indent="0">
              <a:buNone/>
            </a:pPr>
            <a:r>
              <a:rPr sz="1200" lang="he-IL"/>
              <a:t>•  כשהוא כותב את הצעדים במפורש, כל צעד נכנס להקשר ומשפיע על הטוקן הבא, ולכן שרשרת מחשבה יכולה לשפר חישוב.</a:t>
            </a:r>
          </a:p>
          <a:p>
            <a:pPr rtl="1" algn="r" marL="0" indent="0">
              <a:buNone/>
            </a:pPr>
            <a:r>
              <a:rPr b="1" sz="1200" lang="he-IL"/>
              <a:t>שאלת היזכרות</a:t>
            </a:r>
          </a:p>
          <a:p>
            <a:pPr rtl="1" algn="r" marL="0" indent="0">
              <a:buNone/>
            </a:pPr>
            <a:r>
              <a:rPr sz="1200" lang="he-IL"/>
              <a:t>•  איך המודל כותב תשובה?</a:t>
            </a:r>
          </a:p>
          <a:p>
            <a:pPr rtl="1" algn="r" marL="0" indent="0">
              <a:buNone/>
            </a:pPr>
            <a:r>
              <a:rPr b="1" sz="1200" lang="he-IL"/>
              <a:t>תשובה</a:t>
            </a:r>
          </a:p>
          <a:p>
            <a:pPr rtl="1" algn="r" marL="0" indent="0">
              <a:buNone/>
            </a:pPr>
            <a:r>
              <a:rPr sz="1200" lang="he-IL"/>
              <a:t>•  טוקן אחרי טוקן, לפי התפלגות הסתברות.</a:t>
            </a:r>
          </a:p>
          <a:p>
            <a:pPr rtl="1" algn="r" marL="0" indent="0">
              <a:buNone/>
            </a:pPr>
            <a:r>
              <a:rPr b="1" sz="1200" lang="he-IL"/>
              <a:t>אם הכיתה לא זוכרת</a:t>
            </a:r>
          </a:p>
          <a:p>
            <a:pPr rtl="1" algn="r" marL="0" indent="0">
              <a:buNone/>
            </a:pPr>
            <a:r>
              <a:rPr sz="1200" lang="he-IL"/>
              <a:t>•  להזכיר את מפגש 2 על ניבוי הטוקן הבא.</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קוד שמחשב, Program of Thoughts, Chen ועמיתים 2022 (ובדומה PAL של Gao ועמיתים 2022), כ-1.5 דקות.</a:t>
            </a:r>
          </a:p>
          <a:p>
            <a:pPr rtl="1" algn="r" marL="0" indent="0">
              <a:buNone/>
            </a:pPr>
            <a:r>
              <a:rPr b="1" sz="1200" lang="he-IL"/>
              <a:t>מה אומרים</a:t>
            </a:r>
          </a:p>
          <a:p>
            <a:pPr rtl="1" algn="r" marL="0" indent="0">
              <a:buNone/>
            </a:pPr>
            <a:r>
              <a:rPr sz="1200" lang="he-IL"/>
              <a:t>•  בצד ימין: חשבון בטקסט, כלומר CoT, שבו המודל ״מחשב״ שורש בראש ועלול להתבלבל בין 245, 244.9 ו-250.</a:t>
            </a:r>
          </a:p>
          <a:p>
            <a:pPr rtl="1" algn="r" marL="0" indent="0">
              <a:buNone/>
            </a:pPr>
            <a:r>
              <a:rPr sz="1200" lang="he-IL"/>
              <a:t>•  בצד שמאל: המודל כותב קוד קצר לחישוב EOQ (כמות הזמנה כלכלית: ביקוש שנתי 1200, עלות הזמנה 50, עלות החזקה 2), המחשב מריץ, והתוצאה 244.95 מדויקת.</a:t>
            </a:r>
          </a:p>
          <a:p>
            <a:pPr rtl="1" algn="r" marL="0" indent="0">
              <a:buNone/>
            </a:pPr>
            <a:r>
              <a:rPr b="1" sz="1200" lang="he-IL"/>
              <a:t>מסר מרכזי</a:t>
            </a:r>
          </a:p>
          <a:p>
            <a:pPr rtl="1" algn="r" marL="0" indent="0">
              <a:buNone/>
            </a:pPr>
            <a:r>
              <a:rPr sz="1200" lang="he-IL"/>
              <a:t>•  המודל כותב את הדרך והמחשב מחשב במדויק.</a:t>
            </a:r>
          </a:p>
          <a:p>
            <a:pPr rtl="1" algn="r" marL="0" indent="0">
              <a:buNone/>
            </a:pPr>
            <a:r>
              <a:rPr sz="1200" lang="he-IL"/>
              <a:t>•  זה בדיוק מה שסוכן הקוד שלכם עושה, ולכן סוכני קוד ״מריצים״ ואפשר לבדוק.</a:t>
            </a:r>
          </a:p>
          <a:p>
            <a:pPr rtl="1" algn="r" marL="0" indent="0">
              <a:buNone/>
            </a:pPr>
            <a:r>
              <a:rPr sz="1200" lang="he-IL"/>
              <a:t>•  הערה למרצה: בשקף PoT במצגת LLM Agents של הקורס מסומן ERROR ליד 23 כפול 47, אבל 1081 היא התוצאה הנכונה, ולכן לא העתקנו את הדוגמה הזו.</a:t>
            </a:r>
          </a:p>
          <a:p>
            <a:pPr rtl="1" algn="r" marL="0" indent="0">
              <a:buNone/>
            </a:pPr>
            <a:r>
              <a:rPr b="1" sz="1200" lang="he-IL"/>
              <a:t>מקורות</a:t>
            </a:r>
          </a:p>
          <a:p>
            <a:pPr rtl="1" algn="r" marL="0" indent="0">
              <a:buNone/>
            </a:pPr>
            <a:r>
              <a:rPr sz="1200" lang="he-IL"/>
              <a:t>•  Chen, Ma, Wang, Cohen, Program of Thoughts Prompting, TMLR 2023 (שיפור ממוצע של כ-12% על CoT במשימות מספריות).</a:t>
            </a:r>
          </a:p>
          <a:p>
            <a:pPr rtl="1" algn="r" marL="0" indent="0">
              <a:buNone/>
            </a:pPr>
            <a:r>
              <a:rPr b="1" sz="1200" lang="he-IL"/>
              <a:t>שאלה לכיתה</a:t>
            </a:r>
          </a:p>
          <a:p>
            <a:pPr rtl="1" algn="r" marL="0" indent="0">
              <a:buNone/>
            </a:pPr>
            <a:r>
              <a:rPr sz="1200" lang="he-IL"/>
              <a:t>•  מתי עדיף קוד על חשבון בטקסט?</a:t>
            </a:r>
          </a:p>
          <a:p>
            <a:pPr rtl="1" algn="r" marL="0" indent="0">
              <a:buNone/>
            </a:pPr>
            <a:r>
              <a:rPr b="1" sz="1200" lang="he-IL"/>
              <a:t>תשובה</a:t>
            </a:r>
          </a:p>
          <a:p>
            <a:pPr rtl="1" algn="r" marL="0" indent="0">
              <a:buNone/>
            </a:pPr>
            <a:r>
              <a:rPr sz="1200" lang="he-IL"/>
              <a:t>•  חישוב מדויק, חזרתי או על הרבה נתונים.</a:t>
            </a:r>
          </a:p>
          <a:p>
            <a:pPr rtl="1" algn="r" marL="0" indent="0">
              <a:buNone/>
            </a:pPr>
            <a:r>
              <a:rPr b="1" sz="1200" lang="he-IL"/>
              <a:t>שימו לב</a:t>
            </a:r>
          </a:p>
          <a:p>
            <a:pPr rtl="1" algn="r" marL="0" indent="0">
              <a:buNone/>
            </a:pPr>
            <a:r>
              <a:rPr sz="1200" lang="he-IL"/>
              <a:t>•  גם קוד יכול להכיל באג, ולכן מריצים ובודקים.</a:t>
            </a:r>
          </a:p>
          <a:p>
            <a:pPr rtl="1" algn="r" marL="0" indent="0">
              <a:buNone/>
            </a:pPr>
            <a:r>
              <a:rPr sz="1200" lang="he-IL"/>
              <a:t>•  קישור למפגש 8: בדיקות.</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אופציונלי, אפשר לדלג בזמן קצר (כ-1 דקה אם מציגים).</a:t>
            </a:r>
          </a:p>
          <a:p>
            <a:pPr rtl="1" algn="r" marL="0" indent="0">
              <a:buNone/>
            </a:pPr>
            <a:r>
              <a:rPr b="1" sz="1200" lang="he-IL"/>
              <a:t>מה אומרים</a:t>
            </a:r>
          </a:p>
          <a:p>
            <a:pPr rtl="1" algn="r" marL="0" indent="0">
              <a:buNone/>
            </a:pPr>
            <a:r>
              <a:rPr sz="1200" lang="he-IL"/>
              <a:t>•  טבלת סיכום של שיטות חשיבה לסוכנים: CoT (להסביר צעד אחר צעד), Self-Consistency (Wang ועמיתים 2022: כמה ניסיונות והצבעה), ReAct (Yao ועמיתים 2023: חשיבה ופעולה לסירוגין, מודגש כי זו הלולאה שראינו), Plan-and-Solve (Wang ועמיתים 2023: תוכנית מלאה ואז ביצוע), Tree of Thoughts (Yao ועמיתים 2023: בדיקת כמה מסלולים וחזרה אחורה), Reflexion (Shinn ועמיתים 2023: ביקורת עצמית אחרי כשלון).</a:t>
            </a:r>
          </a:p>
          <a:p>
            <a:pPr rtl="1" algn="r" marL="0" indent="0">
              <a:buNone/>
            </a:pPr>
            <a:r>
              <a:rPr sz="1200" lang="he-IL"/>
              <a:t>•  עמודת העלות היא הערכה איכותית ולא מדידה.</a:t>
            </a:r>
          </a:p>
          <a:p>
            <a:pPr rtl="1" algn="r" marL="0" indent="0">
              <a:buNone/>
            </a:pPr>
            <a:r>
              <a:rPr sz="1200" lang="he-IL"/>
              <a:t>•  אין צורך לשנן את הטבלה: החשוב להבין שיש מגוון שיטות, שחלקן יקרות יותר, ושרוב הכלים משלבים אותן.</a:t>
            </a:r>
          </a:p>
          <a:p>
            <a:pPr rtl="1" algn="r" marL="0" indent="0">
              <a:buNone/>
            </a:pPr>
            <a:r>
              <a:rPr b="1" sz="1200" lang="he-IL"/>
              <a:t>אנלוגיה</a:t>
            </a:r>
          </a:p>
          <a:p>
            <a:pPr rtl="1" algn="r" marL="0" indent="0">
              <a:buNone/>
            </a:pPr>
            <a:r>
              <a:rPr sz="1200" lang="he-IL"/>
              <a:t>•  כמו שיטות לקבלת החלטה במפעל: החלטה מהירה, ועדה, תכנון מראש, סימולציה, וביקורת בדיעבד.</a:t>
            </a:r>
          </a:p>
          <a:p>
            <a:pPr rtl="1" algn="r" marL="0" indent="0">
              <a:buNone/>
            </a:pPr>
            <a:r>
              <a:rPr b="1" sz="1200" lang="he-IL"/>
              <a:t>שאלה לכיתה</a:t>
            </a:r>
          </a:p>
          <a:p>
            <a:pPr rtl="1" algn="r" marL="0" indent="0">
              <a:buNone/>
            </a:pPr>
            <a:r>
              <a:rPr sz="1200" lang="he-IL"/>
              <a:t>•  איזו שיטה תבחרו לשאלה פשוטה שדורשת חשבון?</a:t>
            </a:r>
          </a:p>
          <a:p>
            <a:pPr rtl="1" algn="r" marL="0" indent="0">
              <a:buNone/>
            </a:pPr>
            <a:r>
              <a:rPr b="1" sz="1200" lang="he-IL"/>
              <a:t>תשובה</a:t>
            </a:r>
          </a:p>
          <a:p>
            <a:pPr rtl="1" algn="r" marL="0" indent="0">
              <a:buNone/>
            </a:pPr>
            <a:r>
              <a:rPr sz="1200" lang="he-IL"/>
              <a:t>•  CoT או קוד.</a:t>
            </a:r>
          </a:p>
          <a:p>
            <a:pPr rtl="1" algn="r" marL="0" indent="0">
              <a:buNone/>
            </a:pPr>
            <a:r>
              <a:rPr sz="1200" lang="he-IL"/>
              <a:t>•  ולמשימה ארוכה עם הרבה כלים?</a:t>
            </a:r>
          </a:p>
          <a:p>
            <a:pPr rtl="1" algn="r" marL="0" indent="0">
              <a:buNone/>
            </a:pPr>
            <a:r>
              <a:rPr sz="1200" lang="he-IL"/>
              <a:t>•  ReAct או Plan-and-Solve.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ארבעה סוגי זיכרון של סוכן (כ-1 דקה).</a:t>
            </a:r>
          </a:p>
          <a:p>
            <a:pPr rtl="1" algn="r" marL="0" indent="0">
              <a:buNone/>
            </a:pPr>
            <a:r>
              <a:rPr b="1" sz="1200" lang="he-IL"/>
              <a:t>מה אומרים</a:t>
            </a:r>
          </a:p>
          <a:p>
            <a:pPr rtl="1" algn="r" marL="0" indent="0">
              <a:buNone/>
            </a:pPr>
            <a:r>
              <a:rPr sz="1200" lang="he-IL"/>
              <a:t>•  חלון ההקשר: מה שנמצא בשיחה עכשיו, מוגבל ומתנדף (מפגש 2).</a:t>
            </a:r>
          </a:p>
          <a:p>
            <a:pPr rtl="1" algn="r" marL="0" indent="0">
              <a:buNone/>
            </a:pPr>
            <a:r>
              <a:rPr sz="1200" lang="he-IL"/>
              <a:t>•  היסטוריית שיחה: הודעות אחרונות, ואפשר לסכם ישנות.</a:t>
            </a:r>
          </a:p>
          <a:p>
            <a:pPr rtl="1" algn="r" marL="0" indent="0">
              <a:buNone/>
            </a:pPr>
            <a:r>
              <a:rPr sz="1200" lang="he-IL"/>
              <a:t>•  מאגר וקטורי: חיפוש לפי משמעות בין מסמכים באמצעות embeddings, לטווח ארוך.</a:t>
            </a:r>
          </a:p>
          <a:p>
            <a:pPr rtl="1" algn="r" marL="0" indent="0">
              <a:buNone/>
            </a:pPr>
            <a:r>
              <a:rPr sz="1200" lang="he-IL"/>
              <a:t>•  מסד נתונים: עובדות מדויקות כמו SQL או מפתח וערך.</a:t>
            </a:r>
          </a:p>
          <a:p>
            <a:pPr rtl="1" algn="r" marL="0" indent="0">
              <a:buNone/>
            </a:pPr>
            <a:r>
              <a:rPr sz="1200" lang="he-IL"/>
              <a:t>•  בפרויקט: מתחילים בחלון ההקשר ובקובץ הנחיות (מפגש 4), ורק אם צריך מוסיפים מסד נתונים או מאגר וקטורי.</a:t>
            </a:r>
          </a:p>
          <a:p>
            <a:pPr rtl="1" algn="r" marL="0" indent="0">
              <a:buNone/>
            </a:pPr>
            <a:r>
              <a:rPr b="1" sz="1200" lang="he-IL"/>
              <a:t>להעמקה</a:t>
            </a:r>
          </a:p>
          <a:p>
            <a:pPr rtl="1" algn="r" marL="0" indent="0">
              <a:buNone/>
            </a:pPr>
            <a:r>
              <a:rPr sz="1200" lang="he-IL"/>
              <a:t>•  MemGPT (Packer ועמיתים 2023) מציע לנהל זיכרון בשכבות ולהעביר מידע בין חלון ההקשר לאחסון חיצוני, בדומה לזיכרון וירטואלי במחשב.</a:t>
            </a:r>
          </a:p>
          <a:p>
            <a:pPr rtl="1" algn="r" marL="0" indent="0">
              <a:buNone/>
            </a:pPr>
            <a:r>
              <a:rPr b="1" sz="1200" lang="he-IL"/>
              <a:t>אנלוגיה</a:t>
            </a:r>
          </a:p>
          <a:p>
            <a:pPr rtl="1" algn="r" marL="0" indent="0">
              <a:buNone/>
            </a:pPr>
            <a:r>
              <a:rPr sz="1200" lang="he-IL"/>
              <a:t>•  חלון ההקשר הוא שולחן העבודה, ההיסטוריה היא ערימת הניירות עליו, המאגר הוקטורי הוא ארכיון עם אינדקס, ומסד הנתונים הוא מערכת ה-ERP.</a:t>
            </a:r>
          </a:p>
          <a:p>
            <a:pPr rtl="1" algn="r" marL="0" indent="0">
              <a:buNone/>
            </a:pPr>
            <a:r>
              <a:rPr b="1" sz="1200" lang="he-IL"/>
              <a:t>שאלה לכיתה</a:t>
            </a:r>
          </a:p>
          <a:p>
            <a:pPr rtl="1" algn="r" marL="0" indent="0">
              <a:buNone/>
            </a:pPr>
            <a:r>
              <a:rPr sz="1200" lang="he-IL"/>
              <a:t>•  איפה תשמרו את מחירי הספקים העדכניים?</a:t>
            </a:r>
          </a:p>
          <a:p>
            <a:pPr rtl="1" algn="r" marL="0" indent="0">
              <a:buNone/>
            </a:pPr>
            <a:r>
              <a:rPr b="1" sz="1200" lang="he-IL"/>
              <a:t>תשובה</a:t>
            </a:r>
          </a:p>
          <a:p>
            <a:pPr rtl="1" algn="r" marL="0" indent="0">
              <a:buNone/>
            </a:pPr>
            <a:r>
              <a:rPr sz="1200" lang="he-IL"/>
              <a:t>•  במסד נתונים, כי נדרש דיוק, ולא בזיכרון של השיחה.</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RAG, Retrieval-Augmented Generation, Lewis ועמיתים 2020 (כ-1 דקה).</a:t>
            </a:r>
          </a:p>
          <a:p>
            <a:pPr rtl="1" algn="r" marL="0" indent="0">
              <a:buNone/>
            </a:pPr>
            <a:r>
              <a:rPr b="1" sz="1200" lang="he-IL"/>
              <a:t>מה אומרים</a:t>
            </a:r>
          </a:p>
          <a:p>
            <a:pPr rtl="1" algn="r" marL="0" indent="0">
              <a:buNone/>
            </a:pPr>
            <a:r>
              <a:rPr sz="1200" lang="he-IL"/>
              <a:t>•  המודל לא מכיר את המסמכים של הארגון.</a:t>
            </a:r>
          </a:p>
          <a:p>
            <a:pPr rtl="1" algn="r" marL="0" indent="0">
              <a:buNone/>
            </a:pPr>
            <a:r>
              <a:rPr sz="1200" lang="he-IL"/>
              <a:t>•  שלושה שלבים: אינדוקס (מחלקים מסמכים לקטעים, chunks, וממירים ל-embeddings), אחזור (מחפשים את הקטעים הקרובים לשאלה), ויצירה (מוסיפים אותם לבקשה והמודל עונה, עם מקור).</a:t>
            </a:r>
          </a:p>
          <a:p>
            <a:pPr rtl="1" algn="r" marL="0" indent="0">
              <a:buNone/>
            </a:pPr>
            <a:r>
              <a:rPr sz="1200" lang="he-IL"/>
              <a:t>•  הדוגמה בשקף: ״מה זמן האספקה לפי החוזה עם ספק C?״.</a:t>
            </a:r>
          </a:p>
          <a:p>
            <a:pPr rtl="1" algn="r" marL="0" indent="0">
              <a:buNone/>
            </a:pPr>
            <a:r>
              <a:rPr sz="1200" lang="he-IL"/>
              <a:t>•  המודל לא יודע, האחזור מביא את סעיף 4 מהחוזה, והתשובה נשענת עליו.</a:t>
            </a:r>
          </a:p>
          <a:p>
            <a:pPr rtl="1" algn="r" marL="0" indent="0">
              <a:buNone/>
            </a:pPr>
            <a:r>
              <a:rPr sz="1200" lang="he-IL"/>
              <a:t>•  מדד חשוב: האם התשובה נשענת על המקור (faithfulness), ולא על המצאה.</a:t>
            </a:r>
          </a:p>
          <a:p>
            <a:pPr rtl="1" algn="r" marL="0" indent="0">
              <a:buNone/>
            </a:pPr>
            <a:r>
              <a:rPr sz="1200" lang="he-IL"/>
              <a:t>•  קישור למפגש 2: RAG מפחית הזיות, אך אינו מבטל אותן.</a:t>
            </a:r>
          </a:p>
          <a:p>
            <a:pPr rtl="1" algn="r" marL="0" indent="0">
              <a:buNone/>
            </a:pPr>
            <a:r>
              <a:rPr b="1" sz="1200" lang="he-IL"/>
              <a:t>אנלוגיה</a:t>
            </a:r>
          </a:p>
          <a:p>
            <a:pPr rtl="1" algn="r" marL="0" indent="0">
              <a:buNone/>
            </a:pPr>
            <a:r>
              <a:rPr sz="1200" lang="he-IL"/>
              <a:t>•  כמו עובד רכש שלפני שהוא עונה פותח את החוזה ומצטט ממנו.</a:t>
            </a:r>
          </a:p>
          <a:p>
            <a:pPr rtl="1" algn="r" marL="0" indent="0">
              <a:buNone/>
            </a:pPr>
            <a:r>
              <a:rPr b="1" sz="1200" lang="he-IL"/>
              <a:t>שאלה לכיתה</a:t>
            </a:r>
          </a:p>
          <a:p>
            <a:pPr rtl="1" algn="r" marL="0" indent="0">
              <a:buNone/>
            </a:pPr>
            <a:r>
              <a:rPr sz="1200" lang="he-IL"/>
              <a:t>•  מה יקרה אם האחזור מביא סעיף לא נכון?</a:t>
            </a:r>
          </a:p>
          <a:p>
            <a:pPr rtl="1" algn="r" marL="0" indent="0">
              <a:buNone/>
            </a:pPr>
            <a:r>
              <a:rPr b="1" sz="1200" lang="he-IL"/>
              <a:t>תשובה</a:t>
            </a:r>
          </a:p>
          <a:p>
            <a:pPr rtl="1" algn="r" marL="0" indent="0">
              <a:buNone/>
            </a:pPr>
            <a:r>
              <a:rPr sz="1200" lang="he-IL"/>
              <a:t>•  התשובה תהיה שגויה אף שנראית מבוססת, ולכן בודקים את המקור.</a:t>
            </a:r>
          </a:p>
          <a:p>
            <a:pPr rtl="1" algn="r" marL="0" indent="0">
              <a:buNone/>
            </a:pPr>
            <a:r>
              <a:rPr sz="1200" lang="he-IL"/>
              <a:t>•  רלוונטי לפרויקט אם הסוכן עונה לפי מסמכים.</a:t>
            </a:r>
          </a:p>
          <a:p>
            <a:pPr rtl="1" algn="r" marL="0" indent="0">
              <a:buNone/>
            </a:pPr>
            <a:r>
              <a:rPr b="1" sz="1200" lang="he-IL"/>
              <a:t>חיבור לשיעורים קודמים</a:t>
            </a:r>
          </a:p>
          <a:p>
            <a:pPr rtl="1" algn="r" marL="0" indent="0">
              <a:buNone/>
            </a:pPr>
            <a:r>
              <a:rPr sz="1200" lang="he-IL"/>
              <a:t>•  אחזור מבוסס על embeddings.</a:t>
            </a:r>
          </a:p>
          <a:p>
            <a:pPr rtl="1" algn="r" marL="0" indent="0">
              <a:buNone/>
            </a:pPr>
            <a:r>
              <a:rPr sz="1200" lang="he-IL"/>
              <a:t>•  במפגש 2 ראינו שקרבה במרחב היא קרבה במשמעות, ושמודדים אותה בדמיון קוסינוס.</a:t>
            </a:r>
          </a:p>
          <a:p>
            <a:pPr rtl="1" algn="r" marL="0" indent="0">
              <a:buNone/>
            </a:pPr>
            <a:r>
              <a:rPr sz="1200" lang="he-IL"/>
              <a:t>•  כאן אותו מדד בוחר איזה קטעי מסמך יוכנסו לחלון ההקשר.</a:t>
            </a:r>
          </a:p>
          <a:p>
            <a:pPr rtl="1" algn="r" marL="0" indent="0">
              <a:buNone/>
            </a:pPr>
            <a:r>
              <a:rPr b="1" sz="1200" lang="he-IL"/>
              <a:t>שאלת היזכרות</a:t>
            </a:r>
          </a:p>
          <a:p>
            <a:pPr rtl="1" algn="r" marL="0" indent="0">
              <a:buNone/>
            </a:pPr>
            <a:r>
              <a:rPr sz="1200" lang="he-IL"/>
              <a:t>•  מה מודד דמיון קוסינוס?</a:t>
            </a:r>
          </a:p>
          <a:p>
            <a:pPr rtl="1" algn="r" marL="0" indent="0">
              <a:buNone/>
            </a:pPr>
            <a:r>
              <a:rPr b="1" sz="1200" lang="he-IL"/>
              <a:t>תשובה</a:t>
            </a:r>
          </a:p>
          <a:p>
            <a:pPr rtl="1" algn="r" marL="0" indent="0">
              <a:buNone/>
            </a:pPr>
            <a:r>
              <a:rPr sz="1200" lang="he-IL"/>
              <a:t>•  כמה שני וקטורים (embeddings) מצביעים לאותו כיוון, כלומר כמה הם קרובים במשמעות.</a:t>
            </a:r>
          </a:p>
          <a:p>
            <a:pPr rtl="1" algn="r" marL="0" indent="0">
              <a:buNone/>
            </a:pPr>
            <a:r>
              <a:rPr b="1" sz="1200" lang="he-IL"/>
              <a:t>אם הכיתה לא זוכרת</a:t>
            </a:r>
          </a:p>
          <a:p>
            <a:pPr rtl="1" algn="r" marL="0" indent="0">
              <a:buNone/>
            </a:pPr>
            <a:r>
              <a:rPr sz="1200" lang="he-IL"/>
              <a:t>•  ״זווית קטנה בין וקטורים היא דמיון גדול״.</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אופציונלי, כ-30 שניות, אפשר לדלג.</a:t>
            </a:r>
          </a:p>
          <a:p>
            <a:pPr rtl="1" algn="r" marL="0" indent="0">
              <a:buNone/>
            </a:pPr>
            <a:r>
              <a:rPr b="1" sz="1200" lang="he-IL"/>
              <a:t>מה אומרים</a:t>
            </a:r>
          </a:p>
          <a:p>
            <a:pPr rtl="1" algn="r" marL="0" indent="0">
              <a:buNone/>
            </a:pPr>
            <a:r>
              <a:rPr sz="1200" lang="he-IL"/>
              <a:t>•  הוא מראה שלתכנות אג׳נטי יש בסיס מחקרי.</a:t>
            </a:r>
          </a:p>
          <a:p>
            <a:pPr rtl="1" algn="r" marL="0" indent="0">
              <a:buNone/>
            </a:pPr>
            <a:r>
              <a:rPr sz="1200" lang="he-IL"/>
              <a:t>•  ReAct (Yao ועמיתים, פורסם כ-preprint ב-2022 והתקבל ל-ICLR 2023): מודל שמשלב חשיבה ופעולה ומשתמש בתוצאות כדי להמשיך.</a:t>
            </a:r>
          </a:p>
          <a:p>
            <a:pPr rtl="1" algn="r" marL="0" indent="0">
              <a:buNone/>
            </a:pPr>
            <a:r>
              <a:rPr sz="1200" lang="he-IL"/>
              <a:t>•  Toolformer (Schick ועמיתים, 2023): מודל שלומד בעצמו מתי ואיך לקרוא לכלים חיצוניים.</a:t>
            </a:r>
          </a:p>
          <a:p>
            <a:pPr rtl="1" algn="r" marL="0" indent="0">
              <a:buNone/>
            </a:pPr>
            <a:r>
              <a:rPr sz="1200" lang="he-IL"/>
              <a:t>•  הכרטיס השלישי: רעיונות כאלה עומדים בבסיס חלק מסוכני התכנות הקיימים בשוק.</a:t>
            </a:r>
          </a:p>
          <a:p>
            <a:pPr rtl="1" algn="r" marL="0" indent="0">
              <a:buNone/>
            </a:pPr>
            <a:r>
              <a:rPr sz="1200" lang="he-IL"/>
              <a:t>•  אל תטענו כאן כיצד כלי מסחרי מסוים בנוי בפועל, כי אין לנו מידע על כך.</a:t>
            </a:r>
          </a:p>
          <a:p>
            <a:pPr rtl="1" algn="r" marL="0" indent="0">
              <a:buNone/>
            </a:pPr>
            <a:r>
              <a:rPr b="1" sz="1200" lang="he-IL"/>
              <a:t>אנלוגיה</a:t>
            </a:r>
          </a:p>
          <a:p>
            <a:pPr rtl="1" algn="r" marL="0" indent="0">
              <a:buNone/>
            </a:pPr>
            <a:r>
              <a:rPr sz="1200" lang="he-IL"/>
              <a:t>•  כמו שקיבלנו מתודולוגיית Lean ממחקר ולא מהמצאה של חברה אחת, גם הסוכנים נשענים על מחקר פתוח.</a:t>
            </a:r>
          </a:p>
          <a:p>
            <a:pPr rtl="1" algn="r" marL="0" indent="0">
              <a:buNone/>
            </a:pPr>
            <a:r>
              <a:rPr b="1" sz="1200" lang="he-IL"/>
              <a:t>חיבור לשיעורים קודמים</a:t>
            </a:r>
          </a:p>
          <a:p>
            <a:pPr rtl="1" algn="r" marL="0" indent="0">
              <a:buNone/>
            </a:pPr>
            <a:r>
              <a:rPr sz="1200" lang="he-IL"/>
              <a:t>•  המקורות המלאים בשקף ״מקורות להעמקה״, גם הוא אופציונלי.</a:t>
            </a:r>
          </a:p>
          <a:p>
            <a:pPr rtl="1" algn="r" marL="0" indent="0">
              <a:buNone/>
            </a:pPr>
            <a:r>
              <a:rPr sz="1200" lang="he-IL"/>
              <a:t>•  אין צורך שהסטודנטים ישננו שמות או שנים.</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אופציונלי, להיכרות בלבד ואפשר לדלג בזמן קצר (כ-30 שניות).</a:t>
            </a:r>
          </a:p>
          <a:p>
            <a:pPr rtl="1" algn="r" marL="0" indent="0">
              <a:buNone/>
            </a:pPr>
            <a:r>
              <a:rPr b="1" sz="1200" lang="he-IL"/>
              <a:t>מה אומרים</a:t>
            </a:r>
          </a:p>
          <a:p>
            <a:pPr rtl="1" algn="r" marL="0" indent="0">
              <a:buNone/>
            </a:pPr>
            <a:r>
              <a:rPr sz="1200" lang="he-IL"/>
              <a:t>•  כשהמשימה גדולה, מחלקים בין סוכנים מתמחים, כדי לא למלא את חלון ההקשר של סוכן אחד.</a:t>
            </a:r>
          </a:p>
          <a:p>
            <a:pPr rtl="1" algn="r" marL="0" indent="0">
              <a:buNone/>
            </a:pPr>
            <a:r>
              <a:rPr sz="1200" lang="he-IL"/>
              <a:t>•  בשקף: סוכן מתכנן בראש, ומתחתיו סוכן איסוף נתונים, סוכן חישוב וסוכן בקרה.</a:t>
            </a:r>
          </a:p>
          <a:p>
            <a:pPr rtl="1" algn="r" marL="0" indent="0">
              <a:buNone/>
            </a:pPr>
            <a:r>
              <a:rPr sz="1200" lang="he-IL"/>
              <a:t>•  המסגרות (LangChain, LangGraph, AutoGen, CrewAI) הן כלים לבנות זאת.</a:t>
            </a:r>
          </a:p>
          <a:p>
            <a:pPr rtl="1" algn="r" marL="0" indent="0">
              <a:buNone/>
            </a:pPr>
            <a:r>
              <a:rPr sz="1200" lang="he-IL"/>
              <a:t>•  אין חובה להשתמש בהן בפרויקט, וגם אפשר לבנות בלי מסגרת.</a:t>
            </a:r>
          </a:p>
          <a:p>
            <a:pPr rtl="1" algn="r" marL="0" indent="0">
              <a:buNone/>
            </a:pPr>
            <a:r>
              <a:rPr sz="1200" lang="he-IL"/>
              <a:t>•  יש לאמת לפני השיעור שהשמות והכלים עדיין פעילים, כי התחום משתנה במהירות.</a:t>
            </a:r>
          </a:p>
          <a:p>
            <a:pPr rtl="1" algn="r" marL="0" indent="0">
              <a:buNone/>
            </a:pPr>
            <a:r>
              <a:rPr b="1" sz="1200" lang="he-IL"/>
              <a:t>אנלוגיה</a:t>
            </a:r>
          </a:p>
          <a:p>
            <a:pPr rtl="1" algn="r" marL="0" indent="0">
              <a:buNone/>
            </a:pPr>
            <a:r>
              <a:rPr sz="1200" lang="he-IL"/>
              <a:t>•  מחלקה בארגון עם מנהל ועובדים מתמחים: איסוף נתונים, חישוב, ובקרת איכות.</a:t>
            </a:r>
          </a:p>
          <a:p>
            <a:pPr rtl="1" algn="r" marL="0" indent="0">
              <a:buNone/>
            </a:pPr>
            <a:r>
              <a:rPr sz="1200" lang="he-IL"/>
              <a:t>•  נקודה חשובה: יותר סוכנים פירושו יותר עלות, יותר נקודות כשל ויותר קושי לבדוק.</a:t>
            </a:r>
          </a:p>
          <a:p>
            <a:pPr rtl="1" algn="r" marL="0" indent="0">
              <a:buNone/>
            </a:pPr>
            <a:r>
              <a:rPr sz="1200" lang="he-IL"/>
              <a:t>•  סוכן בקרה נפרד הוא רעיון טוב אבל לא פותר הכל.</a:t>
            </a:r>
          </a:p>
          <a:p>
            <a:pPr rtl="1" algn="r" marL="0" indent="0">
              <a:buNone/>
            </a:pPr>
            <a:r>
              <a:rPr b="1" sz="1200" lang="he-IL"/>
              <a:t>שאלה לכיתה</a:t>
            </a:r>
          </a:p>
          <a:p>
            <a:pPr rtl="1" algn="r" marL="0" indent="0">
              <a:buNone/>
            </a:pPr>
            <a:r>
              <a:rPr sz="1200" lang="he-IL"/>
              <a:t>•  איזו משימה בפרויקט שלכם דורשת יותר מסוכן אחד?</a:t>
            </a:r>
          </a:p>
          <a:p>
            <a:pPr rtl="1" algn="r" marL="0" indent="0">
              <a:buNone/>
            </a:pPr>
            <a:r>
              <a:rPr b="1" sz="1200" lang="he-IL"/>
              <a:t>תשובה</a:t>
            </a:r>
          </a:p>
          <a:p>
            <a:pPr rtl="1" algn="r" marL="0" indent="0">
              <a:buNone/>
            </a:pPr>
            <a:r>
              <a:rPr sz="1200" lang="he-IL"/>
              <a:t>•  בדרך כלל אף אחת בהתחלה, מתחילים בסוכן אחד.</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כ-2 דקות, זה אחד השקפים החשובים בחלק א׳.</a:t>
            </a:r>
          </a:p>
          <a:p>
            <a:pPr rtl="1" algn="r" marL="0" indent="0">
              <a:buNone/>
            </a:pPr>
            <a:r>
              <a:rPr b="1" sz="1200" lang="he-IL"/>
              <a:t>מה אומרים</a:t>
            </a:r>
          </a:p>
          <a:p>
            <a:pPr rtl="1" algn="r" marL="0" indent="0">
              <a:buNone/>
            </a:pPr>
            <a:r>
              <a:rPr sz="1200" lang="he-IL"/>
              <a:t>•  הטבלה מסדרת ארבע רמות אוטונומיה (שמות הרמות הם של הקורס; בכלים שונים השמות וההגדרות שונים, ויש לאמת את שמות ההגדרות בכלי שבו משתמשים לפני השיעור).</a:t>
            </a:r>
          </a:p>
          <a:p>
            <a:pPr rtl="1" algn="r" marL="0" indent="0">
              <a:buNone/>
            </a:pPr>
            <a:r>
              <a:rPr sz="1200" lang="he-IL"/>
              <a:t>•  רמה 1: הסוכן רק מציע, אתם מעתיקים ומריצים.</a:t>
            </a:r>
          </a:p>
          <a:p>
            <a:pPr rtl="1" algn="r" marL="0" indent="0">
              <a:buNone/>
            </a:pPr>
            <a:r>
              <a:rPr sz="1200" lang="he-IL"/>
              <a:t>•  רמה 2: הוא שואל לפני כל קובץ וכל פקודה, וזו ברירת המחדל להתחלה.</a:t>
            </a:r>
          </a:p>
          <a:p>
            <a:pPr rtl="1" algn="r" marL="0" indent="0">
              <a:buNone/>
            </a:pPr>
            <a:r>
              <a:rPr sz="1200" lang="he-IL"/>
              <a:t>•  רמה 3: עריכות אוטומטיות, ורק פקודות דורשות אישור.</a:t>
            </a:r>
          </a:p>
          <a:p>
            <a:pPr rtl="1" algn="r" marL="0" indent="0">
              <a:buNone/>
            </a:pPr>
            <a:r>
              <a:rPr sz="1200" lang="he-IL"/>
              <a:t>•  רמה 4: אוטונומיה מלאה, בלי אישור, ומתאימה לניסוי בסביבה מבודדת בלבד.</a:t>
            </a:r>
          </a:p>
          <a:p>
            <a:pPr rtl="1" algn="r" marL="0" indent="0">
              <a:buNone/>
            </a:pPr>
            <a:r>
              <a:rPr sz="1200" lang="he-IL"/>
              <a:t>•  העמודה האחרונה (סיכון) צבועה מירוק לאדום: ככל שעולה האוטונומיה, עולה הסיכון, ולכן הגיבוי (Git) והבדיקות חשובים יותר.</a:t>
            </a:r>
          </a:p>
          <a:p>
            <a:pPr rtl="1" algn="r" marL="0" indent="0">
              <a:buNone/>
            </a:pPr>
            <a:r>
              <a:rPr b="1" sz="1200" lang="he-IL"/>
              <a:t>אנלוגיה</a:t>
            </a:r>
          </a:p>
          <a:p>
            <a:pPr rtl="1" algn="r" marL="0" indent="0">
              <a:buNone/>
            </a:pPr>
            <a:r>
              <a:rPr sz="1200" lang="he-IL"/>
              <a:t>•  כמו הרשאות עובד חדש במפעל: בהתחלה ליווי צמוד, אחר כך עבודה עצמאית בתחום מוגדר, ורק עובד ותיק נכנס לאזורים רגישים בלי ליווי.</a:t>
            </a:r>
          </a:p>
          <a:p>
            <a:pPr rtl="1" algn="r" marL="0" indent="0">
              <a:buNone/>
            </a:pPr>
            <a:r>
              <a:rPr b="1" sz="1200" lang="he-IL"/>
              <a:t>שאלה לכיתה</a:t>
            </a:r>
          </a:p>
          <a:p>
            <a:pPr rtl="1" algn="r" marL="0" indent="0">
              <a:buNone/>
            </a:pPr>
            <a:r>
              <a:rPr sz="1200" lang="he-IL"/>
              <a:t>•  איזו רמה תבחרו לסוכן שנוגע בנתוני לקוחות אמיתיים?</a:t>
            </a:r>
          </a:p>
          <a:p>
            <a:pPr rtl="1" algn="r" marL="0" indent="0">
              <a:buNone/>
            </a:pPr>
            <a:r>
              <a:rPr b="1" sz="1200" lang="he-IL"/>
              <a:t>תשובה</a:t>
            </a:r>
          </a:p>
          <a:p>
            <a:pPr rtl="1" algn="r" marL="0" indent="0">
              <a:buNone/>
            </a:pPr>
            <a:r>
              <a:rPr sz="1200" lang="he-IL"/>
              <a:t>•  1 או 2, וקישור למפגש 10 (אבטחה ופרטיות).</a:t>
            </a:r>
          </a:p>
          <a:p>
            <a:pPr rtl="1" algn="r" marL="0" indent="0">
              <a:buNone/>
            </a:pPr>
            <a:r>
              <a:rPr sz="1200" lang="he-IL"/>
              <a:t>•  הרחבה אקדמית אופציונלית (שקף העשרה בהמשך): רמות אוטונומיה בנהיגה (SAE J3016) ובמאמר של Feng ועמיתים (2025) מוגדרות לפי תפקיד האדם, וכך גם כאן: מי מאשר.</a:t>
            </a:r>
          </a:p>
          <a:p>
            <a:pPr rtl="1" algn="r" marL="0" indent="0">
              <a:buNone/>
            </a:pPr>
            <a:r>
              <a:rPr b="1" sz="1200" lang="he-IL"/>
              <a:t>חיבור לשיעורים קודמים</a:t>
            </a:r>
          </a:p>
          <a:p>
            <a:pPr rtl="1" algn="r" marL="0" indent="0">
              <a:buNone/>
            </a:pPr>
            <a:r>
              <a:rPr sz="1200" lang="he-IL"/>
              <a:t>•  סולם האוטונומיה הוצג שם כתצוגה מקדימה, עם ארבע רמות (רק מציע, שואל לפני כל פעולה, עריכות אוטומטיות, אוטונומיה מלאה), ובמעבדה ב׳ ספרתם אישורים בשלוש הרמות העליונות עם count_approvals: ask_all דרש 7, auto_edit דרש 2 ו־full_auto אפס.</a:t>
            </a:r>
          </a:p>
          <a:p>
            <a:pPr rtl="1" algn="r" marL="0" indent="0">
              <a:buNone/>
            </a:pPr>
            <a:r>
              <a:rPr sz="1200" lang="he-IL"/>
              <a:t>•  היום הסולם מקבל טבלה מלאה: מי מאשר, מתי מתאים וכמה סיכון.</a:t>
            </a:r>
          </a:p>
          <a:p>
            <a:pPr rtl="1" algn="r" marL="0" indent="0">
              <a:buNone/>
            </a:pPr>
            <a:r>
              <a:rPr b="1" sz="1200" lang="he-IL"/>
              <a:t>שאלת היזכרות</a:t>
            </a:r>
          </a:p>
          <a:p>
            <a:pPr rtl="1" algn="r" marL="0" indent="0">
              <a:buNone/>
            </a:pPr>
            <a:r>
              <a:rPr sz="1200" lang="he-IL"/>
              <a:t>•  כמה אישורים דרש ask_all בתמלול הראשון?</a:t>
            </a:r>
          </a:p>
          <a:p>
            <a:pPr rtl="1" algn="r" marL="0" indent="0">
              <a:buNone/>
            </a:pPr>
            <a:r>
              <a:rPr b="1" sz="1200" lang="he-IL"/>
              <a:t>תשובה</a:t>
            </a:r>
          </a:p>
          <a:p>
            <a:pPr rtl="1" algn="r" marL="0" indent="0">
              <a:buNone/>
            </a:pPr>
            <a:r>
              <a:rPr sz="1200" lang="he-IL"/>
              <a:t>•  7.</a:t>
            </a:r>
          </a:p>
          <a:p>
            <a:pPr rtl="1" algn="r" marL="0" indent="0">
              <a:buNone/>
            </a:pPr>
            <a:r>
              <a:rPr b="1" sz="1200" lang="he-IL"/>
              <a:t>אם הכיתה לא זוכרת</a:t>
            </a:r>
          </a:p>
          <a:p>
            <a:pPr rtl="1" algn="r" marL="0" indent="0">
              <a:buNone/>
            </a:pPr>
            <a:r>
              <a:rPr sz="1200" lang="he-IL"/>
              <a:t>•  המספר אינו העיקר, העיקר הכיוון: יותר אוטונומיה פירושה פחות אישורים ויותר סיכון.</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כ-1.5 דקות.</a:t>
            </a:r>
          </a:p>
          <a:p>
            <a:pPr rtl="1" algn="r" marL="0" indent="0">
              <a:buNone/>
            </a:pPr>
            <a:r>
              <a:rPr b="1" sz="1200" lang="he-IL"/>
              <a:t>מה אומרים</a:t>
            </a:r>
          </a:p>
          <a:p>
            <a:pPr rtl="1" algn="r" marL="0" indent="0">
              <a:buNone/>
            </a:pPr>
            <a:r>
              <a:rPr sz="1200" lang="he-IL"/>
              <a:t>•  לכל משימה שואלים שתי שאלות: האם אפשר לבטל את הפעולה (יש commit וגיבוי), והאם יש נתונים או קוד רגיש.</a:t>
            </a:r>
          </a:p>
          <a:p>
            <a:pPr rtl="1" algn="r" marL="0" indent="0">
              <a:buNone/>
            </a:pPr>
            <a:r>
              <a:rPr sz="1200" lang="he-IL"/>
              <a:t>•  ארבעת הרבעים בשקף נותנים המלצה: אפשר לבטל ולא רגיש, רמה 3.</a:t>
            </a:r>
          </a:p>
          <a:p>
            <a:pPr rtl="1" algn="r" marL="0" indent="0">
              <a:buNone/>
            </a:pPr>
            <a:r>
              <a:rPr sz="1200" lang="he-IL"/>
              <a:t>•  אפשר לבטל ורגיש, רמה 2.</a:t>
            </a:r>
          </a:p>
          <a:p>
            <a:pPr rtl="1" algn="r" marL="0" indent="0">
              <a:buNone/>
            </a:pPr>
            <a:r>
              <a:rPr sz="1200" lang="he-IL"/>
              <a:t>•  אי אפשר לבטל ולא רגיש, רמה 2.</a:t>
            </a:r>
          </a:p>
          <a:p>
            <a:pPr rtl="1" algn="r" marL="0" indent="0">
              <a:buNone/>
            </a:pPr>
            <a:r>
              <a:rPr sz="1200" lang="he-IL"/>
              <a:t>•  אי אפשר לבטל ורגיש, רמה 1 או בלי סוכן בכלל.</a:t>
            </a:r>
          </a:p>
          <a:p>
            <a:pPr rtl="1" algn="r" marL="0" indent="0">
              <a:buNone/>
            </a:pPr>
            <a:r>
              <a:rPr sz="1200" lang="he-IL"/>
              <a:t>•  הנקודה: ההחלטה נובעת מהמשימה, לא מההרגל.</a:t>
            </a:r>
          </a:p>
          <a:p>
            <a:pPr rtl="1" algn="r" marL="0" indent="0">
              <a:buNone/>
            </a:pPr>
            <a:r>
              <a:rPr sz="1200" lang="he-IL"/>
              <a:t>•  ושימו לב שהמפתח לעלייה לרמה 3 הוא היכולת לבטל, וזה מה שמלמד חלק ב׳ של המפגש.</a:t>
            </a:r>
          </a:p>
          <a:p>
            <a:pPr rtl="1" algn="r" marL="0" indent="0">
              <a:buNone/>
            </a:pPr>
            <a:r>
              <a:rPr sz="1200" lang="he-IL"/>
              <a:t>•  דוגמה מהתחום: עריכת סקריפט ניתוח על עותק של orders.csv בתוך ענף Git היא רבע ירוק.</a:t>
            </a:r>
          </a:p>
          <a:p>
            <a:pPr rtl="1" algn="r" marL="0" indent="0">
              <a:buNone/>
            </a:pPr>
            <a:r>
              <a:rPr sz="1200" lang="he-IL"/>
              <a:t>•  הרצת סוכן על תיקיית הנתונים היחידה של הארגון, בלי גיבוי, היא רבע אדום.</a:t>
            </a:r>
          </a:p>
          <a:p>
            <a:pPr rtl="1" algn="r" marL="0" indent="0">
              <a:buNone/>
            </a:pPr>
            <a:r>
              <a:rPr b="1" sz="1200" lang="he-IL"/>
              <a:t>שאלה לכיתה</a:t>
            </a:r>
          </a:p>
          <a:p>
            <a:pPr rtl="1" algn="r" marL="0" indent="0">
              <a:buNone/>
            </a:pPr>
            <a:r>
              <a:rPr sz="1200" lang="he-IL"/>
              <a:t>•  לאיזה רבע שייכת מחיקת קבצים ישנים בפרויקט שיש לו commit עדכני?</a:t>
            </a:r>
          </a:p>
          <a:p>
            <a:pPr rtl="1" algn="r" marL="0" indent="0">
              <a:buNone/>
            </a:pPr>
            <a:r>
              <a:rPr b="1" sz="1200" lang="he-IL"/>
              <a:t>תשובה</a:t>
            </a:r>
          </a:p>
          <a:p>
            <a:pPr rtl="1" algn="r" marL="0" indent="0">
              <a:buNone/>
            </a:pPr>
            <a:r>
              <a:rPr sz="1200" lang="he-IL"/>
              <a:t>•  רמה 3 אפשרית אם הקבצים לא רגישים, אבל כדאי לבדוק diff.</a:t>
            </a:r>
          </a:p>
          <a:p>
            <a:pPr rtl="1" algn="r" marL="0" indent="0">
              <a:buNone/>
            </a:pPr>
            <a:r>
              <a:rPr b="1" sz="1200" lang="he-IL"/>
              <a:t>חיבור לשיעורים קודמים</a:t>
            </a:r>
          </a:p>
          <a:p>
            <a:pPr rtl="1" algn="r" marL="0" indent="0">
              <a:buNone/>
            </a:pPr>
            <a:r>
              <a:rPr sz="1200" lang="he-IL"/>
              <a:t>•  אחד מחמשת הקריטריונים לבחירת כלי היה סיכון (עוד: גודל, הקשר, פרטיות ועלות, שליטה).</a:t>
            </a:r>
          </a:p>
          <a:p>
            <a:pPr rtl="1" algn="r" marL="0" indent="0">
              <a:buNone/>
            </a:pPr>
            <a:r>
              <a:rPr sz="1200" lang="he-IL"/>
              <a:t>•  שתי השאלות כאן הן הגרסה לסוכן: האם אפשר לבטל, ומה הסיכון.</a:t>
            </a:r>
          </a:p>
          <a:p>
            <a:pPr rtl="1" algn="r" marL="0" indent="0">
              <a:buNone/>
            </a:pPr>
            <a:r>
              <a:rPr sz="1200" lang="he-IL"/>
              <a:t>•  את היכולת לבטל נלמד בחלק ב׳ (Git).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כ-1 דקה.</a:t>
            </a:r>
          </a:p>
          <a:p>
            <a:pPr rtl="1" algn="r" marL="0" indent="0">
              <a:buNone/>
            </a:pPr>
            <a:r>
              <a:rPr b="1" sz="1200" lang="he-IL"/>
              <a:t>מה אומרים</a:t>
            </a:r>
          </a:p>
          <a:p>
            <a:pPr rtl="1" algn="r" marL="0" indent="0">
              <a:buNone/>
            </a:pPr>
            <a:r>
              <a:rPr sz="1200" lang="he-IL"/>
              <a:t>•  הטעות הנפוצה ביותר של מתחילים: להאמין להודעת הסיום של הסוכן.</a:t>
            </a:r>
          </a:p>
          <a:p>
            <a:pPr rtl="1" algn="r" marL="0" indent="0">
              <a:buNone/>
            </a:pPr>
            <a:r>
              <a:rPr sz="1200" lang="he-IL"/>
              <a:t>•  בשקף: משמאל פלט אמיתי של הרצה שנכשלה (KeyError: 'month', בדיקה אחת נכשלה), ומימין הסוכן מדווח ״סיימתי, הכל עובד״.</a:t>
            </a:r>
          </a:p>
          <a:p>
            <a:pPr rtl="1" algn="r" marL="0" indent="0">
              <a:buNone/>
            </a:pPr>
            <a:r>
              <a:rPr sz="1200" lang="he-IL"/>
              <a:t>•  סוכן, כמו כל מודל שפה, יכול להחזיק אמונה שגויה או להמציא (hallucination, ראו מפגש 2), ולדווח הצלחה בלי להריץ או בלי לקרוא את הפלט.</a:t>
            </a:r>
          </a:p>
          <a:p>
            <a:pPr rtl="1" algn="r" marL="0" indent="0">
              <a:buNone/>
            </a:pPr>
            <a:r>
              <a:rPr b="1" sz="1200" lang="he-IL"/>
              <a:t>מסר מרכזי</a:t>
            </a:r>
          </a:p>
          <a:p>
            <a:pPr rtl="1" algn="r" marL="0" indent="0">
              <a:buNone/>
            </a:pPr>
            <a:r>
              <a:rPr sz="1200" lang="he-IL"/>
              <a:t>•  מה שהסוכן אומר אינו הוכחה.</a:t>
            </a:r>
          </a:p>
          <a:p>
            <a:pPr rtl="1" algn="r" marL="0" indent="0">
              <a:buNone/>
            </a:pPr>
            <a:r>
              <a:rPr sz="1200" lang="he-IL"/>
              <a:t>•  מריצים ובודקים בעצמנו, ומשווים לתוצאה ידועה (למשל סכום ידני על חודש אחד).</a:t>
            </a:r>
          </a:p>
          <a:p>
            <a:pPr rtl="1" algn="r" marL="0" indent="0">
              <a:buNone/>
            </a:pPr>
            <a:r>
              <a:rPr b="1" sz="1200" lang="he-IL"/>
              <a:t>אנלוגיה</a:t>
            </a:r>
          </a:p>
          <a:p>
            <a:pPr rtl="1" algn="r" marL="0" indent="0">
              <a:buNone/>
            </a:pPr>
            <a:r>
              <a:rPr sz="1200" lang="he-IL"/>
              <a:t>•  כמו קבלן ששולח דוח ״בוצע״ בלי בדיקת קבלה: אתם מבצעים בדיקת קבלה לפני חתימה.</a:t>
            </a:r>
          </a:p>
          <a:p>
            <a:pPr rtl="1" algn="r" marL="0" indent="0">
              <a:buNone/>
            </a:pPr>
            <a:r>
              <a:rPr sz="1200" lang="he-IL"/>
              <a:t>•  קישור למפגש 8: בדיקות אוטומטיות וסקירת קוד הופכות את הבדיקה הזו לשיטתית.</a:t>
            </a:r>
          </a:p>
          <a:p>
            <a:pPr rtl="1" algn="r" marL="0" indent="0">
              <a:buNone/>
            </a:pPr>
            <a:r>
              <a:rPr b="1" sz="1200" lang="he-IL"/>
              <a:t>שאלה לכיתה</a:t>
            </a:r>
          </a:p>
          <a:p>
            <a:pPr rtl="1" algn="r" marL="0" indent="0">
              <a:buNone/>
            </a:pPr>
            <a:r>
              <a:rPr sz="1200" lang="he-IL"/>
              <a:t>•  איך תבדקו שהקוד באמת מחשב הכנסה חודשית נכון?</a:t>
            </a:r>
          </a:p>
          <a:p>
            <a:pPr rtl="1" algn="r" marL="0" indent="0">
              <a:buNone/>
            </a:pPr>
            <a:r>
              <a:rPr b="1" sz="1200" lang="he-IL"/>
              <a:t>תשובה</a:t>
            </a:r>
          </a:p>
          <a:p>
            <a:pPr rtl="1" algn="r" marL="0" indent="0">
              <a:buNone/>
            </a:pPr>
            <a:r>
              <a:rPr sz="1200" lang="he-IL"/>
              <a:t>•  להריץ, לבדוק מספר חודשים, ולהשוות לחישוב ידני.</a:t>
            </a:r>
          </a:p>
          <a:p>
            <a:pPr rtl="1" algn="r" marL="0" indent="0">
              <a:buNone/>
            </a:pPr>
            <a:r>
              <a:rPr sz="1200" lang="he-IL"/>
              <a:t>•  חזרה ממפגשים 1 ו־5: מפגש 1 קבע את הכלל ״סומכים אבל בודקים״ (קוראים, מבינים, בודקים).</a:t>
            </a:r>
          </a:p>
          <a:p>
            <a:pPr rtl="1" algn="r" marL="0" indent="0">
              <a:buNone/>
            </a:pPr>
            <a:r>
              <a:rPr sz="1200" lang="he-IL"/>
              <a:t>•  במפגש 5, במעבדה א׳, בניתם את validate_top5, מבחן שמשווה תוצאה לתשובה ידועה, וגילינו שגרף של ai_chat נראה תקין אף שסכם כמות במקום הכנסה.</a:t>
            </a:r>
          </a:p>
          <a:p>
            <a:pPr rtl="1" algn="r" marL="0" indent="0">
              <a:buNone/>
            </a:pPr>
            <a:r>
              <a:rPr b="1" sz="1200" lang="he-IL"/>
              <a:t>שאלת היזכרות</a:t>
            </a:r>
          </a:p>
          <a:p>
            <a:pPr rtl="1" algn="r" marL="0" indent="0">
              <a:buNone/>
            </a:pPr>
            <a:r>
              <a:rPr sz="1200" lang="he-IL"/>
              <a:t>•  מה ai_chat עשה לא נכון?</a:t>
            </a:r>
          </a:p>
          <a:p>
            <a:pPr rtl="1" algn="r" marL="0" indent="0">
              <a:buNone/>
            </a:pPr>
            <a:r>
              <a:rPr b="1" sz="1200" lang="he-IL"/>
              <a:t>תשובה</a:t>
            </a:r>
          </a:p>
          <a:p>
            <a:pPr rtl="1" algn="r" marL="0" indent="0">
              <a:buNone/>
            </a:pPr>
            <a:r>
              <a:rPr sz="1200" lang="he-IL"/>
              <a:t>•  סכם כמות במקום הכנסה.</a:t>
            </a:r>
          </a:p>
          <a:p>
            <a:pPr rtl="1" algn="r" marL="0" indent="0">
              <a:buNone/>
            </a:pPr>
            <a:r>
              <a:rPr b="1" sz="1200" lang="he-IL"/>
              <a:t>אם הכיתה לא זוכרת</a:t>
            </a:r>
          </a:p>
          <a:p>
            <a:pPr rtl="1" algn="r" marL="0" indent="0">
              <a:buNone/>
            </a:pPr>
            <a:r>
              <a:rPr sz="1200" lang="he-IL"/>
              <a:t>•  הכלל שחשוב הוא שריצה בלי שגיאה אינה הוכחה.</a:t>
            </a:r>
          </a:p>
          <a:p>
            <a:pPr rtl="1" algn="r" marL="0" indent="0">
              <a:buNone/>
            </a:pPr>
            <a:r>
              <a:rPr sz="1200" lang="he-IL"/>
              <a:t>•  אותו עיקרון חל היום על הודעת הסיום של סוכן.</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הדיון הראשון בחלק א׳ (כ-1 דקה).</a:t>
            </a:r>
          </a:p>
          <a:p>
            <a:pPr rtl="1" algn="r" marL="0" indent="0">
              <a:buNone/>
            </a:pPr>
            <a:r>
              <a:rPr b="1" sz="1200" lang="he-IL"/>
              <a:t>מה אומרים</a:t>
            </a:r>
          </a:p>
          <a:p>
            <a:pPr rtl="1" algn="r" marL="0" indent="0">
              <a:buNone/>
            </a:pPr>
            <a:r>
              <a:rPr sz="1200" lang="he-IL"/>
              <a:t>•  קראו את השאלה בקול ותנו לשני סטודנטים לענות לפני שחושפים את התשובה.</a:t>
            </a:r>
          </a:p>
          <a:p>
            <a:pPr rtl="1" algn="r" marL="0" indent="0">
              <a:buNone/>
            </a:pPr>
            <a:r>
              <a:rPr sz="1200" lang="he-IL"/>
              <a:t>•  השאלה בודקת הבנה של רמות אוטונומיה: למה לא רמה אחת קבועה?</a:t>
            </a:r>
          </a:p>
          <a:p>
            <a:pPr rtl="1" algn="r" marL="0" indent="0">
              <a:buNone/>
            </a:pPr>
            <a:r>
              <a:rPr sz="1200" lang="he-IL"/>
              <a:t>•  תשובות טובות: כי סיכון משימות שונה, וכי היכולת לבטל שונה.</a:t>
            </a:r>
          </a:p>
          <a:p>
            <a:pPr rtl="1" algn="r" marL="0" indent="0">
              <a:buNone/>
            </a:pPr>
            <a:r>
              <a:rPr sz="1200" lang="he-IL"/>
              <a:t>•  רמז: חשבו על מחיקת קובץ מול כתיבת הערה.</a:t>
            </a:r>
          </a:p>
          <a:p>
            <a:pPr rtl="1" algn="r" marL="0" indent="0">
              <a:buNone/>
            </a:pPr>
            <a:r>
              <a:rPr b="1" sz="1200" lang="he-IL"/>
              <a:t>אנלוגיה</a:t>
            </a:r>
          </a:p>
          <a:p>
            <a:pPr rtl="1" algn="r" marL="0" indent="0">
              <a:buNone/>
            </a:pPr>
            <a:r>
              <a:rPr sz="1200" lang="he-IL"/>
              <a:t>•  כמו אישורי חתימה בארגון, שבהם הוצאה קטנה לא דורשת מנכ״ל, וסכום גדול כן.</a:t>
            </a:r>
          </a:p>
          <a:p>
            <a:pPr rtl="1" algn="r" marL="0" indent="0">
              <a:buNone/>
            </a:pPr>
            <a:r>
              <a:rPr sz="1200" lang="he-IL"/>
              <a:t>•  אם הכיתה מתקשה, חזרו לשקף ״איך בוחרים רמה״ ושאלו על שתי השאלות: האם אפשר לבטל ואם הנתונים רגישים.</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תשובה</a:t>
            </a:r>
          </a:p>
          <a:p>
            <a:pPr rtl="1" algn="r" marL="0" indent="0">
              <a:buNone/>
            </a:pPr>
            <a:r>
              <a:rPr sz="1200" lang="he-IL"/>
              <a:t>•  סיכון המשימות שונה (מחיקה לא הפיכה מסוכנת מעריכת טקסט), ולכן אין רמה אחת שמתאימה לכל המצבים.</a:t>
            </a:r>
          </a:p>
          <a:p>
            <a:pPr rtl="1" algn="r" marL="0" indent="0">
              <a:buNone/>
            </a:pPr>
            <a:r>
              <a:rPr sz="1200" lang="he-IL"/>
              <a:t>•  ככל שהסוכן פועל יותר לבד, צריך יותר גיבוי ובדיקה, כלומר commit, diff והרצה.</a:t>
            </a:r>
          </a:p>
          <a:p>
            <a:pPr rtl="1" algn="r" marL="0" indent="0">
              <a:buNone/>
            </a:pPr>
            <a:r>
              <a:rPr sz="1200" lang="he-IL"/>
              <a:t>•  אם סטודנט ענה ״תמיד רמה גבוהה כדי לחסוך זמן״, שאלו מה יקרה כשהסוכן ימחק משהו.</a:t>
            </a:r>
          </a:p>
          <a:p>
            <a:pPr rtl="1" algn="r" marL="0" indent="0">
              <a:buNone/>
            </a:pPr>
            <a:r>
              <a:rPr sz="1200" lang="he-IL"/>
              <a:t>•  הקישור לחלק ב׳: היכולת לבטל היא מה שמאפשר להעלות רמה בביטחון.</a:t>
            </a:r>
          </a:p>
          <a:p>
            <a:pPr rtl="1" algn="r" marL="0" indent="0">
              <a:buNone/>
            </a:pPr>
            <a:r>
              <a:rPr sz="1200" lang="he-IL"/>
              <a:t>•  קישור למפגש 10: משימות רגישות נשארות ברמה נמוכה.</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שנייה (כ-1 דקה) על PoT.</a:t>
            </a:r>
          </a:p>
          <a:p>
            <a:pPr rtl="1" algn="r" marL="0" indent="0">
              <a:buNone/>
            </a:pPr>
            <a:r>
              <a:rPr b="1" sz="1200" lang="he-IL"/>
              <a:t>מה אומרים</a:t>
            </a:r>
          </a:p>
          <a:p>
            <a:pPr rtl="1" algn="r" marL="0" indent="0">
              <a:buNone/>
            </a:pPr>
            <a:r>
              <a:rPr sz="1200" lang="he-IL"/>
              <a:t>•  קראו את השאלה.</a:t>
            </a:r>
          </a:p>
          <a:p>
            <a:pPr rtl="1" algn="r" marL="0" indent="0">
              <a:buNone/>
            </a:pPr>
            <a:r>
              <a:rPr b="1" sz="1200" lang="he-IL"/>
              <a:t>שימו לב</a:t>
            </a:r>
          </a:p>
          <a:p>
            <a:pPr rtl="1" algn="r" marL="0" indent="0">
              <a:buNone/>
            </a:pPr>
            <a:r>
              <a:rPr sz="1200" lang="he-IL"/>
              <a:t>•  EOQ הוא נוסחת כמות הזמנה כלכלית מקורס ניהול מלאי, השורש של 2 כפול ביקוש כפול עלות הזמנה חלקי עלות החזקה.</a:t>
            </a:r>
          </a:p>
          <a:p>
            <a:pPr rtl="1" algn="r" marL="0" indent="0">
              <a:buNone/>
            </a:pPr>
            <a:r>
              <a:rPr sz="1200" lang="he-IL"/>
              <a:t>•  תנו לסטודנטים לענות: מה הבעיה בחשבון בטקסט?</a:t>
            </a:r>
          </a:p>
          <a:p>
            <a:pPr rtl="1" algn="r" marL="0" indent="0">
              <a:buNone/>
            </a:pPr>
            <a:r>
              <a:rPr sz="1200" lang="he-IL"/>
              <a:t>•  אם אין תשובה, הזכירו את השקף ״קוד שמחשב״: מודל שפה מנבא טקסט ולא מבצע חישוב, ולכן עלול לטעות בשורש ובמספרים ארוכים.</a:t>
            </a:r>
          </a:p>
          <a:p>
            <a:pPr rtl="1" algn="r" marL="0" indent="0">
              <a:buNone/>
            </a:pPr>
            <a:r>
              <a:rPr sz="1200" lang="he-IL"/>
              <a:t>•  שאלו גם: למה חשוב שאפשר יהיה לבדוק?</a:t>
            </a:r>
          </a:p>
          <a:p>
            <a:pPr rtl="1" algn="r" marL="0" indent="0">
              <a:buNone/>
            </a:pPr>
            <a:r>
              <a:rPr sz="1200" lang="he-IL"/>
              <a:t>•  כי בקוד אפשר להריץ שוב ולהשוות.</a:t>
            </a:r>
          </a:p>
          <a:p>
            <a:pPr rtl="1" algn="r" marL="0" indent="0">
              <a:buNone/>
            </a:pPr>
            <a:r>
              <a:rPr sz="1200" lang="he-IL"/>
              <a:t>•  תג ״אופציונלי״: שאלת הבדיקה על PoT, בערך דקה ועוד חצי דקה לתשובה.</a:t>
            </a:r>
          </a:p>
          <a:p>
            <a:pPr rtl="1" algn="r" marL="0" indent="0">
              <a:buNone/>
            </a:pPr>
            <a:r>
              <a:rPr sz="1200" lang="he-IL"/>
              <a:t>•  מדלגים עליה כשהבוחן התארך, כי הרעיון כבר הוצג בשקף ״קוד שמחשב״.</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תשובה</a:t>
            </a:r>
          </a:p>
          <a:p>
            <a:pPr rtl="1" algn="r" marL="0" indent="0">
              <a:buNone/>
            </a:pPr>
            <a:r>
              <a:rPr sz="1200" lang="he-IL"/>
              <a:t>•  קוד מורץ במדויק ואפשר לבדוק אותו, בעוד חשבון בטקסט עלול להכיל טעויות שאי אפשר לאמת.</a:t>
            </a:r>
          </a:p>
          <a:p>
            <a:pPr rtl="1" algn="r" marL="0" indent="0">
              <a:buNone/>
            </a:pPr>
            <a:r>
              <a:rPr sz="1200" lang="he-IL"/>
              <a:t>•  זה רעיון ה-PoT (Chen ועמיתים, 2022): המודל כותב את הדרך והמחשב מחשב.</a:t>
            </a:r>
          </a:p>
          <a:p>
            <a:pPr rtl="1" algn="r" marL="0" indent="0">
              <a:buNone/>
            </a:pPr>
            <a:r>
              <a:rPr sz="1200" lang="he-IL"/>
              <a:t>•  זה בדיוק מה שסוכן תכנות עושה: כותב קוד ומריץ.</a:t>
            </a:r>
          </a:p>
          <a:p>
            <a:pPr rtl="1" algn="r" marL="0" indent="0">
              <a:buNone/>
            </a:pPr>
            <a:r>
              <a:rPr sz="1200" lang="he-IL"/>
              <a:t>•  מגבלה: גם הקוד עצמו עלול להכיל באג, ולכן מריצים ובודקים (קישור לשקף ״טעות נפוצה״ ולמפגש 8).</a:t>
            </a:r>
          </a:p>
          <a:p>
            <a:pPr rtl="1" algn="r" marL="0" indent="0">
              <a:buNone/>
            </a:pPr>
            <a:r>
              <a:rPr sz="1200" lang="he-IL"/>
              <a:t>•  אם נשאר זמן, שאלו איזה חישוב נוסף בשרשרת האספקה כדאי להעביר לקוד (נקודת הזמנה, בטחון, שונות ביקוש).</a:t>
            </a:r>
          </a:p>
          <a:p>
            <a:pPr rtl="1" algn="r" marL="0" indent="0">
              <a:buNone/>
            </a:pPr>
            <a:r>
              <a:rPr sz="1200" lang="he-IL"/>
              <a:t>•  תג ״אופציונלי״: תשובת שאלת PoT.</a:t>
            </a:r>
          </a:p>
          <a:p>
            <a:pPr rtl="1" algn="r" marL="0" indent="0">
              <a:buNone/>
            </a:pPr>
            <a:r>
              <a:rPr sz="1200" lang="he-IL"/>
              <a:t>•  נוסף בסקירה: מקור הרעיון הוא Chen, Ma, Wang, Cohen, Program of Thoughts Prompting, TMLR 2023, שמדווח על שיפור ממוצע של כ-12% על CoT במשימות מספריות (arxiv.org/abs/2211.12588).</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נספח אופציונלי: מקורות להעמקה, כ-30 שניות או להשאיר לקריאה בבית.</a:t>
            </a:r>
          </a:p>
          <a:p>
            <a:pPr rtl="1" algn="r" marL="0" indent="0">
              <a:buNone/>
            </a:pPr>
            <a:r>
              <a:rPr b="1" sz="1200" lang="he-IL"/>
              <a:t>מה אומרים</a:t>
            </a:r>
          </a:p>
          <a:p>
            <a:pPr rtl="1" algn="r" marL="0" indent="0">
              <a:buNone/>
            </a:pPr>
            <a:r>
              <a:rPr sz="1200" lang="he-IL"/>
              <a:t>•  שמונה מקורות, כולם נבדקו מול עמוד המאמר או התיעוד: ReAct (Yao ועמיתים, ICLR 2023), Toolformer (Schick ועמיתים, NeurIPS 2023), Chain-of-Thought (Wei ועמיתים, NeurIPS 2022), Program of Thoughts (Chen ועמיתים, TMLR 2023), RAG (Lewis ועמיתים, NeurIPS 2020), SWE-bench (Jimenez ועמיתים, ICLR 2024), המאמר Building effective agents מאת Anthropic (דצמבר 2024), והספר Pro Git (Chacon ו-Straub, מהדורה שנייה, 2014, חינם באתר).</a:t>
            </a:r>
          </a:p>
          <a:p>
            <a:pPr rtl="1" algn="r" marL="0" indent="0">
              <a:buNone/>
            </a:pPr>
            <a:r>
              <a:rPr sz="1200" lang="he-IL"/>
              <a:t>•  מקורות נוספים שמוזכרים בהערות ובשקפי ההעשרה: Reflexion (Shinn ועמיתים, NeurIPS 2023, arxiv.org/abs/2303.11366), MemGPT (Packer ועמיתים, 2023, arxiv.org/abs/2310.08560), Lost in the Middle (Liu ועמיתים, TACL 2024, aclanthology.org/2024.tacl-1.9), Levels of Autonomy for AI Agents (Feng, McDonald, Zhang, 2025, arxiv.org/abs/2506.12469, preprint), ותקן SAE J3016.</a:t>
            </a:r>
          </a:p>
          <a:p>
            <a:pPr rtl="1" algn="r" marL="0" indent="0">
              <a:buNone/>
            </a:pPr>
            <a:r>
              <a:rPr sz="1200" lang="he-IL"/>
              <a:t>•  המלצה: ReAct ו-Pro Git (פרקים 1 ו-3) הכי נגישים להתחלה.</a:t>
            </a:r>
          </a:p>
          <a:p>
            <a:pPr rtl="1" algn="r" marL="0" indent="0">
              <a:buNone/>
            </a:pPr>
            <a:r>
              <a:rPr sz="1200" lang="he-IL"/>
              <a:t>•  לא צריך לקרוא את כל המאמר: מספיק התקציר והאיורים.</a:t>
            </a:r>
          </a:p>
          <a:p>
            <a:pPr rtl="1" algn="r" marL="0" indent="0">
              <a:buNone/>
            </a:pPr>
            <a:r>
              <a:rPr b="1" sz="1200" lang="he-IL"/>
              <a:t>שימו לב</a:t>
            </a:r>
          </a:p>
          <a:p>
            <a:pPr rtl="1" algn="r" marL="0" indent="0">
              <a:buNone/>
            </a:pPr>
            <a:r>
              <a:rPr sz="1200" lang="he-IL"/>
              <a:t>•  Reflexion הוסר מהרשימה בשקף כדי לא לעבור שמונה מקורות, והוא נשאר בהערות.</a:t>
            </a:r>
          </a:p>
          <a:p>
            <a:pPr rtl="1" algn="r" marL="0" indent="0">
              <a:buNone/>
            </a:pPr>
            <a:r>
              <a:rPr b="1" sz="1200" lang="he-IL"/>
              <a:t>אנלוגיה</a:t>
            </a:r>
          </a:p>
          <a:p>
            <a:pPr rtl="1" algn="r" marL="0" indent="0">
              <a:buNone/>
            </a:pPr>
            <a:r>
              <a:rPr sz="1200" lang="he-IL"/>
              <a:t>•  כמו קריאה בתקן ISO, מתחילים בסקירה.</a:t>
            </a:r>
          </a:p>
          <a:p>
            <a:pPr rtl="1" algn="r" marL="0" indent="0">
              <a:buNone/>
            </a:pPr>
            <a:r>
              <a:rPr sz="1200" lang="he-IL"/>
              <a:t>•  מי רוצה לקחת מאמר ולהציג בקצרה במפגש הבא?</a:t>
            </a:r>
          </a:p>
          <a:p>
            <a:pPr rtl="1" algn="r" marL="0" indent="0">
              <a:buNone/>
            </a:pPr>
            <a:r>
              <a:rPr sz="1200" lang="he-IL"/>
              <a:t>•  אפשרות העשרה בהתנדבות.</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א׳, 9 דקות, בזוגות, חלק א׳ במחברת HM_06 (חובה).</a:t>
            </a:r>
          </a:p>
          <a:p>
            <a:pPr rtl="1" algn="r" marL="0" indent="0">
              <a:buNone/>
            </a:pPr>
            <a:r>
              <a:rPr b="1" sz="1200" lang="he-IL"/>
              <a:t>מה אומרים</a:t>
            </a:r>
          </a:p>
          <a:p>
            <a:pPr rtl="1" algn="r" marL="0" indent="0">
              <a:buNone/>
            </a:pPr>
            <a:r>
              <a:rPr sz="1200" lang="he-IL"/>
              <a:t>•  סוכן שורת פקודה לא רץ ב־Colab, ולכן במקום להפעיל סוכן מוכן הסטודנטים בונים את הלולאה בעצמם: execute_action מבצעת פעולה ומחזירה שגיאה כטקסט במקום להתרסק, run_agent היא הלולאה תכנון, פעולה, התבוננות עם max_steps ו־approve, ו־needs_approval קובעת מתי נדרש אישור ברמות 2, 3 ו־4.</a:t>
            </a:r>
          </a:p>
          <a:p>
            <a:pPr rtl="1" algn="r" marL="0" indent="0">
              <a:buNone/>
            </a:pPr>
            <a:r>
              <a:rPr sz="1200" lang="he-IL"/>
              <a:t>•  חשוב לומר בקול: מודל השפה במחברת מדומה (scripted_llm, כללים קבועים), והלולאה, הכלים והבטיחות שהם כותבים אמיתיים.</a:t>
            </a:r>
          </a:p>
          <a:p>
            <a:pPr rtl="1" algn="r" marL="0" indent="0">
              <a:buNone/>
            </a:pPr>
            <a:r>
              <a:rPr sz="1200" lang="he-IL"/>
              <a:t>•  9 דקות הן תקציב צפוף: סטודנט בינוני יסיים בכיתה עד שלב 4, ואת שאלות הניתוח ואת שדות ״התחזית שלי״ משלימים בבית.</a:t>
            </a:r>
          </a:p>
          <a:p>
            <a:pPr rtl="1" algn="r" marL="0" indent="0">
              <a:buNone/>
            </a:pPr>
            <a:r>
              <a:rPr sz="1200" lang="he-IL"/>
              <a:t>•  בסיבוב בין הזוגות: לבדוק שהתא הראשון רץ, ושכותבים תחזית לפני כל הרצה.</a:t>
            </a:r>
          </a:p>
          <a:p>
            <a:pPr rtl="1" algn="r" marL="0" indent="0">
              <a:buNone/>
            </a:pPr>
            <a:r>
              <a:rPr b="1" sz="1200" lang="he-IL"/>
              <a:t>שגיאות צפויות</a:t>
            </a:r>
          </a:p>
          <a:p>
            <a:pPr rtl="1" algn="r" marL="0" indent="0">
              <a:buNone/>
            </a:pPr>
            <a:r>
              <a:rPr sz="1200" lang="he-IL"/>
              <a:t>•  try/except חסר ב־execute_action (הבדיקה נכשלת בכוונה עם KeyError של כלי לא קיים), העברת רשימה ריקה במקום steps ל־llm, וספירת done כצעד.</a:t>
            </a:r>
          </a:p>
          <a:p>
            <a:pPr rtl="1" algn="r" marL="0" indent="0">
              <a:buNone/>
            </a:pPr>
            <a:r>
              <a:rPr b="1" sz="1200" lang="he-IL"/>
              <a:t>הכנה לפני השיעור</a:t>
            </a:r>
          </a:p>
          <a:p>
            <a:pPr rtl="1" algn="r" marL="0" indent="0">
              <a:buNone/>
            </a:pPr>
            <a:r>
              <a:rPr sz="1200" lang="he-IL"/>
              <a:t>•  להעלות את HM_06.ipynb ל־Colab (File ← Upload notebook) או ל־Drive, להחליף את ה־QR (מקום שמור) בקישור אמיתי, ולהריץ Run all על HM_06_SOLUTION.ipynb.</a:t>
            </a:r>
          </a:p>
          <a:p>
            <a:pPr rtl="1" algn="r" marL="0" indent="0">
              <a:buNone/>
            </a:pPr>
            <a:r>
              <a:rPr sz="1200" lang="he-IL"/>
              <a:t>•  הערות מפורטות בקובץ הערות_למרצה_HM_06.md.</a:t>
            </a:r>
          </a:p>
          <a:p>
            <a:pPr rtl="1" algn="r" marL="0" indent="0">
              <a:buNone/>
            </a:pPr>
            <a:r>
              <a:rPr b="1" sz="1200" lang="he-IL"/>
              <a:t>למה עושים את זה</a:t>
            </a:r>
          </a:p>
          <a:p>
            <a:pPr rtl="1" algn="r" marL="0" indent="0">
              <a:buNone/>
            </a:pPr>
            <a:r>
              <a:rPr sz="1200" lang="he-IL"/>
              <a:t>•  בהרצאה ראינו שסוכן הוא לולאה עם כלים ושמה שמגביל אותו הוא מנגנון אישורים.</a:t>
            </a:r>
          </a:p>
          <a:p>
            <a:pPr rtl="1" algn="r" marL="0" indent="0">
              <a:buNone/>
            </a:pPr>
            <a:r>
              <a:rPr sz="1200" lang="he-IL"/>
              <a:t>•  כאן כותבים את הלולאה, כדי להבין שאין בה קסם.</a:t>
            </a:r>
          </a:p>
          <a:p>
            <a:pPr rtl="1" algn="r" marL="0" indent="0">
              <a:buNone/>
            </a:pPr>
            <a:r>
              <a:rPr sz="1200" lang="he-IL"/>
              <a:t>•  הקשר לשקפים: execute_action היא שקף ״קריאה לכלי מבפנים״, run_agent היא שקף ״הלולאה״, needs_approval היא שקף ״רמות אוטונומיה״.</a:t>
            </a:r>
          </a:p>
          <a:p>
            <a:pPr rtl="1" algn="r" marL="0" indent="0">
              <a:buNone/>
            </a:pPr>
            <a:r>
              <a:rPr b="1" sz="1200" lang="he-IL"/>
              <a:t>חיבור לשיעורים קודמים</a:t>
            </a:r>
          </a:p>
          <a:p>
            <a:pPr rtl="1" algn="r" marL="0" indent="0">
              <a:buNone/>
            </a:pPr>
            <a:r>
              <a:rPr sz="1200" lang="he-IL"/>
              <a:t>•  במעבדה ב׳ של מפגש 5 קראתם תמלול של סוכן וספרתם אישורים בשלוש רמות עם count_approvals (ask_all, auto_edit, full_auto).</a:t>
            </a:r>
          </a:p>
          <a:p>
            <a:pPr rtl="1" algn="r" marL="0" indent="0">
              <a:buNone/>
            </a:pPr>
            <a:r>
              <a:rPr sz="1200" lang="he-IL"/>
              <a:t>•  היום אתם בונים בעצמכם את הלולאה שמייצרת תמלול כזה (run_agent, show_transcript), ואת needs_approval שקובעת מי מאשר.</a:t>
            </a:r>
          </a:p>
          <a:p>
            <a:pPr rtl="1" algn="r" marL="0" indent="0">
              <a:buNone/>
            </a:pPr>
            <a:r>
              <a:rPr sz="1200" lang="he-IL"/>
              <a:t>•  וכמו במפגש 1 וב־5: כותבים תחזית לפני הרצה, ומריצים ובודקים בעצמכם.</a:t>
            </a:r>
          </a:p>
          <a:p>
            <a:pPr rtl="1" algn="r" marL="0" indent="0">
              <a:buNone/>
            </a:pPr>
            <a:r>
              <a:rPr sz="1200" lang="he-IL"/>
              <a:t>•  שאלת היזכרות לפני שמתחילים: איפה ראיתם אישורים בסולם?</a:t>
            </a:r>
          </a:p>
          <a:p>
            <a:pPr rtl="1" algn="r" marL="0" indent="0">
              <a:buNone/>
            </a:pPr>
            <a:r>
              <a:rPr b="1" sz="1200" lang="he-IL"/>
              <a:t>תשובה</a:t>
            </a:r>
          </a:p>
          <a:p>
            <a:pPr rtl="1" algn="r" marL="0" indent="0">
              <a:buNone/>
            </a:pPr>
            <a:r>
              <a:rPr sz="1200" lang="he-IL"/>
              <a:t>•  במעבדה ב׳ של מפגש 5, בתמלול.</a:t>
            </a:r>
          </a:p>
          <a:p>
            <a:pPr rtl="1" algn="r" marL="0" indent="0">
              <a:buNone/>
            </a:pPr>
            <a:r>
              <a:rPr b="1" sz="1200" lang="he-IL"/>
              <a:t>אם הכיתה לא זוכרת</a:t>
            </a:r>
          </a:p>
          <a:p>
            <a:pPr rtl="1" algn="r" marL="0" indent="0">
              <a:buNone/>
            </a:pPr>
            <a:r>
              <a:rPr sz="1200" lang="he-IL"/>
              <a:t>•  להסביר שהיום זה אותו סולם, אבל הקוד שלכם.</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להעמקה</a:t>
            </a:r>
          </a:p>
          <a:p>
            <a:pPr rtl="1" algn="r" marL="0" indent="0">
              <a:buNone/>
            </a:pPr>
            <a:r>
              <a:rPr sz="1200" lang="he-IL"/>
              <a:t>•  למה ענף זול, כ-1.5 דקות.</a:t>
            </a:r>
          </a:p>
          <a:p>
            <a:pPr rtl="1" algn="r" marL="0" indent="0">
              <a:buNone/>
            </a:pPr>
            <a:r>
              <a:rPr sz="1200" lang="he-IL"/>
              <a:t>•  בשקף ״ענף ומיזוג״ אמרנו שענף הוא ״כמו עותק טיוטה״.</a:t>
            </a:r>
          </a:p>
          <a:p>
            <a:pPr rtl="1" algn="r" marL="0" indent="0">
              <a:buNone/>
            </a:pPr>
            <a:r>
              <a:rPr sz="1200" lang="he-IL"/>
              <a:t>•  זו אנלוגיה נוחה, אבל Git לא מעתיק קבצים.</a:t>
            </a:r>
          </a:p>
          <a:p>
            <a:pPr rtl="1" algn="r" marL="0" indent="0">
              <a:buNone/>
            </a:pPr>
            <a:r>
              <a:rPr sz="1200" lang="he-IL"/>
              <a:t>•  לפי Pro Git (Branches in a Nutshell): ענף הוא מצביע קל ונייד ל-commit, ולמעשה קובץ קטן שמכיל את ה-hash של ה-commit שאליו הוא מצביע, ולכן ״יצירת ענף חדשה מהירה ופשוטה כמו כתיבת 41 בתים לקובץ״ (40 תווים ושורה חדשה).</a:t>
            </a:r>
          </a:p>
          <a:p>
            <a:pPr rtl="1" algn="r" marL="0" indent="0">
              <a:buNone/>
            </a:pPr>
            <a:r>
              <a:rPr sz="1200" lang="he-IL"/>
              <a:t>•  HEAD הוא מצביע מיוחד לענף שעובדים בו כרגע.</a:t>
            </a:r>
          </a:p>
          <a:p>
            <a:pPr rtl="1" algn="r" marL="0" indent="0">
              <a:buNone/>
            </a:pPr>
            <a:r>
              <a:rPr sz="1200" lang="he-IL"/>
              <a:t>•  בשקף: ארבעה commits בשורה, main מצביע על C3, וענף הניסוי agent-test מצביע על C4, שההורה שלו C3.</a:t>
            </a:r>
          </a:p>
          <a:p>
            <a:pPr rtl="1" algn="r" marL="0" indent="0">
              <a:buNone/>
            </a:pPr>
            <a:r>
              <a:rPr sz="1200" lang="he-IL"/>
              <a:t>•  כל commit חדש מזיז קדימה רק את המצביע של הענף הנוכחי.</a:t>
            </a:r>
          </a:p>
          <a:p>
            <a:pPr rtl="1" algn="r" marL="0" indent="0">
              <a:buNone/>
            </a:pPr>
            <a:r>
              <a:rPr sz="1200" lang="he-IL"/>
              <a:t>•  מה שזה מסביר: למה עושים ענף לכל ניסוי (זול מאוד), למה מחיקת ענף לא מוחקת עבודה מיד (ה-commits עדיין קיימים עד שמנקה אותם הניקוי האוטומטי, אבל קשה למצוא אותם בלי reflog), ולמה git switch -c agent-test במחברת מיידי.</a:t>
            </a:r>
          </a:p>
          <a:p>
            <a:pPr rtl="1" algn="r" marL="0" indent="0">
              <a:buNone/>
            </a:pPr>
            <a:r>
              <a:rPr b="1" sz="1200" lang="he-IL"/>
              <a:t>אנלוגיה</a:t>
            </a:r>
          </a:p>
          <a:p>
            <a:pPr rtl="1" algn="r" marL="0" indent="0">
              <a:buNone/>
            </a:pPr>
            <a:r>
              <a:rPr sz="1200" lang="he-IL"/>
              <a:t>•  מדבקת פתק על עמוד בתיק, ולא צילום של התיק.</a:t>
            </a:r>
          </a:p>
          <a:p>
            <a:pPr rtl="1" algn="r" marL="0" indent="0">
              <a:buNone/>
            </a:pPr>
            <a:r>
              <a:rPr b="1" sz="1200" lang="he-IL"/>
              <a:t>שאלה לכיתה</a:t>
            </a:r>
          </a:p>
          <a:p>
            <a:pPr rtl="1" algn="r" marL="0" indent="0">
              <a:buNone/>
            </a:pPr>
            <a:r>
              <a:rPr sz="1200" lang="he-IL"/>
              <a:t>•  מה קורה בקבצים כשעוברים בין ענפים?</a:t>
            </a:r>
          </a:p>
          <a:p>
            <a:pPr rtl="1" algn="r" marL="0" indent="0">
              <a:buNone/>
            </a:pPr>
            <a:r>
              <a:rPr b="1" sz="1200" lang="he-IL"/>
              <a:t>תשובה</a:t>
            </a:r>
          </a:p>
          <a:p>
            <a:pPr rtl="1" algn="r" marL="0" indent="0">
              <a:buNone/>
            </a:pPr>
            <a:r>
              <a:rPr sz="1200" lang="he-IL"/>
              <a:t>•  Git מעדכן את תיקיית העבודה לפי ה-commit שאליו מצביע הענף.</a:t>
            </a:r>
          </a:p>
          <a:p>
            <a:pPr rtl="1" algn="r" marL="0" indent="0">
              <a:buNone/>
            </a:pPr>
            <a:r>
              <a:rPr b="1" sz="1200" lang="he-IL"/>
              <a:t>מתי לדלג</a:t>
            </a:r>
          </a:p>
          <a:p>
            <a:pPr rtl="1" algn="r" marL="0" indent="0">
              <a:buNone/>
            </a:pPr>
            <a:r>
              <a:rPr sz="1200" lang="he-IL"/>
              <a:t>•  אם הזמן קצר, מספיק משפט אחד: ״ענף הוא מצביע, לא עותק״.</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Git מבפנים: commit כצומת, כ-1.5 דקות.</a:t>
            </a:r>
          </a:p>
          <a:p>
            <a:pPr rtl="1" algn="r" marL="0" indent="0">
              <a:buNone/>
            </a:pPr>
            <a:r>
              <a:rPr b="1" sz="1200" lang="he-IL"/>
              <a:t>מה אומרים</a:t>
            </a:r>
          </a:p>
          <a:p>
            <a:pPr rtl="1" algn="r" marL="0" indent="0">
              <a:buNone/>
            </a:pPr>
            <a:r>
              <a:rPr sz="1200" lang="he-IL"/>
              <a:t>•  עד עכשיו commit היה ״נקודת שמירה״.</a:t>
            </a:r>
          </a:p>
          <a:p>
            <a:pPr rtl="1" algn="r" marL="0" indent="0">
              <a:buNone/>
            </a:pPr>
            <a:r>
              <a:rPr sz="1200" lang="he-IL"/>
              <a:t>•  עכשיו מדייקים. commit הוא אובייקט שמכיל ארבעה דברים: מצביע לצילום של כל הפרויקט (לא רק של הקבצים ששונו), מצביע ל-commit ההורה (אפס להורים ב-commit הראשון, אחד ברגיל, שניים במיזוג), פרטי המחבר, והודעה.</a:t>
            </a:r>
          </a:p>
          <a:p>
            <a:pPr rtl="1" algn="r" marL="0" indent="0">
              <a:buNone/>
            </a:pPr>
            <a:r>
              <a:rPr sz="1200" lang="he-IL"/>
              <a:t>•  לפי Pro Git (Chacon ו-Straub, פרק Git Objects) המפתח של כל אובייקט הוא checksum של התוכן שלו, ב-Git כיום SHA-1 בן 40 תווים הקסדצימליים.</a:t>
            </a:r>
          </a:p>
          <a:p>
            <a:pPr rtl="1" algn="r" marL="0" indent="0">
              <a:buNone/>
            </a:pPr>
            <a:r>
              <a:rPr sz="1200" lang="he-IL"/>
              <a:t>•  זה ה-hash שמחזיר commit_all במחברת, ושמופיע ב-git log.</a:t>
            </a:r>
          </a:p>
          <a:p>
            <a:pPr rtl="1" algn="r" marL="0" indent="0">
              <a:buNone/>
            </a:pPr>
            <a:r>
              <a:rPr sz="1200" lang="he-IL"/>
              <a:t>•  בדרך כלל מציגים רק 7 התווים הראשונים.</a:t>
            </a:r>
          </a:p>
          <a:p>
            <a:pPr rtl="1" algn="r" marL="0" indent="0">
              <a:buNone/>
            </a:pPr>
            <a:r>
              <a:rPr sz="1200" lang="he-IL"/>
              <a:t>•  כי ה-hash מחושב מהתוכן, כולל ההורה, שינוי ב-commit ישן משנה את ה-hash שלו וממילא את ה-hash של כל מה שבא אחריו: ההיסטוריה היא שרשרת קשורה.</a:t>
            </a:r>
          </a:p>
          <a:p>
            <a:pPr rtl="1" algn="r" marL="0" indent="0">
              <a:buNone/>
            </a:pPr>
            <a:r>
              <a:rPr sz="1200" lang="he-IL"/>
              <a:t>•  בגלל ההורים, כל ה-commits יוצרים גרף מכוון בלי מעגלים (DAG): חיצים מכל commit אל ההורה שלו.</a:t>
            </a:r>
          </a:p>
          <a:p>
            <a:pPr rtl="1" algn="r" marL="0" indent="0">
              <a:buNone/>
            </a:pPr>
            <a:r>
              <a:rPr b="1" sz="1200" lang="he-IL"/>
              <a:t>מקורות</a:t>
            </a:r>
          </a:p>
          <a:p>
            <a:pPr rtl="1" algn="r" marL="0" indent="0">
              <a:buNone/>
            </a:pPr>
            <a:r>
              <a:rPr sz="1200" lang="he-IL"/>
              <a:t>•  git-scm.com/book, Git Internals ו-Branches in a Nutshell.</a:t>
            </a:r>
          </a:p>
          <a:p>
            <a:pPr rtl="1" algn="r" marL="0" indent="0">
              <a:buNone/>
            </a:pPr>
            <a:r>
              <a:rPr sz="1200" lang="he-IL"/>
              <a:t>•  הערה לאימות: התיעוד הרשמי של Git מציין שהברירת מחדל תעבור ל-SHA-256 ב-Git 3.0 (ללא תאריך).</a:t>
            </a:r>
          </a:p>
          <a:p>
            <a:pPr rtl="1" algn="r" marL="0" indent="0">
              <a:buNone/>
            </a:pPr>
            <a:r>
              <a:rPr sz="1200" lang="he-IL"/>
              <a:t>•  הקודים בשקף הם דוגמה.</a:t>
            </a:r>
          </a:p>
          <a:p>
            <a:pPr rtl="1" algn="r" marL="0" indent="0">
              <a:buNone/>
            </a:pPr>
            <a:r>
              <a:rPr sz="1200" lang="he-IL"/>
              <a:t>•  אנלוגיה לתעשייה וניהול: מספר סידורי עם חותמת שמשתנה אם נגעו בחלק, כמו עץ מוצר (BOM) שבו שינוי ברכיב משנה את כל ההרכבות שמעליו.</a:t>
            </a:r>
          </a:p>
          <a:p>
            <a:pPr rtl="1" algn="r" marL="0" indent="0">
              <a:buNone/>
            </a:pPr>
            <a:r>
              <a:rPr b="1" sz="1200" lang="he-IL"/>
              <a:t>שאלה לכיתה</a:t>
            </a:r>
          </a:p>
          <a:p>
            <a:pPr rtl="1" algn="r" marL="0" indent="0">
              <a:buNone/>
            </a:pPr>
            <a:r>
              <a:rPr sz="1200" lang="he-IL"/>
              <a:t>•  למה אי אפשר לשנות בשקט commit ישן?</a:t>
            </a:r>
          </a:p>
          <a:p>
            <a:pPr rtl="1" algn="r" marL="0" indent="0">
              <a:buNone/>
            </a:pPr>
            <a:r>
              <a:rPr b="1" sz="1200" lang="he-IL"/>
              <a:t>תשובה</a:t>
            </a:r>
          </a:p>
          <a:p>
            <a:pPr rtl="1" algn="r" marL="0" indent="0">
              <a:buNone/>
            </a:pPr>
            <a:r>
              <a:rPr sz="1200" lang="he-IL"/>
              <a:t>•  ה-hash ישתנה.</a:t>
            </a:r>
          </a:p>
          <a:p>
            <a:pPr rtl="1" algn="r" marL="0" indent="0">
              <a:buNone/>
            </a:pPr>
            <a:r>
              <a:rPr b="1" sz="1200" lang="he-IL"/>
              <a:t>טעות נפוצה</a:t>
            </a:r>
          </a:p>
          <a:p>
            <a:pPr rtl="1" algn="r" marL="0" indent="0">
              <a:buNone/>
            </a:pPr>
            <a:r>
              <a:rPr sz="1200" lang="he-IL"/>
              <a:t>•  לחשוב ש-commit שומר רק את ההפרש.</a:t>
            </a:r>
          </a:p>
          <a:p>
            <a:pPr rtl="1" algn="r" marL="0" indent="0">
              <a:buNone/>
            </a:pPr>
            <a:r>
              <a:rPr sz="1200" lang="he-IL"/>
              <a:t>•  מבחינת המשתמש הוא נראה כצילום מלא.</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להעמקה</a:t>
            </a:r>
          </a:p>
          <a:p>
            <a:pPr rtl="1" algn="r" marL="0" indent="0">
              <a:buNone/>
            </a:pPr>
            <a:r>
              <a:rPr sz="1200" lang="he-IL"/>
              <a:t>•  זיכרון והקשר, מה המחקר אומר, כ-1.5 דקות.</a:t>
            </a:r>
          </a:p>
          <a:p>
            <a:pPr rtl="1" algn="r" marL="0" indent="0">
              <a:buNone/>
            </a:pPr>
            <a:r>
              <a:rPr sz="1200" lang="he-IL"/>
              <a:t>•  שני מקורות ואחר כך המלצת פרקטיקה, ושימו לב להבחנה בין השניים.</a:t>
            </a:r>
          </a:p>
          <a:p>
            <a:pPr rtl="1" algn="r" marL="0" indent="0">
              <a:buNone/>
            </a:pPr>
            <a:r>
              <a:rPr sz="1200" lang="he-IL"/>
              <a:t>•  אחד: Packer, Wooders, Lin, Fang, Patil, Stoica, Gonzalez.</a:t>
            </a:r>
          </a:p>
          <a:p>
            <a:pPr rtl="1" algn="r" marL="0" indent="0">
              <a:buNone/>
            </a:pPr>
            <a:r>
              <a:rPr sz="1200" lang="he-IL"/>
              <a:t>•  MemGPT: Towards LLMs as Operating Systems, arXiv אוקטובר 2023 (arxiv.org/abs/2310.08560).</a:t>
            </a:r>
          </a:p>
          <a:p>
            <a:pPr rtl="1" algn="r" marL="0" indent="0">
              <a:buNone/>
            </a:pPr>
            <a:r>
              <a:rPr sz="1200" lang="he-IL"/>
              <a:t>•  הם מציעים ״ניהול הקשר וירטואלי״ בהשראת מערכות הפעלה: כמו שמערכת הפעלה מעבירה נתונים בין זיכרון מהיר לאיטי, המערכת מעבירה מידע בין חלון ההקשר לאחסון חיצוני.</a:t>
            </a:r>
          </a:p>
          <a:p>
            <a:pPr rtl="1" algn="r" marL="0" indent="0">
              <a:buNone/>
            </a:pPr>
            <a:r>
              <a:rPr sz="1200" lang="he-IL"/>
              <a:t>•  נבדק בניתוח מסמכים ארוכים ובשיחות מרובות מפגשים.</a:t>
            </a:r>
          </a:p>
          <a:p>
            <a:pPr rtl="1" algn="r" marL="0" indent="0">
              <a:buNone/>
            </a:pPr>
            <a:r>
              <a:rPr sz="1200" lang="he-IL"/>
              <a:t>•  שניים: Liu, Lin, Hewitt, Paranjape, Bevilacqua, Petroni, Liang.</a:t>
            </a:r>
          </a:p>
          <a:p>
            <a:pPr rtl="1" algn="r" marL="0" indent="0">
              <a:buNone/>
            </a:pPr>
            <a:r>
              <a:rPr sz="1200" lang="he-IL"/>
              <a:t>•  Lost in the Middle: How Language Models Use Long Contexts, TACL כרך 12 (2024).</a:t>
            </a:r>
          </a:p>
          <a:p>
            <a:pPr rtl="1" algn="r" marL="0" indent="0">
              <a:buNone/>
            </a:pPr>
            <a:r>
              <a:rPr sz="1200" lang="he-IL"/>
              <a:t>•  הממצא: בשאלות על כמה מסמכים ובאחזור מפתח וערך, הביצועים לרוב הכי טובים כשהמידע הרלוונטי בתחילת ההקשר או בסופו, ויורדים משמעותית כשהוא באמצע, גם במודלים שנועדו להקשר ארוך.</a:t>
            </a:r>
          </a:p>
          <a:p>
            <a:pPr rtl="1" algn="r" marL="0" indent="0">
              <a:buNone/>
            </a:pPr>
            <a:r>
              <a:rPr sz="1200" lang="he-IL"/>
              <a:t>•  המודלים שנבדקו הם של 2023, ולכן בודקים לפני שמכלילים להיום.</a:t>
            </a:r>
          </a:p>
          <a:p>
            <a:pPr rtl="1" algn="r" marL="0" indent="0">
              <a:buNone/>
            </a:pPr>
            <a:r>
              <a:rPr sz="1200" lang="he-IL"/>
              <a:t>•  הכרטיס השלישי הוא המלצת פרקטיקה ולא עובדה מבוססת מהמאמר.</a:t>
            </a:r>
          </a:p>
          <a:p>
            <a:pPr rtl="1" algn="r" marL="0" indent="0">
              <a:buNone/>
            </a:pPr>
            <a:r>
              <a:rPr b="1" sz="1200" lang="he-IL"/>
              <a:t>קישור למעבדה</a:t>
            </a:r>
          </a:p>
          <a:p>
            <a:pPr rtl="1" algn="r" marL="0" indent="0">
              <a:buNone/>
            </a:pPr>
            <a:r>
              <a:rPr sz="1200" lang="he-IL"/>
              <a:t>•  read_file מחזיר רק 400 תווים, כי חלון ההקשר מוגבל והרשימה steps גדלה בכל צעד.</a:t>
            </a:r>
          </a:p>
          <a:p>
            <a:pPr rtl="1" algn="r" marL="0" indent="0">
              <a:buNone/>
            </a:pPr>
            <a:r>
              <a:rPr b="1" sz="1200" lang="he-IL"/>
              <a:t>שאלה לכיתה</a:t>
            </a:r>
          </a:p>
          <a:p>
            <a:pPr rtl="1" algn="r" marL="0" indent="0">
              <a:buNone/>
            </a:pPr>
            <a:r>
              <a:rPr sz="1200" lang="he-IL"/>
              <a:t>•  מה יקרה לסוכן אחרי 200 צעדים?</a:t>
            </a:r>
          </a:p>
          <a:p>
            <a:pPr rtl="1" algn="r" marL="0" indent="0">
              <a:buNone/>
            </a:pPr>
            <a:r>
              <a:rPr b="1" sz="1200" lang="he-IL"/>
              <a:t>מתי לדלג</a:t>
            </a:r>
          </a:p>
          <a:p>
            <a:pPr rtl="1" algn="r" marL="0" indent="0">
              <a:buNone/>
            </a:pPr>
            <a:r>
              <a:rPr sz="1200" lang="he-IL"/>
              <a:t>•  אם הזמן קצר, אפשר לדלג על שקף זה.</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דיון מסכם של מעבדה א׳, כדקה עד שתיים, מתוך 9 הדקות של הבלוק (אם נגמר הזמן, אפשר לעשות אותו בקצרה ולהשלים את שאלות הניתוח בבית).</a:t>
            </a:r>
          </a:p>
          <a:p>
            <a:pPr rtl="1" algn="r" marL="0" indent="0">
              <a:buNone/>
            </a:pPr>
            <a:r>
              <a:rPr b="1" sz="1200" lang="he-IL"/>
              <a:t>מה אומרים</a:t>
            </a:r>
          </a:p>
          <a:p>
            <a:pPr rtl="1" algn="r" marL="0" indent="0">
              <a:buNone/>
            </a:pPr>
            <a:r>
              <a:rPr sz="1200" lang="he-IL"/>
              <a:t>•  שלושה ריבועים: פחות אישורים, יותר פעולות מהר, פחות שליטה.</a:t>
            </a:r>
          </a:p>
          <a:p>
            <a:pPr rtl="1" algn="r" marL="0" indent="0">
              <a:buNone/>
            </a:pPr>
            <a:r>
              <a:rPr sz="1200" lang="he-IL"/>
              <a:t>•  הסתמכו על טבלת הרמות שהסטודנטים הפיקו במחברת: הסוכן הזהיר ביקש 5 אישורים ברמה 2, 2 ברמה 3 ו־0 ברמה 4, והסוכן המנקה מחק את products.csv רק ברמה 4.</a:t>
            </a:r>
          </a:p>
          <a:p>
            <a:pPr rtl="1" algn="r" marL="0" indent="0">
              <a:buNone/>
            </a:pPr>
            <a:r>
              <a:rPr b="1" sz="1200" lang="he-IL"/>
              <a:t>שאלה לכיתה</a:t>
            </a:r>
          </a:p>
          <a:p>
            <a:pPr rtl="1" algn="r" marL="0" indent="0">
              <a:buNone/>
            </a:pPr>
            <a:r>
              <a:rPr sz="1200" lang="he-IL"/>
              <a:t>•  מה השתנה כשעברתם לרמה 3?</a:t>
            </a:r>
          </a:p>
          <a:p>
            <a:pPr rtl="1" algn="r" marL="0" indent="0">
              <a:buNone/>
            </a:pPr>
            <a:r>
              <a:rPr sz="1200" lang="he-IL"/>
              <a:t>•  אספו שתיים או שלוש תשובות, ושאלו מי הופתע.</a:t>
            </a:r>
          </a:p>
          <a:p>
            <a:pPr rtl="1" algn="r" marL="0" indent="0">
              <a:buNone/>
            </a:pPr>
            <a:r>
              <a:rPr b="1" sz="1200" lang="he-IL"/>
              <a:t>מסר מרכזי</a:t>
            </a:r>
          </a:p>
          <a:p>
            <a:pPr rtl="1" algn="r" marL="0" indent="0">
              <a:buNone/>
            </a:pPr>
            <a:r>
              <a:rPr sz="1200" lang="he-IL"/>
              <a:t>•  יותר אוטונומיה פירושה יותר מהירות ובמקביל יותר סיכון, ואף אחד משני מנגנוני הבטיחות שבניתם (max_steps ו־approve) לא מחזיר קובץ שנמחק.</a:t>
            </a:r>
          </a:p>
          <a:p>
            <a:pPr rtl="1" algn="r" marL="0" indent="0">
              <a:buNone/>
            </a:pPr>
            <a:r>
              <a:rPr sz="1200" lang="he-IL"/>
              <a:t>•  השאלה בתחתית השקף, מה יקרה אם הסוכן יטעה ואיך נחזור אחורה, היא הגשר לחלק ב׳: Git.</a:t>
            </a:r>
          </a:p>
          <a:p>
            <a:pPr rtl="1" algn="r" marL="0" indent="0">
              <a:buNone/>
            </a:pPr>
            <a:r>
              <a:rPr b="1" sz="1200" lang="he-IL"/>
              <a:t>אנלוגיה</a:t>
            </a:r>
          </a:p>
          <a:p>
            <a:pPr rtl="1" algn="r" marL="0" indent="0">
              <a:buNone/>
            </a:pPr>
            <a:r>
              <a:rPr sz="1200" lang="he-IL"/>
              <a:t>•  אין מפעילים קו ייצור חדש בלי כפתור עצירת חירום ובלי אפשרות לחזור להגדרות הקודמות.</a:t>
            </a:r>
          </a:p>
          <a:p>
            <a:pPr rtl="1" algn="r" marL="0" indent="0">
              <a:buNone/>
            </a:pPr>
            <a:r>
              <a:rPr sz="1200" lang="he-IL"/>
              <a:t>•  חיבור למפגש 5: בדיון, חזרו לשקף ״מה יכול להשתבש״ של מפגש 5: הסוכן המנקה במעבדה מחק קובץ ברמה 4 כי אף מנגנון לא עצר אותו.</a:t>
            </a:r>
          </a:p>
          <a:p>
            <a:pPr rtl="1" algn="r" marL="0" indent="0">
              <a:buNone/>
            </a:pPr>
            <a:r>
              <a:rPr sz="1200" lang="he-IL"/>
              <a:t>•  זה בדיוק הכשל של סיפור הפתיחה, וזה מה שמוביל לחלק ב׳.</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תחילת חלק ב׳, כ-10 דקות להסבר, ואחריו מעבדה ב׳ (11 דקות).</a:t>
            </a:r>
          </a:p>
          <a:p>
            <a:pPr rtl="1" algn="r" marL="0" indent="0">
              <a:buNone/>
            </a:pPr>
            <a:r>
              <a:rPr b="1" sz="1200" lang="he-IL"/>
              <a:t>מה אומרים</a:t>
            </a:r>
          </a:p>
          <a:p>
            <a:pPr rtl="1" algn="r" marL="0" indent="0">
              <a:buNone/>
            </a:pPr>
            <a:r>
              <a:rPr sz="1200" lang="he-IL"/>
              <a:t>•  האנלוגיה: משחק מחשב.</a:t>
            </a:r>
          </a:p>
          <a:p>
            <a:pPr rtl="1" algn="r" marL="0" indent="0">
              <a:buNone/>
            </a:pPr>
            <a:r>
              <a:rPr sz="1200" lang="he-IL"/>
              <a:t>•  לפני קרב קשה שומרים, ואם נכשלים חוזרים לנקודת השמירה.</a:t>
            </a:r>
          </a:p>
          <a:p>
            <a:pPr rtl="1" algn="r" marL="0" indent="0">
              <a:buNone/>
            </a:pPr>
            <a:r>
              <a:rPr sz="1200" lang="he-IL"/>
              <a:t>•  ב-Git, כל commit הוא נקודת שמירה של כל הפרויקט (לא רק של קובץ אחד).</a:t>
            </a:r>
          </a:p>
          <a:p>
            <a:pPr rtl="1" algn="r" marL="0" indent="0">
              <a:buNone/>
            </a:pPr>
            <a:r>
              <a:rPr sz="1200" lang="he-IL"/>
              <a:t>•  בשקף: ציר הזמן מימין לשמאל, חמש נקודות שמירה (התחלה, קוד ראשון, הוספתי גרף, תיקון באג, הסוכן שבר), והאחרונה באדום.</a:t>
            </a:r>
          </a:p>
          <a:p>
            <a:pPr rtl="1" algn="r" marL="0" indent="0">
              <a:buNone/>
            </a:pPr>
            <a:r>
              <a:rPr sz="1200" lang="he-IL"/>
              <a:t>•  החץ הירוק מראה שחוזרים לנקודה שמורה לפני שהסוכן שבר.</a:t>
            </a:r>
          </a:p>
          <a:p>
            <a:pPr rtl="1" algn="r" marL="0" indent="0">
              <a:buNone/>
            </a:pPr>
            <a:r>
              <a:rPr sz="1200" lang="he-IL"/>
              <a:t>•  הרעיון המעשי: commit לפני שהסוכן פועל.</a:t>
            </a:r>
          </a:p>
          <a:p>
            <a:pPr rtl="1" algn="r" marL="0" indent="0">
              <a:buNone/>
            </a:pPr>
            <a:r>
              <a:rPr sz="1200" lang="he-IL"/>
              <a:t>•  כך תמיד יש מצב נקי לחזור אליו, וה-diff מראה מה השתנה.</a:t>
            </a:r>
          </a:p>
          <a:p>
            <a:pPr rtl="1" algn="r" marL="0" indent="0">
              <a:buNone/>
            </a:pPr>
            <a:r>
              <a:rPr sz="1200" lang="he-IL"/>
              <a:t>•  אנלוגיה מהתעשייה: כמו גרסאות של מסמך תכנון או גיליון תכנון ייצור, עם היסטוריה של מי שינה מה ומתי.</a:t>
            </a:r>
          </a:p>
          <a:p>
            <a:pPr rtl="1" algn="r" marL="0" indent="0">
              <a:buNone/>
            </a:pPr>
            <a:r>
              <a:rPr b="1" sz="1200" lang="he-IL"/>
              <a:t>שאלה לכיתה</a:t>
            </a:r>
          </a:p>
          <a:p>
            <a:pPr rtl="1" algn="r" marL="0" indent="0">
              <a:buNone/>
            </a:pPr>
            <a:r>
              <a:rPr sz="1200" lang="he-IL"/>
              <a:t>•  מה היה קורה בסיפור הפתיחה אילו הייתה נקודת שמירה לפני המחיקה?</a:t>
            </a:r>
          </a:p>
          <a:p>
            <a:pPr rtl="1" algn="r" marL="0" indent="0">
              <a:buNone/>
            </a:pPr>
            <a:r>
              <a:rPr b="1" sz="1200" lang="he-IL"/>
              <a:t>תשובה</a:t>
            </a:r>
          </a:p>
          <a:p>
            <a:pPr rtl="1" algn="r" marL="0" indent="0">
              <a:buNone/>
            </a:pPr>
            <a:r>
              <a:rPr sz="1200" lang="he-IL"/>
              <a:t>•  משחזרים את הקובץ והכל חוזר.</a:t>
            </a:r>
          </a:p>
          <a:p>
            <a:pPr rtl="1" algn="r" marL="0" indent="0">
              <a:buNone/>
            </a:pPr>
            <a:r>
              <a:rPr sz="1200" lang="he-IL"/>
              <a:t>•  Git הוא גם כלי עבודה בצוות ובפרויקט הקורס, אבל כאן מתמקדים בבטיחות מול סוכן.</a:t>
            </a:r>
          </a:p>
          <a:p>
            <a:pPr rtl="1" algn="r" marL="0" indent="0">
              <a:buNone/>
            </a:pPr>
            <a:r>
              <a:rPr b="1" sz="1200" lang="he-IL"/>
              <a:t>חיבור לשיעורים קודמים</a:t>
            </a:r>
          </a:p>
          <a:p>
            <a:pPr rtl="1" algn="r" marL="0" indent="0">
              <a:buNone/>
            </a:pPr>
            <a:r>
              <a:rPr sz="1200" lang="he-IL"/>
              <a:t>•  בסוף חלק ב׳ שם (שקף ״מה יכול להשתבש״) כתבנו ״לכן במפגש הבא נלמד Git: רשת ביטחון לפני שנותנים לסוכן לפעול״, ובסיכום של מפגש 5 נאמר שסוכן דורש גיבוי.</a:t>
            </a:r>
          </a:p>
          <a:p>
            <a:pPr rtl="1" algn="r" marL="0" indent="0">
              <a:buNone/>
            </a:pPr>
            <a:r>
              <a:rPr sz="1200" lang="he-IL"/>
              <a:t>•  זו ההבטחה שמתקיימת כאן.</a:t>
            </a:r>
          </a:p>
          <a:p>
            <a:pPr rtl="1" algn="r" marL="0" indent="0">
              <a:buNone/>
            </a:pPr>
            <a:r>
              <a:rPr b="1" sz="1200" lang="he-IL"/>
              <a:t>שאלת היזכרות</a:t>
            </a:r>
          </a:p>
          <a:p>
            <a:pPr rtl="1" algn="r" marL="0" indent="0">
              <a:buNone/>
            </a:pPr>
            <a:r>
              <a:rPr sz="1200" lang="he-IL"/>
              <a:t>•  איזה ארבעה כשלים של סוכן ראינו?</a:t>
            </a:r>
          </a:p>
          <a:p>
            <a:pPr rtl="1" algn="r" marL="0" indent="0">
              <a:buNone/>
            </a:pPr>
            <a:r>
              <a:rPr b="1" sz="1200" lang="he-IL"/>
              <a:t>תשובה</a:t>
            </a:r>
          </a:p>
          <a:p>
            <a:pPr rtl="1" algn="r" marL="0" indent="0">
              <a:buNone/>
            </a:pPr>
            <a:r>
              <a:rPr sz="1200" lang="he-IL"/>
              <a:t>•  מחיקת קובץ, שינוי יותר ממה שביקשתם, התקנת חבילה והרצת פקודה מסוכנת.</a:t>
            </a:r>
          </a:p>
          <a:p>
            <a:pPr rtl="1" algn="r" marL="0" indent="0">
              <a:buNone/>
            </a:pPr>
            <a:r>
              <a:rPr b="1" sz="1200" lang="he-IL"/>
              <a:t>אם הכיתה לא זוכרת</a:t>
            </a:r>
          </a:p>
          <a:p>
            <a:pPr rtl="1" algn="r" marL="0" indent="0">
              <a:buNone/>
            </a:pPr>
            <a:r>
              <a:rPr sz="1200" lang="he-IL"/>
              <a:t>•  סיפור הפתיחה הוא הכשל הראשון.</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שלושה אזורים, וכדאי לעבור עליהם מימין לשמאל.</a:t>
            </a:r>
          </a:p>
          <a:p>
            <a:pPr rtl="1" algn="r" marL="0" indent="0">
              <a:buNone/>
            </a:pPr>
            <a:r>
              <a:rPr b="1" sz="1200" lang="he-IL"/>
              <a:t>מה אומרים</a:t>
            </a:r>
          </a:p>
          <a:p>
            <a:pPr rtl="1" algn="r" marL="0" indent="0">
              <a:buNone/>
            </a:pPr>
            <a:r>
              <a:rPr sz="1200" lang="he-IL"/>
              <a:t>•  תיקיית עבודה: הקבצים כפי שהם עכשיו (כמו החנות, יש בה הכל).</a:t>
            </a:r>
          </a:p>
          <a:p>
            <a:pPr rtl="1" algn="r" marL="0" indent="0">
              <a:buNone/>
            </a:pPr>
            <a:r>
              <a:rPr sz="1200" lang="he-IL"/>
              <a:t>•  אזור ההכנה (staging): מה ייכנס לשמירה הבאה (העגלה, מה שבחרנו לקנות).</a:t>
            </a:r>
          </a:p>
          <a:p>
            <a:pPr rtl="1" algn="r" marL="0" indent="0">
              <a:buNone/>
            </a:pPr>
            <a:r>
              <a:rPr sz="1200" lang="he-IL"/>
              <a:t>•  ההיסטוריה (repository): נקודות השמירה (הקופה, אחרי תשלום זה נשמר).</a:t>
            </a:r>
          </a:p>
          <a:p>
            <a:pPr rtl="1" algn="r" marL="0" indent="0">
              <a:buNone/>
            </a:pPr>
            <a:r>
              <a:rPr sz="1200" lang="he-IL"/>
              <a:t>•  הפקודה add מעבירה קובץ מתיקיית העבודה לעגלה, והפקודה commit שומרת את העגלה כנקודת שמירה עם הודעה.</a:t>
            </a:r>
          </a:p>
          <a:p>
            <a:pPr rtl="1" algn="r" marL="0" indent="0">
              <a:buNone/>
            </a:pPr>
            <a:r>
              <a:rPr sz="1200" lang="he-IL"/>
              <a:t>•  למה צריך שני שלבים?</a:t>
            </a:r>
          </a:p>
          <a:p>
            <a:pPr rtl="1" algn="r" marL="0" indent="0">
              <a:buNone/>
            </a:pPr>
            <a:r>
              <a:rPr sz="1200" lang="he-IL"/>
              <a:t>•  כדי לבחור אילו שינויים נכנסים לנקודת השמירה, ולא לשמור הכל בלי לחשוב.</a:t>
            </a:r>
          </a:p>
          <a:p>
            <a:pPr rtl="1" algn="r" marL="0" indent="0">
              <a:buNone/>
            </a:pPr>
            <a:r>
              <a:rPr b="1" sz="1200" lang="he-IL"/>
              <a:t>שאלה לכיתה</a:t>
            </a:r>
          </a:p>
          <a:p>
            <a:pPr rtl="1" algn="r" marL="0" indent="0">
              <a:buNone/>
            </a:pPr>
            <a:r>
              <a:rPr sz="1200" lang="he-IL"/>
              <a:t>•  אם שיניתי שני קבצים אבל עשיתי add רק לאחד, מה ישמר ב-commit?</a:t>
            </a:r>
          </a:p>
          <a:p>
            <a:pPr rtl="1" algn="r" marL="0" indent="0">
              <a:buNone/>
            </a:pPr>
            <a:r>
              <a:rPr b="1" sz="1200" lang="he-IL"/>
              <a:t>תשובה</a:t>
            </a:r>
          </a:p>
          <a:p>
            <a:pPr rtl="1" algn="r" marL="0" indent="0">
              <a:buNone/>
            </a:pPr>
            <a:r>
              <a:rPr sz="1200" lang="he-IL"/>
              <a:t>•  רק הקובץ בעגלה.</a:t>
            </a:r>
          </a:p>
          <a:p>
            <a:pPr rtl="1" algn="r" marL="0" indent="0">
              <a:buNone/>
            </a:pPr>
            <a:r>
              <a:rPr sz="1200" lang="he-IL"/>
              <a:t>•  במחברת הפונקציה commit_all עושה את שני השלבים יחד: git add -A ואז git commit.</a:t>
            </a:r>
          </a:p>
          <a:p>
            <a:pPr rtl="1" algn="r" marL="0" indent="0">
              <a:buNone/>
            </a:pPr>
            <a:r>
              <a:rPr b="1" sz="1200" lang="he-IL"/>
              <a:t>טעות נפוצה</a:t>
            </a:r>
          </a:p>
          <a:p>
            <a:pPr rtl="1" algn="r" marL="0" indent="0">
              <a:buNone/>
            </a:pPr>
            <a:r>
              <a:rPr sz="1200" lang="he-IL"/>
              <a:t>•  לשכוח add ולגלות שה-commit ריק או חלקי.</a:t>
            </a:r>
          </a:p>
          <a:p>
            <a:pPr rtl="1" algn="r" marL="0" indent="0">
              <a:buNone/>
            </a:pPr>
            <a:r>
              <a:rPr sz="1200" lang="he-IL"/>
              <a:t>•  תקציב: כ-1.5 דקות.</a:t>
            </a:r>
          </a:p>
          <a:p>
            <a:pPr rtl="1" algn="r" marL="0" indent="0">
              <a:buNone/>
            </a:pPr>
            <a:r>
              <a:rPr b="1" sz="1200" lang="he-IL"/>
              <a:t>להעמקה</a:t>
            </a:r>
          </a:p>
          <a:p>
            <a:pPr rtl="1" algn="r" marL="0" indent="0">
              <a:buNone/>
            </a:pPr>
            <a:r>
              <a:rPr sz="1200" lang="he-IL"/>
              <a:t>•  במונחי Git, ״עגלה״ היא האינדקס (index), הנקרא גם staging area.</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מה אומרים</a:t>
            </a:r>
          </a:p>
          <a:p>
            <a:pPr rtl="1" algn="r" marL="0" indent="0">
              <a:buNone/>
            </a:pPr>
            <a:r>
              <a:rPr sz="1200" lang="he-IL"/>
              <a:t>•  טבלת עזר של שש פעולות. status: מה השתנה. add: מכניסים לעגלה. commit: שומרים עם הודעה. log: היסטוריית השמירות. diff: מה בדיוק השתנה בכל שורה. restore: מבטלים שינוי (מחזירים קובץ למצב ה-commit האחרון).</a:t>
            </a:r>
          </a:p>
          <a:p>
            <a:pPr rtl="1" algn="r" marL="0" indent="0">
              <a:buNone/>
            </a:pPr>
            <a:r>
              <a:rPr sz="1200" lang="he-IL"/>
              <a:t>•  בעמודה השמאלית: איזו פונקציה במחברת HM_06 מבצעת את הפעולה (git מריצה כל פקודה, commit_all עושה add ו־commit, changed_files קוראת את status, restore_file משחזרת, ו־diff_stat בחלק ג׳ בבית).</a:t>
            </a:r>
          </a:p>
          <a:p>
            <a:pPr rtl="1" algn="r" marL="0" indent="0">
              <a:buNone/>
            </a:pPr>
            <a:r>
              <a:rPr sz="1200" lang="he-IL"/>
              <a:t>•  הפקודות רצות באמת בתוך פייתון.</a:t>
            </a:r>
          </a:p>
          <a:p>
            <a:pPr rtl="1" algn="r" marL="0" indent="0">
              <a:buNone/>
            </a:pPr>
            <a:r>
              <a:rPr sz="1200" lang="he-IL"/>
              <a:t>•  אזהרה חשובה על restore: הוא מוחק שינויים שלא נשמרו ב-commit, ולכן אי אפשר לשחזר אותם.</a:t>
            </a:r>
          </a:p>
          <a:p>
            <a:pPr rtl="1" algn="r" marL="0" indent="0">
              <a:buNone/>
            </a:pPr>
            <a:r>
              <a:rPr sz="1200" lang="he-IL"/>
              <a:t>•  אם לא עשיתם commit לפני שהסוכן פעל, אין לאן לחזור.</a:t>
            </a:r>
          </a:p>
          <a:p>
            <a:pPr rtl="1" algn="r" marL="0" indent="0">
              <a:buNone/>
            </a:pPr>
            <a:r>
              <a:rPr sz="1200" lang="he-IL"/>
              <a:t>•  זה הטיעון המרכזי לכלל ״לפני הסוכן: commit״.</a:t>
            </a:r>
          </a:p>
          <a:p>
            <a:pPr rtl="1" algn="r" marL="0" indent="0">
              <a:buNone/>
            </a:pPr>
            <a:r>
              <a:rPr b="1" sz="1200" lang="he-IL"/>
              <a:t>אנלוגיה</a:t>
            </a:r>
          </a:p>
          <a:p>
            <a:pPr rtl="1" algn="r" marL="0" indent="0">
              <a:buNone/>
            </a:pPr>
            <a:r>
              <a:rPr sz="1200" lang="he-IL"/>
              <a:t>•  כמו כפתור Undo שעובד רק עד נקודת השמירה האחרונה.</a:t>
            </a:r>
          </a:p>
          <a:p>
            <a:pPr rtl="1" algn="r" marL="0" indent="0">
              <a:buNone/>
            </a:pPr>
            <a:r>
              <a:rPr b="1" sz="1200" lang="he-IL"/>
              <a:t>שאלה לכיתה</a:t>
            </a:r>
          </a:p>
          <a:p>
            <a:pPr rtl="1" algn="r" marL="0" indent="0">
              <a:buNone/>
            </a:pPr>
            <a:r>
              <a:rPr sz="1200" lang="he-IL"/>
              <a:t>•  איזו פעולה תשתמשו כדי להבין מה סוכן שינה?</a:t>
            </a:r>
          </a:p>
          <a:p>
            <a:pPr rtl="1" algn="r" marL="0" indent="0">
              <a:buNone/>
            </a:pPr>
            <a:r>
              <a:rPr b="1" sz="1200" lang="he-IL"/>
              <a:t>תשובה</a:t>
            </a:r>
          </a:p>
          <a:p>
            <a:pPr rtl="1" algn="r" marL="0" indent="0">
              <a:buNone/>
            </a:pPr>
            <a:r>
              <a:rPr sz="1200" lang="he-IL"/>
              <a:t>•  diff (ו-status לרשימת הקבצים).</a:t>
            </a:r>
          </a:p>
          <a:p>
            <a:pPr rtl="1" algn="r" marL="0" indent="0">
              <a:buNone/>
            </a:pPr>
            <a:r>
              <a:rPr sz="1200" lang="he-IL"/>
              <a:t>•  הענפים והמיזוג מוסברים בשקף הבא.</a:t>
            </a:r>
          </a:p>
          <a:p>
            <a:pPr rtl="1" algn="r" marL="0" indent="0">
              <a:buNone/>
            </a:pPr>
            <a:r>
              <a:rPr sz="1200" lang="he-IL"/>
              <a:t>•  תקציב: כ-1 דקה.</a:t>
            </a:r>
          </a:p>
          <a:p>
            <a:pPr rtl="1" algn="r" marL="0" indent="0">
              <a:buNone/>
            </a:pPr>
            <a:r>
              <a:rPr sz="1200" lang="he-IL"/>
              <a:t>•  השקף הבא מסביר מה נשמר בפועל ב-commit ומה זה hash, כי הפונקציה commit_all במחברת מחזירה hash.</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ענף (branch) הוא קו פיתוח נפרד, כמו עותק טיוטה של מסמך.</a:t>
            </a:r>
          </a:p>
          <a:p>
            <a:pPr rtl="1" algn="r" marL="0" indent="0">
              <a:buNone/>
            </a:pPr>
            <a:r>
              <a:rPr b="1" sz="1200" lang="he-IL"/>
              <a:t>מה אומרים</a:t>
            </a:r>
          </a:p>
          <a:p>
            <a:pPr rtl="1" algn="r" marL="0" indent="0">
              <a:buNone/>
            </a:pPr>
            <a:r>
              <a:rPr sz="1200" lang="he-IL"/>
              <a:t>•  הקו הכחול התחתון הוא main, הענף הראשי והיציב.</a:t>
            </a:r>
          </a:p>
          <a:p>
            <a:pPr rtl="1" algn="r" marL="0" indent="0">
              <a:buNone/>
            </a:pPr>
            <a:r>
              <a:rPr sz="1200" lang="he-IL"/>
              <a:t>•  הקו הכתום למעלה הוא ענף ניסוי (למשל agent-test) שיוצא מ-main, ובו הסוכן יכול לבצע commits בלי להשפיע על main.</a:t>
            </a:r>
          </a:p>
          <a:p>
            <a:pPr rtl="1" algn="r" marL="0" indent="0">
              <a:buNone/>
            </a:pPr>
            <a:r>
              <a:rPr sz="1200" lang="he-IL"/>
              <a:t>•  אם הניסוי הצליח, ממזגים (merge) את הענף חזרה ל-main: השינויים נכנסים ל-main (החץ הירוק).</a:t>
            </a:r>
          </a:p>
          <a:p>
            <a:pPr rtl="1" algn="r" marL="0" indent="0">
              <a:buNone/>
            </a:pPr>
            <a:r>
              <a:rPr sz="1200" lang="he-IL"/>
              <a:t>•  אם נכשל, פשוט זורקים את הענף, ו-main נשאר כמו שהיה.</a:t>
            </a:r>
          </a:p>
          <a:p>
            <a:pPr rtl="1" algn="r" marL="0" indent="0">
              <a:buNone/>
            </a:pPr>
            <a:r>
              <a:rPr sz="1200" lang="he-IL"/>
              <a:t>•  הפקודות (אופציונלי): git switch -c agent-test ליצירת ענף ומעבר אליו, git switch main לחזרה, git merge agent-test למיזוג, git branch -d agent-test למחיקת הענף.</a:t>
            </a:r>
          </a:p>
          <a:p>
            <a:pPr rtl="1" algn="r" marL="0" indent="0">
              <a:buNone/>
            </a:pPr>
            <a:r>
              <a:rPr sz="1200" lang="he-IL"/>
              <a:t>•  במחברת: start_branch יוצרת ענף ועוברת אליו (git switch -c).</a:t>
            </a:r>
          </a:p>
          <a:p>
            <a:pPr rtl="1" algn="r" marL="0" indent="0">
              <a:buNone/>
            </a:pPr>
            <a:r>
              <a:rPr b="1" sz="1200" lang="he-IL"/>
              <a:t>אנלוגיה</a:t>
            </a:r>
          </a:p>
          <a:p>
            <a:pPr rtl="1" algn="r" marL="0" indent="0">
              <a:buNone/>
            </a:pPr>
            <a:r>
              <a:rPr sz="1200" lang="he-IL"/>
              <a:t>•  מעבדת ניסוי ליד קו הייצור: מנסים שינוי תהליך במעבדה, ורק אם הוא מוכח מעבירים לקו.</a:t>
            </a:r>
          </a:p>
          <a:p>
            <a:pPr rtl="1" algn="r" marL="0" indent="0">
              <a:buNone/>
            </a:pPr>
            <a:r>
              <a:rPr sz="1200" lang="he-IL"/>
              <a:t>•  כשיש שני צדדים ששינו את אותה שורה, נוצר קונפליקט מיזוג והמשתמש בוחר מה נשאר.</a:t>
            </a:r>
          </a:p>
          <a:p>
            <a:pPr rtl="1" algn="r" marL="0" indent="0">
              <a:buNone/>
            </a:pPr>
            <a:r>
              <a:rPr sz="1200" lang="he-IL"/>
              <a:t>•  במעבדה לא צפוי קונפליקט.</a:t>
            </a:r>
          </a:p>
          <a:p>
            <a:pPr rtl="1" algn="r" marL="0" indent="0">
              <a:buNone/>
            </a:pPr>
            <a:r>
              <a:rPr b="1" sz="1200" lang="he-IL"/>
              <a:t>שאלה לכיתה</a:t>
            </a:r>
          </a:p>
          <a:p>
            <a:pPr rtl="1" algn="r" marL="0" indent="0">
              <a:buNone/>
            </a:pPr>
            <a:r>
              <a:rPr sz="1200" lang="he-IL"/>
              <a:t>•  למה לא עובדים ישירות על main?</a:t>
            </a:r>
          </a:p>
          <a:p>
            <a:pPr rtl="1" algn="r" marL="0" indent="0">
              <a:buNone/>
            </a:pPr>
            <a:r>
              <a:rPr b="1" sz="1200" lang="he-IL"/>
              <a:t>תשובה</a:t>
            </a:r>
          </a:p>
          <a:p>
            <a:pPr rtl="1" algn="r" marL="0" indent="0">
              <a:buNone/>
            </a:pPr>
            <a:r>
              <a:rPr sz="1200" lang="he-IL"/>
              <a:t>•  כדי שכישלון של סוכן לא יפגע בגרסה היציבה.</a:t>
            </a:r>
          </a:p>
          <a:p>
            <a:pPr rtl="1" algn="r" marL="0" indent="0">
              <a:buNone/>
            </a:pPr>
            <a:r>
              <a:rPr sz="1200" lang="he-IL"/>
              <a:t>•  תקציב: כ-1.5 דקות.</a:t>
            </a:r>
          </a:p>
          <a:p>
            <a:pPr rtl="1" algn="r" marL="0" indent="0">
              <a:buNone/>
            </a:pPr>
            <a:r>
              <a:rPr sz="1200" lang="he-IL"/>
              <a:t>•  דיוק חשוב: ״עותק טיוטה״ היא אנלוגיה בלבד, כי Git לא מעתיק קבצים: ענף הוא מצביע ל-commit (ראו שקף ההעשרה ״למה ענף זול״).</a:t>
            </a:r>
          </a:p>
          <a:p>
            <a:pPr rtl="1" algn="r" marL="0" indent="0">
              <a:buNone/>
            </a:pPr>
            <a:r>
              <a:rPr sz="1200" lang="he-IL"/>
              <a:t>•  במעבדה (חלק ג׳, בבית) המיזוג הוא fast-forward: main פשוט מתקדם, ולכן אין commit מיזוג.</a:t>
            </a:r>
          </a:p>
          <a:p>
            <a:pPr rtl="1" algn="r" marL="0" indent="0">
              <a:buNone/>
            </a:pPr>
            <a:r>
              <a:rPr sz="1200" lang="he-IL"/>
              <a:t>•  אם ה-main השתנה בינתיים, נוצר commit מיזוג עם שני הורים (ראו שקף ההעשרה על מיזוג).</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הרצף של כל הקורס, בארבעה צעדים: commit (נקודת שמירה), הסוכן עובד, diff (מה השתנה), החלטה (משאירים או מבטלים).</a:t>
            </a:r>
          </a:p>
          <a:p>
            <a:pPr rtl="1" algn="r" marL="0" indent="0">
              <a:buNone/>
            </a:pPr>
            <a:r>
              <a:rPr b="1" sz="1200" lang="he-IL"/>
              <a:t>מה אומרים</a:t>
            </a:r>
          </a:p>
          <a:p>
            <a:pPr rtl="1" algn="r" marL="0" indent="0">
              <a:buNone/>
            </a:pPr>
            <a:r>
              <a:rPr sz="1200" lang="he-IL"/>
              <a:t>•  אם משהו השתבש, משחזרים לנקודה 1 ואין נזק.</a:t>
            </a:r>
          </a:p>
          <a:p>
            <a:pPr rtl="1" algn="r" marL="0" indent="0">
              <a:buNone/>
            </a:pPr>
            <a:r>
              <a:rPr sz="1200" lang="he-IL"/>
              <a:t>•  זה הכלל שמחבר את חלק א׳ לחלק ב׳: רמות האוטונומיה מאפשרות לסוכן לעבוד לבד, אבל רק כשיש נקודת חזרה ובדיקה בסוף.</a:t>
            </a:r>
          </a:p>
          <a:p>
            <a:pPr rtl="1" algn="r" marL="0" indent="0">
              <a:buNone/>
            </a:pPr>
            <a:r>
              <a:rPr b="1" sz="1200" lang="he-IL"/>
              <a:t>אנלוגיה</a:t>
            </a:r>
          </a:p>
          <a:p>
            <a:pPr rtl="1" algn="r" marL="0" indent="0">
              <a:buNone/>
            </a:pPr>
            <a:r>
              <a:rPr sz="1200" lang="he-IL"/>
              <a:t>•  נוהל שינוי הנדסי (ECN): מתעדים את המצב הקיים, מבצעים שינוי, משווים בין לפני לאחרי, ורק אז מאשרים.</a:t>
            </a:r>
          </a:p>
          <a:p>
            <a:pPr rtl="1" algn="r" marL="0" indent="0">
              <a:buNone/>
            </a:pPr>
            <a:r>
              <a:rPr b="1" sz="1200" lang="he-IL"/>
              <a:t>שאלה לכיתה</a:t>
            </a:r>
          </a:p>
          <a:p>
            <a:pPr rtl="1" algn="r" marL="0" indent="0">
              <a:buNone/>
            </a:pPr>
            <a:r>
              <a:rPr sz="1200" lang="he-IL"/>
              <a:t>•  איזה צעד אנשים נוטים לדלג עליו?</a:t>
            </a:r>
          </a:p>
          <a:p>
            <a:pPr rtl="1" algn="r" marL="0" indent="0">
              <a:buNone/>
            </a:pPr>
            <a:r>
              <a:rPr b="1" sz="1200" lang="he-IL"/>
              <a:t>תשובה</a:t>
            </a:r>
          </a:p>
          <a:p>
            <a:pPr rtl="1" algn="r" marL="0" indent="0">
              <a:buNone/>
            </a:pPr>
            <a:r>
              <a:rPr sz="1200" lang="he-IL"/>
              <a:t>•  גם הראשון (אין commit) וגם השלישי (לא קוראים diff ומאשרים בעיוורון).</a:t>
            </a:r>
          </a:p>
          <a:p>
            <a:pPr rtl="1" algn="r" marL="0" indent="0">
              <a:buNone/>
            </a:pPr>
            <a:r>
              <a:rPr sz="1200" lang="he-IL"/>
              <a:t>•  בפרויקט הקורס, ההיסטוריה של ה-commits היא גם ראיה לאחריות אישית של כל חבר צוות.</a:t>
            </a:r>
          </a:p>
          <a:p>
            <a:pPr rtl="1" algn="r" marL="0" indent="0">
              <a:buNone/>
            </a:pPr>
            <a:r>
              <a:rPr sz="1200" lang="he-IL"/>
              <a:t>•  קישור למפגש 8: סקירת קוד היא הרחבה של צעד 3.</a:t>
            </a:r>
          </a:p>
          <a:p>
            <a:pPr rtl="1" algn="r" marL="0" indent="0">
              <a:buNone/>
            </a:pPr>
            <a:r>
              <a:rPr sz="1200" lang="he-IL"/>
              <a:t>•  תקציב: כ-0.75 דקה, כי הכלל כבר הוצג ויחזור בשקף הסיכום.</a:t>
            </a:r>
          </a:p>
          <a:p>
            <a:pPr rtl="1" algn="r" marL="0" indent="0">
              <a:buNone/>
            </a:pPr>
            <a:r>
              <a:rPr sz="1200" lang="he-IL"/>
              <a:t>•  חזרה למפגשים 1 ו־5: מפגש 1 דרש לקרוא, להבין ולבדוק קוד שנוצר ב־AI, וה־diff הוא הדרך לקרוא מה הסוכן עשה בפועל.</a:t>
            </a:r>
          </a:p>
          <a:p>
            <a:pPr rtl="1" algn="r" marL="0" indent="0">
              <a:buNone/>
            </a:pPr>
            <a:r>
              <a:rPr sz="1200" lang="he-IL"/>
              <a:t>•  במפגש 5 find_risky ו־summarize_transcript קראו תמלול, כלומר מה שהסוכן אמר שעשה, וה־diff קורא את התוצאה עצמה.</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diff מציג את ההבדל בין שתי גרסאות.</a:t>
            </a:r>
          </a:p>
          <a:p>
            <a:pPr rtl="1" algn="r" marL="0" indent="0">
              <a:buNone/>
            </a:pPr>
            <a:r>
              <a:rPr b="1" sz="1200" lang="he-IL"/>
              <a:t>מה אומרים</a:t>
            </a:r>
          </a:p>
          <a:p>
            <a:pPr rtl="1" algn="r" marL="0" indent="0">
              <a:buNone/>
            </a:pPr>
            <a:r>
              <a:rPr sz="1200" lang="he-IL"/>
              <a:t>•  אדום (עם מינוס) הוא שורה שנמחקה, ירוק (עם פלוס) הוא שורה שנוספה, ושורות אפורות הן הקשר שלא השתנה.</a:t>
            </a:r>
          </a:p>
          <a:p>
            <a:pPr rtl="1" algn="r" marL="0" indent="0">
              <a:buNone/>
            </a:pPr>
            <a:r>
              <a:rPr sz="1200" lang="he-IL"/>
              <a:t>•  בדוגמה: פונקציית total חישבה בעבר רק סכום כמויות (df.quantity.sum()), והסוכן שינה אותה לחישוב הכנסה (כמות כפול מחיר).</a:t>
            </a:r>
          </a:p>
          <a:p>
            <a:pPr rtl="1" algn="r" marL="0" indent="0">
              <a:buNone/>
            </a:pPr>
            <a:r>
              <a:rPr sz="1200" lang="he-IL"/>
              <a:t>•  קוראים את ה-diff ורואים בדיוק מה השתנה.</a:t>
            </a:r>
          </a:p>
          <a:p>
            <a:pPr rtl="1" algn="r" marL="0" indent="0">
              <a:buNone/>
            </a:pPr>
            <a:r>
              <a:rPr b="1" sz="1200" lang="he-IL"/>
              <a:t>מסר מרכזי</a:t>
            </a:r>
          </a:p>
          <a:p>
            <a:pPr rtl="1" algn="r" marL="0" indent="0">
              <a:buNone/>
            </a:pPr>
            <a:r>
              <a:rPr sz="1200" lang="he-IL"/>
              <a:t>•  קוראים תמיד את ה-diff לפני שמקבלים שינוי של סוכן, גם בקבצים שלא ביקשתם לגעת בהם, כי שם הסוכן עלול לשנות דברים בשקט.</a:t>
            </a:r>
          </a:p>
          <a:p>
            <a:pPr rtl="1" algn="r" marL="0" indent="0">
              <a:buNone/>
            </a:pPr>
            <a:r>
              <a:rPr b="1" sz="1200" lang="he-IL"/>
              <a:t>אנלוגיה</a:t>
            </a:r>
          </a:p>
          <a:p>
            <a:pPr rtl="1" algn="r" marL="0" indent="0">
              <a:buNone/>
            </a:pPr>
            <a:r>
              <a:rPr sz="1200" lang="he-IL"/>
              <a:t>•  כמו סימון שינויים (Track Changes) במסמך, או דוח סטיות (variance report) בין תקציב לביצוע.</a:t>
            </a:r>
          </a:p>
          <a:p>
            <a:pPr rtl="1" algn="r" marL="0" indent="0">
              <a:buNone/>
            </a:pPr>
            <a:r>
              <a:rPr b="1" sz="1200" lang="he-IL"/>
              <a:t>שאלה לכיתה</a:t>
            </a:r>
          </a:p>
          <a:p>
            <a:pPr rtl="1" algn="r" marL="0" indent="0">
              <a:buNone/>
            </a:pPr>
            <a:r>
              <a:rPr sz="1200" lang="he-IL"/>
              <a:t>•  אם אתם רואים ב-diff שנמחקו 40 שורות ולא ביקשתם מחיקה, מה עושים?</a:t>
            </a:r>
          </a:p>
          <a:p>
            <a:pPr rtl="1" algn="r" marL="0" indent="0">
              <a:buNone/>
            </a:pPr>
            <a:r>
              <a:rPr b="1" sz="1200" lang="he-IL"/>
              <a:t>תשובה</a:t>
            </a:r>
          </a:p>
          <a:p>
            <a:pPr rtl="1" algn="r" marL="0" indent="0">
              <a:buNone/>
            </a:pPr>
            <a:r>
              <a:rPr sz="1200" lang="he-IL"/>
              <a:t>•  לא ממזגים, מבררים מה הסוכן עשה ומשחזרים אם צריך.</a:t>
            </a:r>
          </a:p>
          <a:p>
            <a:pPr rtl="1" algn="r" marL="0" indent="0">
              <a:buNone/>
            </a:pPr>
            <a:r>
              <a:rPr sz="1200" lang="he-IL"/>
              <a:t>•  קישור למפגש 8: סקירת קוד.</a:t>
            </a:r>
          </a:p>
          <a:p>
            <a:pPr rtl="1" algn="r" marL="0" indent="0">
              <a:buNone/>
            </a:pPr>
            <a:r>
              <a:rPr b="1" sz="1200" lang="he-IL"/>
              <a:t>חיבור לשיעורים קודמים</a:t>
            </a:r>
          </a:p>
          <a:p>
            <a:pPr rtl="1" algn="r" marL="0" indent="0">
              <a:buNone/>
            </a:pPr>
            <a:r>
              <a:rPr sz="1200" lang="he-IL"/>
              <a:t>•  מבחן validate_top5 השווה תוצאה לתשובה ידועה.</a:t>
            </a:r>
          </a:p>
          <a:p>
            <a:pPr rtl="1" algn="r" marL="0" indent="0">
              <a:buNone/>
            </a:pPr>
            <a:r>
              <a:rPr sz="1200" lang="he-IL"/>
              <a:t>•  גם ה־diff משווה: מה שהיה מול מה שיש עכשיו, ולכן שניהם בודקים תוצאה ולא הצהרה.</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הודעת commit טובה אומרת מה שונה ולמה, בשורה קצרה.</a:t>
            </a:r>
          </a:p>
          <a:p>
            <a:pPr rtl="1" algn="r" marL="0" indent="0">
              <a:buNone/>
            </a:pPr>
            <a:r>
              <a:rPr b="1" sz="1200" lang="he-IL"/>
              <a:t>מה אומרים</a:t>
            </a:r>
          </a:p>
          <a:p>
            <a:pPr rtl="1" algn="r" marL="0" indent="0">
              <a:buNone/>
            </a:pPr>
            <a:r>
              <a:rPr sz="1200" lang="he-IL"/>
              <a:t>•  בעמודה הימנית דוגמאות גרועות (update, fix, asdf) שלא אומרות כלום למי שקורא את ההיסטוריה אחרי חודש.</a:t>
            </a:r>
          </a:p>
          <a:p>
            <a:pPr rtl="1" algn="r" marL="0" indent="0">
              <a:buNone/>
            </a:pPr>
            <a:r>
              <a:rPr sz="1200" lang="he-IL"/>
              <a:t>•  בעמודה השמאלית דוגמאות טובות ומדויקות. commit קטן עם הודעה ברורה מאפשר למצוא את הנקודה שבה משהו נשבר, ולשחזר אותה בלי לאבד עבודה אחרת.</a:t>
            </a:r>
          </a:p>
          <a:p>
            <a:pPr rtl="1" algn="r" marL="0" indent="0">
              <a:buNone/>
            </a:pPr>
            <a:r>
              <a:rPr b="1" sz="1200" lang="he-IL"/>
              <a:t>אנלוגיה</a:t>
            </a:r>
          </a:p>
          <a:p>
            <a:pPr rtl="1" algn="r" marL="0" indent="0">
              <a:buNone/>
            </a:pPr>
            <a:r>
              <a:rPr sz="1200" lang="he-IL"/>
              <a:t>•  כמו שמות קבצים מבולגנים (final, final2, final_new): אף אחד לא יודע מה שונה בכל גרסה.</a:t>
            </a:r>
          </a:p>
          <a:p>
            <a:pPr rtl="1" algn="r" marL="0" indent="0">
              <a:buNone/>
            </a:pPr>
            <a:r>
              <a:rPr b="1" sz="1200" lang="he-IL"/>
              <a:t>שאלה לכיתה</a:t>
            </a:r>
          </a:p>
          <a:p>
            <a:pPr rtl="1" algn="r" marL="0" indent="0">
              <a:buNone/>
            </a:pPr>
            <a:r>
              <a:rPr sz="1200" lang="he-IL"/>
              <a:t>•  איזו הודעה תכתבו אחרי שהסוכן הוסיף עמודת חודש לקובץ?</a:t>
            </a:r>
          </a:p>
          <a:p>
            <a:pPr rtl="1" algn="r" marL="0" indent="0">
              <a:buNone/>
            </a:pPr>
            <a:r>
              <a:rPr sz="1200" lang="he-IL"/>
              <a:t>•  תשובה לדוגמה: Add month column to orders analysis.</a:t>
            </a:r>
          </a:p>
          <a:p>
            <a:pPr rtl="1" algn="r" marL="0" indent="0">
              <a:buNone/>
            </a:pPr>
            <a:r>
              <a:rPr sz="1200" lang="he-IL"/>
              <a:t>•  בפרויקט הקורס ההיסטוריה משמשת להוכחת תרומה אישית של כל חבר צוות, ולכן הודעות טובות הן חלק מהעבודה.</a:t>
            </a:r>
          </a:p>
          <a:p>
            <a:pPr rtl="1" algn="r" marL="0" indent="0">
              <a:buNone/>
            </a:pPr>
            <a:r>
              <a:rPr sz="1200" lang="he-IL"/>
              <a:t>•  אפשר לבקש מהסוכן לנסח הודעה, אבל קוראים ומתקנים לפני שמאשרים.</a:t>
            </a:r>
          </a:p>
          <a:p>
            <a:pPr rtl="1" algn="r" marL="0" indent="0">
              <a:buNone/>
            </a:pPr>
            <a:r>
              <a:rPr sz="1200" lang="he-IL"/>
              <a:t>•  תג ״אופציונלי״: שקף הודעת commit, כדקה.</a:t>
            </a:r>
          </a:p>
          <a:p>
            <a:pPr rtl="1" algn="r" marL="0" indent="0">
              <a:buNone/>
            </a:pPr>
            <a:r>
              <a:rPr sz="1200" lang="he-IL"/>
              <a:t>•  מדלגים אם הזמן קצר: במחברת ההודעות ניתנות כמעט מוכנות.</a:t>
            </a:r>
          </a:p>
          <a:p>
            <a:pPr rtl="1" algn="r" marL="0" indent="0">
              <a:buNone/>
            </a:pPr>
            <a:r>
              <a:rPr sz="1200" lang="he-IL"/>
              <a:t>•  נוסף בסקירה: ההודעה היא חלק מאובייקט ה-commit וגם מה שנכנס ל-hash שלו (Pro Git, Git Objects), ולכן אי אפשר לתקן אותה ״בשקט״ אחרי שנשמרה.</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בסוף חלק ב׳ (כ-1 דקה): הסוכן שינה 6 קבצים, אתם ביקשתם קובץ אחד.</a:t>
            </a:r>
          </a:p>
          <a:p>
            <a:pPr rtl="1" algn="r" marL="0" indent="0">
              <a:buNone/>
            </a:pPr>
            <a:r>
              <a:rPr b="1" sz="1200" lang="he-IL"/>
              <a:t>מה אומרים</a:t>
            </a:r>
          </a:p>
          <a:p>
            <a:pPr rtl="1" algn="r" marL="0" indent="0">
              <a:buNone/>
            </a:pPr>
            <a:r>
              <a:rPr sz="1200" lang="he-IL"/>
              <a:t>•  איך תגלו, ומה תעשו?</a:t>
            </a:r>
          </a:p>
          <a:p>
            <a:pPr rtl="1" algn="r" marL="0" indent="0">
              <a:buNone/>
            </a:pPr>
            <a:r>
              <a:rPr sz="1200" lang="he-IL"/>
              <a:t>•  תנו לכיתה לחשוב ולענות לפני שחושפים את התשובה.</a:t>
            </a:r>
          </a:p>
          <a:p>
            <a:pPr rtl="1" algn="r" marL="0" indent="0">
              <a:buNone/>
            </a:pPr>
            <a:r>
              <a:rPr sz="1200" lang="he-IL"/>
              <a:t>•  התשובה הצפויה כוללת שני חלקים: איך מגלים (diff או status) ומה עושים (restore).</a:t>
            </a:r>
          </a:p>
          <a:p>
            <a:pPr rtl="1" algn="r" marL="0" indent="0">
              <a:buNone/>
            </a:pPr>
            <a:r>
              <a:rPr b="1" sz="1200" lang="he-IL"/>
              <a:t>אנלוגיה</a:t>
            </a:r>
          </a:p>
          <a:p>
            <a:pPr rtl="1" algn="r" marL="0" indent="0">
              <a:buNone/>
            </a:pPr>
            <a:r>
              <a:rPr sz="1200" lang="he-IL"/>
              <a:t>•  כמו שאתם מוצאים שינויים לא מאושרים בגיליון מתוכנן.</a:t>
            </a:r>
          </a:p>
          <a:p>
            <a:pPr rtl="1" algn="r" marL="0" indent="0">
              <a:buNone/>
            </a:pPr>
            <a:r>
              <a:rPr sz="1200" lang="he-IL"/>
              <a:t>•  אם הסטודנטים מציעים לבדוק בעין את הקבצים, הדגישו שבפרויקט גדול זה לא ריאלי, ו-diff עושה זאת באופן שיטתי.</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תשובה</a:t>
            </a:r>
          </a:p>
          <a:p>
            <a:pPr rtl="1" algn="r" marL="0" indent="0">
              <a:buNone/>
            </a:pPr>
            <a:r>
              <a:rPr sz="1200" lang="he-IL"/>
              <a:t>•  קוראים את ה-diff ורואים אילו קבצים השתנו (במחברת: changed_files).</a:t>
            </a:r>
          </a:p>
          <a:p>
            <a:pPr rtl="1" algn="r" marL="0" indent="0">
              <a:buNone/>
            </a:pPr>
            <a:r>
              <a:rPr sz="1200" lang="he-IL"/>
              <a:t>•  מבטלים את הקבצים שלא התבקשו (במחברת: restore_file) ומחזירים לנקודה השמורה אם צריך.</a:t>
            </a:r>
          </a:p>
          <a:p>
            <a:pPr rtl="1" algn="r" marL="0" indent="0">
              <a:buNone/>
            </a:pPr>
            <a:r>
              <a:rPr b="1" sz="1200" lang="he-IL"/>
              <a:t>שימו לב</a:t>
            </a:r>
          </a:p>
          <a:p>
            <a:pPr rtl="1" algn="r" marL="0" indent="0">
              <a:buNone/>
            </a:pPr>
            <a:r>
              <a:rPr sz="1200" lang="he-IL"/>
              <a:t>•  זה עובד רק אם היה commit לפני שהסוכן פעל.</a:t>
            </a:r>
          </a:p>
          <a:p>
            <a:pPr rtl="1" algn="r" marL="0" indent="0">
              <a:buNone/>
            </a:pPr>
            <a:r>
              <a:rPr sz="1200" lang="he-IL"/>
              <a:t>•  אחרת אין לאן לחזור.</a:t>
            </a:r>
          </a:p>
          <a:p>
            <a:pPr rtl="1" algn="r" marL="0" indent="0">
              <a:buNone/>
            </a:pPr>
            <a:r>
              <a:rPr sz="1200" lang="he-IL"/>
              <a:t>•  הקישור הבא: במפגש 8 נלמד לסקור בעזרת AI ולבדוק עם בדיקות אוטומטיות.</a:t>
            </a:r>
          </a:p>
          <a:p>
            <a:pPr rtl="1" algn="r" marL="0" indent="0">
              <a:buNone/>
            </a:pPr>
            <a:r>
              <a:rPr sz="1200" lang="he-IL"/>
              <a:t>•  בעיה: אם הסוכן שינה קבצים בהקשר שלא ביקשתם, מה הסיבה?</a:t>
            </a:r>
          </a:p>
          <a:p>
            <a:pPr rtl="1" algn="r" marL="0" indent="0">
              <a:buNone/>
            </a:pPr>
            <a:r>
              <a:rPr sz="1200" lang="he-IL"/>
              <a:t>•  כנראה בקשה רחבה מדי, ולכן מדייקים את הבקשה.</a:t>
            </a:r>
          </a:p>
          <a:p>
            <a:pPr rtl="1" algn="r" marL="0" indent="0">
              <a:buNone/>
            </a:pPr>
            <a:r>
              <a:rPr sz="1200" lang="he-IL"/>
              <a:t>•  תקציב לשני שקפי השאלה: כ-1.5 דקות.</a:t>
            </a:r>
          </a:p>
          <a:p>
            <a:pPr rtl="1" algn="r" marL="0" indent="0">
              <a:buNone/>
            </a:pPr>
            <a:r>
              <a:rPr sz="1200" lang="he-IL"/>
              <a:t>•  אחרי השקף הזה מגיעים שקפי ההעשרה של חלק ב׳ (אופציונליים), ואחריהם מעבדה ב׳.</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ב׳, 11 דקות, בזוגות, חלק ב׳ במחברת HM_06 (חובה).</a:t>
            </a:r>
          </a:p>
          <a:p>
            <a:pPr rtl="1" algn="r" marL="0" indent="0">
              <a:buNone/>
            </a:pPr>
            <a:r>
              <a:rPr b="1" sz="1200" lang="he-IL"/>
              <a:t>מה אומרים</a:t>
            </a:r>
          </a:p>
          <a:p>
            <a:pPr rtl="1" algn="r" marL="0" indent="0">
              <a:buNone/>
            </a:pPr>
            <a:r>
              <a:rPr sz="1200" lang="he-IL"/>
              <a:t>•  אין ממשק Source Control ב־Colab, ולכן הסטודנטים עוטפים Git אמיתי בפייתון: git מריצה פקודה בריפו ומחזירה את הפלט (בלי strip, אחרת ״ M analysis.py״ מאבד את הרווח הראשון), commit_all שומרת את כל הפרויקט, start_branch פותחת את הענף agent-test, changed_files קוראת את git status ומחזירה מילון {קובץ: סטטוס}, ו־restore_file משחזרת קובץ אחד.</a:t>
            </a:r>
          </a:p>
          <a:p>
            <a:pPr rtl="1" algn="r" marL="0" indent="0">
              <a:buNone/>
            </a:pPr>
            <a:r>
              <a:rPr sz="1200" lang="he-IL"/>
              <a:t>•  ה״סוכן המקולקל״ (rogue_agent, בתא נסתר) הוא פונקציה רגילה ולא מודל: מתבקש להוסיף top_customers ל־analysis.py, ובפועל גם מוחק את products.csv, משכתב את notes.txt ויוצר scratch.txt.</a:t>
            </a:r>
          </a:p>
          <a:p>
            <a:pPr rtl="1" algn="r" marL="0" indent="0">
              <a:buNone/>
            </a:pPr>
            <a:r>
              <a:rPr sz="1200" lang="he-IL"/>
              <a:t>•  הרצף הוא הכלל של המפגש: commit לפני, הסוכן עובד, diff אחרי, החלטה.</a:t>
            </a:r>
          </a:p>
          <a:p>
            <a:pPr rtl="1" algn="r" marL="0" indent="0">
              <a:buNone/>
            </a:pPr>
            <a:r>
              <a:rPr sz="1200" lang="he-IL"/>
              <a:t>•  בסיבוב: לבדוק שהסטודנטים כתבו תחזית לפני הרצת הסוכן.</a:t>
            </a:r>
          </a:p>
          <a:p>
            <a:pPr rtl="1" algn="r" marL="0" indent="0">
              <a:buNone/>
            </a:pPr>
            <a:r>
              <a:rPr b="1" sz="1200" lang="he-IL"/>
              <a:t>שגיאות צפויות</a:t>
            </a:r>
          </a:p>
          <a:p>
            <a:pPr rtl="1" algn="r" marL="0" indent="0">
              <a:buNone/>
            </a:pPr>
            <a:r>
              <a:rPr sz="1200" lang="he-IL"/>
              <a:t>•  strip על הפלט של git, שכחו את הסטטוס ״??״ (קובץ חדש) ב־changed_files, ו־restore_file על קובץ חדש (git restore נכשל, ומוחקים עם os.remove).</a:t>
            </a:r>
          </a:p>
          <a:p>
            <a:pPr rtl="1" algn="r" marL="0" indent="0">
              <a:buNone/>
            </a:pPr>
            <a:r>
              <a:rPr sz="1200" lang="he-IL"/>
              <a:t>•  אם הבוחן התארך: לקצץ את הצעד האחרון (הדגמת ״בלי commit״), לא את הקוד.</a:t>
            </a:r>
          </a:p>
          <a:p>
            <a:pPr rtl="1" algn="r" marL="0" indent="0">
              <a:buNone/>
            </a:pPr>
            <a:r>
              <a:rPr b="1" sz="1200" lang="he-IL"/>
              <a:t>הכנה לפני השיעור</a:t>
            </a:r>
          </a:p>
          <a:p>
            <a:pPr rtl="1" algn="r" marL="0" indent="0">
              <a:buNone/>
            </a:pPr>
            <a:r>
              <a:rPr sz="1200" lang="he-IL"/>
              <a:t>•  להעלות את HM_06.ipynb ל־Colab, להחליף את ה־QR (מקום שמור) בקישור אמיתי, ולהריץ Run all על הפתרון.</a:t>
            </a:r>
          </a:p>
          <a:p>
            <a:pPr rtl="1" algn="r" marL="0" indent="0">
              <a:buNone/>
            </a:pPr>
            <a:r>
              <a:rPr b="1" sz="1200" lang="he-IL"/>
              <a:t>למה עושים את זה</a:t>
            </a:r>
          </a:p>
          <a:p>
            <a:pPr rtl="1" algn="r" marL="0" indent="0">
              <a:buNone/>
            </a:pPr>
            <a:r>
              <a:rPr sz="1200" lang="he-IL"/>
              <a:t>•  כדי לחוות את הכלל ״commit לפני, diff אחרי״ על סוכן שעושה יותר מהמבוקש.</a:t>
            </a:r>
          </a:p>
          <a:p>
            <a:pPr rtl="1" algn="r" marL="0" indent="0">
              <a:buNone/>
            </a:pPr>
            <a:r>
              <a:rPr sz="1200" lang="he-IL"/>
              <a:t>•  הקשר לשקפים: commit_all היא ״שלושת האזורים״ ו״Git מבפנים״, start_branch היא ״ענף ומיזוג״, changed_files היא ״diff: מה השתנה״, restore_file היא ״שש פעולות״ ו״איך מבטלים״.</a:t>
            </a:r>
          </a:p>
          <a:p>
            <a:pPr rtl="1" algn="r" marL="0" indent="0">
              <a:buNone/>
            </a:pPr>
            <a:r>
              <a:rPr sz="1200" lang="he-IL"/>
              <a:t>•  חיבור למפגש 5: changed_files היא הגרסה של Git ל־find_risky ממעבדה ב׳ של מפגש 5.</a:t>
            </a:r>
          </a:p>
          <a:p>
            <a:pPr rtl="1" algn="r" marL="0" indent="0">
              <a:buNone/>
            </a:pPr>
            <a:r>
              <a:rPr sz="1200" lang="he-IL"/>
              <a:t>•  שם זוהתה בתמלול עריכה של קובץ שלא ברשימה המותרת (settings.py), וכאן Git מגלה זאת על הקבצים עצמם, גם כשהסוכן לא מדווח עליה.</a:t>
            </a:r>
          </a:p>
          <a:p>
            <a:pPr rtl="1" algn="r" marL="0" indent="0">
              <a:buNone/>
            </a:pPr>
            <a:r>
              <a:rPr sz="1200" lang="he-IL"/>
              <a:t>•  הכלל שחוזר: סוכן דורש גיבוי (מפגש 5), ובודקים את התוצאה ולא את ההצהרה (מפגשים 1 ו־5).</a:t>
            </a:r>
          </a:p>
          <a:p>
            <a:pPr rtl="1" algn="r" marL="0" indent="0">
              <a:buNone/>
            </a:pPr>
            <a:r>
              <a:rPr b="1" sz="1200" lang="he-IL"/>
              <a:t>שאלת היזכרות</a:t>
            </a:r>
          </a:p>
          <a:p>
            <a:pPr rtl="1" algn="r" marL="0" indent="0">
              <a:buNone/>
            </a:pPr>
            <a:r>
              <a:rPr sz="1200" lang="he-IL"/>
              <a:t>•  איזה קובץ היה ״לא מותר״ בתמלול השני של מפגש 5?</a:t>
            </a:r>
          </a:p>
          <a:p>
            <a:pPr rtl="1" algn="r" marL="0" indent="0">
              <a:buNone/>
            </a:pPr>
            <a:r>
              <a:rPr b="1" sz="1200" lang="he-IL"/>
              <a:t>תשובה</a:t>
            </a:r>
          </a:p>
          <a:p>
            <a:pPr rtl="1" algn="r" marL="0" indent="0">
              <a:buNone/>
            </a:pPr>
            <a:r>
              <a:rPr sz="1200" lang="he-IL"/>
              <a:t>•  settings.py.</a:t>
            </a:r>
          </a:p>
          <a:p>
            <a:pPr rtl="1" algn="r" marL="0" indent="0">
              <a:buNone/>
            </a:pPr>
            <a:r>
              <a:rPr b="1" sz="1200" lang="he-IL"/>
              <a:t>אם הכיתה לא זוכרת</a:t>
            </a:r>
          </a:p>
          <a:p>
            <a:pPr rtl="1" algn="r" marL="0" indent="0">
              <a:buNone/>
            </a:pPr>
            <a:r>
              <a:rPr sz="1200" lang="he-IL"/>
              <a:t>•  להסביר שההיגיון זהה, וכאן הקובץ המותר היחיד הוא analysis.py.</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להעמקה</a:t>
            </a:r>
          </a:p>
          <a:p>
            <a:pPr rtl="1" algn="r" marL="0" indent="0">
              <a:buNone/>
            </a:pPr>
            <a:r>
              <a:rPr sz="1200" lang="he-IL"/>
              <a:t>•  רמות אוטונומיה במחקר ובתקן, כ-1.5 דקות.</a:t>
            </a:r>
          </a:p>
          <a:p>
            <a:pPr rtl="1" algn="r" marL="0" indent="0">
              <a:buNone/>
            </a:pPr>
            <a:r>
              <a:rPr sz="1200" lang="he-IL"/>
              <a:t>•  הרמות 1 עד 4 בקורס הן שמות שלנו, בנויים לפי השאלה מי מאשר.</a:t>
            </a:r>
          </a:p>
          <a:p>
            <a:pPr rtl="1" algn="r" marL="0" indent="0">
              <a:buNone/>
            </a:pPr>
            <a:r>
              <a:rPr sz="1200" lang="he-IL"/>
              <a:t>•  יש מסגרות מקבילות.</a:t>
            </a:r>
          </a:p>
          <a:p>
            <a:pPr rtl="1" algn="r" marL="0" indent="0">
              <a:buNone/>
            </a:pPr>
            <a:r>
              <a:rPr sz="1200" lang="he-IL"/>
              <a:t>•  אחת: תקן SAE J3016 לאוטומציה של נהיגה, שמגדיר שש רמות, מ-0 (בלי אוטומציה) עד 5 (מלאה).</a:t>
            </a:r>
          </a:p>
          <a:p>
            <a:pPr rtl="1" algn="r" marL="0" indent="0">
              <a:buNone/>
            </a:pPr>
            <a:r>
              <a:rPr sz="1200" lang="he-IL"/>
              <a:t>•  הרמה נקבעת לפי התכונה שפעילה ברגע נתון ולא לפי הרכב כולו, והשאלה המרכזית היא מי מבצע את משימת הנהיגה ומי אחראי (קיים מהדורה עדכנית J3016_202104; לאמת מול sae.org אם מצטטים).</a:t>
            </a:r>
          </a:p>
          <a:p>
            <a:pPr rtl="1" algn="r" marL="0" indent="0">
              <a:buNone/>
            </a:pPr>
            <a:r>
              <a:rPr sz="1200" lang="he-IL"/>
              <a:t>•  שתיים: Feng, McDonald, Zhang (2025), Levels of Autonomy for AI Agents, arXiv 2506.12469.</a:t>
            </a:r>
          </a:p>
          <a:p>
            <a:pPr rtl="1" algn="r" marL="0" indent="0">
              <a:buNone/>
            </a:pPr>
            <a:r>
              <a:rPr sz="1200" lang="he-IL"/>
              <a:t>•  המאמר מציע חמש רמות שמוגדרות לפי תפקיד האדם מול הסוכן: מפעיל, שותף, יועץ, מאשר וצופה, וטוען שרמת האוטונומיה היא בחירת תכנון נפרדת מיכולת הסוכן ומהסביבה.</a:t>
            </a:r>
          </a:p>
          <a:p>
            <a:pPr rtl="1" algn="r" marL="0" indent="0">
              <a:buNone/>
            </a:pPr>
            <a:r>
              <a:rPr sz="1200" lang="he-IL"/>
              <a:t>•  זו הצעה אקדמית (preprint) ולא תקן.</a:t>
            </a:r>
          </a:p>
          <a:p>
            <a:pPr rtl="1" algn="r" marL="0" indent="0">
              <a:buNone/>
            </a:pPr>
            <a:r>
              <a:rPr sz="1200" lang="he-IL"/>
              <a:t>•  מה שמשותף: ככל שהאוטונומיה עולה, האדם עובר מביצוע לאישור ולצפייה, ולכן המחיר של טעות עולה, וצריכים גיבוי ובקרה (Git, diff).</a:t>
            </a:r>
          </a:p>
          <a:p>
            <a:pPr rtl="1" algn="r" marL="0" indent="0">
              <a:buNone/>
            </a:pPr>
            <a:r>
              <a:rPr b="1" sz="1200" lang="he-IL"/>
              <a:t>שאלה לכיתה</a:t>
            </a:r>
          </a:p>
          <a:p>
            <a:pPr rtl="1" algn="r" marL="0" indent="0">
              <a:buNone/>
            </a:pPr>
            <a:r>
              <a:rPr sz="1200" lang="he-IL"/>
              <a:t>•  באיזה תפקיד אתם נמצאים כשאתם ברמה 2 בקורס?</a:t>
            </a:r>
          </a:p>
          <a:p>
            <a:pPr rtl="1" algn="r" marL="0" indent="0">
              <a:buNone/>
            </a:pPr>
            <a:r>
              <a:rPr b="1" sz="1200" lang="he-IL"/>
              <a:t>תשובה</a:t>
            </a:r>
          </a:p>
          <a:p>
            <a:pPr rtl="1" algn="r" marL="0" indent="0">
              <a:buNone/>
            </a:pPr>
            <a:r>
              <a:rPr sz="1200" lang="he-IL"/>
              <a:t>•  מאשר.</a:t>
            </a:r>
          </a:p>
          <a:p>
            <a:pPr rtl="1" algn="r" marL="0" indent="0">
              <a:buNone/>
            </a:pPr>
            <a:r>
              <a:rPr sz="1200" lang="he-IL"/>
              <a:t>•  ובמה שונה רמה 4?</a:t>
            </a:r>
          </a:p>
          <a:p>
            <a:pPr rtl="1" algn="r" marL="0" indent="0">
              <a:buNone/>
            </a:pPr>
            <a:r>
              <a:rPr sz="1200" lang="he-IL"/>
              <a:t>•  צופה.</a:t>
            </a:r>
          </a:p>
          <a:p>
            <a:pPr rtl="1" algn="r" marL="0" indent="0">
              <a:buNone/>
            </a:pPr>
            <a:r>
              <a:rPr b="1" sz="1200" lang="he-IL"/>
              <a:t>אנלוגיה</a:t>
            </a:r>
          </a:p>
          <a:p>
            <a:pPr rtl="1" algn="r" marL="0" indent="0">
              <a:buNone/>
            </a:pPr>
            <a:r>
              <a:rPr sz="1200" lang="he-IL"/>
              <a:t>•  ממצב ידני לאוטומטי חלקי ואוטומטי מלא בקו ייצור, כשבכל מצב המפעיל אחראי אחרת.</a:t>
            </a:r>
          </a:p>
          <a:p>
            <a:pPr rtl="1" algn="r" marL="0" indent="0">
              <a:buNone/>
            </a:pPr>
            <a:r>
              <a:rPr b="1" sz="1200" lang="he-IL"/>
              <a:t>מתי לדלג</a:t>
            </a:r>
          </a:p>
          <a:p>
            <a:pPr rtl="1" algn="r" marL="0" indent="0">
              <a:buNone/>
            </a:pPr>
            <a:r>
              <a:rPr sz="1200" lang="he-IL"/>
              <a:t>•  אם הזמן קצר, מספיק משפט אחד: ״גם ברכב וגם בסוכנים מגדירים רמות לפי מי אחראי״.</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להעמקה</a:t>
            </a:r>
          </a:p>
          <a:p>
            <a:pPr rtl="1" algn="r" marL="0" indent="0">
              <a:buNone/>
            </a:pPr>
            <a:r>
              <a:rPr sz="1200" lang="he-IL"/>
              <a:t>•  איך מודדים סוכן קוד, כ-1.5 דקות.</a:t>
            </a:r>
          </a:p>
          <a:p>
            <a:pPr rtl="1" algn="r" marL="0" indent="0">
              <a:buNone/>
            </a:pPr>
            <a:r>
              <a:rPr b="1" sz="1200" lang="he-IL"/>
              <a:t>מקורות</a:t>
            </a:r>
          </a:p>
          <a:p>
            <a:pPr rtl="1" algn="r" marL="0" indent="0">
              <a:buNone/>
            </a:pPr>
            <a:r>
              <a:rPr sz="1200" lang="he-IL"/>
              <a:t>•  Jimenez, Yang, Wettig, Yao, Pei, Press, Narasimhan.</a:t>
            </a:r>
          </a:p>
          <a:p>
            <a:pPr rtl="1" algn="r" marL="0" indent="0">
              <a:buNone/>
            </a:pPr>
            <a:r>
              <a:rPr sz="1200" lang="he-IL"/>
              <a:t>•  SWE-bench: Can Language Models Resolve Real-World GitHub Issues?</a:t>
            </a:r>
          </a:p>
          <a:p>
            <a:pPr rtl="1" algn="r" marL="0" indent="0">
              <a:buNone/>
            </a:pPr>
            <a:r>
              <a:rPr sz="1200" lang="he-IL"/>
              <a:t>•  ICLR 2024 (arxiv.org/abs/2310.06770).</a:t>
            </a:r>
          </a:p>
          <a:p>
            <a:pPr rtl="1" algn="r" marL="0" indent="0">
              <a:buNone/>
            </a:pPr>
            <a:r>
              <a:rPr b="1" sz="1200" lang="he-IL"/>
              <a:t>מסר מרכזי</a:t>
            </a:r>
          </a:p>
          <a:p>
            <a:pPr rtl="1" algn="r" marL="0" indent="0">
              <a:buNone/>
            </a:pPr>
            <a:r>
              <a:rPr sz="1200" lang="he-IL"/>
              <a:t>•  במקום חידות קוד קצרות, לוקחים בעיות אמיתיות (issues) מספריות פתוחות.</a:t>
            </a:r>
          </a:p>
          <a:p>
            <a:pPr rtl="1" algn="r" marL="0" indent="0">
              <a:buNone/>
            </a:pPr>
            <a:r>
              <a:rPr sz="1200" lang="he-IL"/>
              <a:t>•  במאגר המקורי 2,294 משימות מ-12 ספריות פייתון פופולריות.</a:t>
            </a:r>
          </a:p>
          <a:p>
            <a:pPr rtl="1" algn="r" marL="0" indent="0">
              <a:buNone/>
            </a:pPr>
            <a:r>
              <a:rPr sz="1200" lang="he-IL"/>
              <a:t>•  הסוכן או המודל מקבל את התיאור והקוד וכותב תיקון.</a:t>
            </a:r>
          </a:p>
          <a:p>
            <a:pPr rtl="1" algn="r" marL="0" indent="0">
              <a:buNone/>
            </a:pPr>
            <a:r>
              <a:rPr sz="1200" lang="he-IL"/>
              <a:t>•  מה שקובע הוא הרצת בדיקות הפרויקט: אם הבדיקות שנכשלו עוברות, והקיימות לא נשברות, המשימה נחשבת כפתורה.</a:t>
            </a:r>
          </a:p>
          <a:p>
            <a:pPr rtl="1" algn="r" marL="0" indent="0">
              <a:buNone/>
            </a:pPr>
            <a:r>
              <a:rPr sz="1200" lang="he-IL"/>
              <a:t>•  במאמר המודל הטוב ביותר בזמנו (Claude 2) פתר 1.96% מהמשימות.</a:t>
            </a:r>
          </a:p>
          <a:p>
            <a:pPr rtl="1" algn="r" marL="0" indent="0">
              <a:buNone/>
            </a:pPr>
            <a:r>
              <a:rPr sz="1200" lang="he-IL"/>
              <a:t>•  הציונים עלו מאז בצורה חדה, ולכן לא מציגים כאן מספרים עדכניים: מי שרוצה, יבדוק את לוח התוצאות הרשמי לפני השיעור.</a:t>
            </a:r>
          </a:p>
          <a:p>
            <a:pPr rtl="1" algn="r" marL="0" indent="0">
              <a:buNone/>
            </a:pPr>
            <a:r>
              <a:rPr sz="1200" lang="he-IL"/>
              <a:t>•  הקשר לשיעור: זה אותו עיקרון כמו ״מה שהסוכן אומר אינו הוכחה״ ברמה של מחקר: מודדים לפי הרצה ובדיקות, לא לפי דיווח עצמי.</a:t>
            </a:r>
          </a:p>
          <a:p>
            <a:pPr rtl="1" algn="r" marL="0" indent="0">
              <a:buNone/>
            </a:pPr>
            <a:r>
              <a:rPr sz="1200" lang="he-IL"/>
              <a:t>•  שאלות פתוחות לדיון (לא עובדות מבוססות): האם בדיקות הפרויקט מספיקות כדי להוכיח שהתיקון נכון?</a:t>
            </a:r>
          </a:p>
          <a:p>
            <a:pPr rtl="1" algn="r" marL="0" indent="0">
              <a:buNone/>
            </a:pPr>
            <a:r>
              <a:rPr sz="1200" lang="he-IL"/>
              <a:t>•  מה קורה כשהבדיקות חלשות?</a:t>
            </a:r>
          </a:p>
          <a:p>
            <a:pPr rtl="1" algn="r" marL="0" indent="0">
              <a:buNone/>
            </a:pPr>
            <a:r>
              <a:rPr b="1" sz="1200" lang="he-IL"/>
              <a:t>אנלוגיה</a:t>
            </a:r>
          </a:p>
          <a:p>
            <a:pPr rtl="1" algn="r" marL="0" indent="0">
              <a:buNone/>
            </a:pPr>
            <a:r>
              <a:rPr sz="1200" lang="he-IL"/>
              <a:t>•  בדיקת קבלה במפעל מול דוח ״בוצע״ של הקבלן.</a:t>
            </a:r>
          </a:p>
          <a:p>
            <a:pPr rtl="1" algn="r" marL="0" indent="0">
              <a:buNone/>
            </a:pPr>
            <a:r>
              <a:rPr b="1" sz="1200" lang="he-IL"/>
              <a:t>מתי לדלג</a:t>
            </a:r>
          </a:p>
          <a:p>
            <a:pPr rtl="1" algn="r" marL="0" indent="0">
              <a:buNone/>
            </a:pPr>
            <a:r>
              <a:rPr sz="1200" lang="he-IL"/>
              <a:t>•  אם אין זמן, מספיק לומר שיש מדד מחקרי שבודק סוכני קוד על משימות אמיתיות לפי בדיקות.</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להעמקה</a:t>
            </a:r>
          </a:p>
          <a:p>
            <a:pPr rtl="1" algn="r" marL="0" indent="0">
              <a:buNone/>
            </a:pPr>
            <a:r>
              <a:rPr sz="1200" lang="he-IL"/>
              <a:t>•  Toolformer, כ-1.5 דקות.</a:t>
            </a:r>
          </a:p>
          <a:p>
            <a:pPr rtl="1" algn="r" marL="0" indent="0">
              <a:buNone/>
            </a:pPr>
            <a:r>
              <a:rPr b="1" sz="1200" lang="he-IL"/>
              <a:t>מקורות</a:t>
            </a:r>
          </a:p>
          <a:p>
            <a:pPr rtl="1" algn="r" marL="0" indent="0">
              <a:buNone/>
            </a:pPr>
            <a:r>
              <a:rPr sz="1200" lang="he-IL"/>
              <a:t>•  Schick, Dwivedi-Yu, Dessì, Raileanu, Lomeli, Zettlemoyer, Cancedda, Scialom.</a:t>
            </a:r>
          </a:p>
          <a:p>
            <a:pPr rtl="1" algn="r" marL="0" indent="0">
              <a:buNone/>
            </a:pPr>
            <a:r>
              <a:rPr sz="1200" lang="he-IL"/>
              <a:t>•  Toolformer: Language Models Can Teach Themselves to Use Tools. arXiv פברואר 2023, NeurIPS 2023 (arxiv.org/abs/2302.04761).</a:t>
            </a:r>
          </a:p>
          <a:p>
            <a:pPr rtl="1" algn="r" marL="0" indent="0">
              <a:buNone/>
            </a:pPr>
            <a:r>
              <a:rPr sz="1200" lang="he-IL"/>
              <a:t>•  שאלת המחקר: האם מודל יכול ללמד את עצמו מתי להשתמש בכלי, בלי שנתייג ידנית אלפי דוגמאות?</a:t>
            </a:r>
          </a:p>
          <a:p>
            <a:pPr rtl="1" algn="r" marL="0" indent="0">
              <a:buNone/>
            </a:pPr>
            <a:r>
              <a:rPr sz="1200" lang="he-IL"/>
              <a:t>•  השיטה לפי המאמר, בשלושה שלבים: דוגמים (המודל מציע בטקסט מקומות שבהם קריאה ל-API אולי תעזור), מבצעים את הקריאות, ומסננים: משאירים רק קריאות שהתוצאה שלהן מקטינה את הפסד החיזוי של המילים הבאות.</a:t>
            </a:r>
          </a:p>
          <a:p>
            <a:pPr rtl="1" algn="r" marL="0" indent="0">
              <a:buNone/>
            </a:pPr>
            <a:r>
              <a:rPr sz="1200" lang="he-IL"/>
              <a:t>•  אחר כך מאמנים את המודל מחדש על הטקסט עם הקריאות.</a:t>
            </a:r>
          </a:p>
          <a:p>
            <a:pPr rtl="1" algn="r" marL="0" indent="0">
              <a:buNone/>
            </a:pPr>
            <a:r>
              <a:rPr sz="1200" lang="he-IL"/>
              <a:t>•  המאמר השתמש במודל GPT-J, ובכלים: מחשבון, מערכת שאלות ותשובות, חיפוש, מתרגם ולוח שנה, ודיווח על שיפור בביצועי zero-shot בלי לפגוע ביכולת השפה.</a:t>
            </a:r>
          </a:p>
          <a:p>
            <a:pPr rtl="1" algn="r" marL="0" indent="0">
              <a:buNone/>
            </a:pPr>
            <a:r>
              <a:rPr sz="1200" lang="he-IL"/>
              <a:t>•  הבדל חשוב: ברוב סוכני התכנות, כפי שלמדנו בשקף ״קריאה לכלי מבפנים״, המודל מקבל תיאור כלים בפרומפט ומחזיר בקשה מובנית.</a:t>
            </a:r>
          </a:p>
          <a:p>
            <a:pPr rtl="1" algn="r" marL="0" indent="0">
              <a:buNone/>
            </a:pPr>
            <a:r>
              <a:rPr sz="1200" lang="he-IL"/>
              <a:t>•  אל תטענו כיצד כלי מסחרי מסוים אומן, כי אין לנו מידע על כך.</a:t>
            </a:r>
          </a:p>
          <a:p>
            <a:pPr rtl="1" algn="r" marL="0" indent="0">
              <a:buNone/>
            </a:pPr>
            <a:r>
              <a:rPr sz="1200" lang="he-IL"/>
              <a:t>•  שאלה לדיון: למה לסנן קריאות לפי ההשפעה על החיזוי?</a:t>
            </a:r>
          </a:p>
          <a:p>
            <a:pPr rtl="1" algn="r" marL="0" indent="0">
              <a:buNone/>
            </a:pPr>
            <a:r>
              <a:rPr b="1" sz="1200" lang="he-IL"/>
              <a:t>תשובה</a:t>
            </a:r>
          </a:p>
          <a:p>
            <a:pPr rtl="1" algn="r" marL="0" indent="0">
              <a:buNone/>
            </a:pPr>
            <a:r>
              <a:rPr sz="1200" lang="he-IL"/>
              <a:t>•  כדי שהמודל ישתמש בכלי רק כשהוא באמת עוזר.</a:t>
            </a:r>
          </a:p>
          <a:p>
            <a:pPr rtl="1" algn="r" marL="0" indent="0">
              <a:buNone/>
            </a:pPr>
            <a:r>
              <a:rPr b="1" sz="1200" lang="he-IL"/>
              <a:t>מתי לדלג</a:t>
            </a:r>
          </a:p>
          <a:p>
            <a:pPr rtl="1" algn="r" marL="0" indent="0">
              <a:buNone/>
            </a:pPr>
            <a:r>
              <a:rPr sz="1200" lang="he-IL"/>
              <a:t>•  אם הזמן קצר, מספיק לומר ״אפשר ללמד מודלים להשתמש בכלים, והיא אחת הדרכים״.</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להעמקה</a:t>
            </a:r>
          </a:p>
          <a:p>
            <a:pPr rtl="1" algn="r" marL="0" indent="0">
              <a:buNone/>
            </a:pPr>
            <a:r>
              <a:rPr sz="1200" lang="he-IL"/>
              <a:t>•  ReAct, מה המחקר מראה, כ-1.5 דקות.</a:t>
            </a:r>
          </a:p>
          <a:p>
            <a:pPr rtl="1" algn="r" marL="0" indent="0">
              <a:buNone/>
            </a:pPr>
            <a:r>
              <a:rPr b="1" sz="1200" lang="he-IL"/>
              <a:t>מקורות</a:t>
            </a:r>
          </a:p>
          <a:p>
            <a:pPr rtl="1" algn="r" marL="0" indent="0">
              <a:buNone/>
            </a:pPr>
            <a:r>
              <a:rPr sz="1200" lang="he-IL"/>
              <a:t>•  Yao, Zhao, Yu, Du, Shafran, Narasimhan, Cao.</a:t>
            </a:r>
          </a:p>
          <a:p>
            <a:pPr rtl="1" algn="r" marL="0" indent="0">
              <a:buNone/>
            </a:pPr>
            <a:r>
              <a:rPr sz="1200" lang="he-IL"/>
              <a:t>•  ReAct: Synergizing Reasoning and Acting in Language Models.</a:t>
            </a:r>
          </a:p>
          <a:p>
            <a:pPr rtl="1" algn="r" marL="0" indent="0">
              <a:buNone/>
            </a:pPr>
            <a:r>
              <a:rPr sz="1200" lang="he-IL"/>
              <a:t>•  פורסם כ-preprint באוקטובר 2022 והוצג ב-ICLR 2023 (arxiv.org/abs/2210.03629).</a:t>
            </a:r>
          </a:p>
          <a:p>
            <a:pPr rtl="1" algn="r" marL="0" indent="0">
              <a:buNone/>
            </a:pPr>
            <a:r>
              <a:rPr sz="1200" lang="he-IL"/>
              <a:t>•  הבעיה: שרשרת מחשבה לבדה (CoT) מנותקת מהעולם, ולכן עלולה להמציא עובדות ולהפיץ שגיאה משלב לשלב.</a:t>
            </a:r>
          </a:p>
          <a:p>
            <a:pPr rtl="1" algn="r" marL="0" indent="0">
              <a:buNone/>
            </a:pPr>
            <a:r>
              <a:rPr sz="1200" lang="he-IL"/>
              <a:t>•  פעולה לבדה, בלי חשיבה, לא מתכננת ולא מתקנת.</a:t>
            </a:r>
          </a:p>
          <a:p>
            <a:pPr rtl="1" algn="r" marL="0" indent="0">
              <a:buNone/>
            </a:pPr>
            <a:r>
              <a:rPr b="1" sz="1200" lang="he-IL"/>
              <a:t>מסר מרכזי</a:t>
            </a:r>
          </a:p>
          <a:p>
            <a:pPr rtl="1" algn="r" marL="0" indent="0">
              <a:buNone/>
            </a:pPr>
            <a:r>
              <a:rPr sz="1200" lang="he-IL"/>
              <a:t>•  לשלב את שניהם, ושכל תוצאה של כלי תחזור אל החשיבה הבאה.</a:t>
            </a:r>
          </a:p>
          <a:p>
            <a:pPr rtl="1" algn="r" marL="0" indent="0">
              <a:buNone/>
            </a:pPr>
            <a:r>
              <a:rPr sz="1200" lang="he-IL"/>
              <a:t>•  התוצאות לפי התקציר: בשאלות ותשובות (HotpotQA ו-FEVER) עם ממשק ויקיפדיה פשוט, ReAct מפחית הזיות והתפשטות שגיאות לעומת CoT.</a:t>
            </a:r>
          </a:p>
          <a:p>
            <a:pPr rtl="1" algn="r" marL="0" indent="0">
              <a:buNone/>
            </a:pPr>
            <a:r>
              <a:rPr sz="1200" lang="he-IL"/>
              <a:t>•  במשימות אינטראקטיביות (ALFWorld ו-WebShop), עם דוגמה אחת או שתיים בפרומפט, שיעור ההצלחה גבוה ב-34 ובעשר נקודות אחוז מוחלטות בהתאמה, משיטות של למידת חיקוי ולמידת חיזוק.</a:t>
            </a:r>
          </a:p>
          <a:p>
            <a:pPr rtl="1" algn="r" marL="0" indent="0">
              <a:buNone/>
            </a:pPr>
            <a:r>
              <a:rPr sz="1200" lang="he-IL"/>
              <a:t>•  שימו לב לניסוח: זה הפרש מוחלט בנקודות אחוז, בשתי משימות אינטראקטיביות, ולא ״שיפור של 34 אחוז״ ולא תוצאה ב-HotpotQA (הנתון הזה מופיע בטעות במצגות אחרות).</a:t>
            </a:r>
          </a:p>
          <a:p>
            <a:pPr rtl="1" algn="r" marL="0" indent="0">
              <a:buNone/>
            </a:pPr>
            <a:r>
              <a:rPr sz="1200" lang="he-IL"/>
              <a:t>•  מגבלות: המאמר נכתב ב-2022 עם מודלים חלשים מהיום, והחיסכון בהזיות הוא ביחס ל-CoT ולא מבטל אותן.</a:t>
            </a:r>
          </a:p>
          <a:p>
            <a:pPr rtl="1" algn="r" marL="0" indent="0">
              <a:buNone/>
            </a:pPr>
            <a:r>
              <a:rPr b="1" sz="1200" lang="he-IL"/>
              <a:t>שאלה לכיתה</a:t>
            </a:r>
          </a:p>
          <a:p>
            <a:pPr rtl="1" algn="r" marL="0" indent="0">
              <a:buNone/>
            </a:pPr>
            <a:r>
              <a:rPr sz="1200" lang="he-IL"/>
              <a:t>•  איפה בתמלול המסומן ראינו את שלושת המרכיבים?</a:t>
            </a:r>
          </a:p>
          <a:p>
            <a:pPr rtl="1" algn="r" marL="0" indent="0">
              <a:buNone/>
            </a:pPr>
            <a:r>
              <a:rPr b="1" sz="1200" lang="he-IL"/>
              <a:t>תשובה</a:t>
            </a:r>
          </a:p>
          <a:p>
            <a:pPr rtl="1" algn="r" marL="0" indent="0">
              <a:buNone/>
            </a:pPr>
            <a:r>
              <a:rPr sz="1200" lang="he-IL"/>
              <a:t>•  בחזרה לתכנון אחרי KeyError.</a:t>
            </a:r>
          </a:p>
          <a:p>
            <a:pPr rtl="1" algn="r" marL="0" indent="0">
              <a:buNone/>
            </a:pPr>
            <a:r>
              <a:rPr b="1" sz="1200" lang="he-IL"/>
              <a:t>מתי לדלג</a:t>
            </a:r>
          </a:p>
          <a:p>
            <a:pPr rtl="1" algn="r" marL="0" indent="0">
              <a:buNone/>
            </a:pPr>
            <a:r>
              <a:rPr sz="1200" lang="he-IL"/>
              <a:t>•  אם הזמן קצר, מספיק לומר ״החשיבה והפעולה משתפרות זו מזו״.</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היסטוריית ה־commits אחרי מעבדה ב׳, כדקה.</a:t>
            </a:r>
          </a:p>
          <a:p>
            <a:pPr rtl="1" algn="r" marL="0" indent="0">
              <a:buNone/>
            </a:pPr>
            <a:r>
              <a:rPr b="1" sz="1200" lang="he-IL"/>
              <a:t>מה אומרים</a:t>
            </a:r>
          </a:p>
          <a:p>
            <a:pPr rtl="1" algn="r" marL="0" indent="0">
              <a:buNone/>
            </a:pPr>
            <a:r>
              <a:rPr sz="1200" lang="he-IL"/>
              <a:t>•  משמאל לימין בציר הזמן: הנקודה הראשונה היא Initial project, שנשמרה לפני שהסוכן פעל, ומעליה Add top_customers function, ה־commit של השינוי היחיד שביקשנו, אחרי שהקבצים שהסוכן שבר שוחזרו.</a:t>
            </a:r>
          </a:p>
          <a:p>
            <a:pPr rtl="1" algn="r" marL="0" indent="0">
              <a:buNone/>
            </a:pPr>
            <a:r>
              <a:rPr sz="1200" lang="he-IL"/>
              <a:t>•  חשוב: השחזור עצמו (restore_file) לא יוצר commit, הוא רק מחזיר קבצים למצב ה־commit הקודם, ולכן המחיקה של products.csv לא מופיעה בהיסטוריה.</a:t>
            </a:r>
          </a:p>
          <a:p>
            <a:pPr rtl="1" algn="r" marL="0" indent="0">
              <a:buNone/>
            </a:pPr>
            <a:r>
              <a:rPr b="1" sz="1200" lang="he-IL"/>
              <a:t>שאלה לכיתה</a:t>
            </a:r>
          </a:p>
          <a:p>
            <a:pPr rtl="1" algn="r" marL="0" indent="0">
              <a:buNone/>
            </a:pPr>
            <a:r>
              <a:rPr sz="1200" lang="he-IL"/>
              <a:t>•  האם אפשר לראות בהיסטוריה את מה שהסוכן מחק ואחר כך שחזרנו?</a:t>
            </a:r>
          </a:p>
          <a:p>
            <a:pPr rtl="1" algn="r" marL="0" indent="0">
              <a:buNone/>
            </a:pPr>
            <a:r>
              <a:rPr b="1" sz="1200" lang="he-IL"/>
              <a:t>תשובה</a:t>
            </a:r>
          </a:p>
          <a:p>
            <a:pPr rtl="1" algn="r" marL="0" indent="0">
              <a:buNone/>
            </a:pPr>
            <a:r>
              <a:rPr sz="1200" lang="he-IL"/>
              <a:t>•  לא, ולכן בזמן אמת הכלי הוא changed_files (או diff).</a:t>
            </a:r>
          </a:p>
          <a:p>
            <a:pPr rtl="1" algn="r" marL="0" indent="0">
              <a:buNone/>
            </a:pPr>
            <a:r>
              <a:rPr sz="1200" lang="he-IL"/>
              <a:t>•  בהמשך (חלק ג׳ בבית) ממזגים את הענף agent-test ל־main, ואז ב־main יש שני commits, בלי commit מיזוג נפרד, כי זה fast-forward.</a:t>
            </a:r>
          </a:p>
          <a:p>
            <a:pPr rtl="1" algn="r" marL="0" indent="0">
              <a:buNone/>
            </a:pPr>
            <a:r>
              <a:rPr sz="1200" lang="he-IL"/>
              <a:t>•  אצל הסטודנטים הקודים (hash) יהיו שונים, וזה תקין.</a:t>
            </a:r>
          </a:p>
          <a:p>
            <a:pPr rtl="1" algn="r" marL="0" indent="0">
              <a:buNone/>
            </a:pPr>
            <a:r>
              <a:rPr sz="1200" lang="he-IL"/>
              <a:t>•  אם חסר commit: לחזור לשלב 2 ולבדוק שהריצו commit_all.</a:t>
            </a:r>
          </a:p>
          <a:p>
            <a:pPr rtl="1" algn="r" marL="0" indent="0">
              <a:buNone/>
            </a:pPr>
            <a:r>
              <a:rPr sz="1200" lang="he-IL"/>
              <a:t>•  עוברים להצעת הפרויקט.</a:t>
            </a:r>
          </a:p>
          <a:p>
            <a:pPr rtl="1" algn="r" marL="0" indent="0">
              <a:buNone/>
            </a:pPr>
            <a:r>
              <a:rPr b="1" sz="1200" lang="he-IL"/>
              <a:t>שימו לב</a:t>
            </a:r>
          </a:p>
          <a:p>
            <a:pPr rtl="1" algn="r" marL="0" indent="0">
              <a:buNone/>
            </a:pPr>
            <a:r>
              <a:rPr sz="1200" lang="he-IL"/>
              <a:t>•  git log מציג מהחדש לישן, ולכן בטרמינל Add top_customers function יופיע ראשון.</a:t>
            </a:r>
          </a:p>
          <a:p>
            <a:pPr rtl="1" algn="r" marL="0" indent="0">
              <a:buNone/>
            </a:pPr>
            <a:r>
              <a:rPr sz="1200" lang="he-IL"/>
              <a:t>•  בשקף הציר הוא מהישן לחדש.</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קריאה לכלי מבפנים, כ-1.5 דקות.</a:t>
            </a:r>
          </a:p>
          <a:p>
            <a:pPr rtl="1" algn="r" marL="0" indent="0">
              <a:buNone/>
            </a:pPr>
            <a:r>
              <a:rPr b="1" sz="1200" lang="he-IL"/>
              <a:t>מה אומרים</a:t>
            </a:r>
          </a:p>
          <a:p>
            <a:pPr rtl="1" algn="r" marL="0" indent="0">
              <a:buNone/>
            </a:pPr>
            <a:r>
              <a:rPr sz="1200" lang="he-IL"/>
              <a:t>•  זה השקף שמסביר את מה שהסטודנטים יממשו במעבדה.</a:t>
            </a:r>
          </a:p>
          <a:p>
            <a:pPr rtl="1" algn="r" marL="0" indent="0">
              <a:buNone/>
            </a:pPr>
            <a:r>
              <a:rPr sz="1200" lang="he-IL"/>
              <a:t>•  מודל שפה מייצר טקסט בלבד.</a:t>
            </a:r>
          </a:p>
          <a:p>
            <a:pPr rtl="1" algn="r" marL="0" indent="0">
              <a:buNone/>
            </a:pPr>
            <a:r>
              <a:rPr sz="1200" lang="he-IL"/>
              <a:t>•  כדי שיפעל, המעטפת (מפגש 5) מציגה לו רשימת כלים, והוא מחזיר בקשה מובנית: שם הכלי, הארגומנטים, ובמחברת גם שדה thought עם התכנון.</a:t>
            </a:r>
          </a:p>
          <a:p>
            <a:pPr rtl="1" algn="r" marL="0" indent="0">
              <a:buNone/>
            </a:pPr>
            <a:r>
              <a:rPr sz="1200" lang="he-IL"/>
              <a:t>•  אצל ספקי מודלים רבים זה נקרא tool use או function calling.</a:t>
            </a:r>
          </a:p>
          <a:p>
            <a:pPr rtl="1" algn="r" marL="0" indent="0">
              <a:buNone/>
            </a:pPr>
            <a:r>
              <a:rPr sz="1200" lang="he-IL"/>
              <a:t>•  המעטפת היא שמריצה: היא מחפשת את שם הכלי ברשימה (מילון של שם לפונקציה, רג'יסטרי), קוראת לפונקציה עם הארגומנטים, ותופסת כל שגיאה.</a:t>
            </a:r>
          </a:p>
          <a:p>
            <a:pPr rtl="1" algn="r" marL="0" indent="0">
              <a:buNone/>
            </a:pPr>
            <a:r>
              <a:rPr sz="1200" lang="he-IL"/>
              <a:t>•  התוצאה, גם כשהיא שגיאה, חוזרת למודל כטקסט, וזו ההתבוננות.</a:t>
            </a:r>
          </a:p>
          <a:p>
            <a:pPr rtl="1" algn="r" marL="0" indent="0">
              <a:buNone/>
            </a:pPr>
            <a:r>
              <a:rPr sz="1200" lang="he-IL"/>
              <a:t>•  שני דברים שחוזרים במעבדה: אחד, execute_action לעולם לא מתרסקת, כי שגיאה היא מידע שמחזיר את הסוכן לתכנון.</a:t>
            </a:r>
          </a:p>
          <a:p>
            <a:pPr rtl="1" algn="r" marL="0" indent="0">
              <a:buNone/>
            </a:pPr>
            <a:r>
              <a:rPr sz="1200" lang="he-IL"/>
              <a:t>•  שניים, ההחלטה לאשר או לסרב נמצאת במעטפת ולא במודל, ולכן רמות האוטונומיה הן החלטה של המערכת, והיא מתממשת בפונקציה approve.</a:t>
            </a:r>
          </a:p>
          <a:p>
            <a:pPr rtl="1" algn="r" marL="0" indent="0">
              <a:buNone/>
            </a:pPr>
            <a:r>
              <a:rPr b="1" sz="1200" lang="he-IL"/>
              <a:t>אנלוגיה</a:t>
            </a:r>
          </a:p>
          <a:p>
            <a:pPr rtl="1" algn="r" marL="0" indent="0">
              <a:buNone/>
            </a:pPr>
            <a:r>
              <a:rPr sz="1200" lang="he-IL"/>
              <a:t>•  מנהל מפעל מבקש פריט ממחסנאי בטופס בקשה מובנה.</a:t>
            </a:r>
          </a:p>
          <a:p>
            <a:pPr rtl="1" algn="r" marL="0" indent="0">
              <a:buNone/>
            </a:pPr>
            <a:r>
              <a:rPr sz="1200" lang="he-IL"/>
              <a:t>•  המחסנאי מבצע ומחזיר דוח, והמנהל לא נכנס למחסן בעצמו.</a:t>
            </a:r>
          </a:p>
          <a:p>
            <a:pPr rtl="1" algn="r" marL="0" indent="0">
              <a:buNone/>
            </a:pPr>
            <a:r>
              <a:rPr b="1" sz="1200" lang="he-IL"/>
              <a:t>טעות נפוצה</a:t>
            </a:r>
          </a:p>
          <a:p>
            <a:pPr rtl="1" algn="r" marL="0" indent="0">
              <a:buNone/>
            </a:pPr>
            <a:r>
              <a:rPr sz="1200" lang="he-IL"/>
              <a:t>•  לחשוב שהמודל מריץ קוד בעצמו.</a:t>
            </a:r>
          </a:p>
          <a:p>
            <a:pPr rtl="1" algn="r" marL="0" indent="0">
              <a:buNone/>
            </a:pPr>
            <a:r>
              <a:rPr b="1" sz="1200" lang="he-IL"/>
              <a:t>שאלה לכיתה</a:t>
            </a:r>
          </a:p>
          <a:p>
            <a:pPr rtl="1" algn="r" marL="0" indent="0">
              <a:buNone/>
            </a:pPr>
            <a:r>
              <a:rPr sz="1200" lang="he-IL"/>
              <a:t>•  מי מחליט אם הכלי ירוץ?</a:t>
            </a:r>
          </a:p>
          <a:p>
            <a:pPr rtl="1" algn="r" marL="0" indent="0">
              <a:buNone/>
            </a:pPr>
            <a:r>
              <a:rPr b="1" sz="1200" lang="he-IL"/>
              <a:t>תשובה</a:t>
            </a:r>
          </a:p>
          <a:p>
            <a:pPr rtl="1" algn="r" marL="0" indent="0">
              <a:buNone/>
            </a:pPr>
            <a:r>
              <a:rPr sz="1200" lang="he-IL"/>
              <a:t>•  המעטפת, לפי רמת האוטונומיה.</a:t>
            </a:r>
          </a:p>
          <a:p>
            <a:pPr rtl="1" algn="r" marL="0" indent="0">
              <a:buNone/>
            </a:pPr>
            <a:r>
              <a:rPr sz="1200" lang="he-IL"/>
              <a:t>•  מקור לרעיון הכללי: Anthropic, Building effective agents (דצמבר 2024): סוכנים הם מערכות שבהן מודל מנהל בעצמו את השימוש בכלים, בלולאה, לפי משוב מהסביבה.</a:t>
            </a:r>
          </a:p>
          <a:p>
            <a:pPr rtl="1" algn="r" marL="0" indent="0">
              <a:buNone/>
            </a:pPr>
            <a:r>
              <a:rPr sz="1200" lang="he-IL"/>
              <a:t>•  הקוד בשקף הוא הפורמט של המחברת, ולא פורמט של כלי מסחרי מסוים.</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כ-1 דקה.</a:t>
            </a:r>
          </a:p>
          <a:p>
            <a:pPr rtl="1" algn="r" marL="0" indent="0">
              <a:buNone/>
            </a:pPr>
            <a:r>
              <a:rPr b="1" sz="1200" lang="he-IL"/>
              <a:t>מה אומרים</a:t>
            </a:r>
          </a:p>
          <a:p>
            <a:pPr rtl="1" algn="r" marL="0" indent="0">
              <a:buNone/>
            </a:pPr>
            <a:r>
              <a:rPr sz="1200" lang="he-IL"/>
              <a:t>•  סקירת קוד עם AI הועברה במכוון למפגש 8 (בסילבוס היא רשומה כחלק מנושא מפגש 6, אבל מפגש 8 מוקדש לבדיקות וסקירת קוד, ולכן כאן יש רק מבט מקדים).</a:t>
            </a:r>
          </a:p>
          <a:p>
            <a:pPr rtl="1" algn="r" marL="0" indent="0">
              <a:buNone/>
            </a:pPr>
            <a:r>
              <a:rPr b="1" sz="1200" lang="he-IL"/>
              <a:t>מסר מרכזי</a:t>
            </a:r>
          </a:p>
          <a:p>
            <a:pPr rtl="1" algn="r" marL="0" indent="0">
              <a:buNone/>
            </a:pPr>
            <a:r>
              <a:rPr sz="1200" lang="he-IL"/>
              <a:t>•  לפני שממזגים שינוי של סוכן, שלוש שאלות על ה-diff.</a:t>
            </a:r>
          </a:p>
          <a:p>
            <a:pPr rtl="1" algn="r" marL="0" indent="0">
              <a:buNone/>
            </a:pPr>
            <a:r>
              <a:rPr sz="1200" lang="he-IL"/>
              <a:t>•  קבצים: האם נגע בקבצים שלא התבקש?</a:t>
            </a:r>
          </a:p>
          <a:p>
            <a:pPr rtl="1" algn="r" marL="0" indent="0">
              <a:buNone/>
            </a:pPr>
            <a:r>
              <a:rPr sz="1200" lang="he-IL"/>
              <a:t>•  התנהגות: האם משהו השתנה בשקט (למשל נוסחה או סדר חישוב)?</a:t>
            </a:r>
          </a:p>
          <a:p>
            <a:pPr rtl="1" algn="r" marL="0" indent="0">
              <a:buNone/>
            </a:pPr>
            <a:r>
              <a:rPr sz="1200" lang="he-IL"/>
              <a:t>•  מקרי קצה וסודות: האם טיפל במקרה חריג (נתון חסר, חלוקה באפס), והאם יש מפתח או סיסמה בקוד (קישור למפגש 10, אבטחה)?</a:t>
            </a:r>
          </a:p>
          <a:p>
            <a:pPr rtl="1" algn="r" marL="0" indent="0">
              <a:buNone/>
            </a:pPr>
            <a:r>
              <a:rPr sz="1200" lang="he-IL"/>
              <a:t>•  זו בעצם בדיקת הקבלה שהכרנו בשקף ״טעות נפוצה״, והיא תהפוך לשיטתית עם בדיקות אוטומטיות.</a:t>
            </a:r>
          </a:p>
          <a:p>
            <a:pPr rtl="1" algn="r" marL="0" indent="0">
              <a:buNone/>
            </a:pPr>
            <a:r>
              <a:rPr b="1" sz="1200" lang="he-IL"/>
              <a:t>אנלוגיה</a:t>
            </a:r>
          </a:p>
          <a:p>
            <a:pPr rtl="1" algn="r" marL="0" indent="0">
              <a:buNone/>
            </a:pPr>
            <a:r>
              <a:rPr sz="1200" lang="he-IL"/>
              <a:t>•  סקירת שרטוט לפני שחרור לייצור.</a:t>
            </a:r>
          </a:p>
          <a:p>
            <a:pPr rtl="1" algn="r" marL="0" indent="0">
              <a:buNone/>
            </a:pPr>
            <a:r>
              <a:rPr b="1" sz="1200" lang="he-IL"/>
              <a:t>שאלה לכיתה</a:t>
            </a:r>
          </a:p>
          <a:p>
            <a:pPr rtl="1" algn="r" marL="0" indent="0">
              <a:buNone/>
            </a:pPr>
            <a:r>
              <a:rPr sz="1200" lang="he-IL"/>
              <a:t>•  איזו שאלה הייתה עוזרת למצוא את המחיקה של orders.csv בסיפור הפתיחה?</a:t>
            </a:r>
          </a:p>
          <a:p>
            <a:pPr rtl="1" algn="r" marL="0" indent="0">
              <a:buNone/>
            </a:pPr>
            <a:r>
              <a:rPr b="1" sz="1200" lang="he-IL"/>
              <a:t>תשובה</a:t>
            </a:r>
          </a:p>
          <a:p>
            <a:pPr rtl="1" algn="r" marL="0" indent="0">
              <a:buNone/>
            </a:pPr>
            <a:r>
              <a:rPr sz="1200" lang="he-IL"/>
              <a:t>•  שאלת הקבצים.</a:t>
            </a:r>
          </a:p>
          <a:p>
            <a:pPr rtl="1" algn="r" marL="0" indent="0">
              <a:buNone/>
            </a:pPr>
            <a:r>
              <a:rPr sz="1200" lang="he-IL"/>
              <a:t>•  בבית, חלק ד׳ של HM_06 הופך את שלוש השאלות לשלושה כללים בקוד (שקף ״לבית״ הבא).</a:t>
            </a:r>
          </a:p>
          <a:p>
            <a:pPr rtl="1" algn="r" marL="0" indent="0">
              <a:buNone/>
            </a:pPr>
            <a:r>
              <a:rPr sz="1200" lang="he-IL"/>
              <a:t>•  אל תעמיקו: במפגש 8 נתרגל סקירה מלאה, כולל סקירה בעזרת AI (סוכן שמבקר שינוי של סוכן אחר) ועם בדיקות.</a:t>
            </a:r>
          </a:p>
          <a:p>
            <a:pPr rtl="1" algn="r" marL="0" indent="0">
              <a:buNone/>
            </a:pPr>
            <a:r>
              <a:rPr b="1" sz="1200" lang="he-IL"/>
              <a:t>חיבור לשיעורים קודמים</a:t>
            </a:r>
          </a:p>
          <a:p>
            <a:pPr rtl="1" algn="r" marL="0" indent="0">
              <a:buNone/>
            </a:pPr>
            <a:r>
              <a:rPr sz="1200" lang="he-IL"/>
              <a:t>•  ״מתכנת ג׳וניור מוכשר״: סומכים אבל בודקים.</a:t>
            </a:r>
          </a:p>
          <a:p>
            <a:pPr rtl="1" algn="r" marL="0" indent="0">
              <a:buNone/>
            </a:pPr>
            <a:r>
              <a:rPr sz="1200" lang="he-IL"/>
              <a:t>•  שלוש השאלות על ה־diff הן ה״בודקים״ בפעולה, אחרי ש־Git מראה מה השתנה.</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כ-1.5 דקות.</a:t>
            </a:r>
          </a:p>
          <a:p>
            <a:pPr rtl="1" algn="r" marL="0" indent="0">
              <a:buNone/>
            </a:pPr>
            <a:r>
              <a:rPr b="1" sz="1200" lang="he-IL"/>
              <a:t>מה אומרים</a:t>
            </a:r>
          </a:p>
          <a:p>
            <a:pPr rtl="1" algn="r" marL="0" indent="0">
              <a:buNone/>
            </a:pPr>
            <a:r>
              <a:rPr sz="1200" lang="he-IL"/>
              <a:t>•  הצעת הפרויקט נדרשת אחרי מפגש 6 (מועד ההגשה ותבנית הטופס לאישור המרצה, ויש להשלים את השורה בשקף).</a:t>
            </a:r>
          </a:p>
          <a:p>
            <a:pPr rtl="1" algn="r" marL="0" indent="0">
              <a:buNone/>
            </a:pPr>
            <a:r>
              <a:rPr sz="1200" lang="he-IL"/>
              <a:t>•  הצעה של עמוד אחד עם שש שאלות.</a:t>
            </a:r>
          </a:p>
          <a:p>
            <a:pPr rtl="1" algn="r" marL="0" indent="0">
              <a:buNone/>
            </a:pPr>
            <a:r>
              <a:rPr sz="1200" lang="he-IL"/>
              <a:t>•  עברו על השאלות בסדר: איזו בעיה תפעולית או ניהולית הסוכן פותר, מי המשתמש ומה הוא מקבל, אילו נתונים נדרשים ומאיפה, אילו כלים או API ישתמש, איך נדע שהצליח (מדד), ומה הסיכונים ומה האדם צריך לבדוק.</a:t>
            </a:r>
          </a:p>
          <a:p>
            <a:pPr rtl="1" algn="r" marL="0" indent="0">
              <a:buNone/>
            </a:pPr>
            <a:r>
              <a:rPr sz="1200" lang="he-IL"/>
              <a:t>•  דוגמה לתעשייה וניהול: סוכן שעוקב אחרי מלאי ומציע הזמנות.</a:t>
            </a:r>
          </a:p>
          <a:p>
            <a:pPr rtl="1" algn="r" marL="0" indent="0">
              <a:buNone/>
            </a:pPr>
            <a:r>
              <a:rPr sz="1200" lang="he-IL"/>
              <a:t>•  בעיה: חוסרים.</a:t>
            </a:r>
          </a:p>
          <a:p>
            <a:pPr rtl="1" algn="r" marL="0" indent="0">
              <a:buNone/>
            </a:pPr>
            <a:r>
              <a:rPr sz="1200" lang="he-IL"/>
              <a:t>•  משתמש: מנהל רכש.</a:t>
            </a:r>
          </a:p>
          <a:p>
            <a:pPr rtl="1" algn="r" marL="0" indent="0">
              <a:buNone/>
            </a:pPr>
            <a:r>
              <a:rPr sz="1200" lang="he-IL"/>
              <a:t>•  נתונים: קובץ מלאי והזמנות.</a:t>
            </a:r>
          </a:p>
          <a:p>
            <a:pPr rtl="1" algn="r" marL="0" indent="0">
              <a:buNone/>
            </a:pPr>
            <a:r>
              <a:rPr sz="1200" lang="he-IL"/>
              <a:t>•  מדד: ירידה במספר חוסרים.</a:t>
            </a:r>
          </a:p>
          <a:p>
            <a:pPr rtl="1" algn="r" marL="0" indent="0">
              <a:buNone/>
            </a:pPr>
            <a:r>
              <a:rPr sz="1200" lang="he-IL"/>
              <a:t>•  סיכון: הזמנה שגויה, ולכן אדם מאשר.</a:t>
            </a:r>
          </a:p>
          <a:p>
            <a:pPr rtl="1" algn="r" marL="0" indent="0">
              <a:buNone/>
            </a:pPr>
            <a:r>
              <a:rPr sz="1200" lang="he-IL"/>
              <a:t>•  נקודות זהירות: מדד חייב להיות מדיד, ושימו לב לסיכונים (קישור למפגש 10).</a:t>
            </a:r>
          </a:p>
          <a:p>
            <a:pPr rtl="1" algn="r" marL="0" indent="0">
              <a:buNone/>
            </a:pPr>
            <a:r>
              <a:rPr b="1" sz="1200" lang="he-IL"/>
              <a:t>שאלה לכיתה</a:t>
            </a:r>
          </a:p>
          <a:p>
            <a:pPr rtl="1" algn="r" marL="0" indent="0">
              <a:buNone/>
            </a:pPr>
            <a:r>
              <a:rPr sz="1200" lang="he-IL"/>
              <a:t>•  איזה מדד תבחרו לסוכן שמסכם תלונות לקוח?</a:t>
            </a:r>
          </a:p>
          <a:p>
            <a:pPr rtl="1" algn="r" marL="0" indent="0">
              <a:buNone/>
            </a:pPr>
            <a:r>
              <a:rPr sz="1200" lang="he-IL"/>
              <a:t>•  תשובה לדוגמה: אחוז סיכומים שאושרו בלי תיקון.</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הכלל של המפגש (כ-0.5 דקה): לפני שהסוכן פועל, commit.</a:t>
            </a:r>
          </a:p>
          <a:p>
            <a:pPr rtl="1" algn="r" marL="0" indent="0">
              <a:buNone/>
            </a:pPr>
            <a:r>
              <a:rPr b="1" sz="1200" lang="he-IL"/>
              <a:t>מה אומרים</a:t>
            </a:r>
          </a:p>
          <a:p>
            <a:pPr rtl="1" algn="r" marL="0" indent="0">
              <a:buNone/>
            </a:pPr>
            <a:r>
              <a:rPr sz="1200" lang="he-IL"/>
              <a:t>•  אחרי שפעל, קוראים את ה-diff.</a:t>
            </a:r>
          </a:p>
          <a:p>
            <a:pPr rtl="1" algn="r" marL="0" indent="0">
              <a:buNone/>
            </a:pPr>
            <a:r>
              <a:rPr sz="1200" lang="he-IL"/>
              <a:t>•  ובסוף מריצים ובודקים בעצמכם.</a:t>
            </a:r>
          </a:p>
          <a:p>
            <a:pPr rtl="1" algn="r" marL="0" indent="0">
              <a:buNone/>
            </a:pPr>
            <a:r>
              <a:rPr sz="1200" lang="he-IL"/>
              <a:t>•  זה סיכום של כל המפגש בשלוש שורות: הרצף של רשת הביטחון (Git), הכלי של בקרה (diff), והעיקרון שמה שהסוכן אומר אינו הוכחה.</a:t>
            </a:r>
          </a:p>
          <a:p>
            <a:pPr rtl="1" algn="r" marL="0" indent="0">
              <a:buNone/>
            </a:pPr>
            <a:r>
              <a:rPr b="1" sz="1200" lang="he-IL"/>
              <a:t>אנלוגיה</a:t>
            </a:r>
          </a:p>
          <a:p>
            <a:pPr rtl="1" algn="r" marL="0" indent="0">
              <a:buNone/>
            </a:pPr>
            <a:r>
              <a:rPr sz="1200" lang="he-IL"/>
              <a:t>•  כמו רשימת תיוג לפני הפעלת מכונה: שומרים מצב, מפעילים, ובודקים את התוצאה.</a:t>
            </a:r>
          </a:p>
          <a:p>
            <a:pPr rtl="1" algn="r" marL="0" indent="0">
              <a:buNone/>
            </a:pPr>
            <a:r>
              <a:rPr sz="1200" lang="he-IL"/>
              <a:t>•  קראו אותו בקול ובקשו מהכיתה לחזור עליו.</a:t>
            </a:r>
          </a:p>
          <a:p>
            <a:pPr rtl="1" algn="r" marL="0" indent="0">
              <a:buNone/>
            </a:pPr>
            <a:r>
              <a:rPr sz="1200" lang="he-IL"/>
              <a:t>•  כדאי להשאיר אותו על המסך בזמן החידון.</a:t>
            </a:r>
          </a:p>
          <a:p>
            <a:pPr rtl="1" algn="r" marL="0" indent="0">
              <a:buNone/>
            </a:pPr>
            <a:r>
              <a:rPr sz="1200" lang="he-IL"/>
              <a:t>•  קישור לשיעורים הבאים: במפגש 8 נוסיף בדיקות אוטומטיות וסקירת קוד, ובמפגש 10 אבטחה וסיכונים, שניהם נשענים על הכלל הזה.</a:t>
            </a:r>
          </a:p>
          <a:p>
            <a:pPr rtl="1" algn="r" marL="0" indent="0">
              <a:buNone/>
            </a:pPr>
            <a:r>
              <a:rPr b="1" sz="1200" lang="he-IL"/>
              <a:t>שאלה לכיתה</a:t>
            </a:r>
          </a:p>
          <a:p>
            <a:pPr rtl="1" algn="r" marL="0" indent="0">
              <a:buNone/>
            </a:pPr>
            <a:r>
              <a:rPr sz="1200" lang="he-IL"/>
              <a:t>•  איזו מתוך שלוש הנקודות הכי קל לשכוח?</a:t>
            </a:r>
          </a:p>
          <a:p>
            <a:pPr rtl="1" algn="r" marL="0" indent="0">
              <a:buNone/>
            </a:pPr>
            <a:r>
              <a:rPr b="1" sz="1200" lang="he-IL"/>
              <a:t>תשובה</a:t>
            </a:r>
          </a:p>
          <a:p>
            <a:pPr rtl="1" algn="r" marL="0" indent="0">
              <a:buNone/>
            </a:pPr>
            <a:r>
              <a:rPr sz="1200" lang="he-IL"/>
              <a:t>•  הראשונה.</a:t>
            </a:r>
          </a:p>
          <a:p>
            <a:pPr rtl="1" algn="r" marL="0" indent="0">
              <a:buNone/>
            </a:pPr>
            <a:r>
              <a:rPr b="1" sz="1200" lang="he-IL"/>
              <a:t>חיבור לשיעורים קודמים</a:t>
            </a:r>
          </a:p>
          <a:p>
            <a:pPr rtl="1" algn="r" marL="0" indent="0">
              <a:buNone/>
            </a:pPr>
            <a:r>
              <a:rPr sz="1200" lang="he-IL"/>
              <a:t>•  מפגש 1: קוראים, מבינים ובודקים.</a:t>
            </a:r>
          </a:p>
          <a:p>
            <a:pPr rtl="1" algn="r" marL="0" indent="0">
              <a:buNone/>
            </a:pPr>
            <a:r>
              <a:rPr sz="1200" lang="he-IL"/>
              <a:t>•  מפגש 5: בוחרים כלי לפי המשימה והסיכון, ועדיין קוראים, מבינים ובודקים.</a:t>
            </a:r>
          </a:p>
          <a:p>
            <a:pPr rtl="1" algn="r" marL="0" indent="0">
              <a:buNone/>
            </a:pPr>
            <a:r>
              <a:rPr sz="1200" lang="he-IL"/>
              <a:t>•  מפגש 6: לפני שהסוכן פועל commit, אחרי שפעל קוראים את ה־diff.</a:t>
            </a:r>
          </a:p>
          <a:p>
            <a:pPr rtl="1" algn="r" marL="0" indent="0">
              <a:buNone/>
            </a:pPr>
            <a:r>
              <a:rPr b="1" sz="1200" lang="he-IL"/>
              <a:t>שאלת היזכרות</a:t>
            </a:r>
          </a:p>
          <a:p>
            <a:pPr rtl="1" algn="r" marL="0" indent="0">
              <a:buNone/>
            </a:pPr>
            <a:r>
              <a:rPr sz="1200" lang="he-IL"/>
              <a:t>•  מה היה הכלל של מפגש 5?</a:t>
            </a:r>
          </a:p>
          <a:p>
            <a:pPr rtl="1" algn="r" marL="0" indent="0">
              <a:buNone/>
            </a:pPr>
            <a:r>
              <a:rPr b="1" sz="1200" lang="he-IL"/>
              <a:t>תשובה</a:t>
            </a:r>
          </a:p>
          <a:p>
            <a:pPr rtl="1" algn="r" marL="0" indent="0">
              <a:buNone/>
            </a:pPr>
            <a:r>
              <a:rPr sz="1200" lang="he-IL"/>
              <a:t>•  בוחרים כלי לפי המשימה והסיכון, לא לפי הרעש סביבו.</a:t>
            </a:r>
          </a:p>
          <a:p>
            <a:pPr rtl="1" algn="r" marL="0" indent="0">
              <a:buNone/>
            </a:pPr>
            <a:r>
              <a:rPr b="1" sz="1200" lang="he-IL"/>
              <a:t>אם הכיתה לא זוכרת</a:t>
            </a:r>
          </a:p>
          <a:p>
            <a:pPr rtl="1" algn="r" marL="0" indent="0">
              <a:buNone/>
            </a:pPr>
            <a:r>
              <a:rPr sz="1200" lang="he-IL"/>
              <a:t>•  להקריא את הכלל של היום ולהסביר שהוא ממשיך את אותו כיוון.</a:t>
            </a:r>
          </a:p>
          <a:p>
            <a:pPr rtl="1" algn="r" marL="0" indent="0">
              <a:buNone/>
            </a:pPr>
            <a:r>
              <a:rPr sz="1200" lang="he-IL"/>
              <a:t>•  חזרו לשאלה של היום (מה עוצר סוכן שטועה, ואיך חוזרים אחורה?): max_steps ואישורים עוצרים, ו־Git מחזיר.</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חידון סיום, כ-1.5 דקות עם השקף הבא (אפשר לדלג על שאלה אם אין זמן).</a:t>
            </a:r>
          </a:p>
          <a:p>
            <a:pPr rtl="1" algn="r" marL="0" indent="0">
              <a:buNone/>
            </a:pPr>
            <a:r>
              <a:rPr b="1" sz="1200" lang="he-IL"/>
              <a:t>מה אומרים</a:t>
            </a:r>
          </a:p>
          <a:p>
            <a:pPr rtl="1" algn="r" marL="0" indent="0">
              <a:buNone/>
            </a:pPr>
            <a:r>
              <a:rPr sz="1200" lang="he-IL"/>
              <a:t>•  שלוש שאלות: אילו שלבים חוזרים בלולאה של סוכן; למה עושים commit לפני שהסוכן פועל; ומה תפקידו של ענף ומתי ממזגים אותו.</a:t>
            </a:r>
          </a:p>
          <a:p>
            <a:pPr rtl="1" algn="r" marL="0" indent="0">
              <a:buNone/>
            </a:pPr>
            <a:r>
              <a:rPr sz="1200" lang="he-IL"/>
              <a:t>•  שאלו שאלה אחת בכל פעם, תנו לסטודנטים 20 עד 30 שניות לחשוב או לדבר עם השכן, ואספו תשובה לפני שמחליפים שקף.</a:t>
            </a:r>
          </a:p>
          <a:p>
            <a:pPr rtl="1" algn="r" marL="0" indent="0">
              <a:buNone/>
            </a:pPr>
            <a:r>
              <a:rPr sz="1200" lang="he-IL"/>
              <a:t>•  אפשר לבקש הצבעה ביד על תשובות לשאלה 2.</a:t>
            </a:r>
          </a:p>
          <a:p>
            <a:pPr rtl="1" algn="r" marL="0" indent="0">
              <a:buNone/>
            </a:pPr>
            <a:r>
              <a:rPr sz="1200" lang="he-IL"/>
              <a:t>•  לא מציגים עדיין את התשובות.</a:t>
            </a:r>
          </a:p>
          <a:p>
            <a:pPr rtl="1" algn="r" marL="0" indent="0">
              <a:buNone/>
            </a:pPr>
            <a:r>
              <a:rPr sz="1200" lang="he-IL"/>
              <a:t>•  אם נשאר זמן, אפשר לשאול איפה בלולאה הסוכן בודק את עצמו (בשלב ההתבוננות).</a:t>
            </a:r>
          </a:p>
          <a:p>
            <a:pPr rtl="1" algn="r" marL="0" indent="0">
              <a:buNone/>
            </a:pPr>
            <a:r>
              <a:rPr sz="1200" lang="he-IL"/>
              <a:t>•  השאלות משמשות גם כבנק שאלות לבוחן הבא.</a:t>
            </a:r>
          </a:p>
          <a:p>
            <a:pPr rtl="1" algn="r" marL="0" indent="0">
              <a:buNone/>
            </a:pPr>
            <a:r>
              <a:rPr b="1" sz="1200" lang="he-IL"/>
              <a:t>חיבור לשיעורים קודמים</a:t>
            </a:r>
          </a:p>
          <a:p>
            <a:pPr rtl="1" algn="r" marL="0" indent="0">
              <a:buNone/>
            </a:pPr>
            <a:r>
              <a:rPr sz="1200" lang="he-IL"/>
              <a:t>•  שאלה 2 קשורה לשקף ״הכלל: לפני ואחרי״, ושאלה 3 לשקף הענף והמיזוג.</a:t>
            </a:r>
          </a:p>
          <a:p>
            <a:pPr rtl="1" algn="r" marL="0" indent="0">
              <a:buNone/>
            </a:pPr>
            <a:r>
              <a:rPr sz="1200" lang="he-IL"/>
              <a:t>•  את ההבדל בין רמות האוטונומיה כבר בדקנו בשאלת הבדיקה בחלק א׳.</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תשובות לחידון.</a:t>
            </a:r>
          </a:p>
          <a:p>
            <a:pPr rtl="1" algn="r" marL="0" indent="0">
              <a:buNone/>
            </a:pPr>
            <a:r>
              <a:rPr b="1" sz="1200" lang="he-IL"/>
              <a:t>מה אומרים</a:t>
            </a:r>
          </a:p>
          <a:p>
            <a:pPr rtl="1" algn="r" marL="0" indent="0">
              <a:buNone/>
            </a:pPr>
            <a:r>
              <a:rPr sz="1200" lang="he-IL"/>
              <a:t>•  1) תכנון, פעולה (קריאה לכלי), התבוננות, וחוזר חלילה.</a:t>
            </a:r>
          </a:p>
          <a:p>
            <a:pPr rtl="1" algn="r" marL="0" indent="0">
              <a:buNone/>
            </a:pPr>
            <a:r>
              <a:rPr sz="1200" lang="he-IL"/>
              <a:t>•  2) כדי שיהיה מצב נקי לחזור אליו, וה-diff יראה בדיוק מה השתנה.</a:t>
            </a:r>
          </a:p>
          <a:p>
            <a:pPr rtl="1" algn="r" marL="0" indent="0">
              <a:buNone/>
            </a:pPr>
            <a:r>
              <a:rPr sz="1200" lang="he-IL"/>
              <a:t>•  3) ענף הוא קו ניסוי נפרד בלי לסכן את main (טכנית: מצביע ל-commit, לא עותק של הקבצים), וממזגים אותו רק אחרי שה-diff נבדק והקוד עובד.</a:t>
            </a:r>
          </a:p>
          <a:p>
            <a:pPr rtl="1" algn="r" marL="0" indent="0">
              <a:buNone/>
            </a:pPr>
            <a:r>
              <a:rPr sz="1200" lang="he-IL"/>
              <a:t>•  בכל תשובה שהסטודנטים טעו בה, חזרו לשקף הרלוונטי ושאלו מה גרם לטעות.</a:t>
            </a:r>
          </a:p>
          <a:p>
            <a:pPr rtl="1" algn="r" marL="0" indent="0">
              <a:buNone/>
            </a:pPr>
            <a:r>
              <a:rPr sz="1200" lang="he-IL"/>
              <a:t>•  טעות נפוצה בשאלה 2: לחשוב ש-commit מגן על קבצים שהסוכן שינה אחרי ה-commit.</a:t>
            </a:r>
          </a:p>
          <a:p>
            <a:pPr rtl="1" algn="r" marL="0" indent="0">
              <a:buNone/>
            </a:pPr>
            <a:r>
              <a:rPr sz="1200" lang="he-IL"/>
              <a:t>•  הוא רק מאפשר לחזור לנקודה.</a:t>
            </a:r>
          </a:p>
          <a:p>
            <a:pPr rtl="1" algn="r" marL="0" indent="0">
              <a:buNone/>
            </a:pPr>
            <a:r>
              <a:rPr sz="1200" lang="he-IL"/>
              <a:t>•  אנלוגיה לשאלה 3: מעבדת ניסוי מול קו ייצור.</a:t>
            </a:r>
          </a:p>
          <a:p>
            <a:pPr rtl="1" algn="r" marL="0" indent="0">
              <a:buNone/>
            </a:pPr>
            <a:r>
              <a:rPr sz="1200" lang="he-IL"/>
              <a:t>•  אם הכיתה ענתה נכון על רוב השאלות, אפשר לעבור הלאה.</a:t>
            </a:r>
          </a:p>
          <a:p>
            <a:pPr rtl="1" algn="r" marL="0" indent="0">
              <a:buNone/>
            </a:pPr>
            <a:r>
              <a:rPr sz="1200" lang="he-IL"/>
              <a:t>•  אם לא, חזרו על הכלל של המפגש: commit לפני, diff אחרי.</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סיכום, כ-1 דקה.</a:t>
            </a:r>
          </a:p>
          <a:p>
            <a:pPr rtl="1" algn="r" marL="0" indent="0">
              <a:buNone/>
            </a:pPr>
            <a:r>
              <a:rPr b="1" sz="1200" lang="he-IL"/>
              <a:t>מה אומרים</a:t>
            </a:r>
          </a:p>
          <a:p>
            <a:pPr rtl="1" algn="r" marL="0" indent="0">
              <a:buNone/>
            </a:pPr>
            <a:r>
              <a:rPr sz="1200" lang="he-IL"/>
              <a:t>•  ארבע נקודות: סוכן הוא לולאה של תכנון, פעולה והתבוננות באמצעות כלים; רמת האוטונומיה נקבעת לפי הסיכון ולפי היכולת לבטל; Git הוא רשת הביטחון (commit לפני, ענף לניסוי, diff אחרי); ומה שהסוכן אומר אינו הוכחה, ולכן מריצים ובודקים.</a:t>
            </a:r>
          </a:p>
          <a:p>
            <a:pPr rtl="1" algn="r" marL="0" indent="0">
              <a:buNone/>
            </a:pPr>
            <a:r>
              <a:rPr b="1" sz="1200" lang="he-IL"/>
              <a:t>שאלה לכיתה</a:t>
            </a:r>
          </a:p>
          <a:p>
            <a:pPr rtl="1" algn="r" marL="0" indent="0">
              <a:buNone/>
            </a:pPr>
            <a:r>
              <a:rPr sz="1200" lang="he-IL"/>
              <a:t>•  מה הדבר האחד שאתם לוקחים מהשיעור?</a:t>
            </a:r>
          </a:p>
          <a:p>
            <a:pPr rtl="1" algn="r" marL="0" indent="0">
              <a:buNone/>
            </a:pPr>
            <a:r>
              <a:rPr sz="1200" lang="he-IL"/>
              <a:t>•  אספו שלוש תשובות קצרות.</a:t>
            </a:r>
          </a:p>
          <a:p>
            <a:pPr rtl="1" algn="r" marL="0" indent="0">
              <a:buNone/>
            </a:pPr>
            <a:r>
              <a:rPr sz="1200" lang="he-IL"/>
              <a:t>•  קישור לשיעורים: מפגש 5 הציג מעטפת וכלים, מפגש 8 ירחיב לבדיקות וסקירת קוד, מפגש 10 לאבטחה.</a:t>
            </a:r>
          </a:p>
          <a:p>
            <a:pPr rtl="1" algn="r" marL="0" indent="0">
              <a:buNone/>
            </a:pPr>
            <a:r>
              <a:rPr sz="1200" lang="he-IL"/>
              <a:t>•  הדגישו שאין צורך לשנן פקודות של Git: חשוב להבין את הרעיון, ואת הפקודות אפשר למצוא (המחברת עוטפת אותן בפונקציות).</a:t>
            </a:r>
          </a:p>
          <a:p>
            <a:pPr rtl="1" algn="r" marL="0" indent="0">
              <a:buNone/>
            </a:pPr>
            <a:r>
              <a:rPr sz="1200" lang="he-IL"/>
              <a:t>•  הזכירו את הצעת הפרויקט ואת ההכנה למפגש הבא.</a:t>
            </a:r>
          </a:p>
          <a:p>
            <a:pPr rtl="1" algn="r" marL="0" indent="0">
              <a:buNone/>
            </a:pPr>
            <a:r>
              <a:rPr b="1" sz="1200" lang="he-IL"/>
              <a:t>חיבור לשיעורים קודמים</a:t>
            </a:r>
          </a:p>
          <a:p>
            <a:pPr rtl="1" algn="r" marL="0" indent="0">
              <a:buNone/>
            </a:pPr>
            <a:r>
              <a:rPr sz="1200" lang="he-IL"/>
              <a:t>•  ממפגש 1 ״סומכים אבל בודקים״, ממפגש 5 ״כלי לפי משימה וסיכון, וסוכן דורש גיבוי״, והיום ״commit לפני, diff אחרי״.</a:t>
            </a:r>
          </a:p>
          <a:p>
            <a:pPr rtl="1" algn="r" marL="0" indent="0">
              <a:buNone/>
            </a:pPr>
            <a:r>
              <a:rPr b="1" sz="1200" lang="he-IL"/>
              <a:t>שאלה לכיתה</a:t>
            </a:r>
          </a:p>
          <a:p>
            <a:pPr rtl="1" algn="r" marL="0" indent="0">
              <a:buNone/>
            </a:pPr>
            <a:r>
              <a:rPr sz="1200" lang="he-IL"/>
              <a:t>•  איך ההבטחה של סוף מפגש 5 (Git) התקיימה היום?</a:t>
            </a:r>
          </a:p>
          <a:p>
            <a:pPr rtl="1" algn="r" marL="0" indent="0">
              <a:buNone/>
            </a:pPr>
            <a:r>
              <a:rPr b="1" sz="1200" lang="he-IL"/>
              <a:t>תשובה</a:t>
            </a:r>
          </a:p>
          <a:p>
            <a:pPr rtl="1" algn="r" marL="0" indent="0">
              <a:buNone/>
            </a:pPr>
            <a:r>
              <a:rPr sz="1200" lang="he-IL"/>
              <a:t>•  למדנו commit, diff ושחזור, ובנינו changed_files ו־restore_file במעבדה ב׳.</a:t>
            </a:r>
          </a:p>
          <a:p>
            <a:pPr rtl="1" algn="r" marL="0" indent="0">
              <a:buNone/>
            </a:pPr>
            <a:r>
              <a:rPr sz="1200" lang="he-IL"/>
              <a:t>•  המפגש הבא (APIs, מסדי נתונים ו־Backend) ישתמש באותה שרשרת: לפני שסוכן כותב קוד שמדבר עם מסד נתונים עושים commit.</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הכנה למפגש הבא, כ-0.5 דקה.</a:t>
            </a:r>
          </a:p>
          <a:p>
            <a:pPr rtl="1" algn="r" marL="0" indent="0">
              <a:buNone/>
            </a:pPr>
            <a:r>
              <a:rPr b="1" sz="1200" lang="he-IL"/>
              <a:t>מה אומרים</a:t>
            </a:r>
          </a:p>
          <a:p>
            <a:pPr rtl="1" algn="r" marL="0" indent="0">
              <a:buNone/>
            </a:pPr>
            <a:r>
              <a:rPr sz="1200" lang="he-IL"/>
              <a:t>•  שלוש משימות: לכתוב את הצעת הפרויקט עם הקבוצה (עמוד אחד, שש שאלות, מועד ההגשה לאישור המרצה), לוודא שהמאגר הקבוצתי כולל commits של כולם (הוכחה לאחריות אישית), ולחשוב איזה מידע חיצוני הפרויקט צריך.</a:t>
            </a:r>
          </a:p>
          <a:p>
            <a:pPr rtl="1" algn="r" marL="0" indent="0">
              <a:buNone/>
            </a:pPr>
            <a:r>
              <a:rPr sz="1200" lang="he-IL"/>
              <a:t>•  הנושא של המפגש הבא: APIs, בסיסי נתונים ו-Backend עם AI, כלומר איך המערכת שלכם מדברת עם העולם.</a:t>
            </a:r>
          </a:p>
          <a:p>
            <a:pPr rtl="1" algn="r" marL="0" indent="0">
              <a:buNone/>
            </a:pPr>
            <a:r>
              <a:rPr sz="1200" lang="he-IL"/>
              <a:t>•  יש לאמת את שם המפגש הבא מול הסילבוס.</a:t>
            </a:r>
          </a:p>
          <a:p>
            <a:pPr rtl="1" algn="r" marL="0" indent="0">
              <a:buNone/>
            </a:pPr>
            <a:r>
              <a:rPr b="1" sz="1200" lang="he-IL"/>
              <a:t>אנלוגיה</a:t>
            </a:r>
          </a:p>
          <a:p>
            <a:pPr rtl="1" algn="r" marL="0" indent="0">
              <a:buNone/>
            </a:pPr>
            <a:r>
              <a:rPr sz="1200" lang="he-IL"/>
              <a:t>•  אחרי שיש מנוע (הסוכן) ובטיחות (Git), צריך חיבורים לשאר המפעל: ספקים, מחסן, לקוחות.</a:t>
            </a:r>
          </a:p>
          <a:p>
            <a:pPr rtl="1" algn="r" marL="0" indent="0">
              <a:buNone/>
            </a:pPr>
            <a:r>
              <a:rPr sz="1200" lang="he-IL"/>
              <a:t>•  בקשו מכל קבוצה לוודא שכל חבר יכול לבצע commit (הרשאות במאגר).</a:t>
            </a:r>
          </a:p>
          <a:p>
            <a:pPr rtl="1" algn="r" marL="0" indent="0">
              <a:buNone/>
            </a:pPr>
            <a:r>
              <a:rPr sz="1200" lang="he-IL"/>
              <a:t>•  תקלה נפוצה: חבר צוות שלא הוזמן למאגר, או שלא הגדיר את השם שלו ב-Git.</a:t>
            </a:r>
          </a:p>
          <a:p>
            <a:pPr rtl="1" algn="r" marL="0" indent="0">
              <a:buNone/>
            </a:pPr>
            <a:r>
              <a:rPr b="1" sz="1200" lang="he-IL"/>
              <a:t>שאלה לכיתה</a:t>
            </a:r>
          </a:p>
          <a:p>
            <a:pPr rtl="1" algn="r" marL="0" indent="0">
              <a:buNone/>
            </a:pPr>
            <a:r>
              <a:rPr sz="1200" lang="he-IL"/>
              <a:t>•  איזה מידע חיצוני נדרש לפרויקט שלכם?</a:t>
            </a:r>
          </a:p>
          <a:p>
            <a:pPr rtl="1" algn="r" marL="0" indent="0">
              <a:buNone/>
            </a:pPr>
            <a:r>
              <a:rPr sz="1200" lang="he-IL"/>
              <a:t>•  תשובות לדוגמה: מחירים, מזג אוויר, נתוני ספקים, מסד נתונים ארגוני.</a:t>
            </a:r>
          </a:p>
          <a:p>
            <a:pPr rtl="1" algn="r" marL="0" indent="0">
              <a:buNone/>
            </a:pPr>
            <a:r>
              <a:rPr sz="1200" lang="he-IL"/>
              <a:t>•  תזכורת: חלקים ג׳, ד׳ ו־ה׳ של HM_06 הם לבית (כ־23 דקות לפי המחברת), עם הקישור משקף ״לבית״.</a:t>
            </a:r>
          </a:p>
          <a:p>
            <a:pPr rtl="1" algn="r" marL="0" indent="0">
              <a:buNone/>
            </a:pPr>
            <a:r>
              <a:rPr sz="1200" lang="he-IL"/>
              <a:t>•  סיום, תודה.</a:t>
            </a:r>
          </a:p>
          <a:p>
            <a:pPr rtl="1" algn="r" marL="0" indent="0">
              <a:buNone/>
            </a:pPr>
            <a:r>
              <a:rPr sz="1200" lang="he-IL"/>
              <a:t>•  אחרי השקף הזה בא נספח אופציונלי: מקורות להעמקה.</a:t>
            </a:r>
          </a:p>
          <a:p>
            <a:pPr rtl="1" algn="r" marL="0" indent="0">
              <a:buNone/>
            </a:pPr>
            <a:r>
              <a:rPr sz="1200" lang="he-IL"/>
              <a:t>•  חיבור קדימה: לפי הנושא בסילבוס, מפגש 7 עוסק ב־APIs, מסדי נתונים ו־Backend.</a:t>
            </a:r>
          </a:p>
          <a:p>
            <a:pPr rtl="1" algn="r" marL="0" indent="0">
              <a:buNone/>
            </a:pPr>
            <a:r>
              <a:rPr sz="1200" lang="he-IL"/>
              <a:t>•  הכלל של היום (commit לפני, diff אחרי) הוא מה שיאפשר לכם לתת לסוכן לכתוב שם קוד בבטחה.</a:t>
            </a:r>
          </a:p>
          <a:p>
            <a:pPr rtl="1" algn="r" marL="0" indent="0">
              <a:buNone/>
            </a:pPr>
            <a:r>
              <a:rPr sz="1200" lang="he-IL"/>
              <a:t>•  חזרה אחורה: מפגש 5 נתן את השאלה (מה עושים כשסוכן טועה), ומפגש 6 נתן את התשובה (גבולות וגיבוי).</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איך עובדים עם המחברת, כדקה.</a:t>
            </a:r>
          </a:p>
          <a:p>
            <a:pPr rtl="1" algn="r" marL="0" indent="0">
              <a:buNone/>
            </a:pPr>
            <a:r>
              <a:rPr b="1" sz="1200" lang="he-IL"/>
              <a:t>מה אומרים</a:t>
            </a:r>
          </a:p>
          <a:p>
            <a:pPr rtl="1" algn="r" marL="0" indent="0">
              <a:buNone/>
            </a:pPr>
            <a:r>
              <a:rPr sz="1200" lang="he-IL"/>
              <a:t>•  השקף הזה חוזר בגרסה דומה בכל מפגש, ובמפגש הזה הזמן מצומצם, ולכן עוברים עליו מהר.</a:t>
            </a:r>
          </a:p>
          <a:p>
            <a:pPr rtl="1" algn="r" marL="0" indent="0">
              <a:buNone/>
            </a:pPr>
            <a:r>
              <a:rPr sz="1200" lang="he-IL"/>
              <a:t>•  שלושה כללים.</a:t>
            </a:r>
          </a:p>
          <a:p>
            <a:pPr rtl="1" algn="r" marL="0" indent="0">
              <a:buNone/>
            </a:pPr>
            <a:r>
              <a:rPr sz="1200" lang="he-IL"/>
              <a:t>•  אחד: ממלאים את הפונקציות שמסומנות TODO בעצמכם, בלי כלי AI: המטרה היא להבין איך סוכן ו־Git עובדים ולא לקבל קוד.</a:t>
            </a:r>
          </a:p>
          <a:p>
            <a:pPr rtl="1" algn="r" marL="0" indent="0">
              <a:buNone/>
            </a:pPr>
            <a:r>
              <a:rPr sz="1200" lang="he-IL"/>
              <a:t>•  החריג היחיד הוא חלק ד׳ (בבית), שבו משתמשים בעוזר ה־Gemini של Colab כי הוא נושא הניסוי.</a:t>
            </a:r>
          </a:p>
          <a:p>
            <a:pPr rtl="1" algn="r" marL="0" indent="0">
              <a:buNone/>
            </a:pPr>
            <a:r>
              <a:rPr sz="1200" lang="he-IL"/>
              <a:t>•  שניים: אחרי כל פונקציה יש תא בדיקה.</a:t>
            </a:r>
          </a:p>
          <a:p>
            <a:pPr rtl="1" algn="r" marL="0" indent="0">
              <a:buNone/>
            </a:pPr>
            <a:r>
              <a:rPr sz="1200" lang="he-IL"/>
              <a:t>•  כשהמימוש נכון מודפס ✓, וכשלא מודפסת הודעה שמכוונת.</a:t>
            </a:r>
          </a:p>
          <a:p>
            <a:pPr rtl="1" algn="r" marL="0" indent="0">
              <a:buNone/>
            </a:pPr>
            <a:r>
              <a:rPr sz="1200" lang="he-IL"/>
              <a:t>•  שלושה: לפני כל הרצה מפתיעה כותבים תחזית, ואחרי כל חלק עונים על שאלות ניתוח.</a:t>
            </a:r>
          </a:p>
          <a:p>
            <a:pPr rtl="1" algn="r" marL="0" indent="0">
              <a:buNone/>
            </a:pPr>
            <a:r>
              <a:rPr sz="1200" lang="he-IL"/>
              <a:t>•  תחזית שגויה עם ניתוח טוב שווה יותר מתחזית נכונה בלי הסבר.</a:t>
            </a:r>
          </a:p>
          <a:p>
            <a:pPr rtl="1" algn="r" marL="0" indent="0">
              <a:buNone/>
            </a:pPr>
            <a:r>
              <a:rPr b="1" sz="1200" lang="he-IL"/>
              <a:t>הגשה</a:t>
            </a:r>
          </a:p>
          <a:p>
            <a:pPr rtl="1" algn="r" marL="0" indent="0">
              <a:buNone/>
            </a:pPr>
            <a:r>
              <a:rPr sz="1200" lang="he-IL"/>
              <a:t>•  Restart session and run all, ואז Download .ipynb.</a:t>
            </a:r>
          </a:p>
          <a:p>
            <a:pPr rtl="1" algn="r" marL="0" indent="0">
              <a:buNone/>
            </a:pPr>
            <a:r>
              <a:rPr sz="1200" lang="he-IL"/>
              <a:t>•  אם משהו התבלגן בזמן העבודה, אותה פקודה בונה את המחברת מחדש (הריצה החוזרת של תא יצירת הפרויקט בטוחה, אבל start_branch נכשלת אם הענף כבר קיים).</a:t>
            </a:r>
          </a:p>
          <a:p>
            <a:pPr rtl="1" algn="r" marL="0" indent="0">
              <a:buNone/>
            </a:pPr>
            <a:r>
              <a:rPr sz="1200" lang="he-IL"/>
              <a:t>•  אם יש סטודנטים שחוששים מקוד: להראות שכל פונקציה קצרה ושבכל שלב יש הסבר, דוגמה ורמז.</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א׳, כדקה, לשימוש בזמן הסיור בין הזוגות.</a:t>
            </a:r>
          </a:p>
          <a:p>
            <a:pPr rtl="1" algn="r" marL="0" indent="0">
              <a:buNone/>
            </a:pPr>
            <a:r>
              <a:rPr b="1" sz="1200" lang="he-IL"/>
              <a:t>מה אומרים</a:t>
            </a:r>
          </a:p>
          <a:p>
            <a:pPr rtl="1" algn="r" marL="0" indent="0">
              <a:buNone/>
            </a:pPr>
            <a:r>
              <a:rPr sz="1200" lang="he-IL"/>
              <a:t>•  תמלול הסוכן הזהיר: חמישה צעדים.</a:t>
            </a:r>
          </a:p>
          <a:p>
            <a:pPr rtl="1" algn="r" marL="0" indent="0">
              <a:buNone/>
            </a:pPr>
            <a:r>
              <a:rPr sz="1200" lang="he-IL"/>
              <a:t>•  הוא קורא את orders.csv, כותב את monthly_revenue ל־analysis.py, מריץ ומקבל שגיאה (KeyError על העמודה month), מתקן לפי order_date ומריץ שוב, והפעם מודפסת ההכנסה לכל חודש.</a:t>
            </a:r>
          </a:p>
          <a:p>
            <a:pPr rtl="1" algn="r" marL="0" indent="0">
              <a:buNone/>
            </a:pPr>
            <a:r>
              <a:rPr sz="1200" lang="he-IL"/>
              <a:t>•  הסטטוס הוא done.</a:t>
            </a:r>
          </a:p>
          <a:p>
            <a:pPr rtl="1" algn="r" marL="0" indent="0">
              <a:buNone/>
            </a:pPr>
            <a:r>
              <a:rPr sz="1200" lang="he-IL"/>
              <a:t>•  הנקודה: השגיאה היא מידע שמחזיר את הסוכן לתכנון.</a:t>
            </a:r>
          </a:p>
          <a:p>
            <a:pPr rtl="1" algn="r" marL="0" indent="0">
              <a:buNone/>
            </a:pPr>
            <a:r>
              <a:rPr sz="1200" lang="he-IL"/>
              <a:t>•  הסוכן התקוע חוזר על אותה פעולה (NameError) חמש פעמים, ולכן הסטטוס הוא max_steps ולא done.</a:t>
            </a:r>
          </a:p>
          <a:p>
            <a:pPr rtl="1" algn="r" marL="0" indent="0">
              <a:buNone/>
            </a:pPr>
            <a:r>
              <a:rPr sz="1200" lang="he-IL"/>
              <a:t>•  בטבלת הרמות, מספר האישורים של הסוכן הזהיר הוא 5 ברמה 2, 2 ברמה 3 ו־0 ברמה 4, ו־products.csv נמחק רק ברמה 4 (ה״סוכן המנקה״ ביקש למחוק אותו, וה״משתמש״ המדומה מסרב למחיקות ברמות 2 ו־3).</a:t>
            </a:r>
          </a:p>
          <a:p>
            <a:pPr rtl="1" algn="r" marL="0" indent="0">
              <a:buNone/>
            </a:pPr>
            <a:r>
              <a:rPr sz="1200" lang="he-IL"/>
              <a:t>•  אם התוצאה של הסטודנט שונה: לבדוק את needs_approval ואת סדר התאים (בדיקות רבות אומרות ״הריצו קודם את התא שמעל״).</a:t>
            </a:r>
          </a:p>
          <a:p>
            <a:pPr rtl="1" algn="r" marL="0" indent="0">
              <a:buNone/>
            </a:pPr>
            <a:r>
              <a:rPr b="1" sz="1200" lang="he-IL"/>
              <a:t>שאלה לכיתה</a:t>
            </a:r>
          </a:p>
          <a:p>
            <a:pPr rtl="1" algn="r" marL="0" indent="0">
              <a:buNone/>
            </a:pPr>
            <a:r>
              <a:rPr sz="1200" lang="he-IL"/>
              <a:t>•  מה לא תפס אף אחד ממנגנוני הבטיחות ברמה 4?</a:t>
            </a:r>
          </a:p>
          <a:p>
            <a:pPr rtl="1" algn="r" marL="0" indent="0">
              <a:buNone/>
            </a:pPr>
            <a:r>
              <a:rPr sz="1200" lang="he-IL"/>
              <a:t>•  והתשובה: המחיקה כבר קרתה, ולכן צריך commit לפני ו־diff אחרי.</a:t>
            </a:r>
          </a:p>
          <a:p>
            <a:pPr rtl="1" algn="r" marL="0" indent="0">
              <a:buNone/>
            </a:pPr>
            <a:r>
              <a:rPr sz="1200" lang="he-IL"/>
              <a:t>•  זה הגשר לחלק ב׳.</a:t>
            </a:r>
          </a:p>
          <a:p>
            <a:pPr rtl="1" algn="r" marL="0" indent="0">
              <a:buNone/>
            </a:pPr>
            <a:r>
              <a:rPr sz="1200" lang="he-IL"/>
              <a:t>•  חיבור למפגש 5: טבלת האישורים כאן (5, 2, 0) היא אותה צורה כמו הטבלה ממעבדה ב׳ של מפגש 5 (7, 2, 0).</a:t>
            </a:r>
          </a:p>
          <a:p>
            <a:pPr rtl="1" algn="r" marL="0" indent="0">
              <a:buNone/>
            </a:pPr>
            <a:r>
              <a:rPr sz="1200" lang="he-IL"/>
              <a:t>•  שם ספרתם שורות תמלול מוכן, וכאן סוכן שרץ באמת בקוד שלכם ומבקש אישורים.</a:t>
            </a:r>
          </a:p>
          <a:p>
            <a:pPr rtl="1" algn="r" marL="0" indent="0">
              <a:buNone/>
            </a:pPr>
            <a:r>
              <a:rPr sz="1200" lang="he-IL"/>
              <a:t>•  מה משותף לשתי הטבלאות?</a:t>
            </a:r>
          </a:p>
          <a:p>
            <a:pPr rtl="1" algn="r" marL="0" indent="0">
              <a:buNone/>
            </a:pPr>
            <a:r>
              <a:rPr b="1" sz="1200" lang="he-IL"/>
              <a:t>תשובה</a:t>
            </a:r>
          </a:p>
          <a:p>
            <a:pPr rtl="1" algn="r" marL="0" indent="0">
              <a:buNone/>
            </a:pPr>
            <a:r>
              <a:rPr sz="1200" lang="he-IL"/>
              <a:t>•  ככל שהרמה גבוהה יותר, פחות אישורים.</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ב׳, כדקה, לשימוש בזמן הסיור.</a:t>
            </a:r>
          </a:p>
          <a:p>
            <a:pPr rtl="1" algn="r" marL="0" indent="0">
              <a:buNone/>
            </a:pPr>
            <a:r>
              <a:rPr b="1" sz="1200" lang="he-IL"/>
              <a:t>מה אומרים</a:t>
            </a:r>
          </a:p>
          <a:p>
            <a:pPr rtl="1" algn="r" marL="0" indent="0">
              <a:buNone/>
            </a:pPr>
            <a:r>
              <a:rPr sz="1200" lang="he-IL"/>
              <a:t>•  אחרי שהסוכן המקולקל עבד, changed_files מחזירה ארבעה קבצים: analysis.py שונה (התוספת שביקשנו), notes.txt שונה, products.csv נמחק, ו־scratch.txt חדש.</a:t>
            </a:r>
          </a:p>
          <a:p>
            <a:pPr rtl="1" algn="r" marL="0" indent="0">
              <a:buNone/>
            </a:pPr>
            <a:r>
              <a:rPr sz="1200" lang="he-IL"/>
              <a:t>•  הרשימה unexpected, כלומר מה ששונה ואינו ב־ALLOWED, היא שלושה קבצים: notes.txt, products.csv ו־scratch.txt.</a:t>
            </a:r>
          </a:p>
          <a:p>
            <a:pPr rtl="1" algn="r" marL="0" indent="0">
              <a:buNone/>
            </a:pPr>
            <a:r>
              <a:rPr sz="1200" lang="he-IL"/>
              <a:t>•  אחרי restore_file על שלושתם נשאר שינוי אחד בלבד, analysis.py, ו־commit_all שומרת אותו כ־Add top_customers function, ולכן ב־git log רואים שני commits: Initial project ואחריו Add top_customers function (קודי ה־hash משתנים בכל הרצה).</a:t>
            </a:r>
          </a:p>
          <a:p>
            <a:pPr rtl="1" algn="r" marL="0" indent="0">
              <a:buNone/>
            </a:pPr>
            <a:r>
              <a:rPr sz="1200" lang="he-IL"/>
              <a:t>•  בהדגמה ״בלי commit״ הריפו ללא commit, ולכן git status מציג את כל הקבצים כחדשים (??), ו־git restore של products.csv נכשל עם pathspec שלא ידוע ל־Git.</a:t>
            </a:r>
          </a:p>
          <a:p>
            <a:pPr rtl="1" algn="r" marL="0" indent="0">
              <a:buNone/>
            </a:pPr>
            <a:r>
              <a:rPr sz="1200" lang="he-IL"/>
              <a:t>•  זו הנקודה: restore מציל רק מה שנשמר ב־commit לפני.</a:t>
            </a:r>
          </a:p>
          <a:p>
            <a:pPr rtl="1" algn="r" marL="0" indent="0">
              <a:buNone/>
            </a:pPr>
            <a:r>
              <a:rPr sz="1200" lang="he-IL"/>
              <a:t>•  אם הסטודנט קיבל תוצאה אחרת: לבדוק אם הריץ את תא הסוכן פעמיים או הריץ commit_all אחרי שהסוכן כבר פעל.</a:t>
            </a:r>
          </a:p>
          <a:p>
            <a:pPr rtl="1" algn="r" marL="0" indent="0">
              <a:buNone/>
            </a:pPr>
            <a:r>
              <a:rPr b="1" sz="1200" lang="he-IL"/>
              <a:t>שאלה לכיתה</a:t>
            </a:r>
          </a:p>
          <a:p>
            <a:pPr rtl="1" algn="r" marL="0" indent="0">
              <a:buNone/>
            </a:pPr>
            <a:r>
              <a:rPr sz="1200" lang="he-IL"/>
              <a:t>•  האם הייתם מגלים את הנזק בלי changed_files?</a:t>
            </a:r>
          </a:p>
          <a:p>
            <a:pPr rtl="1" algn="r" marL="0" indent="0">
              <a:buNone/>
            </a:pPr>
            <a:r>
              <a:rPr sz="1200" lang="he-IL"/>
              <a:t>•  אחרי השקף הבא עוברים להסבר על הצעת הפרויקט.</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״לבית״, כדקה.</a:t>
            </a:r>
          </a:p>
          <a:p>
            <a:pPr rtl="1" algn="r" marL="0" indent="0">
              <a:buNone/>
            </a:pPr>
            <a:r>
              <a:rPr b="1" sz="1200" lang="he-IL"/>
              <a:t>מה אומרים</a:t>
            </a:r>
          </a:p>
          <a:p>
            <a:pPr rtl="1" algn="r" marL="0" indent="0">
              <a:buNone/>
            </a:pPr>
            <a:r>
              <a:rPr sz="1200" lang="he-IL"/>
              <a:t>•  חלקים א׳ ו־ב׳ במחברת HM_06 נעשים בכיתה, ואת השאר משלימים בבית, כ־23 דקות לפי המחברת: חלק ג׳ (8 דקות): diff_stat מחזירה כמה שורות נוספו ונמחקו בכל קובץ, count_commits סופרת commits, ו־merge_branch ממזגת את agent-test ל־main (המיזוג אופציונלי גם בשקפים).</a:t>
            </a:r>
          </a:p>
          <a:p>
            <a:pPr rtl="1" algn="r" marL="0" indent="0">
              <a:buNone/>
            </a:pPr>
            <a:r>
              <a:rPr sz="1200" lang="he-IL"/>
              <a:t>•  חלק ד׳ (12 דקות): שלושה כללים על diff של סוכן, is_new_import (חבילה חדשה), is_hardcoded (סוד או מספר קסם) ו־review_diff שמחברת אותם, ואחר כך צעד אמיתי: עוזר ה־Gemini של Colab סוקר את אותו diff, והסטודנט משווה אותו לכללים שלו.</a:t>
            </a:r>
          </a:p>
          <a:p>
            <a:pPr rtl="1" algn="r" marL="0" indent="0">
              <a:buNone/>
            </a:pPr>
            <a:r>
              <a:rPr sz="1200" lang="he-IL"/>
              <a:t>•  הבדיקה של הצעד הזה מאמתת תיעוד בלבד ולא תוכן, ולכן אפשר להשתמש בכל כלי צ׳אט.</a:t>
            </a:r>
          </a:p>
          <a:p>
            <a:pPr rtl="1" algn="r" marL="0" indent="0">
              <a:buNone/>
            </a:pPr>
            <a:r>
              <a:rPr sz="1200" lang="he-IL"/>
              <a:t>•  שימו לב לפרטיות: ה־diff סינתטי והמפתח מומצא, ו־diff אמיתי עם מפתחות לא מדביקים לכלי חיצוני.</a:t>
            </a:r>
          </a:p>
          <a:p>
            <a:pPr rtl="1" algn="r" marL="0" indent="0">
              <a:buNone/>
            </a:pPr>
            <a:r>
              <a:rPr sz="1200" lang="he-IL"/>
              <a:t>•  חלק ה׳ (3 דקות): שלושה משפטי מסקנה.</a:t>
            </a:r>
          </a:p>
          <a:p>
            <a:pPr rtl="1" algn="r" marL="0" indent="0">
              <a:buNone/>
            </a:pPr>
            <a:r>
              <a:rPr b="1" sz="1200" lang="he-IL"/>
              <a:t>הגשה</a:t>
            </a:r>
          </a:p>
          <a:p>
            <a:pPr rtl="1" algn="r" marL="0" indent="0">
              <a:buNone/>
            </a:pPr>
            <a:r>
              <a:rPr sz="1200" lang="he-IL"/>
              <a:t>•  Restart session and run all, ואז Download .ipynb.</a:t>
            </a:r>
          </a:p>
          <a:p>
            <a:pPr rtl="1" algn="r" marL="0" indent="0">
              <a:buNone/>
            </a:pPr>
            <a:r>
              <a:rPr sz="1200" lang="he-IL"/>
              <a:t>•  לפני השיעור: להחליף את ה־QR (מקום שמור) בקישור אמיתי למחברת.</a:t>
            </a:r>
          </a:p>
          <a:p>
            <a:pPr rtl="1" algn="r" marL="0" indent="0">
              <a:buNone/>
            </a:pPr>
            <a:r>
              <a:rPr sz="1200" lang="he-IL"/>
              <a:t>•  סקירת קוד מלאה תהיה במפגש 8.</a:t>
            </a:r>
          </a:p>
          <a:p>
            <a:pPr rtl="1" algn="r" marL="0" indent="0">
              <a:buNone/>
            </a:pPr>
            <a:r>
              <a:rPr sz="1200" lang="he-IL"/>
              <a:t>•  תיקון בסקירה: זמן העבודה בבית הוא כ-23 דקות (חלק ג׳ 8, חלק ד׳ 12, חלק ה׳ 3), בהתאם להערות למרצה של HM_06, ולא 20.</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להעמקה</a:t>
            </a:r>
          </a:p>
          <a:p>
            <a:pPr rtl="1" algn="r" marL="0" indent="0">
              <a:buNone/>
            </a:pPr>
            <a:r>
              <a:rPr sz="1200" lang="he-IL"/>
              <a:t>•  מיזוג פשוט או עם commit מיזוג, כ-2 דקות.</a:t>
            </a:r>
          </a:p>
          <a:p>
            <a:pPr rtl="1" algn="r" marL="0" indent="0">
              <a:buNone/>
            </a:pPr>
            <a:r>
              <a:rPr b="1" sz="1200" lang="he-IL"/>
              <a:t>מקורות</a:t>
            </a:r>
          </a:p>
          <a:p>
            <a:pPr rtl="1" algn="r" marL="0" indent="0">
              <a:buNone/>
            </a:pPr>
            <a:r>
              <a:rPr sz="1200" lang="he-IL"/>
              <a:t>•  Pro Git, Basic Branching and Merging (git-scm.com/book).</a:t>
            </a:r>
          </a:p>
          <a:p>
            <a:pPr rtl="1" algn="r" marL="0" indent="0">
              <a:buNone/>
            </a:pPr>
            <a:r>
              <a:rPr sz="1200" lang="he-IL"/>
              <a:t>•  שני מצבים.</a:t>
            </a:r>
          </a:p>
          <a:p>
            <a:pPr rtl="1" algn="r" marL="0" indent="0">
              <a:buNone/>
            </a:pPr>
            <a:r>
              <a:rPr sz="1200" lang="he-IL"/>
              <a:t>•  אחד, fast-forward: כשהענף שממזגים נמצא ישירות ״לפני״ הענף הנוכחי, כלומר main לא השתנה מאז שהענף נפתח.</a:t>
            </a:r>
          </a:p>
          <a:p>
            <a:pPr rtl="1" algn="r" marL="0" indent="0">
              <a:buNone/>
            </a:pPr>
            <a:r>
              <a:rPr sz="1200" lang="he-IL"/>
              <a:t>•  אין מה לחבר: Git רק מזיז את המצביע של main קדימה, ולא נוצר commit חדש.</a:t>
            </a:r>
          </a:p>
          <a:p>
            <a:pPr rtl="1" algn="r" marL="0" indent="0">
              <a:buNone/>
            </a:pPr>
            <a:r>
              <a:rPr sz="1200" lang="he-IL"/>
              <a:t>•  זה בדיוק מה שקורה במחברת, בחלק ג׳: ב-main יהיו שני commits ולא שלושה, וזו התשובה לתחזית ״כמה commits יהיו ב-main״.</a:t>
            </a:r>
          </a:p>
          <a:p>
            <a:pPr rtl="1" algn="r" marL="0" indent="0">
              <a:buNone/>
            </a:pPr>
            <a:r>
              <a:rPr sz="1200" lang="he-IL"/>
              <a:t>•  שניים, מיזוג שלושה כיוונים: כששני הענפים התקדמו, Git משווה את שתי הקצוות ואת האב הקדמון המשותף, ויוצר commit מיזוג (M) שיש לו שני הורים.</a:t>
            </a:r>
          </a:p>
          <a:p>
            <a:pPr rtl="1" algn="r" marL="0" indent="0">
              <a:buNone/>
            </a:pPr>
            <a:r>
              <a:rPr sz="1200" lang="he-IL"/>
              <a:t>•  שלישי, קונפליקט: אם אותה שורה שונתה בשני הענפים, Git לא מחליט לבד, עוצר ומסמן בקובץ את שתי הגרסאות בסימנים &lt;&lt;&lt;&lt;&lt;&lt;&lt;, ======= ו-&gt;&gt;&gt;&gt;&gt;&gt;&gt;.</a:t>
            </a:r>
          </a:p>
          <a:p>
            <a:pPr rtl="1" algn="r" marL="0" indent="0">
              <a:buNone/>
            </a:pPr>
            <a:r>
              <a:rPr sz="1200" lang="he-IL"/>
              <a:t>•  אדם בוחר מה נשאר, מוסיף את הקובץ (add) ושומר (commit).</a:t>
            </a:r>
          </a:p>
          <a:p>
            <a:pPr rtl="1" algn="r" marL="0" indent="0">
              <a:buNone/>
            </a:pPr>
            <a:r>
              <a:rPr b="1" sz="1200" lang="he-IL"/>
              <a:t>אנלוגיה</a:t>
            </a:r>
          </a:p>
          <a:p>
            <a:pPr rtl="1" algn="r" marL="0" indent="0">
              <a:buNone/>
            </a:pPr>
            <a:r>
              <a:rPr sz="1200" lang="he-IL"/>
              <a:t>•  שני מהנדסים שתיקנו את אותו סעיף בתקן: אי אפשר לאחד אוטומטית, צריך החלטה.</a:t>
            </a:r>
          </a:p>
          <a:p>
            <a:pPr rtl="1" algn="r" marL="0" indent="0">
              <a:buNone/>
            </a:pPr>
            <a:r>
              <a:rPr b="1" sz="1200" lang="he-IL"/>
              <a:t>טעות נפוצה</a:t>
            </a:r>
          </a:p>
          <a:p>
            <a:pPr rtl="1" algn="r" marL="0" indent="0">
              <a:buNone/>
            </a:pPr>
            <a:r>
              <a:rPr sz="1200" lang="he-IL"/>
              <a:t>•  לחשוב שקונפליקט פירושו שמשהו נשבר.</a:t>
            </a:r>
          </a:p>
          <a:p>
            <a:pPr rtl="1" algn="r" marL="0" indent="0">
              <a:buNone/>
            </a:pPr>
            <a:r>
              <a:rPr sz="1200" lang="he-IL"/>
              <a:t>•  זה מנגנון בטיחות.</a:t>
            </a:r>
          </a:p>
          <a:p>
            <a:pPr rtl="1" algn="r" marL="0" indent="0">
              <a:buNone/>
            </a:pPr>
            <a:r>
              <a:rPr sz="1200" lang="he-IL"/>
              <a:t>•  במעבדה לא צפוי קונפליקט.</a:t>
            </a:r>
          </a:p>
          <a:p>
            <a:pPr rtl="1" algn="r" marL="0" indent="0">
              <a:buNone/>
            </a:pPr>
            <a:r>
              <a:rPr b="1" sz="1200" lang="he-IL"/>
              <a:t>שאלה לכיתה</a:t>
            </a:r>
          </a:p>
          <a:p>
            <a:pPr rtl="1" algn="r" marL="0" indent="0">
              <a:buNone/>
            </a:pPr>
            <a:r>
              <a:rPr sz="1200" lang="he-IL"/>
              <a:t>•  מתי המיזוג יהיה fast-forward?</a:t>
            </a:r>
          </a:p>
          <a:p>
            <a:pPr rtl="1" algn="r" marL="0" indent="0">
              <a:buNone/>
            </a:pPr>
            <a:r>
              <a:rPr b="1" sz="1200" lang="he-IL"/>
              <a:t>תשובה</a:t>
            </a:r>
          </a:p>
          <a:p>
            <a:pPr rtl="1" algn="r" marL="0" indent="0">
              <a:buNone/>
            </a:pPr>
            <a:r>
              <a:rPr sz="1200" lang="he-IL"/>
              <a:t>•  כשאף אחד לא נגע ב-main.</a:t>
            </a:r>
          </a:p>
          <a:p>
            <a:pPr rtl="1" algn="r" marL="0" indent="0">
              <a:buNone/>
            </a:pPr>
            <a:r>
              <a:rPr b="1" sz="1200" lang="he-IL"/>
              <a:t>מתי לדלג</a:t>
            </a:r>
          </a:p>
          <a:p>
            <a:pPr rtl="1" algn="r" marL="0" indent="0">
              <a:buNone/>
            </a:pPr>
            <a:r>
              <a:rPr sz="1200" lang="he-IL"/>
              <a:t>•  אם הזמן קצר, השאירו רק את הפרק הימני.</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להעמקה</a:t>
            </a:r>
          </a:p>
          <a:p>
            <a:pPr rtl="1" algn="r" marL="0" indent="0">
              <a:buNone/>
            </a:pPr>
            <a:r>
              <a:rPr sz="1200" lang="he-IL"/>
              <a:t>•  merge מול rebase ברמה מושגית, כ-1.5 דקות.</a:t>
            </a:r>
          </a:p>
          <a:p>
            <a:pPr rtl="1" algn="r" marL="0" indent="0">
              <a:buNone/>
            </a:pPr>
            <a:r>
              <a:rPr b="1" sz="1200" lang="he-IL"/>
              <a:t>מקורות</a:t>
            </a:r>
          </a:p>
          <a:p>
            <a:pPr rtl="1" algn="r" marL="0" indent="0">
              <a:buNone/>
            </a:pPr>
            <a:r>
              <a:rPr sz="1200" lang="he-IL"/>
              <a:t>•  Pro Git, Git Branching - Rebasing (git-scm.com/book).</a:t>
            </a:r>
          </a:p>
          <a:p>
            <a:pPr rtl="1" algn="r" marL="0" indent="0">
              <a:buNone/>
            </a:pPr>
            <a:r>
              <a:rPr sz="1200" lang="he-IL"/>
              <a:t>•  שתי הדרכים לשלב עבודה מענף אחד בענף אחר מגיעות לאותו קוד סופי, ושונות בהיסטוריה. merge מחבר את שני הקצוות ושומר את ההיסטוריה כפי שהייתה, עם commit מיזוג כשצריך. rebase לוקח את השינויים של הענף שלכם, מניח אותם מחדש בקצה של הענף השני, ומשחזר אותם כ-commits חדשים: ״דומים אבל שונים״, כלשון הספר.</a:t>
            </a:r>
          </a:p>
          <a:p>
            <a:pPr rtl="1" algn="r" marL="0" indent="0">
              <a:buNone/>
            </a:pPr>
            <a:r>
              <a:rPr sz="1200" lang="he-IL"/>
              <a:t>•  כי ה-hash תלוי בהורה, ל-commits שהועתקו יש hash חדש.</a:t>
            </a:r>
          </a:p>
          <a:p>
            <a:pPr rtl="1" algn="r" marL="0" indent="0">
              <a:buNone/>
            </a:pPr>
            <a:r>
              <a:rPr sz="1200" lang="he-IL"/>
              <a:t>•  התוצאה: היסטוריה לינארית ונקייה, אבל כזו שלא קרתה בפועל.</a:t>
            </a:r>
          </a:p>
          <a:p>
            <a:pPr rtl="1" algn="r" marL="0" indent="0">
              <a:buNone/>
            </a:pPr>
            <a:r>
              <a:rPr sz="1200" lang="he-IL"/>
              <a:t>•  הכלל של Pro Git: לא עושים rebase ל-commits שקיימים מחוץ לריפו שלכם ושאחרים יכולים להסתמך עליהם, כי שכתוב היסטוריה משותפת גורם לכפילויות ובלבול אצל האחרים.</a:t>
            </a:r>
          </a:p>
          <a:p>
            <a:pPr rtl="1" algn="r" marL="0" indent="0">
              <a:buNone/>
            </a:pPr>
            <a:r>
              <a:rPr sz="1200" lang="he-IL"/>
              <a:t>•  כלל אצבע לקורס (המלצה, לא עובדה): בפרויקט הקבוצתי משתמשים ב-merge, ו-rebase משאירים למי שמבין למה.</a:t>
            </a:r>
          </a:p>
          <a:p>
            <a:pPr rtl="1" algn="r" marL="0" indent="0">
              <a:buNone/>
            </a:pPr>
            <a:r>
              <a:rPr b="1" sz="1200" lang="he-IL"/>
              <a:t>אנלוגיה</a:t>
            </a:r>
          </a:p>
          <a:p>
            <a:pPr rtl="1" algn="r" marL="0" indent="0">
              <a:buNone/>
            </a:pPr>
            <a:r>
              <a:rPr sz="1200" lang="he-IL"/>
              <a:t>•  merge הוא מסמך עם ״מעקב שינויים״ שמראה את כל הגרסאות, rebase הוא מסמך נקי שנכתב מחדש כאילו הכל נעשה ברצף.</a:t>
            </a:r>
          </a:p>
          <a:p>
            <a:pPr rtl="1" algn="r" marL="0" indent="0">
              <a:buNone/>
            </a:pPr>
            <a:r>
              <a:rPr b="1" sz="1200" lang="he-IL"/>
              <a:t>שאלה לכיתה</a:t>
            </a:r>
          </a:p>
          <a:p>
            <a:pPr rtl="1" algn="r" marL="0" indent="0">
              <a:buNone/>
            </a:pPr>
            <a:r>
              <a:rPr sz="1200" lang="he-IL"/>
              <a:t>•  למה rebase על ענף משותף מסוכן?</a:t>
            </a:r>
          </a:p>
          <a:p>
            <a:pPr rtl="1" algn="r" marL="0" indent="0">
              <a:buNone/>
            </a:pPr>
            <a:r>
              <a:rPr b="1" sz="1200" lang="he-IL"/>
              <a:t>תשובה</a:t>
            </a:r>
          </a:p>
          <a:p>
            <a:pPr rtl="1" algn="r" marL="0" indent="0">
              <a:buNone/>
            </a:pPr>
            <a:r>
              <a:rPr sz="1200" lang="he-IL"/>
              <a:t>•  אחרים בנו על commits שלכם שהוחלפו.</a:t>
            </a:r>
          </a:p>
          <a:p>
            <a:pPr rtl="1" algn="r" marL="0" indent="0">
              <a:buNone/>
            </a:pPr>
            <a:r>
              <a:rPr sz="1200" lang="he-IL"/>
              <a:t>•  לא נדרש לשנן פקודות.</a:t>
            </a:r>
          </a:p>
          <a:p>
            <a:pPr rtl="1" algn="r" marL="0" indent="0">
              <a:buNone/>
            </a:pPr>
            <a:r>
              <a:rPr b="1" sz="1200" lang="he-IL"/>
              <a:t>מתי לדלג</a:t>
            </a:r>
          </a:p>
          <a:p>
            <a:pPr rtl="1" algn="r" marL="0" indent="0">
              <a:buNone/>
            </a:pPr>
            <a:r>
              <a:rPr sz="1200" lang="he-IL"/>
              <a:t>•  אם הזמן קצר, אפשר לדלג לגמרי.</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להעמקה</a:t>
            </a:r>
          </a:p>
          <a:p>
            <a:pPr rtl="1" algn="r" marL="0" indent="0">
              <a:buNone/>
            </a:pPr>
            <a:r>
              <a:rPr sz="1200" lang="he-IL"/>
              <a:t>•  מדרגות הביטול ב-Git, כ-1.5 דקות.</a:t>
            </a:r>
          </a:p>
          <a:p>
            <a:pPr rtl="1" algn="r" marL="0" indent="0">
              <a:buNone/>
            </a:pPr>
            <a:r>
              <a:rPr sz="1200" lang="he-IL"/>
              <a:t>•  במעבדה משתמשים רק ב-restore, ופה רואים את שאר האפשרויות והמחיר של כל אחת.</a:t>
            </a:r>
          </a:p>
          <a:p>
            <a:pPr rtl="1" algn="r" marL="0" indent="0">
              <a:buNone/>
            </a:pPr>
            <a:r>
              <a:rPr b="1" sz="1200" lang="he-IL"/>
              <a:t>מקורות</a:t>
            </a:r>
          </a:p>
          <a:p>
            <a:pPr rtl="1" algn="r" marL="0" indent="0">
              <a:buNone/>
            </a:pPr>
            <a:r>
              <a:rPr sz="1200" lang="he-IL"/>
              <a:t>•  git-scm.com/docs (git-restore, git-revert, git-reflog) ו-Pro Git, Reset Demystified. restore מעתיק תוכן למקום העבודה לפי מקור שבוחרים, כברירת מחדל מהאינדקס, ובשימוש הרגיל בקורס מחזיר קובץ למצב שנשמר ב-commit האחרון.</a:t>
            </a:r>
          </a:p>
          <a:p>
            <a:pPr rtl="1" algn="r" marL="0" indent="0">
              <a:buNone/>
            </a:pPr>
            <a:r>
              <a:rPr sz="1200" lang="he-IL"/>
              <a:t>•  הוא לא מבקש אישור, ולכן מה שלא נשמר אבד: זה הטיעון ל״commit לפני״. revert, לפי התיעוד, רושם commits חדשים שהופכים את ההשפעה של commits קודמים, ולכן ההיסטוריה לא נשכתבת, והוא הבחירה הרגילה לביטול משהו ששותף עם אחרים. reset מזיז את הענף ל-commit אחר, ו-reset --hard גם דורס את קבצי העבודה</a:t>
            </a:r>
          </a:p>
          <a:p>
            <a:pPr rtl="1" algn="r" marL="0" indent="0">
              <a:buNone/>
            </a:pPr>
            <a:r>
              <a:rPr sz="1200" lang="he-IL"/>
              <a:t>•  לפי Pro Git זו אחת הפקודות הבודדות שבאמת מאבדות נתונים. reflog הוא יומן מקומי של תנועות המצביעים, ומאפשר למצוא commit שהענף כבר לא מצביע עליו: ברירות המחדל הן 90 יום לרשומות שעדיין נגישות ו-30 יום לרשומות שאינן נגישות (git-reflog).</a:t>
            </a:r>
          </a:p>
          <a:p>
            <a:pPr rtl="1" algn="r" marL="0" indent="0">
              <a:buNone/>
            </a:pPr>
            <a:r>
              <a:rPr b="1" sz="1200" lang="he-IL"/>
              <a:t>שימו לב</a:t>
            </a:r>
          </a:p>
          <a:p>
            <a:pPr rtl="1" algn="r" marL="0" indent="0">
              <a:buNone/>
            </a:pPr>
            <a:r>
              <a:rPr sz="1200" lang="he-IL"/>
              <a:t>•  git restore ו-git switch נוספו ב-Git 2.23 (אוגוסט 2019).</a:t>
            </a:r>
          </a:p>
          <a:p>
            <a:pPr rtl="1" algn="r" marL="0" indent="0">
              <a:buNone/>
            </a:pPr>
            <a:r>
              <a:rPr b="1" sz="1200" lang="he-IL"/>
              <a:t>אנלוגיה</a:t>
            </a:r>
          </a:p>
          <a:p>
            <a:pPr rtl="1" algn="r" marL="0" indent="0">
              <a:buNone/>
            </a:pPr>
            <a:r>
              <a:rPr sz="1200" lang="he-IL"/>
              <a:t>•  ביטול בעיפרון מול מחק, מול מכתב תיקון רשמי, מול יומן מפעל.</a:t>
            </a:r>
          </a:p>
          <a:p>
            <a:pPr rtl="1" algn="r" marL="0" indent="0">
              <a:buNone/>
            </a:pPr>
            <a:r>
              <a:rPr b="1" sz="1200" lang="he-IL"/>
              <a:t>שאלה לכיתה</a:t>
            </a:r>
          </a:p>
          <a:p>
            <a:pPr rtl="1" algn="r" marL="0" indent="0">
              <a:buNone/>
            </a:pPr>
            <a:r>
              <a:rPr sz="1200" lang="he-IL"/>
              <a:t>•  אם הסוכן מחק קובץ ששמרתם ב-commit, מה הכי קל?</a:t>
            </a:r>
          </a:p>
          <a:p>
            <a:pPr rtl="1" algn="r" marL="0" indent="0">
              <a:buNone/>
            </a:pPr>
            <a:r>
              <a:rPr b="1" sz="1200" lang="he-IL"/>
              <a:t>תשובה</a:t>
            </a:r>
          </a:p>
          <a:p>
            <a:pPr rtl="1" algn="r" marL="0" indent="0">
              <a:buNone/>
            </a:pPr>
            <a:r>
              <a:rPr sz="1200" lang="he-IL"/>
              <a:t>•  restore.</a:t>
            </a:r>
          </a:p>
          <a:p>
            <a:pPr rtl="1" algn="r" marL="0" indent="0">
              <a:buNone/>
            </a:pPr>
            <a:r>
              <a:rPr sz="1200" lang="he-IL"/>
              <a:t>•  ומה אם ה-commit כבר נדחף לצוות? revert.</a:t>
            </a:r>
          </a:p>
          <a:p>
            <a:pPr rtl="1" algn="r" marL="0" indent="0">
              <a:buNone/>
            </a:pPr>
            <a:r>
              <a:rPr b="1" sz="1200" lang="he-IL"/>
              <a:t>מתי לדלג</a:t>
            </a:r>
          </a:p>
          <a:p>
            <a:pPr rtl="1" algn="r" marL="0" indent="0">
              <a:buNone/>
            </a:pPr>
            <a:r>
              <a:rPr sz="1200" lang="he-IL"/>
              <a:t>•  אם הזמן קצר.</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שרשרת הקורס, כ־2 דקות, מיד אחרי הבוחן ובתוך חמש דקות הפתיחה.</a:t>
            </a:r>
          </a:p>
          <a:p>
            <a:pPr rtl="1" algn="r" marL="0" indent="0">
              <a:buNone/>
            </a:pPr>
            <a:r>
              <a:rPr b="1" sz="1200" lang="he-IL"/>
              <a:t>מטרה</a:t>
            </a:r>
          </a:p>
          <a:p>
            <a:pPr rtl="1" algn="r" marL="0" indent="0">
              <a:buNone/>
            </a:pPr>
            <a:r>
              <a:rPr sz="1200" lang="he-IL"/>
              <a:t>•  לחבר את מה שנלמד במפגשים 1 עד 5 לנושא של היום, תכנות אג׳נטי ו־Git.</a:t>
            </a:r>
          </a:p>
          <a:p>
            <a:pPr rtl="1" algn="r" marL="0" indent="0">
              <a:buNone/>
            </a:pPr>
            <a:r>
              <a:rPr sz="1200" lang="he-IL"/>
              <a:t>•  עוברים על ארבע השורות לפי הסדר, כחצי דקה לשורה: קודם שואלים את הכיתה, ואז חושפים את התשובה.</a:t>
            </a:r>
          </a:p>
          <a:p>
            <a:pPr rtl="1" algn="r" marL="0" indent="0">
              <a:buNone/>
            </a:pPr>
            <a:r>
              <a:rPr sz="1200" lang="he-IL"/>
              <a:t>•  מפגש 1: מתכנת ג׳וניור מוכשר, סומכים אבל בודקים: קוראים, מבינים, בודקים.</a:t>
            </a:r>
          </a:p>
          <a:p>
            <a:pPr rtl="1" algn="r" marL="0" indent="0">
              <a:buNone/>
            </a:pPr>
            <a:r>
              <a:rPr sz="1200" lang="he-IL"/>
              <a:t>•  היום: ״הסוכן אמר שסיים״ אינו הוכחה (שקף ״טעות נפוצה״), ואחרי שהסוכן פועל קוראים את ה־diff.</a:t>
            </a:r>
          </a:p>
          <a:p>
            <a:pPr rtl="1" algn="r" marL="0" indent="0">
              <a:buNone/>
            </a:pPr>
            <a:r>
              <a:rPr b="1" sz="1200" lang="he-IL"/>
              <a:t>שאלת היזכרות</a:t>
            </a:r>
          </a:p>
          <a:p>
            <a:pPr rtl="1" algn="r" marL="0" indent="0">
              <a:buNone/>
            </a:pPr>
            <a:r>
              <a:rPr sz="1200" lang="he-IL"/>
              <a:t>•  איך קראנו במפגש 1 לכלי ה־AI?</a:t>
            </a:r>
          </a:p>
          <a:p>
            <a:pPr rtl="1" algn="r" marL="0" indent="0">
              <a:buNone/>
            </a:pPr>
            <a:r>
              <a:rPr b="1" sz="1200" lang="he-IL"/>
              <a:t>תשובה</a:t>
            </a:r>
          </a:p>
          <a:p>
            <a:pPr rtl="1" algn="r" marL="0" indent="0">
              <a:buNone/>
            </a:pPr>
            <a:r>
              <a:rPr sz="1200" lang="he-IL"/>
              <a:t>•  מתכנת ג׳וניור מוכשר, כלומר סומכים אבל בודקים.</a:t>
            </a:r>
          </a:p>
          <a:p>
            <a:pPr rtl="1" algn="r" marL="0" indent="0">
              <a:buNone/>
            </a:pPr>
            <a:r>
              <a:rPr sz="1200" lang="he-IL"/>
              <a:t>•  מפגש 2: חלון ההקשר והזיות.</a:t>
            </a:r>
          </a:p>
          <a:p>
            <a:pPr rtl="1" algn="r" marL="0" indent="0">
              <a:buNone/>
            </a:pPr>
            <a:r>
              <a:rPr sz="1200" lang="he-IL"/>
              <a:t>•  היום: הזיכרון של הסוכן הוא חלון ההקשר (שקף ״זיכרון של סוכן״), וסוכן יכול לדווח הצלחה בלי שהיא קרתה, בדיוק כמו שמודל ממציא פונקציה.</a:t>
            </a:r>
          </a:p>
          <a:p>
            <a:pPr rtl="1" algn="r" marL="0" indent="0">
              <a:buNone/>
            </a:pPr>
            <a:r>
              <a:rPr b="1" sz="1200" lang="he-IL"/>
              <a:t>שאלה לכיתה</a:t>
            </a:r>
          </a:p>
          <a:p>
            <a:pPr rtl="1" algn="r" marL="0" indent="0">
              <a:buNone/>
            </a:pPr>
            <a:r>
              <a:rPr sz="1200" lang="he-IL"/>
              <a:t>•  מה חמשת סוגי ההזיות בקוד?</a:t>
            </a:r>
          </a:p>
          <a:p>
            <a:pPr rtl="1" algn="r" marL="0" indent="0">
              <a:buNone/>
            </a:pPr>
            <a:r>
              <a:rPr b="1" sz="1200" lang="he-IL"/>
              <a:t>תשובה</a:t>
            </a:r>
          </a:p>
          <a:p>
            <a:pPr rtl="1" algn="r" marL="0" indent="0">
              <a:buNone/>
            </a:pPr>
            <a:r>
              <a:rPr sz="1200" lang="he-IL"/>
              <a:t>•  פונקציה, פרמטר, חבילה, גרסה והתנהגות.</a:t>
            </a:r>
          </a:p>
          <a:p>
            <a:pPr rtl="1" algn="r" marL="0" indent="0">
              <a:buNone/>
            </a:pPr>
            <a:r>
              <a:rPr sz="1200" lang="he-IL"/>
              <a:t>•  מפגש 3, לפי הנושא בסילבוס (הנדסת פרומפטים: מבנה פרומפט אפקטיבי, פירוק משימות): היום, ״נקה לי את התיקייה מקבצים מיותרים״ היא בקשה עמומה, ושלב התכנון בלולאה מפרק משימה לצעדים.</a:t>
            </a:r>
          </a:p>
          <a:p>
            <a:pPr rtl="1" algn="r" marL="0" indent="0">
              <a:buNone/>
            </a:pPr>
            <a:r>
              <a:rPr sz="1200" lang="he-IL"/>
              <a:t>•  אל תטענו תוכן מפורט על מפגש 3: זה קישור לפי הנושא בלבד.</a:t>
            </a:r>
          </a:p>
          <a:p>
            <a:pPr rtl="1" algn="r" marL="0" indent="0">
              <a:buNone/>
            </a:pPr>
            <a:r>
              <a:rPr sz="1200" lang="he-IL"/>
              <a:t>•  מפגש 5: כלי = מודל + מעטפת, וסוכן דורש גיבוי.</a:t>
            </a:r>
          </a:p>
          <a:p>
            <a:pPr rtl="1" algn="r" marL="0" indent="0">
              <a:buNone/>
            </a:pPr>
            <a:r>
              <a:rPr sz="1200" lang="he-IL"/>
              <a:t>•  היום: הלולאה והכלים רצים בתוך המעטפת, סולם האוטונומיה שהוצג שם כתצוגה מקדימה מפורט עכשיו, ו־Git הוא הגיבוי שהובטח.</a:t>
            </a:r>
          </a:p>
          <a:p>
            <a:pPr rtl="1" algn="r" marL="0" indent="0">
              <a:buNone/>
            </a:pPr>
            <a:r>
              <a:rPr b="1" sz="1200" lang="he-IL"/>
              <a:t>שאלה לכיתה</a:t>
            </a:r>
          </a:p>
          <a:p>
            <a:pPr rtl="1" algn="r" marL="0" indent="0">
              <a:buNone/>
            </a:pPr>
            <a:r>
              <a:rPr sz="1200" lang="he-IL"/>
              <a:t>•  איזה משפט סיכם את מפגש 5?</a:t>
            </a:r>
          </a:p>
          <a:p>
            <a:pPr rtl="1" algn="r" marL="0" indent="0">
              <a:buNone/>
            </a:pPr>
            <a:r>
              <a:rPr b="1" sz="1200" lang="he-IL"/>
              <a:t>תשובה</a:t>
            </a:r>
          </a:p>
          <a:p>
            <a:pPr rtl="1" algn="r" marL="0" indent="0">
              <a:buNone/>
            </a:pPr>
            <a:r>
              <a:rPr sz="1200" lang="he-IL"/>
              <a:t>•  בוחרים כלי לפי המשימה והסיכון, ועדיין קוראים, מבינים ובודקים.</a:t>
            </a:r>
          </a:p>
          <a:p>
            <a:pPr rtl="1" algn="r" marL="0" indent="0">
              <a:buNone/>
            </a:pPr>
            <a:r>
              <a:rPr b="1" sz="1200" lang="he-IL"/>
              <a:t>אם הכיתה לא זוכרת</a:t>
            </a:r>
          </a:p>
          <a:p>
            <a:pPr rtl="1" algn="r" marL="0" indent="0">
              <a:buNone/>
            </a:pPr>
            <a:r>
              <a:rPr sz="1200" lang="he-IL"/>
              <a:t>•  לא עוצרים, חושפים את העמודה השלישית וממשיכים, כי הבוחן בדיוק בדק את החומר הזה.</a:t>
            </a:r>
          </a:p>
          <a:p>
            <a:pPr rtl="1" algn="r" marL="0" indent="0">
              <a:buNone/>
            </a:pPr>
            <a:r>
              <a:rPr sz="1200" lang="he-IL"/>
              <a:t>•  מפגש 4 (הנדסת הקשר, לפי הסילבוס) לא בטבלה, והוא מופיע בשקף הזיכרון, שם מדברים על קובץ הנחיות.</a:t>
            </a:r>
          </a:p>
          <a:p>
            <a:pPr rtl="1" algn="r" marL="0" indent="0">
              <a:buNone/>
            </a:pPr>
            <a:r>
              <a:rPr b="1" sz="1200" lang="he-IL"/>
              <a:t>אנלוגיה</a:t>
            </a:r>
          </a:p>
          <a:p>
            <a:pPr rtl="1" algn="r" marL="0" indent="0">
              <a:buNone/>
            </a:pPr>
            <a:r>
              <a:rPr sz="1200" lang="he-IL"/>
              <a:t>•  כמו שרשרת אספקה, כל חוליה נשענת על הקודמת.</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השאלה של היום, כדקה.</a:t>
            </a:r>
          </a:p>
          <a:p>
            <a:pPr rtl="1" algn="r" marL="0" indent="0">
              <a:buNone/>
            </a:pPr>
            <a:r>
              <a:rPr b="1" sz="1200" lang="he-IL"/>
              <a:t>מה אומרים</a:t>
            </a:r>
          </a:p>
          <a:p>
            <a:pPr rtl="1" algn="r" marL="0" indent="0">
              <a:buNone/>
            </a:pPr>
            <a:r>
              <a:rPr sz="1200" lang="he-IL"/>
              <a:t>•  זה הגשר בין מפגש 5 לנושא של היום, והוא נולד ממה שנשאר פתוח: בשקף ״מה יכול להשתבש״ של מפגש 5 ראינו שסוכן שורת פקודה יכול למחוק קובץ, לשנות יותר ממה שביקשתם או להתקין חבילה, ובסוף הכרזנו ״לכן במפגש הבא נלמד Git: רשת ביטחון לפני שנותנים לסוכן לפעול״.</a:t>
            </a:r>
          </a:p>
          <a:p>
            <a:pPr rtl="1" algn="r" marL="0" indent="0">
              <a:buNone/>
            </a:pPr>
            <a:r>
              <a:rPr sz="1200" lang="he-IL"/>
              <a:t>•  גם סיכום מפגש 5 אמר: סוכן דורש גיבוי.</a:t>
            </a:r>
          </a:p>
          <a:p>
            <a:pPr rtl="1" algn="r" marL="0" indent="0">
              <a:buNone/>
            </a:pPr>
            <a:r>
              <a:rPr sz="1200" lang="he-IL"/>
              <a:t>•  קראו את הכרטיסים מימין לשמאל: מפגש 5 (הסוכן קורא, מריץ ועורך), הבעיה שנשארה (מחק או שינה יותר ממה שביקשתם, כמו בסיפור הפתיחה), ושני החלקים של היום: חלק א׳ (איך סוכן עובד, ואיך קובעים לו גבולות לפי רמת אוטונומיה) וחלק ב׳ (Git: commit לפני, diff אחרי).</a:t>
            </a:r>
          </a:p>
          <a:p>
            <a:pPr rtl="1" algn="r" marL="0" indent="0">
              <a:buNone/>
            </a:pPr>
            <a:r>
              <a:rPr b="1" sz="1200" lang="he-IL"/>
              <a:t>שאלת היזכרות</a:t>
            </a:r>
          </a:p>
          <a:p>
            <a:pPr rtl="1" algn="r" marL="0" indent="0">
              <a:buNone/>
            </a:pPr>
            <a:r>
              <a:rPr sz="1200" lang="he-IL"/>
              <a:t>•  איזה ארבעה כשלים של סוכן ראינו במפגש 5?</a:t>
            </a:r>
          </a:p>
          <a:p>
            <a:pPr rtl="1" algn="r" marL="0" indent="0">
              <a:buNone/>
            </a:pPr>
            <a:r>
              <a:rPr b="1" sz="1200" lang="he-IL"/>
              <a:t>תשובה</a:t>
            </a:r>
          </a:p>
          <a:p>
            <a:pPr rtl="1" algn="r" marL="0" indent="0">
              <a:buNone/>
            </a:pPr>
            <a:r>
              <a:rPr sz="1200" lang="he-IL"/>
              <a:t>•  מחיקת קובץ, שינוי יותר ממה שביקשתם, התקנת חבילה (אולי כזו שלא קיימת) והרצת פקודה מסוכנת.</a:t>
            </a:r>
          </a:p>
          <a:p>
            <a:pPr rtl="1" algn="r" marL="0" indent="0">
              <a:buNone/>
            </a:pPr>
            <a:r>
              <a:rPr b="1" sz="1200" lang="he-IL"/>
              <a:t>אם הכיתה לא זוכרת</a:t>
            </a:r>
          </a:p>
          <a:p>
            <a:pPr rtl="1" algn="r" marL="0" indent="0">
              <a:buNone/>
            </a:pPr>
            <a:r>
              <a:rPr sz="1200" lang="he-IL"/>
              <a:t>•  מספיק לומר שמחיקת קובץ ושינוי קבצים שלא התבקשו הם בדיוק מה שקרה בסיפור הפתיחה.</a:t>
            </a:r>
          </a:p>
          <a:p>
            <a:pPr rtl="1" algn="r" marL="0" indent="0">
              <a:buNone/>
            </a:pPr>
            <a:r>
              <a:rPr sz="1200" lang="he-IL"/>
              <a:t>•  אל תענו על השאלה עכשיו: היא מתקיימת לאורך המפגש, ובסופו נחזור אליה בשקף הכלל.</a:t>
            </a:r>
          </a:p>
          <a:p>
            <a:pPr rtl="1" algn="r" marL="0" indent="0">
              <a:buNone/>
            </a:pPr>
            <a:r>
              <a:rPr b="1" sz="1200" lang="he-IL"/>
              <a:t>אנלוגיה</a:t>
            </a:r>
          </a:p>
          <a:p>
            <a:pPr rtl="1" algn="r" marL="0" indent="0">
              <a:buNone/>
            </a:pPr>
            <a:r>
              <a:rPr sz="1200" lang="he-IL"/>
              <a:t>•  מי שנותן למתמחה גישה למחסן בלי יומן פעולות ובלי אפשרות לשחזר, מקבל בדיוק את המצב שבסיפור.</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9 דקות</a:t>
            </a:r>
          </a:p>
          <a:p>
            <a:pPr rtl="1" algn="r" marL="0" indent="0">
              <a:buNone/>
            </a:pPr>
            <a:r>
              <a:rPr lang="he-IL"/>
              <a:t>מה אומרים</a:t>
            </a:r>
          </a:p>
          <a:p>
            <a:pPr rtl="1" algn="r" marL="0" indent="0">
              <a:buNone/>
            </a:pPr>
            <a:r>
              <a:rPr lang="he-IL"/>
              <a:t>• הקובץ לתרגול הזה: HM_06.ipynb. חלק א׳: סוכן קטן משלכם.</a:t>
            </a:r>
          </a:p>
          <a:p>
            <a:pPr rtl="1" algn="r" marL="0" indent="0">
              <a:buNone/>
            </a:pPr>
            <a:r>
              <a:rPr lang="he-IL"/>
              <a:t>• כל המעבדות של המפגש נעשות באותו קובץ. כל מעבדה היא חלק אחר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בתחילת העבודה שומרים עותק ב־Drive (File → Save a copy in Drive) וכותבים את השם בתא הפתיחה.</a:t>
            </a:r>
          </a:p>
          <a:p>
            <a:pPr rtl="1" algn="r" marL="0" indent="0">
              <a:buNone/>
            </a:pPr>
            <a:r>
              <a:rPr lang="he-IL"/>
              <a:t>הכנה לפני השיעור</a:t>
            </a:r>
          </a:p>
          <a:p>
            <a:pPr rtl="1" algn="r" marL="0" indent="0">
              <a:buNone/>
            </a:pPr>
            <a:r>
              <a:rPr lang="he-IL"/>
              <a:t>• להעלות את HM_06.ipynb ל־Colab או ל־Drive, ולהחליף את ה־QR (מקום שמור) בקישור אמיתי.</a:t>
            </a:r>
          </a:p>
          <a:p>
            <a:pPr rtl="1" algn="r" marL="0" indent="0">
              <a:buNone/>
            </a:pPr>
            <a:r>
              <a:rPr lang="he-IL"/>
              <a:t>• להריץ Run all על HM_06_SOLUTION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11 דקות</a:t>
            </a:r>
          </a:p>
          <a:p>
            <a:pPr rtl="1" algn="r" marL="0" indent="0">
              <a:buNone/>
            </a:pPr>
            <a:r>
              <a:rPr lang="he-IL"/>
              <a:t>מה אומרים</a:t>
            </a:r>
          </a:p>
          <a:p>
            <a:pPr rtl="1" algn="r" marL="0" indent="0">
              <a:buNone/>
            </a:pPr>
            <a:r>
              <a:rPr lang="he-IL"/>
              <a:t>• הקובץ לתרגול הזה: HM_06.ipynb. חלק ב׳: Git אמיתי.</a:t>
            </a:r>
          </a:p>
          <a:p>
            <a:pPr rtl="1" algn="r" marL="0" indent="0">
              <a:buNone/>
            </a:pPr>
            <a:r>
              <a:rPr lang="he-IL"/>
              <a:t>• זה אותו קובץ HM_06.ipynb שפתחתם במעבדה הקודמת. ממשיכים לחלק הבא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בסוף כל מעבדה שומרים את המחברת ב־Drive, כדי שלא תאבד כשהחיבור מתנתק.</a:t>
            </a:r>
          </a:p>
          <a:p>
            <a:pPr rtl="1" algn="r" marL="0" indent="0">
              <a:buNone/>
            </a:pPr>
            <a:r>
              <a:rPr lang="he-IL"/>
              <a:t>הכנה לפני השיעור</a:t>
            </a:r>
          </a:p>
          <a:p>
            <a:pPr rtl="1" algn="r" marL="0" indent="0">
              <a:buNone/>
            </a:pPr>
            <a:r>
              <a:rPr lang="he-IL"/>
              <a:t>• להעלות את HM_06.ipynb ל־Colab או ל־Drive, ולהחליף את ה־QR (מקום שמור) בקישור אמיתי.</a:t>
            </a:r>
          </a:p>
          <a:p>
            <a:pPr rtl="1" algn="r" marL="0" indent="0">
              <a:buNone/>
            </a:pPr>
            <a:r>
              <a:rPr lang="he-IL"/>
              <a:t>• להריץ Run all על HM_06_SOLUTION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a:t>
            </a:r>
            <a:r>
              <a:rPr sz="3000" b="1" i="0" lang="he-IL">
                <a:solidFill>
                  <a:srgbClr val="212121"/>
                </a:solidFill>
              </a:rPr>
              <a:t>בוחן אמצע</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371600" y="1737360"/>
            <a:ext cx="6400800" cy="1371600"/>
          </a:xfrm>
          <a:prstGeom prst="roundRect">
            <a:avLst>
              <a:gd name="adj" fmla="val 12000"/>
            </a:avLst>
          </a:prstGeom>
          <a:solidFill>
            <a:srgbClr val="E3EEFF"/>
          </a:solidFill>
          <a:ln w="3810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3000" b="1" i="0" lang="he-IL">
                <a:solidFill>
                  <a:srgbClr val="212121"/>
                </a:solidFill>
              </a:rPr>
              <a:t>בוחן אמריקאי על מושגי יסוד</a:t>
            </a:r>
          </a:p>
        </p:txBody>
      </p:sp>
      <p:sp>
        <p:nvSpPr>
          <p:cNvPr id="6" name="Rounded Rectangle 5"/>
          <p:cNvSpPr/>
          <p:nvPr/>
        </p:nvSpPr>
        <p:spPr>
          <a:xfrm>
            <a:off x="5029200" y="3474720"/>
            <a:ext cx="2743200" cy="731520"/>
          </a:xfrm>
          <a:prstGeom prst="roundRect">
            <a:avLst>
              <a:gd name="adj" fmla="val 12000"/>
            </a:avLst>
          </a:prstGeom>
          <a:solidFill>
            <a:srgbClr val="FFF0D9"/>
          </a:solidFill>
          <a:ln w="19050">
            <a:solidFill>
              <a:srgbClr val="FFAB40"/>
            </a:solidFill>
          </a:ln>
        </p:spPr>
        <p:txBody>
          <a:bodyPr rtlCol="0" anchor="ctr" wrap="square" lIns="36576" rIns="36576" tIns="36576" bIns="36576">
            <a:noAutofit/>
          </a:bodyPr>
          <a:lstStyle/>
          <a:p>
            <a:pPr rtl="1" algn="ctr" marL="0" indent="0">
              <a:lnSpc>
                <a:spcPct val="105000"/>
              </a:lnSpc>
              <a:spcBef>
                <a:spcPts val="0"/>
              </a:spcBef>
              <a:spcAft>
                <a:spcPts val="0"/>
              </a:spcAft>
              <a:buNone/>
            </a:pPr>
            <a:r>
              <a:rPr sz="1300" b="0" i="0" lang="he-IL">
                <a:solidFill>
                  <a:srgbClr val="595959"/>
                </a:solidFill>
              </a:rPr>
              <a:t>משך</a:t>
            </a:r>
          </a:p>
          <a:p>
            <a:pPr rtl="1" algn="ctr" marL="0" indent="0">
              <a:lnSpc>
                <a:spcPct val="105000"/>
              </a:lnSpc>
              <a:spcBef>
                <a:spcPts val="0"/>
              </a:spcBef>
              <a:spcAft>
                <a:spcPts val="0"/>
              </a:spcAft>
              <a:buNone/>
            </a:pPr>
            <a:r>
              <a:rPr sz="1600" b="1" i="0" lang="he-IL">
                <a:solidFill>
                  <a:srgbClr val="212121"/>
                </a:solidFill>
              </a:rPr>
              <a:t>30 דקות (לעדכון)</a:t>
            </a:r>
          </a:p>
        </p:txBody>
      </p:sp>
      <p:sp>
        <p:nvSpPr>
          <p:cNvPr id="7" name="Rounded Rectangle 6"/>
          <p:cNvSpPr/>
          <p:nvPr/>
        </p:nvSpPr>
        <p:spPr>
          <a:xfrm>
            <a:off x="1371600" y="3474720"/>
            <a:ext cx="2743200" cy="731520"/>
          </a:xfrm>
          <a:prstGeom prst="roundRect">
            <a:avLst>
              <a:gd name="adj" fmla="val 12000"/>
            </a:avLst>
          </a:prstGeom>
          <a:solidFill>
            <a:srgbClr val="DDF2F5"/>
          </a:solidFill>
          <a:ln w="19050">
            <a:solidFill>
              <a:srgbClr val="0097A7"/>
            </a:solidFill>
          </a:ln>
        </p:spPr>
        <p:txBody>
          <a:bodyPr rtlCol="0" anchor="ctr" wrap="square" lIns="36576" rIns="36576" tIns="36576" bIns="36576">
            <a:noAutofit/>
          </a:bodyPr>
          <a:lstStyle/>
          <a:p>
            <a:pPr rtl="1" algn="ctr" marL="0" indent="0">
              <a:lnSpc>
                <a:spcPct val="105000"/>
              </a:lnSpc>
              <a:spcBef>
                <a:spcPts val="0"/>
              </a:spcBef>
              <a:spcAft>
                <a:spcPts val="0"/>
              </a:spcAft>
              <a:buNone/>
            </a:pPr>
            <a:r>
              <a:rPr sz="1300" b="0" i="0" lang="he-IL">
                <a:solidFill>
                  <a:srgbClr val="595959"/>
                </a:solidFill>
              </a:rPr>
              <a:t>חומר</a:t>
            </a:r>
          </a:p>
          <a:p>
            <a:pPr rtl="1" algn="ctr" marL="0" indent="0">
              <a:lnSpc>
                <a:spcPct val="105000"/>
              </a:lnSpc>
              <a:spcBef>
                <a:spcPts val="0"/>
              </a:spcBef>
              <a:spcAft>
                <a:spcPts val="0"/>
              </a:spcAft>
              <a:buNone/>
            </a:pPr>
            <a:r>
              <a:rPr sz="1600" b="1" i="0" lang="he-IL">
                <a:solidFill>
                  <a:srgbClr val="212121"/>
                </a:solidFill>
              </a:rPr>
              <a:t>מפגשים 1‎–‎5</a:t>
            </a:r>
          </a:p>
        </p:txBody>
      </p:sp>
      <p:sp>
        <p:nvSpPr>
          <p:cNvPr id="8" name="TextBox 7"/>
          <p:cNvSpPr txBox="1"/>
          <p:nvPr/>
        </p:nvSpPr>
        <p:spPr>
          <a:xfrm>
            <a:off x="365760" y="448056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מכשירים סגורים. בהצלחה!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a:t>
            </a:r>
            <a:r>
              <a:rPr sz="3000" b="1" i="0" lang="he-IL">
                <a:solidFill>
                  <a:srgbClr val="212121"/>
                </a:solidFill>
              </a:rPr>
              <a:t>בוחן אמצע</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2286000" y="1737360"/>
            <a:ext cx="4572000" cy="2377440"/>
          </a:xfrm>
          <a:prstGeom prst="roundRect">
            <a:avLst>
              <a:gd name="adj" fmla="val 12000"/>
            </a:avLst>
          </a:prstGeom>
          <a:solidFill>
            <a:srgbClr val="FFFFFF"/>
          </a:solidFill>
          <a:ln w="3810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6000" b="1" i="0" lang="he-IL">
                <a:solidFill>
                  <a:srgbClr val="595959"/>
                </a:solidFill>
              </a:rPr>
              <a:t>⏱  00:30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שיעור 6</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457200" y="1325880"/>
            <a:ext cx="822960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1" i="0" lang="he-IL">
                <a:solidFill>
                  <a:srgbClr val="EA4335"/>
                </a:solidFill>
              </a:rPr>
              <a:t>"הסוכן מחק לי קובץ"</a:t>
            </a:r>
          </a:p>
        </p:txBody>
      </p:sp>
      <p:sp>
        <p:nvSpPr>
          <p:cNvPr id="6" name="Rounded Rectangle 5"/>
          <p:cNvSpPr/>
          <p:nvPr/>
        </p:nvSpPr>
        <p:spPr>
          <a:xfrm>
            <a:off x="731520" y="2194560"/>
            <a:ext cx="7680960" cy="6400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2000" b="0" i="0" lang="he-IL">
                <a:solidFill>
                  <a:srgbClr val="212121"/>
                </a:solidFill>
              </a:rPr>
              <a:t>👤 "נקה לי את התיקייה מקבצים מיותרים"</a:t>
            </a:r>
          </a:p>
        </p:txBody>
      </p:sp>
      <p:sp>
        <p:nvSpPr>
          <p:cNvPr id="7" name="Rounded Rectangle 6"/>
          <p:cNvSpPr/>
          <p:nvPr/>
        </p:nvSpPr>
        <p:spPr>
          <a:xfrm>
            <a:off x="731520" y="2971800"/>
            <a:ext cx="7680960" cy="201168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8" name="Rectangle 7"/>
          <p:cNvSpPr/>
          <p:nvPr/>
        </p:nvSpPr>
        <p:spPr>
          <a:xfrm>
            <a:off x="731520" y="2971800"/>
            <a:ext cx="768096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מסוף (Terminal)</a:t>
            </a:r>
          </a:p>
        </p:txBody>
      </p:sp>
      <p:sp>
        <p:nvSpPr>
          <p:cNvPr id="9" name="TextBox 8"/>
          <p:cNvSpPr txBox="1"/>
          <p:nvPr/>
        </p:nvSpPr>
        <p:spPr>
          <a:xfrm>
            <a:off x="822960" y="3355848"/>
            <a:ext cx="7498080" cy="1554480"/>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500" b="0" i="0" lang="he-IL">
                <a:solidFill>
                  <a:srgbClr val="FFCA6B"/>
                </a:solidFill>
                <a:latin typeface="Courier New"/>
                <a:ea typeface="Courier New"/>
                <a:cs typeface="Courier New"/>
              </a:rPr>
              <a:t>&gt; Found 6 files. Keeping analysis.py</a:t>
            </a:r>
          </a:p>
          <a:p>
            <a:pPr rtl="0" algn="l" marL="0" indent="0">
              <a:lnSpc>
                <a:spcPct val="114999"/>
              </a:lnSpc>
              <a:spcBef>
                <a:spcPts val="0"/>
              </a:spcBef>
              <a:spcAft>
                <a:spcPts val="0"/>
              </a:spcAft>
              <a:buNone/>
            </a:pPr>
            <a:r>
              <a:rPr sz="1500" b="0" i="0" lang="he-IL">
                <a:solidFill>
                  <a:srgbClr val="FFCA6B"/>
                </a:solidFill>
                <a:latin typeface="Courier New"/>
                <a:ea typeface="Courier New"/>
                <a:cs typeface="Courier New"/>
              </a:rPr>
              <a:t>&gt; Deleting orders.csv ... done</a:t>
            </a:r>
          </a:p>
          <a:p>
            <a:pPr rtl="0" algn="l" marL="0" indent="0">
              <a:lnSpc>
                <a:spcPct val="114999"/>
              </a:lnSpc>
              <a:spcBef>
                <a:spcPts val="0"/>
              </a:spcBef>
              <a:spcAft>
                <a:spcPts val="0"/>
              </a:spcAft>
              <a:buNone/>
            </a:pPr>
            <a:r>
              <a:rPr sz="1500" b="0" i="0" lang="he-IL">
                <a:solidFill>
                  <a:srgbClr val="FFCA6B"/>
                </a:solidFill>
                <a:latin typeface="Courier New"/>
                <a:ea typeface="Courier New"/>
                <a:cs typeface="Courier New"/>
              </a:rPr>
              <a:t>&gt; Deleting products.csv ... done</a:t>
            </a:r>
          </a:p>
          <a:p>
            <a:pPr rtl="0" algn="l" marL="0" indent="0">
              <a:lnSpc>
                <a:spcPct val="114999"/>
              </a:lnSpc>
              <a:spcBef>
                <a:spcPts val="0"/>
              </a:spcBef>
              <a:spcAft>
                <a:spcPts val="0"/>
              </a:spcAft>
              <a:buNone/>
            </a:pPr>
            <a:r>
              <a:rPr sz="1500" b="0" i="0" lang="he-IL">
                <a:solidFill>
                  <a:srgbClr val="FF7B72"/>
                </a:solidFill>
                <a:latin typeface="Courier New"/>
                <a:ea typeface="Courier New"/>
                <a:cs typeface="Courier New"/>
              </a:rPr>
              <a:t>! (no backup, no undo)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:השרשרת של הקורס</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78" cy="3500000"/>
        </p:xfrm>
        <a:graphic>
          <a:graphicData uri="http://schemas.openxmlformats.org/drawingml/2006/table">
            <a:tbl>
              <a:tblPr firstRow="0" bandRow="0">
                <a:tableStyleId>{2D5ABB26-0587-4C30-8999-92F81FD0307C}</a:tableStyleId>
              </a:tblPr>
              <a:tblGrid>
                <a:gridCol w="3112478"/>
                <a:gridCol w="3300000"/>
                <a:gridCol w="2000000"/>
              </a:tblGrid>
              <a:tr h="700000">
                <a:tc>
                  <a:txBody>
                    <a:bodyPr wrap="square"/>
                    <a:lstStyle/>
                    <a:p>
                      <a:pPr rtl="1" algn="ctr" marL="0" indent="0">
                        <a:lnSpc>
                          <a:spcPct val="100000"/>
                        </a:lnSpc>
                        <a:spcBef>
                          <a:spcPts val="0"/>
                        </a:spcBef>
                        <a:spcAft>
                          <a:spcPts val="0"/>
                        </a:spcAft>
                        <a:buNone/>
                      </a:pPr>
                      <a:r>
                        <a:rPr sz="1600" b="1" i="0" lang="he-IL">
                          <a:solidFill>
                            <a:srgbClr val="212121"/>
                          </a:solidFill>
                        </a:rPr>
                        <a:t>איפה זה חוזר היום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600" b="1" i="0" lang="he-IL">
                          <a:solidFill>
                            <a:srgbClr val="212121"/>
                          </a:solidFill>
                        </a:rPr>
                        <a:t>מה למדנו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600" b="1" i="0" lang="he-IL">
                          <a:solidFill>
                            <a:srgbClr val="212121"/>
                          </a:solidFill>
                        </a:rPr>
                        <a:t>מפגש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700000">
                <a:tc>
                  <a:txBody>
                    <a:bodyPr wrap="square"/>
                    <a:lstStyle/>
                    <a:p>
                      <a:pPr rtl="1" algn="r" marL="0" indent="0">
                        <a:lnSpc>
                          <a:spcPct val="100000"/>
                        </a:lnSpc>
                        <a:spcBef>
                          <a:spcPts val="0"/>
                        </a:spcBef>
                        <a:spcAft>
                          <a:spcPts val="0"/>
                        </a:spcAft>
                        <a:buNone/>
                      </a:pPr>
                      <a:r>
                        <a:rPr sz="1600" b="0" i="0" lang="he-IL">
                          <a:solidFill>
                            <a:srgbClr val="212121"/>
                          </a:solidFill>
                        </a:rPr>
                        <a:t>״הסוכן אמר שסיים״ אינו הוכחה: קוראים diff ומריצים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סומכים אבל בודקים: קוראים, מבינים, בודקים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מפגש 1</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700000">
                <a:tc>
                  <a:txBody>
                    <a:bodyPr wrap="square"/>
                    <a:lstStyle/>
                    <a:p>
                      <a:pPr rtl="1" algn="r" marL="0" indent="0">
                        <a:lnSpc>
                          <a:spcPct val="100000"/>
                        </a:lnSpc>
                        <a:spcBef>
                          <a:spcPts val="0"/>
                        </a:spcBef>
                        <a:spcAft>
                          <a:spcPts val="0"/>
                        </a:spcAft>
                        <a:buNone/>
                      </a:pPr>
                      <a:r>
                        <a:rPr sz="1600" b="0" i="0" lang="he-IL">
                          <a:solidFill>
                            <a:srgbClr val="212121"/>
                          </a:solidFill>
                        </a:rPr>
                        <a:t>זיכרון הסוכן הוא חלון ההקשר; גם סוכן מדווח הצלחה שלא הייתה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חלון הקשר והזיות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מפגש 2</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700000">
                <a:tc>
                  <a:txBody>
                    <a:bodyPr wrap="square"/>
                    <a:lstStyle/>
                    <a:p>
                      <a:pPr rtl="1" algn="r" marL="0" indent="0">
                        <a:lnSpc>
                          <a:spcPct val="100000"/>
                        </a:lnSpc>
                        <a:spcBef>
                          <a:spcPts val="0"/>
                        </a:spcBef>
                        <a:spcAft>
                          <a:spcPts val="0"/>
                        </a:spcAft>
                        <a:buNone/>
                      </a:pPr>
                      <a:r>
                        <a:rPr sz="1600" b="0" i="0" lang="he-IL">
                          <a:solidFill>
                            <a:srgbClr val="212121"/>
                          </a:solidFill>
                        </a:rPr>
                        <a:t>״נקה מיותרים״ עמום; שלב התכנון מפרק משימה לצעדים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פרומפט מדויק ופירוק משימות (לפי הסילבוס)</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מפגש 3</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700000">
                <a:tc>
                  <a:txBody>
                    <a:bodyPr wrap="square"/>
                    <a:lstStyle/>
                    <a:p>
                      <a:pPr rtl="1" algn="r" marL="0" indent="0">
                        <a:lnSpc>
                          <a:spcPct val="100000"/>
                        </a:lnSpc>
                        <a:spcBef>
                          <a:spcPts val="0"/>
                        </a:spcBef>
                        <a:spcAft>
                          <a:spcPts val="0"/>
                        </a:spcAft>
                        <a:buNone/>
                      </a:pPr>
                      <a:r>
                        <a:rPr sz="1600" b="0" i="0" lang="he-IL">
                          <a:solidFill>
                            <a:srgbClr val="212121"/>
                          </a:solidFill>
                        </a:rPr>
                        <a:t>הלולאה והכלים רצים במעטפת; Git הוא הגיבוי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כלי = מודל + מעטפת; סוכן דורש גיבוי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מפגש 5</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:השאלה של היום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858000" y="2011680"/>
            <a:ext cx="1920240" cy="137160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מפגש 5</a:t>
            </a:r>
          </a:p>
          <a:p>
            <a:pPr rtl="1" algn="ctr" marL="0" indent="0">
              <a:lnSpc>
                <a:spcPct val="105000"/>
              </a:lnSpc>
              <a:spcBef>
                <a:spcPts val="0"/>
              </a:spcBef>
              <a:spcAft>
                <a:spcPts val="0"/>
              </a:spcAft>
              <a:buNone/>
            </a:pPr>
            <a:r>
              <a:rPr sz="1600" b="1" i="0" lang="he-IL">
                <a:solidFill>
                  <a:srgbClr val="212121"/>
                </a:solidFill>
              </a:rPr>
              <a:t>סוכן CLI קורא, מריץ ועורך</a:t>
            </a:r>
          </a:p>
        </p:txBody>
      </p:sp>
      <p:cxnSp>
        <p:nvCxnSpPr>
          <p:cNvPr id="6" name="Connector 5"/>
          <p:cNvCxnSpPr/>
          <p:nvPr/>
        </p:nvCxnSpPr>
        <p:spPr>
          <a:xfrm flipH="1">
            <a:off x="6601968" y="2697480"/>
            <a:ext cx="23774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663440" y="2011680"/>
            <a:ext cx="1920240" cy="13716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הבעיה שנשארה</a:t>
            </a:r>
          </a:p>
          <a:p>
            <a:pPr rtl="1" algn="ctr" marL="0" indent="0">
              <a:lnSpc>
                <a:spcPct val="105000"/>
              </a:lnSpc>
              <a:spcBef>
                <a:spcPts val="0"/>
              </a:spcBef>
              <a:spcAft>
                <a:spcPts val="0"/>
              </a:spcAft>
              <a:buNone/>
            </a:pPr>
            <a:r>
              <a:rPr sz="1600" b="1" i="0" lang="he-IL">
                <a:solidFill>
                  <a:srgbClr val="212121"/>
                </a:solidFill>
              </a:rPr>
              <a:t>מחק או שינה יותר ממה שביקשתם</a:t>
            </a:r>
          </a:p>
        </p:txBody>
      </p:sp>
      <p:cxnSp>
        <p:nvCxnSpPr>
          <p:cNvPr id="8" name="Connector 7"/>
          <p:cNvCxnSpPr/>
          <p:nvPr/>
        </p:nvCxnSpPr>
        <p:spPr>
          <a:xfrm flipH="1">
            <a:off x="4407407" y="2697480"/>
            <a:ext cx="23774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8879" y="2011680"/>
            <a:ext cx="1920240" cy="137160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היום, חלק א׳</a:t>
            </a:r>
          </a:p>
          <a:p>
            <a:pPr rtl="1" algn="ctr" marL="0" indent="0">
              <a:lnSpc>
                <a:spcPct val="105000"/>
              </a:lnSpc>
              <a:spcBef>
                <a:spcPts val="0"/>
              </a:spcBef>
              <a:spcAft>
                <a:spcPts val="0"/>
              </a:spcAft>
              <a:buNone/>
            </a:pPr>
            <a:r>
              <a:rPr sz="1600" b="1" i="0" lang="he-IL">
                <a:solidFill>
                  <a:srgbClr val="212121"/>
                </a:solidFill>
              </a:rPr>
              <a:t>לולאה, כלים ורמות אוטונומיה</a:t>
            </a:r>
          </a:p>
        </p:txBody>
      </p:sp>
      <p:cxnSp>
        <p:nvCxnSpPr>
          <p:cNvPr id="10" name="Connector 9"/>
          <p:cNvCxnSpPr/>
          <p:nvPr/>
        </p:nvCxnSpPr>
        <p:spPr>
          <a:xfrm flipH="1">
            <a:off x="2212848" y="2697480"/>
            <a:ext cx="237743"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4319" y="2011680"/>
            <a:ext cx="1920240" cy="137160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היום, חלק ב׳</a:t>
            </a:r>
          </a:p>
          <a:p>
            <a:pPr rtl="1" algn="ctr" marL="0" indent="0">
              <a:lnSpc>
                <a:spcPct val="105000"/>
              </a:lnSpc>
              <a:spcBef>
                <a:spcPts val="0"/>
              </a:spcBef>
              <a:spcAft>
                <a:spcPts val="0"/>
              </a:spcAft>
              <a:buNone/>
            </a:pPr>
            <a:r>
              <a:rPr sz="1600" b="1" i="0" lang="he-IL">
                <a:solidFill>
                  <a:srgbClr val="212121"/>
                </a:solidFill>
              </a:rPr>
              <a:t>Git: commit לפני, diff אחרי</a:t>
            </a:r>
          </a:p>
        </p:txBody>
      </p:sp>
      <p:sp>
        <p:nvSpPr>
          <p:cNvPr id="12" name="TextBox 11"/>
          <p:cNvSpPr txBox="1"/>
          <p:nvPr/>
        </p:nvSpPr>
        <p:spPr>
          <a:xfrm>
            <a:off x="365760" y="3840480"/>
            <a:ext cx="841248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34A853"/>
                </a:solidFill>
              </a:rPr>
              <a:t>בסוף המפגש: בונים סוכן קטן עם גבולות, ומשחזרים אחרי סוכן מקולקל.</a:t>
            </a:r>
          </a:p>
        </p:txBody>
      </p:sp>
      <p:sp>
        <p:nvSpPr>
          <p:cNvPr id="12" name="TextBox Question"/>
          <p:cNvSpPr txBox="1"/>
          <p:nvPr/>
        </p:nvSpPr>
        <p:spPr>
          <a:xfrm>
            <a:off x="365760" y="1420000"/>
            <a:ext cx="8412480" cy="5000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D93025"/>
                </a:solidFill>
              </a:rPr>
              <a:t>השאלה: מה עוצר סוכן שטועה, ואיך חוזרים אחורה?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a:t>
            </a:r>
            <a:r>
              <a:rPr sz="3000" b="1" i="0" lang="he-IL">
                <a:solidFill>
                  <a:srgbClr val="212121"/>
                </a:solidFill>
              </a:rPr>
              <a:t>מטרות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229600" y="146304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6" name="TextBox 5"/>
          <p:cNvSpPr txBox="1"/>
          <p:nvPr/>
        </p:nvSpPr>
        <p:spPr>
          <a:xfrm>
            <a:off x="365760" y="1371600"/>
            <a:ext cx="7726679" cy="82295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0" i="0" lang="he-IL">
                <a:solidFill>
                  <a:srgbClr val="212121"/>
                </a:solidFill>
              </a:rPr>
              <a:t>להסביר את לולאת תכנון–פעולה–התבוננות ולזהות אותה בתמלול של סוכן.</a:t>
            </a:r>
          </a:p>
        </p:txBody>
      </p:sp>
      <p:sp>
        <p:nvSpPr>
          <p:cNvPr id="7" name="Oval 6"/>
          <p:cNvSpPr/>
          <p:nvPr/>
        </p:nvSpPr>
        <p:spPr>
          <a:xfrm>
            <a:off x="8229600" y="233172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8" name="TextBox 7"/>
          <p:cNvSpPr txBox="1"/>
          <p:nvPr/>
        </p:nvSpPr>
        <p:spPr>
          <a:xfrm>
            <a:off x="365760" y="2240280"/>
            <a:ext cx="7726679" cy="82295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0" i="0" lang="he-IL">
                <a:solidFill>
                  <a:srgbClr val="212121"/>
                </a:solidFill>
              </a:rPr>
              <a:t>להסביר מהו Tool Use, ולבחור רמת אוטונומיה לפי סיכון המשימה.</a:t>
            </a:r>
          </a:p>
        </p:txBody>
      </p:sp>
      <p:sp>
        <p:nvSpPr>
          <p:cNvPr id="9" name="Oval 8"/>
          <p:cNvSpPr/>
          <p:nvPr/>
        </p:nvSpPr>
        <p:spPr>
          <a:xfrm>
            <a:off x="8229600" y="320040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0" name="TextBox 9"/>
          <p:cNvSpPr txBox="1"/>
          <p:nvPr/>
        </p:nvSpPr>
        <p:spPr>
          <a:xfrm>
            <a:off x="365760" y="3108960"/>
            <a:ext cx="7726679" cy="82295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0" i="0" lang="he-IL">
                <a:solidFill>
                  <a:srgbClr val="212121"/>
                </a:solidFill>
              </a:rPr>
              <a:t>להסביר איך Git שומר היסטוריה (commit, hash, ענף), ולעבוד איתו כרשת ביטחון.</a:t>
            </a:r>
          </a:p>
        </p:txBody>
      </p:sp>
      <p:sp>
        <p:nvSpPr>
          <p:cNvPr id="11" name="Oval 10"/>
          <p:cNvSpPr/>
          <p:nvPr/>
        </p:nvSpPr>
        <p:spPr>
          <a:xfrm>
            <a:off x="8229600" y="4069079"/>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4</a:t>
            </a:r>
          </a:p>
        </p:txBody>
      </p:sp>
      <p:sp>
        <p:nvSpPr>
          <p:cNvPr id="12" name="TextBox 11"/>
          <p:cNvSpPr txBox="1"/>
          <p:nvPr/>
        </p:nvSpPr>
        <p:spPr>
          <a:xfrm>
            <a:off x="365760" y="3977639"/>
            <a:ext cx="7726679" cy="822959"/>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100" b="0" i="0" lang="he-IL">
                <a:solidFill>
                  <a:srgbClr val="212121"/>
                </a:solidFill>
              </a:rPr>
              <a:t>להגיש הצעת פרויקט.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a:t>
            </a:r>
            <a:r>
              <a:rPr sz="3000" b="1" i="0" lang="he-IL">
                <a:solidFill>
                  <a:srgbClr val="212121"/>
                </a:solidFill>
              </a:rPr>
              <a:t>מפת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5992367" y="2011680"/>
            <a:ext cx="2767583"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FFFFFF"/>
                </a:solidFill>
              </a:rPr>
              <a:t>בוחן</a:t>
            </a:r>
          </a:p>
          <a:p>
            <a:pPr rtl="1" algn="ctr" marL="0" indent="0">
              <a:lnSpc>
                <a:spcPct val="105000"/>
              </a:lnSpc>
              <a:spcBef>
                <a:spcPts val="0"/>
              </a:spcBef>
              <a:spcAft>
                <a:spcPts val="0"/>
              </a:spcAft>
              <a:buNone/>
            </a:pPr>
            <a:r>
              <a:rPr sz="1300" b="0" i="0" lang="he-IL">
                <a:solidFill>
                  <a:srgbClr val="FFFFFF"/>
                </a:solidFill>
              </a:rPr>
              <a:t>30׳</a:t>
            </a:r>
          </a:p>
        </p:txBody>
      </p:sp>
      <p:sp>
        <p:nvSpPr>
          <p:cNvPr id="6" name="Rounded Rectangle 5"/>
          <p:cNvSpPr/>
          <p:nvPr/>
        </p:nvSpPr>
        <p:spPr>
          <a:xfrm>
            <a:off x="5525008" y="2011680"/>
            <a:ext cx="430784"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פתיחה</a:t>
            </a:r>
          </a:p>
          <a:p>
            <a:pPr rtl="1" algn="ctr" marL="0" indent="0">
              <a:lnSpc>
                <a:spcPct val="105000"/>
              </a:lnSpc>
              <a:spcBef>
                <a:spcPts val="0"/>
              </a:spcBef>
              <a:spcAft>
                <a:spcPts val="0"/>
              </a:spcAft>
              <a:buNone/>
            </a:pPr>
            <a:r>
              <a:rPr sz="1300" b="0" i="0" lang="he-IL">
                <a:solidFill>
                  <a:srgbClr val="FFFFFF"/>
                </a:solidFill>
              </a:rPr>
              <a:t>5׳</a:t>
            </a:r>
          </a:p>
        </p:txBody>
      </p:sp>
      <p:sp>
        <p:nvSpPr>
          <p:cNvPr id="7" name="Rounded Rectangle 6"/>
          <p:cNvSpPr/>
          <p:nvPr/>
        </p:nvSpPr>
        <p:spPr>
          <a:xfrm>
            <a:off x="3842511" y="2011680"/>
            <a:ext cx="1645919"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FFFFFF"/>
                </a:solidFill>
              </a:rPr>
              <a:t>א׳</a:t>
            </a:r>
          </a:p>
          <a:p>
            <a:pPr rtl="1" algn="ctr" marL="0" indent="0">
              <a:lnSpc>
                <a:spcPct val="105000"/>
              </a:lnSpc>
              <a:spcBef>
                <a:spcPts val="0"/>
              </a:spcBef>
              <a:spcAft>
                <a:spcPts val="0"/>
              </a:spcAft>
              <a:buNone/>
            </a:pPr>
            <a:r>
              <a:rPr sz="1300" b="0" i="0" lang="he-IL">
                <a:solidFill>
                  <a:srgbClr val="FFFFFF"/>
                </a:solidFill>
              </a:rPr>
              <a:t>18׳</a:t>
            </a:r>
          </a:p>
        </p:txBody>
      </p:sp>
      <p:sp>
        <p:nvSpPr>
          <p:cNvPr id="8" name="Rounded Rectangle 7"/>
          <p:cNvSpPr/>
          <p:nvPr/>
        </p:nvSpPr>
        <p:spPr>
          <a:xfrm>
            <a:off x="3005837" y="2011680"/>
            <a:ext cx="800098"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212121"/>
                </a:solidFill>
              </a:rPr>
              <a:t>מעבדה א׳</a:t>
            </a:r>
          </a:p>
          <a:p>
            <a:pPr rtl="1" algn="ctr" marL="0" indent="0">
              <a:lnSpc>
                <a:spcPct val="105000"/>
              </a:lnSpc>
              <a:spcBef>
                <a:spcPts val="0"/>
              </a:spcBef>
              <a:spcAft>
                <a:spcPts val="0"/>
              </a:spcAft>
              <a:buNone/>
            </a:pPr>
            <a:r>
              <a:rPr sz="1300" b="0" i="0" lang="he-IL">
                <a:solidFill>
                  <a:srgbClr val="212121"/>
                </a:solidFill>
              </a:rPr>
              <a:t>9׳</a:t>
            </a:r>
          </a:p>
        </p:txBody>
      </p:sp>
      <p:sp>
        <p:nvSpPr>
          <p:cNvPr id="9" name="Rounded Rectangle 8"/>
          <p:cNvSpPr/>
          <p:nvPr/>
        </p:nvSpPr>
        <p:spPr>
          <a:xfrm>
            <a:off x="2071118" y="2011680"/>
            <a:ext cx="898143"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ב׳</a:t>
            </a:r>
          </a:p>
          <a:p>
            <a:pPr rtl="1" algn="ctr" marL="0" indent="0">
              <a:lnSpc>
                <a:spcPct val="105000"/>
              </a:lnSpc>
              <a:spcBef>
                <a:spcPts val="0"/>
              </a:spcBef>
              <a:spcAft>
                <a:spcPts val="0"/>
              </a:spcAft>
              <a:buNone/>
            </a:pPr>
            <a:r>
              <a:rPr sz="1300" b="0" i="0" lang="he-IL">
                <a:solidFill>
                  <a:srgbClr val="FFFFFF"/>
                </a:solidFill>
              </a:rPr>
              <a:t>10׳</a:t>
            </a:r>
          </a:p>
        </p:txBody>
      </p:sp>
      <p:sp>
        <p:nvSpPr>
          <p:cNvPr id="10" name="Rounded Rectangle 9"/>
          <p:cNvSpPr/>
          <p:nvPr/>
        </p:nvSpPr>
        <p:spPr>
          <a:xfrm>
            <a:off x="1039879" y="2011680"/>
            <a:ext cx="994663"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ב׳</a:t>
            </a:r>
          </a:p>
          <a:p>
            <a:pPr rtl="1" algn="ctr" marL="0" indent="0">
              <a:lnSpc>
                <a:spcPct val="105000"/>
              </a:lnSpc>
              <a:spcBef>
                <a:spcPts val="0"/>
              </a:spcBef>
              <a:spcAft>
                <a:spcPts val="0"/>
              </a:spcAft>
              <a:buNone/>
            </a:pPr>
            <a:r>
              <a:rPr sz="1300" b="0" i="0" lang="he-IL">
                <a:solidFill>
                  <a:srgbClr val="212121"/>
                </a:solidFill>
              </a:rPr>
              <a:t>11׳</a:t>
            </a:r>
          </a:p>
        </p:txBody>
      </p:sp>
      <p:sp>
        <p:nvSpPr>
          <p:cNvPr id="11" name="Rounded Rectangle 10"/>
          <p:cNvSpPr/>
          <p:nvPr/>
        </p:nvSpPr>
        <p:spPr>
          <a:xfrm>
            <a:off x="384048" y="2011680"/>
            <a:ext cx="617727"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סיום</a:t>
            </a:r>
          </a:p>
          <a:p>
            <a:pPr rtl="1" algn="ctr" marL="0" indent="0">
              <a:lnSpc>
                <a:spcPct val="105000"/>
              </a:lnSpc>
              <a:spcBef>
                <a:spcPts val="0"/>
              </a:spcBef>
              <a:spcAft>
                <a:spcPts val="0"/>
              </a:spcAft>
              <a:buNone/>
            </a:pPr>
            <a:r>
              <a:rPr sz="1300" b="0" i="0" lang="he-IL">
                <a:solidFill>
                  <a:srgbClr val="FFFFFF"/>
                </a:solidFill>
              </a:rPr>
              <a:t>7׳</a:t>
            </a:r>
          </a:p>
        </p:txBody>
      </p:sp>
      <p:cxnSp>
        <p:nvCxnSpPr>
          <p:cNvPr id="12" name="Connector 11"/>
          <p:cNvCxnSpPr/>
          <p:nvPr/>
        </p:nvCxnSpPr>
        <p:spPr>
          <a:xfrm flipH="1">
            <a:off x="365760" y="3337560"/>
            <a:ext cx="8412480" cy="0"/>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65760" y="33832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595959"/>
                </a:solidFill>
              </a:rPr>
              <a:t>90 דקות</a:t>
            </a:r>
          </a:p>
        </p:txBody>
      </p:sp>
      <p:sp>
        <p:nvSpPr>
          <p:cNvPr id="14" name="Rectangle 13"/>
          <p:cNvSpPr/>
          <p:nvPr/>
        </p:nvSpPr>
        <p:spPr>
          <a:xfrm>
            <a:off x="6126480" y="4023360"/>
            <a:ext cx="320040" cy="274320"/>
          </a:xfrm>
          <a:prstGeom prst="rect">
            <a:avLst/>
          </a:prstGeom>
          <a:solidFill>
            <a:srgbClr val="4285F4"/>
          </a:solidFill>
          <a:ln>
            <a:noFill/>
          </a:ln>
        </p:spPr>
        <p:txBody>
          <a:bodyPr rtlCol="0" anchor="ctr" wrap="square" lIns="73152" rIns="73152" tIns="73152" bIns="73152">
            <a:noAutofit/>
          </a:bodyPr>
          <a:lstStyle/>
          <a:p>
            <a:pPr algn="ctr"/>
          </a:p>
        </p:txBody>
      </p:sp>
      <p:sp>
        <p:nvSpPr>
          <p:cNvPr id="15" name="TextBox 14"/>
          <p:cNvSpPr txBox="1"/>
          <p:nvPr/>
        </p:nvSpPr>
        <p:spPr>
          <a:xfrm>
            <a:off x="3931920" y="3950208"/>
            <a:ext cx="219456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הסבר קצר</a:t>
            </a:r>
          </a:p>
        </p:txBody>
      </p:sp>
      <p:sp>
        <p:nvSpPr>
          <p:cNvPr id="16" name="Rectangle 15"/>
          <p:cNvSpPr/>
          <p:nvPr/>
        </p:nvSpPr>
        <p:spPr>
          <a:xfrm>
            <a:off x="3566160" y="4023360"/>
            <a:ext cx="320040" cy="274320"/>
          </a:xfrm>
          <a:prstGeom prst="rect">
            <a:avLst/>
          </a:prstGeom>
          <a:solidFill>
            <a:srgbClr val="FFAB40"/>
          </a:solidFill>
          <a:ln>
            <a:noFill/>
          </a:ln>
        </p:spPr>
        <p:txBody>
          <a:bodyPr rtlCol="0" anchor="ctr" wrap="square" lIns="73152" rIns="73152" tIns="73152" bIns="73152">
            <a:noAutofit/>
          </a:bodyPr>
          <a:lstStyle/>
          <a:p>
            <a:pPr algn="ctr"/>
          </a:p>
        </p:txBody>
      </p:sp>
      <p:sp>
        <p:nvSpPr>
          <p:cNvPr id="17" name="TextBox 16"/>
          <p:cNvSpPr txBox="1"/>
          <p:nvPr/>
        </p:nvSpPr>
        <p:spPr>
          <a:xfrm>
            <a:off x="1463040" y="3950208"/>
            <a:ext cx="210312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עבודה שלכם</a:t>
            </a:r>
          </a:p>
        </p:txBody>
      </p:sp>
      <p:sp>
        <p:nvSpPr>
          <p:cNvPr id="965" name="TextBox 965"/>
          <p:cNvSpPr txBox="1"/>
          <p:nvPr/>
        </p:nvSpPr>
        <p:spPr>
          <a:xfrm>
            <a:off x="360000" y="4464000"/>
            <a:ext cx="8424000" cy="504000"/>
          </a:xfrm>
          <a:prstGeom prst="rect">
            <a:avLst/>
          </a:prstGeom>
          <a:noFill/>
          <a:ln>
            <a:noFill/>
          </a:ln>
        </p:spPr>
        <p:txBody>
          <a:bodyPr rtlCol="0" anchor="t" wrap="square" lIns="73152" rIns="73152" tIns="73152" bIns="73152">
            <a:noAutofit/>
          </a:bodyPr>
          <a:lstStyle/>
          <a:p>
            <a:pPr rtl="1" algn="ctr" marL="0" indent="0">
              <a:lnSpc>
                <a:spcPct val="105000"/>
              </a:lnSpc>
              <a:spcBef>
                <a:spcPts val="0"/>
              </a:spcBef>
              <a:spcAft>
                <a:spcPts val="0"/>
              </a:spcAft>
              <a:buNone/>
            </a:pPr>
            <a:r>
              <a:rPr lang="he-IL" sz="1500" b="0" i="0">
                <a:solidFill>
                  <a:srgbClr val="595959"/>
                </a:solidFill>
              </a:rPr>
              <a:t>שקפי ״אופציונלי״ ו״העשרה״ הם תוספת של עד כ־10 דקות. מתחילים מהם רק אם יש זמן.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מצ׳אט לסוכן</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554480"/>
            <a:ext cx="8412480" cy="1188720"/>
          </a:xfrm>
          <a:prstGeom prst="roundRect">
            <a:avLst>
              <a:gd name="adj" fmla="val 6000"/>
            </a:avLst>
          </a:prstGeom>
          <a:solidFill>
            <a:srgbClr val="E3EEFF"/>
          </a:solidFill>
          <a:ln w="190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315200" y="1600200"/>
            <a:ext cx="1371600" cy="10972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 צ׳אט</a:t>
            </a:r>
          </a:p>
        </p:txBody>
      </p:sp>
      <p:sp>
        <p:nvSpPr>
          <p:cNvPr id="7" name="Rounded Rectangle 6"/>
          <p:cNvSpPr/>
          <p:nvPr/>
        </p:nvSpPr>
        <p:spPr>
          <a:xfrm>
            <a:off x="5486400" y="1783080"/>
            <a:ext cx="1737360" cy="731520"/>
          </a:xfrm>
          <a:prstGeom prst="roundRect">
            <a:avLst>
              <a:gd name="adj" fmla="val 12000"/>
            </a:avLst>
          </a:prstGeom>
          <a:solidFill>
            <a:srgbClr val="FFFF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שאלה</a:t>
            </a:r>
          </a:p>
        </p:txBody>
      </p:sp>
      <p:cxnSp>
        <p:nvCxnSpPr>
          <p:cNvPr id="8" name="Connector 7"/>
          <p:cNvCxnSpPr/>
          <p:nvPr/>
        </p:nvCxnSpPr>
        <p:spPr>
          <a:xfrm flipH="1">
            <a:off x="5047488" y="2148840"/>
            <a:ext cx="42062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291840" y="1783080"/>
            <a:ext cx="1737360" cy="731520"/>
          </a:xfrm>
          <a:prstGeom prst="roundRect">
            <a:avLst>
              <a:gd name="adj" fmla="val 12000"/>
            </a:avLst>
          </a:prstGeom>
          <a:solidFill>
            <a:srgbClr val="FFFF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תשובה אחת</a:t>
            </a:r>
          </a:p>
        </p:txBody>
      </p:sp>
      <p:cxnSp>
        <p:nvCxnSpPr>
          <p:cNvPr id="10" name="Connector 9"/>
          <p:cNvCxnSpPr/>
          <p:nvPr/>
        </p:nvCxnSpPr>
        <p:spPr>
          <a:xfrm flipH="1">
            <a:off x="2852928" y="2148840"/>
            <a:ext cx="42062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97280" y="1783080"/>
            <a:ext cx="1737360" cy="731520"/>
          </a:xfrm>
          <a:prstGeom prst="roundRect">
            <a:avLst>
              <a:gd name="adj" fmla="val 12000"/>
            </a:avLst>
          </a:prstGeom>
          <a:solidFill>
            <a:srgbClr val="FFFFFF"/>
          </a:solidFill>
          <a:ln w="19050">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הסוף</a:t>
            </a:r>
          </a:p>
        </p:txBody>
      </p:sp>
      <p:sp>
        <p:nvSpPr>
          <p:cNvPr id="12" name="Rounded Rectangle 11"/>
          <p:cNvSpPr/>
          <p:nvPr/>
        </p:nvSpPr>
        <p:spPr>
          <a:xfrm>
            <a:off x="365760" y="3108960"/>
            <a:ext cx="8412480" cy="1554480"/>
          </a:xfrm>
          <a:prstGeom prst="roundRect">
            <a:avLst>
              <a:gd name="adj" fmla="val 6000"/>
            </a:avLst>
          </a:prstGeom>
          <a:solidFill>
            <a:srgbClr val="FFF0D9"/>
          </a:solidFill>
          <a:ln w="19050">
            <a:solidFill>
              <a:srgbClr val="FFAB40"/>
            </a:solidFill>
          </a:ln>
        </p:spPr>
        <p:txBody>
          <a:bodyPr rtlCol="0" anchor="ctr" wrap="square" lIns="73152" rIns="73152" tIns="73152" bIns="73152">
            <a:noAutofit/>
          </a:bodyPr>
          <a:lstStyle/>
          <a:p>
            <a:pPr algn="ctr"/>
          </a:p>
        </p:txBody>
      </p:sp>
      <p:sp>
        <p:nvSpPr>
          <p:cNvPr id="13" name="TextBox 12"/>
          <p:cNvSpPr txBox="1"/>
          <p:nvPr/>
        </p:nvSpPr>
        <p:spPr>
          <a:xfrm>
            <a:off x="7315200" y="3154680"/>
            <a:ext cx="1371600" cy="146304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000" b="1" i="0" lang="he-IL">
                <a:solidFill>
                  <a:srgbClr val="212121"/>
                </a:solidFill>
              </a:rPr>
              <a:t>🤖 סוכן</a:t>
            </a:r>
          </a:p>
        </p:txBody>
      </p:sp>
      <p:sp>
        <p:nvSpPr>
          <p:cNvPr id="14" name="Rounded Rectangle 13"/>
          <p:cNvSpPr/>
          <p:nvPr/>
        </p:nvSpPr>
        <p:spPr>
          <a:xfrm>
            <a:off x="5760720" y="3337560"/>
            <a:ext cx="1463040" cy="731520"/>
          </a:xfrm>
          <a:prstGeom prst="roundRect">
            <a:avLst>
              <a:gd name="adj" fmla="val 12000"/>
            </a:avLst>
          </a:prstGeom>
          <a:solidFill>
            <a:srgbClr val="FFFFFF"/>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משימה</a:t>
            </a:r>
          </a:p>
        </p:txBody>
      </p:sp>
      <p:cxnSp>
        <p:nvCxnSpPr>
          <p:cNvPr id="15" name="Connector 14"/>
          <p:cNvCxnSpPr/>
          <p:nvPr/>
        </p:nvCxnSpPr>
        <p:spPr>
          <a:xfrm flipH="1">
            <a:off x="5413248" y="3703320"/>
            <a:ext cx="32918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931920" y="3337560"/>
            <a:ext cx="1463040" cy="731520"/>
          </a:xfrm>
          <a:prstGeom prst="roundRect">
            <a:avLst>
              <a:gd name="adj" fmla="val 12000"/>
            </a:avLst>
          </a:prstGeom>
          <a:solidFill>
            <a:srgbClr val="FFFFFF"/>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תכנון</a:t>
            </a:r>
          </a:p>
        </p:txBody>
      </p:sp>
      <p:cxnSp>
        <p:nvCxnSpPr>
          <p:cNvPr id="17" name="Connector 16"/>
          <p:cNvCxnSpPr/>
          <p:nvPr/>
        </p:nvCxnSpPr>
        <p:spPr>
          <a:xfrm flipH="1">
            <a:off x="3584448" y="3703320"/>
            <a:ext cx="32918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103120" y="3337560"/>
            <a:ext cx="1463040" cy="731520"/>
          </a:xfrm>
          <a:prstGeom prst="roundRect">
            <a:avLst>
              <a:gd name="adj" fmla="val 12000"/>
            </a:avLst>
          </a:prstGeom>
          <a:solidFill>
            <a:srgbClr val="FFFFFF"/>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פעולה</a:t>
            </a:r>
          </a:p>
        </p:txBody>
      </p:sp>
      <p:cxnSp>
        <p:nvCxnSpPr>
          <p:cNvPr id="19" name="Connector 18"/>
          <p:cNvCxnSpPr/>
          <p:nvPr/>
        </p:nvCxnSpPr>
        <p:spPr>
          <a:xfrm flipH="1">
            <a:off x="1755648" y="3703320"/>
            <a:ext cx="32918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4320" y="3337560"/>
            <a:ext cx="1463040" cy="731520"/>
          </a:xfrm>
          <a:prstGeom prst="roundRect">
            <a:avLst>
              <a:gd name="adj" fmla="val 12000"/>
            </a:avLst>
          </a:prstGeom>
          <a:solidFill>
            <a:srgbClr val="FFFFFF"/>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התבוננות</a:t>
            </a:r>
          </a:p>
        </p:txBody>
      </p:sp>
      <p:cxnSp>
        <p:nvCxnSpPr>
          <p:cNvPr id="21" name="Connector 20"/>
          <p:cNvCxnSpPr/>
          <p:nvPr/>
        </p:nvCxnSpPr>
        <p:spPr>
          <a:xfrm>
            <a:off x="2011680" y="4251960"/>
            <a:ext cx="3108960" cy="0"/>
          </a:xfrm>
          <a:prstGeom prst="line">
            <a:avLst/>
          </a:prstGeom>
          <a:ln w="31750">
            <a:solidFill>
              <a:srgbClr val="FFAB40"/>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286000" y="4279392"/>
            <a:ext cx="29260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1" i="0" lang="he-IL">
                <a:solidFill>
                  <a:srgbClr val="FFAB40"/>
                </a:solidFill>
              </a:rPr>
              <a:t>חוזר עד שהמשימה נגמרת</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סוכן = מודל + רכיבים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383280" y="2148840"/>
            <a:ext cx="2377440" cy="1188720"/>
          </a:xfrm>
          <a:prstGeom prst="roundRect">
            <a:avLst>
              <a:gd name="adj" fmla="val 12000"/>
            </a:avLst>
          </a:prstGeom>
          <a:solidFill>
            <a:srgbClr val="FFAB40"/>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212121"/>
                </a:solidFill>
              </a:rPr>
              <a:t>🧠 המודל</a:t>
            </a:r>
          </a:p>
          <a:p>
            <a:pPr rtl="1" algn="ctr" marL="0" indent="0">
              <a:lnSpc>
                <a:spcPct val="105000"/>
              </a:lnSpc>
              <a:spcBef>
                <a:spcPts val="0"/>
              </a:spcBef>
              <a:spcAft>
                <a:spcPts val="0"/>
              </a:spcAft>
              <a:buNone/>
            </a:pPr>
            <a:r>
              <a:rPr sz="1400" b="0" i="0" lang="he-IL">
                <a:solidFill>
                  <a:srgbClr val="595959"/>
                </a:solidFill>
              </a:rPr>
              <a:t>מנוע החשיבה</a:t>
            </a:r>
          </a:p>
        </p:txBody>
      </p:sp>
      <p:sp>
        <p:nvSpPr>
          <p:cNvPr id="6" name="Rounded Rectangle 5"/>
          <p:cNvSpPr/>
          <p:nvPr/>
        </p:nvSpPr>
        <p:spPr>
          <a:xfrm>
            <a:off x="6583680" y="1417320"/>
            <a:ext cx="2103120" cy="123444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212121"/>
                </a:solidFill>
              </a:rPr>
              <a:t>🗺️ תכנון</a:t>
            </a:r>
          </a:p>
          <a:p>
            <a:pPr rtl="1" algn="ctr" marL="0" indent="0">
              <a:lnSpc>
                <a:spcPct val="105000"/>
              </a:lnSpc>
              <a:spcBef>
                <a:spcPts val="0"/>
              </a:spcBef>
              <a:spcAft>
                <a:spcPts val="0"/>
              </a:spcAft>
              <a:buNone/>
            </a:pPr>
            <a:r>
              <a:rPr sz="1300" b="0" i="0" lang="he-IL">
                <a:solidFill>
                  <a:srgbClr val="595959"/>
                </a:solidFill>
              </a:rPr>
              <a:t>מפרק משימה לצעדים</a:t>
            </a:r>
          </a:p>
        </p:txBody>
      </p:sp>
      <p:sp>
        <p:nvSpPr>
          <p:cNvPr id="7" name="Rounded Rectangle 6"/>
          <p:cNvSpPr/>
          <p:nvPr/>
        </p:nvSpPr>
        <p:spPr>
          <a:xfrm>
            <a:off x="457200" y="1417320"/>
            <a:ext cx="2103120" cy="1234440"/>
          </a:xfrm>
          <a:prstGeom prst="roundRect">
            <a:avLst>
              <a:gd name="adj" fmla="val 12000"/>
            </a:avLst>
          </a:prstGeom>
          <a:solidFill>
            <a:srgbClr val="DDF2F5"/>
          </a:solidFill>
          <a:ln w="317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212121"/>
                </a:solidFill>
              </a:rPr>
              <a:t>🧩 זיכרון</a:t>
            </a:r>
          </a:p>
          <a:p>
            <a:pPr rtl="1" algn="ctr" marL="0" indent="0">
              <a:lnSpc>
                <a:spcPct val="105000"/>
              </a:lnSpc>
              <a:spcBef>
                <a:spcPts val="0"/>
              </a:spcBef>
              <a:spcAft>
                <a:spcPts val="0"/>
              </a:spcAft>
              <a:buNone/>
            </a:pPr>
            <a:r>
              <a:rPr sz="1300" b="0" i="0" lang="he-IL">
                <a:solidFill>
                  <a:srgbClr val="595959"/>
                </a:solidFill>
              </a:rPr>
              <a:t>קצר וארוך טווח</a:t>
            </a:r>
          </a:p>
        </p:txBody>
      </p:sp>
      <p:sp>
        <p:nvSpPr>
          <p:cNvPr id="8" name="Rounded Rectangle 7"/>
          <p:cNvSpPr/>
          <p:nvPr/>
        </p:nvSpPr>
        <p:spPr>
          <a:xfrm>
            <a:off x="6583680" y="3429000"/>
            <a:ext cx="2103120" cy="123444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212121"/>
                </a:solidFill>
              </a:rPr>
              <a:t>🛠️ כלים</a:t>
            </a:r>
          </a:p>
          <a:p>
            <a:pPr rtl="1" algn="ctr" marL="0" indent="0">
              <a:lnSpc>
                <a:spcPct val="105000"/>
              </a:lnSpc>
              <a:spcBef>
                <a:spcPts val="0"/>
              </a:spcBef>
              <a:spcAft>
                <a:spcPts val="0"/>
              </a:spcAft>
              <a:buNone/>
            </a:pPr>
            <a:r>
              <a:rPr sz="1300" b="0" i="0" lang="he-IL">
                <a:solidFill>
                  <a:srgbClr val="595959"/>
                </a:solidFill>
              </a:rPr>
              <a:t>קבצים, חיפוש, הרצה, API</a:t>
            </a:r>
          </a:p>
        </p:txBody>
      </p:sp>
      <p:sp>
        <p:nvSpPr>
          <p:cNvPr id="9" name="Rounded Rectangle 8"/>
          <p:cNvSpPr/>
          <p:nvPr/>
        </p:nvSpPr>
        <p:spPr>
          <a:xfrm>
            <a:off x="457200" y="3429000"/>
            <a:ext cx="2103120" cy="123444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212121"/>
                </a:solidFill>
              </a:rPr>
              <a:t>▶️ ביצוע</a:t>
            </a:r>
          </a:p>
          <a:p>
            <a:pPr rtl="1" algn="ctr" marL="0" indent="0">
              <a:lnSpc>
                <a:spcPct val="105000"/>
              </a:lnSpc>
              <a:spcBef>
                <a:spcPts val="0"/>
              </a:spcBef>
              <a:spcAft>
                <a:spcPts val="0"/>
              </a:spcAft>
              <a:buNone/>
            </a:pPr>
            <a:r>
              <a:rPr sz="1300" b="0" i="0" lang="he-IL">
                <a:solidFill>
                  <a:srgbClr val="595959"/>
                </a:solidFill>
              </a:rPr>
              <a:t>פעולה והתבוננות בתוצאה</a:t>
            </a:r>
          </a:p>
        </p:txBody>
      </p:sp>
      <p:cxnSp>
        <p:nvCxnSpPr>
          <p:cNvPr id="10" name="Connector 9"/>
          <p:cNvCxnSpPr/>
          <p:nvPr/>
        </p:nvCxnSpPr>
        <p:spPr>
          <a:xfrm flipH="1">
            <a:off x="5806440" y="2103120"/>
            <a:ext cx="731520" cy="457200"/>
          </a:xfrm>
          <a:prstGeom prst="line">
            <a:avLst/>
          </a:prstGeom>
          <a:ln w="3175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2606040" y="2103120"/>
            <a:ext cx="731520" cy="457200"/>
          </a:xfrm>
          <a:prstGeom prst="line">
            <a:avLst/>
          </a:prstGeom>
          <a:ln w="3175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5806440" y="3017520"/>
            <a:ext cx="731520" cy="731519"/>
          </a:xfrm>
          <a:prstGeom prst="line">
            <a:avLst/>
          </a:prstGeom>
          <a:ln w="3175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606040" y="3017520"/>
            <a:ext cx="731520" cy="731519"/>
          </a:xfrm>
          <a:prstGeom prst="line">
            <a:avLst/>
          </a:prstGeom>
          <a:ln w="31750">
            <a:solidFill>
              <a:srgbClr val="78909C"/>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5760" y="4736592"/>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800" b="1" i="0" lang="he-IL">
                <a:solidFill>
                  <a:srgbClr val="4285F4"/>
                </a:solidFill>
              </a:rPr>
              <a:t>המודל הוא רכיב אחד. הסוכן הוא כל המערכת.</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חמישה סוגי סוכנים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
        <p:nvSpPr>
          <p:cNvPr id="6" name="Rectangle 5"/>
          <p:cNvSpPr/>
          <p:nvPr/>
        </p:nvSpPr>
        <p:spPr>
          <a:xfrm>
            <a:off x="7086600" y="3931920"/>
            <a:ext cx="1645920" cy="914400"/>
          </a:xfrm>
          <a:prstGeom prst="rect">
            <a:avLst/>
          </a:prstGeom>
          <a:solidFill>
            <a:srgbClr val="4285F4"/>
          </a:solidFill>
          <a:ln>
            <a:noFill/>
          </a:ln>
        </p:spPr>
        <p:txBody>
          <a:bodyPr rtlCol="0" anchor="t" wrap="square" lIns="73152" rIns="73152" tIns="73152" bIns="73152">
            <a:noAutofit/>
          </a:bodyPr>
          <a:lstStyle/>
          <a:p>
            <a:pPr rtl="1" algn="ctr" marL="0" indent="0">
              <a:lnSpc>
                <a:spcPct val="105000"/>
              </a:lnSpc>
              <a:spcBef>
                <a:spcPts val="0"/>
              </a:spcBef>
              <a:spcAft>
                <a:spcPts val="0"/>
              </a:spcAft>
              <a:buNone/>
            </a:pPr>
            <a:r>
              <a:rPr sz="2000" b="1" i="0" lang="he-IL">
                <a:solidFill>
                  <a:srgbClr val="FFFFFF"/>
                </a:solidFill>
              </a:rPr>
              <a:t>1</a:t>
            </a:r>
          </a:p>
          <a:p>
            <a:pPr rtl="1" algn="ctr" marL="0" indent="0">
              <a:lnSpc>
                <a:spcPct val="105000"/>
              </a:lnSpc>
              <a:spcBef>
                <a:spcPts val="0"/>
              </a:spcBef>
              <a:spcAft>
                <a:spcPts val="0"/>
              </a:spcAft>
              <a:buNone/>
            </a:pPr>
            <a:r>
              <a:rPr sz="1400" b="1" i="0" lang="he-IL">
                <a:solidFill>
                  <a:srgbClr val="FFFFFF"/>
                </a:solidFill>
              </a:rPr>
              <a:t>תגובתי</a:t>
            </a:r>
          </a:p>
        </p:txBody>
      </p:sp>
      <p:sp>
        <p:nvSpPr>
          <p:cNvPr id="7" name="TextBox 6"/>
          <p:cNvSpPr txBox="1"/>
          <p:nvPr/>
        </p:nvSpPr>
        <p:spPr>
          <a:xfrm>
            <a:off x="7040880" y="3108960"/>
            <a:ext cx="1737360" cy="777240"/>
          </a:xfrm>
          <a:prstGeom prst="rect">
            <a:avLst/>
          </a:prstGeom>
          <a:noFill/>
        </p:spPr>
        <p:txBody>
          <a:bodyPr wrap="square" lIns="73152" rIns="73152" tIns="73152" bIns="73152" anchor="b">
            <a:noAutofit/>
          </a:bodyPr>
          <a:lstStyle/>
          <a:p>
            <a:pPr rtl="1" algn="ctr" marL="0" indent="0">
              <a:lnSpc>
                <a:spcPct val="110000"/>
              </a:lnSpc>
              <a:spcBef>
                <a:spcPts val="0"/>
              </a:spcBef>
              <a:spcAft>
                <a:spcPts val="0"/>
              </a:spcAft>
              <a:buNone/>
            </a:pPr>
            <a:r>
              <a:rPr sz="1200" b="0" i="0" lang="he-IL">
                <a:solidFill>
                  <a:srgbClr val="595959"/>
                </a:solidFill>
              </a:rPr>
              <a:t>אם מלאי &lt; 5, הזמן</a:t>
            </a:r>
          </a:p>
        </p:txBody>
      </p:sp>
      <p:sp>
        <p:nvSpPr>
          <p:cNvPr id="8" name="Rectangle 7"/>
          <p:cNvSpPr/>
          <p:nvPr/>
        </p:nvSpPr>
        <p:spPr>
          <a:xfrm>
            <a:off x="5349240" y="3474720"/>
            <a:ext cx="1645920" cy="1371600"/>
          </a:xfrm>
          <a:prstGeom prst="rect">
            <a:avLst/>
          </a:prstGeom>
          <a:solidFill>
            <a:srgbClr val="0097A7"/>
          </a:solidFill>
          <a:ln>
            <a:noFill/>
          </a:ln>
        </p:spPr>
        <p:txBody>
          <a:bodyPr rtlCol="0" anchor="t" wrap="square" lIns="73152" rIns="73152" tIns="73152" bIns="73152">
            <a:noAutofit/>
          </a:bodyPr>
          <a:lstStyle/>
          <a:p>
            <a:pPr rtl="1" algn="ctr" marL="0" indent="0">
              <a:lnSpc>
                <a:spcPct val="105000"/>
              </a:lnSpc>
              <a:spcBef>
                <a:spcPts val="0"/>
              </a:spcBef>
              <a:spcAft>
                <a:spcPts val="0"/>
              </a:spcAft>
              <a:buNone/>
            </a:pPr>
            <a:r>
              <a:rPr sz="2000" b="1" i="0" lang="he-IL">
                <a:solidFill>
                  <a:srgbClr val="FFFFFF"/>
                </a:solidFill>
              </a:rPr>
              <a:t>2</a:t>
            </a:r>
          </a:p>
          <a:p>
            <a:pPr rtl="1" algn="ctr" marL="0" indent="0">
              <a:lnSpc>
                <a:spcPct val="105000"/>
              </a:lnSpc>
              <a:spcBef>
                <a:spcPts val="0"/>
              </a:spcBef>
              <a:spcAft>
                <a:spcPts val="0"/>
              </a:spcAft>
              <a:buNone/>
            </a:pPr>
            <a:r>
              <a:rPr sz="1400" b="1" i="0" lang="he-IL">
                <a:solidFill>
                  <a:srgbClr val="FFFFFF"/>
                </a:solidFill>
              </a:rPr>
              <a:t>מבוסס מודל</a:t>
            </a:r>
          </a:p>
        </p:txBody>
      </p:sp>
      <p:sp>
        <p:nvSpPr>
          <p:cNvPr id="9" name="TextBox 8"/>
          <p:cNvSpPr txBox="1"/>
          <p:nvPr/>
        </p:nvSpPr>
        <p:spPr>
          <a:xfrm>
            <a:off x="5303520" y="2651760"/>
            <a:ext cx="1737360" cy="777240"/>
          </a:xfrm>
          <a:prstGeom prst="rect">
            <a:avLst/>
          </a:prstGeom>
          <a:noFill/>
        </p:spPr>
        <p:txBody>
          <a:bodyPr wrap="square" lIns="73152" rIns="73152" tIns="73152" bIns="73152" anchor="b">
            <a:noAutofit/>
          </a:bodyPr>
          <a:lstStyle/>
          <a:p>
            <a:pPr rtl="1" algn="ctr" marL="0" indent="0">
              <a:lnSpc>
                <a:spcPct val="110000"/>
              </a:lnSpc>
              <a:spcBef>
                <a:spcPts val="0"/>
              </a:spcBef>
              <a:spcAft>
                <a:spcPts val="0"/>
              </a:spcAft>
              <a:buNone/>
            </a:pPr>
            <a:r>
              <a:rPr sz="1200" b="0" i="0" lang="he-IL">
                <a:solidFill>
                  <a:srgbClr val="595959"/>
                </a:solidFill>
              </a:rPr>
              <a:t>מחזיק תמונה של ביקוש והזמנות בדרך</a:t>
            </a:r>
          </a:p>
        </p:txBody>
      </p:sp>
      <p:sp>
        <p:nvSpPr>
          <p:cNvPr id="10" name="Rectangle 9"/>
          <p:cNvSpPr/>
          <p:nvPr/>
        </p:nvSpPr>
        <p:spPr>
          <a:xfrm>
            <a:off x="3611880" y="3017520"/>
            <a:ext cx="1645920" cy="1828800"/>
          </a:xfrm>
          <a:prstGeom prst="rect">
            <a:avLst/>
          </a:prstGeom>
          <a:solidFill>
            <a:srgbClr val="FFAB40"/>
          </a:solidFill>
          <a:ln>
            <a:noFill/>
          </a:ln>
        </p:spPr>
        <p:txBody>
          <a:bodyPr rtlCol="0" anchor="t"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3</a:t>
            </a:r>
          </a:p>
          <a:p>
            <a:pPr rtl="1" algn="ctr" marL="0" indent="0">
              <a:lnSpc>
                <a:spcPct val="105000"/>
              </a:lnSpc>
              <a:spcBef>
                <a:spcPts val="0"/>
              </a:spcBef>
              <a:spcAft>
                <a:spcPts val="0"/>
              </a:spcAft>
              <a:buNone/>
            </a:pPr>
            <a:r>
              <a:rPr sz="1400" b="1" i="0" lang="he-IL">
                <a:solidFill>
                  <a:srgbClr val="212121"/>
                </a:solidFill>
              </a:rPr>
              <a:t>ממוקד מטרה</a:t>
            </a:r>
          </a:p>
        </p:txBody>
      </p:sp>
      <p:sp>
        <p:nvSpPr>
          <p:cNvPr id="11" name="TextBox 10"/>
          <p:cNvSpPr txBox="1"/>
          <p:nvPr/>
        </p:nvSpPr>
        <p:spPr>
          <a:xfrm>
            <a:off x="3566160" y="2194560"/>
            <a:ext cx="1737360" cy="777240"/>
          </a:xfrm>
          <a:prstGeom prst="rect">
            <a:avLst/>
          </a:prstGeom>
          <a:noFill/>
        </p:spPr>
        <p:txBody>
          <a:bodyPr wrap="square" lIns="73152" rIns="73152" tIns="73152" bIns="73152" anchor="b">
            <a:noAutofit/>
          </a:bodyPr>
          <a:lstStyle/>
          <a:p>
            <a:pPr rtl="1" algn="ctr" marL="0" indent="0">
              <a:lnSpc>
                <a:spcPct val="110000"/>
              </a:lnSpc>
              <a:spcBef>
                <a:spcPts val="0"/>
              </a:spcBef>
              <a:spcAft>
                <a:spcPts val="0"/>
              </a:spcAft>
              <a:buNone/>
            </a:pPr>
            <a:r>
              <a:rPr sz="1200" b="0" i="0" lang="he-IL">
                <a:solidFill>
                  <a:srgbClr val="595959"/>
                </a:solidFill>
              </a:rPr>
              <a:t>שואף לא להגיע למלאי אפס</a:t>
            </a:r>
          </a:p>
        </p:txBody>
      </p:sp>
      <p:sp>
        <p:nvSpPr>
          <p:cNvPr id="12" name="Rectangle 11"/>
          <p:cNvSpPr/>
          <p:nvPr/>
        </p:nvSpPr>
        <p:spPr>
          <a:xfrm>
            <a:off x="1874520" y="2560320"/>
            <a:ext cx="1645920" cy="2286000"/>
          </a:xfrm>
          <a:prstGeom prst="rect">
            <a:avLst/>
          </a:prstGeom>
          <a:solidFill>
            <a:srgbClr val="34A853"/>
          </a:solidFill>
          <a:ln>
            <a:noFill/>
          </a:ln>
        </p:spPr>
        <p:txBody>
          <a:bodyPr rtlCol="0" anchor="t" wrap="square" lIns="73152" rIns="73152" tIns="73152" bIns="73152">
            <a:noAutofit/>
          </a:bodyPr>
          <a:lstStyle/>
          <a:p>
            <a:pPr rtl="1" algn="ctr" marL="0" indent="0">
              <a:lnSpc>
                <a:spcPct val="105000"/>
              </a:lnSpc>
              <a:spcBef>
                <a:spcPts val="0"/>
              </a:spcBef>
              <a:spcAft>
                <a:spcPts val="0"/>
              </a:spcAft>
              <a:buNone/>
            </a:pPr>
            <a:r>
              <a:rPr sz="2000" b="1" i="0" lang="he-IL">
                <a:solidFill>
                  <a:srgbClr val="FFFFFF"/>
                </a:solidFill>
              </a:rPr>
              <a:t>4</a:t>
            </a:r>
          </a:p>
          <a:p>
            <a:pPr rtl="1" algn="ctr" marL="0" indent="0">
              <a:lnSpc>
                <a:spcPct val="105000"/>
              </a:lnSpc>
              <a:spcBef>
                <a:spcPts val="0"/>
              </a:spcBef>
              <a:spcAft>
                <a:spcPts val="0"/>
              </a:spcAft>
              <a:buNone/>
            </a:pPr>
            <a:r>
              <a:rPr sz="1400" b="1" i="0" lang="he-IL">
                <a:solidFill>
                  <a:srgbClr val="FFFFFF"/>
                </a:solidFill>
              </a:rPr>
              <a:t>ממוקד תועלת</a:t>
            </a:r>
          </a:p>
        </p:txBody>
      </p:sp>
      <p:sp>
        <p:nvSpPr>
          <p:cNvPr id="13" name="TextBox 12"/>
          <p:cNvSpPr txBox="1"/>
          <p:nvPr/>
        </p:nvSpPr>
        <p:spPr>
          <a:xfrm>
            <a:off x="1828800" y="1737360"/>
            <a:ext cx="1737360" cy="777240"/>
          </a:xfrm>
          <a:prstGeom prst="rect">
            <a:avLst/>
          </a:prstGeom>
          <a:noFill/>
        </p:spPr>
        <p:txBody>
          <a:bodyPr wrap="square" lIns="73152" rIns="73152" tIns="73152" bIns="73152" anchor="b">
            <a:noAutofit/>
          </a:bodyPr>
          <a:lstStyle/>
          <a:p>
            <a:pPr rtl="1" algn="ctr" marL="0" indent="0">
              <a:lnSpc>
                <a:spcPct val="110000"/>
              </a:lnSpc>
              <a:spcBef>
                <a:spcPts val="0"/>
              </a:spcBef>
              <a:spcAft>
                <a:spcPts val="0"/>
              </a:spcAft>
              <a:buNone/>
            </a:pPr>
            <a:r>
              <a:rPr sz="1200" b="0" i="0" lang="he-IL">
                <a:solidFill>
                  <a:srgbClr val="595959"/>
                </a:solidFill>
              </a:rPr>
              <a:t>מאזן עלות החזקה מול עלות חוסר</a:t>
            </a:r>
          </a:p>
        </p:txBody>
      </p:sp>
      <p:sp>
        <p:nvSpPr>
          <p:cNvPr id="14" name="Rectangle 13"/>
          <p:cNvSpPr/>
          <p:nvPr/>
        </p:nvSpPr>
        <p:spPr>
          <a:xfrm>
            <a:off x="137160" y="2103120"/>
            <a:ext cx="1645920" cy="2743200"/>
          </a:xfrm>
          <a:prstGeom prst="rect">
            <a:avLst/>
          </a:prstGeom>
          <a:solidFill>
            <a:srgbClr val="EA4335"/>
          </a:solidFill>
          <a:ln>
            <a:noFill/>
          </a:ln>
        </p:spPr>
        <p:txBody>
          <a:bodyPr rtlCol="0" anchor="t" wrap="square" lIns="73152" rIns="73152" tIns="73152" bIns="73152">
            <a:noAutofit/>
          </a:bodyPr>
          <a:lstStyle/>
          <a:p>
            <a:pPr rtl="1" algn="ctr" marL="0" indent="0">
              <a:lnSpc>
                <a:spcPct val="105000"/>
              </a:lnSpc>
              <a:spcBef>
                <a:spcPts val="0"/>
              </a:spcBef>
              <a:spcAft>
                <a:spcPts val="0"/>
              </a:spcAft>
              <a:buNone/>
            </a:pPr>
            <a:r>
              <a:rPr sz="2000" b="1" i="0" lang="he-IL">
                <a:solidFill>
                  <a:srgbClr val="FFFFFF"/>
                </a:solidFill>
              </a:rPr>
              <a:t>5</a:t>
            </a:r>
          </a:p>
          <a:p>
            <a:pPr rtl="1" algn="ctr" marL="0" indent="0">
              <a:lnSpc>
                <a:spcPct val="105000"/>
              </a:lnSpc>
              <a:spcBef>
                <a:spcPts val="0"/>
              </a:spcBef>
              <a:spcAft>
                <a:spcPts val="0"/>
              </a:spcAft>
              <a:buNone/>
            </a:pPr>
            <a:r>
              <a:rPr sz="1400" b="1" i="0" lang="he-IL">
                <a:solidFill>
                  <a:srgbClr val="FFFFFF"/>
                </a:solidFill>
              </a:rPr>
              <a:t>לומד</a:t>
            </a:r>
          </a:p>
        </p:txBody>
      </p:sp>
      <p:sp>
        <p:nvSpPr>
          <p:cNvPr id="15" name="TextBox 14"/>
          <p:cNvSpPr txBox="1"/>
          <p:nvPr/>
        </p:nvSpPr>
        <p:spPr>
          <a:xfrm>
            <a:off x="91440" y="1280160"/>
            <a:ext cx="1737360" cy="777240"/>
          </a:xfrm>
          <a:prstGeom prst="rect">
            <a:avLst/>
          </a:prstGeom>
          <a:noFill/>
        </p:spPr>
        <p:txBody>
          <a:bodyPr wrap="square" lIns="73152" rIns="73152" tIns="73152" bIns="73152" anchor="b">
            <a:noAutofit/>
          </a:bodyPr>
          <a:lstStyle/>
          <a:p>
            <a:pPr rtl="1" algn="ctr" marL="0" indent="0">
              <a:lnSpc>
                <a:spcPct val="110000"/>
              </a:lnSpc>
              <a:spcBef>
                <a:spcPts val="0"/>
              </a:spcBef>
              <a:spcAft>
                <a:spcPts val="0"/>
              </a:spcAft>
              <a:buNone/>
            </a:pPr>
            <a:r>
              <a:rPr sz="1200" b="0" i="0" lang="he-IL">
                <a:solidFill>
                  <a:srgbClr val="595959"/>
                </a:solidFill>
              </a:rPr>
              <a:t>משפר את הכללים מניסיון</a:t>
            </a:r>
          </a:p>
        </p:txBody>
      </p:sp>
      <p:sp>
        <p:nvSpPr>
          <p:cNvPr id="16" name="TextBox 15"/>
          <p:cNvSpPr txBox="1"/>
          <p:nvPr/>
        </p:nvSpPr>
        <p:spPr>
          <a:xfrm>
            <a:off x="5486400" y="1325880"/>
            <a:ext cx="329184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4285F4"/>
                </a:solidFill>
              </a:rPr>
              <a:t>דוגמאות מניהול מלאי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הלולאה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291840" y="1371600"/>
            <a:ext cx="2743200" cy="1097280"/>
          </a:xfrm>
          <a:prstGeom prst="roundRect">
            <a:avLst>
              <a:gd name="adj" fmla="val 12000"/>
            </a:avLst>
          </a:prstGeom>
          <a:solidFill>
            <a:srgbClr val="E3EEFF"/>
          </a:solidFill>
          <a:ln w="317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1  תכנון</a:t>
            </a:r>
          </a:p>
          <a:p>
            <a:pPr rtl="1" algn="ctr" marL="0" indent="0">
              <a:lnSpc>
                <a:spcPct val="105000"/>
              </a:lnSpc>
              <a:spcBef>
                <a:spcPts val="0"/>
              </a:spcBef>
              <a:spcAft>
                <a:spcPts val="0"/>
              </a:spcAft>
              <a:buNone/>
            </a:pPr>
            <a:r>
              <a:rPr sz="1400" b="0" i="0" lang="he-IL">
                <a:solidFill>
                  <a:srgbClr val="595959"/>
                </a:solidFill>
              </a:rPr>
              <a:t>מה הצעד הבא?</a:t>
            </a:r>
          </a:p>
        </p:txBody>
      </p:sp>
      <p:sp>
        <p:nvSpPr>
          <p:cNvPr id="6" name="Rounded Rectangle 5"/>
          <p:cNvSpPr/>
          <p:nvPr/>
        </p:nvSpPr>
        <p:spPr>
          <a:xfrm>
            <a:off x="5852160" y="3657600"/>
            <a:ext cx="2743200" cy="109728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2  פעולה</a:t>
            </a:r>
          </a:p>
          <a:p>
            <a:pPr rtl="1" algn="ctr" marL="0" indent="0">
              <a:lnSpc>
                <a:spcPct val="105000"/>
              </a:lnSpc>
              <a:spcBef>
                <a:spcPts val="0"/>
              </a:spcBef>
              <a:spcAft>
                <a:spcPts val="0"/>
              </a:spcAft>
              <a:buNone/>
            </a:pPr>
            <a:r>
              <a:rPr sz="1400" b="0" i="0" lang="he-IL">
                <a:solidFill>
                  <a:srgbClr val="595959"/>
                </a:solidFill>
              </a:rPr>
              <a:t>קורא לכלי: קרא, ערוך, הרץ</a:t>
            </a:r>
          </a:p>
        </p:txBody>
      </p:sp>
      <p:sp>
        <p:nvSpPr>
          <p:cNvPr id="7" name="Rounded Rectangle 6"/>
          <p:cNvSpPr/>
          <p:nvPr/>
        </p:nvSpPr>
        <p:spPr>
          <a:xfrm>
            <a:off x="731520" y="3657600"/>
            <a:ext cx="2743200" cy="1097280"/>
          </a:xfrm>
          <a:prstGeom prst="roundRect">
            <a:avLst>
              <a:gd name="adj" fmla="val 12000"/>
            </a:avLst>
          </a:prstGeom>
          <a:solidFill>
            <a:srgbClr val="DDF2F5"/>
          </a:solidFill>
          <a:ln w="317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3  התבוננות</a:t>
            </a:r>
          </a:p>
          <a:p>
            <a:pPr rtl="1" algn="ctr" marL="0" indent="0">
              <a:lnSpc>
                <a:spcPct val="105000"/>
              </a:lnSpc>
              <a:spcBef>
                <a:spcPts val="0"/>
              </a:spcBef>
              <a:spcAft>
                <a:spcPts val="0"/>
              </a:spcAft>
              <a:buNone/>
            </a:pPr>
            <a:r>
              <a:rPr sz="1400" b="0" i="0" lang="he-IL">
                <a:solidFill>
                  <a:srgbClr val="595959"/>
                </a:solidFill>
              </a:rPr>
              <a:t>קורא את התוצאה</a:t>
            </a:r>
          </a:p>
        </p:txBody>
      </p:sp>
      <p:cxnSp>
        <p:nvCxnSpPr>
          <p:cNvPr id="8" name="Connector 7"/>
          <p:cNvCxnSpPr/>
          <p:nvPr/>
        </p:nvCxnSpPr>
        <p:spPr>
          <a:xfrm>
            <a:off x="6035040" y="2194560"/>
            <a:ext cx="1280160" cy="141732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3520440" y="4206240"/>
            <a:ext cx="228600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737360" y="2194560"/>
            <a:ext cx="1463040" cy="141732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1325880"/>
            <a:ext cx="29260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דוגמה: "הוסף חישוב הכנסה חודשית"</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תמלול מסומן</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498079" y="1371600"/>
            <a:ext cx="1280160" cy="420624"/>
          </a:xfrm>
          <a:prstGeom prst="roundRect">
            <a:avLst>
              <a:gd name="adj" fmla="val 40000"/>
            </a:avLst>
          </a:prstGeom>
          <a:solidFill>
            <a:srgbClr val="4285F4"/>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FFFFFF"/>
                </a:solidFill>
              </a:rPr>
              <a:t>תכנון</a:t>
            </a:r>
          </a:p>
        </p:txBody>
      </p:sp>
      <p:sp>
        <p:nvSpPr>
          <p:cNvPr id="6" name="Rounded Rectangle 5"/>
          <p:cNvSpPr/>
          <p:nvPr/>
        </p:nvSpPr>
        <p:spPr>
          <a:xfrm>
            <a:off x="365760" y="1371600"/>
            <a:ext cx="7040880" cy="420624"/>
          </a:xfrm>
          <a:prstGeom prst="roundRect">
            <a:avLst>
              <a:gd name="adj" fmla="val 12000"/>
            </a:avLst>
          </a:prstGeom>
          <a:solidFill>
            <a:srgbClr val="F4F4F4"/>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0" i="0" lang="he-IL">
                <a:solidFill>
                  <a:srgbClr val="212121"/>
                </a:solidFill>
              </a:rPr>
              <a:t>אקרא את הקובץ ואכתוב פונקציה חדשה</a:t>
            </a:r>
          </a:p>
        </p:txBody>
      </p:sp>
      <p:sp>
        <p:nvSpPr>
          <p:cNvPr id="7" name="Rounded Rectangle 6"/>
          <p:cNvSpPr/>
          <p:nvPr/>
        </p:nvSpPr>
        <p:spPr>
          <a:xfrm>
            <a:off x="7498079" y="1883664"/>
            <a:ext cx="1280160" cy="420624"/>
          </a:xfrm>
          <a:prstGeom prst="roundRect">
            <a:avLst>
              <a:gd name="adj" fmla="val 40000"/>
            </a:avLst>
          </a:prstGeom>
          <a:solidFill>
            <a:srgbClr val="FFAB40"/>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פעולה</a:t>
            </a:r>
          </a:p>
        </p:txBody>
      </p:sp>
      <p:sp>
        <p:nvSpPr>
          <p:cNvPr id="8" name="Rounded Rectangle 7"/>
          <p:cNvSpPr/>
          <p:nvPr/>
        </p:nvSpPr>
        <p:spPr>
          <a:xfrm>
            <a:off x="365760" y="1883664"/>
            <a:ext cx="7040880" cy="420624"/>
          </a:xfrm>
          <a:prstGeom prst="roundRect">
            <a:avLst>
              <a:gd name="adj" fmla="val 12000"/>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rPr>
              <a:t>read orders.csv</a:t>
            </a:r>
          </a:p>
        </p:txBody>
      </p:sp>
      <p:sp>
        <p:nvSpPr>
          <p:cNvPr id="9" name="Rounded Rectangle 8"/>
          <p:cNvSpPr/>
          <p:nvPr/>
        </p:nvSpPr>
        <p:spPr>
          <a:xfrm>
            <a:off x="7498079" y="2395728"/>
            <a:ext cx="1280160" cy="420624"/>
          </a:xfrm>
          <a:prstGeom prst="roundRect">
            <a:avLst>
              <a:gd name="adj" fmla="val 40000"/>
            </a:avLst>
          </a:prstGeom>
          <a:solidFill>
            <a:srgbClr val="0097A7"/>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FFFFFF"/>
                </a:solidFill>
              </a:rPr>
              <a:t>התבוננות</a:t>
            </a:r>
          </a:p>
        </p:txBody>
      </p:sp>
      <p:sp>
        <p:nvSpPr>
          <p:cNvPr id="10" name="Rounded Rectangle 9"/>
          <p:cNvSpPr/>
          <p:nvPr/>
        </p:nvSpPr>
        <p:spPr>
          <a:xfrm>
            <a:off x="365760" y="2395728"/>
            <a:ext cx="7040880" cy="420624"/>
          </a:xfrm>
          <a:prstGeom prst="roundRect">
            <a:avLst>
              <a:gd name="adj" fmla="val 12000"/>
            </a:avLst>
          </a:prstGeom>
          <a:solidFill>
            <a:srgbClr val="F4F4F4"/>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0" i="0" lang="he-IL">
                <a:solidFill>
                  <a:srgbClr val="212121"/>
                </a:solidFill>
              </a:rPr>
              <a:t>העמודות: order_date, quantity, unit_price</a:t>
            </a:r>
          </a:p>
        </p:txBody>
      </p:sp>
      <p:sp>
        <p:nvSpPr>
          <p:cNvPr id="11" name="Rounded Rectangle 10"/>
          <p:cNvSpPr/>
          <p:nvPr/>
        </p:nvSpPr>
        <p:spPr>
          <a:xfrm>
            <a:off x="7498079" y="2907792"/>
            <a:ext cx="1280160" cy="420624"/>
          </a:xfrm>
          <a:prstGeom prst="roundRect">
            <a:avLst>
              <a:gd name="adj" fmla="val 40000"/>
            </a:avLst>
          </a:prstGeom>
          <a:solidFill>
            <a:srgbClr val="FFAB40"/>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פעולה</a:t>
            </a:r>
          </a:p>
        </p:txBody>
      </p:sp>
      <p:sp>
        <p:nvSpPr>
          <p:cNvPr id="12" name="Rounded Rectangle 11"/>
          <p:cNvSpPr/>
          <p:nvPr/>
        </p:nvSpPr>
        <p:spPr>
          <a:xfrm>
            <a:off x="365760" y="2907792"/>
            <a:ext cx="7040880" cy="420624"/>
          </a:xfrm>
          <a:prstGeom prst="roundRect">
            <a:avLst>
              <a:gd name="adj" fmla="val 12000"/>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rPr>
              <a:t>edit analysis.py (+12 lines)</a:t>
            </a:r>
          </a:p>
        </p:txBody>
      </p:sp>
      <p:sp>
        <p:nvSpPr>
          <p:cNvPr id="13" name="Rounded Rectangle 12"/>
          <p:cNvSpPr/>
          <p:nvPr/>
        </p:nvSpPr>
        <p:spPr>
          <a:xfrm>
            <a:off x="7498079" y="3419856"/>
            <a:ext cx="1280160" cy="420624"/>
          </a:xfrm>
          <a:prstGeom prst="roundRect">
            <a:avLst>
              <a:gd name="adj" fmla="val 40000"/>
            </a:avLst>
          </a:prstGeom>
          <a:solidFill>
            <a:srgbClr val="FFAB40"/>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פעולה</a:t>
            </a:r>
          </a:p>
        </p:txBody>
      </p:sp>
      <p:sp>
        <p:nvSpPr>
          <p:cNvPr id="14" name="Rounded Rectangle 13"/>
          <p:cNvSpPr/>
          <p:nvPr/>
        </p:nvSpPr>
        <p:spPr>
          <a:xfrm>
            <a:off x="365760" y="3419856"/>
            <a:ext cx="7040880" cy="420624"/>
          </a:xfrm>
          <a:prstGeom prst="roundRect">
            <a:avLst>
              <a:gd name="adj" fmla="val 12000"/>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rPr>
              <a:t>run python analysis.py</a:t>
            </a:r>
          </a:p>
        </p:txBody>
      </p:sp>
      <p:sp>
        <p:nvSpPr>
          <p:cNvPr id="15" name="Rounded Rectangle 14"/>
          <p:cNvSpPr/>
          <p:nvPr/>
        </p:nvSpPr>
        <p:spPr>
          <a:xfrm>
            <a:off x="7498079" y="3931920"/>
            <a:ext cx="1280160" cy="420624"/>
          </a:xfrm>
          <a:prstGeom prst="roundRect">
            <a:avLst>
              <a:gd name="adj" fmla="val 40000"/>
            </a:avLst>
          </a:prstGeom>
          <a:solidFill>
            <a:srgbClr val="EA4335"/>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FFFFFF"/>
                </a:solidFill>
              </a:rPr>
              <a:t>התבוננות</a:t>
            </a:r>
          </a:p>
        </p:txBody>
      </p:sp>
      <p:sp>
        <p:nvSpPr>
          <p:cNvPr id="16" name="Rounded Rectangle 15"/>
          <p:cNvSpPr/>
          <p:nvPr/>
        </p:nvSpPr>
        <p:spPr>
          <a:xfrm>
            <a:off x="365760" y="3931920"/>
            <a:ext cx="7040880" cy="420624"/>
          </a:xfrm>
          <a:prstGeom prst="roundRect">
            <a:avLst>
              <a:gd name="adj" fmla="val 12000"/>
            </a:avLst>
          </a:prstGeom>
          <a:solidFill>
            <a:srgbClr val="F4F4F4"/>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rPr>
              <a:t>KeyError: 'month'</a:t>
            </a:r>
          </a:p>
        </p:txBody>
      </p:sp>
      <p:sp>
        <p:nvSpPr>
          <p:cNvPr id="17" name="Rounded Rectangle 16"/>
          <p:cNvSpPr/>
          <p:nvPr/>
        </p:nvSpPr>
        <p:spPr>
          <a:xfrm>
            <a:off x="7498079" y="4443984"/>
            <a:ext cx="1280160" cy="420624"/>
          </a:xfrm>
          <a:prstGeom prst="roundRect">
            <a:avLst>
              <a:gd name="adj" fmla="val 40000"/>
            </a:avLst>
          </a:prstGeom>
          <a:solidFill>
            <a:srgbClr val="4285F4"/>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FFFFFF"/>
                </a:solidFill>
              </a:rPr>
              <a:t>תכנון</a:t>
            </a:r>
          </a:p>
        </p:txBody>
      </p:sp>
      <p:sp>
        <p:nvSpPr>
          <p:cNvPr id="18" name="Rounded Rectangle 17"/>
          <p:cNvSpPr/>
          <p:nvPr/>
        </p:nvSpPr>
        <p:spPr>
          <a:xfrm>
            <a:off x="365760" y="4443984"/>
            <a:ext cx="7040880" cy="420624"/>
          </a:xfrm>
          <a:prstGeom prst="roundRect">
            <a:avLst>
              <a:gd name="adj" fmla="val 12000"/>
            </a:avLst>
          </a:prstGeom>
          <a:solidFill>
            <a:srgbClr val="F4F4F4"/>
          </a:solidFill>
          <a:ln w="19050">
            <a:solidFill>
              <a:srgbClr val="EEEEEE"/>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400" b="0" i="0" lang="he-IL">
                <a:solidFill>
                  <a:srgbClr val="212121"/>
                </a:solidFill>
              </a:rPr>
              <a:t>חסרה עמודה, אוסיף חישוב חודש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Tool Use</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291840" y="2103120"/>
            <a:ext cx="2560320" cy="1188720"/>
          </a:xfrm>
          <a:prstGeom prst="roundRect">
            <a:avLst>
              <a:gd name="adj" fmla="val 12000"/>
            </a:avLst>
          </a:prstGeom>
          <a:solidFill>
            <a:srgbClr val="FFAB40"/>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 סוכן</a:t>
            </a:r>
          </a:p>
          <a:p>
            <a:pPr rtl="1" algn="ctr" marL="0" indent="0">
              <a:lnSpc>
                <a:spcPct val="105000"/>
              </a:lnSpc>
              <a:spcBef>
                <a:spcPts val="0"/>
              </a:spcBef>
              <a:spcAft>
                <a:spcPts val="0"/>
              </a:spcAft>
              <a:buNone/>
            </a:pPr>
            <a:r>
              <a:rPr sz="2000" b="1" i="0" lang="he-IL">
                <a:solidFill>
                  <a:srgbClr val="212121"/>
                </a:solidFill>
              </a:rPr>
              <a:t>(מודל + מעטפת)</a:t>
            </a:r>
          </a:p>
        </p:txBody>
      </p:sp>
      <p:sp>
        <p:nvSpPr>
          <p:cNvPr id="6" name="Rounded Rectangle 5"/>
          <p:cNvSpPr/>
          <p:nvPr/>
        </p:nvSpPr>
        <p:spPr>
          <a:xfrm>
            <a:off x="6766560" y="1417320"/>
            <a:ext cx="1920240" cy="100584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a:t>
            </a:r>
          </a:p>
          <a:p>
            <a:pPr rtl="1" algn="ctr" marL="0" indent="0">
              <a:lnSpc>
                <a:spcPct val="105000"/>
              </a:lnSpc>
              <a:spcBef>
                <a:spcPts val="0"/>
              </a:spcBef>
              <a:spcAft>
                <a:spcPts val="0"/>
              </a:spcAft>
              <a:buNone/>
            </a:pPr>
            <a:r>
              <a:rPr sz="1600" b="1" i="0" lang="he-IL">
                <a:solidFill>
                  <a:srgbClr val="212121"/>
                </a:solidFill>
              </a:rPr>
              <a:t>קרא קובץ</a:t>
            </a:r>
          </a:p>
        </p:txBody>
      </p:sp>
      <p:sp>
        <p:nvSpPr>
          <p:cNvPr id="7" name="Rounded Rectangle 6"/>
          <p:cNvSpPr/>
          <p:nvPr/>
        </p:nvSpPr>
        <p:spPr>
          <a:xfrm>
            <a:off x="6766560" y="3200400"/>
            <a:ext cx="1920240" cy="100584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a:t>
            </a:r>
          </a:p>
          <a:p>
            <a:pPr rtl="1" algn="ctr" marL="0" indent="0">
              <a:lnSpc>
                <a:spcPct val="105000"/>
              </a:lnSpc>
              <a:spcBef>
                <a:spcPts val="0"/>
              </a:spcBef>
              <a:spcAft>
                <a:spcPts val="0"/>
              </a:spcAft>
              <a:buNone/>
            </a:pPr>
            <a:r>
              <a:rPr sz="1600" b="1" i="0" lang="he-IL">
                <a:solidFill>
                  <a:srgbClr val="212121"/>
                </a:solidFill>
              </a:rPr>
              <a:t>ערוך קובץ</a:t>
            </a:r>
          </a:p>
        </p:txBody>
      </p:sp>
      <p:sp>
        <p:nvSpPr>
          <p:cNvPr id="8" name="Rounded Rectangle 7"/>
          <p:cNvSpPr/>
          <p:nvPr/>
        </p:nvSpPr>
        <p:spPr>
          <a:xfrm>
            <a:off x="457200" y="1417320"/>
            <a:ext cx="1920240" cy="100584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a:t>
            </a:r>
          </a:p>
          <a:p>
            <a:pPr rtl="1" algn="ctr" marL="0" indent="0">
              <a:lnSpc>
                <a:spcPct val="105000"/>
              </a:lnSpc>
              <a:spcBef>
                <a:spcPts val="0"/>
              </a:spcBef>
              <a:spcAft>
                <a:spcPts val="0"/>
              </a:spcAft>
              <a:buNone/>
            </a:pPr>
            <a:r>
              <a:rPr sz="1600" b="1" i="0" lang="he-IL">
                <a:solidFill>
                  <a:srgbClr val="212121"/>
                </a:solidFill>
              </a:rPr>
              <a:t>הרץ פקודה</a:t>
            </a:r>
          </a:p>
        </p:txBody>
      </p:sp>
      <p:sp>
        <p:nvSpPr>
          <p:cNvPr id="9" name="Rounded Rectangle 8"/>
          <p:cNvSpPr/>
          <p:nvPr/>
        </p:nvSpPr>
        <p:spPr>
          <a:xfrm>
            <a:off x="457200" y="3200400"/>
            <a:ext cx="1920240" cy="100584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a:t>
            </a:r>
          </a:p>
          <a:p>
            <a:pPr rtl="1" algn="ctr" marL="0" indent="0">
              <a:lnSpc>
                <a:spcPct val="105000"/>
              </a:lnSpc>
              <a:spcBef>
                <a:spcPts val="0"/>
              </a:spcBef>
              <a:spcAft>
                <a:spcPts val="0"/>
              </a:spcAft>
              <a:buNone/>
            </a:pPr>
            <a:r>
              <a:rPr sz="1600" b="1" i="0" lang="he-IL">
                <a:solidFill>
                  <a:srgbClr val="212121"/>
                </a:solidFill>
              </a:rPr>
              <a:t>חפש בפרויקט</a:t>
            </a:r>
          </a:p>
        </p:txBody>
      </p:sp>
      <p:cxnSp>
        <p:nvCxnSpPr>
          <p:cNvPr id="10" name="Connector 9"/>
          <p:cNvCxnSpPr/>
          <p:nvPr/>
        </p:nvCxnSpPr>
        <p:spPr>
          <a:xfrm flipV="1">
            <a:off x="5897880" y="1920240"/>
            <a:ext cx="868680" cy="502920"/>
          </a:xfrm>
          <a:prstGeom prst="line">
            <a:avLst/>
          </a:prstGeom>
          <a:ln w="31750">
            <a:solidFill>
              <a:srgbClr val="0097A7"/>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897880" y="3017520"/>
            <a:ext cx="868680" cy="594360"/>
          </a:xfrm>
          <a:prstGeom prst="line">
            <a:avLst/>
          </a:prstGeom>
          <a:ln w="31750">
            <a:solidFill>
              <a:srgbClr val="0097A7"/>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423160" y="1920240"/>
            <a:ext cx="822960" cy="502920"/>
          </a:xfrm>
          <a:prstGeom prst="line">
            <a:avLst/>
          </a:prstGeom>
          <a:ln w="31750">
            <a:solidFill>
              <a:srgbClr val="0097A7"/>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423160" y="3017520"/>
            <a:ext cx="822960" cy="594360"/>
          </a:xfrm>
          <a:prstGeom prst="line">
            <a:avLst/>
          </a:prstGeom>
          <a:ln w="31750">
            <a:solidFill>
              <a:srgbClr val="0097A7"/>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5760" y="4480560"/>
            <a:ext cx="841248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212121"/>
                </a:solidFill>
              </a:rPr>
              <a:t>הסוכן מבקש, הכלי מבצע, והתוצאה חוזרת אל הסוכן.</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:קריאה לכלי מבפנים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901" name="Shape 901"/>
          <p:cNvSpPr/>
          <p:nvPr/>
        </p:nvSpPr>
        <p:spPr>
          <a:xfrm>
            <a:off x="5364000" y="1404000"/>
            <a:ext cx="3420000" cy="2124000"/>
          </a:xfrm>
          <a:prstGeom prst="roundRect">
            <a:avLst>
              <a:gd name="adj" fmla="val 5000"/>
            </a:avLst>
          </a:prstGeom>
          <a:solidFill>
            <a:srgbClr val="E3EEFF"/>
          </a:solidFill>
          <a:ln w="28575">
            <a:solidFill>
              <a:srgbClr val="4285F4"/>
            </a:solidFill>
          </a:ln>
        </p:spPr>
        <p:txBody>
          <a:bodyPr rtlCol="0" anchor="ctr" wrap="square" lIns="73152" rIns="73152" tIns="73152" bIns="73152">
            <a:noAutofit/>
          </a:bodyPr>
          <a:lstStyle/>
          <a:p>
            <a:pPr algn="ctr"/>
          </a:p>
        </p:txBody>
      </p:sp>
      <p:sp>
        <p:nvSpPr>
          <p:cNvPr id="902" name="TextBox 902"/>
          <p:cNvSpPr txBox="1"/>
          <p:nvPr/>
        </p:nvSpPr>
        <p:spPr>
          <a:xfrm>
            <a:off x="5400000" y="1440000"/>
            <a:ext cx="3348000" cy="432000"/>
          </a:xfrm>
          <a:prstGeom prst="rect">
            <a:avLst/>
          </a:prstGeom>
          <a:noFill/>
          <a:ln>
            <a:noFill/>
          </a:ln>
        </p:spPr>
        <p:txBody>
          <a:bodyPr rtlCol="0" anchor="t" wrap="square" lIns="73152" rIns="73152" tIns="73152" bIns="73152">
            <a:noAutofit/>
          </a:bodyPr>
          <a:lstStyle/>
          <a:p>
            <a:pPr rtl="1" algn="ctr" marL="0" indent="0">
              <a:lnSpc>
                <a:spcPct val="105000"/>
              </a:lnSpc>
              <a:spcBef>
                <a:spcPts val="0"/>
              </a:spcBef>
              <a:spcAft>
                <a:spcPts val="0"/>
              </a:spcAft>
              <a:buNone/>
            </a:pPr>
            <a:r>
              <a:rPr lang="he-IL" sz="1800" b="1" i="0">
                <a:solidFill>
                  <a:srgbClr val="212121"/>
                </a:solidFill>
              </a:rPr>
              <a:t>1  המודל מבקש</a:t>
            </a:r>
          </a:p>
        </p:txBody>
      </p:sp>
      <p:sp>
        <p:nvSpPr>
          <p:cNvPr id="903" name="Code 903"/>
          <p:cNvSpPr/>
          <p:nvPr/>
        </p:nvSpPr>
        <p:spPr>
          <a:xfrm>
            <a:off x="5508000" y="1908000"/>
            <a:ext cx="3132000" cy="1404000"/>
          </a:xfrm>
          <a:prstGeom prst="rect">
            <a:avLst/>
          </a:prstGeom>
          <a:solidFill>
            <a:srgbClr val="F7F7F7"/>
          </a:solidFill>
          <a:ln w="9525">
            <a:solidFill>
              <a:srgbClr val="BDBDBD"/>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lang="he-IL" sz="1500" b="0" i="0">
                <a:solidFill>
                  <a:srgbClr val="212121"/>
                </a:solidFill>
              </a:rPr>
              <a:t>{"tool": "read_file",</a:t>
            </a:r>
          </a:p>
          <a:p>
            <a:pPr rtl="0" algn="l" marL="0" indent="0">
              <a:lnSpc>
                <a:spcPct val="105000"/>
              </a:lnSpc>
              <a:spcBef>
                <a:spcPts val="0"/>
              </a:spcBef>
              <a:spcAft>
                <a:spcPts val="0"/>
              </a:spcAft>
              <a:buNone/>
            </a:pPr>
            <a:r>
              <a:rPr lang="he-IL" sz="1500" b="0" i="0">
                <a:solidFill>
                  <a:srgbClr val="212121"/>
                </a:solidFill>
              </a:rPr>
              <a:t> "args": {"path": "orders.csv"},</a:t>
            </a:r>
          </a:p>
          <a:p>
            <a:pPr rtl="0" algn="l" marL="0" indent="0">
              <a:lnSpc>
                <a:spcPct val="105000"/>
              </a:lnSpc>
              <a:spcBef>
                <a:spcPts val="0"/>
              </a:spcBef>
              <a:spcAft>
                <a:spcPts val="0"/>
              </a:spcAft>
              <a:buNone/>
            </a:pPr>
            <a:r>
              <a:rPr lang="he-IL" sz="1500" b="0" i="0">
                <a:solidFill>
                  <a:srgbClr val="212121"/>
                </a:solidFill>
              </a:rPr>
              <a:t> "thought": "check the columns"}</a:t>
            </a:r>
          </a:p>
        </p:txBody>
      </p:sp>
      <p:cxnSp>
        <p:nvCxnSpPr>
          <p:cNvPr id="904" name="Connector 904"/>
          <p:cNvCxnSpPr/>
          <p:nvPr/>
        </p:nvCxnSpPr>
        <p:spPr>
          <a:xfrm flipH="1">
            <a:off x="4932000" y="2448000"/>
            <a:ext cx="396000" cy="0"/>
          </a:xfrm>
          <a:prstGeom prst="line">
            <a:avLst/>
          </a:prstGeom>
          <a:ln w="31750">
            <a:solidFill>
              <a:srgbClr val="78909C"/>
            </a:solidFill>
            <a:tailEnd type="triangle"/>
          </a:ln>
        </p:spPr>
      </p:cxnSp>
      <p:sp>
        <p:nvSpPr>
          <p:cNvPr id="905" name="Shape 905"/>
          <p:cNvSpPr/>
          <p:nvPr/>
        </p:nvSpPr>
        <p:spPr>
          <a:xfrm>
            <a:off x="2844000" y="1404000"/>
            <a:ext cx="2052000" cy="2124000"/>
          </a:xfrm>
          <a:prstGeom prst="roundRect">
            <a:avLst>
              <a:gd name="adj" fmla="val 5000"/>
            </a:avLst>
          </a:prstGeom>
          <a:solidFill>
            <a:srgbClr val="FFF0D9"/>
          </a:solidFill>
          <a:ln w="28575">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800" b="1" i="0">
                <a:solidFill>
                  <a:srgbClr val="212121"/>
                </a:solidFill>
              </a:rPr>
              <a:t>2  המעטפת מבצעת</a:t>
            </a:r>
          </a:p>
          <a:p>
            <a:pPr rtl="1" algn="ctr" marL="0" indent="0">
              <a:lnSpc>
                <a:spcPct val="105000"/>
              </a:lnSpc>
              <a:spcBef>
                <a:spcPts val="800"/>
              </a:spcBef>
              <a:spcAft>
                <a:spcPts val="0"/>
              </a:spcAft>
              <a:buNone/>
            </a:pPr>
            <a:r>
              <a:rPr lang="he-IL" sz="1600" b="0" i="0">
                <a:solidFill>
                  <a:srgbClr val="212121"/>
                </a:solidFill>
              </a:rPr>
              <a:t>מחפשת את הכלי ברשימה, מריצה, ותופסת כל שגיאה</a:t>
            </a:r>
          </a:p>
        </p:txBody>
      </p:sp>
      <p:cxnSp>
        <p:nvCxnSpPr>
          <p:cNvPr id="906" name="Connector 906"/>
          <p:cNvCxnSpPr/>
          <p:nvPr/>
        </p:nvCxnSpPr>
        <p:spPr>
          <a:xfrm flipH="1">
            <a:off x="2412000" y="2448000"/>
            <a:ext cx="396000" cy="0"/>
          </a:xfrm>
          <a:prstGeom prst="line">
            <a:avLst/>
          </a:prstGeom>
          <a:ln w="31750">
            <a:solidFill>
              <a:srgbClr val="78909C"/>
            </a:solidFill>
            <a:tailEnd type="triangle"/>
          </a:ln>
        </p:spPr>
      </p:cxnSp>
      <p:sp>
        <p:nvSpPr>
          <p:cNvPr id="907" name="Shape 907"/>
          <p:cNvSpPr/>
          <p:nvPr/>
        </p:nvSpPr>
        <p:spPr>
          <a:xfrm>
            <a:off x="360000" y="1404000"/>
            <a:ext cx="2016000" cy="2124000"/>
          </a:xfrm>
          <a:prstGeom prst="roundRect">
            <a:avLst>
              <a:gd name="adj" fmla="val 5000"/>
            </a:avLst>
          </a:prstGeom>
          <a:solidFill>
            <a:srgbClr val="DDF2F5"/>
          </a:solidFill>
          <a:ln w="28575">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800" b="1" i="0">
                <a:solidFill>
                  <a:srgbClr val="212121"/>
                </a:solidFill>
              </a:rPr>
              <a:t>3  התבוננות</a:t>
            </a:r>
          </a:p>
          <a:p>
            <a:pPr rtl="1" algn="ctr" marL="0" indent="0">
              <a:lnSpc>
                <a:spcPct val="105000"/>
              </a:lnSpc>
              <a:spcBef>
                <a:spcPts val="800"/>
              </a:spcBef>
              <a:spcAft>
                <a:spcPts val="0"/>
              </a:spcAft>
              <a:buNone/>
            </a:pPr>
            <a:r>
              <a:rPr lang="he-IL" sz="1600" b="0" i="0">
                <a:solidFill>
                  <a:srgbClr val="212121"/>
                </a:solidFill>
              </a:rPr>
              <a:t>טקסט שחוזר למודל: תוצאה, או שורת ERROR</a:t>
            </a:r>
          </a:p>
        </p:txBody>
      </p:sp>
      <p:sp>
        <p:nvSpPr>
          <p:cNvPr id="908" name="Shape 908"/>
          <p:cNvSpPr/>
          <p:nvPr/>
        </p:nvSpPr>
        <p:spPr>
          <a:xfrm>
            <a:off x="360000" y="3744000"/>
            <a:ext cx="8424000" cy="1116000"/>
          </a:xfrm>
          <a:prstGeom prst="roundRect">
            <a:avLst>
              <a:gd name="adj" fmla="val 8000"/>
            </a:avLst>
          </a:prstGeom>
          <a:solidFill>
            <a:srgbClr val="E1F4E6"/>
          </a:solidFill>
          <a:ln w="28575">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900" b="1" i="0">
                <a:solidFill>
                  <a:srgbClr val="212121"/>
                </a:solidFill>
              </a:rPr>
              <a:t>הכלי הוא פונקציה רגילה. המודל לא מריץ כלום: הוא מבקש, והמעטפת מבצעת.</a:t>
            </a:r>
          </a:p>
          <a:p>
            <a:pPr rtl="1" algn="ctr" marL="0" indent="0">
              <a:lnSpc>
                <a:spcPct val="105000"/>
              </a:lnSpc>
              <a:spcBef>
                <a:spcPts val="600"/>
              </a:spcBef>
              <a:spcAft>
                <a:spcPts val="0"/>
              </a:spcAft>
              <a:buNone/>
            </a:pPr>
            <a:r>
              <a:rPr lang="he-IL" sz="1600" b="0" i="0">
                <a:solidFill>
                  <a:srgbClr val="595959"/>
                </a:solidFill>
              </a:rPr>
              <a:t>במעבדה: execute_action מבצעת, והפונקציה approve מחליטה אם לאשר.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שרשרת מחשבה (CoT)</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234440"/>
            <a:ext cx="8412480" cy="54864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1" i="0" lang="he-IL">
                <a:solidFill>
                  <a:srgbClr val="212121"/>
                </a:solidFill>
              </a:rPr>
              <a:t>ביקוש יומי 12, זמן אספקה 7 ימים, ימי ביטחון 3. מה נקודת ההזמנה?</a:t>
            </a:r>
          </a:p>
        </p:txBody>
      </p:sp>
      <p:sp>
        <p:nvSpPr>
          <p:cNvPr id="6" name="Rounded Rectangle 5"/>
          <p:cNvSpPr/>
          <p:nvPr/>
        </p:nvSpPr>
        <p:spPr>
          <a:xfrm>
            <a:off x="4663440" y="1920240"/>
            <a:ext cx="4114800" cy="219456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EA4335"/>
                </a:solidFill>
              </a:rPr>
              <a:t>תשובה ישירה</a:t>
            </a:r>
          </a:p>
          <a:p>
            <a:pPr rtl="1" algn="ctr" marL="0" indent="0">
              <a:lnSpc>
                <a:spcPct val="105000"/>
              </a:lnSpc>
              <a:spcBef>
                <a:spcPts val="0"/>
              </a:spcBef>
              <a:spcAft>
                <a:spcPts val="0"/>
              </a:spcAft>
              <a:buNone/>
            </a:pPr>
            <a:r>
              <a:rPr sz="3800" b="1" i="0" lang="he-IL">
                <a:solidFill>
                  <a:srgbClr val="EA4335"/>
                </a:solidFill>
              </a:rPr>
              <a:t>84</a:t>
            </a:r>
          </a:p>
          <a:p>
            <a:pPr rtl="1" algn="ctr" marL="0" indent="0">
              <a:lnSpc>
                <a:spcPct val="105000"/>
              </a:lnSpc>
              <a:spcBef>
                <a:spcPts val="0"/>
              </a:spcBef>
              <a:spcAft>
                <a:spcPts val="0"/>
              </a:spcAft>
              <a:buNone/>
            </a:pPr>
            <a:r>
              <a:rPr sz="1300" b="0" i="0" lang="he-IL">
                <a:solidFill>
                  <a:srgbClr val="595959"/>
                </a:solidFill>
              </a:rPr>
              <a:t>(שכחו את ימי הביטחון)</a:t>
            </a:r>
          </a:p>
        </p:txBody>
      </p:sp>
      <p:sp>
        <p:nvSpPr>
          <p:cNvPr id="7" name="Rounded Rectangle 6"/>
          <p:cNvSpPr/>
          <p:nvPr/>
        </p:nvSpPr>
        <p:spPr>
          <a:xfrm>
            <a:off x="365760" y="1920240"/>
            <a:ext cx="4114800" cy="219456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700" b="1" i="0" lang="he-IL">
                <a:solidFill>
                  <a:srgbClr val="34A853"/>
                </a:solidFill>
              </a:rPr>
              <a:t>צעד אחר צעד</a:t>
            </a:r>
          </a:p>
          <a:p>
            <a:pPr rtl="0" algn="ctr" marL="0" indent="0">
              <a:lnSpc>
                <a:spcPct val="105000"/>
              </a:lnSpc>
              <a:spcBef>
                <a:spcPts val="0"/>
              </a:spcBef>
              <a:spcAft>
                <a:spcPts val="0"/>
              </a:spcAft>
              <a:buNone/>
            </a:pPr>
            <a:r>
              <a:rPr sz="1600" b="0" i="0" lang="he-IL">
                <a:solidFill>
                  <a:srgbClr val="212121"/>
                </a:solidFill>
              </a:rPr>
              <a:t>ימים כולל ביטחון: 7 + 3 = 10
12 × 10 = 120</a:t>
            </a:r>
          </a:p>
          <a:p>
            <a:pPr rtl="0" algn="ctr" marL="0" indent="0">
              <a:lnSpc>
                <a:spcPct val="105000"/>
              </a:lnSpc>
              <a:spcBef>
                <a:spcPts val="0"/>
              </a:spcBef>
              <a:spcAft>
                <a:spcPts val="0"/>
              </a:spcAft>
              <a:buNone/>
            </a:pPr>
            <a:r>
              <a:rPr sz="3000" b="1" i="0" lang="he-IL">
                <a:solidFill>
                  <a:srgbClr val="34A853"/>
                </a:solidFill>
              </a:rPr>
              <a:t>120</a:t>
            </a:r>
          </a:p>
        </p:txBody>
      </p:sp>
      <p:cxnSp>
        <p:nvCxnSpPr>
          <p:cNvPr id="8" name="Connector 7"/>
          <p:cNvCxnSpPr/>
          <p:nvPr/>
        </p:nvCxnSpPr>
        <p:spPr>
          <a:xfrm flipH="1">
            <a:off x="4526280" y="3017520"/>
            <a:ext cx="91440"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65760" y="4343400"/>
            <a:ext cx="8412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212121"/>
                </a:solidFill>
              </a:rPr>
              <a:t>כשמבקשים מהמודל להסביר שלבים, יש לו "מקום" לחשוב, ואפשר לבדוק את השלבים.</a:t>
            </a:r>
          </a:p>
          <a:p>
            <a:pPr rtl="1" algn="ctr" marL="0" indent="0">
              <a:lnSpc>
                <a:spcPct val="110000"/>
              </a:lnSpc>
              <a:spcBef>
                <a:spcPts val="0"/>
              </a:spcBef>
              <a:spcAft>
                <a:spcPts val="0"/>
              </a:spcAft>
              <a:buNone/>
            </a:pPr>
            <a:r>
              <a:rPr sz="1200" b="0" i="0" lang="he-IL">
                <a:solidFill>
                  <a:srgbClr val="595959"/>
                </a:solidFill>
              </a:rPr>
              <a:t>(המחשה להמחשה בלבד, לא פלט אמיתי)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קוד שמחשב (PoT)</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325880"/>
            <a:ext cx="4114800" cy="4572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חשבון בטקסט (CoT)</a:t>
            </a:r>
          </a:p>
        </p:txBody>
      </p:sp>
      <p:sp>
        <p:nvSpPr>
          <p:cNvPr id="6" name="Rounded Rectangle 5"/>
          <p:cNvSpPr/>
          <p:nvPr/>
        </p:nvSpPr>
        <p:spPr>
          <a:xfrm>
            <a:off x="4663440" y="1828800"/>
            <a:ext cx="4114800" cy="201168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המודל "מחשב" שורש בראש:</a:t>
            </a:r>
          </a:p>
          <a:p>
            <a:pPr rtl="1" algn="ctr" marL="0" indent="0">
              <a:lnSpc>
                <a:spcPct val="105000"/>
              </a:lnSpc>
              <a:spcBef>
                <a:spcPts val="0"/>
              </a:spcBef>
              <a:spcAft>
                <a:spcPts val="0"/>
              </a:spcAft>
              <a:buNone/>
            </a:pPr>
            <a:r>
              <a:rPr sz="1800" b="1" i="0" lang="he-IL">
                <a:solidFill>
                  <a:srgbClr val="EA4335"/>
                </a:solidFill>
              </a:rPr>
              <a:t>√60,000 ≈ 245?  244.9?  250?</a:t>
            </a:r>
          </a:p>
          <a:p>
            <a:pPr rtl="1" algn="ctr" marL="0" indent="0">
              <a:lnSpc>
                <a:spcPct val="105000"/>
              </a:lnSpc>
              <a:spcBef>
                <a:spcPts val="0"/>
              </a:spcBef>
              <a:spcAft>
                <a:spcPts val="0"/>
              </a:spcAft>
              <a:buNone/>
            </a:pPr>
            <a:r>
              <a:rPr sz="1300" b="0" i="0" lang="he-IL">
                <a:solidFill>
                  <a:srgbClr val="595959"/>
                </a:solidFill>
              </a:rPr>
              <a:t>עלול לטעות, ואין דרך לבדוק</a:t>
            </a:r>
          </a:p>
        </p:txBody>
      </p:sp>
      <p:sp>
        <p:nvSpPr>
          <p:cNvPr id="7" name="Rounded Rectangle 6"/>
          <p:cNvSpPr/>
          <p:nvPr/>
        </p:nvSpPr>
        <p:spPr>
          <a:xfrm>
            <a:off x="365760" y="1325880"/>
            <a:ext cx="4114800" cy="45720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קוד (PoT)</a:t>
            </a:r>
          </a:p>
        </p:txBody>
      </p:sp>
      <p:sp>
        <p:nvSpPr>
          <p:cNvPr id="8" name="Rectangle 7"/>
          <p:cNvSpPr/>
          <p:nvPr/>
        </p:nvSpPr>
        <p:spPr>
          <a:xfrm>
            <a:off x="365760" y="1828800"/>
            <a:ext cx="4114800" cy="1188720"/>
          </a:xfrm>
          <a:prstGeom prst="rect">
            <a:avLst/>
          </a:prstGeom>
          <a:solidFill>
            <a:srgbClr val="E1F4E6"/>
          </a:solidFill>
          <a:ln w="19050">
            <a:solidFill>
              <a:srgbClr val="34A853"/>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 EOQ: D=1200, S=50, H=2</a:t>
            </a:r>
          </a:p>
          <a:p>
            <a:pPr rtl="0" algn="l" marL="0" indent="0">
              <a:lnSpc>
                <a:spcPct val="105000"/>
              </a:lnSpc>
              <a:spcBef>
                <a:spcPts val="0"/>
              </a:spcBef>
              <a:spcAft>
                <a:spcPts val="0"/>
              </a:spcAft>
              <a:buNone/>
            </a:pPr>
            <a:r>
              <a:rPr sz="1300" b="0" i="0" lang="he-IL">
                <a:solidFill>
                  <a:srgbClr val="212121"/>
                </a:solidFill>
              </a:rPr>
              <a:t>import math</a:t>
            </a:r>
          </a:p>
          <a:p>
            <a:pPr rtl="0" algn="l" marL="0" indent="0">
              <a:lnSpc>
                <a:spcPct val="105000"/>
              </a:lnSpc>
              <a:spcBef>
                <a:spcPts val="0"/>
              </a:spcBef>
              <a:spcAft>
                <a:spcPts val="0"/>
              </a:spcAft>
              <a:buNone/>
            </a:pPr>
            <a:r>
              <a:rPr sz="1300" b="0" i="0" lang="he-IL">
                <a:solidFill>
                  <a:srgbClr val="212121"/>
                </a:solidFill>
              </a:rPr>
              <a:t>print(round(math.sqrt(2*1200*50/2), 2))</a:t>
            </a:r>
          </a:p>
        </p:txBody>
      </p:sp>
      <p:sp>
        <p:nvSpPr>
          <p:cNvPr id="9" name="Rounded Rectangle 8"/>
          <p:cNvSpPr/>
          <p:nvPr/>
        </p:nvSpPr>
        <p:spPr>
          <a:xfrm>
            <a:off x="365760" y="3108960"/>
            <a:ext cx="4114800" cy="86868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10" name="Rectangle 9"/>
          <p:cNvSpPr/>
          <p:nvPr/>
        </p:nvSpPr>
        <p:spPr>
          <a:xfrm>
            <a:off x="365760" y="3108960"/>
            <a:ext cx="411480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הרצה</a:t>
            </a:r>
          </a:p>
        </p:txBody>
      </p:sp>
      <p:sp>
        <p:nvSpPr>
          <p:cNvPr id="11" name="TextBox 10"/>
          <p:cNvSpPr txBox="1"/>
          <p:nvPr/>
        </p:nvSpPr>
        <p:spPr>
          <a:xfrm>
            <a:off x="457200" y="3493008"/>
            <a:ext cx="3931920" cy="411479"/>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400" b="0" i="0" lang="he-IL">
                <a:solidFill>
                  <a:srgbClr val="FFCA6B"/>
                </a:solidFill>
                <a:latin typeface="Courier New"/>
                <a:ea typeface="Courier New"/>
                <a:cs typeface="Courier New"/>
              </a:rPr>
              <a:t>&gt; 244.95</a:t>
            </a:r>
          </a:p>
        </p:txBody>
      </p:sp>
      <p:sp>
        <p:nvSpPr>
          <p:cNvPr id="12" name="TextBox 11"/>
          <p:cNvSpPr txBox="1"/>
          <p:nvPr/>
        </p:nvSpPr>
        <p:spPr>
          <a:xfrm>
            <a:off x="365760" y="4206240"/>
            <a:ext cx="8412480" cy="8686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212121"/>
                </a:solidFill>
              </a:rPr>
              <a:t>המודל כותב את הדרך, והמחשב מחשב במדויק.</a:t>
            </a:r>
          </a:p>
          <a:p>
            <a:pPr rtl="1" algn="ctr" marL="0" indent="0">
              <a:lnSpc>
                <a:spcPct val="110000"/>
              </a:lnSpc>
              <a:spcBef>
                <a:spcPts val="0"/>
              </a:spcBef>
              <a:spcAft>
                <a:spcPts val="0"/>
              </a:spcAft>
              <a:buNone/>
            </a:pPr>
            <a:r>
              <a:rPr sz="1700" b="0" i="0" lang="he-IL">
                <a:solidFill>
                  <a:srgbClr val="595959"/>
                </a:solidFill>
              </a:rPr>
              <a:t>לכן סוכני קוד "מריצים": התוצאה מדויקת, ואפשר לבדוק.</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אסטרטגיות חשיבה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graphicFrame>
        <p:nvGraphicFramePr>
          <p:cNvPr id="6" name="Table 5"/>
          <p:cNvGraphicFramePr>
            <a:graphicFrameLocks noGrp="1"/>
          </p:cNvGraphicFramePr>
          <p:nvPr/>
        </p:nvGraphicFramePr>
        <p:xfrm>
          <a:off x="365760" y="1280160"/>
          <a:ext cx="8412478" cy="3328416"/>
        </p:xfrm>
        <a:graphic>
          <a:graphicData uri="http://schemas.openxmlformats.org/drawingml/2006/table">
            <a:tbl>
              <a:tblPr firstRow="0" bandRow="0">
                <a:tableStyleId>{2D5ABB26-0587-4C30-8999-92F81FD0307C}</a:tableStyleId>
              </a:tblPr>
              <a:tblGrid>
                <a:gridCol w="1073933"/>
                <a:gridCol w="2326856"/>
                <a:gridCol w="3042811"/>
                <a:gridCol w="1968878"/>
              </a:tblGrid>
              <a:tr h="475488">
                <a:tc>
                  <a:txBody>
                    <a:bodyPr wrap="square"/>
                    <a:lstStyle/>
                    <a:p>
                      <a:pPr rtl="1" algn="ctr" marL="0" indent="0">
                        <a:lnSpc>
                          <a:spcPct val="100000"/>
                        </a:lnSpc>
                        <a:spcBef>
                          <a:spcPts val="0"/>
                        </a:spcBef>
                        <a:spcAft>
                          <a:spcPts val="0"/>
                        </a:spcAft>
                        <a:buNone/>
                      </a:pPr>
                      <a:r>
                        <a:rPr sz="1400" b="1" i="0" lang="he-IL">
                          <a:solidFill>
                            <a:srgbClr val="212121"/>
                          </a:solidFill>
                        </a:rPr>
                        <a:t>עלות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מתי מתאימה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הרעיון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400" b="1" i="0" lang="he-IL">
                          <a:solidFill>
                            <a:srgbClr val="212121"/>
                          </a:solidFill>
                        </a:rPr>
                        <a:t>שיטה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475488">
                <a:tc>
                  <a:txBody>
                    <a:bodyPr wrap="square"/>
                    <a:lstStyle/>
                    <a:p>
                      <a:pPr rtl="1" algn="r" marL="0" indent="0">
                        <a:lnSpc>
                          <a:spcPct val="100000"/>
                        </a:lnSpc>
                        <a:spcBef>
                          <a:spcPts val="0"/>
                        </a:spcBef>
                        <a:spcAft>
                          <a:spcPts val="0"/>
                        </a:spcAft>
                        <a:buNone/>
                      </a:pPr>
                      <a:r>
                        <a:rPr sz="1400" b="0" i="0" lang="he-IL">
                          <a:solidFill>
                            <a:srgbClr val="212121"/>
                          </a:solidFill>
                        </a:rPr>
                        <a:t>נמוכה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חשבון והיגיון בסיסי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להסביר צעד אחר צעד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CoT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75488">
                <a:tc>
                  <a:txBody>
                    <a:bodyPr wrap="square"/>
                    <a:lstStyle/>
                    <a:p>
                      <a:pPr rtl="1" algn="r" marL="0" indent="0">
                        <a:lnSpc>
                          <a:spcPct val="100000"/>
                        </a:lnSpc>
                        <a:spcBef>
                          <a:spcPts val="0"/>
                        </a:spcBef>
                        <a:spcAft>
                          <a:spcPts val="0"/>
                        </a:spcAft>
                        <a:buNone/>
                      </a:pPr>
                      <a:r>
                        <a:rPr sz="1400" b="0" i="0" lang="he-IL">
                          <a:solidFill>
                            <a:srgbClr val="212121"/>
                          </a:solidFill>
                        </a:rPr>
                        <a:t>בינונית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הקטנת טעויות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כמה ניסיונות והצבעה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Self-Consistency</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75488">
                <a:tc>
                  <a:txBody>
                    <a:bodyPr wrap="square"/>
                    <a:lstStyle/>
                    <a:p>
                      <a:pPr rtl="1" algn="r" marL="0" indent="0">
                        <a:lnSpc>
                          <a:spcPct val="100000"/>
                        </a:lnSpc>
                        <a:spcBef>
                          <a:spcPts val="0"/>
                        </a:spcBef>
                        <a:spcAft>
                          <a:spcPts val="0"/>
                        </a:spcAft>
                        <a:buNone/>
                      </a:pPr>
                      <a:r>
                        <a:rPr sz="1400" b="0" i="0" lang="he-IL">
                          <a:solidFill>
                            <a:srgbClr val="212121"/>
                          </a:solidFill>
                        </a:rPr>
                        <a:t>בינונית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400" b="0" i="0" lang="he-IL">
                          <a:solidFill>
                            <a:srgbClr val="212121"/>
                          </a:solidFill>
                        </a:rPr>
                        <a:t>משימות עם כלים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400" b="0" i="0" lang="he-IL">
                          <a:solidFill>
                            <a:srgbClr val="212121"/>
                          </a:solidFill>
                        </a:rPr>
                        <a:t>חשיבה ופעולה לסירוגין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400" b="1" i="0" lang="he-IL">
                          <a:solidFill>
                            <a:srgbClr val="212121"/>
                          </a:solidFill>
                        </a:rPr>
                        <a:t>ReAct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r>
              <a:tr h="475488">
                <a:tc>
                  <a:txBody>
                    <a:bodyPr wrap="square"/>
                    <a:lstStyle/>
                    <a:p>
                      <a:pPr rtl="1" algn="r" marL="0" indent="0">
                        <a:lnSpc>
                          <a:spcPct val="100000"/>
                        </a:lnSpc>
                        <a:spcBef>
                          <a:spcPts val="0"/>
                        </a:spcBef>
                        <a:spcAft>
                          <a:spcPts val="0"/>
                        </a:spcAft>
                        <a:buNone/>
                      </a:pPr>
                      <a:r>
                        <a:rPr sz="1400" b="0" i="0" lang="he-IL">
                          <a:solidFill>
                            <a:srgbClr val="212121"/>
                          </a:solidFill>
                        </a:rPr>
                        <a:t>בינונית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משימות ארוכות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תוכנית מלאה ואז ביצוע</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Plan-and-Solve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75488">
                <a:tc>
                  <a:txBody>
                    <a:bodyPr wrap="square"/>
                    <a:lstStyle/>
                    <a:p>
                      <a:pPr rtl="1" algn="r" marL="0" indent="0">
                        <a:lnSpc>
                          <a:spcPct val="100000"/>
                        </a:lnSpc>
                        <a:spcBef>
                          <a:spcPts val="0"/>
                        </a:spcBef>
                        <a:spcAft>
                          <a:spcPts val="0"/>
                        </a:spcAft>
                        <a:buNone/>
                      </a:pPr>
                      <a:r>
                        <a:rPr sz="1400" b="0" i="0" lang="he-IL">
                          <a:solidFill>
                            <a:srgbClr val="212121"/>
                          </a:solidFill>
                        </a:rPr>
                        <a:t>גבוהה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בעיות חיפוש מורכבות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בדיקת כמה מסלולים וחזרה אחורה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Tree of Thoughts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475488">
                <a:tc>
                  <a:txBody>
                    <a:bodyPr wrap="square"/>
                    <a:lstStyle/>
                    <a:p>
                      <a:pPr rtl="1" algn="r" marL="0" indent="0">
                        <a:lnSpc>
                          <a:spcPct val="100000"/>
                        </a:lnSpc>
                        <a:spcBef>
                          <a:spcPts val="0"/>
                        </a:spcBef>
                        <a:spcAft>
                          <a:spcPts val="0"/>
                        </a:spcAft>
                        <a:buNone/>
                      </a:pPr>
                      <a:r>
                        <a:rPr sz="1400" b="0" i="0" lang="he-IL">
                          <a:solidFill>
                            <a:srgbClr val="212121"/>
                          </a:solidFill>
                        </a:rPr>
                        <a:t>גבוהה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שיפור הדרגתי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0" i="0" lang="he-IL">
                          <a:solidFill>
                            <a:srgbClr val="212121"/>
                          </a:solidFill>
                        </a:rPr>
                        <a:t>ביקורת עצמית אחרי כשלון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400" b="1" i="0" lang="he-IL">
                          <a:solidFill>
                            <a:srgbClr val="212121"/>
                          </a:solidFill>
                        </a:rPr>
                        <a:t>Reflexion</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7" name="TextBox 6"/>
          <p:cNvSpPr txBox="1"/>
          <p:nvPr/>
        </p:nvSpPr>
        <p:spPr>
          <a:xfrm>
            <a:off x="365760" y="480060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מודגש: ReAct, הלולאה שראינו. עלות: הערכה איכותית.</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זיכרון של סוכן</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8412480" cy="777240"/>
          </a:xfrm>
          <a:prstGeom prst="roundRect">
            <a:avLst>
              <a:gd name="adj" fmla="val 8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863840" y="1371600"/>
            <a:ext cx="822960" cy="77724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7" name="TextBox 6"/>
          <p:cNvSpPr txBox="1"/>
          <p:nvPr/>
        </p:nvSpPr>
        <p:spPr>
          <a:xfrm>
            <a:off x="5486400" y="1371600"/>
            <a:ext cx="2377440"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חלון ההקשר</a:t>
            </a:r>
          </a:p>
        </p:txBody>
      </p:sp>
      <p:sp>
        <p:nvSpPr>
          <p:cNvPr id="8" name="TextBox 7"/>
          <p:cNvSpPr txBox="1"/>
          <p:nvPr/>
        </p:nvSpPr>
        <p:spPr>
          <a:xfrm>
            <a:off x="1737360" y="1371600"/>
            <a:ext cx="3749039"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מה שנמצא בשיחה עכשיו. מוגבל ומתנדף.</a:t>
            </a:r>
          </a:p>
        </p:txBody>
      </p:sp>
      <p:sp>
        <p:nvSpPr>
          <p:cNvPr id="9" name="Rounded Rectangle 8"/>
          <p:cNvSpPr/>
          <p:nvPr/>
        </p:nvSpPr>
        <p:spPr>
          <a:xfrm>
            <a:off x="457200" y="1554480"/>
            <a:ext cx="1188720" cy="411480"/>
          </a:xfrm>
          <a:prstGeom prst="roundRect">
            <a:avLst>
              <a:gd name="adj" fmla="val 40000"/>
            </a:avLst>
          </a:prstGeom>
          <a:solidFill>
            <a:srgbClr val="FFFF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212121"/>
                </a:solidFill>
              </a:rPr>
              <a:t>מפגש 2</a:t>
            </a:r>
          </a:p>
        </p:txBody>
      </p:sp>
      <p:sp>
        <p:nvSpPr>
          <p:cNvPr id="10" name="Rounded Rectangle 9"/>
          <p:cNvSpPr/>
          <p:nvPr/>
        </p:nvSpPr>
        <p:spPr>
          <a:xfrm>
            <a:off x="365760" y="2267712"/>
            <a:ext cx="8412480" cy="777240"/>
          </a:xfrm>
          <a:prstGeom prst="roundRect">
            <a:avLst>
              <a:gd name="adj" fmla="val 8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1" name="TextBox 10"/>
          <p:cNvSpPr txBox="1"/>
          <p:nvPr/>
        </p:nvSpPr>
        <p:spPr>
          <a:xfrm>
            <a:off x="7863840" y="2267712"/>
            <a:ext cx="822960" cy="77724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2" name="TextBox 11"/>
          <p:cNvSpPr txBox="1"/>
          <p:nvPr/>
        </p:nvSpPr>
        <p:spPr>
          <a:xfrm>
            <a:off x="5486400" y="2267712"/>
            <a:ext cx="2377440"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היסטוריית שיחה</a:t>
            </a:r>
          </a:p>
        </p:txBody>
      </p:sp>
      <p:sp>
        <p:nvSpPr>
          <p:cNvPr id="13" name="TextBox 12"/>
          <p:cNvSpPr txBox="1"/>
          <p:nvPr/>
        </p:nvSpPr>
        <p:spPr>
          <a:xfrm>
            <a:off x="1737360" y="2267712"/>
            <a:ext cx="3749039"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הודעות אחרונות. אפשר לסכם ישנות.</a:t>
            </a:r>
          </a:p>
        </p:txBody>
      </p:sp>
      <p:sp>
        <p:nvSpPr>
          <p:cNvPr id="14" name="Rounded Rectangle 13"/>
          <p:cNvSpPr/>
          <p:nvPr/>
        </p:nvSpPr>
        <p:spPr>
          <a:xfrm>
            <a:off x="457200" y="2450592"/>
            <a:ext cx="1188720" cy="411480"/>
          </a:xfrm>
          <a:prstGeom prst="roundRect">
            <a:avLst>
              <a:gd name="adj" fmla="val 40000"/>
            </a:avLst>
          </a:prstGeom>
          <a:solidFill>
            <a:srgbClr val="FFFFFF"/>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212121"/>
                </a:solidFill>
              </a:rPr>
              <a:t>קצר טווח</a:t>
            </a:r>
          </a:p>
        </p:txBody>
      </p:sp>
      <p:sp>
        <p:nvSpPr>
          <p:cNvPr id="15" name="Rounded Rectangle 14"/>
          <p:cNvSpPr/>
          <p:nvPr/>
        </p:nvSpPr>
        <p:spPr>
          <a:xfrm>
            <a:off x="365760" y="3163824"/>
            <a:ext cx="8412480" cy="777240"/>
          </a:xfrm>
          <a:prstGeom prst="roundRect">
            <a:avLst>
              <a:gd name="adj" fmla="val 8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6" name="TextBox 15"/>
          <p:cNvSpPr txBox="1"/>
          <p:nvPr/>
        </p:nvSpPr>
        <p:spPr>
          <a:xfrm>
            <a:off x="7863840" y="3163824"/>
            <a:ext cx="822960" cy="77724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7" name="TextBox 16"/>
          <p:cNvSpPr txBox="1"/>
          <p:nvPr/>
        </p:nvSpPr>
        <p:spPr>
          <a:xfrm>
            <a:off x="5486400" y="3163824"/>
            <a:ext cx="2377440"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מאגר וקטורי</a:t>
            </a:r>
          </a:p>
        </p:txBody>
      </p:sp>
      <p:sp>
        <p:nvSpPr>
          <p:cNvPr id="18" name="TextBox 17"/>
          <p:cNvSpPr txBox="1"/>
          <p:nvPr/>
        </p:nvSpPr>
        <p:spPr>
          <a:xfrm>
            <a:off x="1737360" y="3163824"/>
            <a:ext cx="3749039"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חיפוש לפי משמעות בין מסמכים (embeddings).</a:t>
            </a:r>
          </a:p>
        </p:txBody>
      </p:sp>
      <p:sp>
        <p:nvSpPr>
          <p:cNvPr id="19" name="Rounded Rectangle 18"/>
          <p:cNvSpPr/>
          <p:nvPr/>
        </p:nvSpPr>
        <p:spPr>
          <a:xfrm>
            <a:off x="457200" y="3346704"/>
            <a:ext cx="1188720" cy="411480"/>
          </a:xfrm>
          <a:prstGeom prst="roundRect">
            <a:avLst>
              <a:gd name="adj" fmla="val 40000"/>
            </a:avLst>
          </a:prstGeom>
          <a:solidFill>
            <a:srgbClr val="FFFFFF"/>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212121"/>
                </a:solidFill>
              </a:rPr>
              <a:t>ארוך טווח</a:t>
            </a:r>
          </a:p>
        </p:txBody>
      </p:sp>
      <p:sp>
        <p:nvSpPr>
          <p:cNvPr id="20" name="Rounded Rectangle 19"/>
          <p:cNvSpPr/>
          <p:nvPr/>
        </p:nvSpPr>
        <p:spPr>
          <a:xfrm>
            <a:off x="365760" y="4059935"/>
            <a:ext cx="8412480" cy="777240"/>
          </a:xfrm>
          <a:prstGeom prst="roundRect">
            <a:avLst>
              <a:gd name="adj" fmla="val 8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21" name="TextBox 20"/>
          <p:cNvSpPr txBox="1"/>
          <p:nvPr/>
        </p:nvSpPr>
        <p:spPr>
          <a:xfrm>
            <a:off x="7863840" y="4059935"/>
            <a:ext cx="822960" cy="77724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22" name="TextBox 21"/>
          <p:cNvSpPr txBox="1"/>
          <p:nvPr/>
        </p:nvSpPr>
        <p:spPr>
          <a:xfrm>
            <a:off x="5486400" y="4059935"/>
            <a:ext cx="2377440"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מסד נתונים</a:t>
            </a:r>
          </a:p>
        </p:txBody>
      </p:sp>
      <p:sp>
        <p:nvSpPr>
          <p:cNvPr id="23" name="TextBox 22"/>
          <p:cNvSpPr txBox="1"/>
          <p:nvPr/>
        </p:nvSpPr>
        <p:spPr>
          <a:xfrm>
            <a:off x="1737360" y="4059935"/>
            <a:ext cx="3749039"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עובדות מדויקות: SQL, מפתח־ערך.</a:t>
            </a:r>
          </a:p>
        </p:txBody>
      </p:sp>
      <p:sp>
        <p:nvSpPr>
          <p:cNvPr id="24" name="Rounded Rectangle 23"/>
          <p:cNvSpPr/>
          <p:nvPr/>
        </p:nvSpPr>
        <p:spPr>
          <a:xfrm>
            <a:off x="457200" y="4242816"/>
            <a:ext cx="1188720" cy="411480"/>
          </a:xfrm>
          <a:prstGeom prst="roundRect">
            <a:avLst>
              <a:gd name="adj" fmla="val 40000"/>
            </a:avLst>
          </a:prstGeom>
          <a:solidFill>
            <a:srgbClr val="FFFFFF"/>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212121"/>
                </a:solidFill>
              </a:rPr>
              <a:t>מדויק</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RAG: להזין את הסוכן במידע</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217920" y="1554480"/>
            <a:ext cx="2560320" cy="16459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1  אינדוקס</a:t>
            </a:r>
          </a:p>
          <a:p>
            <a:pPr rtl="1" algn="ctr" marL="0" indent="0">
              <a:lnSpc>
                <a:spcPct val="105000"/>
              </a:lnSpc>
              <a:spcBef>
                <a:spcPts val="0"/>
              </a:spcBef>
              <a:spcAft>
                <a:spcPts val="0"/>
              </a:spcAft>
              <a:buNone/>
            </a:pPr>
            <a:r>
              <a:rPr sz="1400" b="1" i="0" lang="he-IL">
                <a:solidFill>
                  <a:srgbClr val="212121"/>
                </a:solidFill>
              </a:rPr>
              <a:t>מחלקים מסמכים ל־chunks, ממירים ל־embeddings</a:t>
            </a:r>
          </a:p>
        </p:txBody>
      </p:sp>
      <p:cxnSp>
        <p:nvCxnSpPr>
          <p:cNvPr id="6" name="Connector 5"/>
          <p:cNvCxnSpPr/>
          <p:nvPr/>
        </p:nvCxnSpPr>
        <p:spPr>
          <a:xfrm flipH="1">
            <a:off x="5870447" y="2377440"/>
            <a:ext cx="32918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291840" y="1554480"/>
            <a:ext cx="2560320" cy="164592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2  אחזור</a:t>
            </a:r>
          </a:p>
          <a:p>
            <a:pPr rtl="1" algn="ctr" marL="0" indent="0">
              <a:lnSpc>
                <a:spcPct val="105000"/>
              </a:lnSpc>
              <a:spcBef>
                <a:spcPts val="0"/>
              </a:spcBef>
              <a:spcAft>
                <a:spcPts val="0"/>
              </a:spcAft>
              <a:buNone/>
            </a:pPr>
            <a:r>
              <a:rPr sz="1400" b="1" i="0" lang="he-IL">
                <a:solidFill>
                  <a:srgbClr val="212121"/>
                </a:solidFill>
              </a:rPr>
              <a:t>מחפשים את הקטעים הקרובים לשאלה</a:t>
            </a:r>
          </a:p>
        </p:txBody>
      </p:sp>
      <p:cxnSp>
        <p:nvCxnSpPr>
          <p:cNvPr id="8" name="Connector 7"/>
          <p:cNvCxnSpPr/>
          <p:nvPr/>
        </p:nvCxnSpPr>
        <p:spPr>
          <a:xfrm flipH="1">
            <a:off x="2944368" y="2377440"/>
            <a:ext cx="32918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 y="1554480"/>
            <a:ext cx="2560320" cy="164592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3  יצירה</a:t>
            </a:r>
          </a:p>
          <a:p>
            <a:pPr rtl="1" algn="ctr" marL="0" indent="0">
              <a:lnSpc>
                <a:spcPct val="105000"/>
              </a:lnSpc>
              <a:spcBef>
                <a:spcPts val="0"/>
              </a:spcBef>
              <a:spcAft>
                <a:spcPts val="0"/>
              </a:spcAft>
              <a:buNone/>
            </a:pPr>
            <a:r>
              <a:rPr sz="1400" b="1" i="0" lang="he-IL">
                <a:solidFill>
                  <a:srgbClr val="212121"/>
                </a:solidFill>
              </a:rPr>
              <a:t>מוסיפים לבקשה והמודל עונה, עם מקור</a:t>
            </a:r>
          </a:p>
        </p:txBody>
      </p:sp>
      <p:sp>
        <p:nvSpPr>
          <p:cNvPr id="10" name="Rounded Rectangle 9"/>
          <p:cNvSpPr/>
          <p:nvPr/>
        </p:nvSpPr>
        <p:spPr>
          <a:xfrm>
            <a:off x="365760" y="3566160"/>
            <a:ext cx="8412480" cy="12801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דוגמה: "מה זמן האספקה לפי החוזה עם ספק C?"</a:t>
            </a:r>
          </a:p>
          <a:p>
            <a:pPr rtl="1" algn="ctr" marL="0" indent="0">
              <a:lnSpc>
                <a:spcPct val="105000"/>
              </a:lnSpc>
              <a:spcBef>
                <a:spcPts val="0"/>
              </a:spcBef>
              <a:spcAft>
                <a:spcPts val="0"/>
              </a:spcAft>
              <a:buNone/>
            </a:pPr>
            <a:r>
              <a:rPr sz="1500" b="0" i="0" lang="he-IL">
                <a:solidFill>
                  <a:srgbClr val="595959"/>
                </a:solidFill>
              </a:rPr>
              <a:t>המודל לא יודע. האחזור מביא את סעיף 4 מהחוזה, והתשובה נשענת עליו.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מאיפה זה בא</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
        <p:nvSpPr>
          <p:cNvPr id="6" name="Rounded Rectangle 5"/>
          <p:cNvSpPr/>
          <p:nvPr/>
        </p:nvSpPr>
        <p:spPr>
          <a:xfrm>
            <a:off x="6172200" y="1554480"/>
            <a:ext cx="2697480" cy="301752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7" name="TextBox 6"/>
          <p:cNvSpPr txBox="1"/>
          <p:nvPr/>
        </p:nvSpPr>
        <p:spPr>
          <a:xfrm>
            <a:off x="6172200" y="164592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8" name="TextBox 7"/>
          <p:cNvSpPr txBox="1"/>
          <p:nvPr/>
        </p:nvSpPr>
        <p:spPr>
          <a:xfrm>
            <a:off x="6263640" y="246888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ReAct, 2023</a:t>
            </a:r>
          </a:p>
        </p:txBody>
      </p:sp>
      <p:sp>
        <p:nvSpPr>
          <p:cNvPr id="9" name="TextBox 8"/>
          <p:cNvSpPr txBox="1"/>
          <p:nvPr/>
        </p:nvSpPr>
        <p:spPr>
          <a:xfrm>
            <a:off x="6309360" y="3154680"/>
            <a:ext cx="2423160" cy="13715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Yao ועמיתים. מודל שמשלב חשיבה (Reason) ופעולה (Act) לסירוגין, ומשתמש בתוצאות כדי להמשיך.</a:t>
            </a:r>
          </a:p>
        </p:txBody>
      </p:sp>
      <p:sp>
        <p:nvSpPr>
          <p:cNvPr id="10" name="Rounded Rectangle 9"/>
          <p:cNvSpPr/>
          <p:nvPr/>
        </p:nvSpPr>
        <p:spPr>
          <a:xfrm>
            <a:off x="3246120" y="1554480"/>
            <a:ext cx="2697480" cy="301752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1" name="TextBox 10"/>
          <p:cNvSpPr txBox="1"/>
          <p:nvPr/>
        </p:nvSpPr>
        <p:spPr>
          <a:xfrm>
            <a:off x="3246120" y="164592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2" name="TextBox 11"/>
          <p:cNvSpPr txBox="1"/>
          <p:nvPr/>
        </p:nvSpPr>
        <p:spPr>
          <a:xfrm>
            <a:off x="3337560" y="246888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Toolformer, 2023</a:t>
            </a:r>
          </a:p>
        </p:txBody>
      </p:sp>
      <p:sp>
        <p:nvSpPr>
          <p:cNvPr id="13" name="TextBox 12"/>
          <p:cNvSpPr txBox="1"/>
          <p:nvPr/>
        </p:nvSpPr>
        <p:spPr>
          <a:xfrm>
            <a:off x="3383279" y="3154680"/>
            <a:ext cx="2423160" cy="13715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Schick ועמיתים. מודל שלומד בעצמו מתי לקרוא לכלי חיצוני.</a:t>
            </a:r>
          </a:p>
        </p:txBody>
      </p:sp>
      <p:sp>
        <p:nvSpPr>
          <p:cNvPr id="14" name="Rounded Rectangle 13"/>
          <p:cNvSpPr/>
          <p:nvPr/>
        </p:nvSpPr>
        <p:spPr>
          <a:xfrm>
            <a:off x="320039" y="1554480"/>
            <a:ext cx="2697480" cy="301752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5" name="TextBox 14"/>
          <p:cNvSpPr txBox="1"/>
          <p:nvPr/>
        </p:nvSpPr>
        <p:spPr>
          <a:xfrm>
            <a:off x="320039" y="164592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6" name="TextBox 15"/>
          <p:cNvSpPr txBox="1"/>
          <p:nvPr/>
        </p:nvSpPr>
        <p:spPr>
          <a:xfrm>
            <a:off x="411479" y="246888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היום</a:t>
            </a:r>
          </a:p>
        </p:txBody>
      </p:sp>
      <p:sp>
        <p:nvSpPr>
          <p:cNvPr id="17" name="TextBox 16"/>
          <p:cNvSpPr txBox="1"/>
          <p:nvPr/>
        </p:nvSpPr>
        <p:spPr>
          <a:xfrm>
            <a:off x="457199" y="3154680"/>
            <a:ext cx="2423160" cy="13715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רעיונות כאלה עומדים בבסיס רבים מסוכני התכנות.</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כמה סוכנים ומסגרות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
        <p:nvSpPr>
          <p:cNvPr id="6" name="Rounded Rectangle 5"/>
          <p:cNvSpPr/>
          <p:nvPr/>
        </p:nvSpPr>
        <p:spPr>
          <a:xfrm>
            <a:off x="3017520" y="1371600"/>
            <a:ext cx="3108960" cy="8229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 סוכן מתכנן</a:t>
            </a:r>
          </a:p>
        </p:txBody>
      </p:sp>
      <p:sp>
        <p:nvSpPr>
          <p:cNvPr id="7" name="Rounded Rectangle 6"/>
          <p:cNvSpPr/>
          <p:nvPr/>
        </p:nvSpPr>
        <p:spPr>
          <a:xfrm>
            <a:off x="6217920" y="2743200"/>
            <a:ext cx="2560320" cy="82296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סוכן איסוף נתונים</a:t>
            </a:r>
          </a:p>
        </p:txBody>
      </p:sp>
      <p:cxnSp>
        <p:nvCxnSpPr>
          <p:cNvPr id="8" name="Connector 7"/>
          <p:cNvCxnSpPr/>
          <p:nvPr/>
        </p:nvCxnSpPr>
        <p:spPr>
          <a:xfrm>
            <a:off x="4572000" y="2212848"/>
            <a:ext cx="2926079" cy="512064"/>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291839" y="2743200"/>
            <a:ext cx="2560320" cy="8229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סוכן חישוב</a:t>
            </a:r>
          </a:p>
        </p:txBody>
      </p:sp>
      <p:cxnSp>
        <p:nvCxnSpPr>
          <p:cNvPr id="10" name="Connector 9"/>
          <p:cNvCxnSpPr/>
          <p:nvPr/>
        </p:nvCxnSpPr>
        <p:spPr>
          <a:xfrm>
            <a:off x="4572000" y="2212848"/>
            <a:ext cx="0" cy="512064"/>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759" y="2743200"/>
            <a:ext cx="2560320" cy="82296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סוכן בקרה</a:t>
            </a:r>
          </a:p>
        </p:txBody>
      </p:sp>
      <p:cxnSp>
        <p:nvCxnSpPr>
          <p:cNvPr id="12" name="Connector 11"/>
          <p:cNvCxnSpPr/>
          <p:nvPr/>
        </p:nvCxnSpPr>
        <p:spPr>
          <a:xfrm flipH="1">
            <a:off x="1645919" y="2212848"/>
            <a:ext cx="2926081" cy="512064"/>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65760" y="3931920"/>
            <a:ext cx="8412480" cy="1005840"/>
          </a:xfrm>
          <a:prstGeom prst="roundRect">
            <a:avLst>
              <a:gd name="adj" fmla="val 12000"/>
            </a:avLst>
          </a:prstGeom>
          <a:solidFill>
            <a:srgbClr val="FFFFFF"/>
          </a:solidFill>
          <a:ln w="19050">
            <a:solidFill>
              <a:srgbClr val="78909C"/>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700" b="1" i="0" lang="he-IL">
                <a:solidFill>
                  <a:srgbClr val="212121"/>
                </a:solidFill>
              </a:rPr>
              <a:t>מסגרות מוכרות: LangChain, LangGraph, AutoGen, CrewAI</a:t>
            </a:r>
          </a:p>
          <a:p>
            <a:pPr rtl="1" algn="ctr" marL="0" indent="0">
              <a:lnSpc>
                <a:spcPct val="105000"/>
              </a:lnSpc>
              <a:spcBef>
                <a:spcPts val="0"/>
              </a:spcBef>
              <a:spcAft>
                <a:spcPts val="0"/>
              </a:spcAft>
              <a:buNone/>
            </a:pPr>
            <a:r>
              <a:rPr sz="1500" b="0" i="0" lang="he-IL">
                <a:solidFill>
                  <a:srgbClr val="595959"/>
                </a:solidFill>
              </a:rPr>
              <a:t>הן עוזרות לבנות את הלולאה, הזיכרון והסוכנים. אפשר גם בלעדיהן.</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רמות אוטונומיה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463040"/>
          <a:ext cx="8412480" cy="3429000"/>
        </p:xfrm>
        <a:graphic>
          <a:graphicData uri="http://schemas.openxmlformats.org/drawingml/2006/table">
            <a:tbl>
              <a:tblPr firstRow="0" bandRow="0">
                <a:tableStyleId>{2D5ABB26-0587-4C30-8999-92F81FD0307C}</a:tableStyleId>
              </a:tblPr>
              <a:tblGrid>
                <a:gridCol w="1097280"/>
                <a:gridCol w="2560320"/>
                <a:gridCol w="2194560"/>
                <a:gridCol w="2560320"/>
              </a:tblGrid>
              <a:tr h="685800">
                <a:tc>
                  <a:txBody>
                    <a:bodyPr wrap="square"/>
                    <a:lstStyle/>
                    <a:p>
                      <a:pPr rtl="1" algn="ctr" marL="0" indent="0">
                        <a:lnSpc>
                          <a:spcPct val="100000"/>
                        </a:lnSpc>
                        <a:spcBef>
                          <a:spcPts val="0"/>
                        </a:spcBef>
                        <a:spcAft>
                          <a:spcPts val="0"/>
                        </a:spcAft>
                        <a:buNone/>
                      </a:pPr>
                      <a:r>
                        <a:rPr sz="1600" b="1" i="0" lang="he-IL">
                          <a:solidFill>
                            <a:srgbClr val="212121"/>
                          </a:solidFill>
                        </a:rPr>
                        <a:t>סיכון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600" b="1" i="0" lang="he-IL">
                          <a:solidFill>
                            <a:srgbClr val="212121"/>
                          </a:solidFill>
                        </a:rPr>
                        <a:t>מתאים 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600" b="1" i="0" lang="he-IL">
                          <a:solidFill>
                            <a:srgbClr val="212121"/>
                          </a:solidFill>
                        </a:rPr>
                        <a:t>מי מאשר</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600" b="1" i="0" lang="he-IL">
                          <a:solidFill>
                            <a:srgbClr val="212121"/>
                          </a:solidFill>
                        </a:rPr>
                        <a:t>רמה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685800">
                <a:tc>
                  <a:txBody>
                    <a:bodyPr wrap="square"/>
                    <a:lstStyle/>
                    <a:p>
                      <a:pPr rtl="1" algn="r" marL="0" indent="0">
                        <a:lnSpc>
                          <a:spcPct val="100000"/>
                        </a:lnSpc>
                        <a:spcBef>
                          <a:spcPts val="0"/>
                        </a:spcBef>
                        <a:spcAft>
                          <a:spcPts val="0"/>
                        </a:spcAft>
                        <a:buNone/>
                      </a:pPr>
                      <a:r>
                        <a:rPr sz="1600" b="0" i="0" lang="he-IL">
                          <a:solidFill>
                            <a:srgbClr val="212121"/>
                          </a:solidFill>
                        </a:rPr>
                        <a:t>נמוך</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wrap="square"/>
                    <a:lstStyle/>
                    <a:p>
                      <a:pPr rtl="1" algn="r" marL="0" indent="0">
                        <a:lnSpc>
                          <a:spcPct val="100000"/>
                        </a:lnSpc>
                        <a:spcBef>
                          <a:spcPts val="0"/>
                        </a:spcBef>
                        <a:spcAft>
                          <a:spcPts val="0"/>
                        </a:spcAft>
                        <a:buNone/>
                      </a:pPr>
                      <a:r>
                        <a:rPr sz="1600" b="0" i="0" lang="he-IL">
                          <a:solidFill>
                            <a:srgbClr val="212121"/>
                          </a:solidFill>
                        </a:rPr>
                        <a:t>למידה, קוד רגיש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אתם מעתיקים ומריצים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1  רק מציע</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85800">
                <a:tc>
                  <a:txBody>
                    <a:bodyPr wrap="square"/>
                    <a:lstStyle/>
                    <a:p>
                      <a:pPr rtl="1" algn="r" marL="0" indent="0">
                        <a:lnSpc>
                          <a:spcPct val="100000"/>
                        </a:lnSpc>
                        <a:spcBef>
                          <a:spcPts val="0"/>
                        </a:spcBef>
                        <a:spcAft>
                          <a:spcPts val="0"/>
                        </a:spcAft>
                        <a:buNone/>
                      </a:pPr>
                      <a:r>
                        <a:rPr sz="1600" b="0" i="0" lang="he-IL">
                          <a:solidFill>
                            <a:srgbClr val="212121"/>
                          </a:solidFill>
                        </a:rPr>
                        <a:t>נמוך־בינוני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wrap="square"/>
                    <a:lstStyle/>
                    <a:p>
                      <a:pPr rtl="1" algn="r" marL="0" indent="0">
                        <a:lnSpc>
                          <a:spcPct val="100000"/>
                        </a:lnSpc>
                        <a:spcBef>
                          <a:spcPts val="0"/>
                        </a:spcBef>
                        <a:spcAft>
                          <a:spcPts val="0"/>
                        </a:spcAft>
                        <a:buNone/>
                      </a:pPr>
                      <a:r>
                        <a:rPr sz="1600" b="0" i="0" lang="he-IL">
                          <a:solidFill>
                            <a:srgbClr val="212121"/>
                          </a:solidFill>
                        </a:rPr>
                        <a:t>ברירת המחדל להתחלה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כל קובץ וכל פקודה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2  שואל לפני כל פעולה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85800">
                <a:tc>
                  <a:txBody>
                    <a:bodyPr wrap="square"/>
                    <a:lstStyle/>
                    <a:p>
                      <a:pPr rtl="1" algn="r" marL="0" indent="0">
                        <a:lnSpc>
                          <a:spcPct val="100000"/>
                        </a:lnSpc>
                        <a:spcBef>
                          <a:spcPts val="0"/>
                        </a:spcBef>
                        <a:spcAft>
                          <a:spcPts val="0"/>
                        </a:spcAft>
                        <a:buNone/>
                      </a:pPr>
                      <a:r>
                        <a:rPr sz="1600" b="0" i="0" lang="he-IL">
                          <a:solidFill>
                            <a:srgbClr val="212121"/>
                          </a:solidFill>
                        </a:rPr>
                        <a:t>בינוני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0D9"/>
                    </a:solidFill>
                  </a:tcPr>
                </a:tc>
                <a:tc>
                  <a:txBody>
                    <a:bodyPr wrap="square"/>
                    <a:lstStyle/>
                    <a:p>
                      <a:pPr rtl="1" algn="r" marL="0" indent="0">
                        <a:lnSpc>
                          <a:spcPct val="100000"/>
                        </a:lnSpc>
                        <a:spcBef>
                          <a:spcPts val="0"/>
                        </a:spcBef>
                        <a:spcAft>
                          <a:spcPts val="0"/>
                        </a:spcAft>
                        <a:buNone/>
                      </a:pPr>
                      <a:r>
                        <a:rPr sz="1600" b="0" i="0" lang="he-IL">
                          <a:solidFill>
                            <a:srgbClr val="212121"/>
                          </a:solidFill>
                        </a:rPr>
                        <a:t>פרויקט עם גיבוי ובדיקות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רק פקודות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3  עריכות אוטומטיות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685800">
                <a:tc>
                  <a:txBody>
                    <a:bodyPr wrap="square"/>
                    <a:lstStyle/>
                    <a:p>
                      <a:pPr rtl="1" algn="r" marL="0" indent="0">
                        <a:lnSpc>
                          <a:spcPct val="100000"/>
                        </a:lnSpc>
                        <a:spcBef>
                          <a:spcPts val="0"/>
                        </a:spcBef>
                        <a:spcAft>
                          <a:spcPts val="0"/>
                        </a:spcAft>
                        <a:buNone/>
                      </a:pPr>
                      <a:r>
                        <a:rPr sz="1600" b="0" i="0" lang="he-IL">
                          <a:solidFill>
                            <a:srgbClr val="212121"/>
                          </a:solidFill>
                        </a:rPr>
                        <a:t>גבוה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c>
                  <a:txBody>
                    <a:bodyPr wrap="square"/>
                    <a:lstStyle/>
                    <a:p>
                      <a:pPr rtl="1" algn="r" marL="0" indent="0">
                        <a:lnSpc>
                          <a:spcPct val="100000"/>
                        </a:lnSpc>
                        <a:spcBef>
                          <a:spcPts val="0"/>
                        </a:spcBef>
                        <a:spcAft>
                          <a:spcPts val="0"/>
                        </a:spcAft>
                        <a:buNone/>
                      </a:pPr>
                      <a:r>
                        <a:rPr sz="1600" b="0" i="0" lang="he-IL">
                          <a:solidFill>
                            <a:srgbClr val="212121"/>
                          </a:solidFill>
                        </a:rPr>
                        <a:t>ניסוי בסביבה מבודדת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אף אחד</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4  אוטונומיה מלאה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איך בוחרים רמה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54864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שתי שאלות על כל משימה:</a:t>
            </a:r>
          </a:p>
        </p:txBody>
      </p:sp>
      <p:sp>
        <p:nvSpPr>
          <p:cNvPr id="6" name="Rounded Rectangle 5"/>
          <p:cNvSpPr/>
          <p:nvPr/>
        </p:nvSpPr>
        <p:spPr>
          <a:xfrm>
            <a:off x="4572000" y="2011680"/>
            <a:ext cx="4206240" cy="128016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0" i="0" lang="he-IL">
                <a:solidFill>
                  <a:srgbClr val="595959"/>
                </a:solidFill>
              </a:rPr>
              <a:t>אפשר לבטל, לא רגיש</a:t>
            </a:r>
          </a:p>
          <a:p>
            <a:pPr rtl="1" algn="ctr" marL="0" indent="0">
              <a:lnSpc>
                <a:spcPct val="105000"/>
              </a:lnSpc>
              <a:spcBef>
                <a:spcPts val="0"/>
              </a:spcBef>
              <a:spcAft>
                <a:spcPts val="0"/>
              </a:spcAft>
              <a:buNone/>
            </a:pPr>
            <a:r>
              <a:rPr sz="2400" b="1" i="0" lang="he-IL">
                <a:solidFill>
                  <a:srgbClr val="212121"/>
                </a:solidFill>
              </a:rPr>
              <a:t>רמה 3</a:t>
            </a:r>
          </a:p>
        </p:txBody>
      </p:sp>
      <p:sp>
        <p:nvSpPr>
          <p:cNvPr id="7" name="Rounded Rectangle 6"/>
          <p:cNvSpPr/>
          <p:nvPr/>
        </p:nvSpPr>
        <p:spPr>
          <a:xfrm>
            <a:off x="365760" y="2011680"/>
            <a:ext cx="4206240" cy="128016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0" i="0" lang="he-IL">
                <a:solidFill>
                  <a:srgbClr val="595959"/>
                </a:solidFill>
              </a:rPr>
              <a:t>אפשר לבטל, רגיש</a:t>
            </a:r>
          </a:p>
          <a:p>
            <a:pPr rtl="1" algn="ctr" marL="0" indent="0">
              <a:lnSpc>
                <a:spcPct val="105000"/>
              </a:lnSpc>
              <a:spcBef>
                <a:spcPts val="0"/>
              </a:spcBef>
              <a:spcAft>
                <a:spcPts val="0"/>
              </a:spcAft>
              <a:buNone/>
            </a:pPr>
            <a:r>
              <a:rPr sz="2400" b="1" i="0" lang="he-IL">
                <a:solidFill>
                  <a:srgbClr val="212121"/>
                </a:solidFill>
              </a:rPr>
              <a:t>רמה 2</a:t>
            </a:r>
          </a:p>
        </p:txBody>
      </p:sp>
      <p:sp>
        <p:nvSpPr>
          <p:cNvPr id="8" name="Rounded Rectangle 7"/>
          <p:cNvSpPr/>
          <p:nvPr/>
        </p:nvSpPr>
        <p:spPr>
          <a:xfrm>
            <a:off x="4572000" y="3474720"/>
            <a:ext cx="4206240" cy="128016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0" i="0" lang="he-IL">
                <a:solidFill>
                  <a:srgbClr val="595959"/>
                </a:solidFill>
              </a:rPr>
              <a:t>אי אפשר לבטל, לא רגיש</a:t>
            </a:r>
          </a:p>
          <a:p>
            <a:pPr rtl="1" algn="ctr" marL="0" indent="0">
              <a:lnSpc>
                <a:spcPct val="105000"/>
              </a:lnSpc>
              <a:spcBef>
                <a:spcPts val="0"/>
              </a:spcBef>
              <a:spcAft>
                <a:spcPts val="0"/>
              </a:spcAft>
              <a:buNone/>
            </a:pPr>
            <a:r>
              <a:rPr sz="2400" b="1" i="0" lang="he-IL">
                <a:solidFill>
                  <a:srgbClr val="212121"/>
                </a:solidFill>
              </a:rPr>
              <a:t>רמה 2</a:t>
            </a:r>
          </a:p>
        </p:txBody>
      </p:sp>
      <p:sp>
        <p:nvSpPr>
          <p:cNvPr id="9" name="Rounded Rectangle 8"/>
          <p:cNvSpPr/>
          <p:nvPr/>
        </p:nvSpPr>
        <p:spPr>
          <a:xfrm>
            <a:off x="365760" y="3474720"/>
            <a:ext cx="4206240" cy="128016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0" i="0" lang="he-IL">
                <a:solidFill>
                  <a:srgbClr val="595959"/>
                </a:solidFill>
              </a:rPr>
              <a:t>אי אפשר לבטל, רגיש</a:t>
            </a:r>
          </a:p>
          <a:p>
            <a:pPr rtl="1" algn="ctr" marL="0" indent="0">
              <a:lnSpc>
                <a:spcPct val="105000"/>
              </a:lnSpc>
              <a:spcBef>
                <a:spcPts val="0"/>
              </a:spcBef>
              <a:spcAft>
                <a:spcPts val="0"/>
              </a:spcAft>
              <a:buNone/>
            </a:pPr>
            <a:r>
              <a:rPr sz="2400" b="1" i="0" lang="he-IL">
                <a:solidFill>
                  <a:srgbClr val="212121"/>
                </a:solidFill>
              </a:rPr>
              <a:t>רמה 1 או בלי סוכן</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טעות נפוצה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82296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EA4335"/>
                </a:solidFill>
              </a:rPr>
              <a:t>"הסוכן אמר שסיים, אז זה עובד."</a:t>
            </a:r>
          </a:p>
        </p:txBody>
      </p:sp>
      <p:sp>
        <p:nvSpPr>
          <p:cNvPr id="6" name="Rounded Rectangle 5"/>
          <p:cNvSpPr/>
          <p:nvPr/>
        </p:nvSpPr>
        <p:spPr>
          <a:xfrm>
            <a:off x="4754880" y="2286000"/>
            <a:ext cx="4023360" cy="9144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 "✅ סיימתי! הכל עובד"</a:t>
            </a:r>
          </a:p>
        </p:txBody>
      </p:sp>
      <p:sp>
        <p:nvSpPr>
          <p:cNvPr id="7" name="Rounded Rectangle 6"/>
          <p:cNvSpPr/>
          <p:nvPr/>
        </p:nvSpPr>
        <p:spPr>
          <a:xfrm>
            <a:off x="365760" y="2286000"/>
            <a:ext cx="4206240" cy="201168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8" name="Rectangle 7"/>
          <p:cNvSpPr/>
          <p:nvPr/>
        </p:nvSpPr>
        <p:spPr>
          <a:xfrm>
            <a:off x="365760" y="2286000"/>
            <a:ext cx="420624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מסוף (Terminal)</a:t>
            </a:r>
          </a:p>
        </p:txBody>
      </p:sp>
      <p:sp>
        <p:nvSpPr>
          <p:cNvPr id="9" name="TextBox 8"/>
          <p:cNvSpPr txBox="1"/>
          <p:nvPr/>
        </p:nvSpPr>
        <p:spPr>
          <a:xfrm>
            <a:off x="457200" y="2670048"/>
            <a:ext cx="4023359" cy="1554480"/>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400" b="0" i="0" lang="he-IL">
                <a:solidFill>
                  <a:srgbClr val="7CFC8A"/>
                </a:solidFill>
                <a:latin typeface="Courier New"/>
                <a:ea typeface="Courier New"/>
                <a:cs typeface="Courier New"/>
              </a:rPr>
              <a:t>$ python analysis.py</a:t>
            </a:r>
          </a:p>
          <a:p>
            <a:pPr rtl="0" algn="l" marL="0" indent="0">
              <a:lnSpc>
                <a:spcPct val="114999"/>
              </a:lnSpc>
              <a:spcBef>
                <a:spcPts val="0"/>
              </a:spcBef>
              <a:spcAft>
                <a:spcPts val="0"/>
              </a:spcAft>
              <a:buNone/>
            </a:pPr>
            <a:r>
              <a:rPr sz="1400" b="0" i="0" lang="he-IL">
                <a:solidFill>
                  <a:srgbClr val="FF7B72"/>
                </a:solidFill>
                <a:latin typeface="Courier New"/>
                <a:ea typeface="Courier New"/>
                <a:cs typeface="Courier New"/>
              </a:rPr>
              <a:t>! KeyError: 'month'</a:t>
            </a:r>
          </a:p>
          <a:p>
            <a:pPr rtl="0" algn="l" marL="0" indent="0">
              <a:lnSpc>
                <a:spcPct val="114999"/>
              </a:lnSpc>
              <a:spcBef>
                <a:spcPts val="0"/>
              </a:spcBef>
              <a:spcAft>
                <a:spcPts val="0"/>
              </a:spcAft>
              <a:buNone/>
            </a:pPr>
            <a:r>
              <a:rPr sz="1400" b="0" i="0" lang="he-IL">
                <a:solidFill>
                  <a:srgbClr val="FF7B72"/>
                </a:solidFill>
                <a:latin typeface="Courier New"/>
                <a:ea typeface="Courier New"/>
                <a:cs typeface="Courier New"/>
              </a:rPr>
              <a:t>! 1 failed</a:t>
            </a:r>
          </a:p>
        </p:txBody>
      </p:sp>
      <p:sp>
        <p:nvSpPr>
          <p:cNvPr id="10" name="TextBox 9"/>
          <p:cNvSpPr txBox="1"/>
          <p:nvPr/>
        </p:nvSpPr>
        <p:spPr>
          <a:xfrm>
            <a:off x="365760" y="4434840"/>
            <a:ext cx="841248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34A853"/>
                </a:solidFill>
              </a:rPr>
              <a:t>מה שהסוכן אומר אינו הוכחה. מריצים ובודקים בעצמכם (מפגשים 1 ו־5).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למה צריך רמות אוטונומיה שונות, ולא רמה אחת קבועה?</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למה צריך רמות אוטונומיה שונות, ולא רמה אחת קבועה?</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סיכון המשימות שונה: מחיקה לא הפיכה מסוכנת יותר מעריכת טקסט.</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ככל שהסוכן עושה יותר לבד, צריך יותר גיבוי ובדיקה.</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למה סוכן שצריך לחשב EOQ עדיף שיכתוב קוד ויריץ אותו, ולא יחשב בטקסט?</a:t>
            </a:r>
          </a:p>
        </p:txBody>
      </p:sp>
      <p:sp>
        <p:nvSpPr>
          <p:cNvPr id="6"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למה סוכן שצריך לחשב EOQ עדיף שיכתוב קוד ויריץ אותו, ולא יחשב בטקסט?</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קוד מורץ במדויק ואפשר לבדוק אותו. חשבון בטקסט עלול להכיל טעויות שאי אפשר לאמת.</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זה רעיון ה־PoT: המודל כותב את הדרך, והמחשב מחשב.</a:t>
            </a:r>
          </a:p>
        </p:txBody>
      </p:sp>
      <p:sp>
        <p:nvSpPr>
          <p:cNvPr id="7"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:ReAct: מה המחקר מראה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
        <p:nvSpPr>
          <p:cNvPr id="6" name="Rounded Rectangle 5"/>
          <p:cNvSpPr/>
          <p:nvPr/>
        </p:nvSpPr>
        <p:spPr>
          <a:xfrm>
            <a:off x="6172200" y="1554480"/>
            <a:ext cx="2697480" cy="301752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7" name="TextBox 6"/>
          <p:cNvSpPr txBox="1"/>
          <p:nvPr/>
        </p:nvSpPr>
        <p:spPr>
          <a:xfrm>
            <a:off x="6172200" y="164592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8" name="TextBox 7"/>
          <p:cNvSpPr txBox="1"/>
          <p:nvPr/>
        </p:nvSpPr>
        <p:spPr>
          <a:xfrm>
            <a:off x="6263640" y="246888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הבעיה</a:t>
            </a:r>
          </a:p>
        </p:txBody>
      </p:sp>
      <p:sp>
        <p:nvSpPr>
          <p:cNvPr id="9" name="TextBox 8"/>
          <p:cNvSpPr txBox="1"/>
          <p:nvPr/>
        </p:nvSpPr>
        <p:spPr>
          <a:xfrm>
            <a:off x="6309360" y="3154680"/>
            <a:ext cx="2423160" cy="13715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חשיבה בלי פעולה ממציאה עובדות. פעולה בלי חשיבה לא מתכננת.</a:t>
            </a:r>
          </a:p>
        </p:txBody>
      </p:sp>
      <p:sp>
        <p:nvSpPr>
          <p:cNvPr id="10" name="Rounded Rectangle 9"/>
          <p:cNvSpPr/>
          <p:nvPr/>
        </p:nvSpPr>
        <p:spPr>
          <a:xfrm>
            <a:off x="3246120" y="1554480"/>
            <a:ext cx="2697480" cy="301752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1" name="TextBox 10"/>
          <p:cNvSpPr txBox="1"/>
          <p:nvPr/>
        </p:nvSpPr>
        <p:spPr>
          <a:xfrm>
            <a:off x="3246120" y="164592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2" name="TextBox 11"/>
          <p:cNvSpPr txBox="1"/>
          <p:nvPr/>
        </p:nvSpPr>
        <p:spPr>
          <a:xfrm>
            <a:off x="3337560" y="246888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הרעיון</a:t>
            </a:r>
          </a:p>
        </p:txBody>
      </p:sp>
      <p:sp>
        <p:nvSpPr>
          <p:cNvPr id="13" name="TextBox 12"/>
          <p:cNvSpPr txBox="1"/>
          <p:nvPr/>
        </p:nvSpPr>
        <p:spPr>
          <a:xfrm>
            <a:off x="3383279" y="3154680"/>
            <a:ext cx="2423160" cy="13715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חשיבה, פעולה והתבוננות לסירוגין: הכלי מביא עובדות, והחשיבה מתקנת תוכנית.</a:t>
            </a:r>
          </a:p>
        </p:txBody>
      </p:sp>
      <p:sp>
        <p:nvSpPr>
          <p:cNvPr id="14" name="Rounded Rectangle 13"/>
          <p:cNvSpPr/>
          <p:nvPr/>
        </p:nvSpPr>
        <p:spPr>
          <a:xfrm>
            <a:off x="320039" y="1554480"/>
            <a:ext cx="2697480" cy="301752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5" name="TextBox 14"/>
          <p:cNvSpPr txBox="1"/>
          <p:nvPr/>
        </p:nvSpPr>
        <p:spPr>
          <a:xfrm>
            <a:off x="320039" y="164592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6" name="TextBox 15"/>
          <p:cNvSpPr txBox="1"/>
          <p:nvPr/>
        </p:nvSpPr>
        <p:spPr>
          <a:xfrm>
            <a:off x="411479" y="246888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התוצאה</a:t>
            </a:r>
          </a:p>
        </p:txBody>
      </p:sp>
      <p:sp>
        <p:nvSpPr>
          <p:cNvPr id="17" name="TextBox 16"/>
          <p:cNvSpPr txBox="1"/>
          <p:nvPr/>
        </p:nvSpPr>
        <p:spPr>
          <a:xfrm>
            <a:off x="457199" y="3154680"/>
            <a:ext cx="2423160" cy="13715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הצלחה גבוהה ב־34 וב־10 נקודות אחוז (ALFWorld, WebShop) מול חיקוי ולמידת חיזוק.</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:Toolformer: מודל שלומד כלים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217920" y="1554480"/>
            <a:ext cx="2560320" cy="164592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1  דגימה</a:t>
            </a:r>
          </a:p>
          <a:p>
            <a:pPr rtl="1" algn="ctr" marL="0" indent="0">
              <a:lnSpc>
                <a:spcPct val="105000"/>
              </a:lnSpc>
              <a:spcBef>
                <a:spcPts val="0"/>
              </a:spcBef>
              <a:spcAft>
                <a:spcPts val="0"/>
              </a:spcAft>
              <a:buNone/>
            </a:pPr>
            <a:r>
              <a:rPr sz="1400" b="1" i="0" lang="he-IL">
                <a:solidFill>
                  <a:srgbClr val="212121"/>
                </a:solidFill>
              </a:rPr>
              <a:t>המודל מציע מקומות בטקסט שבהם קריאה לכלי עשויה לעזור</a:t>
            </a:r>
          </a:p>
        </p:txBody>
      </p:sp>
      <p:cxnSp>
        <p:nvCxnSpPr>
          <p:cNvPr id="6" name="Connector 5"/>
          <p:cNvCxnSpPr/>
          <p:nvPr/>
        </p:nvCxnSpPr>
        <p:spPr>
          <a:xfrm flipH="1">
            <a:off x="5870447" y="2377440"/>
            <a:ext cx="32918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291840" y="1554480"/>
            <a:ext cx="2560320" cy="164592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2  ביצוע</a:t>
            </a:r>
          </a:p>
          <a:p>
            <a:pPr rtl="1" algn="ctr" marL="0" indent="0">
              <a:lnSpc>
                <a:spcPct val="105000"/>
              </a:lnSpc>
              <a:spcBef>
                <a:spcPts val="0"/>
              </a:spcBef>
              <a:spcAft>
                <a:spcPts val="0"/>
              </a:spcAft>
              <a:buNone/>
            </a:pPr>
            <a:r>
              <a:rPr sz="1400" b="1" i="0" lang="he-IL">
                <a:solidFill>
                  <a:srgbClr val="212121"/>
                </a:solidFill>
              </a:rPr>
              <a:t>מריצים את הקריאות ומקבלים תוצאות</a:t>
            </a:r>
          </a:p>
        </p:txBody>
      </p:sp>
      <p:cxnSp>
        <p:nvCxnSpPr>
          <p:cNvPr id="8" name="Connector 7"/>
          <p:cNvCxnSpPr/>
          <p:nvPr/>
        </p:nvCxnSpPr>
        <p:spPr>
          <a:xfrm flipH="1">
            <a:off x="2944368" y="2377440"/>
            <a:ext cx="32918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760" y="1554480"/>
            <a:ext cx="2560320" cy="164592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3  סינון</a:t>
            </a:r>
          </a:p>
          <a:p>
            <a:pPr rtl="1" algn="ctr" marL="0" indent="0">
              <a:lnSpc>
                <a:spcPct val="105000"/>
              </a:lnSpc>
              <a:spcBef>
                <a:spcPts val="0"/>
              </a:spcBef>
              <a:spcAft>
                <a:spcPts val="0"/>
              </a:spcAft>
              <a:buNone/>
            </a:pPr>
            <a:r>
              <a:rPr sz="1400" b="1" i="0" lang="he-IL">
                <a:solidFill>
                  <a:srgbClr val="212121"/>
                </a:solidFill>
              </a:rPr>
              <a:t>שומרים רק קריאות שמשפרות את חיזוי המילים הבאות, ומאמנים מחדש</a:t>
            </a:r>
          </a:p>
        </p:txBody>
      </p:sp>
      <p:sp>
        <p:nvSpPr>
          <p:cNvPr id="10" name="Rounded Rectangle 9"/>
          <p:cNvSpPr/>
          <p:nvPr/>
        </p:nvSpPr>
        <p:spPr>
          <a:xfrm>
            <a:off x="365760" y="3566160"/>
            <a:ext cx="8412480" cy="12801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מחשבון, שאלות ותשובות, חיפוש, מתרגם ולוח שנה</a:t>
            </a:r>
          </a:p>
          <a:p>
            <a:pPr rtl="1" algn="ctr" marL="0" indent="0">
              <a:lnSpc>
                <a:spcPct val="105000"/>
              </a:lnSpc>
              <a:spcBef>
                <a:spcPts val="0"/>
              </a:spcBef>
              <a:spcAft>
                <a:spcPts val="0"/>
              </a:spcAft>
              <a:buNone/>
            </a:pPr>
            <a:r>
              <a:rPr sz="1500" b="0" i="0" lang="he-IL">
                <a:solidFill>
                  <a:srgbClr val="595959"/>
                </a:solidFill>
              </a:rPr>
              <a:t>למידה עצמית, בלי תיוג ידני. כלים בפרומפט (השקף הקודם) הם גישה אחרת.</a:t>
            </a:r>
          </a:p>
        </p:txBody>
      </p:sp>
      <p:sp>
        <p:nvSpPr>
          <p:cNvPr id="11"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:איך מודדים סוכן קוד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858000" y="2011680"/>
            <a:ext cx="1920240" cy="137160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① משימה</a:t>
            </a:r>
          </a:p>
          <a:p>
            <a:pPr rtl="1" algn="ctr" marL="0" indent="0">
              <a:lnSpc>
                <a:spcPct val="105000"/>
              </a:lnSpc>
              <a:spcBef>
                <a:spcPts val="0"/>
              </a:spcBef>
              <a:spcAft>
                <a:spcPts val="0"/>
              </a:spcAft>
              <a:buNone/>
            </a:pPr>
            <a:r>
              <a:rPr sz="1600" b="1" i="0" lang="he-IL">
                <a:solidFill>
                  <a:srgbClr val="212121"/>
                </a:solidFill>
              </a:rPr>
              <a:t>issue אמיתי מ־GitHub</a:t>
            </a:r>
          </a:p>
        </p:txBody>
      </p:sp>
      <p:cxnSp>
        <p:nvCxnSpPr>
          <p:cNvPr id="6" name="Connector 5"/>
          <p:cNvCxnSpPr/>
          <p:nvPr/>
        </p:nvCxnSpPr>
        <p:spPr>
          <a:xfrm flipH="1">
            <a:off x="6601968" y="2697480"/>
            <a:ext cx="23774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663440" y="2011680"/>
            <a:ext cx="1920240" cy="13716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② הסוכן</a:t>
            </a:r>
          </a:p>
          <a:p>
            <a:pPr rtl="1" algn="ctr" marL="0" indent="0">
              <a:lnSpc>
                <a:spcPct val="105000"/>
              </a:lnSpc>
              <a:spcBef>
                <a:spcPts val="0"/>
              </a:spcBef>
              <a:spcAft>
                <a:spcPts val="0"/>
              </a:spcAft>
              <a:buNone/>
            </a:pPr>
            <a:r>
              <a:rPr sz="1600" b="1" i="0" lang="he-IL">
                <a:solidFill>
                  <a:srgbClr val="212121"/>
                </a:solidFill>
              </a:rPr>
              <a:t>כותב תיקון (patch)</a:t>
            </a:r>
          </a:p>
        </p:txBody>
      </p:sp>
      <p:cxnSp>
        <p:nvCxnSpPr>
          <p:cNvPr id="8" name="Connector 7"/>
          <p:cNvCxnSpPr/>
          <p:nvPr/>
        </p:nvCxnSpPr>
        <p:spPr>
          <a:xfrm flipH="1">
            <a:off x="4407407" y="2697480"/>
            <a:ext cx="23774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8879" y="2011680"/>
            <a:ext cx="1920240" cy="137160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③ בדיקות</a:t>
            </a:r>
          </a:p>
          <a:p>
            <a:pPr rtl="1" algn="ctr" marL="0" indent="0">
              <a:lnSpc>
                <a:spcPct val="105000"/>
              </a:lnSpc>
              <a:spcBef>
                <a:spcPts val="0"/>
              </a:spcBef>
              <a:spcAft>
                <a:spcPts val="0"/>
              </a:spcAft>
              <a:buNone/>
            </a:pPr>
            <a:r>
              <a:rPr sz="1600" b="1" i="0" lang="he-IL">
                <a:solidFill>
                  <a:srgbClr val="212121"/>
                </a:solidFill>
              </a:rPr>
              <a:t>בדיקות הפרויקט רצות</a:t>
            </a:r>
          </a:p>
        </p:txBody>
      </p:sp>
      <p:cxnSp>
        <p:nvCxnSpPr>
          <p:cNvPr id="10" name="Connector 9"/>
          <p:cNvCxnSpPr/>
          <p:nvPr/>
        </p:nvCxnSpPr>
        <p:spPr>
          <a:xfrm flipH="1">
            <a:off x="2212848" y="2697480"/>
            <a:ext cx="237743"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4319" y="2011680"/>
            <a:ext cx="1920240" cy="137160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④ הציון</a:t>
            </a:r>
          </a:p>
          <a:p>
            <a:pPr rtl="1" algn="ctr" marL="0" indent="0">
              <a:lnSpc>
                <a:spcPct val="105000"/>
              </a:lnSpc>
              <a:spcBef>
                <a:spcPts val="0"/>
              </a:spcBef>
              <a:spcAft>
                <a:spcPts val="0"/>
              </a:spcAft>
              <a:buNone/>
            </a:pPr>
            <a:r>
              <a:rPr sz="1600" b="1" i="0" lang="he-IL">
                <a:solidFill>
                  <a:srgbClr val="212121"/>
                </a:solidFill>
              </a:rPr>
              <a:t>עברו = נפתר</a:t>
            </a:r>
          </a:p>
        </p:txBody>
      </p:sp>
      <p:sp>
        <p:nvSpPr>
          <p:cNvPr id="12" name="TextBox 11"/>
          <p:cNvSpPr txBox="1"/>
          <p:nvPr/>
        </p:nvSpPr>
        <p:spPr>
          <a:xfrm>
            <a:off x="365760" y="3840480"/>
            <a:ext cx="841248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34A853"/>
                </a:solidFill>
              </a:rPr>
              <a:t>במאגר SWE-bench יש 2,294 משימות מ־12 ספריות Python. ב־2023 המודל הטוב ביותר פתר 1.96%.</a:t>
            </a:r>
          </a:p>
        </p:txBody>
      </p:sp>
      <p:sp>
        <p:nvSpPr>
          <p:cNvPr id="13"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:רמות אוטונומיה במחקר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909" name="Shape 909"/>
          <p:cNvSpPr/>
          <p:nvPr/>
        </p:nvSpPr>
        <p:spPr>
          <a:xfrm>
            <a:off x="4680000" y="1368000"/>
            <a:ext cx="4104000" cy="2232000"/>
          </a:xfrm>
          <a:prstGeom prst="roundRect">
            <a:avLst>
              <a:gd name="adj" fmla="val 4000"/>
            </a:avLst>
          </a:prstGeom>
          <a:solidFill>
            <a:srgbClr val="E3EEFF"/>
          </a:solidFill>
          <a:ln w="28575">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900" b="1" i="0">
                <a:solidFill>
                  <a:srgbClr val="212121"/>
                </a:solidFill>
              </a:rPr>
              <a:t>נהיגה אוטונומית: SAE J3016</a:t>
            </a:r>
          </a:p>
          <a:p>
            <a:pPr rtl="1" algn="ctr" marL="0" indent="0">
              <a:lnSpc>
                <a:spcPct val="105000"/>
              </a:lnSpc>
              <a:spcBef>
                <a:spcPts val="1000"/>
              </a:spcBef>
              <a:spcAft>
                <a:spcPts val="0"/>
              </a:spcAft>
              <a:buNone/>
            </a:pPr>
            <a:r>
              <a:rPr lang="he-IL" sz="1600" b="0" i="0">
                <a:solidFill>
                  <a:srgbClr val="212121"/>
                </a:solidFill>
              </a:rPr>
              <a:t>שש רמות: מ־0 (בלי אוטומציה) עד 5 (מלאה).</a:t>
            </a:r>
          </a:p>
          <a:p>
            <a:pPr rtl="1" algn="ctr" marL="0" indent="0">
              <a:lnSpc>
                <a:spcPct val="105000"/>
              </a:lnSpc>
              <a:spcBef>
                <a:spcPts val="1000"/>
              </a:spcBef>
              <a:spcAft>
                <a:spcPts val="0"/>
              </a:spcAft>
              <a:buNone/>
            </a:pPr>
            <a:r>
              <a:rPr lang="he-IL" sz="1600" b="1" i="0">
                <a:solidFill>
                  <a:srgbClr val="0097A7"/>
                </a:solidFill>
              </a:rPr>
              <a:t>השאלה: מי נוהג ומי אחראי?</a:t>
            </a:r>
          </a:p>
        </p:txBody>
      </p:sp>
      <p:sp>
        <p:nvSpPr>
          <p:cNvPr id="910" name="Shape 910"/>
          <p:cNvSpPr/>
          <p:nvPr/>
        </p:nvSpPr>
        <p:spPr>
          <a:xfrm>
            <a:off x="360000" y="1368000"/>
            <a:ext cx="4140000" cy="2232000"/>
          </a:xfrm>
          <a:prstGeom prst="roundRect">
            <a:avLst>
              <a:gd name="adj" fmla="val 4000"/>
            </a:avLst>
          </a:prstGeom>
          <a:solidFill>
            <a:srgbClr val="FFF0D9"/>
          </a:solidFill>
          <a:ln w="28575">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900" b="1" i="0">
                <a:solidFill>
                  <a:srgbClr val="212121"/>
                </a:solidFill>
              </a:rPr>
              <a:t>סוכני AI (Feng ועמיתים, 2025)</a:t>
            </a:r>
          </a:p>
          <a:p>
            <a:pPr rtl="1" algn="ctr" marL="0" indent="0">
              <a:lnSpc>
                <a:spcPct val="105000"/>
              </a:lnSpc>
              <a:spcBef>
                <a:spcPts val="1000"/>
              </a:spcBef>
              <a:spcAft>
                <a:spcPts val="0"/>
              </a:spcAft>
              <a:buNone/>
            </a:pPr>
            <a:r>
              <a:rPr lang="he-IL" sz="1600" b="0" i="0">
                <a:solidFill>
                  <a:srgbClr val="212121"/>
                </a:solidFill>
              </a:rPr>
              <a:t>חמש רמות לפי תפקיד האדם: מפעיל, שותף, יועץ, מאשר, צופה.</a:t>
            </a:r>
          </a:p>
          <a:p>
            <a:pPr rtl="1" algn="ctr" marL="0" indent="0">
              <a:lnSpc>
                <a:spcPct val="105000"/>
              </a:lnSpc>
              <a:spcBef>
                <a:spcPts val="1000"/>
              </a:spcBef>
              <a:spcAft>
                <a:spcPts val="0"/>
              </a:spcAft>
              <a:buNone/>
            </a:pPr>
            <a:r>
              <a:rPr lang="he-IL" sz="1600" b="1" i="0">
                <a:solidFill>
                  <a:srgbClr val="E65100"/>
                </a:solidFill>
              </a:rPr>
              <a:t>האוטונומיה היא בחירת תכנון.</a:t>
            </a:r>
          </a:p>
        </p:txBody>
      </p:sp>
      <p:sp>
        <p:nvSpPr>
          <p:cNvPr id="911" name="Shape 911"/>
          <p:cNvSpPr/>
          <p:nvPr/>
        </p:nvSpPr>
        <p:spPr>
          <a:xfrm>
            <a:off x="360000" y="3780000"/>
            <a:ext cx="8424000" cy="1116000"/>
          </a:xfrm>
          <a:prstGeom prst="roundRect">
            <a:avLst>
              <a:gd name="adj" fmla="val 8000"/>
            </a:avLst>
          </a:prstGeom>
          <a:solidFill>
            <a:srgbClr val="E1F4E6"/>
          </a:solidFill>
          <a:ln w="28575">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2000" b="1" i="0">
                <a:solidFill>
                  <a:srgbClr val="212121"/>
                </a:solidFill>
              </a:rPr>
              <a:t>רמות הקורס (1 עד 4): מי מאשר לפני שהסוכן פועל?</a:t>
            </a:r>
          </a:p>
          <a:p>
            <a:pPr rtl="1" algn="ctr" marL="0" indent="0">
              <a:lnSpc>
                <a:spcPct val="105000"/>
              </a:lnSpc>
              <a:spcBef>
                <a:spcPts val="600"/>
              </a:spcBef>
              <a:spcAft>
                <a:spcPts val="0"/>
              </a:spcAft>
              <a:buNone/>
            </a:pPr>
            <a:r>
              <a:rPr lang="he-IL" sz="1600" b="0" i="0">
                <a:solidFill>
                  <a:srgbClr val="595959"/>
                </a:solidFill>
              </a:rPr>
              <a:t>השמות שונים בין מקורות. השאלה קבועה: מי אחראי.</a:t>
            </a:r>
          </a:p>
        </p:txBody>
      </p:sp>
      <p:sp>
        <p:nvSpPr>
          <p:cNvPr id="912"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א׳ :זיכרון והקשר: המחקר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
        <p:nvSpPr>
          <p:cNvPr id="6" name="Rounded Rectangle 5"/>
          <p:cNvSpPr/>
          <p:nvPr/>
        </p:nvSpPr>
        <p:spPr>
          <a:xfrm>
            <a:off x="6172200" y="1554480"/>
            <a:ext cx="2697480" cy="301752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7" name="TextBox 6"/>
          <p:cNvSpPr txBox="1"/>
          <p:nvPr/>
        </p:nvSpPr>
        <p:spPr>
          <a:xfrm>
            <a:off x="6172200" y="164592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8" name="TextBox 7"/>
          <p:cNvSpPr txBox="1"/>
          <p:nvPr/>
        </p:nvSpPr>
        <p:spPr>
          <a:xfrm>
            <a:off x="6263640" y="246888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MemGPT, 2023</a:t>
            </a:r>
          </a:p>
        </p:txBody>
      </p:sp>
      <p:sp>
        <p:nvSpPr>
          <p:cNvPr id="9" name="TextBox 8"/>
          <p:cNvSpPr txBox="1"/>
          <p:nvPr/>
        </p:nvSpPr>
        <p:spPr>
          <a:xfrm>
            <a:off x="6309360" y="3154680"/>
            <a:ext cx="2423160" cy="13715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מנהל זיכרון בשכבות, כמו מערכת הפעלה: מעביר מידע בין ההקשר לאחסון.</a:t>
            </a:r>
          </a:p>
        </p:txBody>
      </p:sp>
      <p:sp>
        <p:nvSpPr>
          <p:cNvPr id="10" name="Rounded Rectangle 9"/>
          <p:cNvSpPr/>
          <p:nvPr/>
        </p:nvSpPr>
        <p:spPr>
          <a:xfrm>
            <a:off x="3246120" y="1554480"/>
            <a:ext cx="2697480" cy="301752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1" name="TextBox 10"/>
          <p:cNvSpPr txBox="1"/>
          <p:nvPr/>
        </p:nvSpPr>
        <p:spPr>
          <a:xfrm>
            <a:off x="3246120" y="164592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2" name="TextBox 11"/>
          <p:cNvSpPr txBox="1"/>
          <p:nvPr/>
        </p:nvSpPr>
        <p:spPr>
          <a:xfrm>
            <a:off x="3337560" y="246888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Lost in the Middle</a:t>
            </a:r>
          </a:p>
        </p:txBody>
      </p:sp>
      <p:sp>
        <p:nvSpPr>
          <p:cNvPr id="13" name="TextBox 12"/>
          <p:cNvSpPr txBox="1"/>
          <p:nvPr/>
        </p:nvSpPr>
        <p:spPr>
          <a:xfrm>
            <a:off x="3383279" y="3154680"/>
            <a:ext cx="2423160" cy="13715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מידע באמצע הקשר ארוך מנוצל פחות ממידע בתחילתו או בסופו.</a:t>
            </a:r>
          </a:p>
        </p:txBody>
      </p:sp>
      <p:sp>
        <p:nvSpPr>
          <p:cNvPr id="14" name="Rounded Rectangle 13"/>
          <p:cNvSpPr/>
          <p:nvPr/>
        </p:nvSpPr>
        <p:spPr>
          <a:xfrm>
            <a:off x="320039" y="1554480"/>
            <a:ext cx="2697480" cy="301752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5" name="TextBox 14"/>
          <p:cNvSpPr txBox="1"/>
          <p:nvPr/>
        </p:nvSpPr>
        <p:spPr>
          <a:xfrm>
            <a:off x="320039" y="164592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6" name="TextBox 15"/>
          <p:cNvSpPr txBox="1"/>
          <p:nvPr/>
        </p:nvSpPr>
        <p:spPr>
          <a:xfrm>
            <a:off x="411479" y="246888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מה עושים (המלצה)</a:t>
            </a:r>
          </a:p>
        </p:txBody>
      </p:sp>
      <p:sp>
        <p:nvSpPr>
          <p:cNvPr id="17" name="TextBox 16"/>
          <p:cNvSpPr txBox="1"/>
          <p:nvPr/>
        </p:nvSpPr>
        <p:spPr>
          <a:xfrm>
            <a:off x="457199" y="3154680"/>
            <a:ext cx="2423160" cy="13715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מסכמים, מקצרים, ושמים את החשוב בהתחלה או בסוף. במעבדה: read_file חותך ל־400 תווים.</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מעבדה א׳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9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HM_06.ipynb. חלק א׳: סוכן קטן משלכם.</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HM_06.ipynb. חלק א׳: סוכן קטן משלכם</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ל־HM_06.ipynb</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מעבדה א׳ : סוכן קטן משלכם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9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למה: לבנות את הסוכן ממפגש 5. מטרה: לולאה, כלים, צעדים ואישורים.</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מפעיל כלים ולולאה</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execute_action, run_agent: לולאה של תכנון, פעולה, התבוננות</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מגבלת צעדים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max_steps: סוכן תקוע נעצר אחרי 5 צעדים, במקום להמשיך לנצח</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רמות אוטונומיה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needs_approval: כמה אישורים נדרשים ברמות 2, 3 ו־4, ומה נמחק</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בזוגות: אחד מקליד, אחד קורא. כותבים תחזית לפני כל הרצה. מודל השפה במחברת מדומה, הלולאה והכלים אמיתיים.</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מעבדה א׳ : איך עובדים עם המחברת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9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כל מחברת בקורס בנויה באותו אופן.</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ממלאים TODO</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כל פונקציה היא 1 עד 8 שורות. בלי כלי AI, חוץ מחלק ד׳ שבבית</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מריצים בדיקה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תא הבדיקה מדפיס ✓, או הודעה שמסבירה מה נכשל</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תחזית ושאלות</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כותבים תחזית לפני הרצה, ועונים על שאלות הניתוח במונחי ההרצאה</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בסוף: Runtime ← Restart session and run all. ודאו שכל השורות בבדיקה המסכמת מסומנות ✓, והורידו את הקובץ (Download .ipynb).</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מעבדה א׳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9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תמלול הסוכן הזהיר</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5 צעדים: שגיאה אחת, תיקון, והרצה שנייה תקינה. הסטטוס: done</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סוכן תקוע</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5 צעדים ואז עצירה. הסטטוס: max_steps, בלי done</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טבלת הרמות</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אישורים לסוכן הזהיר ברמות 2, 3, 4: 5, 2, 0. הקובץ נמחק רק ברמה 4</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יותר אוטונומיה = פחות אישורים, ויותר סיכון. מה שהסוכן אומר אינו הוכחה: בודקים.</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a:t>
            </a:r>
            <a:r>
              <a:rPr sz="3000" b="1" i="0" lang="he-IL">
                <a:solidFill>
                  <a:srgbClr val="212121"/>
                </a:solidFill>
              </a:rPr>
              <a:t>מעבדה א׳</a:t>
            </a:r>
            <a:r>
              <a:rPr sz="3000" b="0" i="0" lang="he-IL">
                <a:solidFill>
                  <a:srgbClr val="212121"/>
                </a:solidFill>
              </a:rPr>
              <a:t> : דיון</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9 דקות</a:t>
            </a:r>
          </a:p>
        </p:txBody>
      </p:sp>
      <p:sp>
        <p:nvSpPr>
          <p:cNvPr id="6" name="TextBox 5"/>
          <p:cNvSpPr txBox="1"/>
          <p:nvPr/>
        </p:nvSpPr>
        <p:spPr>
          <a:xfrm>
            <a:off x="365760" y="1371600"/>
            <a:ext cx="841248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212121"/>
                </a:solidFill>
              </a:rPr>
              <a:t>מה השתנה כשהעברתם לרמה 3?</a:t>
            </a:r>
          </a:p>
        </p:txBody>
      </p:sp>
      <p:sp>
        <p:nvSpPr>
          <p:cNvPr id="7" name="Rounded Rectangle 6"/>
          <p:cNvSpPr/>
          <p:nvPr/>
        </p:nvSpPr>
        <p:spPr>
          <a:xfrm>
            <a:off x="6172200" y="2286000"/>
            <a:ext cx="2697480" cy="109728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פחות אישורים</a:t>
            </a:r>
          </a:p>
        </p:txBody>
      </p:sp>
      <p:sp>
        <p:nvSpPr>
          <p:cNvPr id="8" name="Rounded Rectangle 7"/>
          <p:cNvSpPr/>
          <p:nvPr/>
        </p:nvSpPr>
        <p:spPr>
          <a:xfrm>
            <a:off x="3246120" y="2286000"/>
            <a:ext cx="2697480" cy="109728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יותר פעולות מהר</a:t>
            </a:r>
          </a:p>
        </p:txBody>
      </p:sp>
      <p:sp>
        <p:nvSpPr>
          <p:cNvPr id="9" name="Rounded Rectangle 8"/>
          <p:cNvSpPr/>
          <p:nvPr/>
        </p:nvSpPr>
        <p:spPr>
          <a:xfrm>
            <a:off x="320039" y="2286000"/>
            <a:ext cx="2697480" cy="109728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פחות שליטה</a:t>
            </a:r>
          </a:p>
        </p:txBody>
      </p:sp>
      <p:sp>
        <p:nvSpPr>
          <p:cNvPr id="10" name="TextBox 9"/>
          <p:cNvSpPr txBox="1"/>
          <p:nvPr/>
        </p:nvSpPr>
        <p:spPr>
          <a:xfrm>
            <a:off x="365760" y="3749039"/>
            <a:ext cx="8412480" cy="10972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212121"/>
                </a:solidFill>
              </a:rPr>
              <a:t>יותר אוטונומיה = יותר מהר, וגם יותר סיכון.</a:t>
            </a:r>
          </a:p>
          <a:p>
            <a:pPr rtl="1" algn="ctr" marL="0" indent="0">
              <a:lnSpc>
                <a:spcPct val="110000"/>
              </a:lnSpc>
              <a:spcBef>
                <a:spcPts val="0"/>
              </a:spcBef>
              <a:spcAft>
                <a:spcPts val="0"/>
              </a:spcAft>
              <a:buNone/>
            </a:pPr>
            <a:r>
              <a:rPr sz="1800" b="0" i="0" lang="he-IL">
                <a:solidFill>
                  <a:srgbClr val="595959"/>
                </a:solidFill>
              </a:rPr>
              <a:t>מה יקרה אם הסוכן יטעה באחת הפעולות? איך נחזור אחורה? בדיוק בשביל זה יש Git.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a:t>
            </a:r>
            <a:r>
              <a:rPr sz="3000" b="1" i="0" lang="he-IL">
                <a:solidFill>
                  <a:srgbClr val="212121"/>
                </a:solidFill>
              </a:rPr>
              <a:t>Git: שמירת משחק</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cxnSp>
        <p:nvCxnSpPr>
          <p:cNvPr id="5" name="Connector 4"/>
          <p:cNvCxnSpPr/>
          <p:nvPr/>
        </p:nvCxnSpPr>
        <p:spPr>
          <a:xfrm flipH="1">
            <a:off x="548640" y="2651760"/>
            <a:ext cx="7955280" cy="0"/>
          </a:xfrm>
          <a:prstGeom prst="line">
            <a:avLst/>
          </a:prstGeom>
          <a:ln w="508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7799831" y="2496312"/>
            <a:ext cx="310896" cy="310896"/>
          </a:xfrm>
          <a:prstGeom prst="ellipse">
            <a:avLst/>
          </a:prstGeom>
          <a:solidFill>
            <a:srgbClr val="4285F4"/>
          </a:solidFill>
          <a:ln w="25400">
            <a:solidFill>
              <a:srgbClr val="FFFFFF"/>
            </a:solidFill>
          </a:ln>
        </p:spPr>
        <p:txBody>
          <a:bodyPr rtlCol="0" anchor="ctr" wrap="square" lIns="73152" rIns="73152" tIns="73152" bIns="73152">
            <a:noAutofit/>
          </a:bodyPr>
          <a:lstStyle/>
          <a:p>
            <a:pPr algn="ctr"/>
          </a:p>
        </p:txBody>
      </p:sp>
      <p:sp>
        <p:nvSpPr>
          <p:cNvPr id="7" name="TextBox 6"/>
          <p:cNvSpPr txBox="1"/>
          <p:nvPr/>
        </p:nvSpPr>
        <p:spPr>
          <a:xfrm>
            <a:off x="7360919" y="2834640"/>
            <a:ext cx="118872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התחלה</a:t>
            </a:r>
          </a:p>
        </p:txBody>
      </p:sp>
      <p:sp>
        <p:nvSpPr>
          <p:cNvPr id="8" name="Oval 7"/>
          <p:cNvSpPr/>
          <p:nvPr/>
        </p:nvSpPr>
        <p:spPr>
          <a:xfrm>
            <a:off x="6153912" y="2496312"/>
            <a:ext cx="310896" cy="310896"/>
          </a:xfrm>
          <a:prstGeom prst="ellipse">
            <a:avLst/>
          </a:prstGeom>
          <a:solidFill>
            <a:srgbClr val="4285F4"/>
          </a:solidFill>
          <a:ln w="25400">
            <a:solidFill>
              <a:srgbClr val="FFFFFF"/>
            </a:solidFill>
          </a:ln>
        </p:spPr>
        <p:txBody>
          <a:bodyPr rtlCol="0" anchor="ctr" wrap="square" lIns="73152" rIns="73152" tIns="73152" bIns="73152">
            <a:noAutofit/>
          </a:bodyPr>
          <a:lstStyle/>
          <a:p>
            <a:pPr algn="ctr"/>
          </a:p>
        </p:txBody>
      </p:sp>
      <p:sp>
        <p:nvSpPr>
          <p:cNvPr id="9" name="TextBox 8"/>
          <p:cNvSpPr txBox="1"/>
          <p:nvPr/>
        </p:nvSpPr>
        <p:spPr>
          <a:xfrm>
            <a:off x="5714999" y="2834640"/>
            <a:ext cx="118872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קוד ראשון</a:t>
            </a:r>
          </a:p>
        </p:txBody>
      </p:sp>
      <p:sp>
        <p:nvSpPr>
          <p:cNvPr id="10" name="Oval 9"/>
          <p:cNvSpPr/>
          <p:nvPr/>
        </p:nvSpPr>
        <p:spPr>
          <a:xfrm>
            <a:off x="4507992" y="2496312"/>
            <a:ext cx="310896" cy="310896"/>
          </a:xfrm>
          <a:prstGeom prst="ellipse">
            <a:avLst/>
          </a:prstGeom>
          <a:solidFill>
            <a:srgbClr val="4285F4"/>
          </a:solidFill>
          <a:ln w="25400">
            <a:solidFill>
              <a:srgbClr val="FFFFFF"/>
            </a:solidFill>
          </a:ln>
        </p:spPr>
        <p:txBody>
          <a:bodyPr rtlCol="0" anchor="ctr" wrap="square" lIns="73152" rIns="73152" tIns="73152" bIns="73152">
            <a:noAutofit/>
          </a:bodyPr>
          <a:lstStyle/>
          <a:p>
            <a:pPr algn="ctr"/>
          </a:p>
        </p:txBody>
      </p:sp>
      <p:sp>
        <p:nvSpPr>
          <p:cNvPr id="11" name="TextBox 10"/>
          <p:cNvSpPr txBox="1"/>
          <p:nvPr/>
        </p:nvSpPr>
        <p:spPr>
          <a:xfrm>
            <a:off x="4069079" y="2834640"/>
            <a:ext cx="118872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הוספתי גרף</a:t>
            </a:r>
          </a:p>
        </p:txBody>
      </p:sp>
      <p:sp>
        <p:nvSpPr>
          <p:cNvPr id="12" name="Oval 11"/>
          <p:cNvSpPr/>
          <p:nvPr/>
        </p:nvSpPr>
        <p:spPr>
          <a:xfrm>
            <a:off x="2862071" y="2496312"/>
            <a:ext cx="310896" cy="310896"/>
          </a:xfrm>
          <a:prstGeom prst="ellipse">
            <a:avLst/>
          </a:prstGeom>
          <a:solidFill>
            <a:srgbClr val="4285F4"/>
          </a:solidFill>
          <a:ln w="25400">
            <a:solidFill>
              <a:srgbClr val="FFFFFF"/>
            </a:solidFill>
          </a:ln>
        </p:spPr>
        <p:txBody>
          <a:bodyPr rtlCol="0" anchor="ctr" wrap="square" lIns="73152" rIns="73152" tIns="73152" bIns="73152">
            <a:noAutofit/>
          </a:bodyPr>
          <a:lstStyle/>
          <a:p>
            <a:pPr algn="ctr"/>
          </a:p>
        </p:txBody>
      </p:sp>
      <p:sp>
        <p:nvSpPr>
          <p:cNvPr id="13" name="TextBox 12"/>
          <p:cNvSpPr txBox="1"/>
          <p:nvPr/>
        </p:nvSpPr>
        <p:spPr>
          <a:xfrm>
            <a:off x="2423159" y="2834640"/>
            <a:ext cx="118872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תיקון באג</a:t>
            </a:r>
          </a:p>
        </p:txBody>
      </p:sp>
      <p:sp>
        <p:nvSpPr>
          <p:cNvPr id="14" name="Oval 13"/>
          <p:cNvSpPr/>
          <p:nvPr/>
        </p:nvSpPr>
        <p:spPr>
          <a:xfrm>
            <a:off x="1216151" y="2496312"/>
            <a:ext cx="310896" cy="310896"/>
          </a:xfrm>
          <a:prstGeom prst="ellipse">
            <a:avLst/>
          </a:prstGeom>
          <a:solidFill>
            <a:srgbClr val="EA4335"/>
          </a:solidFill>
          <a:ln w="25400">
            <a:solidFill>
              <a:srgbClr val="FFFFFF"/>
            </a:solidFill>
          </a:ln>
        </p:spPr>
        <p:txBody>
          <a:bodyPr rtlCol="0" anchor="ctr" wrap="square" lIns="73152" rIns="73152" tIns="73152" bIns="73152">
            <a:noAutofit/>
          </a:bodyPr>
          <a:lstStyle/>
          <a:p>
            <a:pPr algn="ctr"/>
          </a:p>
        </p:txBody>
      </p:sp>
      <p:sp>
        <p:nvSpPr>
          <p:cNvPr id="15" name="TextBox 14"/>
          <p:cNvSpPr txBox="1"/>
          <p:nvPr/>
        </p:nvSpPr>
        <p:spPr>
          <a:xfrm>
            <a:off x="777239" y="2834640"/>
            <a:ext cx="118872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הסוכן שבר</a:t>
            </a:r>
          </a:p>
        </p:txBody>
      </p:sp>
      <p:cxnSp>
        <p:nvCxnSpPr>
          <p:cNvPr id="16" name="Connector 15"/>
          <p:cNvCxnSpPr/>
          <p:nvPr/>
        </p:nvCxnSpPr>
        <p:spPr>
          <a:xfrm>
            <a:off x="1463040" y="3474720"/>
            <a:ext cx="1645920" cy="0"/>
          </a:xfrm>
          <a:prstGeom prst="line">
            <a:avLst/>
          </a:prstGeom>
          <a:ln w="44450">
            <a:solidFill>
              <a:srgbClr val="34A853"/>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97280" y="3520440"/>
            <a:ext cx="320040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34A853"/>
                </a:solidFill>
              </a:rPr>
              <a:t>חוזרים לנקודה שמורה</a:t>
            </a:r>
          </a:p>
        </p:txBody>
      </p:sp>
      <p:sp>
        <p:nvSpPr>
          <p:cNvPr id="18" name="TextBox 17"/>
          <p:cNvSpPr txBox="1"/>
          <p:nvPr/>
        </p:nvSpPr>
        <p:spPr>
          <a:xfrm>
            <a:off x="365760" y="1325880"/>
            <a:ext cx="8412480" cy="7315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300" b="1" i="0" lang="he-IL">
                <a:solidFill>
                  <a:srgbClr val="212121"/>
                </a:solidFill>
              </a:rPr>
              <a:t>כל commit הוא נקודת שמירה של כל הפרויקט.</a:t>
            </a:r>
          </a:p>
        </p:txBody>
      </p:sp>
      <p:sp>
        <p:nvSpPr>
          <p:cNvPr id="19" name="TextBox 18"/>
          <p:cNvSpPr txBox="1"/>
          <p:nvPr/>
        </p:nvSpPr>
        <p:spPr>
          <a:xfrm>
            <a:off x="365760" y="429768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0" i="0" lang="he-IL">
                <a:solidFill>
                  <a:srgbClr val="595959"/>
                </a:solidFill>
              </a:rPr>
              <a:t>משחק מחשב: שומרים לפני הקרב. Git: commit לפני שהסוכן פועל.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a:t>
            </a:r>
            <a:r>
              <a:rPr sz="3000" b="1" i="0" lang="he-IL">
                <a:solidFill>
                  <a:srgbClr val="212121"/>
                </a:solidFill>
              </a:rPr>
              <a:t>שלושת האזורים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172200" y="1554480"/>
            <a:ext cx="2697480" cy="22860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6172200" y="1600200"/>
            <a:ext cx="2697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400" b="0" i="0" lang="he-IL">
                <a:solidFill>
                  <a:srgbClr val="212121"/>
                </a:solidFill>
              </a:rPr>
              <a:t>📁</a:t>
            </a:r>
          </a:p>
        </p:txBody>
      </p:sp>
      <p:sp>
        <p:nvSpPr>
          <p:cNvPr id="7" name="TextBox 6"/>
          <p:cNvSpPr txBox="1"/>
          <p:nvPr/>
        </p:nvSpPr>
        <p:spPr>
          <a:xfrm>
            <a:off x="6263640" y="2331720"/>
            <a:ext cx="2514600" cy="54864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700" b="1" i="0" lang="he-IL">
                <a:solidFill>
                  <a:srgbClr val="212121"/>
                </a:solidFill>
              </a:rPr>
              <a:t>תיקיית עבודה</a:t>
            </a:r>
          </a:p>
        </p:txBody>
      </p:sp>
      <p:sp>
        <p:nvSpPr>
          <p:cNvPr id="8" name="TextBox 7"/>
          <p:cNvSpPr txBox="1"/>
          <p:nvPr/>
        </p:nvSpPr>
        <p:spPr>
          <a:xfrm>
            <a:off x="6263640" y="2926080"/>
            <a:ext cx="251460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הקבצים כפי שהם עכשיו</a:t>
            </a:r>
          </a:p>
        </p:txBody>
      </p:sp>
      <p:sp>
        <p:nvSpPr>
          <p:cNvPr id="9" name="TextBox 8"/>
          <p:cNvSpPr txBox="1"/>
          <p:nvPr/>
        </p:nvSpPr>
        <p:spPr>
          <a:xfrm>
            <a:off x="6172200" y="3886200"/>
            <a:ext cx="2697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595959"/>
                </a:solidFill>
              </a:rPr>
              <a:t>כמו החנות</a:t>
            </a:r>
          </a:p>
        </p:txBody>
      </p:sp>
      <p:cxnSp>
        <p:nvCxnSpPr>
          <p:cNvPr id="10" name="Connector 9"/>
          <p:cNvCxnSpPr/>
          <p:nvPr/>
        </p:nvCxnSpPr>
        <p:spPr>
          <a:xfrm flipH="1">
            <a:off x="5943600" y="2697480"/>
            <a:ext cx="210312"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246120" y="1554480"/>
            <a:ext cx="2697480" cy="22860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TextBox 11"/>
          <p:cNvSpPr txBox="1"/>
          <p:nvPr/>
        </p:nvSpPr>
        <p:spPr>
          <a:xfrm>
            <a:off x="3246120" y="1600200"/>
            <a:ext cx="2697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400" b="0" i="0" lang="he-IL">
                <a:solidFill>
                  <a:srgbClr val="212121"/>
                </a:solidFill>
              </a:rPr>
              <a:t>🛒</a:t>
            </a:r>
          </a:p>
        </p:txBody>
      </p:sp>
      <p:sp>
        <p:nvSpPr>
          <p:cNvPr id="13" name="TextBox 12"/>
          <p:cNvSpPr txBox="1"/>
          <p:nvPr/>
        </p:nvSpPr>
        <p:spPr>
          <a:xfrm>
            <a:off x="3337560" y="2331720"/>
            <a:ext cx="2514600" cy="54864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700" b="1" i="0" lang="he-IL">
                <a:solidFill>
                  <a:srgbClr val="212121"/>
                </a:solidFill>
              </a:rPr>
              <a:t>אזור ההכנה (staging)</a:t>
            </a:r>
          </a:p>
        </p:txBody>
      </p:sp>
      <p:sp>
        <p:nvSpPr>
          <p:cNvPr id="14" name="TextBox 13"/>
          <p:cNvSpPr txBox="1"/>
          <p:nvPr/>
        </p:nvSpPr>
        <p:spPr>
          <a:xfrm>
            <a:off x="3337560" y="2926080"/>
            <a:ext cx="251460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מה ייכנס לשמירה הבאה</a:t>
            </a:r>
          </a:p>
        </p:txBody>
      </p:sp>
      <p:sp>
        <p:nvSpPr>
          <p:cNvPr id="15" name="TextBox 14"/>
          <p:cNvSpPr txBox="1"/>
          <p:nvPr/>
        </p:nvSpPr>
        <p:spPr>
          <a:xfrm>
            <a:off x="3246120" y="3886200"/>
            <a:ext cx="2697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595959"/>
                </a:solidFill>
              </a:rPr>
              <a:t>כמו העגלה</a:t>
            </a:r>
          </a:p>
        </p:txBody>
      </p:sp>
      <p:cxnSp>
        <p:nvCxnSpPr>
          <p:cNvPr id="16" name="Connector 15"/>
          <p:cNvCxnSpPr/>
          <p:nvPr/>
        </p:nvCxnSpPr>
        <p:spPr>
          <a:xfrm flipH="1">
            <a:off x="3017520" y="2697480"/>
            <a:ext cx="210312" cy="0"/>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20039" y="1554480"/>
            <a:ext cx="2697480" cy="2286000"/>
          </a:xfrm>
          <a:prstGeom prst="roundRect">
            <a:avLst>
              <a:gd name="adj" fmla="val 6000"/>
            </a:avLst>
          </a:prstGeom>
          <a:solidFill>
            <a:srgbClr val="E1F4E6"/>
          </a:solidFill>
          <a:ln w="31750">
            <a:solidFill>
              <a:srgbClr val="34A853"/>
            </a:solidFill>
          </a:ln>
        </p:spPr>
        <p:txBody>
          <a:bodyPr rtlCol="0" anchor="ctr" wrap="square" lIns="73152" rIns="73152" tIns="73152" bIns="73152">
            <a:noAutofit/>
          </a:bodyPr>
          <a:lstStyle/>
          <a:p>
            <a:pPr algn="ctr"/>
          </a:p>
        </p:txBody>
      </p:sp>
      <p:sp>
        <p:nvSpPr>
          <p:cNvPr id="18" name="TextBox 17"/>
          <p:cNvSpPr txBox="1"/>
          <p:nvPr/>
        </p:nvSpPr>
        <p:spPr>
          <a:xfrm>
            <a:off x="320039" y="1600200"/>
            <a:ext cx="2697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400" b="0" i="0" lang="he-IL">
                <a:solidFill>
                  <a:srgbClr val="212121"/>
                </a:solidFill>
              </a:rPr>
              <a:t>💾</a:t>
            </a:r>
          </a:p>
        </p:txBody>
      </p:sp>
      <p:sp>
        <p:nvSpPr>
          <p:cNvPr id="19" name="TextBox 18"/>
          <p:cNvSpPr txBox="1"/>
          <p:nvPr/>
        </p:nvSpPr>
        <p:spPr>
          <a:xfrm>
            <a:off x="411479" y="2331720"/>
            <a:ext cx="2514600" cy="54864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700" b="1" i="0" lang="he-IL">
                <a:solidFill>
                  <a:srgbClr val="212121"/>
                </a:solidFill>
              </a:rPr>
              <a:t>ההיסטוריה (repository)</a:t>
            </a:r>
          </a:p>
        </p:txBody>
      </p:sp>
      <p:sp>
        <p:nvSpPr>
          <p:cNvPr id="20" name="TextBox 19"/>
          <p:cNvSpPr txBox="1"/>
          <p:nvPr/>
        </p:nvSpPr>
        <p:spPr>
          <a:xfrm>
            <a:off x="411479" y="2926080"/>
            <a:ext cx="251460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212121"/>
                </a:solidFill>
              </a:rPr>
              <a:t>נקודות השמירה</a:t>
            </a:r>
          </a:p>
        </p:txBody>
      </p:sp>
      <p:sp>
        <p:nvSpPr>
          <p:cNvPr id="21" name="TextBox 20"/>
          <p:cNvSpPr txBox="1"/>
          <p:nvPr/>
        </p:nvSpPr>
        <p:spPr>
          <a:xfrm>
            <a:off x="320039" y="3886200"/>
            <a:ext cx="2697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595959"/>
                </a:solidFill>
              </a:rPr>
              <a:t>כמו הקופה</a:t>
            </a:r>
          </a:p>
        </p:txBody>
      </p:sp>
      <p:sp>
        <p:nvSpPr>
          <p:cNvPr id="22" name="TextBox 21"/>
          <p:cNvSpPr txBox="1"/>
          <p:nvPr/>
        </p:nvSpPr>
        <p:spPr>
          <a:xfrm>
            <a:off x="3931920" y="4389120"/>
            <a:ext cx="42062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800" b="1" i="0" lang="he-IL">
                <a:solidFill>
                  <a:srgbClr val="FFAB40"/>
                </a:solidFill>
              </a:rPr>
              <a:t>add</a:t>
            </a:r>
          </a:p>
        </p:txBody>
      </p:sp>
      <p:sp>
        <p:nvSpPr>
          <p:cNvPr id="23" name="TextBox 22"/>
          <p:cNvSpPr txBox="1"/>
          <p:nvPr/>
        </p:nvSpPr>
        <p:spPr>
          <a:xfrm>
            <a:off x="1005840" y="4389120"/>
            <a:ext cx="42062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800" b="1" i="0" lang="he-IL">
                <a:solidFill>
                  <a:srgbClr val="34A853"/>
                </a:solidFill>
              </a:rPr>
              <a:t>commit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a:t>
            </a:r>
            <a:r>
              <a:rPr sz="3000" b="1" i="0" lang="he-IL">
                <a:solidFill>
                  <a:srgbClr val="212121"/>
                </a:solidFill>
              </a:rPr>
              <a:t>שש פעולות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12478" cy="3520440"/>
        </p:xfrm>
        <a:graphic>
          <a:graphicData uri="http://schemas.openxmlformats.org/drawingml/2006/table">
            <a:tbl>
              <a:tblPr firstRow="0" bandRow="0">
                <a:tableStyleId>{2D5ABB26-0587-4C30-8999-92F81FD0307C}</a:tableStyleId>
              </a:tblPr>
              <a:tblGrid>
                <a:gridCol w="3077736"/>
                <a:gridCol w="3693283"/>
                <a:gridCol w="1641459"/>
              </a:tblGrid>
              <a:tr h="502920">
                <a:tc>
                  <a:txBody>
                    <a:bodyPr wrap="square"/>
                    <a:lstStyle/>
                    <a:p>
                      <a:pPr rtl="1" algn="ctr" marL="0" indent="0">
                        <a:lnSpc>
                          <a:spcPct val="100000"/>
                        </a:lnSpc>
                        <a:spcBef>
                          <a:spcPts val="0"/>
                        </a:spcBef>
                        <a:spcAft>
                          <a:spcPts val="0"/>
                        </a:spcAft>
                        <a:buNone/>
                      </a:pPr>
                      <a:r>
                        <a:rPr sz="1600" b="1" i="0" lang="he-IL">
                          <a:solidFill>
                            <a:srgbClr val="212121"/>
                          </a:solidFill>
                        </a:rPr>
                        <a:t>במחברת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600" b="1" i="0" lang="he-IL">
                          <a:solidFill>
                            <a:srgbClr val="212121"/>
                          </a:solidFill>
                        </a:rPr>
                        <a:t>מה היא עושה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600" b="1" i="0" lang="he-IL">
                          <a:solidFill>
                            <a:srgbClr val="212121"/>
                          </a:solidFill>
                        </a:rPr>
                        <a:t>פעולה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02920">
                <a:tc>
                  <a:txBody>
                    <a:bodyPr wrap="square"/>
                    <a:lstStyle/>
                    <a:p>
                      <a:pPr rtl="1" algn="r" marL="0" indent="0">
                        <a:lnSpc>
                          <a:spcPct val="100000"/>
                        </a:lnSpc>
                        <a:spcBef>
                          <a:spcPts val="0"/>
                        </a:spcBef>
                        <a:spcAft>
                          <a:spcPts val="0"/>
                        </a:spcAft>
                        <a:buNone/>
                      </a:pPr>
                      <a:r>
                        <a:rPr sz="1600" b="0" i="0" lang="he-IL">
                          <a:solidFill>
                            <a:srgbClr val="212121"/>
                          </a:solidFill>
                        </a:rPr>
                        <a:t>changed_files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מה השתנה?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status</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600" b="0" i="0" lang="he-IL">
                          <a:solidFill>
                            <a:srgbClr val="212121"/>
                          </a:solidFill>
                        </a:rPr>
                        <a:t>commit_all (שלב ראשון)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מכניסים לעגלה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add</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600" b="0" i="0" lang="he-IL">
                          <a:solidFill>
                            <a:srgbClr val="212121"/>
                          </a:solidFill>
                        </a:rPr>
                        <a:t>commit_all</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שומרים עם הודעה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commit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600" b="0" i="0" lang="he-IL">
                          <a:solidFill>
                            <a:srgbClr val="212121"/>
                          </a:solidFill>
                        </a:rPr>
                        <a:t>git(repo, 'log')</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היסטוריית השמירות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log</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600" b="0" i="0" lang="he-IL">
                          <a:solidFill>
                            <a:srgbClr val="212121"/>
                          </a:solidFill>
                        </a:rPr>
                        <a:t>diff_stat (חלק 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מה בדיוק השתנה?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diff</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600" b="0" i="0" lang="he-IL">
                          <a:solidFill>
                            <a:srgbClr val="212121"/>
                          </a:solidFill>
                        </a:rPr>
                        <a:t>restore_file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0" i="0" lang="he-IL">
                          <a:solidFill>
                            <a:srgbClr val="212121"/>
                          </a:solidFill>
                        </a:rPr>
                        <a:t>מבטלים שינוי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600" b="1" i="0" lang="he-IL">
                          <a:solidFill>
                            <a:srgbClr val="212121"/>
                          </a:solidFill>
                        </a:rPr>
                        <a:t>restore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:Git מבפנים: commit כצומת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912" name="Shape 912"/>
          <p:cNvSpPr/>
          <p:nvPr/>
        </p:nvSpPr>
        <p:spPr>
          <a:xfrm>
            <a:off x="6444000" y="1404000"/>
            <a:ext cx="2340000" cy="1260000"/>
          </a:xfrm>
          <a:prstGeom prst="roundRect">
            <a:avLst>
              <a:gd name="adj" fmla="val 6000"/>
            </a:avLst>
          </a:prstGeom>
          <a:solidFill>
            <a:srgbClr val="E3EEFF"/>
          </a:solidFill>
          <a:ln w="28575">
            <a:solidFill>
              <a:srgbClr val="4285F4"/>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lang="he-IL" sz="2100" b="1" i="0">
                <a:solidFill>
                  <a:srgbClr val="212121"/>
                </a:solidFill>
              </a:rPr>
              <a:t>3f9c2a1</a:t>
            </a:r>
          </a:p>
          <a:p>
            <a:pPr rtl="0" algn="ctr" marL="0" indent="0">
              <a:lnSpc>
                <a:spcPct val="105000"/>
              </a:lnSpc>
              <a:spcBef>
                <a:spcPts val="200"/>
              </a:spcBef>
              <a:spcAft>
                <a:spcPts val="0"/>
              </a:spcAft>
              <a:buNone/>
            </a:pPr>
            <a:r>
              <a:rPr lang="he-IL" sz="1500" b="0" i="0">
                <a:solidFill>
                  <a:srgbClr val="212121"/>
                </a:solidFill>
              </a:rPr>
              <a:t>Initial project</a:t>
            </a:r>
          </a:p>
          <a:p>
            <a:pPr rtl="1" algn="ctr" marL="0" indent="0">
              <a:lnSpc>
                <a:spcPct val="105000"/>
              </a:lnSpc>
              <a:spcBef>
                <a:spcPts val="400"/>
              </a:spcBef>
              <a:spcAft>
                <a:spcPts val="0"/>
              </a:spcAft>
              <a:buNone/>
            </a:pPr>
            <a:r>
              <a:rPr lang="he-IL" sz="1400" b="0" i="0">
                <a:solidFill>
                  <a:srgbClr val="595959"/>
                </a:solidFill>
              </a:rPr>
              <a:t>צילום של כל הפרויקט</a:t>
            </a:r>
          </a:p>
        </p:txBody>
      </p:sp>
      <p:sp>
        <p:nvSpPr>
          <p:cNvPr id="913" name="Shape 913"/>
          <p:cNvSpPr/>
          <p:nvPr/>
        </p:nvSpPr>
        <p:spPr>
          <a:xfrm>
            <a:off x="3528000" y="1404000"/>
            <a:ext cx="2340000" cy="1260000"/>
          </a:xfrm>
          <a:prstGeom prst="roundRect">
            <a:avLst>
              <a:gd name="adj" fmla="val 6000"/>
            </a:avLst>
          </a:prstGeom>
          <a:solidFill>
            <a:srgbClr val="E3EEFF"/>
          </a:solidFill>
          <a:ln w="28575">
            <a:solidFill>
              <a:srgbClr val="4285F4"/>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lang="he-IL" sz="2100" b="1" i="0">
                <a:solidFill>
                  <a:srgbClr val="212121"/>
                </a:solidFill>
              </a:rPr>
              <a:t>b71e04d</a:t>
            </a:r>
          </a:p>
          <a:p>
            <a:pPr rtl="0" algn="ctr" marL="0" indent="0">
              <a:lnSpc>
                <a:spcPct val="105000"/>
              </a:lnSpc>
              <a:spcBef>
                <a:spcPts val="200"/>
              </a:spcBef>
              <a:spcAft>
                <a:spcPts val="0"/>
              </a:spcAft>
              <a:buNone/>
            </a:pPr>
            <a:r>
              <a:rPr lang="he-IL" sz="1500" b="0" i="0">
                <a:solidFill>
                  <a:srgbClr val="212121"/>
                </a:solidFill>
              </a:rPr>
              <a:t>Add top_customers function</a:t>
            </a:r>
          </a:p>
          <a:p>
            <a:pPr rtl="1" algn="ctr" marL="0" indent="0">
              <a:lnSpc>
                <a:spcPct val="105000"/>
              </a:lnSpc>
              <a:spcBef>
                <a:spcPts val="400"/>
              </a:spcBef>
              <a:spcAft>
                <a:spcPts val="0"/>
              </a:spcAft>
              <a:buNone/>
            </a:pPr>
            <a:r>
              <a:rPr lang="he-IL" sz="1400" b="0" i="0">
                <a:solidFill>
                  <a:srgbClr val="595959"/>
                </a:solidFill>
              </a:rPr>
              <a:t>צילום של כל הפרויקט</a:t>
            </a:r>
          </a:p>
        </p:txBody>
      </p:sp>
      <p:sp>
        <p:nvSpPr>
          <p:cNvPr id="914" name="Shape 914"/>
          <p:cNvSpPr/>
          <p:nvPr/>
        </p:nvSpPr>
        <p:spPr>
          <a:xfrm>
            <a:off x="612000" y="1404000"/>
            <a:ext cx="2340000" cy="1260000"/>
          </a:xfrm>
          <a:prstGeom prst="roundRect">
            <a:avLst>
              <a:gd name="adj" fmla="val 6000"/>
            </a:avLst>
          </a:prstGeom>
          <a:solidFill>
            <a:srgbClr val="FFF0D9"/>
          </a:solidFill>
          <a:ln w="28575">
            <a:solidFill>
              <a:srgbClr val="FFAB40"/>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lang="he-IL" sz="2100" b="1" i="0">
                <a:solidFill>
                  <a:srgbClr val="212121"/>
                </a:solidFill>
              </a:rPr>
              <a:t>c0a5d8e</a:t>
            </a:r>
          </a:p>
          <a:p>
            <a:pPr rtl="0" algn="ctr" marL="0" indent="0">
              <a:lnSpc>
                <a:spcPct val="105000"/>
              </a:lnSpc>
              <a:spcBef>
                <a:spcPts val="200"/>
              </a:spcBef>
              <a:spcAft>
                <a:spcPts val="0"/>
              </a:spcAft>
              <a:buNone/>
            </a:pPr>
            <a:r>
              <a:rPr lang="he-IL" sz="1500" b="0" i="0">
                <a:solidFill>
                  <a:srgbClr val="212121"/>
                </a:solidFill>
              </a:rPr>
              <a:t>Fix month column</a:t>
            </a:r>
          </a:p>
          <a:p>
            <a:pPr rtl="1" algn="ctr" marL="0" indent="0">
              <a:lnSpc>
                <a:spcPct val="105000"/>
              </a:lnSpc>
              <a:spcBef>
                <a:spcPts val="400"/>
              </a:spcBef>
              <a:spcAft>
                <a:spcPts val="0"/>
              </a:spcAft>
              <a:buNone/>
            </a:pPr>
            <a:r>
              <a:rPr lang="he-IL" sz="1400" b="0" i="0">
                <a:solidFill>
                  <a:srgbClr val="595959"/>
                </a:solidFill>
              </a:rPr>
              <a:t>צילום של כל הפרויקט</a:t>
            </a:r>
          </a:p>
        </p:txBody>
      </p:sp>
      <p:cxnSp>
        <p:nvCxnSpPr>
          <p:cNvPr id="915" name="Connector 915"/>
          <p:cNvCxnSpPr/>
          <p:nvPr/>
        </p:nvCxnSpPr>
        <p:spPr>
          <a:xfrm flipH="1">
            <a:off x="2988000" y="2016000"/>
            <a:ext cx="540000" cy="0"/>
          </a:xfrm>
          <a:prstGeom prst="line">
            <a:avLst/>
          </a:prstGeom>
          <a:ln w="31750">
            <a:solidFill>
              <a:srgbClr val="78909C"/>
            </a:solidFill>
            <a:tailEnd type="triangle"/>
          </a:ln>
        </p:spPr>
      </p:cxnSp>
      <p:cxnSp>
        <p:nvCxnSpPr>
          <p:cNvPr id="916" name="Connector 916"/>
          <p:cNvCxnSpPr/>
          <p:nvPr/>
        </p:nvCxnSpPr>
        <p:spPr>
          <a:xfrm flipH="1">
            <a:off x="5868000" y="2016000"/>
            <a:ext cx="576000" cy="0"/>
          </a:xfrm>
          <a:prstGeom prst="line">
            <a:avLst/>
          </a:prstGeom>
          <a:ln w="31750">
            <a:solidFill>
              <a:srgbClr val="78909C"/>
            </a:solidFill>
            <a:tailEnd type="triangle"/>
          </a:ln>
        </p:spPr>
      </p:cxnSp>
      <p:sp>
        <p:nvSpPr>
          <p:cNvPr id="917" name="TextBox 917"/>
          <p:cNvSpPr txBox="1"/>
          <p:nvPr/>
        </p:nvSpPr>
        <p:spPr>
          <a:xfrm>
            <a:off x="2952000" y="1620000"/>
            <a:ext cx="612000" cy="288000"/>
          </a:xfrm>
          <a:prstGeom prst="rect">
            <a:avLst/>
          </a:prstGeom>
          <a:noFill/>
          <a:ln>
            <a:noFill/>
          </a:ln>
        </p:spPr>
        <p:txBody>
          <a:bodyPr rtlCol="0" anchor="t" wrap="square" lIns="0" rIns="0" tIns="0" bIns="0">
            <a:noAutofit/>
          </a:bodyPr>
          <a:lstStyle/>
          <a:p>
            <a:pPr rtl="1" algn="ctr" marL="0" indent="0">
              <a:lnSpc>
                <a:spcPct val="105000"/>
              </a:lnSpc>
              <a:spcBef>
                <a:spcPts val="0"/>
              </a:spcBef>
              <a:spcAft>
                <a:spcPts val="0"/>
              </a:spcAft>
              <a:buNone/>
            </a:pPr>
            <a:r>
              <a:rPr lang="he-IL" sz="1300" b="0" i="0">
                <a:solidFill>
                  <a:srgbClr val="595959"/>
                </a:solidFill>
              </a:rPr>
              <a:t>הורה</a:t>
            </a:r>
          </a:p>
        </p:txBody>
      </p:sp>
      <p:sp>
        <p:nvSpPr>
          <p:cNvPr id="918" name="TextBox 918"/>
          <p:cNvSpPr txBox="1"/>
          <p:nvPr/>
        </p:nvSpPr>
        <p:spPr>
          <a:xfrm>
            <a:off x="5832000" y="1620000"/>
            <a:ext cx="612000" cy="288000"/>
          </a:xfrm>
          <a:prstGeom prst="rect">
            <a:avLst/>
          </a:prstGeom>
          <a:noFill/>
          <a:ln>
            <a:noFill/>
          </a:ln>
        </p:spPr>
        <p:txBody>
          <a:bodyPr rtlCol="0" anchor="t" wrap="square" lIns="0" rIns="0" tIns="0" bIns="0">
            <a:noAutofit/>
          </a:bodyPr>
          <a:lstStyle/>
          <a:p>
            <a:pPr rtl="1" algn="ctr" marL="0" indent="0">
              <a:lnSpc>
                <a:spcPct val="105000"/>
              </a:lnSpc>
              <a:spcBef>
                <a:spcPts val="0"/>
              </a:spcBef>
              <a:spcAft>
                <a:spcPts val="0"/>
              </a:spcAft>
              <a:buNone/>
            </a:pPr>
            <a:r>
              <a:rPr lang="he-IL" sz="1300" b="0" i="0">
                <a:solidFill>
                  <a:srgbClr val="595959"/>
                </a:solidFill>
              </a:rPr>
              <a:t>הורה</a:t>
            </a:r>
          </a:p>
        </p:txBody>
      </p:sp>
      <p:sp>
        <p:nvSpPr>
          <p:cNvPr id="919" name="Shape 919"/>
          <p:cNvSpPr/>
          <p:nvPr/>
        </p:nvSpPr>
        <p:spPr>
          <a:xfrm>
            <a:off x="6120000" y="2988000"/>
            <a:ext cx="2664000" cy="1764000"/>
          </a:xfrm>
          <a:prstGeom prst="roundRect">
            <a:avLst>
              <a:gd name="adj" fmla="val 6000"/>
            </a:avLst>
          </a:prstGeom>
          <a:solidFill>
            <a:srgbClr val="E1F4E6"/>
          </a:solidFill>
          <a:ln w="28575">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900" b="1" i="0">
                <a:solidFill>
                  <a:srgbClr val="212121"/>
                </a:solidFill>
              </a:rPr>
              <a:t>מה יש ב־commit</a:t>
            </a:r>
          </a:p>
          <a:p>
            <a:pPr rtl="1" algn="ctr" marL="0" indent="0">
              <a:lnSpc>
                <a:spcPct val="105000"/>
              </a:lnSpc>
              <a:spcBef>
                <a:spcPts val="800"/>
              </a:spcBef>
              <a:spcAft>
                <a:spcPts val="0"/>
              </a:spcAft>
              <a:buNone/>
            </a:pPr>
            <a:r>
              <a:rPr lang="he-IL" sz="1600" b="0" i="0">
                <a:solidFill>
                  <a:srgbClr val="212121"/>
                </a:solidFill>
              </a:rPr>
              <a:t>צילום של הפרויקט, מצביע להורה, מחבר והודעה</a:t>
            </a:r>
          </a:p>
        </p:txBody>
      </p:sp>
      <p:sp>
        <p:nvSpPr>
          <p:cNvPr id="920" name="Shape 920"/>
          <p:cNvSpPr/>
          <p:nvPr/>
        </p:nvSpPr>
        <p:spPr>
          <a:xfrm>
            <a:off x="3240000" y="2988000"/>
            <a:ext cx="2664000" cy="1764000"/>
          </a:xfrm>
          <a:prstGeom prst="roundRect">
            <a:avLst>
              <a:gd name="adj" fmla="val 6000"/>
            </a:avLst>
          </a:prstGeom>
          <a:solidFill>
            <a:srgbClr val="E3EEFF"/>
          </a:solidFill>
          <a:ln w="28575">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900" b="1" i="0">
                <a:solidFill>
                  <a:srgbClr val="212121"/>
                </a:solidFill>
              </a:rPr>
              <a:t>hash</a:t>
            </a:r>
          </a:p>
          <a:p>
            <a:pPr rtl="1" algn="ctr" marL="0" indent="0">
              <a:lnSpc>
                <a:spcPct val="105000"/>
              </a:lnSpc>
              <a:spcBef>
                <a:spcPts val="800"/>
              </a:spcBef>
              <a:spcAft>
                <a:spcPts val="0"/>
              </a:spcAft>
              <a:buNone/>
            </a:pPr>
            <a:r>
              <a:rPr lang="he-IL" sz="1600" b="0" i="0">
                <a:solidFill>
                  <a:srgbClr val="212121"/>
                </a:solidFill>
              </a:rPr>
              <a:t>טביעת אצבע של התוכן: 40 תווים, ובדרך כלל רואים 7</a:t>
            </a:r>
          </a:p>
        </p:txBody>
      </p:sp>
      <p:sp>
        <p:nvSpPr>
          <p:cNvPr id="921" name="Shape 921"/>
          <p:cNvSpPr/>
          <p:nvPr/>
        </p:nvSpPr>
        <p:spPr>
          <a:xfrm>
            <a:off x="360000" y="2988000"/>
            <a:ext cx="2664000" cy="1764000"/>
          </a:xfrm>
          <a:prstGeom prst="roundRect">
            <a:avLst>
              <a:gd name="adj" fmla="val 6000"/>
            </a:avLst>
          </a:prstGeom>
          <a:solidFill>
            <a:srgbClr val="FFF0D9"/>
          </a:solidFill>
          <a:ln w="28575">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900" b="1" i="0">
                <a:solidFill>
                  <a:srgbClr val="212121"/>
                </a:solidFill>
              </a:rPr>
              <a:t>היסטוריה</a:t>
            </a:r>
          </a:p>
          <a:p>
            <a:pPr rtl="1" algn="ctr" marL="0" indent="0">
              <a:lnSpc>
                <a:spcPct val="105000"/>
              </a:lnSpc>
              <a:spcBef>
                <a:spcPts val="800"/>
              </a:spcBef>
              <a:spcAft>
                <a:spcPts val="0"/>
              </a:spcAft>
              <a:buNone/>
            </a:pPr>
            <a:r>
              <a:rPr lang="he-IL" sz="1600" b="0" i="0">
                <a:solidFill>
                  <a:srgbClr val="212121"/>
                </a:solidFill>
              </a:rPr>
              <a:t>שינוי ב־commit ישן משנה את ה־hash שלו ושל כל מה שאחריו</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a:t>
            </a:r>
            <a:r>
              <a:rPr sz="3000" b="1" i="0" lang="he-IL">
                <a:solidFill>
                  <a:srgbClr val="212121"/>
                </a:solidFill>
              </a:rPr>
              <a:t>ענף ומיזוג</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cxnSp>
        <p:nvCxnSpPr>
          <p:cNvPr id="5" name="Connector 4"/>
          <p:cNvCxnSpPr/>
          <p:nvPr/>
        </p:nvCxnSpPr>
        <p:spPr>
          <a:xfrm flipH="1">
            <a:off x="365760" y="3566160"/>
            <a:ext cx="8321040" cy="0"/>
          </a:xfrm>
          <a:prstGeom prst="line">
            <a:avLst/>
          </a:prstGeom>
          <a:ln w="50800">
            <a:solidFill>
              <a:srgbClr val="4285F4"/>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0" y="3657600"/>
            <a:ext cx="146304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4285F4"/>
                </a:solidFill>
              </a:rPr>
              <a:t>main</a:t>
            </a:r>
          </a:p>
        </p:txBody>
      </p:sp>
      <p:sp>
        <p:nvSpPr>
          <p:cNvPr id="7" name="Oval 6"/>
          <p:cNvSpPr/>
          <p:nvPr/>
        </p:nvSpPr>
        <p:spPr>
          <a:xfrm>
            <a:off x="7726679" y="3429000"/>
            <a:ext cx="274320" cy="274320"/>
          </a:xfrm>
          <a:prstGeom prst="ellipse">
            <a:avLst/>
          </a:prstGeom>
          <a:solidFill>
            <a:srgbClr val="4285F4"/>
          </a:solidFill>
          <a:ln w="19050">
            <a:solidFill>
              <a:srgbClr val="FFFFFF"/>
            </a:solidFill>
          </a:ln>
        </p:spPr>
        <p:txBody>
          <a:bodyPr rtlCol="0" anchor="ctr" wrap="square" lIns="73152" rIns="73152" tIns="73152" bIns="73152">
            <a:noAutofit/>
          </a:bodyPr>
          <a:lstStyle/>
          <a:p>
            <a:pPr algn="ctr"/>
          </a:p>
        </p:txBody>
      </p:sp>
      <p:sp>
        <p:nvSpPr>
          <p:cNvPr id="8" name="Oval 7"/>
          <p:cNvSpPr/>
          <p:nvPr/>
        </p:nvSpPr>
        <p:spPr>
          <a:xfrm>
            <a:off x="6080759" y="3429000"/>
            <a:ext cx="274320" cy="274320"/>
          </a:xfrm>
          <a:prstGeom prst="ellipse">
            <a:avLst/>
          </a:prstGeom>
          <a:solidFill>
            <a:srgbClr val="4285F4"/>
          </a:solidFill>
          <a:ln w="19050">
            <a:solidFill>
              <a:srgbClr val="FFFFFF"/>
            </a:solidFill>
          </a:ln>
        </p:spPr>
        <p:txBody>
          <a:bodyPr rtlCol="0" anchor="ctr" wrap="square" lIns="73152" rIns="73152" tIns="73152" bIns="73152">
            <a:noAutofit/>
          </a:bodyPr>
          <a:lstStyle/>
          <a:p>
            <a:pPr algn="ctr"/>
          </a:p>
        </p:txBody>
      </p:sp>
      <p:sp>
        <p:nvSpPr>
          <p:cNvPr id="9" name="Oval 8"/>
          <p:cNvSpPr/>
          <p:nvPr/>
        </p:nvSpPr>
        <p:spPr>
          <a:xfrm>
            <a:off x="1874520" y="3429000"/>
            <a:ext cx="274320" cy="274320"/>
          </a:xfrm>
          <a:prstGeom prst="ellipse">
            <a:avLst/>
          </a:prstGeom>
          <a:solidFill>
            <a:srgbClr val="4285F4"/>
          </a:solidFill>
          <a:ln w="19050">
            <a:solidFill>
              <a:srgbClr val="FFFFFF"/>
            </a:solidFill>
          </a:ln>
        </p:spPr>
        <p:txBody>
          <a:bodyPr rtlCol="0" anchor="ctr" wrap="square" lIns="73152" rIns="73152" tIns="73152" bIns="73152">
            <a:noAutofit/>
          </a:bodyPr>
          <a:lstStyle/>
          <a:p>
            <a:pPr algn="ctr"/>
          </a:p>
        </p:txBody>
      </p:sp>
      <p:sp>
        <p:nvSpPr>
          <p:cNvPr id="10" name="Oval 9"/>
          <p:cNvSpPr/>
          <p:nvPr/>
        </p:nvSpPr>
        <p:spPr>
          <a:xfrm>
            <a:off x="685800" y="3429000"/>
            <a:ext cx="274320" cy="274320"/>
          </a:xfrm>
          <a:prstGeom prst="ellipse">
            <a:avLst/>
          </a:prstGeom>
          <a:solidFill>
            <a:srgbClr val="4285F4"/>
          </a:solidFill>
          <a:ln w="19050">
            <a:solidFill>
              <a:srgbClr val="FFFFFF"/>
            </a:solidFill>
          </a:ln>
        </p:spPr>
        <p:txBody>
          <a:bodyPr rtlCol="0" anchor="ctr" wrap="square" lIns="73152" rIns="73152" tIns="73152" bIns="73152">
            <a:noAutofit/>
          </a:bodyPr>
          <a:lstStyle/>
          <a:p>
            <a:pPr algn="ctr"/>
          </a:p>
        </p:txBody>
      </p:sp>
      <p:cxnSp>
        <p:nvCxnSpPr>
          <p:cNvPr id="11" name="Connector 10"/>
          <p:cNvCxnSpPr/>
          <p:nvPr/>
        </p:nvCxnSpPr>
        <p:spPr>
          <a:xfrm flipH="1" flipV="1">
            <a:off x="5486400" y="2194560"/>
            <a:ext cx="731520" cy="1234440"/>
          </a:xfrm>
          <a:prstGeom prst="line">
            <a:avLst/>
          </a:prstGeom>
          <a:ln w="38100">
            <a:solidFill>
              <a:srgbClr val="FFAB4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743200" y="2194560"/>
            <a:ext cx="2743200" cy="0"/>
          </a:xfrm>
          <a:prstGeom prst="line">
            <a:avLst/>
          </a:prstGeom>
          <a:ln w="50800">
            <a:solidFill>
              <a:srgbClr val="FFAB4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011680" y="2194560"/>
            <a:ext cx="731520" cy="1234440"/>
          </a:xfrm>
          <a:prstGeom prst="line">
            <a:avLst/>
          </a:prstGeom>
          <a:ln w="38100">
            <a:solidFill>
              <a:srgbClr val="34A853"/>
            </a:solidFill>
            <a:tailEnd type="triangle"/>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800600" y="2057400"/>
            <a:ext cx="274320" cy="274320"/>
          </a:xfrm>
          <a:prstGeom prst="ellipse">
            <a:avLst/>
          </a:prstGeom>
          <a:solidFill>
            <a:srgbClr val="FFAB40"/>
          </a:solidFill>
          <a:ln w="19050">
            <a:solidFill>
              <a:srgbClr val="FFFFFF"/>
            </a:solidFill>
          </a:ln>
        </p:spPr>
        <p:txBody>
          <a:bodyPr rtlCol="0" anchor="ctr" wrap="square" lIns="73152" rIns="73152" tIns="73152" bIns="73152">
            <a:noAutofit/>
          </a:bodyPr>
          <a:lstStyle/>
          <a:p>
            <a:pPr algn="ctr"/>
          </a:p>
        </p:txBody>
      </p:sp>
      <p:sp>
        <p:nvSpPr>
          <p:cNvPr id="15" name="Oval 14"/>
          <p:cNvSpPr/>
          <p:nvPr/>
        </p:nvSpPr>
        <p:spPr>
          <a:xfrm>
            <a:off x="3703320" y="2057400"/>
            <a:ext cx="274320" cy="274320"/>
          </a:xfrm>
          <a:prstGeom prst="ellipse">
            <a:avLst/>
          </a:prstGeom>
          <a:solidFill>
            <a:srgbClr val="FFAB40"/>
          </a:solidFill>
          <a:ln w="19050">
            <a:solidFill>
              <a:srgbClr val="FFFFFF"/>
            </a:solidFill>
          </a:ln>
        </p:spPr>
        <p:txBody>
          <a:bodyPr rtlCol="0" anchor="ctr" wrap="square" lIns="73152" rIns="73152" tIns="73152" bIns="73152">
            <a:noAutofit/>
          </a:bodyPr>
          <a:lstStyle/>
          <a:p>
            <a:pPr algn="ctr"/>
          </a:p>
        </p:txBody>
      </p:sp>
      <p:sp>
        <p:nvSpPr>
          <p:cNvPr id="16" name="Oval 15"/>
          <p:cNvSpPr/>
          <p:nvPr/>
        </p:nvSpPr>
        <p:spPr>
          <a:xfrm>
            <a:off x="2971800" y="2057400"/>
            <a:ext cx="274320" cy="274320"/>
          </a:xfrm>
          <a:prstGeom prst="ellipse">
            <a:avLst/>
          </a:prstGeom>
          <a:solidFill>
            <a:srgbClr val="FFAB40"/>
          </a:solidFill>
          <a:ln w="19050">
            <a:solidFill>
              <a:srgbClr val="FFFFFF"/>
            </a:solidFill>
          </a:ln>
        </p:spPr>
        <p:txBody>
          <a:bodyPr rtlCol="0" anchor="ctr" wrap="square" lIns="73152" rIns="73152" tIns="73152" bIns="73152">
            <a:noAutofit/>
          </a:bodyPr>
          <a:lstStyle/>
          <a:p>
            <a:pPr algn="ctr"/>
          </a:p>
        </p:txBody>
      </p:sp>
      <p:sp>
        <p:nvSpPr>
          <p:cNvPr id="17" name="TextBox 16"/>
          <p:cNvSpPr txBox="1"/>
          <p:nvPr/>
        </p:nvSpPr>
        <p:spPr>
          <a:xfrm>
            <a:off x="3017520" y="1600200"/>
            <a:ext cx="274320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FFAB40"/>
                </a:solidFill>
              </a:rPr>
              <a:t>ענף: ניסוי של הסוכן</a:t>
            </a:r>
          </a:p>
        </p:txBody>
      </p:sp>
      <p:sp>
        <p:nvSpPr>
          <p:cNvPr id="18" name="TextBox 17"/>
          <p:cNvSpPr txBox="1"/>
          <p:nvPr/>
        </p:nvSpPr>
        <p:spPr>
          <a:xfrm>
            <a:off x="365760" y="4206240"/>
            <a:ext cx="841248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0" i="0" lang="he-IL">
                <a:solidFill>
                  <a:srgbClr val="595959"/>
                </a:solidFill>
              </a:rPr>
              <a:t>ענף הוא קו ניסוי נפרד, כמו טיוטה של מסמך. מצליח: ממזגים (merge). נכשל: זורקים.</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a:t>
            </a:r>
            <a:r>
              <a:rPr sz="3000" b="1" i="0" lang="he-IL">
                <a:solidFill>
                  <a:srgbClr val="212121"/>
                </a:solidFill>
              </a:rPr>
              <a:t>הכלל: לפני ואחרי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858000" y="2011680"/>
            <a:ext cx="1920240" cy="137160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① commit</a:t>
            </a:r>
          </a:p>
          <a:p>
            <a:pPr rtl="1" algn="ctr" marL="0" indent="0">
              <a:lnSpc>
                <a:spcPct val="105000"/>
              </a:lnSpc>
              <a:spcBef>
                <a:spcPts val="0"/>
              </a:spcBef>
              <a:spcAft>
                <a:spcPts val="0"/>
              </a:spcAft>
              <a:buNone/>
            </a:pPr>
            <a:r>
              <a:rPr sz="1600" b="1" i="0" lang="he-IL">
                <a:solidFill>
                  <a:srgbClr val="212121"/>
                </a:solidFill>
              </a:rPr>
              <a:t>נקודת שמירה</a:t>
            </a:r>
          </a:p>
        </p:txBody>
      </p:sp>
      <p:cxnSp>
        <p:nvCxnSpPr>
          <p:cNvPr id="6" name="Connector 5"/>
          <p:cNvCxnSpPr/>
          <p:nvPr/>
        </p:nvCxnSpPr>
        <p:spPr>
          <a:xfrm flipH="1">
            <a:off x="6601968" y="2697480"/>
            <a:ext cx="23774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663440" y="2011680"/>
            <a:ext cx="1920240" cy="13716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② הסוכן</a:t>
            </a:r>
          </a:p>
          <a:p>
            <a:pPr rtl="1" algn="ctr" marL="0" indent="0">
              <a:lnSpc>
                <a:spcPct val="105000"/>
              </a:lnSpc>
              <a:spcBef>
                <a:spcPts val="0"/>
              </a:spcBef>
              <a:spcAft>
                <a:spcPts val="0"/>
              </a:spcAft>
              <a:buNone/>
            </a:pPr>
            <a:r>
              <a:rPr sz="1600" b="1" i="0" lang="he-IL">
                <a:solidFill>
                  <a:srgbClr val="212121"/>
                </a:solidFill>
              </a:rPr>
              <a:t>עובד</a:t>
            </a:r>
          </a:p>
        </p:txBody>
      </p:sp>
      <p:cxnSp>
        <p:nvCxnSpPr>
          <p:cNvPr id="8" name="Connector 7"/>
          <p:cNvCxnSpPr/>
          <p:nvPr/>
        </p:nvCxnSpPr>
        <p:spPr>
          <a:xfrm flipH="1">
            <a:off x="4407407" y="2697480"/>
            <a:ext cx="23774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8879" y="2011680"/>
            <a:ext cx="1920240" cy="137160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③ diff</a:t>
            </a:r>
          </a:p>
          <a:p>
            <a:pPr rtl="1" algn="ctr" marL="0" indent="0">
              <a:lnSpc>
                <a:spcPct val="105000"/>
              </a:lnSpc>
              <a:spcBef>
                <a:spcPts val="0"/>
              </a:spcBef>
              <a:spcAft>
                <a:spcPts val="0"/>
              </a:spcAft>
              <a:buNone/>
            </a:pPr>
            <a:r>
              <a:rPr sz="1600" b="1" i="0" lang="he-IL">
                <a:solidFill>
                  <a:srgbClr val="212121"/>
                </a:solidFill>
              </a:rPr>
              <a:t>מה השתנה?</a:t>
            </a:r>
          </a:p>
        </p:txBody>
      </p:sp>
      <p:cxnSp>
        <p:nvCxnSpPr>
          <p:cNvPr id="10" name="Connector 9"/>
          <p:cNvCxnSpPr/>
          <p:nvPr/>
        </p:nvCxnSpPr>
        <p:spPr>
          <a:xfrm flipH="1">
            <a:off x="2212848" y="2697480"/>
            <a:ext cx="237743"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4319" y="2011680"/>
            <a:ext cx="1920240" cy="1371600"/>
          </a:xfrm>
          <a:prstGeom prst="roundRect">
            <a:avLst>
              <a:gd name="adj" fmla="val 12000"/>
            </a:avLst>
          </a:prstGeom>
          <a:solidFill>
            <a:srgbClr val="DDF2F5"/>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④ החלטה</a:t>
            </a:r>
          </a:p>
          <a:p>
            <a:pPr rtl="1" algn="ctr" marL="0" indent="0">
              <a:lnSpc>
                <a:spcPct val="105000"/>
              </a:lnSpc>
              <a:spcBef>
                <a:spcPts val="0"/>
              </a:spcBef>
              <a:spcAft>
                <a:spcPts val="0"/>
              </a:spcAft>
              <a:buNone/>
            </a:pPr>
            <a:r>
              <a:rPr sz="1600" b="1" i="0" lang="he-IL">
                <a:solidFill>
                  <a:srgbClr val="212121"/>
                </a:solidFill>
              </a:rPr>
              <a:t>משאירים או מבטלים</a:t>
            </a:r>
          </a:p>
        </p:txBody>
      </p:sp>
      <p:sp>
        <p:nvSpPr>
          <p:cNvPr id="12" name="TextBox 11"/>
          <p:cNvSpPr txBox="1"/>
          <p:nvPr/>
        </p:nvSpPr>
        <p:spPr>
          <a:xfrm>
            <a:off x="365760" y="3840480"/>
            <a:ext cx="841248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34A853"/>
                </a:solidFill>
              </a:rPr>
              <a:t>אם השתבש: משחזרים לנקודה ① ואין נזק.</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a:t>
            </a:r>
            <a:r>
              <a:rPr sz="3000" b="1" i="0" lang="he-IL">
                <a:solidFill>
                  <a:srgbClr val="212121"/>
                </a:solidFill>
              </a:rPr>
              <a:t>diff: מה השתנה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1371600" y="1554480"/>
            <a:ext cx="6400800" cy="475488"/>
          </a:xfrm>
          <a:prstGeom prst="rect">
            <a:avLst/>
          </a:prstGeom>
          <a:solidFill>
            <a:srgbClr val="F7F7F7"/>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600" b="0" i="0" lang="he-IL">
                <a:solidFill>
                  <a:srgbClr val="212121"/>
                </a:solidFill>
              </a:rPr>
              <a:t>  def total(df):</a:t>
            </a:r>
          </a:p>
        </p:txBody>
      </p:sp>
      <p:sp>
        <p:nvSpPr>
          <p:cNvPr id="6" name="Rectangle 5"/>
          <p:cNvSpPr/>
          <p:nvPr/>
        </p:nvSpPr>
        <p:spPr>
          <a:xfrm>
            <a:off x="1371600" y="2103120"/>
            <a:ext cx="6400800" cy="475488"/>
          </a:xfrm>
          <a:prstGeom prst="rect">
            <a:avLst/>
          </a:prstGeom>
          <a:solidFill>
            <a:srgbClr val="FDE3E0"/>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600" b="0" i="0" lang="he-IL">
                <a:solidFill>
                  <a:srgbClr val="212121"/>
                </a:solidFill>
              </a:rPr>
              <a:t>-     return df.quantity.sum()</a:t>
            </a:r>
          </a:p>
        </p:txBody>
      </p:sp>
      <p:sp>
        <p:nvSpPr>
          <p:cNvPr id="7" name="Rectangle 6"/>
          <p:cNvSpPr/>
          <p:nvPr/>
        </p:nvSpPr>
        <p:spPr>
          <a:xfrm>
            <a:off x="1371600" y="2651760"/>
            <a:ext cx="6400800" cy="475488"/>
          </a:xfrm>
          <a:prstGeom prst="rect">
            <a:avLst/>
          </a:prstGeom>
          <a:solidFill>
            <a:srgbClr val="E1F4E6"/>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600" b="0" i="0" lang="he-IL">
                <a:solidFill>
                  <a:srgbClr val="212121"/>
                </a:solidFill>
              </a:rPr>
              <a:t>+     return (df.quantity * df.unit_price).sum()</a:t>
            </a:r>
          </a:p>
        </p:txBody>
      </p:sp>
      <p:sp>
        <p:nvSpPr>
          <p:cNvPr id="8" name="Rectangle 7"/>
          <p:cNvSpPr/>
          <p:nvPr/>
        </p:nvSpPr>
        <p:spPr>
          <a:xfrm>
            <a:off x="1371600" y="3200400"/>
            <a:ext cx="6400800" cy="475488"/>
          </a:xfrm>
          <a:prstGeom prst="rect">
            <a:avLst/>
          </a:prstGeom>
          <a:solidFill>
            <a:srgbClr val="F7F7F7"/>
          </a:solidFill>
          <a:ln>
            <a:noFill/>
          </a:ln>
        </p:spPr>
        <p:txBody>
          <a:bodyPr rtlCol="0" anchor="ctr" wrap="square" lIns="73152" rIns="73152" tIns="73152" bIns="73152">
            <a:noAutofit/>
          </a:bodyPr>
          <a:lstStyle/>
          <a:p>
            <a:pPr rtl="0" algn="l" marL="0" indent="0">
              <a:lnSpc>
                <a:spcPct val="105000"/>
              </a:lnSpc>
              <a:spcBef>
                <a:spcPts val="0"/>
              </a:spcBef>
              <a:spcAft>
                <a:spcPts val="0"/>
              </a:spcAft>
              <a:buNone/>
            </a:pPr>
            <a:r>
              <a:rPr sz="1600" b="0" i="0" lang="he-IL">
                <a:solidFill>
                  <a:srgbClr val="212121"/>
                </a:solidFill>
              </a:rPr>
              <a:t>  print(total(df))</a:t>
            </a:r>
          </a:p>
        </p:txBody>
      </p:sp>
      <p:sp>
        <p:nvSpPr>
          <p:cNvPr id="9" name="TextBox 8"/>
          <p:cNvSpPr txBox="1"/>
          <p:nvPr/>
        </p:nvSpPr>
        <p:spPr>
          <a:xfrm>
            <a:off x="365760" y="3931920"/>
            <a:ext cx="841248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212121"/>
                </a:solidFill>
              </a:rPr>
              <a:t>אדום: נמחק. ירוק: נוסף.</a:t>
            </a:r>
          </a:p>
          <a:p>
            <a:pPr rtl="1" algn="ctr" marL="0" indent="0">
              <a:lnSpc>
                <a:spcPct val="110000"/>
              </a:lnSpc>
              <a:spcBef>
                <a:spcPts val="0"/>
              </a:spcBef>
              <a:spcAft>
                <a:spcPts val="0"/>
              </a:spcAft>
              <a:buNone/>
            </a:pPr>
            <a:r>
              <a:rPr sz="1800" b="0" i="0" lang="he-IL">
                <a:solidFill>
                  <a:srgbClr val="595959"/>
                </a:solidFill>
              </a:rPr>
              <a:t>כך רואים בדיוק מה הסוכן שינה, גם בקבצים שלא ביקשתם.</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a:t>
            </a:r>
            <a:r>
              <a:rPr sz="3000" b="1" i="0" lang="he-IL">
                <a:solidFill>
                  <a:srgbClr val="212121"/>
                </a:solidFill>
              </a:rPr>
              <a:t>הודעת commit טובה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463040"/>
          <a:ext cx="8412480" cy="2926080"/>
        </p:xfrm>
        <a:graphic>
          <a:graphicData uri="http://schemas.openxmlformats.org/drawingml/2006/table">
            <a:tbl>
              <a:tblPr firstRow="0" bandRow="0">
                <a:tableStyleId>{2D5ABB26-0587-4C30-8999-92F81FD0307C}</a:tableStyleId>
              </a:tblPr>
              <a:tblGrid>
                <a:gridCol w="4937760"/>
                <a:gridCol w="3474720"/>
              </a:tblGrid>
              <a:tr h="731520">
                <a:tc>
                  <a:txBody>
                    <a:bodyPr wrap="square"/>
                    <a:lstStyle/>
                    <a:p>
                      <a:pPr rtl="1" algn="ctr" marL="0" indent="0">
                        <a:lnSpc>
                          <a:spcPct val="100000"/>
                        </a:lnSpc>
                        <a:spcBef>
                          <a:spcPts val="0"/>
                        </a:spcBef>
                        <a:spcAft>
                          <a:spcPts val="0"/>
                        </a:spcAft>
                        <a:buNone/>
                      </a:pPr>
                      <a:r>
                        <a:rPr sz="1900" b="1" i="0" lang="he-IL">
                          <a:solidFill>
                            <a:srgbClr val="212121"/>
                          </a:solidFill>
                        </a:rPr>
                        <a:t>טוב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900" b="1" i="0" lang="he-IL">
                          <a:solidFill>
                            <a:srgbClr val="212121"/>
                          </a:solidFill>
                        </a:rPr>
                        <a:t>לא טוב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731520">
                <a:tc>
                  <a:txBody>
                    <a:bodyPr wrap="square"/>
                    <a:lstStyle/>
                    <a:p>
                      <a:pPr rtl="1" algn="r" marL="0" indent="0">
                        <a:lnSpc>
                          <a:spcPct val="100000"/>
                        </a:lnSpc>
                        <a:spcBef>
                          <a:spcPts val="0"/>
                        </a:spcBef>
                        <a:spcAft>
                          <a:spcPts val="0"/>
                        </a:spcAft>
                        <a:buNone/>
                      </a:pPr>
                      <a:r>
                        <a:rPr sz="1900" b="0" i="0" lang="he-IL">
                          <a:solidFill>
                            <a:srgbClr val="212121"/>
                          </a:solidFill>
                        </a:rPr>
                        <a:t>Add monthly revenue function</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wrap="square"/>
                    <a:lstStyle/>
                    <a:p>
                      <a:pPr rtl="1" algn="r" marL="0" indent="0">
                        <a:lnSpc>
                          <a:spcPct val="100000"/>
                        </a:lnSpc>
                        <a:spcBef>
                          <a:spcPts val="0"/>
                        </a:spcBef>
                        <a:spcAft>
                          <a:spcPts val="0"/>
                        </a:spcAft>
                        <a:buNone/>
                      </a:pPr>
                      <a:r>
                        <a:rPr sz="1900" b="0" i="0" lang="he-IL">
                          <a:solidFill>
                            <a:srgbClr val="212121"/>
                          </a:solidFill>
                        </a:rPr>
                        <a:t>update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r h="731520">
                <a:tc>
                  <a:txBody>
                    <a:bodyPr wrap="square"/>
                    <a:lstStyle/>
                    <a:p>
                      <a:pPr rtl="1" algn="r" marL="0" indent="0">
                        <a:lnSpc>
                          <a:spcPct val="100000"/>
                        </a:lnSpc>
                        <a:spcBef>
                          <a:spcPts val="0"/>
                        </a:spcBef>
                        <a:spcAft>
                          <a:spcPts val="0"/>
                        </a:spcAft>
                        <a:buNone/>
                      </a:pPr>
                      <a:r>
                        <a:rPr sz="1900" b="0" i="0" lang="he-IL">
                          <a:solidFill>
                            <a:srgbClr val="212121"/>
                          </a:solidFill>
                        </a:rPr>
                        <a:t>Fix KeyError: add month column</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wrap="square"/>
                    <a:lstStyle/>
                    <a:p>
                      <a:pPr rtl="1" algn="r" marL="0" indent="0">
                        <a:lnSpc>
                          <a:spcPct val="100000"/>
                        </a:lnSpc>
                        <a:spcBef>
                          <a:spcPts val="0"/>
                        </a:spcBef>
                        <a:spcAft>
                          <a:spcPts val="0"/>
                        </a:spcAft>
                        <a:buNone/>
                      </a:pPr>
                      <a:r>
                        <a:rPr sz="1900" b="0" i="0" lang="he-IL">
                          <a:solidFill>
                            <a:srgbClr val="212121"/>
                          </a:solidFill>
                        </a:rPr>
                        <a:t>fix</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r h="731520">
                <a:tc>
                  <a:txBody>
                    <a:bodyPr wrap="square"/>
                    <a:lstStyle/>
                    <a:p>
                      <a:pPr rtl="1" algn="r" marL="0" indent="0">
                        <a:lnSpc>
                          <a:spcPct val="100000"/>
                        </a:lnSpc>
                        <a:spcBef>
                          <a:spcPts val="0"/>
                        </a:spcBef>
                        <a:spcAft>
                          <a:spcPts val="0"/>
                        </a:spcAft>
                        <a:buNone/>
                      </a:pPr>
                      <a:r>
                        <a:rPr sz="1900" b="0" i="0" lang="he-IL">
                          <a:solidFill>
                            <a:srgbClr val="212121"/>
                          </a:solidFill>
                        </a:rPr>
                        <a:t>Remove unused products_old.csv</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1F4E6"/>
                    </a:solidFill>
                  </a:tcPr>
                </a:tc>
                <a:tc>
                  <a:txBody>
                    <a:bodyPr wrap="square"/>
                    <a:lstStyle/>
                    <a:p>
                      <a:pPr rtl="1" algn="r" marL="0" indent="0">
                        <a:lnSpc>
                          <a:spcPct val="100000"/>
                        </a:lnSpc>
                        <a:spcBef>
                          <a:spcPts val="0"/>
                        </a:spcBef>
                        <a:spcAft>
                          <a:spcPts val="0"/>
                        </a:spcAft>
                        <a:buNone/>
                      </a:pPr>
                      <a:r>
                        <a:rPr sz="1900" b="0" i="0" lang="he-IL">
                          <a:solidFill>
                            <a:srgbClr val="212121"/>
                          </a:solidFill>
                        </a:rPr>
                        <a:t>asdf</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DE3E0"/>
                    </a:solidFill>
                  </a:tcPr>
                </a:tc>
              </a:tr>
            </a:tbl>
          </a:graphicData>
        </a:graphic>
      </p:graphicFrame>
      <p:sp>
        <p:nvSpPr>
          <p:cNvPr id="6" name="TextBox 5"/>
          <p:cNvSpPr txBox="1"/>
          <p:nvPr/>
        </p:nvSpPr>
        <p:spPr>
          <a:xfrm>
            <a:off x="365760" y="452628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1" i="0" lang="he-IL">
                <a:solidFill>
                  <a:srgbClr val="4285F4"/>
                </a:solidFill>
              </a:rPr>
              <a:t>commit קטן, עם הודעה שמסבירה מה עשיתם.</a:t>
            </a:r>
          </a:p>
        </p:txBody>
      </p:sp>
      <p:sp>
        <p:nvSpPr>
          <p:cNvPr id="7"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הסוכן שינה 6 קבצים, אתם ביקשתם קובץ אחד. איך תגלו, ומה תעשו?</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הסוכן שינה 6 קבצים, אתם ביקשתם קובץ אחד. איך תגלו, ומה תעשו?</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קוראים את ה־diff ורואים אילו קבצים השתנו.</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מבטלים את הקבצים שלא התבקשו (restore), ומחזירים לנקודה השמורה אם צריך.</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:למה ענף זול</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922" name="Oval 922"/>
          <p:cNvSpPr/>
          <p:nvPr/>
        </p:nvSpPr>
        <p:spPr>
          <a:xfrm>
            <a:off x="7632000" y="2592000"/>
            <a:ext cx="576000" cy="576000"/>
          </a:xfrm>
          <a:prstGeom prst="ellipse">
            <a:avLst/>
          </a:prstGeom>
          <a:solidFill>
            <a:srgbClr val="E3EEFF"/>
          </a:solidFill>
          <a:ln w="28575">
            <a:solidFill>
              <a:srgbClr val="4285F4"/>
            </a:solidFill>
          </a:ln>
        </p:spPr>
        <p:txBody>
          <a:bodyPr rtlCol="0" anchor="ctr" wrap="square" lIns="0" rIns="0" tIns="0" bIns="0">
            <a:noAutofit/>
          </a:bodyPr>
          <a:lstStyle/>
          <a:p>
            <a:pPr rtl="1" algn="ctr" marL="0" indent="0">
              <a:lnSpc>
                <a:spcPct val="105000"/>
              </a:lnSpc>
              <a:spcBef>
                <a:spcPts val="0"/>
              </a:spcBef>
              <a:spcAft>
                <a:spcPts val="0"/>
              </a:spcAft>
              <a:buNone/>
            </a:pPr>
            <a:r>
              <a:rPr lang="he-IL" sz="1500" b="1" i="0">
                <a:solidFill>
                  <a:srgbClr val="212121"/>
                </a:solidFill>
              </a:rPr>
              <a:t>C1</a:t>
            </a:r>
          </a:p>
        </p:txBody>
      </p:sp>
      <p:sp>
        <p:nvSpPr>
          <p:cNvPr id="923" name="Oval 923"/>
          <p:cNvSpPr/>
          <p:nvPr/>
        </p:nvSpPr>
        <p:spPr>
          <a:xfrm>
            <a:off x="6048000" y="2592000"/>
            <a:ext cx="576000" cy="576000"/>
          </a:xfrm>
          <a:prstGeom prst="ellipse">
            <a:avLst/>
          </a:prstGeom>
          <a:solidFill>
            <a:srgbClr val="E3EEFF"/>
          </a:solidFill>
          <a:ln w="28575">
            <a:solidFill>
              <a:srgbClr val="4285F4"/>
            </a:solidFill>
          </a:ln>
        </p:spPr>
        <p:txBody>
          <a:bodyPr rtlCol="0" anchor="ctr" wrap="square" lIns="0" rIns="0" tIns="0" bIns="0">
            <a:noAutofit/>
          </a:bodyPr>
          <a:lstStyle/>
          <a:p>
            <a:pPr rtl="1" algn="ctr" marL="0" indent="0">
              <a:lnSpc>
                <a:spcPct val="105000"/>
              </a:lnSpc>
              <a:spcBef>
                <a:spcPts val="0"/>
              </a:spcBef>
              <a:spcAft>
                <a:spcPts val="0"/>
              </a:spcAft>
              <a:buNone/>
            </a:pPr>
            <a:r>
              <a:rPr lang="he-IL" sz="1500" b="1" i="0">
                <a:solidFill>
                  <a:srgbClr val="212121"/>
                </a:solidFill>
              </a:rPr>
              <a:t>C2</a:t>
            </a:r>
          </a:p>
        </p:txBody>
      </p:sp>
      <p:sp>
        <p:nvSpPr>
          <p:cNvPr id="924" name="Oval 924"/>
          <p:cNvSpPr/>
          <p:nvPr/>
        </p:nvSpPr>
        <p:spPr>
          <a:xfrm>
            <a:off x="4464000" y="2592000"/>
            <a:ext cx="576000" cy="576000"/>
          </a:xfrm>
          <a:prstGeom prst="ellipse">
            <a:avLst/>
          </a:prstGeom>
          <a:solidFill>
            <a:srgbClr val="E3EEFF"/>
          </a:solidFill>
          <a:ln w="28575">
            <a:solidFill>
              <a:srgbClr val="4285F4"/>
            </a:solidFill>
          </a:ln>
        </p:spPr>
        <p:txBody>
          <a:bodyPr rtlCol="0" anchor="ctr" wrap="square" lIns="0" rIns="0" tIns="0" bIns="0">
            <a:noAutofit/>
          </a:bodyPr>
          <a:lstStyle/>
          <a:p>
            <a:pPr rtl="1" algn="ctr" marL="0" indent="0">
              <a:lnSpc>
                <a:spcPct val="105000"/>
              </a:lnSpc>
              <a:spcBef>
                <a:spcPts val="0"/>
              </a:spcBef>
              <a:spcAft>
                <a:spcPts val="0"/>
              </a:spcAft>
              <a:buNone/>
            </a:pPr>
            <a:r>
              <a:rPr lang="he-IL" sz="1500" b="1" i="0">
                <a:solidFill>
                  <a:srgbClr val="212121"/>
                </a:solidFill>
              </a:rPr>
              <a:t>C3</a:t>
            </a:r>
          </a:p>
        </p:txBody>
      </p:sp>
      <p:sp>
        <p:nvSpPr>
          <p:cNvPr id="925" name="Oval 925"/>
          <p:cNvSpPr/>
          <p:nvPr/>
        </p:nvSpPr>
        <p:spPr>
          <a:xfrm>
            <a:off x="2880000" y="2592000"/>
            <a:ext cx="576000" cy="576000"/>
          </a:xfrm>
          <a:prstGeom prst="ellipse">
            <a:avLst/>
          </a:prstGeom>
          <a:solidFill>
            <a:srgbClr val="FFF0D9"/>
          </a:solidFill>
          <a:ln w="28575">
            <a:solidFill>
              <a:srgbClr val="FFAB40"/>
            </a:solidFill>
          </a:ln>
        </p:spPr>
        <p:txBody>
          <a:bodyPr rtlCol="0" anchor="ctr" wrap="square" lIns="0" rIns="0" tIns="0" bIns="0">
            <a:noAutofit/>
          </a:bodyPr>
          <a:lstStyle/>
          <a:p>
            <a:pPr rtl="1" algn="ctr" marL="0" indent="0">
              <a:lnSpc>
                <a:spcPct val="105000"/>
              </a:lnSpc>
              <a:spcBef>
                <a:spcPts val="0"/>
              </a:spcBef>
              <a:spcAft>
                <a:spcPts val="0"/>
              </a:spcAft>
              <a:buNone/>
            </a:pPr>
            <a:r>
              <a:rPr lang="he-IL" sz="1500" b="1" i="0">
                <a:solidFill>
                  <a:srgbClr val="212121"/>
                </a:solidFill>
              </a:rPr>
              <a:t>C4</a:t>
            </a:r>
          </a:p>
        </p:txBody>
      </p:sp>
      <p:cxnSp>
        <p:nvCxnSpPr>
          <p:cNvPr id="926" name="Connector 926"/>
          <p:cNvCxnSpPr/>
          <p:nvPr/>
        </p:nvCxnSpPr>
        <p:spPr>
          <a:xfrm>
            <a:off x="6624000" y="2880000"/>
            <a:ext cx="1008000" cy="0"/>
          </a:xfrm>
          <a:prstGeom prst="line">
            <a:avLst/>
          </a:prstGeom>
          <a:ln w="31750">
            <a:solidFill>
              <a:srgbClr val="78909C"/>
            </a:solidFill>
            <a:tailEnd type="triangle"/>
          </a:ln>
        </p:spPr>
      </p:cxnSp>
      <p:cxnSp>
        <p:nvCxnSpPr>
          <p:cNvPr id="927" name="Connector 927"/>
          <p:cNvCxnSpPr/>
          <p:nvPr/>
        </p:nvCxnSpPr>
        <p:spPr>
          <a:xfrm>
            <a:off x="5040000" y="2880000"/>
            <a:ext cx="1008000" cy="0"/>
          </a:xfrm>
          <a:prstGeom prst="line">
            <a:avLst/>
          </a:prstGeom>
          <a:ln w="31750">
            <a:solidFill>
              <a:srgbClr val="78909C"/>
            </a:solidFill>
            <a:tailEnd type="triangle"/>
          </a:ln>
        </p:spPr>
      </p:cxnSp>
      <p:cxnSp>
        <p:nvCxnSpPr>
          <p:cNvPr id="928" name="Connector 928"/>
          <p:cNvCxnSpPr/>
          <p:nvPr/>
        </p:nvCxnSpPr>
        <p:spPr>
          <a:xfrm>
            <a:off x="3456000" y="2880000"/>
            <a:ext cx="1008000" cy="0"/>
          </a:xfrm>
          <a:prstGeom prst="line">
            <a:avLst/>
          </a:prstGeom>
          <a:ln w="31750">
            <a:solidFill>
              <a:srgbClr val="78909C"/>
            </a:solidFill>
            <a:tailEnd type="triangle"/>
          </a:ln>
        </p:spPr>
      </p:cxnSp>
      <p:sp>
        <p:nvSpPr>
          <p:cNvPr id="929" name="Shape 929"/>
          <p:cNvSpPr/>
          <p:nvPr/>
        </p:nvSpPr>
        <p:spPr>
          <a:xfrm>
            <a:off x="4104000" y="3744000"/>
            <a:ext cx="1296000" cy="432000"/>
          </a:xfrm>
          <a:prstGeom prst="roundRect">
            <a:avLst>
              <a:gd name="adj" fmla="val 8000"/>
            </a:avLst>
          </a:prstGeom>
          <a:solidFill>
            <a:srgbClr val="E3EEFF"/>
          </a:solidFill>
          <a:ln w="28575">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600" b="1" i="0">
                <a:solidFill>
                  <a:srgbClr val="212121"/>
                </a:solidFill>
              </a:rPr>
              <a:t>main</a:t>
            </a:r>
          </a:p>
        </p:txBody>
      </p:sp>
      <p:cxnSp>
        <p:nvCxnSpPr>
          <p:cNvPr id="930" name="Connector 930"/>
          <p:cNvCxnSpPr/>
          <p:nvPr/>
        </p:nvCxnSpPr>
        <p:spPr>
          <a:xfrm flipV="1">
            <a:off x="4752000" y="3222000"/>
            <a:ext cx="0" cy="522000"/>
          </a:xfrm>
          <a:prstGeom prst="line">
            <a:avLst/>
          </a:prstGeom>
          <a:ln w="31750">
            <a:solidFill>
              <a:srgbClr val="78909C"/>
            </a:solidFill>
            <a:tailEnd type="triangle"/>
          </a:ln>
        </p:spPr>
      </p:cxnSp>
      <p:sp>
        <p:nvSpPr>
          <p:cNvPr id="931" name="Shape 931"/>
          <p:cNvSpPr/>
          <p:nvPr/>
        </p:nvSpPr>
        <p:spPr>
          <a:xfrm>
            <a:off x="2268000" y="1584000"/>
            <a:ext cx="1800000" cy="432000"/>
          </a:xfrm>
          <a:prstGeom prst="roundRect">
            <a:avLst>
              <a:gd name="adj" fmla="val 8000"/>
            </a:avLst>
          </a:prstGeom>
          <a:solidFill>
            <a:srgbClr val="FFF0D9"/>
          </a:solidFill>
          <a:ln w="28575">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600" b="1" i="0">
                <a:solidFill>
                  <a:srgbClr val="212121"/>
                </a:solidFill>
              </a:rPr>
              <a:t>agent-test</a:t>
            </a:r>
          </a:p>
        </p:txBody>
      </p:sp>
      <p:cxnSp>
        <p:nvCxnSpPr>
          <p:cNvPr id="932" name="Connector 932"/>
          <p:cNvCxnSpPr/>
          <p:nvPr/>
        </p:nvCxnSpPr>
        <p:spPr>
          <a:xfrm>
            <a:off x="3168000" y="2016000"/>
            <a:ext cx="0" cy="522000"/>
          </a:xfrm>
          <a:prstGeom prst="line">
            <a:avLst/>
          </a:prstGeom>
          <a:ln w="31750">
            <a:solidFill>
              <a:srgbClr val="78909C"/>
            </a:solidFill>
            <a:tailEnd type="triangle"/>
          </a:ln>
        </p:spPr>
      </p:cxnSp>
      <p:sp>
        <p:nvSpPr>
          <p:cNvPr id="933" name="Shape 933"/>
          <p:cNvSpPr/>
          <p:nvPr/>
        </p:nvSpPr>
        <p:spPr>
          <a:xfrm>
            <a:off x="360000" y="1584000"/>
            <a:ext cx="1080000" cy="432000"/>
          </a:xfrm>
          <a:prstGeom prst="roundRect">
            <a:avLst>
              <a:gd name="adj" fmla="val 8000"/>
            </a:avLst>
          </a:prstGeom>
          <a:solidFill>
            <a:srgbClr val="EEEEEE"/>
          </a:solidFill>
          <a:ln w="28575">
            <a:solidFill>
              <a:srgbClr val="78909C"/>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600" b="1" i="0">
                <a:solidFill>
                  <a:srgbClr val="212121"/>
                </a:solidFill>
              </a:rPr>
              <a:t>HEAD</a:t>
            </a:r>
          </a:p>
        </p:txBody>
      </p:sp>
      <p:cxnSp>
        <p:nvCxnSpPr>
          <p:cNvPr id="934" name="Connector 934"/>
          <p:cNvCxnSpPr/>
          <p:nvPr/>
        </p:nvCxnSpPr>
        <p:spPr>
          <a:xfrm>
            <a:off x="1440000" y="1800000"/>
            <a:ext cx="792000" cy="0"/>
          </a:xfrm>
          <a:prstGeom prst="line">
            <a:avLst/>
          </a:prstGeom>
          <a:ln w="31750">
            <a:solidFill>
              <a:srgbClr val="78909C"/>
            </a:solidFill>
            <a:tailEnd type="triangle"/>
          </a:ln>
        </p:spPr>
      </p:cxnSp>
      <p:sp>
        <p:nvSpPr>
          <p:cNvPr id="935" name="TextBox 935"/>
          <p:cNvSpPr txBox="1"/>
          <p:nvPr/>
        </p:nvSpPr>
        <p:spPr>
          <a:xfrm>
            <a:off x="4608000" y="1404000"/>
            <a:ext cx="4176000" cy="1008000"/>
          </a:xfrm>
          <a:prstGeom prst="rect">
            <a:avLst/>
          </a:prstGeom>
          <a:noFill/>
          <a:ln>
            <a:noFill/>
          </a:ln>
        </p:spPr>
        <p:txBody>
          <a:bodyPr rtlCol="0" anchor="t" wrap="square" lIns="73152" rIns="73152" tIns="73152" bIns="73152">
            <a:noAutofit/>
          </a:bodyPr>
          <a:lstStyle/>
          <a:p>
            <a:pPr rtl="1" algn="ctr" marL="0" indent="0">
              <a:lnSpc>
                <a:spcPct val="105000"/>
              </a:lnSpc>
              <a:spcBef>
                <a:spcPts val="0"/>
              </a:spcBef>
              <a:spcAft>
                <a:spcPts val="0"/>
              </a:spcAft>
              <a:buNone/>
            </a:pPr>
            <a:r>
              <a:rPr lang="he-IL" sz="2200" b="1" i="0">
                <a:solidFill>
                  <a:srgbClr val="212121"/>
                </a:solidFill>
              </a:rPr>
              <a:t>ענף אינו עותק של קבצים.</a:t>
            </a:r>
          </a:p>
          <a:p>
            <a:pPr rtl="1" algn="ctr" marL="0" indent="0">
              <a:lnSpc>
                <a:spcPct val="105000"/>
              </a:lnSpc>
              <a:spcBef>
                <a:spcPts val="600"/>
              </a:spcBef>
              <a:spcAft>
                <a:spcPts val="0"/>
              </a:spcAft>
              <a:buNone/>
            </a:pPr>
            <a:r>
              <a:rPr lang="he-IL" sz="1700" b="0" i="0">
                <a:solidFill>
                  <a:srgbClr val="595959"/>
                </a:solidFill>
              </a:rPr>
              <a:t>הוא שם שמצביע על commit. HEAD מצביע על הענף שעובדים בו.</a:t>
            </a:r>
          </a:p>
        </p:txBody>
      </p:sp>
      <p:sp>
        <p:nvSpPr>
          <p:cNvPr id="936" name="Shape 936"/>
          <p:cNvSpPr/>
          <p:nvPr/>
        </p:nvSpPr>
        <p:spPr>
          <a:xfrm>
            <a:off x="360000" y="4356000"/>
            <a:ext cx="8424000" cy="612000"/>
          </a:xfrm>
          <a:prstGeom prst="roundRect">
            <a:avLst>
              <a:gd name="adj" fmla="val 8000"/>
            </a:avLst>
          </a:prstGeom>
          <a:solidFill>
            <a:srgbClr val="E1F4E6"/>
          </a:solidFill>
          <a:ln w="28575">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600" b="1" i="0">
                <a:solidFill>
                  <a:srgbClr val="212121"/>
                </a:solidFill>
              </a:rPr>
              <a:t>ענף: קובץ קטן עם ה־hash של ה־commit (כ־41 בתים). העתקת תיקייה: לפי גודל הפרויקט.</a:t>
            </a:r>
          </a:p>
        </p:txBody>
      </p:sp>
      <p:sp>
        <p:nvSpPr>
          <p:cNvPr id="937"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:מיזוג: פשוט או עם commit</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937" name="Shape 937"/>
          <p:cNvSpPr/>
          <p:nvPr/>
        </p:nvSpPr>
        <p:spPr>
          <a:xfrm>
            <a:off x="4644000" y="1368000"/>
            <a:ext cx="4140000" cy="3564000"/>
          </a:xfrm>
          <a:prstGeom prst="roundRect">
            <a:avLst>
              <a:gd name="adj" fmla="val 3000"/>
            </a:avLst>
          </a:prstGeom>
          <a:solidFill>
            <a:srgbClr val="FAFAFA"/>
          </a:solidFill>
          <a:ln w="19050">
            <a:solidFill>
              <a:srgbClr val="BDBDBD"/>
            </a:solidFill>
          </a:ln>
        </p:spPr>
        <p:txBody>
          <a:bodyPr rtlCol="0" anchor="ctr" wrap="square" lIns="73152" rIns="73152" tIns="73152" bIns="73152">
            <a:noAutofit/>
          </a:bodyPr>
          <a:lstStyle/>
          <a:p>
            <a:pPr algn="ctr"/>
          </a:p>
        </p:txBody>
      </p:sp>
      <p:sp>
        <p:nvSpPr>
          <p:cNvPr id="938" name="Shape 938"/>
          <p:cNvSpPr/>
          <p:nvPr/>
        </p:nvSpPr>
        <p:spPr>
          <a:xfrm>
            <a:off x="360000" y="1368000"/>
            <a:ext cx="4140000" cy="3564000"/>
          </a:xfrm>
          <a:prstGeom prst="roundRect">
            <a:avLst>
              <a:gd name="adj" fmla="val 3000"/>
            </a:avLst>
          </a:prstGeom>
          <a:solidFill>
            <a:srgbClr val="FAFAFA"/>
          </a:solidFill>
          <a:ln w="19050">
            <a:solidFill>
              <a:srgbClr val="BDBDBD"/>
            </a:solidFill>
          </a:ln>
        </p:spPr>
        <p:txBody>
          <a:bodyPr rtlCol="0" anchor="ctr" wrap="square" lIns="73152" rIns="73152" tIns="73152" bIns="73152">
            <a:noAutofit/>
          </a:bodyPr>
          <a:lstStyle/>
          <a:p>
            <a:pPr algn="ctr"/>
          </a:p>
        </p:txBody>
      </p:sp>
      <p:sp>
        <p:nvSpPr>
          <p:cNvPr id="939" name="TextBox 939"/>
          <p:cNvSpPr txBox="1"/>
          <p:nvPr/>
        </p:nvSpPr>
        <p:spPr>
          <a:xfrm>
            <a:off x="4680000" y="1404000"/>
            <a:ext cx="4068000" cy="396000"/>
          </a:xfrm>
          <a:prstGeom prst="rect">
            <a:avLst/>
          </a:prstGeom>
          <a:noFill/>
          <a:ln>
            <a:noFill/>
          </a:ln>
        </p:spPr>
        <p:txBody>
          <a:bodyPr rtlCol="0" anchor="t" wrap="square" lIns="73152" rIns="73152" tIns="73152" bIns="73152">
            <a:noAutofit/>
          </a:bodyPr>
          <a:lstStyle/>
          <a:p>
            <a:pPr rtl="1" algn="ctr" marL="0" indent="0">
              <a:lnSpc>
                <a:spcPct val="105000"/>
              </a:lnSpc>
              <a:spcBef>
                <a:spcPts val="0"/>
              </a:spcBef>
              <a:spcAft>
                <a:spcPts val="0"/>
              </a:spcAft>
              <a:buNone/>
            </a:pPr>
            <a:r>
              <a:rPr lang="he-IL" sz="1900" b="1" i="0">
                <a:solidFill>
                  <a:srgbClr val="0097A7"/>
                </a:solidFill>
              </a:rPr>
              <a:t>מיזוג פשוט (fast-forward)</a:t>
            </a:r>
          </a:p>
        </p:txBody>
      </p:sp>
      <p:sp>
        <p:nvSpPr>
          <p:cNvPr id="940" name="TextBox 940"/>
          <p:cNvSpPr txBox="1"/>
          <p:nvPr/>
        </p:nvSpPr>
        <p:spPr>
          <a:xfrm>
            <a:off x="396000" y="1404000"/>
            <a:ext cx="4068000" cy="396000"/>
          </a:xfrm>
          <a:prstGeom prst="rect">
            <a:avLst/>
          </a:prstGeom>
          <a:noFill/>
          <a:ln>
            <a:noFill/>
          </a:ln>
        </p:spPr>
        <p:txBody>
          <a:bodyPr rtlCol="0" anchor="t" wrap="square" lIns="73152" rIns="73152" tIns="73152" bIns="73152">
            <a:noAutofit/>
          </a:bodyPr>
          <a:lstStyle/>
          <a:p>
            <a:pPr rtl="1" algn="ctr" marL="0" indent="0">
              <a:lnSpc>
                <a:spcPct val="105000"/>
              </a:lnSpc>
              <a:spcBef>
                <a:spcPts val="0"/>
              </a:spcBef>
              <a:spcAft>
                <a:spcPts val="0"/>
              </a:spcAft>
              <a:buNone/>
            </a:pPr>
            <a:r>
              <a:rPr lang="he-IL" sz="1900" b="1" i="0">
                <a:solidFill>
                  <a:srgbClr val="E65100"/>
                </a:solidFill>
              </a:rPr>
              <a:t>מיזוג עם commit מיזוג</a:t>
            </a:r>
          </a:p>
        </p:txBody>
      </p:sp>
      <p:sp>
        <p:nvSpPr>
          <p:cNvPr id="941" name="Oval 941"/>
          <p:cNvSpPr/>
          <p:nvPr/>
        </p:nvSpPr>
        <p:spPr>
          <a:xfrm>
            <a:off x="7992000" y="2520000"/>
            <a:ext cx="432000" cy="432000"/>
          </a:xfrm>
          <a:prstGeom prst="ellipse">
            <a:avLst/>
          </a:prstGeom>
          <a:solidFill>
            <a:srgbClr val="E3EEFF"/>
          </a:solidFill>
          <a:ln w="28575">
            <a:solidFill>
              <a:srgbClr val="4285F4"/>
            </a:solidFill>
          </a:ln>
        </p:spPr>
        <p:txBody>
          <a:bodyPr rtlCol="0" anchor="ctr" wrap="square" lIns="0" rIns="0" tIns="0" bIns="0">
            <a:noAutofit/>
          </a:bodyPr>
          <a:lstStyle/>
          <a:p>
            <a:pPr rtl="1" algn="ctr" marL="0" indent="0">
              <a:lnSpc>
                <a:spcPct val="105000"/>
              </a:lnSpc>
              <a:spcBef>
                <a:spcPts val="0"/>
              </a:spcBef>
              <a:spcAft>
                <a:spcPts val="0"/>
              </a:spcAft>
              <a:buNone/>
            </a:pPr>
            <a:r>
              <a:rPr lang="he-IL" sz="1300" b="1" i="0">
                <a:solidFill>
                  <a:srgbClr val="212121"/>
                </a:solidFill>
              </a:rPr>
              <a:t>C1</a:t>
            </a:r>
          </a:p>
        </p:txBody>
      </p:sp>
      <p:sp>
        <p:nvSpPr>
          <p:cNvPr id="942" name="Oval 942"/>
          <p:cNvSpPr/>
          <p:nvPr/>
        </p:nvSpPr>
        <p:spPr>
          <a:xfrm>
            <a:off x="7128000" y="2520000"/>
            <a:ext cx="432000" cy="432000"/>
          </a:xfrm>
          <a:prstGeom prst="ellipse">
            <a:avLst/>
          </a:prstGeom>
          <a:solidFill>
            <a:srgbClr val="E3EEFF"/>
          </a:solidFill>
          <a:ln w="28575">
            <a:solidFill>
              <a:srgbClr val="4285F4"/>
            </a:solidFill>
          </a:ln>
        </p:spPr>
        <p:txBody>
          <a:bodyPr rtlCol="0" anchor="ctr" wrap="square" lIns="0" rIns="0" tIns="0" bIns="0">
            <a:noAutofit/>
          </a:bodyPr>
          <a:lstStyle/>
          <a:p>
            <a:pPr rtl="1" algn="ctr" marL="0" indent="0">
              <a:lnSpc>
                <a:spcPct val="105000"/>
              </a:lnSpc>
              <a:spcBef>
                <a:spcPts val="0"/>
              </a:spcBef>
              <a:spcAft>
                <a:spcPts val="0"/>
              </a:spcAft>
              <a:buNone/>
            </a:pPr>
            <a:r>
              <a:rPr lang="he-IL" sz="1300" b="1" i="0">
                <a:solidFill>
                  <a:srgbClr val="212121"/>
                </a:solidFill>
              </a:rPr>
              <a:t>C2</a:t>
            </a:r>
          </a:p>
        </p:txBody>
      </p:sp>
      <p:sp>
        <p:nvSpPr>
          <p:cNvPr id="943" name="Oval 943"/>
          <p:cNvSpPr/>
          <p:nvPr/>
        </p:nvSpPr>
        <p:spPr>
          <a:xfrm>
            <a:off x="6264000" y="2520000"/>
            <a:ext cx="432000" cy="432000"/>
          </a:xfrm>
          <a:prstGeom prst="ellipse">
            <a:avLst/>
          </a:prstGeom>
          <a:solidFill>
            <a:srgbClr val="FFF0D9"/>
          </a:solidFill>
          <a:ln w="28575">
            <a:solidFill>
              <a:srgbClr val="FFAB40"/>
            </a:solidFill>
          </a:ln>
        </p:spPr>
        <p:txBody>
          <a:bodyPr rtlCol="0" anchor="ctr" wrap="square" lIns="0" rIns="0" tIns="0" bIns="0">
            <a:noAutofit/>
          </a:bodyPr>
          <a:lstStyle/>
          <a:p>
            <a:pPr rtl="1" algn="ctr" marL="0" indent="0">
              <a:lnSpc>
                <a:spcPct val="105000"/>
              </a:lnSpc>
              <a:spcBef>
                <a:spcPts val="0"/>
              </a:spcBef>
              <a:spcAft>
                <a:spcPts val="0"/>
              </a:spcAft>
              <a:buNone/>
            </a:pPr>
            <a:r>
              <a:rPr lang="he-IL" sz="1300" b="1" i="0">
                <a:solidFill>
                  <a:srgbClr val="212121"/>
                </a:solidFill>
              </a:rPr>
              <a:t>C3</a:t>
            </a:r>
          </a:p>
        </p:txBody>
      </p:sp>
      <p:sp>
        <p:nvSpPr>
          <p:cNvPr id="944" name="Oval 944"/>
          <p:cNvSpPr/>
          <p:nvPr/>
        </p:nvSpPr>
        <p:spPr>
          <a:xfrm>
            <a:off x="5400000" y="2520000"/>
            <a:ext cx="432000" cy="432000"/>
          </a:xfrm>
          <a:prstGeom prst="ellipse">
            <a:avLst/>
          </a:prstGeom>
          <a:solidFill>
            <a:srgbClr val="FFF0D9"/>
          </a:solidFill>
          <a:ln w="28575">
            <a:solidFill>
              <a:srgbClr val="FFAB40"/>
            </a:solidFill>
          </a:ln>
        </p:spPr>
        <p:txBody>
          <a:bodyPr rtlCol="0" anchor="ctr" wrap="square" lIns="0" rIns="0" tIns="0" bIns="0">
            <a:noAutofit/>
          </a:bodyPr>
          <a:lstStyle/>
          <a:p>
            <a:pPr rtl="1" algn="ctr" marL="0" indent="0">
              <a:lnSpc>
                <a:spcPct val="105000"/>
              </a:lnSpc>
              <a:spcBef>
                <a:spcPts val="0"/>
              </a:spcBef>
              <a:spcAft>
                <a:spcPts val="0"/>
              </a:spcAft>
              <a:buNone/>
            </a:pPr>
            <a:r>
              <a:rPr lang="he-IL" sz="1300" b="1" i="0">
                <a:solidFill>
                  <a:srgbClr val="212121"/>
                </a:solidFill>
              </a:rPr>
              <a:t>C4</a:t>
            </a:r>
          </a:p>
        </p:txBody>
      </p:sp>
      <p:cxnSp>
        <p:nvCxnSpPr>
          <p:cNvPr id="945" name="Connector 945"/>
          <p:cNvCxnSpPr/>
          <p:nvPr/>
        </p:nvCxnSpPr>
        <p:spPr>
          <a:xfrm>
            <a:off x="7560000" y="2736000"/>
            <a:ext cx="432000" cy="0"/>
          </a:xfrm>
          <a:prstGeom prst="line">
            <a:avLst/>
          </a:prstGeom>
          <a:ln w="31750">
            <a:solidFill>
              <a:srgbClr val="78909C"/>
            </a:solidFill>
            <a:tailEnd type="triangle"/>
          </a:ln>
        </p:spPr>
      </p:cxnSp>
      <p:cxnSp>
        <p:nvCxnSpPr>
          <p:cNvPr id="946" name="Connector 946"/>
          <p:cNvCxnSpPr/>
          <p:nvPr/>
        </p:nvCxnSpPr>
        <p:spPr>
          <a:xfrm>
            <a:off x="6696000" y="2736000"/>
            <a:ext cx="432000" cy="0"/>
          </a:xfrm>
          <a:prstGeom prst="line">
            <a:avLst/>
          </a:prstGeom>
          <a:ln w="31750">
            <a:solidFill>
              <a:srgbClr val="78909C"/>
            </a:solidFill>
            <a:tailEnd type="triangle"/>
          </a:ln>
        </p:spPr>
      </p:cxnSp>
      <p:cxnSp>
        <p:nvCxnSpPr>
          <p:cNvPr id="947" name="Connector 947"/>
          <p:cNvCxnSpPr/>
          <p:nvPr/>
        </p:nvCxnSpPr>
        <p:spPr>
          <a:xfrm>
            <a:off x="5832000" y="2736000"/>
            <a:ext cx="432000" cy="0"/>
          </a:xfrm>
          <a:prstGeom prst="line">
            <a:avLst/>
          </a:prstGeom>
          <a:ln w="31750">
            <a:solidFill>
              <a:srgbClr val="78909C"/>
            </a:solidFill>
            <a:tailEnd type="triangle"/>
          </a:ln>
        </p:spPr>
      </p:cxnSp>
      <p:sp>
        <p:nvSpPr>
          <p:cNvPr id="948" name="Shape 948"/>
          <p:cNvSpPr/>
          <p:nvPr/>
        </p:nvSpPr>
        <p:spPr>
          <a:xfrm>
            <a:off x="6912000" y="3312000"/>
            <a:ext cx="864000" cy="324000"/>
          </a:xfrm>
          <a:prstGeom prst="roundRect">
            <a:avLst>
              <a:gd name="adj" fmla="val 8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400" b="1" i="0">
                <a:solidFill>
                  <a:srgbClr val="212121"/>
                </a:solidFill>
              </a:rPr>
              <a:t>main</a:t>
            </a:r>
          </a:p>
        </p:txBody>
      </p:sp>
      <p:cxnSp>
        <p:nvCxnSpPr>
          <p:cNvPr id="949" name="Connector 949"/>
          <p:cNvCxnSpPr/>
          <p:nvPr/>
        </p:nvCxnSpPr>
        <p:spPr>
          <a:xfrm flipV="1">
            <a:off x="7344000" y="2988000"/>
            <a:ext cx="0" cy="324000"/>
          </a:xfrm>
          <a:prstGeom prst="line">
            <a:avLst/>
          </a:prstGeom>
          <a:ln w="31750">
            <a:solidFill>
              <a:srgbClr val="78909C"/>
            </a:solidFill>
            <a:tailEnd type="triangle"/>
          </a:ln>
        </p:spPr>
      </p:cxnSp>
      <p:sp>
        <p:nvSpPr>
          <p:cNvPr id="950" name="Shape 950"/>
          <p:cNvSpPr/>
          <p:nvPr/>
        </p:nvSpPr>
        <p:spPr>
          <a:xfrm>
            <a:off x="4932000" y="1980000"/>
            <a:ext cx="1368000" cy="324000"/>
          </a:xfrm>
          <a:prstGeom prst="roundRect">
            <a:avLst>
              <a:gd name="adj" fmla="val 8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lang="he-IL" sz="1400" b="1" i="0">
                <a:solidFill>
                  <a:srgbClr val="212121"/>
                </a:solidFill>
              </a:rPr>
              <a:t>agent-test</a:t>
            </a:r>
          </a:p>
        </p:txBody>
      </p:sp>
      <p:cxnSp>
        <p:nvCxnSpPr>
          <p:cNvPr id="951" name="Connector 951"/>
          <p:cNvCxnSpPr/>
          <p:nvPr/>
        </p:nvCxnSpPr>
        <p:spPr>
          <a:xfrm>
            <a:off x="5616000" y="2304000"/>
            <a:ext cx="0" cy="198000"/>
          </a:xfrm>
          <a:prstGeom prst="line">
            <a:avLst/>
          </a:prstGeom>
          <a:ln w="31750">
            <a:solidFill>
              <a:srgbClr val="78909C"/>
            </a:solidFill>
            <a:tailEnd type="triangle"/>
          </a:ln>
        </p:spPr>
      </p:cxnSp>
      <p:sp>
        <p:nvSpPr>
          <p:cNvPr id="952" name="TextBox 952"/>
          <p:cNvSpPr txBox="1"/>
          <p:nvPr/>
        </p:nvSpPr>
        <p:spPr>
          <a:xfrm>
            <a:off x="4716000" y="3708000"/>
            <a:ext cx="4068000" cy="1080000"/>
          </a:xfrm>
          <a:prstGeom prst="rect">
            <a:avLst/>
          </a:prstGeom>
          <a:noFill/>
          <a:ln>
            <a:noFill/>
          </a:ln>
        </p:spPr>
        <p:txBody>
          <a:bodyPr rtlCol="0" anchor="t" wrap="square" lIns="73152" rIns="73152" tIns="73152" bIns="73152">
            <a:noAutofit/>
          </a:bodyPr>
          <a:lstStyle/>
          <a:p>
            <a:pPr rtl="1" algn="r" marL="0" indent="0">
              <a:lnSpc>
                <a:spcPct val="105000"/>
              </a:lnSpc>
              <a:spcBef>
                <a:spcPts val="0"/>
              </a:spcBef>
              <a:spcAft>
                <a:spcPts val="0"/>
              </a:spcAft>
              <a:buNone/>
            </a:pPr>
            <a:r>
              <a:rPr lang="he-IL" sz="1600" b="0" i="0">
                <a:solidFill>
                  <a:srgbClr val="212121"/>
                </a:solidFill>
              </a:rPr>
              <a:t>main לא השתנה מאז שהענף נפתח.</a:t>
            </a:r>
          </a:p>
          <a:p>
            <a:pPr rtl="1" algn="r" marL="0" indent="0">
              <a:lnSpc>
                <a:spcPct val="105000"/>
              </a:lnSpc>
              <a:spcBef>
                <a:spcPts val="400"/>
              </a:spcBef>
              <a:spcAft>
                <a:spcPts val="0"/>
              </a:spcAft>
              <a:buNone/>
            </a:pPr>
            <a:r>
              <a:rPr lang="he-IL" sz="1600" b="0" i="0">
                <a:solidFill>
                  <a:srgbClr val="212121"/>
                </a:solidFill>
              </a:rPr>
              <a:t>main רק מתקדם: אין commit חדש.</a:t>
            </a:r>
          </a:p>
          <a:p>
            <a:pPr rtl="1" algn="r" marL="0" indent="0">
              <a:lnSpc>
                <a:spcPct val="105000"/>
              </a:lnSpc>
              <a:spcBef>
                <a:spcPts val="400"/>
              </a:spcBef>
              <a:spcAft>
                <a:spcPts val="0"/>
              </a:spcAft>
              <a:buNone/>
            </a:pPr>
            <a:r>
              <a:rPr lang="he-IL" sz="1600" b="1" i="0">
                <a:solidFill>
                  <a:srgbClr val="212121"/>
                </a:solidFill>
              </a:rPr>
              <a:t>כך במעבדה (חלק ג׳, בבית).</a:t>
            </a:r>
          </a:p>
        </p:txBody>
      </p:sp>
      <p:sp>
        <p:nvSpPr>
          <p:cNvPr id="953" name="Oval 953"/>
          <p:cNvSpPr/>
          <p:nvPr/>
        </p:nvSpPr>
        <p:spPr>
          <a:xfrm>
            <a:off x="3852000" y="2664000"/>
            <a:ext cx="432000" cy="432000"/>
          </a:xfrm>
          <a:prstGeom prst="ellipse">
            <a:avLst/>
          </a:prstGeom>
          <a:solidFill>
            <a:srgbClr val="E3EEFF"/>
          </a:solidFill>
          <a:ln w="28575">
            <a:solidFill>
              <a:srgbClr val="4285F4"/>
            </a:solidFill>
          </a:ln>
        </p:spPr>
        <p:txBody>
          <a:bodyPr rtlCol="0" anchor="ctr" wrap="square" lIns="0" rIns="0" tIns="0" bIns="0">
            <a:noAutofit/>
          </a:bodyPr>
          <a:lstStyle/>
          <a:p>
            <a:pPr rtl="1" algn="ctr" marL="0" indent="0">
              <a:lnSpc>
                <a:spcPct val="105000"/>
              </a:lnSpc>
              <a:spcBef>
                <a:spcPts val="0"/>
              </a:spcBef>
              <a:spcAft>
                <a:spcPts val="0"/>
              </a:spcAft>
              <a:buNone/>
            </a:pPr>
            <a:r>
              <a:rPr lang="he-IL" sz="1300" b="1" i="0">
                <a:solidFill>
                  <a:srgbClr val="212121"/>
                </a:solidFill>
              </a:rPr>
              <a:t>C1</a:t>
            </a:r>
          </a:p>
        </p:txBody>
      </p:sp>
      <p:sp>
        <p:nvSpPr>
          <p:cNvPr id="954" name="Oval 954"/>
          <p:cNvSpPr/>
          <p:nvPr/>
        </p:nvSpPr>
        <p:spPr>
          <a:xfrm>
            <a:off x="2808000" y="3132000"/>
            <a:ext cx="432000" cy="432000"/>
          </a:xfrm>
          <a:prstGeom prst="ellipse">
            <a:avLst/>
          </a:prstGeom>
          <a:solidFill>
            <a:srgbClr val="E3EEFF"/>
          </a:solidFill>
          <a:ln w="28575">
            <a:solidFill>
              <a:srgbClr val="4285F4"/>
            </a:solidFill>
          </a:ln>
        </p:spPr>
        <p:txBody>
          <a:bodyPr rtlCol="0" anchor="ctr" wrap="square" lIns="0" rIns="0" tIns="0" bIns="0">
            <a:noAutofit/>
          </a:bodyPr>
          <a:lstStyle/>
          <a:p>
            <a:pPr rtl="1" algn="ctr" marL="0" indent="0">
              <a:lnSpc>
                <a:spcPct val="105000"/>
              </a:lnSpc>
              <a:spcBef>
                <a:spcPts val="0"/>
              </a:spcBef>
              <a:spcAft>
                <a:spcPts val="0"/>
              </a:spcAft>
              <a:buNone/>
            </a:pPr>
            <a:r>
              <a:rPr lang="he-IL" sz="1300" b="1" i="0">
                <a:solidFill>
                  <a:srgbClr val="212121"/>
                </a:solidFill>
              </a:rPr>
              <a:t>C2</a:t>
            </a:r>
          </a:p>
        </p:txBody>
      </p:sp>
      <p:sp>
        <p:nvSpPr>
          <p:cNvPr id="955" name="Oval 955"/>
          <p:cNvSpPr/>
          <p:nvPr/>
        </p:nvSpPr>
        <p:spPr>
          <a:xfrm>
            <a:off x="2808000" y="2196000"/>
            <a:ext cx="432000" cy="432000"/>
          </a:xfrm>
          <a:prstGeom prst="ellipse">
            <a:avLst/>
          </a:prstGeom>
          <a:solidFill>
            <a:srgbClr val="FFF0D9"/>
          </a:solidFill>
          <a:ln w="28575">
            <a:solidFill>
              <a:srgbClr val="FFAB40"/>
            </a:solidFill>
          </a:ln>
        </p:spPr>
        <p:txBody>
          <a:bodyPr rtlCol="0" anchor="ctr" wrap="square" lIns="0" rIns="0" tIns="0" bIns="0">
            <a:noAutofit/>
          </a:bodyPr>
          <a:lstStyle/>
          <a:p>
            <a:pPr rtl="1" algn="ctr" marL="0" indent="0">
              <a:lnSpc>
                <a:spcPct val="105000"/>
              </a:lnSpc>
              <a:spcBef>
                <a:spcPts val="0"/>
              </a:spcBef>
              <a:spcAft>
                <a:spcPts val="0"/>
              </a:spcAft>
              <a:buNone/>
            </a:pPr>
            <a:r>
              <a:rPr lang="he-IL" sz="1300" b="1" i="0">
                <a:solidFill>
                  <a:srgbClr val="212121"/>
                </a:solidFill>
              </a:rPr>
              <a:t>C3</a:t>
            </a:r>
          </a:p>
        </p:txBody>
      </p:sp>
      <p:sp>
        <p:nvSpPr>
          <p:cNvPr id="956" name="Oval 956"/>
          <p:cNvSpPr/>
          <p:nvPr/>
        </p:nvSpPr>
        <p:spPr>
          <a:xfrm>
            <a:off x="1584000" y="2664000"/>
            <a:ext cx="432000" cy="432000"/>
          </a:xfrm>
          <a:prstGeom prst="ellipse">
            <a:avLst/>
          </a:prstGeom>
          <a:solidFill>
            <a:srgbClr val="E1F4E6"/>
          </a:solidFill>
          <a:ln w="28575">
            <a:solidFill>
              <a:srgbClr val="34A853"/>
            </a:solidFill>
          </a:ln>
        </p:spPr>
        <p:txBody>
          <a:bodyPr rtlCol="0" anchor="ctr" wrap="square" lIns="0" rIns="0" tIns="0" bIns="0">
            <a:noAutofit/>
          </a:bodyPr>
          <a:lstStyle/>
          <a:p>
            <a:pPr rtl="1" algn="ctr" marL="0" indent="0">
              <a:lnSpc>
                <a:spcPct val="105000"/>
              </a:lnSpc>
              <a:spcBef>
                <a:spcPts val="0"/>
              </a:spcBef>
              <a:spcAft>
                <a:spcPts val="0"/>
              </a:spcAft>
              <a:buNone/>
            </a:pPr>
            <a:r>
              <a:rPr lang="he-IL" sz="1300" b="1" i="0">
                <a:solidFill>
                  <a:srgbClr val="212121"/>
                </a:solidFill>
              </a:rPr>
              <a:t>M</a:t>
            </a:r>
          </a:p>
        </p:txBody>
      </p:sp>
      <p:cxnSp>
        <p:nvCxnSpPr>
          <p:cNvPr id="957" name="Connector 957"/>
          <p:cNvCxnSpPr/>
          <p:nvPr/>
        </p:nvCxnSpPr>
        <p:spPr>
          <a:xfrm flipV="1">
            <a:off x="3227672" y="2971301"/>
            <a:ext cx="636656" cy="285397"/>
          </a:xfrm>
          <a:prstGeom prst="line">
            <a:avLst/>
          </a:prstGeom>
          <a:ln w="31750">
            <a:solidFill>
              <a:srgbClr val="78909C"/>
            </a:solidFill>
            <a:tailEnd type="triangle"/>
          </a:ln>
        </p:spPr>
      </p:cxnSp>
      <p:cxnSp>
        <p:nvCxnSpPr>
          <p:cNvPr id="958" name="Connector 958"/>
          <p:cNvCxnSpPr/>
          <p:nvPr/>
        </p:nvCxnSpPr>
        <p:spPr>
          <a:xfrm>
            <a:off x="3227672" y="2503301"/>
            <a:ext cx="636656" cy="285397"/>
          </a:xfrm>
          <a:prstGeom prst="line">
            <a:avLst/>
          </a:prstGeom>
          <a:ln w="31750">
            <a:solidFill>
              <a:srgbClr val="78909C"/>
            </a:solidFill>
            <a:tailEnd type="triangle"/>
          </a:ln>
        </p:spPr>
      </p:cxnSp>
      <p:cxnSp>
        <p:nvCxnSpPr>
          <p:cNvPr id="959" name="Connector 959"/>
          <p:cNvCxnSpPr/>
          <p:nvPr/>
        </p:nvCxnSpPr>
        <p:spPr>
          <a:xfrm>
            <a:off x="2008480" y="2959713"/>
            <a:ext cx="807039" cy="308574"/>
          </a:xfrm>
          <a:prstGeom prst="line">
            <a:avLst/>
          </a:prstGeom>
          <a:ln w="31750">
            <a:solidFill>
              <a:srgbClr val="78909C"/>
            </a:solidFill>
            <a:tailEnd type="triangle"/>
          </a:ln>
        </p:spPr>
      </p:cxnSp>
      <p:cxnSp>
        <p:nvCxnSpPr>
          <p:cNvPr id="960" name="Connector 960"/>
          <p:cNvCxnSpPr/>
          <p:nvPr/>
        </p:nvCxnSpPr>
        <p:spPr>
          <a:xfrm flipV="1">
            <a:off x="2008480" y="2491713"/>
            <a:ext cx="807039" cy="308574"/>
          </a:xfrm>
          <a:prstGeom prst="line">
            <a:avLst/>
          </a:prstGeom>
          <a:ln w="31750">
            <a:solidFill>
              <a:srgbClr val="78909C"/>
            </a:solidFill>
            <a:tailEnd type="triangle"/>
          </a:ln>
        </p:spPr>
      </p:cxnSp>
      <p:sp>
        <p:nvSpPr>
          <p:cNvPr id="961" name="TextBox 961"/>
          <p:cNvSpPr txBox="1"/>
          <p:nvPr/>
        </p:nvSpPr>
        <p:spPr>
          <a:xfrm>
            <a:off x="2484000" y="3582000"/>
            <a:ext cx="1080000" cy="252000"/>
          </a:xfrm>
          <a:prstGeom prst="rect">
            <a:avLst/>
          </a:prstGeom>
          <a:noFill/>
          <a:ln>
            <a:noFill/>
          </a:ln>
        </p:spPr>
        <p:txBody>
          <a:bodyPr rtlCol="0" anchor="t" wrap="square" lIns="0" rIns="0" tIns="0" bIns="0">
            <a:noAutofit/>
          </a:bodyPr>
          <a:lstStyle/>
          <a:p>
            <a:pPr rtl="1" algn="ctr" marL="0" indent="0">
              <a:lnSpc>
                <a:spcPct val="105000"/>
              </a:lnSpc>
              <a:spcBef>
                <a:spcPts val="0"/>
              </a:spcBef>
              <a:spcAft>
                <a:spcPts val="0"/>
              </a:spcAft>
              <a:buNone/>
            </a:pPr>
            <a:r>
              <a:rPr lang="he-IL" sz="1200" b="1" i="0">
                <a:solidFill>
                  <a:srgbClr val="4285F4"/>
                </a:solidFill>
              </a:rPr>
              <a:t>main</a:t>
            </a:r>
          </a:p>
        </p:txBody>
      </p:sp>
      <p:sp>
        <p:nvSpPr>
          <p:cNvPr id="962" name="TextBox 962"/>
          <p:cNvSpPr txBox="1"/>
          <p:nvPr/>
        </p:nvSpPr>
        <p:spPr>
          <a:xfrm>
            <a:off x="2484000" y="1926000"/>
            <a:ext cx="1080000" cy="252000"/>
          </a:xfrm>
          <a:prstGeom prst="rect">
            <a:avLst/>
          </a:prstGeom>
          <a:noFill/>
          <a:ln>
            <a:noFill/>
          </a:ln>
        </p:spPr>
        <p:txBody>
          <a:bodyPr rtlCol="0" anchor="t" wrap="square" lIns="0" rIns="0" tIns="0" bIns="0">
            <a:noAutofit/>
          </a:bodyPr>
          <a:lstStyle/>
          <a:p>
            <a:pPr rtl="1" algn="ctr" marL="0" indent="0">
              <a:lnSpc>
                <a:spcPct val="105000"/>
              </a:lnSpc>
              <a:spcBef>
                <a:spcPts val="0"/>
              </a:spcBef>
              <a:spcAft>
                <a:spcPts val="0"/>
              </a:spcAft>
              <a:buNone/>
            </a:pPr>
            <a:r>
              <a:rPr lang="he-IL" sz="1200" b="1" i="0">
                <a:solidFill>
                  <a:srgbClr val="E65100"/>
                </a:solidFill>
              </a:rPr>
              <a:t>agent-test</a:t>
            </a:r>
          </a:p>
        </p:txBody>
      </p:sp>
      <p:sp>
        <p:nvSpPr>
          <p:cNvPr id="963" name="TextBox 963"/>
          <p:cNvSpPr txBox="1"/>
          <p:nvPr/>
        </p:nvSpPr>
        <p:spPr>
          <a:xfrm>
            <a:off x="396000" y="3708000"/>
            <a:ext cx="4068000" cy="1080000"/>
          </a:xfrm>
          <a:prstGeom prst="rect">
            <a:avLst/>
          </a:prstGeom>
          <a:noFill/>
          <a:ln>
            <a:noFill/>
          </a:ln>
        </p:spPr>
        <p:txBody>
          <a:bodyPr rtlCol="0" anchor="t" wrap="square" lIns="73152" rIns="73152" tIns="73152" bIns="73152">
            <a:noAutofit/>
          </a:bodyPr>
          <a:lstStyle/>
          <a:p>
            <a:pPr rtl="1" algn="r" marL="0" indent="0">
              <a:lnSpc>
                <a:spcPct val="105000"/>
              </a:lnSpc>
              <a:spcBef>
                <a:spcPts val="0"/>
              </a:spcBef>
              <a:spcAft>
                <a:spcPts val="0"/>
              </a:spcAft>
              <a:buNone/>
            </a:pPr>
            <a:r>
              <a:rPr lang="he-IL" sz="1600" b="0" i="0">
                <a:solidFill>
                  <a:srgbClr val="212121"/>
                </a:solidFill>
              </a:rPr>
              <a:t>שני הענפים התקדמו.</a:t>
            </a:r>
          </a:p>
          <a:p>
            <a:pPr rtl="1" algn="r" marL="0" indent="0">
              <a:lnSpc>
                <a:spcPct val="105000"/>
              </a:lnSpc>
              <a:spcBef>
                <a:spcPts val="400"/>
              </a:spcBef>
              <a:spcAft>
                <a:spcPts val="0"/>
              </a:spcAft>
              <a:buNone/>
            </a:pPr>
            <a:r>
              <a:rPr lang="he-IL" sz="1600" b="0" i="0">
                <a:solidFill>
                  <a:srgbClr val="212121"/>
                </a:solidFill>
              </a:rPr>
              <a:t>נוצר commit (M) עם שני הורים.</a:t>
            </a:r>
          </a:p>
          <a:p>
            <a:pPr rtl="1" algn="r" marL="0" indent="0">
              <a:lnSpc>
                <a:spcPct val="105000"/>
              </a:lnSpc>
              <a:spcBef>
                <a:spcPts val="400"/>
              </a:spcBef>
              <a:spcAft>
                <a:spcPts val="0"/>
              </a:spcAft>
              <a:buNone/>
            </a:pPr>
            <a:r>
              <a:rPr lang="he-IL" sz="1600" b="1" i="0">
                <a:solidFill>
                  <a:srgbClr val="212121"/>
                </a:solidFill>
              </a:rPr>
              <a:t>קונפליקט: אותה שורה שונתה בשני הענפים, ואדם מחליט.</a:t>
            </a:r>
          </a:p>
        </p:txBody>
      </p:sp>
      <p:sp>
        <p:nvSpPr>
          <p:cNvPr id="964"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:merge מול rebase</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4"/>
          <p:cNvGraphicFramePr>
            <a:graphicFrameLocks noGrp="1"/>
          </p:cNvGraphicFramePr>
          <p:nvPr/>
        </p:nvGraphicFramePr>
        <p:xfrm>
          <a:off x="365760" y="1371600"/>
          <a:ext cx="8424000" cy="3096000"/>
        </p:xfrm>
        <a:graphic>
          <a:graphicData uri="http://schemas.openxmlformats.org/drawingml/2006/table">
            <a:tbl>
              <a:tblPr firstRow="0" bandRow="0">
                <a:tableStyleId>{2D5ABB26-0587-4C30-8999-92F81FD0307C}</a:tableStyleId>
              </a:tblPr>
              <a:tblGrid>
                <a:gridCol w="1224000"/>
                <a:gridCol w="3600000"/>
                <a:gridCol w="3600000"/>
              </a:tblGrid>
              <a:tr h="502920">
                <a:tc>
                  <a:txBody>
                    <a:bodyPr wrap="square"/>
                    <a:lstStyle/>
                    <a:p>
                      <a:pPr rtl="1" algn="ctr" marL="0" indent="0">
                        <a:lnSpc>
                          <a:spcPct val="100000"/>
                        </a:lnSpc>
                        <a:spcBef>
                          <a:spcPts val="0"/>
                        </a:spcBef>
                        <a:spcAft>
                          <a:spcPts val="0"/>
                        </a:spcAft>
                        <a:buNone/>
                      </a:pPr>
                      <a:r>
                        <a:rPr sz="1500" b="1" i="0" lang="he-IL">
                          <a:solidFill>
                            <a:srgbClr val="212121"/>
                          </a:solidFill>
                        </a:rPr>
                        <a:t>היבט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merge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sz="1500" b="1" i="0" lang="he-IL">
                          <a:solidFill>
                            <a:srgbClr val="212121"/>
                          </a:solidFill>
                        </a:rPr>
                        <a:t>rebase</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02920">
                <a:tc>
                  <a:txBody>
                    <a:bodyPr wrap="square"/>
                    <a:lstStyle/>
                    <a:p>
                      <a:pPr rtl="1" algn="r" marL="0" indent="0">
                        <a:lnSpc>
                          <a:spcPct val="100000"/>
                        </a:lnSpc>
                        <a:spcBef>
                          <a:spcPts val="0"/>
                        </a:spcBef>
                        <a:spcAft>
                          <a:spcPts val="0"/>
                        </a:spcAft>
                        <a:buNone/>
                      </a:pPr>
                      <a:r>
                        <a:rPr sz="1500" b="0" i="0" lang="he-IL">
                          <a:solidFill>
                            <a:srgbClr val="212121"/>
                          </a:solidFill>
                        </a:rPr>
                        <a:t>מה קורה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מחבר את שני הענפים, ולפעמים יוצר commit מיזוג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מעתיק את ה־commits של הענף אל קצה הענף השני</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500" b="0" i="0" lang="he-IL">
                          <a:solidFill>
                            <a:srgbClr val="212121"/>
                          </a:solidFill>
                        </a:rPr>
                        <a:t>היסטוריה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נשמרת כפי שהייתה, עם הענפים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קו ישר ונקי, אבל שונה ממה שקרה בפועל</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500" b="0" i="0" lang="he-IL">
                          <a:solidFill>
                            <a:srgbClr val="212121"/>
                          </a:solidFill>
                        </a:rPr>
                        <a:t>hash</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ה־commits הקיימים לא משתנים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ה־commits שהועתקו מקבלים hash חדש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500" b="0" i="0" lang="he-IL">
                          <a:solidFill>
                            <a:srgbClr val="212121"/>
                          </a:solidFill>
                        </a:rPr>
                        <a:t>מתי מתאים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ענף משותף, או כשחשוב לשמור את ההיסטוריה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ענף מקומי שלא שותף, לפני שמעלים אותו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r h="502920">
                <a:tc>
                  <a:txBody>
                    <a:bodyPr wrap="square"/>
                    <a:lstStyle/>
                    <a:p>
                      <a:pPr rtl="1" algn="r" marL="0" indent="0">
                        <a:lnSpc>
                          <a:spcPct val="100000"/>
                        </a:lnSpc>
                        <a:spcBef>
                          <a:spcPts val="0"/>
                        </a:spcBef>
                        <a:spcAft>
                          <a:spcPts val="0"/>
                        </a:spcAft>
                        <a:buNone/>
                      </a:pPr>
                      <a:r>
                        <a:rPr sz="1500" b="0" i="0" lang="he-IL">
                          <a:solidFill>
                            <a:srgbClr val="212121"/>
                          </a:solidFill>
                        </a:rPr>
                        <a:t>הסיכון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0" i="0" lang="he-IL">
                          <a:solidFill>
                            <a:srgbClr val="212121"/>
                          </a:solidFill>
                        </a:rPr>
                        <a:t>היסטוריה עמוסה בענפים ובמיזוגים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c>
                  <a:txBody>
                    <a:bodyPr wrap="square"/>
                    <a:lstStyle/>
                    <a:p>
                      <a:pPr rtl="1" algn="r" marL="0" indent="0">
                        <a:lnSpc>
                          <a:spcPct val="100000"/>
                        </a:lnSpc>
                        <a:spcBef>
                          <a:spcPts val="0"/>
                        </a:spcBef>
                        <a:spcAft>
                          <a:spcPts val="0"/>
                        </a:spcAft>
                        <a:buNone/>
                      </a:pPr>
                      <a:r>
                        <a:rPr sz="1500" b="1" i="0" lang="he-IL">
                          <a:solidFill>
                            <a:srgbClr val="212121"/>
                          </a:solidFill>
                        </a:rPr>
                        <a:t>שכתוב היסטוריה שאחרים כבר נשענים עליה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noFill/>
                  </a:tcPr>
                </a:tc>
              </a:tr>
            </a:tbl>
          </a:graphicData>
        </a:graphic>
      </p:graphicFrame>
      <p:sp>
        <p:nvSpPr>
          <p:cNvPr id="964" name="TextBox 964"/>
          <p:cNvSpPr txBox="1"/>
          <p:nvPr/>
        </p:nvSpPr>
        <p:spPr>
          <a:xfrm>
            <a:off x="360000" y="4644000"/>
            <a:ext cx="8424000" cy="396000"/>
          </a:xfrm>
          <a:prstGeom prst="rect">
            <a:avLst/>
          </a:prstGeom>
          <a:noFill/>
          <a:ln>
            <a:noFill/>
          </a:ln>
        </p:spPr>
        <p:txBody>
          <a:bodyPr rtlCol="0" anchor="t" wrap="square" lIns="73152" rIns="73152" tIns="73152" bIns="73152">
            <a:noAutofit/>
          </a:bodyPr>
          <a:lstStyle/>
          <a:p>
            <a:pPr rtl="1" algn="ctr" marL="0" indent="0">
              <a:lnSpc>
                <a:spcPct val="105000"/>
              </a:lnSpc>
              <a:spcBef>
                <a:spcPts val="0"/>
              </a:spcBef>
              <a:spcAft>
                <a:spcPts val="0"/>
              </a:spcAft>
              <a:buNone/>
            </a:pPr>
            <a:r>
              <a:rPr lang="he-IL" sz="1700" b="1" i="0">
                <a:solidFill>
                  <a:srgbClr val="595959"/>
                </a:solidFill>
              </a:rPr>
              <a:t>כלל Pro Git: לא עושים rebase ל־commits ששותפו עם אחרים.</a:t>
            </a:r>
          </a:p>
        </p:txBody>
      </p:sp>
      <p:sp>
        <p:nvSpPr>
          <p:cNvPr id="965"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חלק ב׳ :איך מבטלים ב־Git</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8412480" cy="777240"/>
          </a:xfrm>
          <a:prstGeom prst="roundRect">
            <a:avLst>
              <a:gd name="adj" fmla="val 8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863840" y="1371600"/>
            <a:ext cx="822960" cy="77724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7" name="TextBox 6"/>
          <p:cNvSpPr txBox="1"/>
          <p:nvPr/>
        </p:nvSpPr>
        <p:spPr>
          <a:xfrm>
            <a:off x="5486400" y="1371600"/>
            <a:ext cx="2377440"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restore</a:t>
            </a:r>
          </a:p>
        </p:txBody>
      </p:sp>
      <p:sp>
        <p:nvSpPr>
          <p:cNvPr id="8" name="TextBox 7"/>
          <p:cNvSpPr txBox="1"/>
          <p:nvPr/>
        </p:nvSpPr>
        <p:spPr>
          <a:xfrm>
            <a:off x="1737360" y="1371600"/>
            <a:ext cx="3749039"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מחזיר קובץ למצב ב־commit האחרון. מוחק שינויים שלא נשמרו.</a:t>
            </a:r>
          </a:p>
        </p:txBody>
      </p:sp>
      <p:sp>
        <p:nvSpPr>
          <p:cNvPr id="9" name="Rounded Rectangle 8"/>
          <p:cNvSpPr/>
          <p:nvPr/>
        </p:nvSpPr>
        <p:spPr>
          <a:xfrm>
            <a:off x="457200" y="1554480"/>
            <a:ext cx="1188720" cy="411480"/>
          </a:xfrm>
          <a:prstGeom prst="roundRect">
            <a:avLst>
              <a:gd name="adj" fmla="val 40000"/>
            </a:avLst>
          </a:prstGeom>
          <a:solidFill>
            <a:srgbClr val="FFFF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212121"/>
                </a:solidFill>
              </a:rPr>
              <a:t>קובץ</a:t>
            </a:r>
          </a:p>
        </p:txBody>
      </p:sp>
      <p:sp>
        <p:nvSpPr>
          <p:cNvPr id="10" name="Rounded Rectangle 9"/>
          <p:cNvSpPr/>
          <p:nvPr/>
        </p:nvSpPr>
        <p:spPr>
          <a:xfrm>
            <a:off x="365760" y="2267712"/>
            <a:ext cx="8412480" cy="777240"/>
          </a:xfrm>
          <a:prstGeom prst="roundRect">
            <a:avLst>
              <a:gd name="adj" fmla="val 8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1" name="TextBox 10"/>
          <p:cNvSpPr txBox="1"/>
          <p:nvPr/>
        </p:nvSpPr>
        <p:spPr>
          <a:xfrm>
            <a:off x="7863840" y="2267712"/>
            <a:ext cx="822960" cy="77724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2" name="TextBox 11"/>
          <p:cNvSpPr txBox="1"/>
          <p:nvPr/>
        </p:nvSpPr>
        <p:spPr>
          <a:xfrm>
            <a:off x="5486400" y="2267712"/>
            <a:ext cx="2377440"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revert</a:t>
            </a:r>
          </a:p>
        </p:txBody>
      </p:sp>
      <p:sp>
        <p:nvSpPr>
          <p:cNvPr id="13" name="TextBox 12"/>
          <p:cNvSpPr txBox="1"/>
          <p:nvPr/>
        </p:nvSpPr>
        <p:spPr>
          <a:xfrm>
            <a:off x="1737360" y="2267712"/>
            <a:ext cx="3749039"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יוצר commit חדש שמבטל commit ישן, וההיסטוריה נשארת.</a:t>
            </a:r>
          </a:p>
        </p:txBody>
      </p:sp>
      <p:sp>
        <p:nvSpPr>
          <p:cNvPr id="14" name="Rounded Rectangle 13"/>
          <p:cNvSpPr/>
          <p:nvPr/>
        </p:nvSpPr>
        <p:spPr>
          <a:xfrm>
            <a:off x="457200" y="2450592"/>
            <a:ext cx="1188720" cy="411480"/>
          </a:xfrm>
          <a:prstGeom prst="roundRect">
            <a:avLst>
              <a:gd name="adj" fmla="val 40000"/>
            </a:avLst>
          </a:prstGeom>
          <a:solidFill>
            <a:srgbClr val="FFFFFF"/>
          </a:solidFill>
          <a:ln w="19050">
            <a:solidFill>
              <a:srgbClr val="0097A7"/>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212121"/>
                </a:solidFill>
              </a:rPr>
              <a:t>בטוח</a:t>
            </a:r>
          </a:p>
        </p:txBody>
      </p:sp>
      <p:sp>
        <p:nvSpPr>
          <p:cNvPr id="15" name="Rounded Rectangle 14"/>
          <p:cNvSpPr/>
          <p:nvPr/>
        </p:nvSpPr>
        <p:spPr>
          <a:xfrm>
            <a:off x="365760" y="3163824"/>
            <a:ext cx="8412480" cy="777240"/>
          </a:xfrm>
          <a:prstGeom prst="roundRect">
            <a:avLst>
              <a:gd name="adj" fmla="val 8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6" name="TextBox 15"/>
          <p:cNvSpPr txBox="1"/>
          <p:nvPr/>
        </p:nvSpPr>
        <p:spPr>
          <a:xfrm>
            <a:off x="7863840" y="3163824"/>
            <a:ext cx="822960" cy="77724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7" name="TextBox 16"/>
          <p:cNvSpPr txBox="1"/>
          <p:nvPr/>
        </p:nvSpPr>
        <p:spPr>
          <a:xfrm>
            <a:off x="5486400" y="3163824"/>
            <a:ext cx="2377440"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reset</a:t>
            </a:r>
          </a:p>
        </p:txBody>
      </p:sp>
      <p:sp>
        <p:nvSpPr>
          <p:cNvPr id="18" name="TextBox 17"/>
          <p:cNvSpPr txBox="1"/>
          <p:nvPr/>
        </p:nvSpPr>
        <p:spPr>
          <a:xfrm>
            <a:off x="1737360" y="3163824"/>
            <a:ext cx="3749039"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מזיז את הענף אחורה. עם hard גם מוחק שינויים בקבצים.</a:t>
            </a:r>
          </a:p>
        </p:txBody>
      </p:sp>
      <p:sp>
        <p:nvSpPr>
          <p:cNvPr id="19" name="Rounded Rectangle 18"/>
          <p:cNvSpPr/>
          <p:nvPr/>
        </p:nvSpPr>
        <p:spPr>
          <a:xfrm>
            <a:off x="457200" y="3346704"/>
            <a:ext cx="1188720" cy="411480"/>
          </a:xfrm>
          <a:prstGeom prst="roundRect">
            <a:avLst>
              <a:gd name="adj" fmla="val 40000"/>
            </a:avLst>
          </a:prstGeom>
          <a:solidFill>
            <a:srgbClr val="FFFFFF"/>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212121"/>
                </a:solidFill>
              </a:rPr>
              <a:t>זהירות</a:t>
            </a:r>
          </a:p>
        </p:txBody>
      </p:sp>
      <p:sp>
        <p:nvSpPr>
          <p:cNvPr id="20" name="Rounded Rectangle 19"/>
          <p:cNvSpPr/>
          <p:nvPr/>
        </p:nvSpPr>
        <p:spPr>
          <a:xfrm>
            <a:off x="365760" y="4059935"/>
            <a:ext cx="8412480" cy="777240"/>
          </a:xfrm>
          <a:prstGeom prst="roundRect">
            <a:avLst>
              <a:gd name="adj" fmla="val 8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21" name="TextBox 20"/>
          <p:cNvSpPr txBox="1"/>
          <p:nvPr/>
        </p:nvSpPr>
        <p:spPr>
          <a:xfrm>
            <a:off x="7863840" y="4059935"/>
            <a:ext cx="822960" cy="77724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22" name="TextBox 21"/>
          <p:cNvSpPr txBox="1"/>
          <p:nvPr/>
        </p:nvSpPr>
        <p:spPr>
          <a:xfrm>
            <a:off x="5486400" y="4059935"/>
            <a:ext cx="2377440"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reflog</a:t>
            </a:r>
          </a:p>
        </p:txBody>
      </p:sp>
      <p:sp>
        <p:nvSpPr>
          <p:cNvPr id="23" name="TextBox 22"/>
          <p:cNvSpPr txBox="1"/>
          <p:nvPr/>
        </p:nvSpPr>
        <p:spPr>
          <a:xfrm>
            <a:off x="1737360" y="4059935"/>
            <a:ext cx="3749039" cy="77724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יומן מקומי של תנועות הענפים. עוזר למצוא commit שנעלם.</a:t>
            </a:r>
          </a:p>
        </p:txBody>
      </p:sp>
      <p:sp>
        <p:nvSpPr>
          <p:cNvPr id="24" name="Rounded Rectangle 23"/>
          <p:cNvSpPr/>
          <p:nvPr/>
        </p:nvSpPr>
        <p:spPr>
          <a:xfrm>
            <a:off x="457200" y="4242816"/>
            <a:ext cx="1188720" cy="411480"/>
          </a:xfrm>
          <a:prstGeom prst="roundRect">
            <a:avLst>
              <a:gd name="adj" fmla="val 40000"/>
            </a:avLst>
          </a:prstGeom>
          <a:solidFill>
            <a:srgbClr val="FFFFFF"/>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200" b="1" i="0" lang="he-IL">
                <a:solidFill>
                  <a:srgbClr val="212121"/>
                </a:solidFill>
              </a:rPr>
              <a:t>הצלה</a:t>
            </a:r>
          </a:p>
        </p:txBody>
      </p:sp>
      <p:sp>
        <p:nvSpPr>
          <p:cNvPr id="25"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העשרה</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מעבדה ב׳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11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HM_06.ipynb. חלק ב׳: Git אמיתי.</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HM_06.ipynb. חלק ב׳: Git אמיתי</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841248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מעבדה ב׳ : Git אמיתי בתוך Colab</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11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למה: סוכן דורש גיבוי (מפגש 5). מטרה: לשמור, לגלות, לשחזר.</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עוטפים Git</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git, commit_all, start_branch: שומרים נקודת חזרה ועוברים לענף</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סוכן מקולקל</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changed_files: מגלה כל קובץ שהסוכן שינה, גם מה שלא ביקשתם</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משחזרים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restore_file: מחזיר קובץ ששונה או נמחק, ומוחק קובץ חדש. אחר כך commit</a:t>
            </a:r>
          </a:p>
        </p:txBody>
      </p:sp>
      <p:sp>
        <p:nvSpPr>
          <p:cNvPr id="19" name="Rounded Rectangle 18"/>
          <p:cNvSpPr/>
          <p:nvPr/>
        </p:nvSpPr>
        <p:spPr>
          <a:xfrm>
            <a:off x="365760" y="4160520"/>
            <a:ext cx="841248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בזוגות. הצעד האחרון, ״בלי commit״, מראה למה הכלל חשוב. אם נגמר הזמן, מדלגים עליו.</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מעבדה ב׳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11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changed_files</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ארבעה קבצים: שניים שונו, אחד נמחק (products.csv), אחד חדש (scratch.txt)</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unexpected</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הקבצים שלא התבקשו: notes.txt, products.csv, scratch.txt</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אחרי השחזור</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רק analysis.py נשאר שונה, ובלוג יש 2 commits (השקף הבא)</a:t>
            </a:r>
          </a:p>
        </p:txBody>
      </p:sp>
      <p:sp>
        <p:nvSpPr>
          <p:cNvPr id="19" name="Rounded Rectangle 18"/>
          <p:cNvSpPr/>
          <p:nvPr/>
        </p:nvSpPr>
        <p:spPr>
          <a:xfrm>
            <a:off x="365760" y="4160520"/>
            <a:ext cx="841248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בלי commit לפני: git status מציג הכול כחדש, והשחזור נכשל. אין לאן לחזור.</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מעבדה ב׳ : ההיסטוריה אחרי השחזור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11 דקות</a:t>
            </a:r>
          </a:p>
        </p:txBody>
      </p:sp>
      <p:cxnSp>
        <p:nvCxnSpPr>
          <p:cNvPr id="6" name="Connector 5"/>
          <p:cNvCxnSpPr/>
          <p:nvPr/>
        </p:nvCxnSpPr>
        <p:spPr>
          <a:xfrm flipH="1">
            <a:off x="548640" y="3017520"/>
            <a:ext cx="8046720" cy="0"/>
          </a:xfrm>
          <a:prstGeom prst="line">
            <a:avLst/>
          </a:prstGeom>
          <a:ln w="50800">
            <a:solidFill>
              <a:srgbClr val="4285F4"/>
            </a:solidFill>
            <a:tailEnd type="triangle"/>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6793992" y="2862072"/>
            <a:ext cx="310896" cy="310896"/>
          </a:xfrm>
          <a:prstGeom prst="ellipse">
            <a:avLst/>
          </a:prstGeom>
          <a:solidFill>
            <a:srgbClr val="4285F4"/>
          </a:solidFill>
          <a:ln w="25400">
            <a:solidFill>
              <a:srgbClr val="FFFFFF"/>
            </a:solidFill>
          </a:ln>
        </p:spPr>
        <p:txBody>
          <a:bodyPr rtlCol="0" anchor="ctr" wrap="square" lIns="73152" rIns="73152" tIns="73152" bIns="73152">
            <a:noAutofit/>
          </a:bodyPr>
          <a:lstStyle/>
          <a:p>
            <a:pPr algn="ctr"/>
          </a:p>
        </p:txBody>
      </p:sp>
      <p:sp>
        <p:nvSpPr>
          <p:cNvPr id="8" name="TextBox 7"/>
          <p:cNvSpPr txBox="1"/>
          <p:nvPr/>
        </p:nvSpPr>
        <p:spPr>
          <a:xfrm>
            <a:off x="6355079" y="3200400"/>
            <a:ext cx="118872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Initial project</a:t>
            </a:r>
          </a:p>
        </p:txBody>
      </p:sp>
      <p:sp>
        <p:nvSpPr>
          <p:cNvPr id="9" name="Oval 8"/>
          <p:cNvSpPr/>
          <p:nvPr/>
        </p:nvSpPr>
        <p:spPr>
          <a:xfrm>
            <a:off x="3867911" y="2862072"/>
            <a:ext cx="310896" cy="310896"/>
          </a:xfrm>
          <a:prstGeom prst="ellipse">
            <a:avLst/>
          </a:prstGeom>
          <a:solidFill>
            <a:srgbClr val="4285F4"/>
          </a:solidFill>
          <a:ln w="25400">
            <a:solidFill>
              <a:srgbClr val="FFFFFF"/>
            </a:solidFill>
          </a:ln>
        </p:spPr>
        <p:txBody>
          <a:bodyPr rtlCol="0" anchor="ctr" wrap="square" lIns="73152" rIns="73152" tIns="73152" bIns="73152">
            <a:noAutofit/>
          </a:bodyPr>
          <a:lstStyle/>
          <a:p>
            <a:pPr algn="ctr"/>
          </a:p>
        </p:txBody>
      </p:sp>
      <p:sp>
        <p:nvSpPr>
          <p:cNvPr id="10" name="TextBox 9"/>
          <p:cNvSpPr txBox="1"/>
          <p:nvPr/>
        </p:nvSpPr>
        <p:spPr>
          <a:xfrm>
            <a:off x="3428999" y="3200400"/>
            <a:ext cx="1188720" cy="5486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Add top_customers function</a:t>
            </a:r>
          </a:p>
        </p:txBody>
      </p:sp>
      <p:sp>
        <p:nvSpPr>
          <p:cNvPr id="11" name="TextBox 10"/>
          <p:cNvSpPr txBox="1"/>
          <p:nvPr/>
        </p:nvSpPr>
        <p:spPr>
          <a:xfrm>
            <a:off x="365760" y="1371600"/>
            <a:ext cx="841248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200" b="1" i="0" lang="he-IL">
                <a:solidFill>
                  <a:srgbClr val="212121"/>
                </a:solidFill>
              </a:rPr>
              <a:t>git log בריפו שלכם, אחרי השחזור והשמירה:</a:t>
            </a:r>
          </a:p>
        </p:txBody>
      </p:sp>
      <p:sp>
        <p:nvSpPr>
          <p:cNvPr id="12" name="Rounded Rectangle 11"/>
          <p:cNvSpPr/>
          <p:nvPr/>
        </p:nvSpPr>
        <p:spPr>
          <a:xfrm>
            <a:off x="365760" y="4023360"/>
            <a:ext cx="8412480" cy="86868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התוצאה: מה שהסוכן שבר חזר, ונשמר רק מה שביקשתם. שחזור לא יוצר commit.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a:t>
            </a:r>
            <a:r>
              <a:rPr sz="3000" b="1" i="0" lang="he-IL">
                <a:solidFill>
                  <a:srgbClr val="212121"/>
                </a:solidFill>
              </a:rPr>
              <a:t>מבט מקדים: סקירת קוד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לפני שממזגים שינוי של סוכן, שלוש שאלות על ה־diff:</a:t>
            </a:r>
          </a:p>
        </p:txBody>
      </p:sp>
      <p:sp>
        <p:nvSpPr>
          <p:cNvPr id="6" name="Rounded Rectangle 5"/>
          <p:cNvSpPr/>
          <p:nvPr/>
        </p:nvSpPr>
        <p:spPr>
          <a:xfrm>
            <a:off x="6172200" y="2103120"/>
            <a:ext cx="2697480" cy="256032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7" name="TextBox 6"/>
          <p:cNvSpPr txBox="1"/>
          <p:nvPr/>
        </p:nvSpPr>
        <p:spPr>
          <a:xfrm>
            <a:off x="6172200" y="219456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8" name="TextBox 7"/>
          <p:cNvSpPr txBox="1"/>
          <p:nvPr/>
        </p:nvSpPr>
        <p:spPr>
          <a:xfrm>
            <a:off x="6263640" y="301752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קבצים</a:t>
            </a:r>
          </a:p>
        </p:txBody>
      </p:sp>
      <p:sp>
        <p:nvSpPr>
          <p:cNvPr id="9" name="TextBox 8"/>
          <p:cNvSpPr txBox="1"/>
          <p:nvPr/>
        </p:nvSpPr>
        <p:spPr>
          <a:xfrm>
            <a:off x="6309360" y="3703320"/>
            <a:ext cx="2423160" cy="9143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האם נגע בקבצים שלא התבקש?</a:t>
            </a:r>
          </a:p>
        </p:txBody>
      </p:sp>
      <p:sp>
        <p:nvSpPr>
          <p:cNvPr id="10" name="Rounded Rectangle 9"/>
          <p:cNvSpPr/>
          <p:nvPr/>
        </p:nvSpPr>
        <p:spPr>
          <a:xfrm>
            <a:off x="3246120" y="2103120"/>
            <a:ext cx="2697480" cy="256032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1" name="TextBox 10"/>
          <p:cNvSpPr txBox="1"/>
          <p:nvPr/>
        </p:nvSpPr>
        <p:spPr>
          <a:xfrm>
            <a:off x="3246120" y="219456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2" name="TextBox 11"/>
          <p:cNvSpPr txBox="1"/>
          <p:nvPr/>
        </p:nvSpPr>
        <p:spPr>
          <a:xfrm>
            <a:off x="3337560" y="301752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התנהגות</a:t>
            </a:r>
          </a:p>
        </p:txBody>
      </p:sp>
      <p:sp>
        <p:nvSpPr>
          <p:cNvPr id="13" name="TextBox 12"/>
          <p:cNvSpPr txBox="1"/>
          <p:nvPr/>
        </p:nvSpPr>
        <p:spPr>
          <a:xfrm>
            <a:off x="3383279" y="3703320"/>
            <a:ext cx="2423160" cy="9143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האם משהו השתנה בשקט?</a:t>
            </a:r>
          </a:p>
        </p:txBody>
      </p:sp>
      <p:sp>
        <p:nvSpPr>
          <p:cNvPr id="14" name="Rounded Rectangle 13"/>
          <p:cNvSpPr/>
          <p:nvPr/>
        </p:nvSpPr>
        <p:spPr>
          <a:xfrm>
            <a:off x="320039" y="2103120"/>
            <a:ext cx="2697480" cy="256032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5" name="TextBox 14"/>
          <p:cNvSpPr txBox="1"/>
          <p:nvPr/>
        </p:nvSpPr>
        <p:spPr>
          <a:xfrm>
            <a:off x="320039" y="219456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000" b="0" i="0" lang="he-IL">
                <a:solidFill>
                  <a:srgbClr val="212121"/>
                </a:solidFill>
              </a:rPr>
              <a:t>⚠️</a:t>
            </a:r>
          </a:p>
        </p:txBody>
      </p:sp>
      <p:sp>
        <p:nvSpPr>
          <p:cNvPr id="16" name="TextBox 15"/>
          <p:cNvSpPr txBox="1"/>
          <p:nvPr/>
        </p:nvSpPr>
        <p:spPr>
          <a:xfrm>
            <a:off x="411479" y="301752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מקרי קצה וסודות</a:t>
            </a:r>
          </a:p>
        </p:txBody>
      </p:sp>
      <p:sp>
        <p:nvSpPr>
          <p:cNvPr id="17" name="TextBox 16"/>
          <p:cNvSpPr txBox="1"/>
          <p:nvPr/>
        </p:nvSpPr>
        <p:spPr>
          <a:xfrm>
            <a:off x="457199" y="3703320"/>
            <a:ext cx="2423160" cy="9143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האם טיפל במקרה חריג? האם יש מפתח בקוד?</a:t>
            </a:r>
          </a:p>
        </p:txBody>
      </p:sp>
      <p:sp>
        <p:nvSpPr>
          <p:cNvPr id="18" name="TextBox 17"/>
          <p:cNvSpPr txBox="1"/>
          <p:nvPr/>
        </p:nvSpPr>
        <p:spPr>
          <a:xfrm>
            <a:off x="365760" y="47548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400" b="0" i="0" lang="he-IL">
                <a:solidFill>
                  <a:srgbClr val="595959"/>
                </a:solidFill>
              </a:rPr>
              <a:t>במפגש 8 נתרגל סקירה מלאה.</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 לבית : חלקים ג׳ ו־ד׳ במחברת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23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להשלים בבית: diff במספרים, מיזוג, וסקירת diff בכללים.</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ג׳: diff ומיזוג</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diff_stat, count_commits, merge_branch: שורות שהשתנו, ומיזוג</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ד׳: סקירת diff</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is_new_import, is_hardcoded, review_diff: שלושה כללים לסקירה</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Gemini ומסקנה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Gemini סוקר את אותו diff, ומשווים לכללים שלכם. בסוף שלושה משפטי מסקנה</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אותה מחברת, אחרי השיעור. בחלק ד׳ מותר עוזר ה־AI. מגישים אחרי Restart session and run all.</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56032"/>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HM_06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a:t>
            </a:r>
            <a:r>
              <a:rPr sz="3000" b="1" i="0" lang="he-IL">
                <a:solidFill>
                  <a:srgbClr val="212121"/>
                </a:solidFill>
              </a:rPr>
              <a:t>הצעת פרויקט</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280160"/>
            <a:ext cx="8412480" cy="4572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200" b="1" i="0" lang="he-IL">
                <a:solidFill>
                  <a:srgbClr val="212121"/>
                </a:solidFill>
              </a:rPr>
              <a:t>הצעת פרויקט: עמוד אחד, 6 שאלות</a:t>
            </a:r>
          </a:p>
        </p:txBody>
      </p:sp>
      <p:sp>
        <p:nvSpPr>
          <p:cNvPr id="6" name="Rounded Rectangle 5"/>
          <p:cNvSpPr/>
          <p:nvPr/>
        </p:nvSpPr>
        <p:spPr>
          <a:xfrm>
            <a:off x="4663440" y="1828800"/>
            <a:ext cx="4114800" cy="8229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1. איזו בעיה תפעולית או ניהולית הסוכן פותר?</a:t>
            </a:r>
          </a:p>
        </p:txBody>
      </p:sp>
      <p:sp>
        <p:nvSpPr>
          <p:cNvPr id="7" name="Rounded Rectangle 6"/>
          <p:cNvSpPr/>
          <p:nvPr/>
        </p:nvSpPr>
        <p:spPr>
          <a:xfrm>
            <a:off x="365760" y="1828800"/>
            <a:ext cx="4114800" cy="8229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2. מי המשתמש, ומה הוא מקבל?</a:t>
            </a:r>
          </a:p>
        </p:txBody>
      </p:sp>
      <p:sp>
        <p:nvSpPr>
          <p:cNvPr id="8" name="Rounded Rectangle 7"/>
          <p:cNvSpPr/>
          <p:nvPr/>
        </p:nvSpPr>
        <p:spPr>
          <a:xfrm>
            <a:off x="4663440" y="2788920"/>
            <a:ext cx="4114800" cy="8229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3. אילו נתונים נדרשים, ומאיפה?</a:t>
            </a:r>
          </a:p>
        </p:txBody>
      </p:sp>
      <p:sp>
        <p:nvSpPr>
          <p:cNvPr id="9" name="Rounded Rectangle 8"/>
          <p:cNvSpPr/>
          <p:nvPr/>
        </p:nvSpPr>
        <p:spPr>
          <a:xfrm>
            <a:off x="365760" y="2788920"/>
            <a:ext cx="4114800" cy="8229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4. אילו כלים או API הסוכן ישתמש בהם?</a:t>
            </a:r>
          </a:p>
        </p:txBody>
      </p:sp>
      <p:sp>
        <p:nvSpPr>
          <p:cNvPr id="10" name="Rounded Rectangle 9"/>
          <p:cNvSpPr/>
          <p:nvPr/>
        </p:nvSpPr>
        <p:spPr>
          <a:xfrm>
            <a:off x="4663440" y="3749039"/>
            <a:ext cx="4114800" cy="8229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5. איך נדע שהסוכן הצליח? (מדד)</a:t>
            </a:r>
          </a:p>
        </p:txBody>
      </p:sp>
      <p:sp>
        <p:nvSpPr>
          <p:cNvPr id="11" name="Rounded Rectangle 10"/>
          <p:cNvSpPr/>
          <p:nvPr/>
        </p:nvSpPr>
        <p:spPr>
          <a:xfrm>
            <a:off x="365760" y="3749039"/>
            <a:ext cx="4114800" cy="8229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6. מה הסיכונים, ומה אחראי האדם לבדוק?</a:t>
            </a:r>
          </a:p>
        </p:txBody>
      </p:sp>
      <p:sp>
        <p:nvSpPr>
          <p:cNvPr id="12" name="TextBox 11"/>
          <p:cNvSpPr txBox="1"/>
          <p:nvPr/>
        </p:nvSpPr>
        <p:spPr>
          <a:xfrm>
            <a:off x="365760" y="470916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595959"/>
                </a:solidFill>
              </a:rPr>
              <a:t>מועד הגשה: ____ (לעדכון)</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a:t>
            </a:r>
            <a:r>
              <a:rPr sz="3000" b="1" i="0" lang="he-IL">
                <a:solidFill>
                  <a:srgbClr val="212121"/>
                </a:solidFill>
              </a:rPr>
              <a:t>הכלל של השיעור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31520" y="1645920"/>
            <a:ext cx="7680960" cy="2286000"/>
          </a:xfrm>
          <a:prstGeom prst="roundRect">
            <a:avLst>
              <a:gd name="adj" fmla="val 6000"/>
            </a:avLst>
          </a:prstGeom>
          <a:solidFill>
            <a:srgbClr val="E1F4E6"/>
          </a:solidFill>
          <a:ln w="381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3000" b="1" i="0" lang="he-IL">
                <a:solidFill>
                  <a:srgbClr val="212121"/>
                </a:solidFill>
              </a:rPr>
              <a:t>לפני שהסוכן פועל: commit.</a:t>
            </a:r>
          </a:p>
          <a:p>
            <a:pPr rtl="1" algn="ctr" marL="0" indent="0">
              <a:lnSpc>
                <a:spcPct val="105000"/>
              </a:lnSpc>
              <a:spcBef>
                <a:spcPts val="0"/>
              </a:spcBef>
              <a:spcAft>
                <a:spcPts val="0"/>
              </a:spcAft>
              <a:buNone/>
            </a:pPr>
            <a:r>
              <a:rPr sz="3000" b="1" i="0" lang="he-IL">
                <a:solidFill>
                  <a:srgbClr val="212121"/>
                </a:solidFill>
              </a:rPr>
              <a:t>אחרי שפעל: קוראים את ה־diff.</a:t>
            </a:r>
          </a:p>
        </p:txBody>
      </p:sp>
      <p:sp>
        <p:nvSpPr>
          <p:cNvPr id="6" name="TextBox 5"/>
          <p:cNvSpPr txBox="1"/>
          <p:nvPr/>
        </p:nvSpPr>
        <p:spPr>
          <a:xfrm>
            <a:off x="731520" y="4114800"/>
            <a:ext cx="768096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0" i="0" lang="he-IL">
                <a:solidFill>
                  <a:srgbClr val="595959"/>
                </a:solidFill>
              </a:rPr>
              <a:t>ובסוף מריצים ובודקים בעצמכם.</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a:t>
            </a:r>
            <a:r>
              <a:rPr sz="3000" b="1" i="0" lang="he-IL">
                <a:solidFill>
                  <a:srgbClr val="212121"/>
                </a:solidFill>
              </a:rPr>
              <a:t>שאלות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527048"/>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200" b="0" i="0" lang="he-IL">
                <a:solidFill>
                  <a:srgbClr val="212121"/>
                </a:solidFill>
              </a:rPr>
              <a:t>אילו שלבים חוזרים בלולאה של סוכן?</a:t>
            </a:r>
          </a:p>
        </p:txBody>
      </p:sp>
      <p:sp>
        <p:nvSpPr>
          <p:cNvPr id="7" name="Oval 6"/>
          <p:cNvSpPr/>
          <p:nvPr/>
        </p:nvSpPr>
        <p:spPr>
          <a:xfrm>
            <a:off x="8412480" y="2368296"/>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212848"/>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200" b="0" i="0" lang="he-IL">
                <a:solidFill>
                  <a:srgbClr val="212121"/>
                </a:solidFill>
              </a:rPr>
              <a:t>למה עושים commit לפני שהסוכן פועל?</a:t>
            </a:r>
          </a:p>
        </p:txBody>
      </p:sp>
      <p:sp>
        <p:nvSpPr>
          <p:cNvPr id="9" name="Oval 8"/>
          <p:cNvSpPr/>
          <p:nvPr/>
        </p:nvSpPr>
        <p:spPr>
          <a:xfrm>
            <a:off x="8412480" y="320954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3054096"/>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2200" b="0" i="0" lang="he-IL">
                <a:solidFill>
                  <a:srgbClr val="212121"/>
                </a:solidFill>
              </a:rPr>
              <a:t>מה תפקיד ענף, ומתי ממזגים אותו?</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a:t>
            </a:r>
            <a:r>
              <a:rPr sz="3000" b="1" i="0" lang="he-IL">
                <a:solidFill>
                  <a:srgbClr val="212121"/>
                </a:solidFill>
              </a:rPr>
              <a:t>תשובות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545336"/>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0" i="0" lang="he-IL">
                <a:solidFill>
                  <a:srgbClr val="212121"/>
                </a:solidFill>
              </a:rPr>
              <a:t>תכנון, פעולה (קריאה לכלי), התבוננות, וחוזר חלילה.</a:t>
            </a:r>
          </a:p>
        </p:txBody>
      </p:sp>
      <p:sp>
        <p:nvSpPr>
          <p:cNvPr id="7" name="Oval 6"/>
          <p:cNvSpPr/>
          <p:nvPr/>
        </p:nvSpPr>
        <p:spPr>
          <a:xfrm>
            <a:off x="8412480" y="2386584"/>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212848"/>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0" i="0" lang="he-IL">
                <a:solidFill>
                  <a:srgbClr val="212121"/>
                </a:solidFill>
              </a:rPr>
              <a:t>כדי שיהיה מצב נקי לחזור אליו, וה־diff יראה מה השתנה.</a:t>
            </a:r>
          </a:p>
        </p:txBody>
      </p:sp>
      <p:sp>
        <p:nvSpPr>
          <p:cNvPr id="9" name="Oval 8"/>
          <p:cNvSpPr/>
          <p:nvPr/>
        </p:nvSpPr>
        <p:spPr>
          <a:xfrm>
            <a:off x="8412480" y="322783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3054096"/>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0" i="0" lang="he-IL">
                <a:solidFill>
                  <a:srgbClr val="212121"/>
                </a:solidFill>
              </a:rPr>
              <a:t>ענף הוא קו ניסוי נפרד, בלי לסכן את main. ממזגים רק אחרי שה־diff נבדק והקוד עובד.</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a:t>
            </a:r>
            <a:r>
              <a:rPr sz="3000" b="1" i="0" lang="he-IL">
                <a:solidFill>
                  <a:srgbClr val="212121"/>
                </a:solidFill>
              </a:rPr>
              <a:t>סיכום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3657600"/>
          </a:xfrm>
          <a:prstGeom prst="rect">
            <a:avLst/>
          </a:prstGeom>
          <a:noFill/>
        </p:spPr>
        <p:txBody>
          <a:bodyPr wrap="square" lIns="73152" rIns="73152" tIns="73152" bIns="73152" anchor="t">
            <a:noAutofit/>
          </a:bodyPr>
          <a:lstStyle/>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סוכן = לולאה של תכנון, פעולה והתבוננות, באמצעות כלים.</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רמת האוטונומיה נקבעת לפי הסיכון ולפי היכולת לבטל.</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Git הוא רשת הביטחון: commit לפני, ענף לניסוי, diff אחרי.</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מה שהסוכן אומר אינו הוכחה: מריצים ובודקים.</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נוסף לשרשרת (מפגשים 1 ו־5): commit לפני, diff אחרי.</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a:t>
            </a:r>
            <a:r>
              <a:rPr sz="3000" b="1" i="0" lang="he-IL">
                <a:solidFill>
                  <a:srgbClr val="212121"/>
                </a:solidFill>
              </a:rPr>
              <a:t>הכנה למפגש הבא</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41732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6" name="TextBox 5"/>
          <p:cNvSpPr txBox="1"/>
          <p:nvPr/>
        </p:nvSpPr>
        <p:spPr>
          <a:xfrm>
            <a:off x="7772400" y="141732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7" name="TextBox 6"/>
          <p:cNvSpPr txBox="1"/>
          <p:nvPr/>
        </p:nvSpPr>
        <p:spPr>
          <a:xfrm>
            <a:off x="457200" y="141732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לכתוב את הצעת הפרויקט עם הקבוצה</a:t>
            </a:r>
          </a:p>
        </p:txBody>
      </p:sp>
      <p:sp>
        <p:nvSpPr>
          <p:cNvPr id="8" name="Rounded Rectangle 7"/>
          <p:cNvSpPr/>
          <p:nvPr/>
        </p:nvSpPr>
        <p:spPr>
          <a:xfrm>
            <a:off x="365760" y="219456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9" name="TextBox 8"/>
          <p:cNvSpPr txBox="1"/>
          <p:nvPr/>
        </p:nvSpPr>
        <p:spPr>
          <a:xfrm>
            <a:off x="7772400" y="219456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0" name="TextBox 9"/>
          <p:cNvSpPr txBox="1"/>
          <p:nvPr/>
        </p:nvSpPr>
        <p:spPr>
          <a:xfrm>
            <a:off x="457200" y="219456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לוודא שהמאגר הקבוצתי כולל commits של כולם</a:t>
            </a:r>
          </a:p>
        </p:txBody>
      </p:sp>
      <p:sp>
        <p:nvSpPr>
          <p:cNvPr id="11" name="Rounded Rectangle 10"/>
          <p:cNvSpPr/>
          <p:nvPr/>
        </p:nvSpPr>
        <p:spPr>
          <a:xfrm>
            <a:off x="365760" y="297180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12" name="TextBox 11"/>
          <p:cNvSpPr txBox="1"/>
          <p:nvPr/>
        </p:nvSpPr>
        <p:spPr>
          <a:xfrm>
            <a:off x="7772400" y="297180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3" name="TextBox 12"/>
          <p:cNvSpPr txBox="1"/>
          <p:nvPr/>
        </p:nvSpPr>
        <p:spPr>
          <a:xfrm>
            <a:off x="457200" y="297180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לחשוב איזה מידע חיצוני הפרויקט שלכם צריך</a:t>
            </a:r>
          </a:p>
        </p:txBody>
      </p:sp>
      <p:sp>
        <p:nvSpPr>
          <p:cNvPr id="14" name="Rounded Rectangle 13"/>
          <p:cNvSpPr/>
          <p:nvPr/>
        </p:nvSpPr>
        <p:spPr>
          <a:xfrm>
            <a:off x="365760" y="3840480"/>
            <a:ext cx="8412480" cy="10972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בשיעור הבא: APIs, בסיסי נתונים ו־Backend עם AI</a:t>
            </a:r>
          </a:p>
          <a:p>
            <a:pPr rtl="1" algn="ctr" marL="0" indent="0">
              <a:lnSpc>
                <a:spcPct val="105000"/>
              </a:lnSpc>
              <a:spcBef>
                <a:spcPts val="0"/>
              </a:spcBef>
              <a:spcAft>
                <a:spcPts val="0"/>
              </a:spcAft>
              <a:buNone/>
            </a:pPr>
            <a:r>
              <a:rPr sz="1600" b="0" i="0" lang="he-IL">
                <a:solidFill>
                  <a:srgbClr val="595959"/>
                </a:solidFill>
              </a:rPr>
              <a:t>איך המערכת שלכם מדברת עם העולם.</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6 :נספח: מקורות להעמקה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
        <p:nvSpPr>
          <p:cNvPr id="6" name="Rectangle 5"/>
          <p:cNvSpPr/>
          <p:nvPr/>
        </p:nvSpPr>
        <p:spPr>
          <a:xfrm>
            <a:off x="365760" y="1368000"/>
            <a:ext cx="8412480" cy="414000"/>
          </a:xfrm>
          <a:prstGeom prst="rect">
            <a:avLst/>
          </a:prstGeom>
          <a:solidFill>
            <a:srgbClr val="E3EE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Yao et al. (2023). ReAct: Synergizing Reasoning and Acting in Language Models. ICLR. arxiv.org/abs/2210.03629</a:t>
            </a:r>
          </a:p>
        </p:txBody>
      </p:sp>
      <p:sp>
        <p:nvSpPr>
          <p:cNvPr id="7" name="Rectangle 6"/>
          <p:cNvSpPr/>
          <p:nvPr/>
        </p:nvSpPr>
        <p:spPr>
          <a:xfrm>
            <a:off x="365760" y="1828800"/>
            <a:ext cx="8412480" cy="414000"/>
          </a:xfrm>
          <a:prstGeom prst="rect">
            <a:avLst/>
          </a:prstGeom>
          <a:solidFill>
            <a:srgbClr val="FFFF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Schick et al. (2023). Toolformer: Language Models Can Teach Themselves to Use Tools. NeurIPS. arxiv.org/abs/2302.04761</a:t>
            </a:r>
          </a:p>
        </p:txBody>
      </p:sp>
      <p:sp>
        <p:nvSpPr>
          <p:cNvPr id="8" name="Rectangle 7"/>
          <p:cNvSpPr/>
          <p:nvPr/>
        </p:nvSpPr>
        <p:spPr>
          <a:xfrm>
            <a:off x="365760" y="2289600"/>
            <a:ext cx="8412480" cy="414000"/>
          </a:xfrm>
          <a:prstGeom prst="rect">
            <a:avLst/>
          </a:prstGeom>
          <a:solidFill>
            <a:srgbClr val="E3EE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Wei et al. (2022). Chain-of-Thought Prompting Elicits Reasoning in LLMs. NeurIPS. arxiv.org/abs/2201.11903</a:t>
            </a:r>
          </a:p>
        </p:txBody>
      </p:sp>
      <p:sp>
        <p:nvSpPr>
          <p:cNvPr id="9" name="Rectangle 8"/>
          <p:cNvSpPr/>
          <p:nvPr/>
        </p:nvSpPr>
        <p:spPr>
          <a:xfrm>
            <a:off x="365760" y="2750400"/>
            <a:ext cx="8412480" cy="414000"/>
          </a:xfrm>
          <a:prstGeom prst="rect">
            <a:avLst/>
          </a:prstGeom>
          <a:solidFill>
            <a:srgbClr val="FFFF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Chen et al. (2023). Program of Thoughts Prompting. TMLR. arxiv.org/abs/2211.12588</a:t>
            </a:r>
          </a:p>
        </p:txBody>
      </p:sp>
      <p:sp>
        <p:nvSpPr>
          <p:cNvPr id="10" name="Rectangle 9"/>
          <p:cNvSpPr/>
          <p:nvPr/>
        </p:nvSpPr>
        <p:spPr>
          <a:xfrm>
            <a:off x="365760" y="3211200"/>
            <a:ext cx="8412480" cy="414000"/>
          </a:xfrm>
          <a:prstGeom prst="rect">
            <a:avLst/>
          </a:prstGeom>
          <a:solidFill>
            <a:srgbClr val="E3EE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Lewis et al. (2020). Retrieval-Augmented Generation for Knowledge-Intensive NLP Tasks. NeurIPS. arxiv.org/abs/2005.11401</a:t>
            </a:r>
          </a:p>
        </p:txBody>
      </p:sp>
      <p:sp>
        <p:nvSpPr>
          <p:cNvPr id="11" name="Rectangle 10"/>
          <p:cNvSpPr/>
          <p:nvPr/>
        </p:nvSpPr>
        <p:spPr>
          <a:xfrm>
            <a:off x="365760" y="3672000"/>
            <a:ext cx="8412480" cy="414000"/>
          </a:xfrm>
          <a:prstGeom prst="rect">
            <a:avLst/>
          </a:prstGeom>
          <a:solidFill>
            <a:srgbClr val="FFFF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Jimenez et al. (2024). SWE-bench: Can Language Models Resolve Real-World GitHub Issues? ICLR. arxiv.org/abs/2310.06770</a:t>
            </a:r>
          </a:p>
        </p:txBody>
      </p:sp>
      <p:sp>
        <p:nvSpPr>
          <p:cNvPr id="12" name="Rectangle 5"/>
          <p:cNvSpPr/>
          <p:nvPr/>
        </p:nvSpPr>
        <p:spPr>
          <a:xfrm>
            <a:off x="365760" y="4132800"/>
            <a:ext cx="8412480" cy="414000"/>
          </a:xfrm>
          <a:prstGeom prst="rect">
            <a:avLst/>
          </a:prstGeom>
          <a:solidFill>
            <a:srgbClr val="E3EE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Anthropic (2024). Building effective agents. anthropic.com/engineering/building-effective-agents</a:t>
            </a:r>
          </a:p>
        </p:txBody>
      </p:sp>
      <p:sp>
        <p:nvSpPr>
          <p:cNvPr id="13" name="Rectangle 6"/>
          <p:cNvSpPr/>
          <p:nvPr/>
        </p:nvSpPr>
        <p:spPr>
          <a:xfrm>
            <a:off x="365760" y="4593600"/>
            <a:ext cx="8412480" cy="414000"/>
          </a:xfrm>
          <a:prstGeom prst="rect">
            <a:avLst/>
          </a:prstGeom>
          <a:solidFill>
            <a:srgbClr val="FFFFFF"/>
          </a:solidFill>
          <a:ln w="19050">
            <a:solidFill>
              <a:srgbClr val="EEEEEE"/>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Chacon &amp; Straub (2014). Pro Git, 2nd ed. Apress. git-scm.com/book</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