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5"/>
  </p:notesMasterIdLst>
  <p:sldIdLst>
    <p:sldId id="256" r:id="rId2"/>
    <p:sldId id="257" r:id="rId3"/>
    <p:sldId id="258" r:id="rId4"/>
    <p:sldId id="324"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314" r:id="rId19"/>
    <p:sldId id="315" r:id="rId20"/>
    <p:sldId id="316" r:id="rId21"/>
    <p:sldId id="325" r:id="rId22"/>
    <p:sldId id="272" r:id="rId23"/>
    <p:sldId id="310" r:id="rId24"/>
    <p:sldId id="311" r:id="rId25"/>
    <p:sldId id="277" r:id="rId26"/>
    <p:sldId id="278" r:id="rId27"/>
    <p:sldId id="279" r:id="rId28"/>
    <p:sldId id="280" r:id="rId29"/>
    <p:sldId id="281" r:id="rId30"/>
    <p:sldId id="282" r:id="rId31"/>
    <p:sldId id="283" r:id="rId32"/>
    <p:sldId id="284" r:id="rId33"/>
    <p:sldId id="285" r:id="rId34"/>
    <p:sldId id="286" r:id="rId35"/>
    <p:sldId id="328" r:id="rId36"/>
    <p:sldId id="329" r:id="rId37"/>
    <p:sldId id="330" r:id="rId38"/>
    <p:sldId id="331" r:id="rId39"/>
    <p:sldId id="332" r:id="rId40"/>
    <p:sldId id="333" r:id="rId41"/>
    <p:sldId id="334" r:id="rId42"/>
    <p:sldId id="335" r:id="rId43"/>
    <p:sldId id="336" r:id="rId44"/>
    <p:sldId id="337" r:id="rId45"/>
    <p:sldId id="317" r:id="rId46"/>
    <p:sldId id="318" r:id="rId47"/>
    <p:sldId id="319" r:id="rId48"/>
    <p:sldId id="320" r:id="rId49"/>
    <p:sldId id="326" r:id="rId50"/>
    <p:sldId id="287" r:id="rId51"/>
    <p:sldId id="312" r:id="rId52"/>
    <p:sldId id="293" r:id="rId53"/>
    <p:sldId id="294" r:id="rId54"/>
    <p:sldId id="295" r:id="rId55"/>
    <p:sldId id="296" r:id="rId56"/>
    <p:sldId id="297" r:id="rId57"/>
    <p:sldId id="298" r:id="rId58"/>
    <p:sldId id="299" r:id="rId59"/>
    <p:sldId id="300" r:id="rId60"/>
    <p:sldId id="321" r:id="rId61"/>
    <p:sldId id="322" r:id="rId62"/>
    <p:sldId id="323" r:id="rId63"/>
    <p:sldId id="327" r:id="rId64"/>
    <p:sldId id="301" r:id="rId65"/>
    <p:sldId id="313" r:id="rId66"/>
    <p:sldId id="303" r:id="rId67"/>
    <p:sldId id="305" r:id="rId68"/>
    <p:sldId id="304" r:id="rId69"/>
    <p:sldId id="338" r:id="rId70"/>
    <p:sldId id="339" r:id="rId71"/>
    <p:sldId id="340" r:id="rId72"/>
    <p:sldId id="341" r:id="rId73"/>
    <p:sldId id="342" r:id="rId74"/>
    <p:sldId id="343" r:id="rId75"/>
    <p:sldId id="344" r:id="rId76"/>
    <p:sldId id="345" r:id="rId77"/>
    <p:sldId id="346" r:id="rId78"/>
    <p:sldId id="347" r:id="rId79"/>
    <p:sldId id="348" r:id="rId80"/>
    <p:sldId id="306" r:id="rId81"/>
    <p:sldId id="307" r:id="rId82"/>
    <p:sldId id="308" r:id="rId83"/>
    <p:sldId id="309" r:id="rId8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DD8FB8-E6A7-485A-9FB0-3124AB043D13}">
  <a:tblStyle styleId="{E9DD8FB8-E6A7-485A-9FB0-3124AB043D1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1164"/>
  </p:normalViewPr>
  <p:slideViewPr>
    <p:cSldViewPr snapToGrid="0">
      <p:cViewPr varScale="1">
        <p:scale>
          <a:sx n="136" d="100"/>
          <a:sy n="136" d="100"/>
        </p:scale>
        <p:origin x="1504"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פתיחה.</a:t>
            </a:r>
          </a:p>
          <a:p>
            <a:pPr marL="0" indent="0" algn="r" rtl="1">
              <a:buNone/>
            </a:pPr>
            <a:r>
              <a:rPr lang="he-IL" sz="1200" b="1"/>
              <a:t>מה אומרים</a:t>
            </a:r>
          </a:p>
          <a:p>
            <a:pPr marL="0" indent="0" algn="r" rtl="1">
              <a:buNone/>
            </a:pPr>
            <a:r>
              <a:rPr lang="he-IL" sz="1200"/>
              <a:t>•  התקציב לכל הפתיחה (שקפים 1 עד 7) הוא 8 דקות, ועל שקף זה כדאי להקדיש כדקה אחת.</a:t>
            </a:r>
          </a:p>
          <a:p>
            <a:pPr marL="0" indent="0" algn="r" rtl="1">
              <a:buNone/>
            </a:pPr>
            <a:r>
              <a:rPr lang="he-IL" sz="1200"/>
              <a:t>•  המטרה היא לעורר סקרנות לפני שמסבירים משהו.</a:t>
            </a:r>
          </a:p>
          <a:p>
            <a:pPr marL="0" indent="0" algn="r" rtl="1">
              <a:buNone/>
            </a:pPr>
            <a:r>
              <a:rPr lang="he-IL" sz="1200"/>
              <a:t>•  קראו את השאלה בקול: אותה בקשה, מילה במילה, בשלושה כלים שונים.</a:t>
            </a:r>
          </a:p>
          <a:p>
            <a:pPr marL="0" indent="0" algn="r" rtl="1">
              <a:buNone/>
            </a:pPr>
            <a:r>
              <a:rPr lang="he-IL" sz="1200"/>
              <a:t>•  האם התוצאה תהיה זהה?</a:t>
            </a:r>
          </a:p>
          <a:p>
            <a:pPr marL="0" indent="0" algn="r" rtl="1">
              <a:buNone/>
            </a:pPr>
            <a:r>
              <a:rPr lang="he-IL" sz="1200"/>
              <a:t>•  בקשו הצבעה ביד: מי חושב שכן, מי חושב שלא, ולמה.</a:t>
            </a:r>
          </a:p>
          <a:p>
            <a:pPr marL="0" indent="0" algn="r" rtl="1">
              <a:buNone/>
            </a:pPr>
            <a:r>
              <a:rPr lang="he-IL" sz="1200"/>
              <a:t>•  אל תגלו את התשובה, היא תתברר בהדגמה שבשקף הבא.</a:t>
            </a:r>
          </a:p>
          <a:p>
            <a:pPr marL="0" indent="0" algn="r" rtl="1">
              <a:buNone/>
            </a:pPr>
            <a:r>
              <a:rPr lang="he-IL" sz="1200"/>
              <a:t>•  אנלוגיה להנדסת תעשייה: אותה הוראת עבודה בכתב נמסרת לשלושה עובדים.</a:t>
            </a:r>
          </a:p>
          <a:p>
            <a:pPr marL="0" indent="0" algn="r" rtl="1">
              <a:buNone/>
            </a:pPr>
            <a:r>
              <a:rPr lang="he-IL" sz="1200"/>
              <a:t>•  אחד שומע אותה בטלפון בלבד, אחד רואה את התיק הפתוח על השולחן, ואחד עומד ליד המכונה ויכול להפעיל אותה.</a:t>
            </a:r>
          </a:p>
          <a:p>
            <a:pPr marL="0" indent="0" algn="r" rtl="1">
              <a:buNone/>
            </a:pPr>
            <a:r>
              <a:rPr lang="he-IL" sz="1200"/>
              <a:t>•  ההוראה זהה, התוצאה לא.</a:t>
            </a:r>
          </a:p>
          <a:p>
            <a:pPr marL="0" indent="0" algn="r" rtl="1">
              <a:buNone/>
            </a:pPr>
            <a:r>
              <a:rPr lang="he-IL" sz="1200"/>
              <a:t>•  התשובה הצפויה: לא זהה, וההבדל אינו רק באיכות המודל.</a:t>
            </a:r>
          </a:p>
          <a:p>
            <a:pPr marL="0" indent="0" algn="r" rtl="1">
              <a:buNone/>
            </a:pPr>
            <a:r>
              <a:rPr lang="he-IL" sz="1200"/>
              <a:t>•  נחזור לשאלה הזאת בסוף חלק א׳.</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הדגמה חיה של כ-2 דקות, והסטודנטים רק צופים.</a:t>
            </a:r>
          </a:p>
          <a:p>
            <a:pPr marL="0" indent="0" algn="r" rtl="1">
              <a:buNone/>
            </a:pPr>
            <a:r>
              <a:rPr lang="he-IL" sz="1200" b="1"/>
              <a:t>מה אומרים</a:t>
            </a:r>
          </a:p>
          <a:p>
            <a:pPr marL="0" indent="0" algn="r" rtl="1">
              <a:buNone/>
            </a:pPr>
            <a:r>
              <a:rPr lang="he-IL" sz="1200"/>
              <a:t>•  הכינו מראש את הקובץ orders.csv מחבילת הפתיחה והעלו אותו לשלושת הכלים.</a:t>
            </a:r>
          </a:p>
          <a:p>
            <a:pPr marL="0" indent="0" algn="r" rtl="1">
              <a:buNone/>
            </a:pPr>
            <a:r>
              <a:rPr lang="he-IL" sz="1200"/>
              <a:t>•  הקריאו את הבקשה שבתיבה הכחולה: מצא את 5 המוצרים עם ההכנסה הגבוהה ביותר בקובץ orders.csv, והצג אותם בגרף.</a:t>
            </a:r>
          </a:p>
          <a:p>
            <a:pPr marL="0" indent="0" algn="r" rtl="1">
              <a:buNone/>
            </a:pPr>
            <a:r>
              <a:rPr lang="he-IL" sz="1200"/>
              <a:t>•  הריצו אותה בשלוש הדרכים לפי הסדר: בצ׳אט בדפדפן, בעוזר המובנה ב-Colab ובסוכן שורת פקודה.</a:t>
            </a:r>
          </a:p>
          <a:p>
            <a:pPr marL="0" indent="0" algn="r" rtl="1">
              <a:buNone/>
            </a:pPr>
            <a:r>
              <a:rPr lang="he-IL" sz="1200"/>
              <a:t>•  סימני השאלה בשקף הם התוצאות, והסטודנטים מתבקשים לשים לב מה קורה בדרך ולא רק מה יוצא בסוף.</a:t>
            </a:r>
          </a:p>
          <a:p>
            <a:pPr marL="0" indent="0" algn="r" rtl="1">
              <a:buNone/>
            </a:pPr>
            <a:r>
              <a:rPr lang="he-IL" sz="1200"/>
              <a:t>•  אל תסבירו עדיין את ההבדל, כדי שיבחינו בו בעצמם.</a:t>
            </a:r>
          </a:p>
          <a:p>
            <a:pPr marL="0" indent="0" algn="r" rtl="1">
              <a:buNone/>
            </a:pPr>
            <a:r>
              <a:rPr lang="he-IL" sz="1200"/>
              <a:t>•  גיבוי: אם אחד הכלים אינו זמין או שהרשת איטית, הציגו סרטון או צילומי מסך שהוקלטו מראש.</a:t>
            </a:r>
          </a:p>
          <a:p>
            <a:pPr marL="0" indent="0" algn="r" rtl="1">
              <a:buNone/>
            </a:pPr>
            <a:r>
              <a:rPr lang="he-IL" sz="1200"/>
              <a:t>•  אם צריך לקצר, הדגימו רק צ׳אט וסוכן.</a:t>
            </a:r>
          </a:p>
          <a:p>
            <a:pPr marL="0" indent="0" algn="r" rtl="1">
              <a:buNone/>
            </a:pPr>
            <a:r>
              <a:rPr lang="he-IL" sz="1200"/>
              <a:t>•  ממשקי הכלים וזמינותם משתנים, ולכן יש לאמת לפני השיעור שההדגמה עובדת עם החשבון שלכם.</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דיון של כ-1.5 דקות.</a:t>
            </a:r>
          </a:p>
          <a:p>
            <a:pPr marL="0" indent="0" algn="r" rtl="1">
              <a:buNone/>
            </a:pPr>
            <a:r>
              <a:rPr lang="he-IL" sz="1200" b="1"/>
              <a:t>מה אומרים</a:t>
            </a:r>
          </a:p>
          <a:p>
            <a:pPr marL="0" indent="0" algn="r" rtl="1">
              <a:buNone/>
            </a:pPr>
            <a:r>
              <a:rPr lang="he-IL" sz="1200"/>
              <a:t>•  שלוש השאלות בשקף מכוונות את תשומת הלב, והן אינן מבחן.</a:t>
            </a:r>
          </a:p>
          <a:p>
            <a:pPr marL="0" indent="0" algn="r" rtl="1">
              <a:buNone/>
            </a:pPr>
            <a:r>
              <a:rPr lang="he-IL" sz="1200"/>
              <a:t>•  שאלו כל אחת בקול ורשמו תשובות על הלוח.</a:t>
            </a:r>
          </a:p>
          <a:p>
            <a:pPr marL="0" indent="0" algn="r" rtl="1">
              <a:buNone/>
            </a:pPr>
            <a:r>
              <a:rPr lang="he-IL" sz="1200" b="1"/>
              <a:t>תשובה</a:t>
            </a:r>
          </a:p>
          <a:p>
            <a:pPr marL="0" indent="0" algn="r" rtl="1">
              <a:buNone/>
            </a:pPr>
            <a:r>
              <a:rPr lang="he-IL" sz="1200"/>
              <a:t>•  בצ׳אט היו העתקות והדבקות ידניות, והיה צריך לספר לו מה יש בקובץ.</a:t>
            </a:r>
          </a:p>
          <a:p>
            <a:pPr marL="0" indent="0" algn="r" rtl="1">
              <a:buNone/>
            </a:pPr>
            <a:r>
              <a:rPr lang="he-IL" sz="1200"/>
              <a:t>•  בעוזר ב-Colab הכלי ראה את המחברת ולא תמיד את הקובץ עצמו.</a:t>
            </a:r>
          </a:p>
          <a:p>
            <a:pPr marL="0" indent="0" algn="r" rtl="1">
              <a:buNone/>
            </a:pPr>
            <a:r>
              <a:rPr lang="he-IL" sz="1200"/>
              <a:t>•  הסוכן קרא את הקובץ בעצמו, הריץ את הקוד ויצר את הגרף, ואילו הצ׳אט רק כתב קוד.</a:t>
            </a:r>
          </a:p>
          <a:p>
            <a:pPr marL="0" indent="0" algn="r" rtl="1">
              <a:buNone/>
            </a:pPr>
            <a:r>
              <a:rPr lang="he-IL" sz="1200"/>
              <a:t>•  אל תתקנו תשובות שגויות.</a:t>
            </a:r>
          </a:p>
          <a:p>
            <a:pPr marL="0" indent="0" algn="r" rtl="1">
              <a:buNone/>
            </a:pPr>
            <a:r>
              <a:rPr lang="he-IL" sz="1200"/>
              <a:t>•  אמרו שנחזור אליהן בסוף חלק א׳.</a:t>
            </a:r>
          </a:p>
          <a:p>
            <a:pPr marL="0" indent="0" algn="r" rtl="1">
              <a:buNone/>
            </a:pPr>
            <a:r>
              <a:rPr lang="he-IL" sz="1200"/>
              <a:t>•  הנקודה לסטודנטים: השאלה החשובה אינה איזה כלי חכם יותר, אלא מה כל כלי רואה, מה הוא עושה בפועל ומי מאשר.</a:t>
            </a:r>
          </a:p>
          <a:p>
            <a:pPr marL="0" indent="0" algn="r" rtl="1">
              <a:buNone/>
            </a:pPr>
            <a:r>
              <a:rPr lang="he-IL" sz="1200" b="1"/>
              <a:t>אנלוגיה</a:t>
            </a:r>
          </a:p>
          <a:p>
            <a:pPr marL="0" indent="0" algn="r" rtl="1">
              <a:buNone/>
            </a:pPr>
            <a:r>
              <a:rPr lang="he-IL" sz="1200"/>
              <a:t>•  יועץ שמקבל תיאור בטלפון, לעומת יועץ שמגיע לרצפת הייצור ורואה את הקו.</a:t>
            </a:r>
          </a:p>
          <a:p>
            <a:pPr marL="0" indent="0" algn="r" rtl="1">
              <a:buNone/>
            </a:pPr>
            <a:r>
              <a:rPr lang="he-IL" sz="1200"/>
              <a:t>•  מעבר: אחרי הדיון, אל תענו על השאלה ״איזה כלי ראה את הקובץ״.</a:t>
            </a:r>
          </a:p>
          <a:p>
            <a:pPr marL="0" indent="0" algn="r" rtl="1">
              <a:buNone/>
            </a:pPr>
            <a:r>
              <a:rPr lang="he-IL" sz="1200"/>
              <a:t>•  עברו לשקף ״במפגשים הקודמים״: את השאלה הזאת כבר פגשנו, במפגש 2, בשם חלון ההקשר.</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שרשרת המפגשים, כ־1.5 דקות.</a:t>
            </a:r>
          </a:p>
          <a:p>
            <a:pPr marL="0" indent="0" algn="r" rtl="1">
              <a:buNone/>
            </a:pPr>
            <a:r>
              <a:rPr lang="he-IL" sz="1200" b="1"/>
              <a:t>מה אומרים</a:t>
            </a:r>
          </a:p>
          <a:p>
            <a:pPr marL="0" indent="0" algn="r" rtl="1">
              <a:buNone/>
            </a:pPr>
            <a:r>
              <a:rPr lang="he-IL" sz="1200"/>
              <a:t>•  זה שקף היזכרות, ולכן שואלים לפני שמקרינים כל שורה.</a:t>
            </a:r>
          </a:p>
          <a:p>
            <a:pPr marL="0" indent="0" algn="r" rtl="1">
              <a:buNone/>
            </a:pPr>
            <a:r>
              <a:rPr lang="he-IL" sz="1200"/>
              <a:t>•  שאלת היזכרות 1: ״מי זוכר מה עושים תמיד לפני שמגישים קוד שנוצר ב־AI?״ תשובה: קוראים, מבינים ובודקים, כלומר ״סומכים אבל בודקים״ (מפגש 1, המתכנת הג׳וניור המוכשר).</a:t>
            </a:r>
          </a:p>
          <a:p>
            <a:pPr marL="0" indent="0" algn="r" rtl="1">
              <a:buNone/>
            </a:pPr>
            <a:r>
              <a:rPr lang="he-IL" sz="1200"/>
              <a:t>•  המשיכו עם הכלל מאותו מפגש: מה שלא ראיתם בתיעוד ולא הרצתם בהצלחה אין לסמוך עליו.</a:t>
            </a:r>
          </a:p>
          <a:p>
            <a:pPr marL="0" indent="0" algn="r" rtl="1">
              <a:buNone/>
            </a:pPr>
            <a:r>
              <a:rPr lang="he-IL" sz="1200"/>
              <a:t>•  שאלת היזכרות 2: ״מה רואה המודל כשהוא עונה לכם?״ תשובה: רק את מה שנמצא בחלון ההקשר: הוראות המערכת של הכלי, ההודעות והתשובות הקודמות, קבצים וקוד שהודבקו, וההודעה הנוכחית (מפגש 2).</a:t>
            </a:r>
          </a:p>
          <a:p>
            <a:pPr marL="0" indent="0" algn="r" rtl="1">
              <a:buNone/>
            </a:pPr>
            <a:r>
              <a:rPr lang="he-IL" sz="1200"/>
              <a:t>•  באותו מפגש למדנו שהזיות הן תוצר צפוי של מנגנון שמייצר טקסט סביר ולא בהכרח נכון, ושאחד מחמשת הסוגים הוא חבילה מומצאת.</a:t>
            </a:r>
          </a:p>
          <a:p>
            <a:pPr marL="0" indent="0" algn="r" rtl="1">
              <a:buNone/>
            </a:pPr>
            <a:r>
              <a:rPr lang="he-IL" sz="1200"/>
              <a:t>•  מפגשים 3 ו־4: לפי הנושא בסילבוס, מפגש 3 עסק בהנדסת פרומפטים (מבנה פרומפט אפקטיבי, פירוק משימות ודוגמאות few-shot) ומפגש 4 בהנדסת הקשר (ניהול הקשר לאורך פרויקט, קבצי הנחיה ותיעוד ידידותי ל־AI).</a:t>
            </a:r>
          </a:p>
          <a:p>
            <a:pPr marL="0" indent="0" algn="r" rtl="1">
              <a:buNone/>
            </a:pPr>
            <a:r>
              <a:rPr lang="he-IL" sz="1200"/>
              <a:t>•  פרטי שני המפגשים האלה אינם במצגת הזאת, ולכן אל תוסיפו מעבר לנושא, ושאלו את הכיתה מה היא זוכרת.</a:t>
            </a:r>
          </a:p>
          <a:p>
            <a:pPr marL="0" indent="0" algn="r" rtl="1">
              <a:buNone/>
            </a:pPr>
            <a:r>
              <a:rPr lang="he-IL" sz="1200" b="1"/>
              <a:t>אם הכיתה לא זוכרת</a:t>
            </a:r>
          </a:p>
          <a:p>
            <a:pPr marL="0" indent="0" algn="r" rtl="1">
              <a:buNone/>
            </a:pPr>
            <a:r>
              <a:rPr lang="he-IL" sz="1200"/>
              <a:t>•  הקריאו את העמודה האמצעית ובקשו מסטודנט אחד דוגמה אחת מאותו מפגש.</a:t>
            </a:r>
          </a:p>
          <a:p>
            <a:pPr marL="0" indent="0" algn="r" rtl="1">
              <a:buNone/>
            </a:pPr>
            <a:r>
              <a:rPr lang="he-IL" sz="1200"/>
              <a:t>•  העמודה השמאלית היא ההבטחה להיום: כל שורה מפנה לשקף או לפונקציה שנראה היום, ובשורה של מפגש 3 מדובר בהדגמה שבשקף 2, אותה בקשה בשלושה כלים.</a:t>
            </a:r>
          </a:p>
          <a:p>
            <a:pPr marL="0" indent="0" algn="r" rtl="1">
              <a:buNone/>
            </a:pPr>
            <a:r>
              <a:rPr lang="he-IL" sz="1200" b="1"/>
              <a:t>אנלוגיה</a:t>
            </a:r>
          </a:p>
          <a:p>
            <a:pPr marL="0" indent="0" algn="r" rtl="1">
              <a:buNone/>
            </a:pPr>
            <a:r>
              <a:rPr lang="he-IL" sz="1200"/>
              <a:t>•  מעבר משמרת, קוראים את יומן המשמרת הקודמת לפני שמפעילים את הקו.</a:t>
            </a:r>
          </a:p>
          <a:p>
            <a:pPr marL="0" indent="0" algn="r" rtl="1">
              <a:buNone/>
            </a:pPr>
            <a:r>
              <a:rPr lang="he-IL" sz="1200"/>
              <a:t>•  המעבר לשקף הבא: אם ארבעה מפגשים בנו את הכללים, מה נשאר פתוח?</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השאלה של היום, כדקה.</a:t>
            </a:r>
          </a:p>
          <a:p>
            <a:pPr marL="0" indent="0" algn="r" rtl="1">
              <a:buNone/>
            </a:pPr>
            <a:r>
              <a:rPr lang="he-IL" sz="1200" b="1"/>
              <a:t>מה אומרים</a:t>
            </a:r>
          </a:p>
          <a:p>
            <a:pPr marL="0" indent="0" algn="r" rtl="1">
              <a:buNone/>
            </a:pPr>
            <a:r>
              <a:rPr lang="he-IL" sz="1200"/>
              <a:t>•  הבעיה שנשארה ממפגשים 2 ו־4: המודל רואה רק את חלון ההקשר, ולכן מה שנכנס אליו קובע את התוצאה.</a:t>
            </a:r>
          </a:p>
          <a:p>
            <a:pPr marL="0" indent="0" algn="r" rtl="1">
              <a:buNone/>
            </a:pPr>
            <a:r>
              <a:rPr lang="he-IL" sz="1200"/>
              <a:t>•  במפגש 2 ראינו מה בחלון (הוראות מערכת של הכלי, השיחה עד כה, קבצים וקוד, הבקשה הנוכחית), ובמפגש 4, לפי הנושא בסילבוס, למדנו לנהל את ההקשר לאורך פרויקט.</a:t>
            </a:r>
          </a:p>
          <a:p>
            <a:pPr marL="0" indent="0" algn="r" rtl="1">
              <a:buNone/>
            </a:pPr>
            <a:r>
              <a:rPr lang="he-IL" sz="1200"/>
              <a:t>•  עד עכשיו אתם הייתם אחראים להקשר.</a:t>
            </a:r>
          </a:p>
          <a:p>
            <a:pPr marL="0" indent="0" algn="r" rtl="1">
              <a:buNone/>
            </a:pPr>
            <a:r>
              <a:rPr lang="he-IL" sz="1200"/>
              <a:t>•  היום: מה קורה כשהכלי בונה אותו?</a:t>
            </a:r>
          </a:p>
          <a:p>
            <a:pPr marL="0" indent="0" algn="r" rtl="1">
              <a:buNone/>
            </a:pPr>
            <a:r>
              <a:rPr lang="he-IL" sz="1200"/>
              <a:t>•  קראו את שתי השורות, והצביעו על התיבה הכתומה, חלון ההקשר, ועל ארבע השכבות שבתוכה.</a:t>
            </a:r>
          </a:p>
          <a:p>
            <a:pPr marL="0" indent="0" algn="r" rtl="1">
              <a:buNone/>
            </a:pPr>
            <a:r>
              <a:rPr lang="he-IL" sz="1200"/>
              <a:t>•  המודל שמשמאל קורא את כולן.</a:t>
            </a:r>
          </a:p>
          <a:p>
            <a:pPr marL="0" indent="0" algn="r" rtl="1">
              <a:buNone/>
            </a:pPr>
            <a:r>
              <a:rPr lang="he-IL" sz="1200"/>
              <a:t>•  החידוש של היום: בצ׳אט אתם בונים את החלון בהדבקה, ובעוזר ובסוכן הכלי בונה אותו, ולכן אותו מודל נותן תוצאה אחרת.</a:t>
            </a:r>
          </a:p>
          <a:p>
            <a:pPr marL="0" indent="0" algn="r" rtl="1">
              <a:buNone/>
            </a:pPr>
            <a:r>
              <a:rPr lang="he-IL" sz="1200" b="1"/>
              <a:t>אנלוגיה</a:t>
            </a:r>
          </a:p>
          <a:p>
            <a:pPr marL="0" indent="0" algn="r" rtl="1">
              <a:buNone/>
            </a:pPr>
            <a:r>
              <a:rPr lang="he-IL" sz="1200"/>
              <a:t>•  חלון ההקשר הוא שולחן העבודה של מהנדס, ומה שלא מונח עליו אינו קיים מבחינתו.</a:t>
            </a:r>
          </a:p>
          <a:p>
            <a:pPr marL="0" indent="0" algn="r" rtl="1">
              <a:buNone/>
            </a:pPr>
            <a:r>
              <a:rPr lang="he-IL" sz="1200" b="1"/>
              <a:t>שאלת היזכרות</a:t>
            </a:r>
          </a:p>
          <a:p>
            <a:pPr marL="0" indent="0" algn="r" rtl="1">
              <a:buNone/>
            </a:pPr>
            <a:r>
              <a:rPr lang="he-IL" sz="1200"/>
              <a:t>•  ״מי זוכר מה קורה להוראה שנתתם בהודעה הראשונה בשיחה ארוכה מאוד?״ תשובה: כשהחלון מתמלא, כלים רבים משמיטים או מתמצתים את החלק הישן, ולכן ההוראה כבר אינה בחלון (מפגש 2).</a:t>
            </a:r>
          </a:p>
          <a:p>
            <a:pPr marL="0" indent="0" algn="r" rtl="1">
              <a:buNone/>
            </a:pPr>
            <a:r>
              <a:rPr lang="he-IL" sz="1200"/>
              <a:t>•  אם הכיתה לא זוכרת, תארו את הדוגמה: הוראה ״בלי ספריות חיצוניות״ בהודעה 1, ובהודעה 42 המודל מייבא pandas.</a:t>
            </a:r>
          </a:p>
          <a:p>
            <a:pPr marL="0" indent="0" algn="r" rtl="1">
              <a:buNone/>
            </a:pPr>
            <a:r>
              <a:rPr lang="he-IL" sz="1200" b="1"/>
              <a:t>שאלה לכיתה</a:t>
            </a:r>
          </a:p>
          <a:p>
            <a:pPr marL="0" indent="0" algn="r" rtl="1">
              <a:buNone/>
            </a:pPr>
            <a:r>
              <a:rPr lang="he-IL" sz="1200"/>
              <a:t>•  מי מחליט מה מונח על השולחן?</a:t>
            </a:r>
          </a:p>
          <a:p>
            <a:pPr marL="0" indent="0" algn="r" rtl="1">
              <a:buNone/>
            </a:pPr>
            <a:r>
              <a:rPr lang="he-IL" sz="1200" b="1"/>
              <a:t>תשובה</a:t>
            </a:r>
          </a:p>
          <a:p>
            <a:pPr marL="0" indent="0" algn="r" rtl="1">
              <a:buNone/>
            </a:pPr>
            <a:r>
              <a:rPr lang="he-IL" sz="1200"/>
              <a:t>•  תלוי בכלי, וזה מה שנבדוק היום.</a:t>
            </a:r>
          </a:p>
          <a:p>
            <a:pPr marL="0" indent="0" algn="r" rtl="1">
              <a:buNone/>
            </a:pPr>
            <a:r>
              <a:rPr lang="he-IL" sz="1200" b="1"/>
              <a:t>טעות נפוצה</a:t>
            </a:r>
          </a:p>
          <a:p>
            <a:pPr marL="0" indent="0" algn="r" rtl="1">
              <a:buNone/>
            </a:pPr>
            <a:r>
              <a:rPr lang="he-IL" sz="1200"/>
              <a:t>•  לחשוב שהמודל זוכר את הפרויקט כולו.</a:t>
            </a:r>
          </a:p>
          <a:p>
            <a:pPr marL="0" indent="0" algn="r" rtl="1">
              <a:buNone/>
            </a:pPr>
            <a:r>
              <a:rPr lang="he-IL" sz="1200"/>
              <a:t>•  הוא רואה רק את מה שנכנס לחלון.</a:t>
            </a:r>
          </a:p>
          <a:p>
            <a:pPr marL="0" indent="0" algn="r" rtl="1">
              <a:buNone/>
            </a:pPr>
            <a:r>
              <a:rPr lang="he-IL" sz="1200" b="1"/>
              <a:t>להעמקה</a:t>
            </a:r>
          </a:p>
          <a:p>
            <a:pPr marL="0" indent="0" algn="r" rtl="1">
              <a:buNone/>
            </a:pPr>
            <a:r>
              <a:rPr lang="he-IL" sz="1200"/>
              <a:t>•  חלון ההקשר (context window) הוא כמות הטקסט, ביחידות טוקנים, שהמודל מעבד בקריאה אחת.</a:t>
            </a:r>
          </a:p>
          <a:p>
            <a:pPr marL="0" indent="0" algn="r" rtl="1">
              <a:buNone/>
            </a:pPr>
            <a:r>
              <a:rPr lang="he-IL" sz="1200"/>
              <a:t>•  למודל אין זיכרון בין קריאות: כשכלי ״זוכר״ שיחה, המעטפת מכניסה אותה שוב לחלון בכל קריאה.</a:t>
            </a:r>
          </a:p>
          <a:p>
            <a:pPr marL="0" indent="0" algn="r" rtl="1">
              <a:buNone/>
            </a:pPr>
            <a:r>
              <a:rPr lang="he-IL" sz="1200"/>
              <a:t>•  זה מבוסס על מפגשים 2 ו־4.</a:t>
            </a:r>
          </a:p>
          <a:p>
            <a:pPr marL="0" indent="0" algn="r" rtl="1">
              <a:buNone/>
            </a:pPr>
            <a:r>
              <a:rPr lang="he-IL" sz="1200"/>
              <a:t>•  גודל החלון משתנה בין מודלים וגרסאות, ולכן אין מספר קבוע לשנן.</a:t>
            </a:r>
          </a:p>
          <a:p>
            <a:pPr marL="0" indent="0" algn="r" rtl="1">
              <a:buNone/>
            </a:pPr>
            <a:r>
              <a:rPr lang="he-IL" sz="1200"/>
              <a:t>•  מגבלות של חלונות ארוכים נדונות בשקף ההעשרה על הקשר, בהמשך חלק א׳.</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יעדי למידה.</a:t>
            </a:r>
          </a:p>
          <a:p>
            <a:pPr marL="0" indent="0" algn="r" rtl="1">
              <a:buNone/>
            </a:pPr>
            <a:r>
              <a:rPr lang="he-IL" sz="1200" b="1"/>
              <a:t>מה אומרים</a:t>
            </a:r>
          </a:p>
          <a:p>
            <a:pPr marL="0" indent="0" algn="r" rtl="1">
              <a:buNone/>
            </a:pPr>
            <a:r>
              <a:rPr lang="he-IL" sz="1200"/>
              <a:t>•  אין צורך להקריא את כולם.</a:t>
            </a:r>
          </a:p>
          <a:p>
            <a:pPr marL="0" indent="0" algn="r" rtl="1">
              <a:buNone/>
            </a:pPr>
            <a:r>
              <a:rPr lang="he-IL" sz="1200"/>
              <a:t>•  עברו על חמשת הסעיפים במהירות, ועצרו רק כדי להציג מושג חדש אחד: מעטפת.</a:t>
            </a:r>
          </a:p>
          <a:p>
            <a:pPr marL="0" indent="0" algn="r" rtl="1">
              <a:buNone/>
            </a:pPr>
            <a:r>
              <a:rPr lang="he-IL" sz="1200"/>
              <a:t>•  הסעיף הראשון: להבחין בין שלוש משפחות כלים.</a:t>
            </a:r>
          </a:p>
          <a:p>
            <a:pPr marL="0" indent="0" algn="r" rtl="1">
              <a:buNone/>
            </a:pPr>
            <a:r>
              <a:rPr lang="he-IL" sz="1200"/>
              <a:t>•  השני: כלי הוא מודל ועוד מעטפת.</a:t>
            </a:r>
          </a:p>
          <a:p>
            <a:pPr marL="0" indent="0" algn="r" rtl="1">
              <a:buNone/>
            </a:pPr>
            <a:r>
              <a:rPr lang="he-IL" sz="1200"/>
              <a:t>•  השלישי: בוחרים לפי חמישה קריטריונים ולא לפי הרעש בשוק.</a:t>
            </a:r>
          </a:p>
          <a:p>
            <a:pPr marL="0" indent="0" algn="r" rtl="1">
              <a:buNone/>
            </a:pPr>
            <a:r>
              <a:rPr lang="he-IL" sz="1200"/>
              <a:t>•  הרביעי: איך MCP מחבר סוכן לנתונים, ואיך מגבילים את הגישה. החמישי מעשי: בסוף המפגש לכל סטודנט יש קבוצה, מאגר GitHub ויומן שימוש ב-AI, והם ישמשו בפרויקט לאורך הקורס.</a:t>
            </a:r>
          </a:p>
          <a:p>
            <a:pPr marL="0" indent="0" algn="r" rtl="1">
              <a:buNone/>
            </a:pPr>
            <a:r>
              <a:rPr lang="he-IL" sz="1200"/>
              <a:t>•  קישור לסילבוס: הנושא הוא בחירת הכלי הנכון למשימה, והשוואה בין ממשקי שיחה, תוספי IDE וסוכני שורת פקודה.</a:t>
            </a:r>
          </a:p>
          <a:p>
            <a:pPr marL="0" indent="0" algn="r" rtl="1">
              <a:buNone/>
            </a:pPr>
            <a:r>
              <a:rPr lang="he-IL" sz="1200"/>
              <a:t>•  הדגישו שהמטרה אינה להמליץ על מוצר מסוים אלא לתת שיטת בחירה שנשארת נכונה גם כשהכלים מתחלפים.</a:t>
            </a:r>
          </a:p>
          <a:p>
            <a:pPr marL="0" indent="0" algn="r" rtl="1">
              <a:buNone/>
            </a:pPr>
            <a:r>
              <a:rPr lang="he-IL" sz="1200" b="1"/>
              <a:t>שאלה לכיתה</a:t>
            </a:r>
          </a:p>
          <a:p>
            <a:pPr marL="0" indent="0" algn="r" rtl="1">
              <a:buNone/>
            </a:pPr>
            <a:r>
              <a:rPr lang="he-IL" sz="1200"/>
              <a:t>•  מה יהיה הקושי בבחירת כלי בעוד חצי שנה?</a:t>
            </a:r>
          </a:p>
          <a:p>
            <a:pPr marL="0" indent="0" algn="r" rtl="1">
              <a:buNone/>
            </a:pPr>
            <a:r>
              <a:rPr lang="he-IL" sz="1200" b="1"/>
              <a:t>תשובה</a:t>
            </a:r>
          </a:p>
          <a:p>
            <a:pPr marL="0" indent="0" algn="r" rtl="1">
              <a:buNone/>
            </a:pPr>
            <a:r>
              <a:rPr lang="he-IL" sz="1200"/>
              <a:t>•  הכלים ישתנו, ולכן צריך שיטה.</a:t>
            </a:r>
          </a:p>
          <a:p>
            <a:pPr marL="0" indent="0" algn="r" rtl="1">
              <a:buNone/>
            </a:pPr>
            <a:r>
              <a:rPr lang="he-IL" sz="1200"/>
              <a:t>•  יעדי העשרה, לשקפים שמסומנים ״העשרה״ בפינה (אופציונליים): להסביר מה בתוך מעטפת ואיך מנוהל הקשר, להעריך בביקורתיות מדדי הערכה של סוכני קוד ומחקרי פרודוקטיביות, ולהבחין בין שכבות פרטיות של אותו כלי.</a:t>
            </a:r>
          </a:p>
          <a:p>
            <a:pPr marL="0" indent="0" algn="r" rtl="1">
              <a:buNone/>
            </a:pPr>
            <a:r>
              <a:rPr lang="he-IL" sz="1200"/>
              <a:t>•  יעד 3 הורחב כדי לכלול את הבדיקה: במעבדה א׳ בונים מבחן לתוצאה של כלי, והוא נחשב חלק מ״בחירת כלי״ כי בחירה בלי בדיקה היא ניחוש.</a:t>
            </a:r>
          </a:p>
          <a:p>
            <a:pPr marL="0" indent="0" algn="r" rtl="1">
              <a:buNone/>
            </a:pPr>
            <a:r>
              <a:rPr lang="he-IL" sz="1200" b="1"/>
              <a:t>חיבור לשיעורים קודמים</a:t>
            </a:r>
          </a:p>
          <a:p>
            <a:pPr marL="0" indent="0" algn="r" rtl="1">
              <a:buNone/>
            </a:pPr>
            <a:r>
              <a:rPr lang="he-IL" sz="1200"/>
              <a:t>•  יעד 3, לבדוק את התוצאה במבחן, ממשיך את הכלל ממפגש 1 (סומכים אבל בודקים).</a:t>
            </a:r>
          </a:p>
          <a:p>
            <a:pPr marL="0" indent="0" algn="r" rtl="1">
              <a:buNone/>
            </a:pPr>
            <a:r>
              <a:rPr lang="he-IL" sz="1200"/>
              <a:t>•  יעד 2, כלי = מודל + מעטפת, ממשיך את מפגש 2 (חלון ההקשר) ואת מפגש 4 (לפי הסילבוס: ניהול הקשר).</a:t>
            </a:r>
          </a:p>
          <a:p>
            <a:pPr marL="0" indent="0" algn="r" rtl="1">
              <a:buNone/>
            </a:pPr>
            <a:r>
              <a:rPr lang="he-IL" sz="1200" b="1"/>
              <a:t>שאלה לכיתה</a:t>
            </a:r>
          </a:p>
          <a:p>
            <a:pPr marL="0" indent="0" algn="r" rtl="1">
              <a:buNone/>
            </a:pPr>
            <a:r>
              <a:rPr lang="he-IL" sz="1200"/>
              <a:t>•  איזה משני הכללים הקודמים הכי יעזור לכם היום?</a:t>
            </a:r>
          </a:p>
          <a:p>
            <a:pPr marL="0" indent="0" algn="r" rtl="1">
              <a:buNone/>
            </a:pPr>
            <a:r>
              <a:rPr lang="he-IL" sz="1200" b="1"/>
              <a:t>תשובה</a:t>
            </a:r>
          </a:p>
          <a:p>
            <a:pPr marL="0" indent="0" algn="r" rtl="1">
              <a:buNone/>
            </a:pPr>
            <a:r>
              <a:rPr lang="he-IL" sz="1200"/>
              <a:t>•  בודקים לפני שסומכים.</a:t>
            </a:r>
          </a:p>
          <a:p>
            <a:pPr marL="0" indent="0" algn="r" rtl="1">
              <a:spcBef>
                <a:spcPts val="800"/>
              </a:spcBef>
              <a:buNone/>
            </a:pPr>
            <a:r>
              <a:rPr lang="he-IL" sz="1200" b="1"/>
              <a:t>עדכון MCP</a:t>
            </a:r>
          </a:p>
          <a:p>
            <a:pPr marL="0" indent="0" algn="r" rtl="1">
              <a:buNone/>
            </a:pPr>
            <a:r>
              <a:rPr lang="he-IL" sz="1200" b="0"/>
              <a:t>•  יעד 4 (חדש): להסביר איך MCP מחבר סוכן למקור נתונים, ואיך מגבילים ומבטחים אותו.</a:t>
            </a:r>
          </a:p>
          <a:p>
            <a:pPr marL="0" indent="0" algn="r" rtl="1">
              <a:buNone/>
            </a:pPr>
            <a:r>
              <a:rPr lang="he-IL" sz="1200" b="0"/>
              <a:t>•  הוא נלמד בבלוק MCP בחלק ב׳ (שקפים 35 עד 44) ומורחב בשקפי ההעשרה בסוף המפגש.</a:t>
            </a:r>
          </a:p>
          <a:p>
            <a:pPr marL="0" indent="0" algn="r" rtl="1">
              <a:buNone/>
            </a:pPr>
            <a:r>
              <a:rPr lang="he-IL" sz="1200" b="0"/>
              <a:t>•  יעדי העשרה נוספים: להכיר סכנות מתועדות בחיבור ל־MCP עם מקורות ואיך מצמצמים אותן, ולהכיר מושגי יסוד בחוק הגנת הפרטיות הישראלי ואת ההשלכות של זליגת מידע רגיש מהארגון (לא ייעוץ משפטי).</a:t>
            </a:r>
          </a:p>
          <a:p>
            <a:pPr marL="0" indent="0" algn="r" rtl="1">
              <a:buNone/>
            </a:pPr>
            <a:r>
              <a:rPr lang="he-IL" sz="1200" b="0"/>
              <a:t>•  הזמן: הבלוק של 12 דקות נכנס על חשבון חלקים א׳, ב׳ וג׳ בעזרת סימון שקפים אופציונליים, והמעבדות לא קוצרו.</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מפת המפגש, כחצי דקה.</a:t>
            </a:r>
          </a:p>
          <a:p>
            <a:pPr marL="0" indent="0" algn="r" rtl="1">
              <a:spcBef>
                <a:spcPts val="800"/>
              </a:spcBef>
              <a:buNone/>
            </a:pPr>
            <a:r>
              <a:rPr lang="he-IL" sz="1200" b="1"/>
              <a:t>מה אומרים</a:t>
            </a:r>
          </a:p>
          <a:p>
            <a:pPr marL="0" indent="0" algn="r" rtl="1">
              <a:buNone/>
            </a:pPr>
            <a:r>
              <a:rPr lang="he-IL" sz="1200"/>
              <a:t>•  90 דקות בלי שקפי ההעשרה והשקפים המסומנים אופציונלי: פתיחה 8, חלק א׳ 8, מעבדה א׳ 13, חלק ב׳ 7, בלוק MCP 12, מעבדה ב׳ 13, חלק ג׳ 6, מעבדה ג׳ 13, וסיכום 10 (כולל קבוצה ומאגר).</a:t>
            </a:r>
          </a:p>
          <a:p>
            <a:pPr marL="0" indent="0" algn="r" rtl="1">
              <a:buNone/>
            </a:pPr>
            <a:r>
              <a:rPr lang="he-IL" sz="1200"/>
              <a:t>•  הפסים הכחולים הם הסבר קצר שלכם, הכתומים עבודה של הסטודנטים על המחשב, והאפורים פתיחה וסיום.</a:t>
            </a:r>
          </a:p>
          <a:p>
            <a:pPr marL="0" indent="0" algn="r" rtl="1">
              <a:buNone/>
            </a:pPr>
            <a:r>
              <a:rPr lang="he-IL" sz="1200"/>
              <a:t>•  כל חלק תיאורי בא לפני המעבדה שמתרגלת אותו; בלוק MCP (שקפים 35 עד 44) הוא הרחבת חלק ב׳ ואחריו מעבדה ב׳.</a:t>
            </a:r>
          </a:p>
          <a:p>
            <a:pPr marL="0" indent="0" algn="r" rtl="1">
              <a:buNone/>
            </a:pPr>
            <a:r>
              <a:rPr lang="he-IL" sz="1200"/>
              <a:t>•  מה השתנה: בלוק MCP נוסף (כ־12 דקות, 10 שקפים) והוא נכנס על חשבון חלקים קיימים בלי לגעת בזמני המעבדות: הפתיחה קוצרה בדקה (דיון ההדגמה והשרשרת), חלק א׳ ב־3 דקות, חלק ב׳ ב־4, חלק ג׳ ב־2 והסיכום ב־2.</a:t>
            </a:r>
          </a:p>
          <a:p>
            <a:pPr marL="0" indent="0" algn="r" rtl="1">
              <a:buNone/>
            </a:pPr>
            <a:r>
              <a:rPr lang="he-IL" sz="1200"/>
              <a:t>•  הקיצור נעשה בעיקר על ידי סימון שקפים קיימים כ״אופציונלי״: חלק א׳ (טעות נפוצה ושאלת בדיקה), חלק ב׳ (דוגמאות לכלים ושאלת בדיקה), חלק ג׳ (מלכודות ושאלת בדיקה), בנוסף לאלה שכבר סומנו (ציר כמה רואה, ארבע פקודות, הכלים מתחלפים, בייק־אוף).</a:t>
            </a:r>
          </a:p>
          <a:p>
            <a:pPr marL="0" indent="0" algn="r" rtl="1">
              <a:buNone/>
            </a:pPr>
            <a:r>
              <a:rPr lang="he-IL" sz="1200"/>
              <a:t>•  שקפי ההעשרה: 11 שקפים חדשים בסוף המפגש (סכנות MCP, מקרים מתועדים, צמצום סיכון, חוק הגנת הפרטיות ומקורות), בנוסף להעשרה הקיימת.</a:t>
            </a:r>
          </a:p>
          <a:p>
            <a:pPr marL="0" indent="0" algn="r" rtl="1">
              <a:buNone/>
            </a:pPr>
            <a:r>
              <a:rPr lang="he-IL" sz="1200"/>
              <a:t>•  כל ההעשרה והאופציונלי יחד כ־42 דקות, ואינם חלק מה־90.</a:t>
            </a:r>
          </a:p>
          <a:p>
            <a:pPr marL="0" indent="0" algn="r" rtl="1">
              <a:buNone/>
            </a:pPr>
            <a:r>
              <a:rPr lang="he-IL" sz="1200"/>
              <a:t>•  סדר הקיצוץ כשהזמן אוזל: ראשית כל ההעשרה, אחר כך השקפים האופציונליים, אחר כך שקפי דיון ושאלות בדיקה, ובבלוק MCP אפשר לצמצם לחמישה שקפים (ארבע שכבות, רצף ההודעות, השאלה בעברית, מה יכול להשתבש, ואיפה כל הגנה חיה: כ־8 דקות).</a:t>
            </a:r>
          </a:p>
          <a:p>
            <a:pPr marL="0" indent="0" algn="r" rtl="1">
              <a:buNone/>
            </a:pPr>
            <a:r>
              <a:rPr lang="he-IL" sz="1200"/>
              <a:t>•  לעולם לא מקצרים את המעבדות.</a:t>
            </a:r>
          </a:p>
          <a:p>
            <a:pPr marL="0" indent="0" algn="r" rtl="1">
              <a:buNone/>
            </a:pPr>
            <a:r>
              <a:rPr lang="he-IL" sz="1200"/>
              <a:t>•  הסיכון העיקרי: הכניסה ל־Colab, ולכן בקשו כבר עכשיו שכולם ייכנסו עם חשבון Google ויחברו מחשב לחשמל.</a:t>
            </a:r>
          </a:p>
          <a:p>
            <a:pPr marL="0" indent="0" algn="r" rtl="1">
              <a:buNone/>
            </a:pPr>
            <a:r>
              <a:rPr lang="he-IL" sz="1200"/>
              <a:t>•  המעבדה אינה כוללת הדגמת MCP חיה: בלוק MCP מוצג על המקרן, והמחברת HM_05 (העשרה, לבית) כוללת סימולציה של שרת MCP למסד נתונים, mcp_handle, שמתאימה להודעות בשקפים 38 ו־39.</a:t>
            </a:r>
          </a:p>
          <a:p>
            <a:pPr marL="0" indent="0" algn="r" rtl="1">
              <a:spcBef>
                <a:spcPts val="800"/>
              </a:spcBef>
              <a:buNone/>
            </a:pPr>
            <a:r>
              <a:rPr lang="he-IL" sz="1200" b="1"/>
              <a:t>שאלה לכיתה</a:t>
            </a:r>
          </a:p>
          <a:p>
            <a:pPr marL="0" indent="0" algn="r" rtl="1">
              <a:buNone/>
            </a:pPr>
            <a:r>
              <a:rPr lang="he-IL" sz="1200"/>
              <a:t>•  איזה חלק לדעתכם הכי חשוב?</a:t>
            </a:r>
          </a:p>
          <a:p>
            <a:pPr marL="0" indent="0" algn="r" rtl="1">
              <a:spcBef>
                <a:spcPts val="800"/>
              </a:spcBef>
              <a:buNone/>
            </a:pPr>
            <a:r>
              <a:rPr lang="he-IL" sz="1200" b="1"/>
              <a:t>תשובה</a:t>
            </a:r>
          </a:p>
          <a:p>
            <a:pPr marL="0" indent="0" algn="r" rtl="1">
              <a:buNone/>
            </a:pPr>
            <a:r>
              <a:rPr lang="he-IL" sz="1200"/>
              <a:t>•  המעבדות, כי בהן בונים את הכלים למדידה.</a:t>
            </a:r>
          </a:p>
          <a:p>
            <a:pPr marL="0" indent="0" algn="r" rtl="1">
              <a:buNone/>
            </a:pPr>
            <a:r>
              <a:rPr lang="he-IL" sz="1200"/>
              <a:t>•  עדכון זמנים: שתי שאלות היזכרות בפתיחה נשארו, והשרשרת של המפגשים מוצגת בשקף 4.</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חלק א׳, 8 דקות (בלי השקפים המסומנים אופציונלי או העשרה).</a:t>
            </a:r>
          </a:p>
          <a:p>
            <a:pPr marL="0" indent="0" algn="r" rtl="1">
              <a:buNone/>
            </a:pPr>
            <a:r>
              <a:rPr lang="he-IL" sz="1200" b="1"/>
              <a:t>מה אומרים</a:t>
            </a:r>
          </a:p>
          <a:p>
            <a:pPr marL="0" indent="0" algn="r" rtl="1">
              <a:buNone/>
            </a:pPr>
            <a:r>
              <a:rPr lang="he-IL" sz="1200"/>
              <a:t>•  זה השקף המארגן של כל השיעור.</a:t>
            </a:r>
          </a:p>
          <a:p>
            <a:pPr marL="0" indent="0" algn="r" rtl="1">
              <a:buNone/>
            </a:pPr>
            <a:r>
              <a:rPr lang="he-IL" sz="1200"/>
              <a:t>•  שלוש משפחות כלים, מימין לשמאל לפי הכוח.</a:t>
            </a:r>
          </a:p>
          <a:p>
            <a:pPr marL="0" indent="0" algn="r" rtl="1">
              <a:buNone/>
            </a:pPr>
            <a:r>
              <a:rPr lang="he-IL" sz="1200"/>
              <a:t>•  מימין: צ׳אט, חלון שיחה בדפדפן, ואתם מעתיקים אליו קוד ומעתיקים ממנו.</a:t>
            </a:r>
          </a:p>
          <a:p>
            <a:pPr marL="0" indent="0" algn="r" rtl="1">
              <a:buNone/>
            </a:pPr>
            <a:r>
              <a:rPr lang="he-IL" sz="1200"/>
              <a:t>•  באמצע: עוזר בעורך (IDE), תוסף בתוך תוכנת כתיבת הקוד, שרואה את הקובץ הפתוח ומציע שורות.</a:t>
            </a:r>
          </a:p>
          <a:p>
            <a:pPr marL="0" indent="0" algn="r" rtl="1">
              <a:buNone/>
            </a:pPr>
            <a:r>
              <a:rPr lang="he-IL" sz="1200"/>
              <a:t>•  משמאל: סוכן שורת פקודה (CLI), תוכנה שקוראת קבצים, מריצה פקודות ועורכת בעצמה.</a:t>
            </a:r>
          </a:p>
          <a:p>
            <a:pPr marL="0" indent="0" algn="r" rtl="1">
              <a:buNone/>
            </a:pPr>
            <a:r>
              <a:rPr lang="he-IL" sz="1200"/>
              <a:t>•  IDE הוא עורך קוד עם כלים משולבים, למשל VS Code.</a:t>
            </a:r>
          </a:p>
          <a:p>
            <a:pPr marL="0" indent="0" algn="r" rtl="1">
              <a:buNone/>
            </a:pPr>
            <a:r>
              <a:rPr lang="he-IL" sz="1200"/>
              <a:t>•  CLI הוא חלון שמקלידים בו הוראות.</a:t>
            </a:r>
          </a:p>
          <a:p>
            <a:pPr marL="0" indent="0" algn="r" rtl="1">
              <a:buNone/>
            </a:pPr>
            <a:r>
              <a:rPr lang="he-IL" sz="1200" b="1"/>
              <a:t>אנלוגיה</a:t>
            </a:r>
          </a:p>
          <a:p>
            <a:pPr marL="0" indent="0" algn="r" rtl="1">
              <a:buNone/>
            </a:pPr>
            <a:r>
              <a:rPr lang="he-IL" sz="1200"/>
              <a:t>•  צ׳אט הוא יועץ בטלפון, עוזר בעורך הוא יועץ שיושב לידכם ורואה את המסך, וסוכן הוא עובד שקיבל מפתח לחדר ופועל בעצמו.</a:t>
            </a:r>
          </a:p>
          <a:p>
            <a:pPr marL="0" indent="0" algn="r" rtl="1">
              <a:buNone/>
            </a:pPr>
            <a:r>
              <a:rPr lang="he-IL" sz="1200" b="1"/>
              <a:t>שאלה לכיתה</a:t>
            </a:r>
          </a:p>
          <a:p>
            <a:pPr marL="0" indent="0" algn="r" rtl="1">
              <a:buNone/>
            </a:pPr>
            <a:r>
              <a:rPr lang="he-IL" sz="1200"/>
              <a:t>•  איזו משפחה מסוכנת יותר?</a:t>
            </a:r>
          </a:p>
          <a:p>
            <a:pPr marL="0" indent="0" algn="r" rtl="1">
              <a:buNone/>
            </a:pPr>
            <a:r>
              <a:rPr lang="he-IL" sz="1200" b="1"/>
              <a:t>תשובה</a:t>
            </a:r>
          </a:p>
          <a:p>
            <a:pPr marL="0" indent="0" algn="r" rtl="1">
              <a:buNone/>
            </a:pPr>
            <a:r>
              <a:rPr lang="he-IL" sz="1200"/>
              <a:t>•  הסוכן, כי הוא פועל בפועל.</a:t>
            </a:r>
          </a:p>
          <a:p>
            <a:pPr marL="0" indent="0" algn="r" rtl="1">
              <a:buNone/>
            </a:pPr>
            <a:r>
              <a:rPr lang="he-IL" sz="1200" b="1"/>
              <a:t>טעות נפוצה</a:t>
            </a:r>
          </a:p>
          <a:p>
            <a:pPr marL="0" indent="0" algn="r" rtl="1">
              <a:buNone/>
            </a:pPr>
            <a:r>
              <a:rPr lang="he-IL" sz="1200"/>
              <a:t>•  מוצר אחד יכול להציע כמה משפחות.</a:t>
            </a:r>
          </a:p>
          <a:p>
            <a:pPr marL="0" indent="0" algn="r" rtl="1">
              <a:buNone/>
            </a:pPr>
            <a:r>
              <a:rPr lang="he-IL" sz="1200"/>
              <a:t>•  אנחנו מסווגים לפי אופן העבודה ולא לפי שם המוצר.</a:t>
            </a:r>
          </a:p>
          <a:p>
            <a:pPr marL="0" indent="0" algn="r" rtl="1">
              <a:buNone/>
            </a:pPr>
            <a:r>
              <a:rPr lang="he-IL" sz="1200" b="1"/>
              <a:t>להעמקה</a:t>
            </a:r>
          </a:p>
          <a:p>
            <a:pPr marL="0" indent="0" algn="r" rtl="1">
              <a:buNone/>
            </a:pPr>
            <a:r>
              <a:rPr lang="he-IL" sz="1200"/>
              <a:t>•  ההבחנה בין שלוש המשפחות היא מסגרת הוראה של הקורס ולא תקן תעשייתי.</a:t>
            </a:r>
          </a:p>
          <a:p>
            <a:pPr marL="0" indent="0" algn="r" rtl="1">
              <a:buNone/>
            </a:pPr>
            <a:r>
              <a:rPr lang="he-IL" sz="1200"/>
              <a:t>•  היא נשענת על שלושה צירים: מה הכלי רואה (הקשר), מה הוא יכול לעשות (פעולות) ומי מאשר.</a:t>
            </a:r>
          </a:p>
          <a:p>
            <a:pPr marL="0" indent="0" algn="r" rtl="1">
              <a:buNone/>
            </a:pPr>
            <a:r>
              <a:rPr lang="he-IL" sz="1200"/>
              <a:t>•  מוצרים רבים חוצים משפחות: לפי התיעוד הרשמי, Claude Code זמין במסוף, בהרחבות לעורכים, באפליקציית שולחן עבודה ובדפדפן, ובתיעוד של GitHub Copilot Free מוזכרים גם מצב סוכן וחיבור MCP (נבדק באוקטובר 2026, ועשוי להשתנות).</a:t>
            </a:r>
          </a:p>
          <a:p>
            <a:pPr marL="0" indent="0" algn="r" rtl="1">
              <a:buNone/>
            </a:pPr>
            <a:r>
              <a:rPr lang="he-IL" sz="1200"/>
              <a:t>•  לכן מסווגים לפי אופן העבודה במשימה נתונה ולא לפי שם המוצר.</a:t>
            </a:r>
          </a:p>
          <a:p>
            <a:pPr marL="0" indent="0" algn="r" rtl="1">
              <a:buNone/>
            </a:pPr>
            <a:r>
              <a:rPr lang="he-IL" sz="1200" b="1"/>
              <a:t>חיבור לשיעורים קודמים</a:t>
            </a:r>
          </a:p>
          <a:p>
            <a:pPr marL="0" indent="0" algn="r" rtl="1">
              <a:buNone/>
            </a:pPr>
            <a:r>
              <a:rPr lang="he-IL" sz="1200"/>
              <a:t>•  ממפגש 1, המתכנת הג׳וניור המוכשר: סומכים אבל בודקים.</a:t>
            </a:r>
          </a:p>
          <a:p>
            <a:pPr marL="0" indent="0" algn="r" rtl="1">
              <a:buNone/>
            </a:pPr>
            <a:r>
              <a:rPr lang="he-IL" sz="1200"/>
              <a:t>•  הכלל הזה נכון לכל שלוש המשפחות, והכוח (והסיכון) שלהן שונה.</a:t>
            </a:r>
          </a:p>
          <a:p>
            <a:pPr marL="0" indent="0" algn="r" rtl="1">
              <a:buNone/>
            </a:pPr>
            <a:r>
              <a:rPr lang="he-IL" sz="1200"/>
              <a:t>•  ממפגש 2: מה שהכלי רואה הוא מה שנכנס לחלון ההקשר.</a:t>
            </a:r>
          </a:p>
          <a:p>
            <a:pPr marL="0" indent="0" algn="r" rtl="1">
              <a:buNone/>
            </a:pPr>
            <a:r>
              <a:rPr lang="he-IL" sz="1200" b="1"/>
              <a:t>שאלת היזכרות</a:t>
            </a:r>
          </a:p>
          <a:p>
            <a:pPr marL="0" indent="0" algn="r" rtl="1">
              <a:buNone/>
            </a:pPr>
            <a:r>
              <a:rPr lang="he-IL" sz="1200"/>
              <a:t>•  ״איזה כלל קבענו על קוד ש־AI כתב?״ תשובה: קוראים, מבינים ובודקים.</a:t>
            </a:r>
          </a:p>
          <a:p>
            <a:pPr marL="0" indent="0" algn="r" rtl="1">
              <a:buNone/>
            </a:pPr>
            <a:r>
              <a:rPr lang="he-IL" sz="1200"/>
              <a:t>•  אם לא זוכרים, הפנו לשקף השרשרת.</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משפחה 1: צ׳אט.</a:t>
            </a:r>
          </a:p>
          <a:p>
            <a:pPr marL="0" indent="0" algn="r" rtl="1">
              <a:buNone/>
            </a:pPr>
            <a:r>
              <a:rPr lang="he-IL" sz="1200" b="1"/>
              <a:t>מה אומרים</a:t>
            </a:r>
          </a:p>
          <a:p>
            <a:pPr marL="0" indent="0" algn="r" rtl="1">
              <a:buNone/>
            </a:pPr>
            <a:r>
              <a:rPr lang="he-IL" sz="1200"/>
              <a:t>•  עברו על הציור לפי המספרים.</a:t>
            </a:r>
          </a:p>
          <a:p>
            <a:pPr marL="0" indent="0" algn="r" rtl="1">
              <a:buNone/>
            </a:pPr>
            <a:r>
              <a:rPr lang="he-IL" sz="1200"/>
              <a:t>•  אתם מימין, חלון הצ׳אט באמצע, והקובץ משמאל.</a:t>
            </a:r>
          </a:p>
          <a:p>
            <a:pPr marL="0" indent="0" algn="r" rtl="1">
              <a:buNone/>
            </a:pPr>
            <a:r>
              <a:rPr lang="he-IL" sz="1200"/>
              <a:t>•  צעד 1: מעתיקים קוד או הודעת שגיאה לצ׳אט.</a:t>
            </a:r>
          </a:p>
          <a:p>
            <a:pPr marL="0" indent="0" algn="r" rtl="1">
              <a:buNone/>
            </a:pPr>
            <a:r>
              <a:rPr lang="he-IL" sz="1200"/>
              <a:t>•  צעד 2: הצ׳אט עונה.</a:t>
            </a:r>
          </a:p>
          <a:p>
            <a:pPr marL="0" indent="0" algn="r" rtl="1">
              <a:buNone/>
            </a:pPr>
            <a:r>
              <a:rPr lang="he-IL" sz="1200"/>
              <a:t>•  צעד 3: אתם מדביקים את התשובה בחזרה לקובץ, בעצמכם, וזה החץ המקווקו.</a:t>
            </a:r>
          </a:p>
          <a:p>
            <a:pPr marL="0" indent="0" algn="r" rtl="1">
              <a:buNone/>
            </a:pPr>
            <a:r>
              <a:rPr lang="he-IL" sz="1200"/>
              <a:t>•  שלושת הצ׳יפים: הכלי רואה רק מה שהדבקתם, לא מריץ קוד, ואתם מאשרים בעצם ההדבקה.</a:t>
            </a:r>
          </a:p>
          <a:p>
            <a:pPr marL="0" indent="0" algn="r" rtl="1">
              <a:buNone/>
            </a:pPr>
            <a:r>
              <a:rPr lang="he-IL" sz="1200"/>
              <a:t>•  יתרון: פשוט ובטוח ואתם שולטים.</a:t>
            </a:r>
          </a:p>
          <a:p>
            <a:pPr marL="0" indent="0" algn="r" rtl="1">
              <a:buNone/>
            </a:pPr>
            <a:r>
              <a:rPr lang="he-IL" sz="1200"/>
              <a:t>•  חיסרון: הקשר ידני והרבה העתקות.</a:t>
            </a:r>
          </a:p>
          <a:p>
            <a:pPr marL="0" indent="0" algn="r" rtl="1">
              <a:buNone/>
            </a:pPr>
            <a:r>
              <a:rPr lang="he-IL" sz="1200" b="1"/>
              <a:t>אנלוגיה</a:t>
            </a:r>
          </a:p>
          <a:p>
            <a:pPr marL="0" indent="0" algn="r" rtl="1">
              <a:buNone/>
            </a:pPr>
            <a:r>
              <a:rPr lang="he-IL" sz="1200"/>
              <a:t>•  מנהל ייצור שמתאר תקלה בטלפון לאנליסט, ואז מעתיק בעצמו את ההמלצה לגיליון.</a:t>
            </a:r>
          </a:p>
          <a:p>
            <a:pPr marL="0" indent="0" algn="r" rtl="1">
              <a:buNone/>
            </a:pPr>
            <a:r>
              <a:rPr lang="he-IL" sz="1200" b="1"/>
              <a:t>שאלה לכיתה</a:t>
            </a:r>
          </a:p>
          <a:p>
            <a:pPr marL="0" indent="0" algn="r" rtl="1">
              <a:buNone/>
            </a:pPr>
            <a:r>
              <a:rPr lang="he-IL" sz="1200"/>
              <a:t>•  מה קורה אם שכחתם להדביק את הודעת השגיאה?</a:t>
            </a:r>
          </a:p>
          <a:p>
            <a:pPr marL="0" indent="0" algn="r" rtl="1">
              <a:buNone/>
            </a:pPr>
            <a:r>
              <a:rPr lang="he-IL" sz="1200" b="1"/>
              <a:t>תשובה</a:t>
            </a:r>
          </a:p>
          <a:p>
            <a:pPr marL="0" indent="0" algn="r" rtl="1">
              <a:buNone/>
            </a:pPr>
            <a:r>
              <a:rPr lang="he-IL" sz="1200"/>
              <a:t>•  הצ׳אט ינחש.</a:t>
            </a:r>
          </a:p>
          <a:p>
            <a:pPr marL="0" indent="0" algn="r" rtl="1">
              <a:buNone/>
            </a:pPr>
            <a:r>
              <a:rPr lang="he-IL" sz="1200" b="1"/>
              <a:t>טעות נפוצה</a:t>
            </a:r>
          </a:p>
          <a:p>
            <a:pPr marL="0" indent="0" algn="r" rtl="1">
              <a:buNone/>
            </a:pPr>
            <a:r>
              <a:rPr lang="he-IL" sz="1200"/>
              <a:t>•  לחשוב שהצ׳אט הריץ את הקוד שכתב.</a:t>
            </a:r>
          </a:p>
          <a:p>
            <a:pPr marL="0" indent="0" algn="r" rtl="1">
              <a:buNone/>
            </a:pPr>
            <a:r>
              <a:rPr lang="he-IL" sz="1200"/>
              <a:t>•  חלק מכלי הצ׳אט מציעים הרצת קוד בסביבה משלהם, אבל לא על הקבצים שלכם.</a:t>
            </a:r>
          </a:p>
          <a:p>
            <a:pPr marL="0" indent="0" algn="r" rtl="1">
              <a:buNone/>
            </a:pPr>
            <a:r>
              <a:rPr lang="he-IL" sz="1200"/>
              <a:t>•  יש לאמת לפי הכלי.</a:t>
            </a:r>
          </a:p>
          <a:p>
            <a:pPr marL="0" indent="0" algn="r" rtl="1">
              <a:buNone/>
            </a:pPr>
            <a:r>
              <a:rPr lang="he-IL" sz="1200" b="1"/>
              <a:t>חיבור לשיעורים קודמים</a:t>
            </a:r>
          </a:p>
          <a:p>
            <a:pPr marL="0" indent="0" algn="r" rtl="1">
              <a:buNone/>
            </a:pPr>
            <a:r>
              <a:rPr lang="he-IL" sz="1200"/>
              <a:t>•  בצ׳אט אתם מנהלים את ההקשר ידנית: מעתיקים פנימה רק מה שרוצים שהמודל יראה.</a:t>
            </a:r>
          </a:p>
          <a:p>
            <a:pPr marL="0" indent="0" algn="r" rtl="1">
              <a:buNone/>
            </a:pPr>
            <a:r>
              <a:rPr lang="he-IL" sz="1200"/>
              <a:t>•  זה מה שמפגש 2 הסביר (חלון ההקשר מכיל רק מה שהוכנס אליו), ובמפגש 4, לפי הנושא בסילבוס, למדנו לנהל הקשר לאורך פרויקט.</a:t>
            </a:r>
          </a:p>
          <a:p>
            <a:pPr marL="0" indent="0" algn="r" rtl="1">
              <a:buNone/>
            </a:pPr>
            <a:r>
              <a:rPr lang="he-IL" sz="1200" b="1"/>
              <a:t>שאלת היזכרות</a:t>
            </a:r>
          </a:p>
          <a:p>
            <a:pPr marL="0" indent="0" algn="r" rtl="1">
              <a:buNone/>
            </a:pPr>
            <a:r>
              <a:rPr lang="he-IL" sz="1200"/>
              <a:t>•  ״מה המודל לא רואה אם לא הדבקתם?״ תשובה: כל מה שלא נמצא בחלון.</a:t>
            </a:r>
          </a:p>
          <a:p>
            <a:pPr marL="0" indent="0" algn="r" rtl="1">
              <a:buNone/>
            </a:pPr>
            <a:r>
              <a:rPr lang="he-IL" sz="1200"/>
              <a:t>•  אם הכיתה לא זוכרת, חזרו לשקף ״השאלה של היום״.</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משפחה 2: עוזר בעורך.</a:t>
            </a:r>
          </a:p>
          <a:p>
            <a:pPr marL="0" indent="0" algn="r" rtl="1">
              <a:buNone/>
            </a:pPr>
            <a:r>
              <a:rPr lang="he-IL" sz="1200" b="1"/>
              <a:t>מה אומרים</a:t>
            </a:r>
          </a:p>
          <a:p>
            <a:pPr marL="0" indent="0" algn="r" rtl="1">
              <a:buNone/>
            </a:pPr>
            <a:r>
              <a:rPr lang="he-IL" sz="1200"/>
              <a:t>•  השקף מציג עורך קוד מדומה.</a:t>
            </a:r>
          </a:p>
          <a:p>
            <a:pPr marL="0" indent="0" algn="r" rtl="1">
              <a:buNone/>
            </a:pPr>
            <a:r>
              <a:rPr lang="he-IL" sz="1200"/>
              <a:t>•  בצד ימין הקובץ analysis.py עם שלוש שורות קוד.</a:t>
            </a:r>
          </a:p>
          <a:p>
            <a:pPr marL="0" indent="0" algn="r" rtl="1">
              <a:buNone/>
            </a:pPr>
            <a:r>
              <a:rPr lang="he-IL" sz="1200"/>
              <a:t>•  השורה האפורה למטה היא הצעה שהעוזר מציג תוך כדי הקלדה: מקש Tab מקבל אותה, והמשך הקלדה מתעלם ממנה.</a:t>
            </a:r>
          </a:p>
          <a:p>
            <a:pPr marL="0" indent="0" algn="r" rtl="1">
              <a:buNone/>
            </a:pPr>
            <a:r>
              <a:rPr lang="he-IL" sz="1200"/>
              <a:t>•  משמאל, צ׳אט צדדי בתוך העורך, שבו שואלים למשל מה עושה השורה הזו.</a:t>
            </a:r>
          </a:p>
          <a:p>
            <a:pPr marL="0" indent="0" algn="r" rtl="1">
              <a:buNone/>
            </a:pPr>
            <a:r>
              <a:rPr lang="he-IL" sz="1200"/>
              <a:t>•  הצ׳יפים: רואה את הקובץ הפתוח, בדרך כלל לא מריץ קוד, ואתם מאשרים בקבלת ההצעה.</a:t>
            </a:r>
          </a:p>
          <a:p>
            <a:pPr marL="0" indent="0" algn="r" rtl="1">
              <a:buNone/>
            </a:pPr>
            <a:r>
              <a:rPr lang="he-IL" sz="1200"/>
              <a:t>•  דוגמה: GitHub Copilot מותקן כתוסף ב-VS Code.</a:t>
            </a:r>
          </a:p>
          <a:p>
            <a:pPr marL="0" indent="0" algn="r" rtl="1">
              <a:buNone/>
            </a:pPr>
            <a:r>
              <a:rPr lang="he-IL" sz="1200" b="1"/>
              <a:t>אנלוגיה</a:t>
            </a:r>
          </a:p>
          <a:p>
            <a:pPr marL="0" indent="0" algn="r" rtl="1">
              <a:buNone/>
            </a:pPr>
            <a:r>
              <a:rPr lang="he-IL" sz="1200"/>
              <a:t>•  השלמה אוטומטית של הטלפון, אבל לקוד.</a:t>
            </a:r>
          </a:p>
          <a:p>
            <a:pPr marL="0" indent="0" algn="r" rtl="1">
              <a:buNone/>
            </a:pPr>
            <a:r>
              <a:rPr lang="he-IL" sz="1200" b="1"/>
              <a:t>טעות נפוצה</a:t>
            </a:r>
          </a:p>
          <a:p>
            <a:pPr marL="0" indent="0" algn="r" rtl="1">
              <a:buNone/>
            </a:pPr>
            <a:r>
              <a:rPr lang="he-IL" sz="1200"/>
              <a:t>•  לקבל הצעה בלי לקרוא אותה.</a:t>
            </a:r>
          </a:p>
          <a:p>
            <a:pPr marL="0" indent="0" algn="r" rtl="1">
              <a:buNone/>
            </a:pPr>
            <a:r>
              <a:rPr lang="he-IL" sz="1200"/>
              <a:t>•  הצעה שנראית סבירה עלולה להמציא שם עמודה שלא קיים.</a:t>
            </a:r>
          </a:p>
          <a:p>
            <a:pPr marL="0" indent="0" algn="r" rtl="1">
              <a:buNone/>
            </a:pPr>
            <a:r>
              <a:rPr lang="he-IL" sz="1200" b="1"/>
              <a:t>שאלה לכיתה</a:t>
            </a:r>
          </a:p>
          <a:p>
            <a:pPr marL="0" indent="0" algn="r" rtl="1">
              <a:buNone/>
            </a:pPr>
            <a:r>
              <a:rPr lang="he-IL" sz="1200"/>
              <a:t>•  מה ההבדל מצ׳אט?</a:t>
            </a:r>
          </a:p>
          <a:p>
            <a:pPr marL="0" indent="0" algn="r" rtl="1">
              <a:buNone/>
            </a:pPr>
            <a:r>
              <a:rPr lang="he-IL" sz="1200" b="1"/>
              <a:t>תשובה</a:t>
            </a:r>
          </a:p>
          <a:p>
            <a:pPr marL="0" indent="0" algn="r" rtl="1">
              <a:buNone/>
            </a:pPr>
            <a:r>
              <a:rPr lang="he-IL" sz="1200"/>
              <a:t>•  אין העתקה והדבקה, והכלי רואה את הקובץ.</a:t>
            </a:r>
          </a:p>
          <a:p>
            <a:pPr marL="0" indent="0" algn="r" rtl="1">
              <a:buNone/>
            </a:pPr>
            <a:r>
              <a:rPr lang="he-IL" sz="1200"/>
              <a:t>•  חלק מהעוזרים מציעים גם מצב סוכן, ולכן כתוב בדרך כלל.</a:t>
            </a:r>
          </a:p>
          <a:p>
            <a:pPr marL="0" indent="0" algn="r" rtl="1">
              <a:buNone/>
            </a:pPr>
            <a:r>
              <a:rPr lang="he-IL" sz="1200"/>
              <a:t>•  יש לאמת מה הגרסה שלכם מאפשרת.</a:t>
            </a:r>
          </a:p>
          <a:p>
            <a:pPr marL="0" indent="0" algn="r" rtl="1">
              <a:buNone/>
            </a:pPr>
            <a:r>
              <a:rPr lang="he-IL" sz="1200" b="1"/>
              <a:t>להעמקה</a:t>
            </a:r>
          </a:p>
          <a:p>
            <a:pPr marL="0" indent="0" algn="r" rtl="1">
              <a:buNone/>
            </a:pPr>
            <a:r>
              <a:rPr lang="he-IL" sz="1200"/>
              <a:t>•  השלמה אוטומטית בקוד היא מודל שמנבא את המשך הקוד מתוך הקשר של הקובץ הפתוח, ולעיתים גם קבצים סמוכים.</a:t>
            </a:r>
          </a:p>
          <a:p>
            <a:pPr marL="0" indent="0" algn="r" rtl="1">
              <a:buNone/>
            </a:pPr>
            <a:r>
              <a:rPr lang="he-IL" sz="1200"/>
              <a:t>•  כמו בכל יצירת טקסט (מפגש 2), ההצעה נוצרת בהסתברות, ולכן יכולה להיראות סבירה ולהיות שגויה, למשל שם עמודה שלא קיים.</a:t>
            </a:r>
          </a:p>
          <a:p>
            <a:pPr marL="0" indent="0" algn="r" rtl="1">
              <a:buNone/>
            </a:pPr>
            <a:r>
              <a:rPr lang="he-IL" sz="1200"/>
              <a:t>•  העובדה: ההצעה אינה נבדקת מול הנתונים.</a:t>
            </a:r>
          </a:p>
          <a:p>
            <a:pPr marL="0" indent="0" algn="r" rtl="1">
              <a:buNone/>
            </a:pPr>
            <a:r>
              <a:rPr lang="he-IL" sz="1200"/>
              <a:t>•  ההמלצה: לקרוא ולהריץ לפני שמקבלים.</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משפחה 3: סוכן.</a:t>
            </a:r>
          </a:p>
          <a:p>
            <a:pPr marL="0" indent="0" algn="r" rtl="1">
              <a:buNone/>
            </a:pPr>
            <a:r>
              <a:rPr lang="he-IL" sz="1200" b="1"/>
              <a:t>מה אומרים</a:t>
            </a:r>
          </a:p>
          <a:p>
            <a:pPr marL="0" indent="0" algn="r" rtl="1">
              <a:buNone/>
            </a:pPr>
            <a:r>
              <a:rPr lang="he-IL" sz="1200"/>
              <a:t>•  הסוכן (כתום) במרכז.</a:t>
            </a:r>
          </a:p>
          <a:p>
            <a:pPr marL="0" indent="0" algn="r" rtl="1">
              <a:buNone/>
            </a:pPr>
            <a:r>
              <a:rPr lang="he-IL" sz="1200"/>
              <a:t>•  מימין שני דברים שהוא פועל עליהם: קבצי הפרויקט, שהוא קורא וגם עורך, ומסוף שבו הוא מריץ פקודות ובדיקות.</a:t>
            </a:r>
          </a:p>
          <a:p>
            <a:pPr marL="0" indent="0" algn="r" rtl="1">
              <a:buNone/>
            </a:pPr>
            <a:r>
              <a:rPr lang="he-IL" sz="1200"/>
              <a:t>•  החצים דו-כיווניים כי הוא גם קורא וגם כותב.</a:t>
            </a:r>
          </a:p>
          <a:p>
            <a:pPr marL="0" indent="0" algn="r" rtl="1">
              <a:buNone/>
            </a:pPr>
            <a:r>
              <a:rPr lang="he-IL" sz="1200"/>
              <a:t>•  משמאל אתם, מאשרים או חוסמים.</a:t>
            </a:r>
          </a:p>
          <a:p>
            <a:pPr marL="0" indent="0" algn="r" rtl="1">
              <a:buNone/>
            </a:pPr>
            <a:r>
              <a:rPr lang="he-IL" sz="1200"/>
              <a:t>•  הצ׳יפים: רואה את כל הפרויקט, מריץ קוד, ומי שמאשר תלוי ברמת האוטונומיה, שנראה בחלק ב׳.</a:t>
            </a:r>
          </a:p>
          <a:p>
            <a:pPr marL="0" indent="0" algn="r" rtl="1">
              <a:buNone/>
            </a:pPr>
            <a:r>
              <a:rPr lang="he-IL" sz="1200"/>
              <a:t>•  נקודת מפתח: הסוכן פועל בלולאה.</a:t>
            </a:r>
          </a:p>
          <a:p>
            <a:pPr marL="0" indent="0" algn="r" rtl="1">
              <a:buNone/>
            </a:pPr>
            <a:r>
              <a:rPr lang="he-IL" sz="1200"/>
              <a:t>•  הוא קורא, פועל, מריץ, בודק את התוצאה ומתקן.</a:t>
            </a:r>
          </a:p>
          <a:p>
            <a:pPr marL="0" indent="0" algn="r" rtl="1">
              <a:buNone/>
            </a:pPr>
            <a:r>
              <a:rPr lang="he-IL" sz="1200"/>
              <a:t>•  את הלולאה נפרט במפגש 6.</a:t>
            </a:r>
          </a:p>
          <a:p>
            <a:pPr marL="0" indent="0" algn="r" rtl="1">
              <a:buNone/>
            </a:pPr>
            <a:r>
              <a:rPr lang="he-IL" sz="1200" b="1"/>
              <a:t>אנלוגיה</a:t>
            </a:r>
          </a:p>
          <a:p>
            <a:pPr marL="0" indent="0" algn="r" rtl="1">
              <a:buNone/>
            </a:pPr>
            <a:r>
              <a:rPr lang="he-IL" sz="1200"/>
              <a:t>•  עוזר מחקר שקיבל מפתח לארכיון, שולף נתונים, מריץ חישוב ומראה לכם.</a:t>
            </a:r>
          </a:p>
          <a:p>
            <a:pPr marL="0" indent="0" algn="r" rtl="1">
              <a:buNone/>
            </a:pPr>
            <a:r>
              <a:rPr lang="he-IL" sz="1200" b="1"/>
              <a:t>שאלה לכיתה</a:t>
            </a:r>
          </a:p>
          <a:p>
            <a:pPr marL="0" indent="0" algn="r" rtl="1">
              <a:buNone/>
            </a:pPr>
            <a:r>
              <a:rPr lang="he-IL" sz="1200"/>
              <a:t>•  מהו היתרון ומהו הסיכון?</a:t>
            </a:r>
          </a:p>
          <a:p>
            <a:pPr marL="0" indent="0" algn="r" rtl="1">
              <a:buNone/>
            </a:pPr>
            <a:r>
              <a:rPr lang="he-IL" sz="1200" b="1"/>
              <a:t>תשובה</a:t>
            </a:r>
          </a:p>
          <a:p>
            <a:pPr marL="0" indent="0" algn="r" rtl="1">
              <a:buNone/>
            </a:pPr>
            <a:r>
              <a:rPr lang="he-IL" sz="1200"/>
              <a:t>•  הוא חוסך עבודה ידנית, אבל עלול לשנות יותר ממה שביקשתם.</a:t>
            </a:r>
          </a:p>
          <a:p>
            <a:pPr marL="0" indent="0" algn="r" rtl="1">
              <a:buNone/>
            </a:pPr>
            <a:r>
              <a:rPr lang="he-IL" sz="1200"/>
              <a:t>•  לכן בודקים.</a:t>
            </a:r>
          </a:p>
          <a:p>
            <a:pPr marL="0" indent="0" algn="r" rtl="1">
              <a:buNone/>
            </a:pPr>
            <a:r>
              <a:rPr lang="he-IL" sz="1200" b="1"/>
              <a:t>להעמקה</a:t>
            </a:r>
          </a:p>
          <a:p>
            <a:pPr marL="0" indent="0" algn="r" rtl="1">
              <a:buNone/>
            </a:pPr>
            <a:r>
              <a:rPr lang="he-IL" sz="1200"/>
              <a:t>•  לפי Anthropic (Building effective agents, 2024), סוכן הוא מערכת שבה המודל מכוון בעצמו את התהליך ואת השימוש בכלים, בניגוד ל־workflow שבו מסלול הקוד קבוע מראש.</a:t>
            </a:r>
          </a:p>
          <a:p>
            <a:pPr marL="0" indent="0" algn="r" rtl="1">
              <a:buNone/>
            </a:pPr>
            <a:r>
              <a:rPr lang="he-IL" sz="1200"/>
              <a:t>•  סוכן מתאים לבעיות פתוחות שבהן אי אפשר לדעת מראש כמה צעדים יידרשו, ולכן הוא יקר יותר ומצטבר בו סיכון לטעויות.</a:t>
            </a:r>
          </a:p>
          <a:p>
            <a:pPr marL="0" indent="0" algn="r" rtl="1">
              <a:buNone/>
            </a:pPr>
            <a:r>
              <a:rPr lang="he-IL" sz="1200"/>
              <a:t>•  ההמלצה של Anthropic היא להתחיל בפתרון הפשוט ביותר ולהוסיף מורכבות רק לפי הצורך, וזה בדיוק הרעיון של חלק ג׳.</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טבלת סיכום של שלושת השקפים הקודמים.</a:t>
            </a:r>
          </a:p>
          <a:p>
            <a:pPr marL="0" indent="0" algn="r" rtl="1">
              <a:buNone/>
            </a:pPr>
            <a:r>
              <a:rPr lang="he-IL" sz="1200" b="1"/>
              <a:t>מה אומרים</a:t>
            </a:r>
          </a:p>
          <a:p>
            <a:pPr marL="0" indent="0" algn="r" rtl="1">
              <a:buNone/>
            </a:pPr>
            <a:r>
              <a:rPr lang="he-IL" sz="1200"/>
              <a:t>•  מומלץ לבקש מהכיתה להשלים עמודה בעל פה לפני שחושפים אותה.</a:t>
            </a:r>
          </a:p>
          <a:p>
            <a:pPr marL="0" indent="0" algn="r" rtl="1">
              <a:buNone/>
            </a:pPr>
            <a:r>
              <a:rPr lang="he-IL" sz="1200"/>
              <a:t>•  שורה ראשונה: איפה הקוד חי.</a:t>
            </a:r>
          </a:p>
          <a:p>
            <a:pPr marL="0" indent="0" algn="r" rtl="1">
              <a:buNone/>
            </a:pPr>
            <a:r>
              <a:rPr lang="he-IL" sz="1200"/>
              <a:t>•  בצ׳אט אצלכם והצ׳אט רק מציע, בעוזר בעורך שלכם, ובסוכן בתיקיית הפרויקט.</a:t>
            </a:r>
          </a:p>
          <a:p>
            <a:pPr marL="0" indent="0" algn="r" rtl="1">
              <a:buNone/>
            </a:pPr>
            <a:r>
              <a:rPr lang="he-IL" sz="1200"/>
              <a:t>•  שורה שנייה: מה הכלי רואה.</a:t>
            </a:r>
          </a:p>
          <a:p>
            <a:pPr marL="0" indent="0" algn="r" rtl="1">
              <a:buNone/>
            </a:pPr>
            <a:r>
              <a:rPr lang="he-IL" sz="1200"/>
              <a:t>•  מה שהדבקתם, הקובץ הפתוח, כל הפרויקט.</a:t>
            </a:r>
          </a:p>
          <a:p>
            <a:pPr marL="0" indent="0" algn="r" rtl="1">
              <a:buNone/>
            </a:pPr>
            <a:r>
              <a:rPr lang="he-IL" sz="1200"/>
              <a:t>•  שורה שלישית: האם מריץ קוד.</a:t>
            </a:r>
          </a:p>
          <a:p>
            <a:pPr marL="0" indent="0" algn="r" rtl="1">
              <a:buNone/>
            </a:pPr>
            <a:r>
              <a:rPr lang="he-IL" sz="1200"/>
              <a:t>•  לא, בדרך כלל לא, כן.</a:t>
            </a:r>
          </a:p>
          <a:p>
            <a:pPr marL="0" indent="0" algn="r" rtl="1">
              <a:buNone/>
            </a:pPr>
            <a:r>
              <a:rPr lang="he-IL" sz="1200"/>
              <a:t>•  שורה רביעית: מי מאשר.</a:t>
            </a:r>
          </a:p>
          <a:p>
            <a:pPr marL="0" indent="0" algn="r" rtl="1">
              <a:buNone/>
            </a:pPr>
            <a:r>
              <a:rPr lang="he-IL" sz="1200"/>
              <a:t>•  אתם, אתם, ולפי רמת האוטונומיה.</a:t>
            </a:r>
          </a:p>
          <a:p>
            <a:pPr marL="0" indent="0" algn="r" rtl="1">
              <a:buNone/>
            </a:pPr>
            <a:r>
              <a:rPr lang="he-IL" sz="1200"/>
              <a:t>•  הצבעים: אדום הוא מגבלה, ירוק הוא כוח או שליטה.</a:t>
            </a:r>
          </a:p>
          <a:p>
            <a:pPr marL="0" indent="0" algn="r" rtl="1">
              <a:buNone/>
            </a:pPr>
            <a:r>
              <a:rPr lang="he-IL" sz="1200"/>
              <a:t>•  אדום אינו רע: למשימה קטנה מגבלה היא ביטחון.</a:t>
            </a:r>
          </a:p>
          <a:p>
            <a:pPr marL="0" indent="0" algn="r" rtl="1">
              <a:buNone/>
            </a:pPr>
            <a:r>
              <a:rPr lang="he-IL" sz="1200" b="1"/>
              <a:t>אנלוגיה</a:t>
            </a:r>
          </a:p>
          <a:p>
            <a:pPr marL="0" indent="0" algn="r" rtl="1">
              <a:buNone/>
            </a:pPr>
            <a:r>
              <a:rPr lang="he-IL" sz="1200"/>
              <a:t>•  טבלת השוואה בין מכונות במפעל.</a:t>
            </a:r>
          </a:p>
          <a:p>
            <a:pPr marL="0" indent="0" algn="r" rtl="1">
              <a:buNone/>
            </a:pPr>
            <a:r>
              <a:rPr lang="he-IL" sz="1200" b="1"/>
              <a:t>שאלה לכיתה</a:t>
            </a:r>
          </a:p>
          <a:p>
            <a:pPr marL="0" indent="0" algn="r" rtl="1">
              <a:buNone/>
            </a:pPr>
            <a:r>
              <a:rPr lang="he-IL" sz="1200"/>
              <a:t>•  איזו שורה משפיעה הכי הרבה על הבחירה?</a:t>
            </a:r>
          </a:p>
          <a:p>
            <a:pPr marL="0" indent="0" algn="r" rtl="1">
              <a:buNone/>
            </a:pPr>
            <a:r>
              <a:rPr lang="he-IL" sz="1200" b="1"/>
              <a:t>תשובה</a:t>
            </a:r>
          </a:p>
          <a:p>
            <a:pPr marL="0" indent="0" algn="r" rtl="1">
              <a:buNone/>
            </a:pPr>
            <a:r>
              <a:rPr lang="he-IL" sz="1200"/>
              <a:t>•  מה הכלי רואה ומי מאשר.</a:t>
            </a:r>
          </a:p>
          <a:p>
            <a:pPr marL="0" indent="0" algn="r" rtl="1">
              <a:buNone/>
            </a:pPr>
            <a:r>
              <a:rPr lang="he-IL" sz="1200" b="1"/>
              <a:t>שימו לב</a:t>
            </a:r>
          </a:p>
          <a:p>
            <a:pPr marL="0" indent="0" algn="r" rtl="1">
              <a:buNone/>
            </a:pPr>
            <a:r>
              <a:rPr lang="he-IL" sz="1200"/>
              <a:t>•  הטבלה פשטנית, וכלים ספציפיים עשויים לחרוג.</a:t>
            </a:r>
          </a:p>
          <a:p>
            <a:pPr marL="0" indent="0" algn="r" rtl="1">
              <a:buNone/>
            </a:pPr>
            <a:r>
              <a:rPr lang="he-IL" sz="1200"/>
              <a:t>•  יש לאמת מול הכלי שבו משתמשים.</a:t>
            </a:r>
          </a:p>
          <a:p>
            <a:pPr marL="0" indent="0" algn="r" rtl="1">
              <a:buNone/>
            </a:pPr>
            <a:r>
              <a:rPr lang="he-IL" sz="1200" b="1"/>
              <a:t>להעמקה</a:t>
            </a:r>
          </a:p>
          <a:p>
            <a:pPr marL="0" indent="0" algn="r" rtl="1">
              <a:buNone/>
            </a:pPr>
            <a:r>
              <a:rPr lang="he-IL" sz="1200"/>
              <a:t>•  השורות בטבלה הן תיאור של דפוסים נפוצים (עובדתי, אך תלוי מוצר ותלוי גרסה), והמסקנה ״בוחרים לפי מה שהכלי רואה ומי מאשר״ היא המלצת פרקטיקה של הקורס.</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ציר אחד שמסכם את החלק.</a:t>
            </a:r>
          </a:p>
          <a:p>
            <a:pPr marL="0" indent="0" algn="r" rtl="1">
              <a:buNone/>
            </a:pPr>
            <a:r>
              <a:rPr lang="he-IL" sz="1200" b="1"/>
              <a:t>מה אומרים</a:t>
            </a:r>
          </a:p>
          <a:p>
            <a:pPr marL="0" indent="0" algn="r" rtl="1">
              <a:buNone/>
            </a:pPr>
            <a:r>
              <a:rPr lang="he-IL" sz="1200"/>
              <a:t>•  הציר האופקי: כמה הכלי רואה מהפרויקט, מעט מימין ויותר משמאל.</a:t>
            </a:r>
          </a:p>
          <a:p>
            <a:pPr marL="0" indent="0" algn="r" rtl="1">
              <a:buNone/>
            </a:pPr>
            <a:r>
              <a:rPr lang="he-IL" sz="1200"/>
              <a:t>•  הציר האנכי: כמה הוא עושה לבד.</a:t>
            </a:r>
          </a:p>
          <a:p>
            <a:pPr marL="0" indent="0" algn="r" rtl="1">
              <a:buNone/>
            </a:pPr>
            <a:r>
              <a:rPr lang="he-IL" sz="1200"/>
              <a:t>•  צ׳אט נמצא למטה מימין, רואה מעט ועושה מעט.</a:t>
            </a:r>
          </a:p>
          <a:p>
            <a:pPr marL="0" indent="0" algn="r" rtl="1">
              <a:buNone/>
            </a:pPr>
            <a:r>
              <a:rPr lang="he-IL" sz="1200"/>
              <a:t>•  עוזר בעורך באמצע.</a:t>
            </a:r>
          </a:p>
          <a:p>
            <a:pPr marL="0" indent="0" algn="r" rtl="1">
              <a:buNone/>
            </a:pPr>
            <a:r>
              <a:rPr lang="he-IL" sz="1200"/>
              <a:t>•  סוכן למעלה משמאל, רואה הרבה ועושה הרבה.</a:t>
            </a:r>
          </a:p>
          <a:p>
            <a:pPr marL="0" indent="0" algn="r" rtl="1">
              <a:buNone/>
            </a:pPr>
            <a:r>
              <a:rPr lang="he-IL" sz="1200"/>
              <a:t>•  החץ האדום המקווקו והכיתוב: ככל שעולים בציר יש יותר כוח, ויותר אחריות עליכם לבדוק.</a:t>
            </a:r>
          </a:p>
          <a:p>
            <a:pPr marL="0" indent="0" algn="r" rtl="1">
              <a:buNone/>
            </a:pPr>
            <a:r>
              <a:rPr lang="he-IL" sz="1200" b="1"/>
              <a:t>אנלוגיה</a:t>
            </a:r>
          </a:p>
          <a:p>
            <a:pPr marL="0" indent="0" algn="r" rtl="1">
              <a:buNone/>
            </a:pPr>
            <a:r>
              <a:rPr lang="he-IL" sz="1200"/>
              <a:t>•  פיקוח על עובדים.</a:t>
            </a:r>
          </a:p>
          <a:p>
            <a:pPr marL="0" indent="0" algn="r" rtl="1">
              <a:buNone/>
            </a:pPr>
            <a:r>
              <a:rPr lang="he-IL" sz="1200"/>
              <a:t>•  עובד חדש מקבל משימה קטנה ונבדק, עובד ותיק מקבל אחריות על קו שלם, ואתם בודקים את התוצאה שלו בקפדנות רבה.</a:t>
            </a:r>
          </a:p>
          <a:p>
            <a:pPr marL="0" indent="0" algn="r" rtl="1">
              <a:buNone/>
            </a:pPr>
            <a:r>
              <a:rPr lang="he-IL" sz="1200" b="1"/>
              <a:t>שאלה לכיתה</a:t>
            </a:r>
          </a:p>
          <a:p>
            <a:pPr marL="0" indent="0" algn="r" rtl="1">
              <a:buNone/>
            </a:pPr>
            <a:r>
              <a:rPr lang="he-IL" sz="1200"/>
              <a:t>•  האם תמיד כדאי להיות בפינה השמאלית העליונה?</a:t>
            </a:r>
          </a:p>
          <a:p>
            <a:pPr marL="0" indent="0" algn="r" rtl="1">
              <a:buNone/>
            </a:pPr>
            <a:r>
              <a:rPr lang="he-IL" sz="1200" b="1"/>
              <a:t>תשובה</a:t>
            </a:r>
          </a:p>
          <a:p>
            <a:pPr marL="0" indent="0" algn="r" rtl="1">
              <a:buNone/>
            </a:pPr>
            <a:r>
              <a:rPr lang="he-IL" sz="1200"/>
              <a:t>•  לא.</a:t>
            </a:r>
          </a:p>
          <a:p>
            <a:pPr marL="0" indent="0" algn="r" rtl="1">
              <a:buNone/>
            </a:pPr>
            <a:r>
              <a:rPr lang="he-IL" sz="1200"/>
              <a:t>•  כוח גדול למשימה קטנה הוא סיכון ועלות מיותרים.</a:t>
            </a:r>
          </a:p>
          <a:p>
            <a:pPr marL="0" indent="0" algn="r" rtl="1">
              <a:buNone/>
            </a:pPr>
            <a:r>
              <a:rPr lang="he-IL" sz="1200"/>
              <a:t>•  את זה נראה בעץ ההחלטה בחלק ג׳.</a:t>
            </a:r>
          </a:p>
          <a:p>
            <a:pPr marL="0" indent="0" algn="r" rtl="1">
              <a:buNone/>
            </a:pPr>
            <a:r>
              <a:rPr lang="he-IL" sz="1200"/>
              <a:t>•  המיקום בציור סכמטי ואינו מדידה.</a:t>
            </a:r>
          </a:p>
          <a:p>
            <a:pPr marL="0" indent="0" algn="r" rtl="1">
              <a:buNone/>
            </a:pPr>
            <a:r>
              <a:rPr lang="he-IL" sz="1200"/>
              <a:t>•  שקף אופציונלי, כדקה.</a:t>
            </a:r>
          </a:p>
          <a:p>
            <a:pPr marL="0" indent="0" algn="r" rtl="1">
              <a:buNone/>
            </a:pPr>
            <a:r>
              <a:rPr lang="he-IL" sz="1200"/>
              <a:t>•  אפשר לדלג בזמן קצר כי הוא חוזר על מה שמופיע בטבלת ההשוואה.</a:t>
            </a:r>
          </a:p>
          <a:p>
            <a:pPr marL="0" indent="0" algn="r" rtl="1">
              <a:buNone/>
            </a:pPr>
            <a:r>
              <a:rPr lang="he-IL" sz="1200"/>
              <a:t>•  אם מציגים: הציר מדגים שכוח וראות עולים יחד, ושהאחריות לבדוק עולה איתם.</a:t>
            </a:r>
          </a:p>
          <a:p>
            <a:pPr marL="0" indent="0" algn="r" rtl="1">
              <a:buNone/>
            </a:pPr>
            <a:r>
              <a:rPr lang="he-IL" sz="1200"/>
              <a:t>•  זו הערכה איכותית ולא מדידה.</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זו נקודת המפתח של החלק.</a:t>
            </a:r>
          </a:p>
          <a:p>
            <a:pPr marL="0" indent="0" algn="r" rtl="1">
              <a:buNone/>
            </a:pPr>
            <a:r>
              <a:rPr lang="he-IL" sz="1200" b="1"/>
              <a:t>מה אומרים</a:t>
            </a:r>
          </a:p>
          <a:p>
            <a:pPr marL="0" indent="0" algn="r" rtl="1">
              <a:buNone/>
            </a:pPr>
            <a:r>
              <a:rPr lang="he-IL" sz="1200"/>
              <a:t>•  קראו את הציור מבפנים החוצה.</a:t>
            </a:r>
          </a:p>
          <a:p>
            <a:pPr marL="0" indent="0" algn="r" rtl="1">
              <a:buNone/>
            </a:pPr>
            <a:r>
              <a:rPr lang="he-IL" sz="1200"/>
              <a:t>•  במרכז מודל השפה (כתום).</a:t>
            </a:r>
          </a:p>
          <a:p>
            <a:pPr marL="0" indent="0" algn="r" rtl="1">
              <a:buNone/>
            </a:pPr>
            <a:r>
              <a:rPr lang="he-IL" sz="1200"/>
              <a:t>•  סביבו שכבה כחולה: הוראות מערכת ומה שנכנס לחלון ההקשר.</a:t>
            </a:r>
          </a:p>
          <a:p>
            <a:pPr marL="0" indent="0" algn="r" rtl="1">
              <a:buNone/>
            </a:pPr>
            <a:r>
              <a:rPr lang="he-IL" sz="1200"/>
              <a:t>•  אחריה שכבה ירוקה: הכלים, כמו קריאת קבצים, הרצה וחיפוש.</a:t>
            </a:r>
          </a:p>
          <a:p>
            <a:pPr marL="0" indent="0" algn="r" rtl="1">
              <a:buNone/>
            </a:pPr>
            <a:r>
              <a:rPr lang="he-IL" sz="1200"/>
              <a:t>•  ובחוץ שכבה אפורה: הרשאות ואישורים.</a:t>
            </a:r>
          </a:p>
          <a:p>
            <a:pPr marL="0" indent="0" algn="r" rtl="1">
              <a:buNone/>
            </a:pPr>
            <a:r>
              <a:rPr lang="he-IL" sz="1200"/>
              <a:t>•  כל מה שסביב המודל נקרא מעטפת (Harness).</a:t>
            </a:r>
          </a:p>
          <a:p>
            <a:pPr marL="0" indent="0" algn="r" rtl="1">
              <a:buNone/>
            </a:pPr>
            <a:r>
              <a:rPr lang="he-IL" sz="1200"/>
              <a:t>•  הכלל מימין: אותו מודל, מעטפת אחרת, חוויה ותוצאות אחרות.</a:t>
            </a:r>
          </a:p>
          <a:p>
            <a:pPr marL="0" indent="0" algn="r" rtl="1">
              <a:buNone/>
            </a:pPr>
            <a:r>
              <a:rPr lang="he-IL" sz="1200" b="1"/>
              <a:t>אנלוגיה</a:t>
            </a:r>
          </a:p>
          <a:p>
            <a:pPr marL="0" indent="0" algn="r" rtl="1">
              <a:buNone/>
            </a:pPr>
            <a:r>
              <a:rPr lang="he-IL" sz="1200"/>
              <a:t>•  אותו מנוע מותקן במכונית ספורט ובטרקטור.</a:t>
            </a:r>
          </a:p>
          <a:p>
            <a:pPr marL="0" indent="0" algn="r" rtl="1">
              <a:buNone/>
            </a:pPr>
            <a:r>
              <a:rPr lang="he-IL" sz="1200"/>
              <a:t>•  ההגה, ההנעה והבטיחות, כלומר המעטפת, קובעים מה אפשר לעשות איתו.</a:t>
            </a:r>
          </a:p>
          <a:p>
            <a:pPr marL="0" indent="0" algn="r" rtl="1">
              <a:buNone/>
            </a:pPr>
            <a:r>
              <a:rPr lang="he-IL" sz="1200" b="1"/>
              <a:t>שאלה לכיתה</a:t>
            </a:r>
          </a:p>
          <a:p>
            <a:pPr marL="0" indent="0" algn="r" rtl="1">
              <a:buNone/>
            </a:pPr>
            <a:r>
              <a:rPr lang="he-IL" sz="1200"/>
              <a:t>•  אם שני כלים משתמשים באותו מודל, למה התוצאות שונות?</a:t>
            </a:r>
          </a:p>
          <a:p>
            <a:pPr marL="0" indent="0" algn="r" rtl="1">
              <a:buNone/>
            </a:pPr>
            <a:r>
              <a:rPr lang="he-IL" sz="1200" b="1"/>
              <a:t>תשובה</a:t>
            </a:r>
          </a:p>
          <a:p>
            <a:pPr marL="0" indent="0" algn="r" rtl="1">
              <a:buNone/>
            </a:pPr>
            <a:r>
              <a:rPr lang="he-IL" sz="1200"/>
              <a:t>•  מה נכנס להקשר, אילו כלים זמינים, ואילו הוראות פעילות.</a:t>
            </a:r>
          </a:p>
          <a:p>
            <a:pPr marL="0" indent="0" algn="r" rtl="1">
              <a:buNone/>
            </a:pPr>
            <a:r>
              <a:rPr lang="he-IL" sz="1200" b="1"/>
              <a:t>חיבור לשיעורים קודמים</a:t>
            </a:r>
          </a:p>
          <a:p>
            <a:pPr marL="0" indent="0" algn="r" rtl="1">
              <a:buNone/>
            </a:pPr>
            <a:r>
              <a:rPr lang="he-IL" sz="1200"/>
              <a:t>•  מפגשים 2 ו-4.</a:t>
            </a:r>
          </a:p>
          <a:p>
            <a:pPr marL="0" indent="0" algn="r" rtl="1">
              <a:buNone/>
            </a:pPr>
            <a:r>
              <a:rPr lang="he-IL" sz="1200" b="1"/>
              <a:t>שימו לב</a:t>
            </a:r>
          </a:p>
          <a:p>
            <a:pPr marL="0" indent="0" algn="r" rtl="1">
              <a:buNone/>
            </a:pPr>
            <a:r>
              <a:rPr lang="he-IL" sz="1200"/>
              <a:t>•  ספקים רבים אינם מפרסמים את הוראות המערכת שלהם, ולכן לא ניתן לאמת מבחוץ מה בדיוק יש במעטפת.</a:t>
            </a:r>
          </a:p>
          <a:p>
            <a:pPr marL="0" indent="0" algn="r" rtl="1">
              <a:buNone/>
            </a:pPr>
            <a:r>
              <a:rPr lang="he-IL" sz="1200" b="1"/>
              <a:t>להעמקה</a:t>
            </a:r>
          </a:p>
          <a:p>
            <a:pPr marL="0" indent="0" algn="r" rtl="1">
              <a:buNone/>
            </a:pPr>
            <a:r>
              <a:rPr lang="he-IL" sz="1200"/>
              <a:t>•  בקורס, מעטפת (harness) היא כל מה שבנוי סביב המודל כדי להפוך אותו לכלי: בניית ההקשר בכל קריאה, הגדרת הכלים שהמודל רשאי לבקש, ביצוע הבקשות, ההרשאות, והלולאה שחוזרת על הקריאה עד סיום.</a:t>
            </a:r>
          </a:p>
          <a:p>
            <a:pPr marL="0" indent="0" algn="r" rtl="1">
              <a:buNone/>
            </a:pPr>
            <a:r>
              <a:rPr lang="he-IL" sz="1200"/>
              <a:t>•  זו הגדרת עבודה של הקורס ולא תקן, ובתעשייה משתמשים גם בכינויים כמו scaffold או agent framework.</a:t>
            </a:r>
          </a:p>
          <a:p>
            <a:pPr marL="0" indent="0" algn="r" rtl="1">
              <a:buNone/>
            </a:pPr>
            <a:r>
              <a:rPr lang="he-IL" sz="1200"/>
              <a:t>•  עדות לחשיבות המעטפת: מאמר SWE-agent (Yang ועמיתים, NeurIPS 2024) הראה שממשק שתוכנן לסוכן משפר את יכולתו לערוך קבצים, לנווט במאגר ולהריץ בדיקות.</a:t>
            </a:r>
          </a:p>
          <a:p>
            <a:pPr marL="0" indent="0" algn="r" rtl="1">
              <a:buNone/>
            </a:pPr>
            <a:r>
              <a:rPr lang="he-IL" sz="1200"/>
              <a:t>•  העובדה המבוססת: התוצאה תלויה גם במעטפת.</a:t>
            </a:r>
          </a:p>
          <a:p>
            <a:pPr marL="0" indent="0" algn="r" rtl="1">
              <a:buNone/>
            </a:pPr>
            <a:r>
              <a:rPr lang="he-IL" sz="1200"/>
              <a:t>•  ההמלצה ״בדקו אותו הקשר ואותה גישה לפני שמסיקים שכלי חלש״ היא פרקטיקה.</a:t>
            </a:r>
          </a:p>
          <a:p>
            <a:pPr marL="0" indent="0" algn="r" rtl="1">
              <a:buNone/>
            </a:pPr>
            <a:r>
              <a:rPr lang="he-IL" sz="1200"/>
              <a:t>•  הרחבה בשקף ההעשרה הבא.</a:t>
            </a:r>
          </a:p>
          <a:p>
            <a:pPr marL="0" indent="0" algn="r" rtl="1">
              <a:buNone/>
            </a:pPr>
            <a:r>
              <a:rPr lang="he-IL" sz="1200"/>
              <a:t>•  קישור לשרשרת (מוצג גם בשקף): בחלון ההקשר שראינו במפגש 2 נכנסות הוראות מערכת של הכלי, ההיסטוריה והקבצים.</a:t>
            </a:r>
          </a:p>
          <a:p>
            <a:pPr marL="0" indent="0" algn="r" rtl="1">
              <a:buNone/>
            </a:pPr>
            <a:r>
              <a:rPr lang="he-IL" sz="1200"/>
              <a:t>•  המעטפת היא מי שמחליטה מה בדיוק נכנס אליו, ולכן שני כלים עם אותו מודל מקבלים הקשר שונה.</a:t>
            </a:r>
          </a:p>
          <a:p>
            <a:pPr marL="0" indent="0" algn="r" rtl="1">
              <a:buNone/>
            </a:pPr>
            <a:r>
              <a:rPr lang="he-IL" sz="1200"/>
              <a:t>•  ניהול ההקשר כמיומנות של המשתמש הוא נושא מפגש 4 לפי הסילבוס.</a:t>
            </a:r>
          </a:p>
          <a:p>
            <a:pPr marL="0" indent="0" algn="r" rtl="1">
              <a:buNone/>
            </a:pPr>
            <a:r>
              <a:rPr lang="he-IL" sz="1200" b="1"/>
              <a:t>שאלת היזכרות</a:t>
            </a:r>
          </a:p>
          <a:p>
            <a:pPr marL="0" indent="0" algn="r" rtl="1">
              <a:buNone/>
            </a:pPr>
            <a:r>
              <a:rPr lang="he-IL" sz="1200"/>
              <a:t>•  ״מי זוכר מה נמצא בחלון ההקשר?״ תשובה: הוראות מערכת, הודעות ותשובות קודמות, קבצים וקוד, והודעה נוכחית.</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טעות נפוצה.</a:t>
            </a:r>
          </a:p>
          <a:p>
            <a:pPr marL="0" indent="0" algn="r" rtl="1">
              <a:buNone/>
            </a:pPr>
            <a:r>
              <a:rPr lang="he-IL" sz="1200" b="1"/>
              <a:t>מה אומרים</a:t>
            </a:r>
          </a:p>
          <a:p>
            <a:pPr marL="0" indent="0" algn="r" rtl="1">
              <a:buNone/>
            </a:pPr>
            <a:r>
              <a:rPr lang="he-IL" sz="1200"/>
              <a:t>•  הטענה האדומה: כלי א׳ פשוט חכם יותר מכלי ב׳.</a:t>
            </a:r>
          </a:p>
          <a:p>
            <a:pPr marL="0" indent="0" algn="r" rtl="1">
              <a:buNone/>
            </a:pPr>
            <a:r>
              <a:rPr lang="he-IL" sz="1200" b="1"/>
              <a:t>תשובה</a:t>
            </a:r>
          </a:p>
          <a:p>
            <a:pPr marL="0" indent="0" algn="r" rtl="1">
              <a:buNone/>
            </a:pPr>
            <a:r>
              <a:rPr lang="he-IL" sz="1200"/>
              <a:t>•  לא בהכרח.</a:t>
            </a:r>
          </a:p>
          <a:p>
            <a:pPr marL="0" indent="0" algn="r" rtl="1">
              <a:buNone/>
            </a:pPr>
            <a:r>
              <a:rPr lang="he-IL" sz="1200"/>
              <a:t>•  בשני הכרטיסים כתוב אותו מודל.</a:t>
            </a:r>
          </a:p>
          <a:p>
            <a:pPr marL="0" indent="0" algn="r" rtl="1">
              <a:buNone/>
            </a:pPr>
            <a:r>
              <a:rPr lang="he-IL" sz="1200"/>
              <a:t>•  כלי א׳ רואה את כל הפרויקט, מריץ ובודק את עצמו.</a:t>
            </a:r>
          </a:p>
          <a:p>
            <a:pPr marL="0" indent="0" algn="r" rtl="1">
              <a:buNone/>
            </a:pPr>
            <a:r>
              <a:rPr lang="he-IL" sz="1200"/>
              <a:t>•  כלי ב׳ רואה רק מה שהודבק ולא מריץ.</a:t>
            </a:r>
          </a:p>
          <a:p>
            <a:pPr marL="0" indent="0" algn="r" rtl="1">
              <a:buNone/>
            </a:pPr>
            <a:r>
              <a:rPr lang="he-IL" sz="1200"/>
              <a:t>•  ההבדל בתוצאה נובע מהמעטפת ולא מהמודל.</a:t>
            </a:r>
          </a:p>
          <a:p>
            <a:pPr marL="0" indent="0" algn="r" rtl="1">
              <a:buNone/>
            </a:pPr>
            <a:r>
              <a:rPr lang="he-IL" sz="1200" b="1"/>
              <a:t>אנלוגיה</a:t>
            </a:r>
          </a:p>
          <a:p>
            <a:pPr marL="0" indent="0" algn="r" rtl="1">
              <a:buNone/>
            </a:pPr>
            <a:r>
              <a:rPr lang="he-IL" sz="1200"/>
              <a:t>•  אותו אנליסט, פעם עם גישה למסד הנתונים ופעם רק עם צילום מסך.</a:t>
            </a:r>
          </a:p>
          <a:p>
            <a:pPr marL="0" indent="0" algn="r" rtl="1">
              <a:buNone/>
            </a:pPr>
            <a:r>
              <a:rPr lang="he-IL" sz="1200" b="1"/>
              <a:t>שאלה לכיתה</a:t>
            </a:r>
          </a:p>
          <a:p>
            <a:pPr marL="0" indent="0" algn="r" rtl="1">
              <a:buNone/>
            </a:pPr>
            <a:r>
              <a:rPr lang="he-IL" sz="1200"/>
              <a:t>•  מה תבדקו לפני שאתם מסיקים שכלי חלש?</a:t>
            </a:r>
          </a:p>
          <a:p>
            <a:pPr marL="0" indent="0" algn="r" rtl="1">
              <a:buNone/>
            </a:pPr>
            <a:r>
              <a:rPr lang="he-IL" sz="1200" b="1"/>
              <a:t>תשובה</a:t>
            </a:r>
          </a:p>
          <a:p>
            <a:pPr marL="0" indent="0" algn="r" rtl="1">
              <a:buNone/>
            </a:pPr>
            <a:r>
              <a:rPr lang="he-IL" sz="1200"/>
              <a:t>•  האם נתתי לו אותו הקשר ואותה גישה, והאם הרצתי אותו על אותה משימה.</a:t>
            </a:r>
          </a:p>
          <a:p>
            <a:pPr marL="0" indent="0" algn="r" rtl="1">
              <a:buNone/>
            </a:pPr>
            <a:r>
              <a:rPr lang="he-IL" sz="1200"/>
              <a:t>•  הסתייגות חשובה: מודלים כן שונים זה מזה באיכות.</a:t>
            </a:r>
          </a:p>
          <a:p>
            <a:pPr marL="0" indent="0" algn="r" rtl="1">
              <a:buNone/>
            </a:pPr>
            <a:r>
              <a:rPr lang="he-IL" sz="1200"/>
              <a:t>•  אנחנו לא טוענים שאין הבדל, אלא שהבדל בין כלים אינו בהכרח הבדל בין מודלים.</a:t>
            </a:r>
          </a:p>
          <a:p>
            <a:pPr marL="0" indent="0" algn="r" rtl="1">
              <a:buNone/>
            </a:pPr>
            <a:r>
              <a:rPr lang="he-IL" sz="1200"/>
              <a:t>•  אל תבטיחו איזה מודל טוב יותר, כי זה משתנה מהר.</a:t>
            </a:r>
          </a:p>
          <a:p>
            <a:pPr marL="0" indent="0" algn="r" rtl="1">
              <a:buNone/>
            </a:pPr>
            <a:r>
              <a:rPr lang="he-IL" sz="1200" b="1"/>
              <a:t>להעמקה</a:t>
            </a:r>
          </a:p>
          <a:p>
            <a:pPr marL="0" indent="0" algn="r" rtl="1">
              <a:buNone/>
            </a:pPr>
            <a:r>
              <a:rPr lang="he-IL" sz="1200"/>
              <a:t>•  הטענה שההבדל בין כלים אינו בהכרח הבדל בין מודלים נתמכת במחקר על ממשקי סוכנים (SWE-agent) ובתיעוד של Anthropic, אך אין השוואה מבוקרת בין המוצרים עצמם, כי ספקים אינם חושפים את המעטפת.</a:t>
            </a:r>
          </a:p>
          <a:p>
            <a:pPr marL="0" indent="0" algn="r" rtl="1">
              <a:buNone/>
            </a:pPr>
            <a:r>
              <a:rPr lang="he-IL" sz="1200"/>
              <a:t>•  ההמלצה לבדוק לפני שמסיקים היא פרקטיקה.</a:t>
            </a:r>
          </a:p>
          <a:p>
            <a:pPr marL="0" indent="0" algn="r" rtl="1">
              <a:spcBef>
                <a:spcPts val="800"/>
              </a:spcBef>
              <a:buNone/>
            </a:pPr>
            <a:r>
              <a:rPr lang="he-IL" sz="1200" b="1"/>
              <a:t>עדכון MCP</a:t>
            </a:r>
          </a:p>
          <a:p>
            <a:pPr marL="0" indent="0" algn="r" rtl="1">
              <a:buNone/>
            </a:pPr>
            <a:r>
              <a:rPr lang="he-IL" sz="1200" b="0"/>
              <a:t>•  שקף זה סומן אופציונלי כדי לפנות כ־12 דקות לבלוק MCP בלי לגעת בזמני המעבדות.</a:t>
            </a:r>
          </a:p>
          <a:p>
            <a:pPr marL="0" indent="0" algn="r" rtl="1">
              <a:buNone/>
            </a:pPr>
            <a:r>
              <a:rPr lang="he-IL" sz="1200" b="0"/>
              <a:t>•  אפשר לדלג, והמסר ״אותו מודל, מעטפת אחרת״ כבר עלה בשקף ״כלי = מודל + מעטפת״ (כדקה).</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שאלת בדיקה, כ-2 דקות.</a:t>
            </a:r>
          </a:p>
          <a:p>
            <a:pPr marL="0" indent="0" algn="r" rtl="1">
              <a:buNone/>
            </a:pPr>
            <a:r>
              <a:rPr lang="he-IL" sz="1200" b="1"/>
              <a:t>מה אומרים</a:t>
            </a:r>
          </a:p>
          <a:p>
            <a:pPr marL="0" indent="0" algn="r" rtl="1">
              <a:buNone/>
            </a:pPr>
            <a:r>
              <a:rPr lang="he-IL" sz="1200"/>
              <a:t>•  קראו את התרחיש בקול: ביקשו מצ׳אט לתקן באג בפרויקט של 20 קבצים, והוא תיקן קובץ אחד והיה זה הקובץ הלא נכון.</a:t>
            </a:r>
          </a:p>
          <a:p>
            <a:pPr marL="0" indent="0" algn="r" rtl="1">
              <a:buNone/>
            </a:pPr>
            <a:r>
              <a:rPr lang="he-IL" sz="1200"/>
              <a:t>•  תנו לסטודנטים דקה לדון עם השכן, ואז קבלו שתי תשובות.</a:t>
            </a:r>
          </a:p>
          <a:p>
            <a:pPr marL="0" indent="0" algn="r" rtl="1">
              <a:buNone/>
            </a:pPr>
            <a:r>
              <a:rPr lang="he-IL" sz="1200"/>
              <a:t>•  אל תחשפו את התשובה.</a:t>
            </a:r>
          </a:p>
          <a:p>
            <a:pPr marL="0" indent="0" algn="r" rtl="1">
              <a:buNone/>
            </a:pPr>
            <a:r>
              <a:rPr lang="he-IL" sz="1200"/>
              <a:t>•  השאלה בודקת אם הבינו את המושג מה הכלי רואה.</a:t>
            </a:r>
          </a:p>
          <a:p>
            <a:pPr marL="0" indent="0" algn="r" rtl="1">
              <a:buNone/>
            </a:pPr>
            <a:r>
              <a:rPr lang="he-IL" sz="1200"/>
              <a:t>•  אם אין תשובות, שאלו: מה היה כתוב בחלון ההקשר של הצ׳אט?</a:t>
            </a:r>
          </a:p>
          <a:p>
            <a:pPr marL="0" indent="0" algn="r" rtl="1">
              <a:buNone/>
            </a:pPr>
            <a:r>
              <a:rPr lang="he-IL" sz="1200"/>
              <a:t>•  ומה לא היה כתוב שם?</a:t>
            </a:r>
          </a:p>
          <a:p>
            <a:pPr marL="0" indent="0" algn="r" rtl="1">
              <a:buNone/>
            </a:pPr>
            <a:r>
              <a:rPr lang="he-IL" sz="1200" b="1"/>
              <a:t>אנלוגיה</a:t>
            </a:r>
          </a:p>
          <a:p>
            <a:pPr marL="0" indent="0" algn="r" rtl="1">
              <a:buNone/>
            </a:pPr>
            <a:r>
              <a:rPr lang="he-IL" sz="1200"/>
              <a:t>•  רופא שמאבחן לפי תיאור בטלפון, בלי לבדוק את המטופל.</a:t>
            </a:r>
          </a:p>
          <a:p>
            <a:pPr marL="0" indent="0" algn="r" rtl="1">
              <a:buNone/>
            </a:pPr>
            <a:r>
              <a:rPr lang="he-IL" sz="1200"/>
              <a:t>•  זו גם חזרה לשאלות הדיון אחרי ההדגמה בתחילת המפגש.</a:t>
            </a:r>
          </a:p>
          <a:p>
            <a:pPr marL="0" indent="0" algn="r" rtl="1">
              <a:buNone/>
            </a:pPr>
            <a:r>
              <a:rPr lang="he-IL" sz="1200" b="1"/>
              <a:t>חיבור לשיעורים קודמים</a:t>
            </a:r>
          </a:p>
          <a:p>
            <a:pPr marL="0" indent="0" algn="r" rtl="1">
              <a:buNone/>
            </a:pPr>
            <a:r>
              <a:rPr lang="he-IL" sz="1200"/>
              <a:t>•  הקובץ הלא נכון הוא תוצאה של חלון הקשר שלא כלל את הקובץ הנכון (מפגש 2): מה שלא נכנס לחלון אינו קיים מבחינת המודל.</a:t>
            </a:r>
          </a:p>
          <a:p>
            <a:pPr marL="0" indent="0" algn="r" rtl="1">
              <a:buNone/>
            </a:pPr>
            <a:r>
              <a:rPr lang="he-IL" sz="1200" b="1"/>
              <a:t>שאלת היזכרות</a:t>
            </a:r>
          </a:p>
          <a:p>
            <a:pPr marL="0" indent="0" algn="r" rtl="1">
              <a:buNone/>
            </a:pPr>
            <a:r>
              <a:rPr lang="he-IL" sz="1200"/>
              <a:t>•  ״מה המודל עושה כשחסר לו מידע?״ תשובה: מנחש תשובה סבירה, כי אין לו מנגנון ל״לא יודע״ (מפגש 1).</a:t>
            </a:r>
          </a:p>
          <a:p>
            <a:pPr marL="0" indent="0" algn="r" rtl="1">
              <a:buNone/>
            </a:pPr>
            <a:r>
              <a:rPr lang="he-IL" sz="1200"/>
              <a:t>•  אם לא זוכרים, חזרו לשקף השרשרת.</a:t>
            </a:r>
          </a:p>
          <a:p>
            <a:pPr marL="0" indent="0" algn="r" rtl="1">
              <a:spcBef>
                <a:spcPts val="800"/>
              </a:spcBef>
              <a:buNone/>
            </a:pPr>
            <a:r>
              <a:rPr lang="he-IL" sz="1200" b="1"/>
              <a:t>עדכון MCP</a:t>
            </a:r>
          </a:p>
          <a:p>
            <a:pPr marL="0" indent="0" algn="r" rtl="1">
              <a:buNone/>
            </a:pPr>
            <a:r>
              <a:rPr lang="he-IL" sz="1200" b="0"/>
              <a:t>•  שקף זה סומן אופציונלי כדי לפנות כ־12 דקות לבלוק MCP בלי לגעת בזמני המעבדות.</a:t>
            </a:r>
          </a:p>
          <a:p>
            <a:pPr marL="0" indent="0" algn="r" rtl="1">
              <a:buNone/>
            </a:pPr>
            <a:r>
              <a:rPr lang="he-IL" sz="1200" b="0"/>
              <a:t>•  אפשר לדלג על שאלת הבדיקה ועל התשובה שאחריה אם חלק א׳ התארך (כדקה לכל שקף).</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תשובה.</a:t>
            </a:r>
          </a:p>
          <a:p>
            <a:pPr marL="0" indent="0" algn="r" rtl="1">
              <a:buNone/>
            </a:pPr>
            <a:r>
              <a:rPr lang="he-IL" sz="1200" b="1"/>
              <a:t>מה אומרים</a:t>
            </a:r>
          </a:p>
          <a:p>
            <a:pPr marL="0" indent="0" algn="r" rtl="1">
              <a:buNone/>
            </a:pPr>
            <a:r>
              <a:rPr lang="he-IL" sz="1200"/>
              <a:t>•  הצ׳אט ראה רק את מה שהודבק, ולא את 19 הקבצים האחרים, ולכן ניחש היכן הבאג.</a:t>
            </a:r>
          </a:p>
          <a:p>
            <a:pPr marL="0" indent="0" algn="r" rtl="1">
              <a:buNone/>
            </a:pPr>
            <a:r>
              <a:rPr lang="he-IL" sz="1200"/>
              <a:t>•  שתי דרכים לפתור: להדביק בעצמכם את הקבצים הרלוונטיים ואת הודעת השגיאה המלאה, או להשתמש בכלי שרואה את הפרויקט, כלומר עוזר בעורך או סוכן.</a:t>
            </a:r>
          </a:p>
          <a:p>
            <a:pPr marL="0" indent="0" algn="r" rtl="1">
              <a:buNone/>
            </a:pPr>
            <a:r>
              <a:rPr lang="he-IL" sz="1200"/>
              <a:t>•  עצה נוספת: לפרק משימה גדולה למשימות קטנות.</a:t>
            </a:r>
          </a:p>
          <a:p>
            <a:pPr marL="0" indent="0" algn="r" rtl="1">
              <a:buNone/>
            </a:pPr>
            <a:r>
              <a:rPr lang="he-IL" sz="1200" b="1"/>
              <a:t>טעות נפוצה</a:t>
            </a:r>
          </a:p>
          <a:p>
            <a:pPr marL="0" indent="0" algn="r" rtl="1">
              <a:buNone/>
            </a:pPr>
            <a:r>
              <a:rPr lang="he-IL" sz="1200"/>
              <a:t>•  לכתוב תקן את הבאג, בלי הודעת שגיאה ובלי קוד.</a:t>
            </a:r>
          </a:p>
          <a:p>
            <a:pPr marL="0" indent="0" algn="r" rtl="1">
              <a:buNone/>
            </a:pPr>
            <a:r>
              <a:rPr lang="he-IL" sz="1200" b="1"/>
              <a:t>אנלוגיה</a:t>
            </a:r>
          </a:p>
          <a:p>
            <a:pPr marL="0" indent="0" algn="r" rtl="1">
              <a:buNone/>
            </a:pPr>
            <a:r>
              <a:rPr lang="he-IL" sz="1200"/>
              <a:t>•  מוקד שירות שמקבל תלונה בלי מספר הזמנה.</a:t>
            </a:r>
          </a:p>
          <a:p>
            <a:pPr marL="0" indent="0" algn="r" rtl="1">
              <a:buNone/>
            </a:pPr>
            <a:r>
              <a:rPr lang="he-IL" sz="1200"/>
              <a:t>•  קשרו חזרה לשקפים 2 ו-3: עכשיו יש להם מסגרת להסביר את ההבדלים שראו בהדגמה.</a:t>
            </a:r>
          </a:p>
          <a:p>
            <a:pPr marL="0" indent="0" algn="r" rtl="1">
              <a:buNone/>
            </a:pPr>
            <a:r>
              <a:rPr lang="he-IL" sz="1200" b="1"/>
              <a:t>חיבור לשיעורים קודמים</a:t>
            </a:r>
          </a:p>
          <a:p>
            <a:pPr marL="0" indent="0" algn="r" rtl="1">
              <a:buNone/>
            </a:pPr>
            <a:r>
              <a:rPr lang="he-IL" sz="1200"/>
              <a:t>•  מפגש 4, הקשר.</a:t>
            </a:r>
          </a:p>
          <a:p>
            <a:pPr marL="0" indent="0" algn="r" rtl="1">
              <a:buNone/>
            </a:pPr>
            <a:r>
              <a:rPr lang="he-IL" sz="1200"/>
              <a:t>•  זה סוף חלק א׳.</a:t>
            </a:r>
          </a:p>
          <a:p>
            <a:pPr marL="0" indent="0" algn="r" rtl="1">
              <a:buNone/>
            </a:pPr>
            <a:r>
              <a:rPr lang="he-IL" sz="1200"/>
              <a:t>•  ממשיכים בשקפי ההעשרה (אופציונליים) ובשקף הגשר ״לבדוק לפני שסומכים״, ואז למעבדה א׳.</a:t>
            </a:r>
          </a:p>
          <a:p>
            <a:pPr marL="0" indent="0" algn="r" rtl="1">
              <a:spcBef>
                <a:spcPts val="800"/>
              </a:spcBef>
              <a:buNone/>
            </a:pPr>
            <a:r>
              <a:rPr lang="he-IL" sz="1200" b="1"/>
              <a:t>עדכון MCP</a:t>
            </a:r>
          </a:p>
          <a:p>
            <a:pPr marL="0" indent="0" algn="r" rtl="1">
              <a:buNone/>
            </a:pPr>
            <a:r>
              <a:rPr lang="he-IL" sz="1200" b="0"/>
              <a:t>•  שקף זה סומן אופציונלי כדי לפנות כ־12 דקות לבלוק MCP בלי לגעת בזמני המעבדות.</a:t>
            </a:r>
          </a:p>
          <a:p>
            <a:pPr marL="0" indent="0" algn="r" rtl="1">
              <a:buNone/>
            </a:pPr>
            <a:r>
              <a:rPr lang="he-IL" sz="1200" b="0"/>
              <a:t>•  אפשר לדלג יחד עם השקף הקודם.</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 אפשר לדלג.</a:t>
            </a:r>
          </a:p>
          <a:p>
            <a:pPr marL="0" indent="0" algn="r" rtl="1">
              <a:buNone/>
            </a:pPr>
            <a:r>
              <a:rPr lang="he-IL" sz="1200" b="1"/>
              <a:t>מה אומרים</a:t>
            </a:r>
          </a:p>
          <a:p>
            <a:pPr marL="0" indent="0" algn="r" rtl="1">
              <a:buNone/>
            </a:pPr>
            <a:r>
              <a:rPr lang="he-IL" sz="1200"/>
              <a:t>•  השקף מפרק את מושג המעטפת מחלק א׳ לשלושה תפקידים.</a:t>
            </a:r>
          </a:p>
          <a:p>
            <a:pPr marL="0" indent="0" algn="r" rtl="1">
              <a:buNone/>
            </a:pPr>
            <a:r>
              <a:rPr lang="he-IL" sz="1200"/>
              <a:t>•  אחד, בניית ההקשר: המעטפת מחליטה מה נכנס לחלון בכל קריאה למודל, כלומר הוראות מערכת, שיחה, קבצים והגדרות הכלים.</a:t>
            </a:r>
          </a:p>
          <a:p>
            <a:pPr marL="0" indent="0" algn="r" rtl="1">
              <a:buNone/>
            </a:pPr>
            <a:r>
              <a:rPr lang="he-IL" sz="1200"/>
              <a:t>•  שניים, הכלים: המודל אינו מריץ דבר בעצמו, הוא מפיק בקשה (למשל ״קרא את הקובץ הזה״), והמעטפת מבצעת אותה ומחזירה את התוצאה לחלון.</a:t>
            </a:r>
          </a:p>
          <a:p>
            <a:pPr marL="0" indent="0" algn="r" rtl="1">
              <a:buNone/>
            </a:pPr>
            <a:r>
              <a:rPr lang="he-IL" sz="1200"/>
              <a:t>•  שלושה, גבולות: הרשאות, אישורים ובידוד קובעים מה המעטפת מבצעת בפועל.</a:t>
            </a:r>
          </a:p>
          <a:p>
            <a:pPr marL="0" indent="0" algn="r" rtl="1">
              <a:buNone/>
            </a:pPr>
            <a:r>
              <a:rPr lang="he-IL" sz="1200"/>
              <a:t>•  ההבחנה לפי Anthropic (Building effective agents, דצמבר 2024): ב־workflow מסלול הקוד קבוע מראש, ובסוכן המודל מכוון בעצמו את התהליך ואת השימוש בכלים; לכן סוכן מתאים לבעיות פתוחות שבהן אי אפשר לדעת מראש כמה צעדים יידרשו, במחיר של עלות וסיכון מצטבר.</a:t>
            </a:r>
          </a:p>
          <a:p>
            <a:pPr marL="0" indent="0" algn="r" rtl="1">
              <a:buNone/>
            </a:pPr>
            <a:r>
              <a:rPr lang="he-IL" sz="1200"/>
              <a:t>•  עדות מחקרית לכך שהמעטפת משפיעה: מאמר SWE-agent (Yang ועמיתים, NeurIPS 2024) טוען שסוכן מודל שפה הוא סוג חדש של משתמש וצריך ממשק שתוכנן בשבילו (ACI, ממשק סוכן־מחשב), ומדווח שהממשק שיפר את יכולתו לערוך קבצים, לנווט במאגר ולהריץ בדיקות.</a:t>
            </a:r>
          </a:p>
          <a:p>
            <a:pPr marL="0" indent="0" algn="r" rtl="1">
              <a:buNone/>
            </a:pPr>
            <a:r>
              <a:rPr lang="he-IL" sz="1200"/>
              <a:t>•  התוצאה שדווחה אז (12.5% מהבעיות ב־SWE-bench) מיושנת, ומאז מדווחים ציונים גבוהים בהרבה.</a:t>
            </a:r>
          </a:p>
          <a:p>
            <a:pPr marL="0" indent="0" algn="r" rtl="1">
              <a:buNone/>
            </a:pPr>
            <a:r>
              <a:rPr lang="he-IL" sz="1200"/>
              <a:t>•  גם Anthropic ממליצה להשקיע בתיעוד ובבדיקה של הכלים כמו בממשק משתמש.</a:t>
            </a:r>
          </a:p>
          <a:p>
            <a:pPr marL="0" indent="0" algn="r" rtl="1">
              <a:buNone/>
            </a:pPr>
            <a:r>
              <a:rPr lang="he-IL" sz="1200"/>
              <a:t>•  זו עדות לכך שהמעטפת חשובה, ולא הוכחה שכלי מסוים טוב מאחר: ספקים מסחריים אינם מפרסמים את המעטפת המלאה.</a:t>
            </a:r>
          </a:p>
          <a:p>
            <a:pPr marL="0" indent="0" algn="r" rtl="1">
              <a:buNone/>
            </a:pPr>
            <a:r>
              <a:rPr lang="he-IL" sz="1200" b="1"/>
              <a:t>שאלה לכיתה</a:t>
            </a:r>
          </a:p>
          <a:p>
            <a:pPr marL="0" indent="0" algn="r" rtl="1">
              <a:buNone/>
            </a:pPr>
            <a:r>
              <a:rPr lang="he-IL" sz="1200"/>
              <a:t>•  אילו שלושה דברים הייתם משנים במעטפת כדי להקטין סיכון?</a:t>
            </a:r>
          </a:p>
          <a:p>
            <a:pPr marL="0" indent="0" algn="r" rtl="1">
              <a:buNone/>
            </a:pPr>
            <a:r>
              <a:rPr lang="he-IL" sz="1200"/>
              <a:t>•  תשובה אפשרית: אישור לפני הרצה, הגבלה לתיקיית הפרויקט, ורשימת פקודות חסומות.</a:t>
            </a:r>
          </a:p>
          <a:p>
            <a:pPr marL="0" indent="0" algn="r" rtl="1">
              <a:buNone/>
            </a:pPr>
            <a:r>
              <a:rPr lang="he-IL" sz="1200" b="1"/>
              <a:t>מתי לדלג</a:t>
            </a:r>
          </a:p>
          <a:p>
            <a:pPr marL="0" indent="0" algn="r" rtl="1">
              <a:buNone/>
            </a:pPr>
            <a:r>
              <a:rPr lang="he-IL" sz="1200"/>
              <a:t>•  אם חלק א׳ התארך.</a:t>
            </a:r>
          </a:p>
          <a:p>
            <a:pPr marL="0" indent="0" algn="r" rtl="1">
              <a:buNone/>
            </a:pPr>
            <a:r>
              <a:rPr lang="he-IL" sz="1200" b="1"/>
              <a:t>מקורות</a:t>
            </a:r>
          </a:p>
          <a:p>
            <a:pPr marL="0" indent="0" algn="r" rtl="1">
              <a:buNone/>
            </a:pPr>
            <a:r>
              <a:rPr lang="he-IL" sz="1200"/>
              <a:t>•  Yang et al.</a:t>
            </a:r>
          </a:p>
          <a:p>
            <a:pPr marL="0" indent="0" algn="r" rtl="1">
              <a:buNone/>
            </a:pPr>
            <a:r>
              <a:rPr lang="he-IL" sz="1200"/>
              <a:t>•  2024, arXiv 2405.15793; Anthropic Engineering, Building effective agents.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 ברמה מושגית בלבד.</a:t>
            </a:r>
          </a:p>
          <a:p>
            <a:pPr marL="0" indent="0" algn="r" rtl="1">
              <a:buNone/>
            </a:pPr>
            <a:r>
              <a:rPr lang="he-IL" sz="1200" b="1"/>
              <a:t>מה אומרים</a:t>
            </a:r>
          </a:p>
          <a:p>
            <a:pPr marL="0" indent="0" algn="r" rtl="1">
              <a:buNone/>
            </a:pPr>
            <a:r>
              <a:rPr lang="he-IL" sz="1200"/>
              <a:t>•  שלושה רעיונות.</a:t>
            </a:r>
          </a:p>
          <a:p>
            <a:pPr marL="0" indent="0" algn="r" rtl="1">
              <a:buNone/>
            </a:pPr>
            <a:r>
              <a:rPr lang="he-IL" sz="1200"/>
              <a:t>•  אחד: חלון ההקשר סופי.</a:t>
            </a:r>
          </a:p>
          <a:p>
            <a:pPr marL="0" indent="0" algn="r" rtl="1">
              <a:buNone/>
            </a:pPr>
            <a:r>
              <a:rPr lang="he-IL" sz="1200"/>
              <a:t>•  המחקר Lost in the Middle (Liu ועמיתים, TACL 2024) מצא שדיוק המודלים יורד כשהמידע הרלוונטי נמצא באמצע קלט ארוך, גם במודלים שנועדו להקשר ארוך.</a:t>
            </a:r>
          </a:p>
          <a:p>
            <a:pPr marL="0" indent="0" algn="r" rtl="1">
              <a:buNone/>
            </a:pPr>
            <a:r>
              <a:rPr lang="he-IL" sz="1200"/>
              <a:t>•  Anthropic (הנדסת הקשר, ספטמבר 2025) מתארת ״התפרקות הקשר״ (context rot): ככל שהחלון מתמלא, היכולת לשלוף פרט מדויק פוחתת, ולכן המטרה היא לתת למודל את הקבוצה הקטנה ביותר של מידע רלוונטי.</a:t>
            </a:r>
          </a:p>
          <a:p>
            <a:pPr marL="0" indent="0" algn="r" rtl="1">
              <a:buNone/>
            </a:pPr>
            <a:r>
              <a:rPr lang="he-IL" sz="1200"/>
              <a:t>•  שניים: שתי טכניקות שמתוארות באותו מסמך: טעינה לפי דרישה (במקום להכניס את כל הקבצים מראש, הסוכן שומר הפניות כמו שמות קבצים ושולף כשצריך), וצמצום (compaction): סיכום השיחה כשהחלון מתמלא והמשך בחלון חדש.</a:t>
            </a:r>
          </a:p>
          <a:p>
            <a:pPr marL="0" indent="0" algn="r" rtl="1">
              <a:buNone/>
            </a:pPr>
            <a:r>
              <a:rPr lang="he-IL" sz="1200"/>
              <a:t>•  אלה דוגמאות לאופן שבו מעטפת יכולה לנהל הקשר, ואי אפשר לדעת מבחוץ איזו שיטה פועלת בכלי מסוים.</a:t>
            </a:r>
          </a:p>
          <a:p>
            <a:pPr marL="0" indent="0" algn="r" rtl="1">
              <a:buNone/>
            </a:pPr>
            <a:r>
              <a:rPr lang="he-IL" sz="1200"/>
              <a:t>•  שלושה: MCP (Model Context Protocol) הוא תקן פתוח, שהוצג בנובמבר 2024, לחיבור יישומי AI למקורות מידע ולכלים.</a:t>
            </a:r>
          </a:p>
          <a:p>
            <a:pPr marL="0" indent="0" algn="r" rtl="1">
              <a:buNone/>
            </a:pPr>
            <a:r>
              <a:rPr lang="he-IL" sz="1200"/>
              <a:t>•  לפי המפרט הרשמי: מארח (host) מנהל כמה לקוחות, כל לקוח מחובר לשרת אחד, והשרת חושף משאבים, כלים ותבניות פרומפט.</a:t>
            </a:r>
          </a:p>
          <a:p>
            <a:pPr marL="0" indent="0" algn="r" rtl="1">
              <a:buNone/>
            </a:pPr>
            <a:r>
              <a:rPr lang="he-IL" sz="1200"/>
              <a:t>•  בדצמבר 2025 הועבר MCP לקרן Agentic AI Foundation תחת Linux Foundation, ו־Anthropic מדווחת על יותר מ־10,000 שרתים ציבוריים פעילים.</a:t>
            </a:r>
          </a:p>
          <a:p>
            <a:pPr marL="0" indent="0" algn="r" rtl="1">
              <a:buNone/>
            </a:pPr>
            <a:r>
              <a:rPr lang="he-IL" sz="1200" b="1"/>
              <a:t>אנלוגיה</a:t>
            </a:r>
          </a:p>
          <a:p>
            <a:pPr marL="0" indent="0" algn="r" rtl="1">
              <a:buNone/>
            </a:pPr>
            <a:r>
              <a:rPr lang="he-IL" sz="1200"/>
              <a:t>•  MCP הוא כמו תקן של שקע חשמלי, במקום מתאם נפרד לכל מכשיר.</a:t>
            </a:r>
          </a:p>
          <a:p>
            <a:pPr marL="0" indent="0" algn="r" rtl="1">
              <a:buNone/>
            </a:pPr>
            <a:r>
              <a:rPr lang="he-IL" sz="1200"/>
              <a:t>•  סיכון: כל שרת MCP שמחברים הוא עוד נתיב שבו מידע יוצא או נכנס, ולכן כללי הפרטיות מחלק ב׳ חלים גם עליו.</a:t>
            </a:r>
          </a:p>
          <a:p>
            <a:pPr marL="0" indent="0" algn="r" rtl="1">
              <a:buNone/>
            </a:pPr>
            <a:r>
              <a:rPr lang="he-IL" sz="1200"/>
              <a:t>•  הקורס אינו דורש לבנות שרת MCP.</a:t>
            </a:r>
          </a:p>
          <a:p>
            <a:pPr marL="0" indent="0" algn="r" rtl="1">
              <a:buNone/>
            </a:pPr>
            <a:r>
              <a:rPr lang="he-IL" sz="1200" b="1"/>
              <a:t>שאלה לכיתה</a:t>
            </a:r>
          </a:p>
          <a:p>
            <a:pPr marL="0" indent="0" algn="r" rtl="1">
              <a:buNone/>
            </a:pPr>
            <a:r>
              <a:rPr lang="he-IL" sz="1200"/>
              <a:t>•  למה לא להדביק לצ׳אט את כל הפרויקט?</a:t>
            </a:r>
          </a:p>
          <a:p>
            <a:pPr marL="0" indent="0" algn="r" rtl="1">
              <a:buNone/>
            </a:pPr>
            <a:r>
              <a:rPr lang="he-IL" sz="1200" b="1"/>
              <a:t>תשובה</a:t>
            </a:r>
          </a:p>
          <a:p>
            <a:pPr marL="0" indent="0" algn="r" rtl="1">
              <a:buNone/>
            </a:pPr>
            <a:r>
              <a:rPr lang="he-IL" sz="1200"/>
              <a:t>•  אין מקום, ובנוסף יותר רעש פוגע בדיוק.</a:t>
            </a:r>
          </a:p>
          <a:p>
            <a:pPr marL="0" indent="0" algn="r" rtl="1">
              <a:buNone/>
            </a:pPr>
            <a:r>
              <a:rPr lang="he-IL" sz="1200" b="1"/>
              <a:t>מתי לדלג</a:t>
            </a:r>
          </a:p>
          <a:p>
            <a:pPr marL="0" indent="0" algn="r" rtl="1">
              <a:buNone/>
            </a:pPr>
            <a:r>
              <a:rPr lang="he-IL" sz="1200"/>
              <a:t>•  בזמן קצר.</a:t>
            </a:r>
          </a:p>
          <a:p>
            <a:pPr marL="0" indent="0" algn="r" rtl="1">
              <a:buNone/>
            </a:pPr>
            <a:r>
              <a:rPr lang="he-IL" sz="1200" b="1"/>
              <a:t>מקורות</a:t>
            </a:r>
          </a:p>
          <a:p>
            <a:pPr marL="0" indent="0" algn="r" rtl="1">
              <a:buNone/>
            </a:pPr>
            <a:r>
              <a:rPr lang="he-IL" sz="1200"/>
              <a:t>•  Liu et al.</a:t>
            </a:r>
          </a:p>
          <a:p>
            <a:pPr marL="0" indent="0" algn="r" rtl="1">
              <a:buNone/>
            </a:pPr>
            <a:r>
              <a:rPr lang="he-IL" sz="1200"/>
              <a:t>•  2024; Anthropic Engineering 2025; modelcontextprotocol.io.</a:t>
            </a:r>
          </a:p>
          <a:p>
            <a:pPr marL="0" indent="0" algn="r" rtl="1">
              <a:spcBef>
                <a:spcPts val="800"/>
              </a:spcBef>
              <a:buNone/>
            </a:pPr>
            <a:r>
              <a:rPr lang="he-IL" sz="1200" b="1"/>
              <a:t>עדכון MCP</a:t>
            </a:r>
          </a:p>
          <a:p>
            <a:pPr marL="0" indent="0" algn="r" rtl="1">
              <a:buNone/>
            </a:pPr>
            <a:r>
              <a:rPr lang="he-IL" sz="1200" b="0"/>
              <a:t>•  הרחבה על MCP, כולל מבנה, רצף הודעות ואבטחה, נמצאת בבלוק הליבה בשקפים 35 עד 44 ובשקפי ההעשרה בסוף המפגש.</a:t>
            </a:r>
          </a:p>
          <a:p>
            <a:pPr marL="0" indent="0" algn="r" rtl="1">
              <a:buNone/>
            </a:pPr>
            <a:r>
              <a:rPr lang="he-IL" sz="1200" b="0"/>
              <a:t>•  שקף זה נשאר כהקדמה קצרה להקשר.</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גשר למעבדה א׳, כדקה וחצי, חלק מתקציב חלק א׳.</a:t>
            </a:r>
          </a:p>
          <a:p>
            <a:pPr marL="0" indent="0" algn="r" rtl="1">
              <a:buNone/>
            </a:pPr>
            <a:r>
              <a:rPr lang="he-IL" sz="1200" b="1"/>
              <a:t>מה אומרים</a:t>
            </a:r>
          </a:p>
          <a:p>
            <a:pPr marL="0" indent="0" algn="r" rtl="1">
              <a:buNone/>
            </a:pPr>
            <a:r>
              <a:rPr lang="he-IL" sz="1200"/>
              <a:t>•  הרעיון המרכזי: ריצה בלי שגיאה אינה הוכחה לנכונות.</a:t>
            </a:r>
          </a:p>
          <a:p>
            <a:pPr marL="0" indent="0" algn="r" rtl="1">
              <a:buNone/>
            </a:pPr>
            <a:r>
              <a:rPr lang="he-IL" sz="1200"/>
              <a:t>•  בצ׳אט אתם ההקשר, ולכן כשחסר לכלי מידע הוא מנחש, והניחוש נראה כמו תשובה.</a:t>
            </a:r>
          </a:p>
          <a:p>
            <a:pPr marL="0" indent="0" algn="r" rtl="1">
              <a:buNone/>
            </a:pPr>
            <a:r>
              <a:rPr lang="he-IL" sz="1200"/>
              <a:t>•  הדרך לתפוס זאת היא מבחן: ציפייה שנכתבה מראש, על סמך ידע עצמאי על התשובה, והשוואה אוטומטית של תוצאת הכלי אליה.</a:t>
            </a:r>
          </a:p>
          <a:p>
            <a:pPr marL="0" indent="0" algn="r" rtl="1">
              <a:buNone/>
            </a:pPr>
            <a:r>
              <a:rPr lang="he-IL" sz="1200"/>
              <a:t>•  בהנדסת תוכנה קוראים לתשובה הידועה מראש ״אורקל בדיקה״ (test oracle).</a:t>
            </a:r>
          </a:p>
          <a:p>
            <a:pPr marL="0" indent="0" algn="r" rtl="1">
              <a:buNone/>
            </a:pPr>
            <a:r>
              <a:rPr lang="he-IL" sz="1200"/>
              <a:t>•  הדוגמה בכרטיס השמאלי היא נתונים מומצאים להסבר: מוצר א׳ נמכר פעמיים ב־100 (הכנסה 200), ומוצר ב׳ נמכר 10 פעמים ב־5 (הכנסה 50).</a:t>
            </a:r>
          </a:p>
          <a:p>
            <a:pPr marL="0" indent="0" algn="r" rtl="1">
              <a:buNone/>
            </a:pPr>
            <a:r>
              <a:rPr lang="he-IL" sz="1200"/>
              <a:t>•  מי שסכם כמות יציג את ב׳ ראשון, ומי שסכם הכנסה יציג את א׳.</a:t>
            </a:r>
          </a:p>
          <a:p>
            <a:pPr marL="0" indent="0" algn="r" rtl="1">
              <a:buNone/>
            </a:pPr>
            <a:r>
              <a:rPr lang="he-IL" sz="1200"/>
              <a:t>•  שני הגרפים נראים סבירים, ורק מבחן שיודע מהי הכנסה חושף את ההבדל.</a:t>
            </a:r>
          </a:p>
          <a:p>
            <a:pPr marL="0" indent="0" algn="r" rtl="1">
              <a:buNone/>
            </a:pPr>
            <a:r>
              <a:rPr lang="he-IL" sz="1200"/>
              <a:t>•  אל תגלו את התוצאה במעבדה: הסטודנטים יגלו אותה בעצמם.</a:t>
            </a:r>
          </a:p>
          <a:p>
            <a:pPr marL="0" indent="0" algn="r" rtl="1">
              <a:buNone/>
            </a:pPr>
            <a:r>
              <a:rPr lang="he-IL" sz="1200" b="1"/>
              <a:t>שאלה לכיתה</a:t>
            </a:r>
          </a:p>
          <a:p>
            <a:pPr marL="0" indent="0" algn="r" rtl="1">
              <a:buNone/>
            </a:pPr>
            <a:r>
              <a:rPr lang="he-IL" sz="1200"/>
              <a:t>•  מה צריך לדעת כדי לכתוב מבחן?</a:t>
            </a:r>
          </a:p>
          <a:p>
            <a:pPr marL="0" indent="0" algn="r" rtl="1">
              <a:buNone/>
            </a:pPr>
            <a:r>
              <a:rPr lang="he-IL" sz="1200" b="1"/>
              <a:t>תשובה</a:t>
            </a:r>
          </a:p>
          <a:p>
            <a:pPr marL="0" indent="0" algn="r" rtl="1">
              <a:buNone/>
            </a:pPr>
            <a:r>
              <a:rPr lang="he-IL" sz="1200"/>
              <a:t>•  תשובה נכונה לדוגמה קטנה שאפשר לחשב ביד, או תכונות שחייבות להתקיים, כמו כמה פריטים יש ואם הם ממוינים.</a:t>
            </a:r>
          </a:p>
          <a:p>
            <a:pPr marL="0" indent="0" algn="r" rtl="1">
              <a:buNone/>
            </a:pPr>
            <a:r>
              <a:rPr lang="he-IL" sz="1200"/>
              <a:t>•  גבול חשוב: מבחן תופס רק מה שנכתב בו, ולכן מוסיפים כמה מקרים ולא סומכים על בדיקה אחת.</a:t>
            </a:r>
          </a:p>
          <a:p>
            <a:pPr marL="0" indent="0" algn="r" rtl="1">
              <a:buNone/>
            </a:pPr>
            <a:r>
              <a:rPr lang="he-IL" sz="1200" b="1"/>
              <a:t>טעות נפוצה</a:t>
            </a:r>
          </a:p>
          <a:p>
            <a:pPr marL="0" indent="0" algn="r" rtl="1">
              <a:buNone/>
            </a:pPr>
            <a:r>
              <a:rPr lang="he-IL" sz="1200"/>
              <a:t>•  להסיק שמבחן שעבר מוכיח שהקוד נכון.</a:t>
            </a:r>
          </a:p>
          <a:p>
            <a:pPr marL="0" indent="0" algn="r" rtl="1">
              <a:buNone/>
            </a:pPr>
            <a:r>
              <a:rPr lang="he-IL" sz="1200"/>
              <a:t>•  הוא מוכיח רק שלא נמצאה בעיה באותן בדיקות.</a:t>
            </a:r>
          </a:p>
          <a:p>
            <a:pPr marL="0" indent="0" algn="r" rtl="1">
              <a:buNone/>
            </a:pPr>
            <a:r>
              <a:rPr lang="he-IL" sz="1200" b="1"/>
              <a:t>חיבור לשיעורים קודמים</a:t>
            </a:r>
          </a:p>
          <a:p>
            <a:pPr marL="0" indent="0" algn="r" rtl="1">
              <a:buNone/>
            </a:pPr>
            <a:r>
              <a:rPr lang="he-IL" sz="1200"/>
              <a:t>•  ההבחנה בין ״עבר את הבדיקות״ לבין ״נכון״ חוזרת בשקף ההעשרה על SWE-bench.</a:t>
            </a:r>
          </a:p>
          <a:p>
            <a:pPr marL="0" indent="0" algn="r" rtl="1">
              <a:buNone/>
            </a:pPr>
            <a:r>
              <a:rPr lang="he-IL" sz="1200" b="1"/>
              <a:t>להעמקה</a:t>
            </a:r>
          </a:p>
          <a:p>
            <a:pPr marL="0" indent="0" algn="r" rtl="1">
              <a:buNone/>
            </a:pPr>
            <a:r>
              <a:rPr lang="he-IL" sz="1200"/>
              <a:t>•  העובדה היא שקוד יכול לרוץ ולתת תשובה שגויה (נראה זאת במעבדה בנתונים אמיתיים); ההמלצה לכתוב מבחן לפני שסומכים היא פרקטיקה מקובלת בהנדסת תוכנה.</a:t>
            </a:r>
          </a:p>
          <a:p>
            <a:pPr marL="0" indent="0" algn="r" rtl="1">
              <a:buNone/>
            </a:pPr>
            <a:r>
              <a:rPr lang="he-IL" sz="1200" b="1"/>
              <a:t>חיבור לשיעורים קודמים</a:t>
            </a:r>
          </a:p>
          <a:p>
            <a:pPr marL="0" indent="0" algn="r" rtl="1">
              <a:buNone/>
            </a:pPr>
            <a:r>
              <a:rPr lang="he-IL" sz="1200"/>
              <a:t>•  שלושת הכרטיסים ממשיכים כללים קודמים.</a:t>
            </a:r>
          </a:p>
          <a:p>
            <a:pPr marL="0" indent="0" algn="r" rtl="1">
              <a:buNone/>
            </a:pPr>
            <a:r>
              <a:rPr lang="he-IL" sz="1200"/>
              <a:t>•  ״רץ ≠ נכון״ הוא הכלל ממפגש 1: קוראים, מבינים ובודקים, ולא מסתפקים בכך שהקוד עבד.</a:t>
            </a:r>
          </a:p>
          <a:p>
            <a:pPr marL="0" indent="0" algn="r" rtl="1">
              <a:buNone/>
            </a:pPr>
            <a:r>
              <a:rPr lang="he-IL" sz="1200"/>
              <a:t>•  ״מבחן קטן״ מיישם בקוד את הכלל ״לא ראיתם בתיעוד ולא הרצתם בהצלחה = לא לסמוך״ (נאמר במפגש 1 וחזר במפגש 2).</a:t>
            </a:r>
          </a:p>
          <a:p>
            <a:pPr marL="0" indent="0" algn="r" rtl="1">
              <a:buNone/>
            </a:pPr>
            <a:r>
              <a:rPr lang="he-IL" sz="1200"/>
              <a:t>•  ממפגש 1 גם הדוגמה של הממוצע: הקוד עבד, ורק קלט קצה (רשימה ריקה) חשף את הבעיה.</a:t>
            </a:r>
          </a:p>
          <a:p>
            <a:pPr marL="0" indent="0" algn="r" rtl="1">
              <a:buNone/>
            </a:pPr>
            <a:r>
              <a:rPr lang="he-IL" sz="1200" b="1"/>
              <a:t>שאלת היזכרות</a:t>
            </a:r>
          </a:p>
          <a:p>
            <a:pPr marL="0" indent="0" algn="r" rtl="1">
              <a:buNone/>
            </a:pPr>
            <a:r>
              <a:rPr lang="he-IL" sz="1200"/>
              <a:t>•  ״איזה מקרה קצה ראינו בממוצע של רשימה?״ תשובה: רשימה ריקה.</a:t>
            </a:r>
          </a:p>
          <a:p>
            <a:pPr marL="0" indent="0" algn="r" rtl="1">
              <a:buNone/>
            </a:pPr>
            <a:r>
              <a:rPr lang="he-IL" sz="1200"/>
              <a:t>•  אם לא זוכרים, ספרו על הדוגמה בקצרה.</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a:t>📎 הקובץ הנדרש לתרגול, כדקה. 13 דקות</a:t>
            </a:r>
          </a:p>
          <a:p>
            <a:pPr marL="0" indent="0" algn="r" rtl="1">
              <a:buNone/>
            </a:pPr>
            <a:r>
              <a:rPr lang="he-IL"/>
              <a:t>מה אומרים</a:t>
            </a:r>
          </a:p>
          <a:p>
            <a:pPr marL="0" indent="0" algn="r" rtl="1">
              <a:buNone/>
            </a:pPr>
            <a:r>
              <a:rPr lang="he-IL"/>
              <a:t>• הקובץ לתרגול הזה: HM_05.ipynb. חלק א׳: לבדוק לפני שסומכים.</a:t>
            </a:r>
          </a:p>
          <a:p>
            <a:pPr marL="0" indent="0" algn="r" rtl="1">
              <a:buNone/>
            </a:pPr>
            <a:r>
              <a:rPr lang="he-IL"/>
              <a:t>• כל המעבדות של המפגש נעשות באותו קובץ. כל מעבדה היא חלק אחר בתוכו.</a:t>
            </a:r>
          </a:p>
          <a:p>
            <a:pPr marL="0" indent="0" algn="r" rtl="1">
              <a:buNone/>
            </a:pPr>
            <a:r>
              <a:rPr lang="he-IL"/>
              <a:t>• הנתונים כבר בתוך המחברת, ולכן לא צריך להעלות קבצים.</a:t>
            </a:r>
          </a:p>
          <a:p>
            <a:pPr marL="0" indent="0" algn="r" rtl="1">
              <a:buNone/>
            </a:pPr>
            <a:r>
              <a:rPr lang="he-IL"/>
              <a:t>• פותחים בעזרת הקישור או קוד ה־QR, או מעלים את הקובץ ב־Colab (File → Upload notebook). כל הדרכים במדריך Google Colab, פרק 3.</a:t>
            </a:r>
          </a:p>
          <a:p>
            <a:pPr marL="0" indent="0" algn="r" rtl="1">
              <a:buNone/>
            </a:pPr>
            <a:r>
              <a:rPr lang="he-IL"/>
              <a:t>• בתחילת העבודה שומרים עותק ב־Drive (File → Save a copy in Drive) וכותבים את השם בתא הפתיחה.</a:t>
            </a:r>
          </a:p>
          <a:p>
            <a:pPr marL="0" indent="0" algn="r" rtl="1">
              <a:buNone/>
            </a:pPr>
            <a:r>
              <a:rPr lang="he-IL"/>
              <a:t>הכנה לפני השיעור</a:t>
            </a:r>
          </a:p>
          <a:p>
            <a:pPr marL="0" indent="0" algn="r" rtl="1">
              <a:buNone/>
            </a:pPr>
            <a:r>
              <a:rPr lang="he-IL"/>
              <a:t>• להעלות את HM_05.ipynb ל־Colab או ל־Drive, ולהחליף את ה־QR (מקום שמור) בקישור אמיתי.</a:t>
            </a:r>
          </a:p>
          <a:p>
            <a:pPr marL="0" indent="0" algn="r" rtl="1">
              <a:buNone/>
            </a:pPr>
            <a:r>
              <a:rPr lang="he-IL"/>
              <a:t>• להריץ Run all על HM_05_SOLUTION לפני השיעור, ולוודא שכל הבדיקות מסומנות ✓.</a:t>
            </a:r>
          </a:p>
          <a:p>
            <a:pPr marL="0" indent="0" algn="r" rtl="1">
              <a:buNone/>
            </a:pPr>
            <a:r>
              <a:rPr lang="he-IL"/>
              <a:t>• להפיץ לסטודנטים את הקובץ מדריך_Google_Colab.pdf (גם מי שמגיע בלי הכנה צריך אותו).</a:t>
            </a:r>
          </a:p>
          <a:p>
            <a:pPr marL="0" indent="0" algn="r" rtl="1">
              <a:buNone/>
            </a:pPr>
            <a:r>
              <a:rPr lang="he-IL"/>
              <a:t>שגיאות צפויות</a:t>
            </a:r>
          </a:p>
          <a:p>
            <a:pPr marL="0" indent="0" algn="r" rtl="1">
              <a:buNone/>
            </a:pPr>
            <a:r>
              <a:rPr lang="he-IL"/>
              <a:t>• סטודנט בלי חשבון Google או בלי מחשב עובד: עבודה בזוגות.</a:t>
            </a:r>
          </a:p>
          <a:p>
            <a:pPr marL="0" indent="0" algn="r" rtl="1">
              <a:buNone/>
            </a:pPr>
            <a:r>
              <a:rPr lang="he-IL"/>
              <a:t>• הקבצים נעלמו אחרי ניתוק: מריצים מההתחלה (Run all). תוצרים חשובים נשמרים ב־Drive (המדריך, פרק 5).</a:t>
            </a:r>
          </a:p>
          <a:p>
            <a:pPr marL="0" indent="0" algn="r" rtl="1">
              <a:buNone/>
            </a:pPr>
            <a:r>
              <a:rPr lang="he-IL"/>
              <a:t>• המחברת נפתחה לקריאה בלבד: צריך לשמור עותק ב־Drive לפני העבודה.</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מעבדה א׳, 13 דקות, בזוגות, במחברת Colab אחת (HM_05) שמלווה את כל מעבדות המפגש.</a:t>
            </a:r>
          </a:p>
          <a:p>
            <a:pPr marL="0" indent="0" algn="r" rtl="1">
              <a:buNone/>
            </a:pPr>
            <a:r>
              <a:rPr lang="he-IL" sz="1200" b="1"/>
              <a:t>למה עושים את זה</a:t>
            </a:r>
          </a:p>
          <a:p>
            <a:pPr marL="0" indent="0" algn="r" rtl="1">
              <a:buNone/>
            </a:pPr>
            <a:r>
              <a:rPr lang="he-IL" sz="1200"/>
              <a:t>•  בהדגמה ראינו שלושה כלים שמחזירים תוצאות שנראות דומות, ובשקף ״לבדוק לפני שסומכים״ למדנו שריצה בלי שגיאה אינה הוכחה.</a:t>
            </a:r>
          </a:p>
          <a:p>
            <a:pPr marL="0" indent="0" algn="r" rtl="1">
              <a:buNone/>
            </a:pPr>
            <a:r>
              <a:rPr lang="he-IL" sz="1200"/>
              <a:t>•  עכשיו הסטודנטים בונים את מה שמבדיל בין תוצאה נכונה לתוצאה שנראית נכונה: מבחן.</a:t>
            </a:r>
          </a:p>
          <a:p>
            <a:pPr marL="0" indent="0" algn="r" rtl="1">
              <a:buNone/>
            </a:pPr>
            <a:r>
              <a:rPr lang="he-IL" sz="1200"/>
              <a:t>•  תקציב זמן מוצע: חצי דקה על שקף זה, דקה על שקף ״איך עובדים עם המחברת״, כ־9 דקות עבודה ו־2.5 דקות דיון בשקף האחרון של המעבדה.</a:t>
            </a:r>
          </a:p>
          <a:p>
            <a:pPr marL="0" indent="0" algn="r" rtl="1">
              <a:buNone/>
            </a:pPr>
            <a:r>
              <a:rPr lang="he-IL" sz="1200"/>
              <a:t>•  שלבים: אחד ושניים: מממשים את הפונקציה add_revenue ואת הפונקציה top_n_products ומקבלים את התשובה הנכונה (Plant Pot Plus ראשון, כ־33,596).</a:t>
            </a:r>
          </a:p>
          <a:p>
            <a:pPr marL="0" indent="0" algn="r" rtl="1">
              <a:buNone/>
            </a:pPr>
            <a:r>
              <a:rPr lang="he-IL" sz="1200"/>
              <a:t>•  שלושה: כותבים את validate_top5, פונקציה שמחזירה רשימת בעיות.</a:t>
            </a:r>
          </a:p>
          <a:p>
            <a:pPr marL="0" indent="0" algn="r" rtl="1">
              <a:buNone/>
            </a:pPr>
            <a:r>
              <a:rPr lang="he-IL" sz="1200"/>
              <a:t>•  ארבעה: מפעילים אותה על שלוש תשובות מוכנות שכתבנו בהשראת טעויות אופייניות (חשוב להדגיש שאלה דוגמאות שלנו ולא תוצאות של כלי מסוים).</a:t>
            </a:r>
          </a:p>
          <a:p>
            <a:pPr marL="0" indent="0" algn="r" rtl="1">
              <a:buNone/>
            </a:pPr>
            <a:r>
              <a:rPr lang="he-IL" sz="1200"/>
              <a:t>•  חמישה: כלי אמיתי, עוזר ה־Gemini של Colab או כל צ׳אט, עם הפרומפט שבמחברת, והסטודנט מדביק, מריץ את המבחן ומתעד העתקות ודקות.</a:t>
            </a:r>
          </a:p>
          <a:p>
            <a:pPr marL="0" indent="0" algn="r" rtl="1">
              <a:buNone/>
            </a:pPr>
            <a:r>
              <a:rPr lang="he-IL" sz="1200"/>
              <a:t>•  הערת זמן: 13 דקות הן תקציב צפוף לסטודנטים שאינם מתכנתים חזקים.</a:t>
            </a:r>
          </a:p>
          <a:p>
            <a:pPr marL="0" indent="0" algn="r" rtl="1">
              <a:buNone/>
            </a:pPr>
            <a:r>
              <a:rPr lang="he-IL" sz="1200"/>
              <a:t>•  הצעה לאישור המרצה: אם זוג תקוע בשלב שני יותר משלוש דקות, להפנות אותו לרמז, ואם רוב הכיתה מאחרת, להציג על המקרן את הפתרון של שלב שני כדי להגיע לשלב חמישה, שהוא עיקר המעבדה.</a:t>
            </a:r>
          </a:p>
          <a:p>
            <a:pPr marL="0" indent="0" algn="r" rtl="1">
              <a:buNone/>
            </a:pPr>
            <a:r>
              <a:rPr lang="he-IL" sz="1200" b="1"/>
              <a:t>הכנה לפני השיעור</a:t>
            </a:r>
          </a:p>
          <a:p>
            <a:pPr marL="0" indent="0" algn="r" rtl="1">
              <a:buNone/>
            </a:pPr>
            <a:r>
              <a:rPr lang="he-IL" sz="1200"/>
              <a:t>•  להעלות את HM_05.ipynb ל־Drive או ל־Colab, להחליף את ה־QR (מקום שמור) בקישור אמיתי, ולהריץ Run all פעם אחת על גרסת הפתרון.</a:t>
            </a:r>
          </a:p>
          <a:p>
            <a:pPr marL="0" indent="0" algn="r" rtl="1">
              <a:buNone/>
            </a:pPr>
            <a:r>
              <a:rPr lang="he-IL" sz="1200"/>
              <a:t>•  אם עוזר ה־Gemini לא זמין לסטודנט, מותר כל צ׳אט חינמי.</a:t>
            </a:r>
          </a:p>
          <a:p>
            <a:pPr marL="0" indent="0" algn="r" rtl="1">
              <a:buNone/>
            </a:pPr>
            <a:r>
              <a:rPr lang="he-IL" sz="1200"/>
              <a:t>•  לתשומת לב: נתוני הקורס סינתטיים, אך תכונות ה־AI ב־Colab שומרות פרומפטים וקוד (ראו שקף ההעשרה על פרטיות).</a:t>
            </a:r>
          </a:p>
          <a:p>
            <a:pPr marL="0" indent="0" algn="r" rtl="1">
              <a:buNone/>
            </a:pPr>
            <a:r>
              <a:rPr lang="he-IL" sz="1200"/>
              <a:t>•  הערות מפורטות בקובץ הערות_למרצה_HM_05.md.</a:t>
            </a:r>
          </a:p>
          <a:p>
            <a:pPr marL="0" indent="0" algn="r" rtl="1">
              <a:buNone/>
            </a:pPr>
            <a:r>
              <a:rPr lang="he-IL" sz="1200"/>
              <a:t>•  הערה על ידע קודם: הפונקציות במעבדה משתמשות ב־pandas (groupby, sort_values).</a:t>
            </a:r>
          </a:p>
          <a:p>
            <a:pPr marL="0" indent="0" algn="r" rtl="1">
              <a:buNone/>
            </a:pPr>
            <a:r>
              <a:rPr lang="he-IL" sz="1200"/>
              <a:t>•  בכל שלב במחברת יש הסבר קצר ורמז, ואין צורך בהקדמה, אבל אם הכיתה אינה מכירה, הקדישו דקה להסבר על groupby על המקרן.</a:t>
            </a:r>
          </a:p>
          <a:p>
            <a:pPr marL="0" indent="0" algn="r" rtl="1">
              <a:buNone/>
            </a:pPr>
            <a:r>
              <a:rPr lang="he-IL" sz="1200" b="1"/>
              <a:t>חיבור לשיעורים קודמים</a:t>
            </a:r>
          </a:p>
          <a:p>
            <a:pPr marL="0" indent="0" algn="r" rtl="1">
              <a:buNone/>
            </a:pPr>
            <a:r>
              <a:rPr lang="he-IL" sz="1200"/>
              <a:t>•  המעבדה מפעילה בקוד כלל ממפגש 1, סומכים אבל בודקים: validate_top5 הוא הבדיקה, ושלב התחזית לפני כל הרצה הוא ״מה אני מצפה שיקרה״ לפני שמריצים.</a:t>
            </a:r>
          </a:p>
          <a:p>
            <a:pPr marL="0" indent="0" algn="r" rtl="1">
              <a:buNone/>
            </a:pPr>
            <a:r>
              <a:rPr lang="he-IL" sz="1200"/>
              <a:t>•  ממפגש 2: ai_chat סיכם כמות ולא הכנסה כי בצ׳אט אתם הייתם ההקשר, והחלון הכיל רק מה שהועבר אליו.</a:t>
            </a:r>
          </a:p>
          <a:p>
            <a:pPr marL="0" indent="0" algn="r" rtl="1">
              <a:buNone/>
            </a:pPr>
            <a:r>
              <a:rPr lang="he-IL" sz="1200"/>
              <a:t>•  הפרומפט ״top 5 products״ בלי הגדרת הכנסה מזכיר את נושא מפגש 3 לפי הסילבוס, מבנה פרומפט אפקטיבי: ככל שהמשימה מוגדרת פחות, הכלי ינחש יותר.</a:t>
            </a:r>
          </a:p>
          <a:p>
            <a:pPr marL="0" indent="0" algn="r" rtl="1">
              <a:buNone/>
            </a:pPr>
            <a:r>
              <a:rPr lang="he-IL" sz="1200"/>
              <a:t>•  בבונוס של המחברת: עברית מול אנגלית והרצה חוזרת הם הטוקנים והטמפרטורה ממפגש 2.</a:t>
            </a:r>
          </a:p>
          <a:p>
            <a:pPr marL="0" indent="0" algn="r" rtl="1">
              <a:buNone/>
            </a:pPr>
            <a:r>
              <a:rPr lang="he-IL" sz="1200"/>
              <a:t>•  שאלת היזכרות לפני העבודה: ״מה עושים לפני שסומכים על קוד של AI?״ תשובה: קוראים, מבינים ובודקים.</a:t>
            </a:r>
          </a:p>
          <a:p>
            <a:pPr marL="0" indent="0" algn="r" rtl="1">
              <a:buNone/>
            </a:pPr>
            <a:r>
              <a:rPr lang="he-IL" sz="1200"/>
              <a:t>•  אם הכיתה לא זוכרת, הפנו לשקף ״במפגשים הקודמים״.</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איך עובדים עם המחברת, כדקה וחצי.</a:t>
            </a:r>
          </a:p>
          <a:p>
            <a:pPr marL="0" indent="0" algn="r" rtl="1">
              <a:buNone/>
            </a:pPr>
            <a:r>
              <a:rPr lang="he-IL" sz="1200" b="1"/>
              <a:t>מה אומרים</a:t>
            </a:r>
          </a:p>
          <a:p>
            <a:pPr marL="0" indent="0" algn="r" rtl="1">
              <a:buNone/>
            </a:pPr>
            <a:r>
              <a:rPr lang="he-IL" sz="1200"/>
              <a:t>•  השקף הזה חוזר, בגרסה דומה, בכל מפגש מכאן והלאה, ולכן שווה להקדיש לו זמן במפגש הזה.</a:t>
            </a:r>
          </a:p>
          <a:p>
            <a:pPr marL="0" indent="0" algn="r" rtl="1">
              <a:buNone/>
            </a:pPr>
            <a:r>
              <a:rPr lang="he-IL" sz="1200"/>
              <a:t>•  שלושה כללים.</a:t>
            </a:r>
          </a:p>
          <a:p>
            <a:pPr marL="0" indent="0" algn="r" rtl="1">
              <a:buNone/>
            </a:pPr>
            <a:r>
              <a:rPr lang="he-IL" sz="1200"/>
              <a:t>•  אחד: ממלאים את הפונקציות שמסומנות TODO בעצמכם, בלי כלי AI.</a:t>
            </a:r>
          </a:p>
          <a:p>
            <a:pPr marL="0" indent="0" algn="r" rtl="1">
              <a:buNone/>
            </a:pPr>
            <a:r>
              <a:rPr lang="he-IL" sz="1200"/>
              <a:t>•  המטרה היא להבין מה בודקים ולא לקבל קוד.</a:t>
            </a:r>
          </a:p>
          <a:p>
            <a:pPr marL="0" indent="0" algn="r" rtl="1">
              <a:buNone/>
            </a:pPr>
            <a:r>
              <a:rPr lang="he-IL" sz="1200"/>
              <a:t>•  החריג היחיד הוא הצעד שמסומן במפורש כניסוי עם כלי AI.</a:t>
            </a:r>
          </a:p>
          <a:p>
            <a:pPr marL="0" indent="0" algn="r" rtl="1">
              <a:buNone/>
            </a:pPr>
            <a:r>
              <a:rPr lang="he-IL" sz="1200"/>
              <a:t>•  שניים: אחרי כל פונקציה יש תא בדיקה.</a:t>
            </a:r>
          </a:p>
          <a:p>
            <a:pPr marL="0" indent="0" algn="r" rtl="1">
              <a:buNone/>
            </a:pPr>
            <a:r>
              <a:rPr lang="he-IL" sz="1200"/>
              <a:t>•  כשהוא נכון מודפס ✓, וכשלא מודפסת הודעה שמכוונת.</a:t>
            </a:r>
          </a:p>
          <a:p>
            <a:pPr marL="0" indent="0" algn="r" rtl="1">
              <a:buNone/>
            </a:pPr>
            <a:r>
              <a:rPr lang="he-IL" sz="1200"/>
              <a:t>•  שלושה: לפני כל הרצה שמודדת משהו כותבים תחזית, ואחרי כל חלק עונים על שאלות ניתוח.</a:t>
            </a:r>
          </a:p>
          <a:p>
            <a:pPr marL="0" indent="0" algn="r" rtl="1">
              <a:buNone/>
            </a:pPr>
            <a:r>
              <a:rPr lang="he-IL" sz="1200"/>
              <a:t>•  תחזית שגויה עם ניתוח טוב שווה יותר מתחזית נכונה בלי הסבר.</a:t>
            </a:r>
          </a:p>
          <a:p>
            <a:pPr marL="0" indent="0" algn="r" rtl="1">
              <a:buNone/>
            </a:pPr>
            <a:r>
              <a:rPr lang="he-IL" sz="1200" b="1"/>
              <a:t>הגשה</a:t>
            </a:r>
          </a:p>
          <a:p>
            <a:pPr marL="0" indent="0" algn="r" rtl="1">
              <a:buNone/>
            </a:pPr>
            <a:r>
              <a:rPr lang="he-IL" sz="1200"/>
              <a:t>•  Restart session and run all, ואז Download .ipynb.</a:t>
            </a:r>
          </a:p>
          <a:p>
            <a:pPr marL="0" indent="0" algn="r" rtl="1">
              <a:buNone/>
            </a:pPr>
            <a:r>
              <a:rPr lang="he-IL" sz="1200"/>
              <a:t>•  הסבירו שהמחברת בנויה כך שאי אפשר להתקדם על ניחוש: הבדיקות ייתפסו מימושים שמחזירים קבוע.</a:t>
            </a:r>
          </a:p>
          <a:p>
            <a:pPr marL="0" indent="0" algn="r" rtl="1">
              <a:buNone/>
            </a:pPr>
            <a:r>
              <a:rPr lang="he-IL" sz="1200"/>
              <a:t>•  אם יש בכיתה סטודנטים שחוששים מקוד, הראו שכל פונקציה קצרה ויש רמז בכל שלב.</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מה אמור לצאת במעבדה א׳, כדקה, לשימוש בזמן הסיור בין הזוגות.</a:t>
            </a:r>
          </a:p>
          <a:p>
            <a:pPr marL="0" indent="0" algn="r" rtl="1">
              <a:buNone/>
            </a:pPr>
            <a:r>
              <a:rPr lang="he-IL" sz="1200" b="1"/>
              <a:t>מה אומרים</a:t>
            </a:r>
          </a:p>
          <a:p>
            <a:pPr marL="0" indent="0" algn="r" rtl="1">
              <a:buNone/>
            </a:pPr>
            <a:r>
              <a:rPr lang="he-IL" sz="1200"/>
              <a:t>•  תא הבדיקה של שלב 3 צריך להחזיר רשימה ריקה לתשובה הנכונה (Plant Pot Plus 33,596, Desk Organizer Basic 33,379, Stapler Plus 20,522, Office Chair Mat Plus 18,829, Storage Basket Pro 15,467) ובעיה לכל אחת מהסטיות.</a:t>
            </a:r>
          </a:p>
          <a:p>
            <a:pPr marL="0" indent="0" algn="r" rtl="1">
              <a:buNone/>
            </a:pPr>
            <a:r>
              <a:rPr lang="he-IL" sz="1200"/>
              <a:t>•  שלוש הפונקציות המוכנות נותנות: ai_chat מחשבת לפי כמות ולא לפי הכנסה, ולכן המוצר הראשון הוא Desk Organizer Basic ולא Plant Pot Plus. ai_ide מחשבת הכנסה נכון אבל לא ממיינת, ולכן מופיעים חמישה מוצרים לפי סדר אלף־בית. ai_agent נכונה.</a:t>
            </a:r>
          </a:p>
          <a:p>
            <a:pPr marL="0" indent="0" algn="r" rtl="1">
              <a:buNone/>
            </a:pPr>
            <a:r>
              <a:rPr lang="he-IL" sz="1200"/>
              <a:t>•  הכלי האמיתי של הסטודנט יכול להיות נכון, שגוי או נכון עם הבדל קטן, וכל אחת מהתוצאות לגיטימית: מה שנבדק במחברת הוא שהתיעוד תואם למבחן, לא מה התוצאה.</a:t>
            </a:r>
          </a:p>
          <a:p>
            <a:pPr marL="0" indent="0" algn="r" rtl="1">
              <a:buNone/>
            </a:pPr>
            <a:r>
              <a:rPr lang="he-IL" sz="1200"/>
              <a:t>•  שימו לב לשאלה שחוזרת: ״הגרף נראה תקין, אז מה הבעיה?״ והתשובה: הגרף של ai_chat נראה מושלם, ורק מבחן שמשווה לתוצאה ידועה חושף שהוא מציג דבר אחר.</a:t>
            </a:r>
          </a:p>
          <a:p>
            <a:pPr marL="0" indent="0" algn="r" rtl="1">
              <a:buNone/>
            </a:pPr>
            <a:r>
              <a:rPr lang="he-IL" sz="1200"/>
              <a:t>•  נתון נוסף לסיור בין הזוגות: לפי כמות, המוצר הראשון הוא Desk Organizer Basic עם 371 יחידות, והמוצר Plant Pot Plus רק שלישי עם 263 יחידות, אבל הראשון בהכנסה (33,596).</a:t>
            </a:r>
          </a:p>
          <a:p>
            <a:pPr marL="0" indent="0" algn="r" rtl="1">
              <a:buNone/>
            </a:pPr>
            <a:r>
              <a:rPr lang="he-IL" sz="1200"/>
              <a:t>•  זה ההסבר לכך שהגרף של ai_chat נראה תקין.</a:t>
            </a:r>
          </a:p>
          <a:p>
            <a:pPr marL="0" indent="0" algn="r" rtl="1">
              <a:buNone/>
            </a:pPr>
            <a:r>
              <a:rPr lang="he-IL" sz="1200"/>
              <a:t>•  נבדק בנתוני orders.csv של המפגש.</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דיון וסיכום מעבדה א׳.</a:t>
            </a:r>
          </a:p>
          <a:p>
            <a:pPr marL="0" indent="0" algn="r" rtl="1">
              <a:buNone/>
            </a:pPr>
            <a:r>
              <a:rPr lang="he-IL" sz="1200" b="1"/>
              <a:t>מה אומרים</a:t>
            </a:r>
          </a:p>
          <a:p>
            <a:pPr marL="0" indent="0" algn="r" rtl="1">
              <a:buNone/>
            </a:pPr>
            <a:r>
              <a:rPr lang="he-IL" sz="1200"/>
              <a:t>•  המשפט המרכזי: בצ׳אט אתם הייתם ההקשר של הכלי.</a:t>
            </a:r>
          </a:p>
          <a:p>
            <a:pPr marL="0" indent="0" algn="r" rtl="1">
              <a:buNone/>
            </a:pPr>
            <a:r>
              <a:rPr lang="he-IL" sz="1200"/>
              <a:t>•  ארבעת הריבועים הכחולים הם מה שהסטודנטים העבירו ידנית: שמות העמודות, חמש השורות הראשונות, הקוד שרץ, והודעת השגיאה.</a:t>
            </a:r>
          </a:p>
          <a:p>
            <a:pPr marL="0" indent="0" algn="r" rtl="1">
              <a:buNone/>
            </a:pPr>
            <a:r>
              <a:rPr lang="he-IL" sz="1200" b="1"/>
              <a:t>שאלה לכיתה</a:t>
            </a:r>
          </a:p>
          <a:p>
            <a:pPr marL="0" indent="0" algn="r" rtl="1">
              <a:buNone/>
            </a:pPr>
            <a:r>
              <a:rPr lang="he-IL" sz="1200"/>
              <a:t>•  מה מהרשימה עשיתם בעצמכם?</a:t>
            </a:r>
          </a:p>
          <a:p>
            <a:pPr marL="0" indent="0" algn="r" rtl="1">
              <a:buNone/>
            </a:pPr>
            <a:r>
              <a:rPr lang="he-IL" sz="1200"/>
              <a:t>•  ומה העוזר ב-Colab חסך לכם?</a:t>
            </a:r>
          </a:p>
          <a:p>
            <a:pPr marL="0" indent="0" algn="r" rtl="1">
              <a:buNone/>
            </a:pPr>
            <a:r>
              <a:rPr lang="he-IL" sz="1200" b="1"/>
              <a:t>תשובה</a:t>
            </a:r>
          </a:p>
          <a:p>
            <a:pPr marL="0" indent="0" algn="r" rtl="1">
              <a:buNone/>
            </a:pPr>
            <a:r>
              <a:rPr lang="he-IL" sz="1200"/>
              <a:t>•  חלק מההעתקה, אבל לא הכול.</a:t>
            </a:r>
          </a:p>
          <a:p>
            <a:pPr marL="0" indent="0" algn="r" rtl="1">
              <a:buNone/>
            </a:pPr>
            <a:r>
              <a:rPr lang="he-IL" sz="1200"/>
              <a:t>•  כל מה שהכלי אינו רואה, צריך להעביר לו ידנית.</a:t>
            </a:r>
          </a:p>
          <a:p>
            <a:pPr marL="0" indent="0" algn="r" rtl="1">
              <a:buNone/>
            </a:pPr>
            <a:r>
              <a:rPr lang="he-IL" sz="1200"/>
              <a:t>•  השאלה לחלק הבא: מה אם הכלי יראה ויריץ בעצמו?</a:t>
            </a:r>
          </a:p>
          <a:p>
            <a:pPr marL="0" indent="0" algn="r" rtl="1">
              <a:buNone/>
            </a:pPr>
            <a:r>
              <a:rPr lang="he-IL" sz="1200"/>
              <a:t>•  תנו תשובה בכיוון של חלק ב׳: סוכן.</a:t>
            </a:r>
          </a:p>
          <a:p>
            <a:pPr marL="0" indent="0" algn="r" rtl="1">
              <a:buNone/>
            </a:pPr>
            <a:r>
              <a:rPr lang="he-IL" sz="1200" b="1"/>
              <a:t>אנלוגיה</a:t>
            </a:r>
          </a:p>
          <a:p>
            <a:pPr marL="0" indent="0" algn="r" rtl="1">
              <a:buNone/>
            </a:pPr>
            <a:r>
              <a:rPr lang="he-IL" sz="1200"/>
              <a:t>•  מתמחה שצריך להסביר לו כל פעולה לעומת מתמחה שמקבל גישה למערכת.</a:t>
            </a:r>
          </a:p>
          <a:p>
            <a:pPr marL="0" indent="0" algn="r" rtl="1">
              <a:buNone/>
            </a:pPr>
            <a:r>
              <a:rPr lang="he-IL" sz="1200"/>
              <a:t>•  שימו לב לטעות נפוצה: להסיק שסוכן תמיד טוב יותר.</a:t>
            </a:r>
          </a:p>
          <a:p>
            <a:pPr marL="0" indent="0" algn="r" rtl="1">
              <a:buNone/>
            </a:pPr>
            <a:r>
              <a:rPr lang="he-IL" sz="1200"/>
              <a:t>•  נראה בחלק ג׳ שזה תלוי במשימה ובסיכון.</a:t>
            </a:r>
          </a:p>
          <a:p>
            <a:pPr marL="0" indent="0" algn="r" rtl="1">
              <a:buNone/>
            </a:pPr>
            <a:r>
              <a:rPr lang="he-IL" sz="1200"/>
              <a:t>•  זה סוף המעבדה הראשונה, וכעת חוזרים להסבר של כ-11 דקות.</a:t>
            </a:r>
          </a:p>
          <a:p>
            <a:pPr marL="0" indent="0" algn="r" rtl="1">
              <a:buNone/>
            </a:pPr>
            <a:r>
              <a:rPr lang="he-IL" sz="1200" b="1"/>
              <a:t>חיבור לשיעורים קודמים</a:t>
            </a:r>
          </a:p>
          <a:p>
            <a:pPr marL="0" indent="0" algn="r" rtl="1">
              <a:buNone/>
            </a:pPr>
            <a:r>
              <a:rPr lang="he-IL" sz="1200"/>
              <a:t>•  ״בצ׳אט אתם הייתם ההקשר״ הוא חלון ההקשר ממפגש 2, מנקודת המבט של המשתמש: מה שלא העברתם, לא הגיע.</a:t>
            </a:r>
          </a:p>
          <a:p>
            <a:pPr marL="0" indent="0" algn="r" rtl="1">
              <a:buNone/>
            </a:pPr>
            <a:r>
              <a:rPr lang="he-IL" sz="1200"/>
              <a:t>•  במפגש 4, לפי הנושא בסילבוס, למדנו לנהל הקשר לאורך פרויקט; כאן רואים את המחיר של לעשות את זה ידנית.</a:t>
            </a:r>
          </a:p>
          <a:p>
            <a:pPr marL="0" indent="0" algn="r" rtl="1">
              <a:buNone/>
            </a:pPr>
            <a:r>
              <a:rPr lang="he-IL" sz="1200" b="1"/>
              <a:t>שאלה לכיתה</a:t>
            </a:r>
          </a:p>
          <a:p>
            <a:pPr marL="0" indent="0" algn="r" rtl="1">
              <a:buNone/>
            </a:pPr>
            <a:r>
              <a:rPr lang="he-IL" sz="1200"/>
              <a:t>•  מה אפשר להעביר מראש כדי שלא להדביק כל פעם?</a:t>
            </a:r>
          </a:p>
          <a:p>
            <a:pPr marL="0" indent="0" algn="r" rtl="1">
              <a:buNone/>
            </a:pPr>
            <a:r>
              <a:rPr lang="he-IL" sz="1200" b="1"/>
              <a:t>תשובה</a:t>
            </a:r>
          </a:p>
          <a:p>
            <a:pPr marL="0" indent="0" algn="r" rtl="1">
              <a:buNone/>
            </a:pPr>
            <a:r>
              <a:rPr lang="he-IL" sz="1200"/>
              <a:t>•  תיעוד או קובץ הנחיה (לפי הנושא של מפגש 4 בסילבוס).</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חלק ב׳, 7 דקות בלי השקפים האופציונליים, ואחריהם בלוק MCP של 12 דקות (שקפים 35 עד 44).</a:t>
            </a:r>
          </a:p>
          <a:p>
            <a:pPr marL="0" indent="0" algn="r" rtl="1">
              <a:buNone/>
            </a:pPr>
            <a:r>
              <a:rPr lang="he-IL" sz="1200" b="1"/>
              <a:t>מה אומרים</a:t>
            </a:r>
          </a:p>
          <a:p>
            <a:pPr marL="0" indent="0" algn="r" rtl="1">
              <a:buNone/>
            </a:pPr>
            <a:r>
              <a:rPr lang="he-IL" sz="1200"/>
              <a:t>•  הסבר למי שלא מכיר: שורת פקודה היא חלון שבו מקלידים הוראות במקום ללחוץ על כפתורים.</a:t>
            </a:r>
          </a:p>
          <a:p>
            <a:pPr marL="0" indent="0" algn="r" rtl="1">
              <a:buNone/>
            </a:pPr>
            <a:r>
              <a:rPr lang="he-IL" sz="1200"/>
              <a:t>•  בצד ימין של השקף חלון מסוף כהה.</a:t>
            </a:r>
          </a:p>
          <a:p>
            <a:pPr marL="0" indent="0" algn="r" rtl="1">
              <a:buNone/>
            </a:pPr>
            <a:r>
              <a:rPr lang="he-IL" sz="1200"/>
              <a:t>•  השורות הירוקות שמתחילות ב-$ הן מה שהמשתמש הקליד: ls כדי להציג קבצים, ואחר כך שם הסוכן כדי להפעיל אותו.</a:t>
            </a:r>
          </a:p>
          <a:p>
            <a:pPr marL="0" indent="0" algn="r" rtl="1">
              <a:buNone/>
            </a:pPr>
            <a:r>
              <a:rPr lang="he-IL" sz="1200"/>
              <a:t>•  השורות הצהובות שמתחילות ב-&gt; הן מה שהסוכן עושה: קרא את orders.csv, יצר את top5.png, ושואל אם לבדוק את השינויים.</a:t>
            </a:r>
          </a:p>
          <a:p>
            <a:pPr marL="0" indent="0" algn="r" rtl="1">
              <a:buNone/>
            </a:pPr>
            <a:r>
              <a:rPr lang="he-IL" sz="1200"/>
              <a:t>•  בצד שמאל ההסבר במילים.</a:t>
            </a:r>
          </a:p>
          <a:p>
            <a:pPr marL="0" indent="0" algn="r" rtl="1">
              <a:buNone/>
            </a:pPr>
            <a:r>
              <a:rPr lang="he-IL" sz="1200" b="1"/>
              <a:t>אנלוגיה</a:t>
            </a:r>
          </a:p>
          <a:p>
            <a:pPr marL="0" indent="0" algn="r" rtl="1">
              <a:buNone/>
            </a:pPr>
            <a:r>
              <a:rPr lang="he-IL" sz="1200"/>
              <a:t>•  במקום להזמין מהמחסן דרך מסך מגע, מקלידים פקודת הזמנה, ויש לה אפקט מיידי.</a:t>
            </a:r>
          </a:p>
          <a:p>
            <a:pPr marL="0" indent="0" algn="r" rtl="1">
              <a:buNone/>
            </a:pPr>
            <a:r>
              <a:rPr lang="he-IL" sz="1200" b="1"/>
              <a:t>שאלה לכיתה</a:t>
            </a:r>
          </a:p>
          <a:p>
            <a:pPr marL="0" indent="0" algn="r" rtl="1">
              <a:buNone/>
            </a:pPr>
            <a:r>
              <a:rPr lang="he-IL" sz="1200"/>
              <a:t>•  למה סוכן CLI מתאים ללמידה?</a:t>
            </a:r>
          </a:p>
          <a:p>
            <a:pPr marL="0" indent="0" algn="r" rtl="1">
              <a:buNone/>
            </a:pPr>
            <a:r>
              <a:rPr lang="he-IL" sz="1200" b="1"/>
              <a:t>תשובה</a:t>
            </a:r>
          </a:p>
          <a:p>
            <a:pPr marL="0" indent="0" algn="r" rtl="1">
              <a:buNone/>
            </a:pPr>
            <a:r>
              <a:rPr lang="he-IL" sz="1200"/>
              <a:t>•  הוא פועל על הקבצים עצמם ורואים בדיוק מה הוא עושה.</a:t>
            </a:r>
          </a:p>
          <a:p>
            <a:pPr marL="0" indent="0" algn="r" rtl="1">
              <a:buNone/>
            </a:pPr>
            <a:r>
              <a:rPr lang="he-IL" sz="1200" b="1"/>
              <a:t>טעות נפוצה</a:t>
            </a:r>
          </a:p>
          <a:p>
            <a:pPr marL="0" indent="0" algn="r" rtl="1">
              <a:buNone/>
            </a:pPr>
            <a:r>
              <a:rPr lang="he-IL" sz="1200"/>
              <a:t>•  לחשוב שהסוכן הוא חלק מהמחשב.</a:t>
            </a:r>
          </a:p>
          <a:p>
            <a:pPr marL="0" indent="0" algn="r" rtl="1">
              <a:buNone/>
            </a:pPr>
            <a:r>
              <a:rPr lang="he-IL" sz="1200"/>
              <a:t>•  הוא תוכנה רגילה שרצה בתיקייה שבה הפעלתם אותה, ופועלת רק בגבולות ההרשאות שנתתם.</a:t>
            </a:r>
          </a:p>
          <a:p>
            <a:pPr marL="0" indent="0" algn="r" rtl="1">
              <a:buNone/>
            </a:pPr>
            <a:r>
              <a:rPr lang="he-IL" sz="1200" b="1"/>
              <a:t>חיבור לשיעורים קודמים</a:t>
            </a:r>
          </a:p>
          <a:p>
            <a:pPr marL="0" indent="0" algn="r" rtl="1">
              <a:buNone/>
            </a:pPr>
            <a:r>
              <a:rPr lang="he-IL" sz="1200"/>
              <a:t>•  מפגש 6, הלולאה של הסוכן.</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ארבע הפקודות שהסטודנט צריך מהמסוף היום, ולא יותר.</a:t>
            </a:r>
          </a:p>
          <a:p>
            <a:pPr marL="0" indent="0" algn="r" rtl="1">
              <a:buNone/>
            </a:pPr>
            <a:r>
              <a:rPr lang="he-IL" sz="1200" b="1"/>
              <a:t>מה אומרים</a:t>
            </a:r>
          </a:p>
          <a:p>
            <a:pPr marL="0" indent="0" algn="r" rtl="1">
              <a:buNone/>
            </a:pPr>
            <a:r>
              <a:rPr lang="he-IL" sz="1200"/>
              <a:t>•  קראו את הטבלה שורה אחרי שורה, כולל הדימוי. ls מציגה את הקבצים בתיקייה, כמו לפתוח את התיקייה ולהסתכל. cd ואחריה שם נכנסת לתיקייה, כמו לחיצה כפולה.</a:t>
            </a:r>
          </a:p>
          <a:p>
            <a:pPr marL="0" indent="0" algn="r" rtl="1">
              <a:buNone/>
            </a:pPr>
            <a:r>
              <a:rPr lang="he-IL" sz="1200"/>
              <a:t>•  שם הסוכן מפעיל את הסוכן בתיקייה הנוכחית, כמו להזמין עוזר לחדר. exit יוצאת.</a:t>
            </a:r>
          </a:p>
          <a:p>
            <a:pPr marL="0" indent="0" algn="r" rtl="1">
              <a:buNone/>
            </a:pPr>
            <a:r>
              <a:rPr lang="he-IL" sz="1200"/>
              <a:t>•  הפקודה המדויקת להפעלת הסוכן תלויה בכלי שנבחר, והיא כתובה בדף ההוראות של המעבדה, ולכן יש לאמת אותה לפני השיעור.</a:t>
            </a:r>
          </a:p>
          <a:p>
            <a:pPr marL="0" indent="0" algn="r" rtl="1">
              <a:buNone/>
            </a:pPr>
            <a:r>
              <a:rPr lang="he-IL" sz="1200" b="1"/>
              <a:t>טעות נפוצה</a:t>
            </a:r>
          </a:p>
          <a:p>
            <a:pPr marL="0" indent="0" algn="r" rtl="1">
              <a:buNone/>
            </a:pPr>
            <a:r>
              <a:rPr lang="he-IL" sz="1200"/>
              <a:t>•  להפעיל סוכן בתיקייה הלא נכונה, והוא יראה קבצים אחרים.</a:t>
            </a:r>
          </a:p>
          <a:p>
            <a:pPr marL="0" indent="0" algn="r" rtl="1">
              <a:buNone/>
            </a:pPr>
            <a:r>
              <a:rPr lang="he-IL" sz="1200"/>
              <a:t>•  לכן ls ו-cd חשובות.</a:t>
            </a:r>
          </a:p>
          <a:p>
            <a:pPr marL="0" indent="0" algn="r" rtl="1">
              <a:buNone/>
            </a:pPr>
            <a:r>
              <a:rPr lang="he-IL" sz="1200" b="1"/>
              <a:t>שאלה לכיתה</a:t>
            </a:r>
          </a:p>
          <a:p>
            <a:pPr marL="0" indent="0" algn="r" rtl="1">
              <a:buNone/>
            </a:pPr>
            <a:r>
              <a:rPr lang="he-IL" sz="1200"/>
              <a:t>•  איך תדעו באיזו תיקייה אתם?</a:t>
            </a:r>
          </a:p>
          <a:p>
            <a:pPr marL="0" indent="0" algn="r" rtl="1">
              <a:buNone/>
            </a:pPr>
            <a:r>
              <a:rPr lang="he-IL" sz="1200" b="1"/>
              <a:t>תשובה</a:t>
            </a:r>
          </a:p>
          <a:p>
            <a:pPr marL="0" indent="0" algn="r" rtl="1">
              <a:buNone/>
            </a:pPr>
            <a:r>
              <a:rPr lang="he-IL" sz="1200"/>
              <a:t>•  משורת ההנחיה במסוף, או ls.</a:t>
            </a:r>
          </a:p>
          <a:p>
            <a:pPr marL="0" indent="0" algn="r" rtl="1">
              <a:buNone/>
            </a:pPr>
            <a:r>
              <a:rPr lang="he-IL" sz="1200"/>
              <a:t>•  שקף אופציונלי, כדקה.</a:t>
            </a:r>
          </a:p>
          <a:p>
            <a:pPr marL="0" indent="0" algn="r" rtl="1">
              <a:buNone/>
            </a:pPr>
            <a:r>
              <a:rPr lang="he-IL" sz="1200"/>
              <a:t>•  במעבדות של מפגש זה הסטודנטים אינם מפעילים סוכן במסוף: הם קוראים תמלול, והסוכן מודגם על המקרן.</a:t>
            </a:r>
          </a:p>
          <a:p>
            <a:pPr marL="0" indent="0" algn="r" rtl="1">
              <a:buNone/>
            </a:pPr>
            <a:r>
              <a:rPr lang="he-IL" sz="1200"/>
              <a:t>•  ארבע הפקודות נחוצות לקראת מפגש 6, ולכן אפשר להציג אותן בקצרה, או לדלג ולהחזיר אליהן במפגש 6.</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סולם האוטונומיה, תצוגה מקדימה בלבד.</a:t>
            </a:r>
          </a:p>
          <a:p>
            <a:pPr marL="0" indent="0" algn="r" rtl="1">
              <a:buNone/>
            </a:pPr>
            <a:r>
              <a:rPr lang="he-IL" sz="1200" b="1"/>
              <a:t>מה אומרים</a:t>
            </a:r>
          </a:p>
          <a:p>
            <a:pPr marL="0" indent="0" algn="r" rtl="1">
              <a:buNone/>
            </a:pPr>
            <a:r>
              <a:rPr lang="he-IL" sz="1200"/>
              <a:t>•  נפרט אותו במפגש 6.</a:t>
            </a:r>
          </a:p>
          <a:p>
            <a:pPr marL="0" indent="0" algn="r" rtl="1">
              <a:buNone/>
            </a:pPr>
            <a:r>
              <a:rPr lang="he-IL" sz="1200"/>
              <a:t>•  הסולם עולה מימין לשמאל, וככל שעולים הסוכן שולט יותר.</a:t>
            </a:r>
          </a:p>
          <a:p>
            <a:pPr marL="0" indent="0" algn="r" rtl="1">
              <a:buNone/>
            </a:pPr>
            <a:r>
              <a:rPr lang="he-IL" sz="1200"/>
              <a:t>•  רמה 1: רק מציע, אתם מעתיקים ומריצים.</a:t>
            </a:r>
          </a:p>
          <a:p>
            <a:pPr marL="0" indent="0" algn="r" rtl="1">
              <a:buNone/>
            </a:pPr>
            <a:r>
              <a:rPr lang="he-IL" sz="1200"/>
              <a:t>•  רמה 2: שואל לפני כל פעולה, כל קובץ וכל פקודה באישור.</a:t>
            </a:r>
          </a:p>
          <a:p>
            <a:pPr marL="0" indent="0" algn="r" rtl="1">
              <a:buNone/>
            </a:pPr>
            <a:r>
              <a:rPr lang="he-IL" sz="1200"/>
              <a:t>•  רמה 3: עריכות אוטומטיות, ושואל רק על הרצת פקודות.</a:t>
            </a:r>
          </a:p>
          <a:p>
            <a:pPr marL="0" indent="0" algn="r" rtl="1">
              <a:buNone/>
            </a:pPr>
            <a:r>
              <a:rPr lang="he-IL" sz="1200"/>
              <a:t>•  רמה 4: אוטונומיה מלאה, פועל לבד עד הסוף.</a:t>
            </a:r>
          </a:p>
          <a:p>
            <a:pPr marL="0" indent="0" algn="r" rtl="1">
              <a:buNone/>
            </a:pPr>
            <a:r>
              <a:rPr lang="he-IL" sz="1200"/>
              <a:t>•  הכותרת האדומה: יותר אוטונומיה, יותר סיכון ויותר צורך בבדיקה.</a:t>
            </a:r>
          </a:p>
          <a:p>
            <a:pPr marL="0" indent="0" algn="r" rtl="1">
              <a:buNone/>
            </a:pPr>
            <a:r>
              <a:rPr lang="he-IL" sz="1200" b="1"/>
              <a:t>אנלוגיה</a:t>
            </a:r>
          </a:p>
          <a:p>
            <a:pPr marL="0" indent="0" algn="r" rtl="1">
              <a:buNone/>
            </a:pPr>
            <a:r>
              <a:rPr lang="he-IL" sz="1200"/>
              <a:t>•  הרשאות חתימה בארגון.</a:t>
            </a:r>
          </a:p>
          <a:p>
            <a:pPr marL="0" indent="0" algn="r" rtl="1">
              <a:buNone/>
            </a:pPr>
            <a:r>
              <a:rPr lang="he-IL" sz="1200"/>
              <a:t>•  עובד חדש צריך אישור לכל הוצאה, עובד ותיק מאשר עד סכום מסוים.</a:t>
            </a:r>
          </a:p>
          <a:p>
            <a:pPr marL="0" indent="0" algn="r" rtl="1">
              <a:buNone/>
            </a:pPr>
            <a:r>
              <a:rPr lang="he-IL" sz="1200"/>
              <a:t>•  המלצה למעבדה ב׳: רמה 2.</a:t>
            </a:r>
          </a:p>
          <a:p>
            <a:pPr marL="0" indent="0" algn="r" rtl="1">
              <a:buNone/>
            </a:pPr>
            <a:r>
              <a:rPr lang="he-IL" sz="1200"/>
              <a:t>•  שמות הרמות והאפשרות להפעיל אותן שונים בין כלים, ולכן יש לאמת מול הכלי הנבחר.</a:t>
            </a:r>
          </a:p>
          <a:p>
            <a:pPr marL="0" indent="0" algn="r" rtl="1">
              <a:buNone/>
            </a:pPr>
            <a:r>
              <a:rPr lang="he-IL" sz="1200" b="1"/>
              <a:t>שאלה לכיתה</a:t>
            </a:r>
          </a:p>
          <a:p>
            <a:pPr marL="0" indent="0" algn="r" rtl="1">
              <a:buNone/>
            </a:pPr>
            <a:r>
              <a:rPr lang="he-IL" sz="1200"/>
              <a:t>•  באיזו רמה מתחילים בפרויקט חדש?</a:t>
            </a:r>
          </a:p>
          <a:p>
            <a:pPr marL="0" indent="0" algn="r" rtl="1">
              <a:buNone/>
            </a:pPr>
            <a:r>
              <a:rPr lang="he-IL" sz="1200" b="1"/>
              <a:t>תשובה</a:t>
            </a:r>
          </a:p>
          <a:p>
            <a:pPr marL="0" indent="0" algn="r" rtl="1">
              <a:buNone/>
            </a:pPr>
            <a:r>
              <a:rPr lang="he-IL" sz="1200"/>
              <a:t>•  ברמה נמוכה, ועולים כשבונים אמון ויש גיבוי.</a:t>
            </a:r>
          </a:p>
          <a:p>
            <a:pPr marL="0" indent="0" algn="r" rtl="1">
              <a:buNone/>
            </a:pPr>
            <a:r>
              <a:rPr lang="he-IL" sz="1200" b="1"/>
              <a:t>להעמקה</a:t>
            </a:r>
          </a:p>
          <a:p>
            <a:pPr marL="0" indent="0" algn="r" rtl="1">
              <a:buNone/>
            </a:pPr>
            <a:r>
              <a:rPr lang="he-IL" sz="1200"/>
              <a:t>•  הסולם הוא מסגרת הוראה של הקורס, ושמות הרמות ואפשרות ההפעלה שלהן שונים בין כלים.</a:t>
            </a:r>
          </a:p>
          <a:p>
            <a:pPr marL="0" indent="0" algn="r" rtl="1">
              <a:buNone/>
            </a:pPr>
            <a:r>
              <a:rPr lang="he-IL" sz="1200"/>
              <a:t>•  למה זה קשור לאנשים ולא רק לכלים: Anthropic מתארת ״עייפות אישורים״ (approval fatigue): כשצריך לאשר כל פעולה, אנשים מפסיקים לקרוא.</a:t>
            </a:r>
          </a:p>
          <a:p>
            <a:pPr marL="0" indent="0" algn="r" rtl="1">
              <a:buNone/>
            </a:pPr>
            <a:r>
              <a:rPr lang="he-IL" sz="1200"/>
              <a:t>•  בתיעוד ההנדסי שלה על בידוד (sandboxing) היא מדווחת שבשימוש פנימי הבידוד הפחית את בקשות האישור ב־84%.</a:t>
            </a:r>
          </a:p>
          <a:p>
            <a:pPr marL="0" indent="0" algn="r" rtl="1">
              <a:buNone/>
            </a:pPr>
            <a:r>
              <a:rPr lang="he-IL" sz="1200"/>
              <a:t>•  זהו נתון פנימי של הספק ולא מחקר עצמאי, ולכן מציגים אותו כדוגמה לשיקול ולא כעובדה כללית.</a:t>
            </a:r>
          </a:p>
          <a:p>
            <a:pPr marL="0" indent="0" algn="r" rtl="1">
              <a:buNone/>
            </a:pPr>
            <a:r>
              <a:rPr lang="he-IL" sz="1200"/>
              <a:t>•  הקשר למעבדה ב׳: המחברת סופרת אישורים בשלוש הרמות הגבוהות בסולם (שואל לפני כל פעולה, עריכות אוטומטיות, אוטונומיה מלאה), כי ברמה הראשונה הכלי רק מציע ואינו מבצע פעולות.</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מה יכול להשתבש, ארבעה כשלים אפשריים של סוכן.</a:t>
            </a:r>
          </a:p>
          <a:p>
            <a:pPr marL="0" indent="0" algn="r" rtl="1">
              <a:buNone/>
            </a:pPr>
            <a:r>
              <a:rPr lang="he-IL" sz="1200" b="1"/>
              <a:t>מה אומרים</a:t>
            </a:r>
          </a:p>
          <a:p>
            <a:pPr marL="0" indent="0" algn="r" rtl="1">
              <a:buNone/>
            </a:pPr>
            <a:r>
              <a:rPr lang="he-IL" sz="1200"/>
              <a:t>•  מחק קובץ בשוגג, כולל קובץ שלא התבקש.</a:t>
            </a:r>
          </a:p>
          <a:p>
            <a:pPr marL="0" indent="0" algn="r" rtl="1">
              <a:buNone/>
            </a:pPr>
            <a:r>
              <a:rPr lang="he-IL" sz="1200"/>
              <a:t>•  שינה יותר ממה שביקשתם, כלומר נגע בקבצים שלא היו חלק מהמשימה.</a:t>
            </a:r>
          </a:p>
          <a:p>
            <a:pPr marL="0" indent="0" algn="r" rtl="1">
              <a:buNone/>
            </a:pPr>
            <a:r>
              <a:rPr lang="he-IL" sz="1200"/>
              <a:t>•  התקין חבילה, אולי כזו שלא קיימת בכלל.</a:t>
            </a:r>
          </a:p>
          <a:p>
            <a:pPr marL="0" indent="0" algn="r" rtl="1">
              <a:buNone/>
            </a:pPr>
            <a:r>
              <a:rPr lang="he-IL" sz="1200"/>
              <a:t>•  הריץ פקודה מסוכנת שמוחקת או שולחת מידע.</a:t>
            </a:r>
          </a:p>
          <a:p>
            <a:pPr marL="0" indent="0" algn="r" rtl="1">
              <a:buNone/>
            </a:pPr>
            <a:r>
              <a:rPr lang="he-IL" sz="1200"/>
              <a:t>•  השורה הירוקה למטה היא הפתרון: במפגש הבא נלמד Git, רשת ביטחון לפני שנותנים לסוכן לפעול.</a:t>
            </a:r>
          </a:p>
          <a:p>
            <a:pPr marL="0" indent="0" algn="r" rtl="1">
              <a:buNone/>
            </a:pPr>
            <a:r>
              <a:rPr lang="he-IL" sz="1200" b="1"/>
              <a:t>אנלוגיה</a:t>
            </a:r>
          </a:p>
          <a:p>
            <a:pPr marL="0" indent="0" algn="r" rtl="1">
              <a:buNone/>
            </a:pPr>
            <a:r>
              <a:rPr lang="he-IL" sz="1200"/>
              <a:t>•  לפני שעושים שינוי בקו ייצור, שומרים גיבוי של ההגדרות.</a:t>
            </a:r>
          </a:p>
          <a:p>
            <a:pPr marL="0" indent="0" algn="r" rtl="1">
              <a:buNone/>
            </a:pPr>
            <a:r>
              <a:rPr lang="he-IL" sz="1200"/>
              <a:t>•  קישורים: חבילה מומצאת חוזרת למפגש 2 (הזיות), ו-Git הוא מפגש 6.</a:t>
            </a:r>
          </a:p>
          <a:p>
            <a:pPr marL="0" indent="0" algn="r" rtl="1">
              <a:buNone/>
            </a:pPr>
            <a:r>
              <a:rPr lang="he-IL" sz="1200" b="1"/>
              <a:t>טעות נפוצה</a:t>
            </a:r>
          </a:p>
          <a:p>
            <a:pPr marL="0" indent="0" algn="r" rtl="1">
              <a:buNone/>
            </a:pPr>
            <a:r>
              <a:rPr lang="he-IL" sz="1200"/>
              <a:t>•  להימנע לגמרי מסוכנים.</a:t>
            </a:r>
          </a:p>
          <a:p>
            <a:pPr marL="0" indent="0" algn="r" rtl="1">
              <a:buNone/>
            </a:pPr>
            <a:r>
              <a:rPr lang="he-IL" sz="1200"/>
              <a:t>•  המסר הוא לא להימנע אלא לעבוד בזהירות: גיבוי, אישור ובדיקה.</a:t>
            </a:r>
          </a:p>
          <a:p>
            <a:pPr marL="0" indent="0" algn="r" rtl="1">
              <a:buNone/>
            </a:pPr>
            <a:r>
              <a:rPr lang="he-IL" sz="1200"/>
              <a:t>•  מקרה אמיתי מתועד, ומחקר על חבילות מומצאות, מופיעים בשקף ההעשרה ״כשסוכן טועה״ בהמשך חלק ב׳.</a:t>
            </a:r>
          </a:p>
          <a:p>
            <a:pPr marL="0" indent="0" algn="r" rtl="1">
              <a:buNone/>
            </a:pPr>
            <a:r>
              <a:rPr lang="he-IL" sz="1200" b="1"/>
              <a:t>שאלה לכיתה</a:t>
            </a:r>
          </a:p>
          <a:p>
            <a:pPr marL="0" indent="0" algn="r" rtl="1">
              <a:buNone/>
            </a:pPr>
            <a:r>
              <a:rPr lang="he-IL" sz="1200"/>
              <a:t>•  מה זה אומר לאשר התקנת חבילה?</a:t>
            </a:r>
          </a:p>
          <a:p>
            <a:pPr marL="0" indent="0" algn="r" rtl="1">
              <a:buNone/>
            </a:pPr>
            <a:r>
              <a:rPr lang="he-IL" sz="1200" b="1"/>
              <a:t>תשובה</a:t>
            </a:r>
          </a:p>
          <a:p>
            <a:pPr marL="0" indent="0" algn="r" rtl="1">
              <a:buNone/>
            </a:pPr>
            <a:r>
              <a:rPr lang="he-IL" sz="1200"/>
              <a:t>•  לבדוק שהשם מוכר ותואם למה שציפיתם.</a:t>
            </a:r>
          </a:p>
          <a:p>
            <a:pPr marL="0" indent="0" algn="r" rtl="1">
              <a:buNone/>
            </a:pPr>
            <a:r>
              <a:rPr lang="he-IL" sz="1200" b="1"/>
              <a:t>חיבור לשיעורים קודמים</a:t>
            </a:r>
          </a:p>
          <a:p>
            <a:pPr marL="0" indent="0" algn="r" rtl="1">
              <a:buNone/>
            </a:pPr>
            <a:r>
              <a:rPr lang="he-IL" sz="1200"/>
              <a:t>•  ״התקין חבילה שאולי לא קיימת״ היא הזיית חבילה, אחת מחמשת הסוגים ממפגש 2.</a:t>
            </a:r>
          </a:p>
          <a:p>
            <a:pPr marL="0" indent="0" algn="r" rtl="1">
              <a:buNone/>
            </a:pPr>
            <a:r>
              <a:rPr lang="he-IL" sz="1200"/>
              <a:t>•  מפגש 2 לימד לבדוק את השם ב־PyPI לפני התקנה.</a:t>
            </a:r>
          </a:p>
          <a:p>
            <a:pPr marL="0" indent="0" algn="r" rtl="1">
              <a:buNone/>
            </a:pPr>
            <a:r>
              <a:rPr lang="he-IL" sz="1200"/>
              <a:t>•  ההבדל כאן: סוכן יכול להריץ את ההתקנה בעצמו, ולכן הבדיקה צריכה לבוא לפני האישור.</a:t>
            </a:r>
          </a:p>
          <a:p>
            <a:pPr marL="0" indent="0" algn="r" rtl="1">
              <a:buNone/>
            </a:pPr>
            <a:r>
              <a:rPr lang="he-IL" sz="1200" b="1"/>
              <a:t>שאלת היזכרות</a:t>
            </a:r>
          </a:p>
          <a:p>
            <a:pPr marL="0" indent="0" algn="r" rtl="1">
              <a:buNone/>
            </a:pPr>
            <a:r>
              <a:rPr lang="he-IL" sz="1200"/>
              <a:t>•  ״מה אומר הכלל של מפגש 1 על קוד שלא הרצתם?״ תשובה: לא לסמוך.</a:t>
            </a:r>
          </a:p>
          <a:p>
            <a:pPr marL="0" indent="0" algn="r" rtl="1">
              <a:buNone/>
            </a:pPr>
            <a:r>
              <a:rPr lang="he-IL" sz="1200"/>
              <a:t>•  אם לא זוכרים, הפנו לשקף השרשרת.</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פרטיות ועלות.</a:t>
            </a:r>
          </a:p>
          <a:p>
            <a:pPr marL="0" indent="0" algn="r" rtl="1">
              <a:buNone/>
            </a:pPr>
            <a:r>
              <a:rPr lang="he-IL" sz="1200" b="1"/>
              <a:t>מה אומרים</a:t>
            </a:r>
          </a:p>
          <a:p>
            <a:pPr marL="0" indent="0" algn="r" rtl="1">
              <a:buNone/>
            </a:pPr>
            <a:r>
              <a:rPr lang="he-IL" sz="1200"/>
              <a:t>•  בחלק העליון הציור: המחשב שלכם מימין, שרתי הספק משמאל, והחץ מראה מה נשלח: הפרומפט והקבצים שהכלי קרא.</a:t>
            </a:r>
          </a:p>
          <a:p>
            <a:pPr marL="0" indent="0" algn="r" rtl="1">
              <a:buNone/>
            </a:pPr>
            <a:r>
              <a:rPr lang="he-IL" sz="1200"/>
              <a:t>•  כלומר מה שהכלי קורא יוצא מהמחשב.</a:t>
            </a:r>
          </a:p>
          <a:p>
            <a:pPr marL="0" indent="0" algn="r" rtl="1">
              <a:buNone/>
            </a:pPr>
            <a:r>
              <a:rPr lang="he-IL" sz="1200"/>
              <a:t>•  שלושת הרמזורים: אדום, לא להעלות נתוני לקוחות, מפתחות, סיסמאות או קוד סודי של ארגון.</a:t>
            </a:r>
          </a:p>
          <a:p>
            <a:pPr marL="0" indent="0" algn="r" rtl="1">
              <a:buNone/>
            </a:pPr>
            <a:r>
              <a:rPr lang="he-IL" sz="1200"/>
              <a:t>•  צהוב, בזהירות עם קוד של הפרויקט, אחרי בדיקת תנאי השימוש.</a:t>
            </a:r>
          </a:p>
          <a:p>
            <a:pPr marL="0" indent="0" algn="r" rtl="1">
              <a:buNone/>
            </a:pPr>
            <a:r>
              <a:rPr lang="he-IL" sz="1200"/>
              <a:t>•  ירוק, נתונים סינתטיים, דוגמאות וקוד ציבורי.</a:t>
            </a:r>
          </a:p>
          <a:p>
            <a:pPr marL="0" indent="0" algn="r" rtl="1">
              <a:buNone/>
            </a:pPr>
            <a:r>
              <a:rPr lang="he-IL" sz="1200" b="1"/>
              <a:t>אנלוגיה</a:t>
            </a:r>
          </a:p>
          <a:p>
            <a:pPr marL="0" indent="0" algn="r" rtl="1">
              <a:buNone/>
            </a:pPr>
            <a:r>
              <a:rPr lang="he-IL" sz="1200"/>
              <a:t>•  מסמכי חברה שלא מוציאים החוצה בלי אישור.</a:t>
            </a:r>
          </a:p>
          <a:p>
            <a:pPr marL="0" indent="0" algn="r" rtl="1">
              <a:buNone/>
            </a:pPr>
            <a:r>
              <a:rPr lang="he-IL" sz="1200"/>
              <a:t>•  בכל המעבדות כאן הנתונים סינתטיים, ולכן אין בעיית פרטיות.</a:t>
            </a:r>
          </a:p>
          <a:p>
            <a:pPr marL="0" indent="0" algn="r" rtl="1">
              <a:buNone/>
            </a:pPr>
            <a:r>
              <a:rPr lang="he-IL" sz="1200"/>
              <a:t>•  המשפט התחתון: חלק מהכלים חינמיים עם מכסה, ומי שמסיים אותה מחכה לחידוש שלה.</a:t>
            </a:r>
          </a:p>
          <a:p>
            <a:pPr marL="0" indent="0" algn="r" rtl="1">
              <a:buNone/>
            </a:pPr>
            <a:r>
              <a:rPr lang="he-IL" sz="1200"/>
              <a:t>•  תנאי השימוש, המכסות והגדרות האימון על הנתונים משתנים ויש לאמת לפני השיעור.</a:t>
            </a:r>
          </a:p>
          <a:p>
            <a:pPr marL="0" indent="0" algn="r" rtl="1">
              <a:buNone/>
            </a:pPr>
            <a:r>
              <a:rPr lang="he-IL" sz="1200" b="1"/>
              <a:t>שאלה לכיתה</a:t>
            </a:r>
          </a:p>
          <a:p>
            <a:pPr marL="0" indent="0" algn="r" rtl="1">
              <a:buNone/>
            </a:pPr>
            <a:r>
              <a:rPr lang="he-IL" sz="1200"/>
              <a:t>•  האם כלי חינמי הוא בהכרח בטוח?</a:t>
            </a:r>
          </a:p>
          <a:p>
            <a:pPr marL="0" indent="0" algn="r" rtl="1">
              <a:buNone/>
            </a:pPr>
            <a:r>
              <a:rPr lang="he-IL" sz="1200" b="1"/>
              <a:t>תשובה</a:t>
            </a:r>
          </a:p>
          <a:p>
            <a:pPr marL="0" indent="0" algn="r" rtl="1">
              <a:buNone/>
            </a:pPr>
            <a:r>
              <a:rPr lang="he-IL" sz="1200"/>
              <a:t>•  לא, תמיד בודקים מה נשלח ומה נעשה בזה.</a:t>
            </a:r>
          </a:p>
          <a:p>
            <a:pPr marL="0" indent="0" algn="r" rtl="1">
              <a:buNone/>
            </a:pPr>
            <a:r>
              <a:rPr lang="he-IL" sz="1200"/>
              <a:t>•  הרחבה במפגשים 10 ו-12.</a:t>
            </a:r>
          </a:p>
          <a:p>
            <a:pPr marL="0" indent="0" algn="r" rtl="1">
              <a:buNone/>
            </a:pPr>
            <a:r>
              <a:rPr lang="he-IL" sz="1200" b="1"/>
              <a:t>להעמקה</a:t>
            </a:r>
          </a:p>
          <a:p>
            <a:pPr marL="0" indent="0" algn="r" rtl="1">
              <a:buNone/>
            </a:pPr>
            <a:r>
              <a:rPr lang="he-IL" sz="1200"/>
              <a:t>•  אחד הכללים בפרטיות הוא שמה שהכלי קורא יוצא מהמחשב, גם בסוכן ״מקומי״.</a:t>
            </a:r>
          </a:p>
          <a:p>
            <a:pPr marL="0" indent="0" algn="r" rtl="1">
              <a:buNone/>
            </a:pPr>
            <a:r>
              <a:rPr lang="he-IL" sz="1200"/>
              <a:t>•  לגבי עוזר ה־AI של Colab, בשאלות הנפוצות של Colab נאמר שהוא אוסף פרומפטים, קוד ופלט, שבודקים אנושיים עשויים לקרוא אותם ושהם נשמרים עד 18 חודשים (נבדק באוקטובר 2026).</a:t>
            </a:r>
          </a:p>
          <a:p>
            <a:pPr marL="0" indent="0" algn="r" rtl="1">
              <a:buNone/>
            </a:pPr>
            <a:r>
              <a:rPr lang="he-IL" sz="1200"/>
              <a:t>•  לכן הנתונים הסינתטיים במעבדה הם הבחירה הנכונה.</a:t>
            </a:r>
          </a:p>
          <a:p>
            <a:pPr marL="0" indent="0" algn="r" rtl="1">
              <a:buNone/>
            </a:pPr>
            <a:r>
              <a:rPr lang="he-IL" sz="1200"/>
              <a:t>•  הרחבה על ההבדל בין שכבות שימוש (חינמי, אישי בתשלום, ארגוני, API) בשקף ההעשרה ״פרטיות לפי שכבת שימוש״.</a:t>
            </a:r>
          </a:p>
          <a:p>
            <a:pPr marL="0" indent="0" algn="r" rtl="1">
              <a:buNone/>
            </a:pPr>
            <a:r>
              <a:rPr lang="he-IL" sz="1200" b="1"/>
              <a:t>חיבור לשיעורים קודמים</a:t>
            </a:r>
          </a:p>
          <a:p>
            <a:pPr marL="0" indent="0" algn="r" rtl="1">
              <a:buNone/>
            </a:pPr>
            <a:r>
              <a:rPr lang="he-IL" sz="1200"/>
              <a:t>•  ממפגש 2, מה שנכנס לחלון ההקשר הוא מה שהמודל קורא, ובכלי ענן הוא נשלח לשרת הספק.</a:t>
            </a:r>
          </a:p>
          <a:p>
            <a:pPr marL="0" indent="0" algn="r" rtl="1">
              <a:buNone/>
            </a:pPr>
            <a:r>
              <a:rPr lang="he-IL" sz="1200"/>
              <a:t>•  לכן פרטיות היא שאלה על תוכן החלון.</a:t>
            </a:r>
          </a:p>
          <a:p>
            <a:pPr marL="0" indent="0" algn="r" rtl="1">
              <a:buNone/>
            </a:pPr>
            <a:r>
              <a:rPr lang="he-IL" sz="1200"/>
              <a:t>•  ממפגש 2 גם: עברית עולה יותר טוקנים מאנגלית, ולכן גם העלות מושפעת מהשפה.</a:t>
            </a:r>
          </a:p>
          <a:p>
            <a:pPr marL="0" indent="0" algn="r" rtl="1">
              <a:buNone/>
            </a:pPr>
            <a:r>
              <a:rPr lang="he-IL" sz="1200" b="1"/>
              <a:t>שאלת היזכרות</a:t>
            </a:r>
          </a:p>
          <a:p>
            <a:pPr marL="0" indent="0" algn="r" rtl="1">
              <a:buNone/>
            </a:pPr>
            <a:r>
              <a:rPr lang="he-IL" sz="1200"/>
              <a:t>•  ״בכמה טוקנים בממוצע עולה מילה בעברית?״ תשובה: כ־2, מול כמעט טוקן אחד באנגלית (לפי הדוגמה במפגש 2).</a:t>
            </a:r>
          </a:p>
          <a:p>
            <a:pPr marL="0" indent="0" algn="r" rtl="1">
              <a:buNone/>
            </a:pPr>
            <a:r>
              <a:rPr lang="he-IL" sz="1200"/>
              <a:t>•  אם לא זוכרים, אמרו שבעברית משלמים יותר ועברו הלאה.</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הכלים מתחלפים.</a:t>
            </a:r>
          </a:p>
          <a:p>
            <a:pPr marL="0" indent="0" algn="r" rtl="1">
              <a:buNone/>
            </a:pPr>
            <a:r>
              <a:rPr lang="he-IL" sz="1200" b="1"/>
              <a:t>מה אומרים</a:t>
            </a:r>
          </a:p>
          <a:p>
            <a:pPr marL="0" indent="0" algn="r" rtl="1">
              <a:buNone/>
            </a:pPr>
            <a:r>
              <a:rPr lang="he-IL" sz="1200"/>
              <a:t>•  במרכז, בעיגול ירוק, תהליך העבודה: פרומפט טוב, הקשר, בדיקה וגרסאות.</a:t>
            </a:r>
          </a:p>
          <a:p>
            <a:pPr marL="0" indent="0" algn="r" rtl="1">
              <a:buNone/>
            </a:pPr>
            <a:r>
              <a:rPr lang="he-IL" sz="1200"/>
              <a:t>•  סביבו כלי א׳, כלי ב׳ וכלי ג׳ בכתום, והחצים המקווקווים מראים שאפשר להחליף ביניהם.</a:t>
            </a:r>
          </a:p>
          <a:p>
            <a:pPr marL="0" indent="0" algn="r" rtl="1">
              <a:buNone/>
            </a:pPr>
            <a:r>
              <a:rPr lang="he-IL" sz="1200"/>
              <a:t>•  המסר בתחתית: כלים מתחלפים כל כמה חודשים, תהליך העבודה נשאר.</a:t>
            </a:r>
          </a:p>
          <a:p>
            <a:pPr marL="0" indent="0" algn="r" rtl="1">
              <a:buNone/>
            </a:pPr>
            <a:r>
              <a:rPr lang="he-IL" sz="1200"/>
              <a:t>•  זו חזרה על רעיון ממפגש 1: לומדים תהליך עבודה ולא כלי.</a:t>
            </a:r>
          </a:p>
          <a:p>
            <a:pPr marL="0" indent="0" algn="r" rtl="1">
              <a:buNone/>
            </a:pPr>
            <a:r>
              <a:rPr lang="he-IL" sz="1200"/>
              <a:t>•  הדוגמה הקרובה: Gemini CLI עם גישה חינמית הוחלף ב-Antigravity CLI בקיץ 2026 (יש לאמת לפני השיעור), ומי שלמד רק את הכלי נאלץ ללמוד מחדש.</a:t>
            </a:r>
          </a:p>
          <a:p>
            <a:pPr marL="0" indent="0" algn="r" rtl="1">
              <a:buNone/>
            </a:pPr>
            <a:r>
              <a:rPr lang="he-IL" sz="1200" b="1"/>
              <a:t>אנלוגיה</a:t>
            </a:r>
          </a:p>
          <a:p>
            <a:pPr marL="0" indent="0" algn="r" rtl="1">
              <a:buNone/>
            </a:pPr>
            <a:r>
              <a:rPr lang="he-IL" sz="1200"/>
              <a:t>•  מהנדס שלמד תהליך שיפור מתמיד ולא רק תוכנת בקרה מסוימת, וממשיך לעבוד גם כשהתוכנה מתחלפת.</a:t>
            </a:r>
          </a:p>
          <a:p>
            <a:pPr marL="0" indent="0" algn="r" rtl="1">
              <a:buNone/>
            </a:pPr>
            <a:r>
              <a:rPr lang="he-IL" sz="1200" b="1"/>
              <a:t>שאלה לכיתה</a:t>
            </a:r>
          </a:p>
          <a:p>
            <a:pPr marL="0" indent="0" algn="r" rtl="1">
              <a:buNone/>
            </a:pPr>
            <a:r>
              <a:rPr lang="he-IL" sz="1200"/>
              <a:t>•  מה נשאר כשהכלי מתחלף?</a:t>
            </a:r>
          </a:p>
          <a:p>
            <a:pPr marL="0" indent="0" algn="r" rtl="1">
              <a:buNone/>
            </a:pPr>
            <a:r>
              <a:rPr lang="he-IL" sz="1200" b="1"/>
              <a:t>תשובה</a:t>
            </a:r>
          </a:p>
          <a:p>
            <a:pPr marL="0" indent="0" algn="r" rtl="1">
              <a:buNone/>
            </a:pPr>
            <a:r>
              <a:rPr lang="he-IL" sz="1200"/>
              <a:t>•  הקריטריונים, הבדיקה והגרסאות.</a:t>
            </a:r>
          </a:p>
          <a:p>
            <a:pPr marL="0" indent="0" algn="r" rtl="1">
              <a:buNone/>
            </a:pPr>
            <a:r>
              <a:rPr lang="he-IL" sz="1200" b="1"/>
              <a:t>טעות נפוצה</a:t>
            </a:r>
          </a:p>
          <a:p>
            <a:pPr marL="0" indent="0" algn="r" rtl="1">
              <a:buNone/>
            </a:pPr>
            <a:r>
              <a:rPr lang="he-IL" sz="1200"/>
              <a:t>•  להשקיע בשינון פקודות של כלי אחד.</a:t>
            </a:r>
          </a:p>
          <a:p>
            <a:pPr marL="0" indent="0" algn="r" rtl="1">
              <a:buNone/>
            </a:pPr>
            <a:r>
              <a:rPr lang="he-IL" sz="1200"/>
              <a:t>•  שקף אופציונלי, כדקה.</a:t>
            </a:r>
          </a:p>
          <a:p>
            <a:pPr marL="0" indent="0" algn="r" rtl="1">
              <a:buNone/>
            </a:pPr>
            <a:r>
              <a:rPr lang="he-IL" sz="1200"/>
              <a:t>•  אפשר לדלג בזמן קצר: הוא חוזר על רעיון ממפגש 1 ומוצג גם בסיכום.</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דוגמאות לכלים, כדקה.</a:t>
            </a:r>
          </a:p>
          <a:p>
            <a:pPr marL="0" indent="0" algn="r" rtl="1">
              <a:buNone/>
            </a:pPr>
            <a:r>
              <a:rPr lang="he-IL" sz="1200" b="1"/>
              <a:t>מה אומרים</a:t>
            </a:r>
          </a:p>
          <a:p>
            <a:pPr marL="0" indent="0" algn="r" rtl="1">
              <a:buNone/>
            </a:pPr>
            <a:r>
              <a:rPr lang="he-IL" sz="1200"/>
              <a:t>•  זו רשימת דוגמאות ולא המלצה, וכל הנתונים בה עלולים להשתנות, ולכן הנוסח שבשקף נבחר להיות נכון לאורך זמן: ״מכסה מוגבלת״ ולא מספרים.</a:t>
            </a:r>
          </a:p>
          <a:p>
            <a:pPr marL="0" indent="0" algn="r" rtl="1">
              <a:buNone/>
            </a:pPr>
            <a:r>
              <a:rPr lang="he-IL" sz="1200"/>
              <a:t>•  נבדק באוקטובר 2026 מול תיעוד רשמי.</a:t>
            </a:r>
          </a:p>
          <a:p>
            <a:pPr marL="0" indent="0" algn="r" rtl="1">
              <a:buNone/>
            </a:pPr>
            <a:r>
              <a:rPr lang="he-IL" sz="1200"/>
              <a:t>•  בצ׳אט: גרסאות חינמיות של Gemini, ChatGPT ו־Claude.ai עם מגבלות שימוש.</a:t>
            </a:r>
          </a:p>
          <a:p>
            <a:pPr marL="0" indent="0" algn="r" rtl="1">
              <a:buNone/>
            </a:pPr>
            <a:r>
              <a:rPr lang="he-IL" sz="1200"/>
              <a:t>•  בעוזר בעורך: GitHub Copilot Free כתוסף ל־VS Code, שלפי התיעוד הרשמי כולל מכסה חודשית של השלמות (2,000 השלמות בחודש בעת הבדיקה) וכן העוזר המובנה ב־Colab.</a:t>
            </a:r>
          </a:p>
          <a:p>
            <a:pPr marL="0" indent="0" algn="r" rtl="1">
              <a:buNone/>
            </a:pPr>
            <a:r>
              <a:rPr lang="he-IL" sz="1200"/>
              <a:t>•  GitHub הודיעה שמ־24 באפריל 2026 נתוני האינטראקציה של Copilot Free, Pro ו־Pro+ ישמשו לאימון אלא אם המשתמש מבטל זאת בהגדרות.</a:t>
            </a:r>
          </a:p>
          <a:p>
            <a:pPr marL="0" indent="0" algn="r" rtl="1">
              <a:buNone/>
            </a:pPr>
            <a:r>
              <a:rPr lang="he-IL" sz="1200"/>
              <a:t>•  בסוכני CLI: ב־18 ביוני 2026 הפסיק Gemini CLI לשרת חשבונות חינמיים ומנויי Google AI Pro ו־Ultra, ואלה עברו ל־Antigravity CLI (לפי ההודעה הרשמית בפרויקט google-gemini/gemini-cli); גישת ארגון או מפתח API בתשלום נשארו.</a:t>
            </a:r>
          </a:p>
          <a:p>
            <a:pPr marL="0" indent="0" algn="r" rtl="1">
              <a:buNone/>
            </a:pPr>
            <a:r>
              <a:rPr lang="he-IL" sz="1200"/>
              <a:t>•  ההודעה אינה קובעת אם Antigravity CLI חינמי, ולכן אל תבטיחו זאת.</a:t>
            </a:r>
          </a:p>
          <a:p>
            <a:pPr marL="0" indent="0" algn="r" rtl="1">
              <a:buNone/>
            </a:pPr>
            <a:r>
              <a:rPr lang="he-IL" sz="1200"/>
              <a:t>•  OpenCode הוא סוכן קוד פתוח (רישיון MIT) שפועל במסוף, בעורך או באפליקציה ותומך בספקי מודלים רבים.</a:t>
            </a:r>
          </a:p>
          <a:p>
            <a:pPr marL="0" indent="0" algn="r" rtl="1">
              <a:buNone/>
            </a:pPr>
            <a:r>
              <a:rPr lang="he-IL" sz="1200"/>
              <a:t>•  Claude Code: לפי התיעוד הרשמי רוב הממשקים דורשים מנוי של Claude או חשבון Anthropic Console.</a:t>
            </a:r>
          </a:p>
          <a:p>
            <a:pPr marL="0" indent="0" algn="r" rtl="1">
              <a:buNone/>
            </a:pPr>
            <a:r>
              <a:rPr lang="he-IL" sz="1200"/>
              <a:t>•  הכלי Z.ai הוסר מהשקף כי לא הצלחנו לאמת את תנאיו.</a:t>
            </a:r>
          </a:p>
          <a:p>
            <a:pPr marL="0" indent="0" algn="r" rtl="1">
              <a:buNone/>
            </a:pPr>
            <a:r>
              <a:rPr lang="he-IL" sz="1200"/>
              <a:t>•  לפני השיעור: לבדוק את הטבלה מול הדפים הרשמיים.</a:t>
            </a:r>
          </a:p>
          <a:p>
            <a:pPr marL="0" indent="0" algn="r" rtl="1">
              <a:buNone/>
            </a:pPr>
            <a:r>
              <a:rPr lang="he-IL" sz="1200" b="1"/>
              <a:t>שאלה לכיתה</a:t>
            </a:r>
          </a:p>
          <a:p>
            <a:pPr marL="0" indent="0" algn="r" rtl="1">
              <a:buNone/>
            </a:pPr>
            <a:r>
              <a:rPr lang="he-IL" sz="1200"/>
              <a:t>•  מה אתם בודקים לפני שמשתמשים בכלי חדש?</a:t>
            </a:r>
          </a:p>
          <a:p>
            <a:pPr marL="0" indent="0" algn="r" rtl="1">
              <a:buNone/>
            </a:pPr>
            <a:r>
              <a:rPr lang="he-IL" sz="1200" b="1"/>
              <a:t>תשובה</a:t>
            </a:r>
          </a:p>
          <a:p>
            <a:pPr marL="0" indent="0" algn="r" rtl="1">
              <a:buNone/>
            </a:pPr>
            <a:r>
              <a:rPr lang="he-IL" sz="1200"/>
              <a:t>•  מחיר ומכסה, מה נשלח, ותנאי האימון.</a:t>
            </a:r>
          </a:p>
          <a:p>
            <a:pPr marL="0" indent="0" algn="r" rtl="1">
              <a:spcBef>
                <a:spcPts val="800"/>
              </a:spcBef>
              <a:buNone/>
            </a:pPr>
            <a:r>
              <a:rPr lang="he-IL" sz="1200" b="1"/>
              <a:t>עדכון MCP</a:t>
            </a:r>
          </a:p>
          <a:p>
            <a:pPr marL="0" indent="0" algn="r" rtl="1">
              <a:buNone/>
            </a:pPr>
            <a:r>
              <a:rPr lang="he-IL" sz="1200" b="0"/>
              <a:t>•  שקף זה סומן אופציונלי כדי לפנות כ־12 דקות לבלוק MCP בלי לגעת בזמני המעבדות.</a:t>
            </a:r>
          </a:p>
          <a:p>
            <a:pPr marL="0" indent="0" algn="r" rtl="1">
              <a:buNone/>
            </a:pPr>
            <a:r>
              <a:rPr lang="he-IL" sz="1200" b="0"/>
              <a:t>•  אפשר לדלג: הדוגמאות לכלים משתנות במהירות, והשיטה חשובה מהן (כדקה).</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שאלת בדיקה לסוף חלק ב׳, כ-2 דקות.</a:t>
            </a:r>
          </a:p>
          <a:p>
            <a:pPr marL="0" indent="0" algn="r" rtl="1">
              <a:buNone/>
            </a:pPr>
            <a:r>
              <a:rPr lang="he-IL" sz="1200" b="1"/>
              <a:t>מה אומרים</a:t>
            </a:r>
          </a:p>
          <a:p>
            <a:pPr marL="0" indent="0" algn="r" rtl="1">
              <a:buNone/>
            </a:pPr>
            <a:r>
              <a:rPr lang="he-IL" sz="1200"/>
              <a:t>•  קראו את השאלה: למה לא כדאי לתת לסוכן לעבוד באוטונומיה מלאה על פרויקט שאין לו גיבוי?</a:t>
            </a:r>
          </a:p>
          <a:p>
            <a:pPr marL="0" indent="0" algn="r" rtl="1">
              <a:buNone/>
            </a:pPr>
            <a:r>
              <a:rPr lang="he-IL" sz="1200"/>
              <a:t>•  תנו לסטודנטים 30 שניות לחשוב, ואז בקשו שתי תשובות.</a:t>
            </a:r>
          </a:p>
          <a:p>
            <a:pPr marL="0" indent="0" algn="r" rtl="1">
              <a:buNone/>
            </a:pPr>
            <a:r>
              <a:rPr lang="he-IL" sz="1200"/>
              <a:t>•  אל תחשפו עדיין את התשובה.</a:t>
            </a:r>
          </a:p>
          <a:p>
            <a:pPr marL="0" indent="0" algn="r" rtl="1">
              <a:buNone/>
            </a:pPr>
            <a:r>
              <a:rPr lang="he-IL" sz="1200"/>
              <a:t>•  כיוון: מה קורה אם הסוכן טועה?</a:t>
            </a:r>
          </a:p>
          <a:p>
            <a:pPr marL="0" indent="0" algn="r" rtl="1">
              <a:buNone/>
            </a:pPr>
            <a:r>
              <a:rPr lang="he-IL" sz="1200"/>
              <a:t>•  האם אפשר לחזור לאחור?</a:t>
            </a:r>
          </a:p>
          <a:p>
            <a:pPr marL="0" indent="0" algn="r" rtl="1">
              <a:buNone/>
            </a:pPr>
            <a:r>
              <a:rPr lang="he-IL" sz="1200" b="1"/>
              <a:t>אנלוגיה</a:t>
            </a:r>
          </a:p>
          <a:p>
            <a:pPr marL="0" indent="0" algn="r" rtl="1">
              <a:buNone/>
            </a:pPr>
            <a:r>
              <a:rPr lang="he-IL" sz="1200"/>
              <a:t>•  עבודה על קובץ אקסל יחיד ללא שמירת גרסאות, ונותנים למישהו לערוך אותו בלי להסתכל.</a:t>
            </a:r>
          </a:p>
          <a:p>
            <a:pPr marL="0" indent="0" algn="r" rtl="1">
              <a:buNone/>
            </a:pPr>
            <a:r>
              <a:rPr lang="he-IL" sz="1200"/>
              <a:t>•  אם הכיתה מתקשה, החזירו לשקף ״מה יכול להשתבש״ ולשקף ״סולם האוטונומיה״.</a:t>
            </a:r>
          </a:p>
          <a:p>
            <a:pPr marL="0" indent="0" algn="r" rtl="1">
              <a:buNone/>
            </a:pPr>
            <a:r>
              <a:rPr lang="he-IL" sz="1200"/>
              <a:t>•  זה בודק שני דברים: הבנת הסיכון והבנת הפתרון המעשי.</a:t>
            </a:r>
          </a:p>
          <a:p>
            <a:pPr marL="0" indent="0" algn="r" rtl="1">
              <a:spcBef>
                <a:spcPts val="800"/>
              </a:spcBef>
              <a:buNone/>
            </a:pPr>
            <a:r>
              <a:rPr lang="he-IL" sz="1200" b="1"/>
              <a:t>עדכון MCP</a:t>
            </a:r>
          </a:p>
          <a:p>
            <a:pPr marL="0" indent="0" algn="r" rtl="1">
              <a:buNone/>
            </a:pPr>
            <a:r>
              <a:rPr lang="he-IL" sz="1200" b="0"/>
              <a:t>•  שקף זה סומן אופציונלי כדי לפנות כ־12 דקות לבלוק MCP בלי לגעת בזמני המעבדות.</a:t>
            </a:r>
          </a:p>
          <a:p>
            <a:pPr marL="0" indent="0" algn="r" rtl="1">
              <a:buNone/>
            </a:pPr>
            <a:r>
              <a:rPr lang="he-IL" sz="1200" b="0"/>
              <a:t>•  אפשר לדלג על שאלת הבדיקה ועל התשובה שאחריה אם הזמן קצר (כדקה לכל שקף).</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תשובה.</a:t>
            </a:r>
          </a:p>
          <a:p>
            <a:pPr marL="0" indent="0" algn="r" rtl="1">
              <a:buNone/>
            </a:pPr>
            <a:r>
              <a:rPr lang="he-IL" sz="1200" b="1"/>
              <a:t>מה אומרים</a:t>
            </a:r>
          </a:p>
          <a:p>
            <a:pPr marL="0" indent="0" algn="r" rtl="1">
              <a:buNone/>
            </a:pPr>
            <a:r>
              <a:rPr lang="he-IL" sz="1200"/>
              <a:t>•  אם הסוכן מוחק או משנה קבצים בשוגג, אין דרך לחזור למצב הקודם.</a:t>
            </a:r>
          </a:p>
          <a:p>
            <a:pPr marL="0" indent="0" algn="r" rtl="1">
              <a:buNone/>
            </a:pPr>
            <a:r>
              <a:rPr lang="he-IL" sz="1200"/>
              <a:t>•  לכן עושים commit לפני, וקוראים את השינויים אחרי.</a:t>
            </a:r>
          </a:p>
          <a:p>
            <a:pPr marL="0" indent="0" algn="r" rtl="1">
              <a:buNone/>
            </a:pPr>
            <a:r>
              <a:rPr lang="he-IL" sz="1200"/>
              <a:t>•  Git נלמד במפגש 6.</a:t>
            </a:r>
          </a:p>
          <a:p>
            <a:pPr marL="0" indent="0" algn="r" rtl="1">
              <a:buNone/>
            </a:pPr>
            <a:r>
              <a:rPr lang="he-IL" sz="1200"/>
              <a:t>•  תשובות משלימות שאפשר לקבל מהכיתה: להפעיל סוכן ברמת אוטונומיה נמוכה כדי שיבקש אישורים, לעבוד בסביבה מבודדת כמו Codespace, ולא לתת לו גישה לקבצים רגישים.</a:t>
            </a:r>
          </a:p>
          <a:p>
            <a:pPr marL="0" indent="0" algn="r" rtl="1">
              <a:buNone/>
            </a:pPr>
            <a:r>
              <a:rPr lang="he-IL" sz="1200" b="1"/>
              <a:t>אנלוגיה</a:t>
            </a:r>
          </a:p>
          <a:p>
            <a:pPr marL="0" indent="0" algn="r" rtl="1">
              <a:buNone/>
            </a:pPr>
            <a:r>
              <a:rPr lang="he-IL" sz="1200"/>
              <a:t>•  כפתור ביטול בתוכנה.</a:t>
            </a:r>
          </a:p>
          <a:p>
            <a:pPr marL="0" indent="0" algn="r" rtl="1">
              <a:buNone/>
            </a:pPr>
            <a:r>
              <a:rPr lang="he-IL" sz="1200"/>
              <a:t>•  בלי גיבוי אין כפתור כזה.</a:t>
            </a:r>
          </a:p>
          <a:p>
            <a:pPr marL="0" indent="0" algn="r" rtl="1">
              <a:buNone/>
            </a:pPr>
            <a:r>
              <a:rPr lang="he-IL" sz="1200" b="1"/>
              <a:t>טעות נפוצה</a:t>
            </a:r>
          </a:p>
          <a:p>
            <a:pPr marL="0" indent="0" algn="r" rtl="1">
              <a:buNone/>
            </a:pPr>
            <a:r>
              <a:rPr lang="he-IL" sz="1200"/>
              <a:t>•  להאמין שהסוכן לא יטעה, או שכל טעות תהיה בולטת.</a:t>
            </a:r>
          </a:p>
          <a:p>
            <a:pPr marL="0" indent="0" algn="r" rtl="1">
              <a:buNone/>
            </a:pPr>
            <a:r>
              <a:rPr lang="he-IL" sz="1200"/>
              <a:t>•  חלק מהטעויות שקטות, למשל שינוי קטן בקובץ שלא ביקשתם.</a:t>
            </a:r>
          </a:p>
          <a:p>
            <a:pPr marL="0" indent="0" algn="r" rtl="1">
              <a:buNone/>
            </a:pPr>
            <a:r>
              <a:rPr lang="he-IL" sz="1200"/>
              <a:t>•  זה מסיים את חלק ב׳ ומכין למעבדה ב׳, שבה נקרא תמלול של ריצת סוכן.</a:t>
            </a:r>
          </a:p>
          <a:p>
            <a:pPr marL="0" indent="0" algn="r" rtl="1">
              <a:buNone/>
            </a:pPr>
            <a:r>
              <a:rPr lang="he-IL" sz="1200"/>
              <a:t>•  אחרי השאלה באים שקפי ההעשרה (אופציונליים) ושקף הגשר ״איך קוראים תמלול של סוכן״.</a:t>
            </a:r>
          </a:p>
          <a:p>
            <a:pPr marL="0" indent="0" algn="r" rtl="1">
              <a:spcBef>
                <a:spcPts val="800"/>
              </a:spcBef>
              <a:buNone/>
            </a:pPr>
            <a:r>
              <a:rPr lang="he-IL" sz="1200" b="1"/>
              <a:t>עדכון MCP</a:t>
            </a:r>
          </a:p>
          <a:p>
            <a:pPr marL="0" indent="0" algn="r" rtl="1">
              <a:buNone/>
            </a:pPr>
            <a:r>
              <a:rPr lang="he-IL" sz="1200" b="0"/>
              <a:t>•  שקף זה סומן אופציונלי כדי לפנות כ־12 דקות לבלוק MCP בלי לגעת בזמני המעבדות.</a:t>
            </a:r>
          </a:p>
          <a:p>
            <a:pPr marL="0" indent="0" algn="r" rtl="1">
              <a:buNone/>
            </a:pPr>
            <a:r>
              <a:rPr lang="he-IL" sz="1200" b="0"/>
              <a:t>•  אפשר לדלג יחד עם השקף הקודם.</a:t>
            </a:r>
          </a:p>
          <a:p>
            <a:pPr marL="0" indent="0" algn="r" rtl="1">
              <a:buNone/>
            </a:pPr>
            <a:r>
              <a:rPr lang="he-IL" sz="1200" b="0"/>
              <a:t>•  את הרעיון ״גיבוי לפני סוכן״ אפשר לומר בעל פה.</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מה הופך מודל לסוכן, כדקה וחצי.</a:t>
            </a:r>
          </a:p>
          <a:p>
            <a:pPr marL="0" indent="0" algn="r" rtl="1">
              <a:spcBef>
                <a:spcPts val="800"/>
              </a:spcBef>
              <a:buNone/>
            </a:pPr>
            <a:r>
              <a:rPr lang="he-IL" sz="1200" b="1"/>
              <a:t>מה אומרים</a:t>
            </a:r>
          </a:p>
          <a:p>
            <a:pPr marL="0" indent="0" algn="r" rtl="1">
              <a:buNone/>
            </a:pPr>
            <a:r>
              <a:rPr lang="he-IL" sz="1200"/>
              <a:t>•  מה לומר: צ׳אט מקבל שאלה ועונה בטקסט.</a:t>
            </a:r>
          </a:p>
          <a:p>
            <a:pPr marL="0" indent="0" algn="r" rtl="1">
              <a:buNone/>
            </a:pPr>
            <a:r>
              <a:rPr lang="he-IL" sz="1200"/>
              <a:t>•  סוכן הוא מודל שיושב בתוך לולאה: הוא מתכנן צעד, מבקש פעולה (קריאה לכלי), מקבל את התוצאה כתצפית וממשיך עד שהמשימה נסגרת.</a:t>
            </a:r>
          </a:p>
          <a:p>
            <a:pPr marL="0" indent="0" algn="r" rtl="1">
              <a:buNone/>
            </a:pPr>
            <a:r>
              <a:rPr lang="he-IL" sz="1200"/>
              <a:t>•  בשקף שלוש תיבות מימין לשמאל, תכנון, פעולה ותצפית, והחץ האדום המקווקו מחזיר ללולאה.</a:t>
            </a:r>
          </a:p>
          <a:p>
            <a:pPr marL="0" indent="0" algn="r" rtl="1">
              <a:buNone/>
            </a:pPr>
            <a:r>
              <a:rPr lang="he-IL" sz="1200"/>
              <a:t>•  ארבעת הרכיבים בתחתית הם מסגרת ההוראה של הקורס: תכנון, זיכרון, כלים ופעולה.</a:t>
            </a:r>
          </a:p>
          <a:p>
            <a:pPr marL="0" indent="0" algn="r" rtl="1">
              <a:buNone/>
            </a:pPr>
            <a:r>
              <a:rPr lang="he-IL" sz="1200"/>
              <a:t>•  עובדה מבוססת: בבלוג של Lilian Weng (23.6.2023) מתואר סוכן מבוסס מודל שפה סביב שלושה רכיבים, תכנון, זיכרון ושימוש בכלים; את ״פעולה״ כרכיב רביעי הוספנו אנחנו כדי להדגיש שהסוכן משנה משהו בעולם.</a:t>
            </a:r>
          </a:p>
          <a:p>
            <a:pPr marL="0" indent="0" algn="r" rtl="1">
              <a:buNone/>
            </a:pPr>
            <a:r>
              <a:rPr lang="he-IL" sz="1200"/>
              <a:t>•  ReAct (Yao ועמיתים, ICLR 2023, arXiv 2210.03629) הציע לשלב חשיבה ופעולות לסירוגין, כך שהחשיבה מכוונת את הפעולה והתצפית מתקנת את החשיבה.</a:t>
            </a:r>
          </a:p>
          <a:p>
            <a:pPr marL="0" indent="0" algn="r" rtl="1">
              <a:buNone/>
            </a:pPr>
            <a:r>
              <a:rPr lang="he-IL" sz="1200"/>
              <a:t>•  Tool use, או function calling: לפי התיעוד של Anthropic המודל מחזיר בקשה מובנית (בלוק tool_use עם שם הכלי והארגומנטים), האפליקציה מריצה את הפעולה ומחזירה tool_result.</a:t>
            </a:r>
          </a:p>
          <a:p>
            <a:pPr marL="0" indent="0" algn="r" rtl="1">
              <a:buNone/>
            </a:pPr>
            <a:r>
              <a:rPr lang="he-IL" sz="1200"/>
              <a:t>•  המודל עצמו אינו מריץ דבר.</a:t>
            </a:r>
          </a:p>
          <a:p>
            <a:pPr marL="0" indent="0" algn="r" rtl="1">
              <a:buNone/>
            </a:pPr>
            <a:r>
              <a:rPr lang="he-IL" sz="1200"/>
              <a:t>•  זו המעטפת של מפגש 5.</a:t>
            </a:r>
          </a:p>
          <a:p>
            <a:pPr marL="0" indent="0" algn="r" rtl="1">
              <a:buNone/>
            </a:pPr>
            <a:r>
              <a:rPr lang="he-IL" sz="1200"/>
              <a:t>•  הבחנה של Anthropic (Building effective agents, 19.12.2024): ב־workflow מסלול הקוד קבוע מראש, ובסוכן המודל מכוון בעצמו את התהליך.</a:t>
            </a:r>
          </a:p>
          <a:p>
            <a:pPr marL="0" indent="0" algn="r" rtl="1">
              <a:spcBef>
                <a:spcPts val="800"/>
              </a:spcBef>
              <a:buNone/>
            </a:pPr>
            <a:r>
              <a:rPr lang="he-IL" sz="1200" b="1"/>
              <a:t>אנלוגיה</a:t>
            </a:r>
          </a:p>
          <a:p>
            <a:pPr marL="0" indent="0" algn="r" rtl="1">
              <a:buNone/>
            </a:pPr>
            <a:r>
              <a:rPr lang="he-IL" sz="1200"/>
              <a:t>•  מנהל משמרת שמקבל משימה, בודק במחסן (קורא לכלי), מקבל תשובה ומחליט על הצעד הבא.</a:t>
            </a:r>
          </a:p>
          <a:p>
            <a:pPr marL="0" indent="0" algn="r" rtl="1">
              <a:spcBef>
                <a:spcPts val="800"/>
              </a:spcBef>
              <a:buNone/>
            </a:pPr>
            <a:r>
              <a:rPr lang="he-IL" sz="1200" b="1"/>
              <a:t>שאלה לכיתה</a:t>
            </a:r>
          </a:p>
          <a:p>
            <a:pPr marL="0" indent="0" algn="r" rtl="1">
              <a:buNone/>
            </a:pPr>
            <a:r>
              <a:rPr lang="he-IL" sz="1200"/>
              <a:t>•  מה ההבדל בין צ׳אט לסוכן?</a:t>
            </a:r>
          </a:p>
          <a:p>
            <a:pPr marL="0" indent="0" algn="r" rtl="1">
              <a:spcBef>
                <a:spcPts val="800"/>
              </a:spcBef>
              <a:buNone/>
            </a:pPr>
            <a:r>
              <a:rPr lang="he-IL" sz="1200" b="1"/>
              <a:t>תשובה</a:t>
            </a:r>
          </a:p>
          <a:p>
            <a:pPr marL="0" indent="0" algn="r" rtl="1">
              <a:buNone/>
            </a:pPr>
            <a:r>
              <a:rPr lang="he-IL" sz="1200"/>
              <a:t>•  לסוכן יש כלים ולולאה, והוא פועל בעולם ולא רק כותב טקסט.</a:t>
            </a:r>
          </a:p>
          <a:p>
            <a:pPr marL="0" indent="0" algn="r" rtl="1">
              <a:spcBef>
                <a:spcPts val="800"/>
              </a:spcBef>
              <a:buNone/>
            </a:pPr>
            <a:r>
              <a:rPr lang="he-IL" sz="1200" b="1"/>
              <a:t>טעות נפוצה</a:t>
            </a:r>
          </a:p>
          <a:p>
            <a:pPr marL="0" indent="0" algn="r" rtl="1">
              <a:buNone/>
            </a:pPr>
            <a:r>
              <a:rPr lang="he-IL" sz="1200"/>
              <a:t>•  לחשוב שהמודל מריץ את הכלי בעצמו.</a:t>
            </a:r>
          </a:p>
          <a:p>
            <a:pPr marL="0" indent="0" algn="r" rtl="1">
              <a:buNone/>
            </a:pPr>
            <a:r>
              <a:rPr lang="he-IL" sz="1200"/>
              <a:t>•  הוא רק מבקש, והמעטפת מבצעת, ולכן יש מי שיכול לחסום.</a:t>
            </a:r>
          </a:p>
          <a:p>
            <a:pPr marL="0" indent="0" algn="r" rtl="1">
              <a:buNone/>
            </a:pPr>
            <a:r>
              <a:rPr lang="he-IL" sz="1200"/>
              <a:t>•  זו עובדה; ההמלצה לבדוק כל פעולה היא פרקטיקה.</a:t>
            </a:r>
          </a:p>
          <a:p>
            <a:pPr marL="0" indent="0" algn="r" rtl="1">
              <a:spcBef>
                <a:spcPts val="800"/>
              </a:spcBef>
              <a:buNone/>
            </a:pPr>
            <a:r>
              <a:rPr lang="he-IL" sz="1200" b="1"/>
              <a:t>מקורות</a:t>
            </a:r>
          </a:p>
          <a:p>
            <a:pPr marL="0" indent="0" algn="r" rtl="1">
              <a:buNone/>
            </a:pPr>
            <a:r>
              <a:rPr lang="he-IL" sz="1200"/>
              <a:t>•  Yao et al.</a:t>
            </a:r>
          </a:p>
          <a:p>
            <a:pPr marL="0" indent="0" algn="r" rtl="1">
              <a:buNone/>
            </a:pPr>
            <a:r>
              <a:rPr lang="he-IL" sz="1200"/>
              <a:t>•  2023; Weng 2023; תיעוד tool use של Anthropic; Anthropic, Building effective agents.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למה צריך תקן, ומה זה MCP, כדקה וחצי.</a:t>
            </a:r>
          </a:p>
          <a:p>
            <a:pPr marL="0" indent="0" algn="r" rtl="1">
              <a:spcBef>
                <a:spcPts val="800"/>
              </a:spcBef>
              <a:buNone/>
            </a:pPr>
            <a:r>
              <a:rPr lang="he-IL" sz="1200" b="1"/>
              <a:t>מה אומרים</a:t>
            </a:r>
          </a:p>
          <a:p>
            <a:pPr marL="0" indent="0" algn="r" rtl="1">
              <a:buNone/>
            </a:pPr>
            <a:r>
              <a:rPr lang="he-IL" sz="1200"/>
              <a:t>•  מה לומר: בלי תקן, כל אפליקציה (צ׳אט, עורך, סוכן) צריכה קוד מותאם לכל כלי (מסד נתונים, קבצים, מייל): שלוש כפול שלוש הן תשעה חיבורים, ובכל כלי חדש מוסיפים עוד.</a:t>
            </a:r>
          </a:p>
          <a:p>
            <a:pPr marL="0" indent="0" algn="r" rtl="1">
              <a:buNone/>
            </a:pPr>
            <a:r>
              <a:rPr lang="he-IL" sz="1200"/>
              <a:t>•  עם תקן משותף כל אפליקציה מדברת עם הכול דרך אותו חיבור: שלוש ועוד שלוש הן שישה.</a:t>
            </a:r>
          </a:p>
          <a:p>
            <a:pPr marL="0" indent="0" algn="r" rtl="1">
              <a:spcBef>
                <a:spcPts val="800"/>
              </a:spcBef>
              <a:buNone/>
            </a:pPr>
            <a:r>
              <a:rPr lang="he-IL" sz="1200" b="1"/>
              <a:t>אנלוגיה</a:t>
            </a:r>
          </a:p>
          <a:p>
            <a:pPr marL="0" indent="0" algn="r" rtl="1">
              <a:buNone/>
            </a:pPr>
            <a:r>
              <a:rPr lang="he-IL" sz="1200"/>
              <a:t>•  שקע חשמל סטנדרטי במקום מתאם לכל מכשיר, או ברגים תקניים במפעל.</a:t>
            </a:r>
          </a:p>
          <a:p>
            <a:pPr marL="0" indent="0" algn="r" rtl="1">
              <a:buNone/>
            </a:pPr>
            <a:r>
              <a:rPr lang="he-IL" sz="1200"/>
              <a:t>•  הערת דיוק: הניסוח ״N כפול M״ הוא הסבר הוראה שלנו.</a:t>
            </a:r>
          </a:p>
          <a:p>
            <a:pPr marL="0" indent="0" algn="r" rtl="1">
              <a:buNone/>
            </a:pPr>
            <a:r>
              <a:rPr lang="he-IL" sz="1200"/>
              <a:t>•  בהודעת ההשקה של Anthropic מ־25.11.2024 הבעיה מתוארת כפיצול: כל מקור נתונים דורש מימוש מותאם, והפרוטוקול מחליף אותם בתקן אחד.</a:t>
            </a:r>
          </a:p>
          <a:p>
            <a:pPr marL="0" indent="0" algn="r" rtl="1">
              <a:buNone/>
            </a:pPr>
            <a:r>
              <a:rPr lang="he-IL" sz="1200"/>
              <a:t>•  Anthropic הציגה את MCP כתקן פתוח; ב־9.12.2025 הועבר MCP לקרן Agentic AI Foundation של Linux Foundation (הודעת ה־Linux Foundation, שם נמנים גם goose ו־AGENTS.md).</a:t>
            </a:r>
          </a:p>
          <a:p>
            <a:pPr marL="0" indent="0" algn="r" rtl="1">
              <a:buNone/>
            </a:pPr>
            <a:r>
              <a:rPr lang="he-IL" sz="1200"/>
              <a:t>•  מה השרת חושף לפי המפרט: כלים (tools), פונקציות שהמודל מפעיל; משאבים (resources), הקשר ונתונים; תבניות (prompts), הודעות והנחיות מוכנות.</a:t>
            </a:r>
          </a:p>
          <a:p>
            <a:pPr marL="0" indent="0" algn="r" rtl="1">
              <a:buNone/>
            </a:pPr>
            <a:r>
              <a:rPr lang="he-IL" sz="1200"/>
              <a:t>•  מה הלקוח יכול להציע: elicitation, בקשת מידע מהמשתמש באמצע התהליך.</a:t>
            </a:r>
          </a:p>
          <a:p>
            <a:pPr marL="0" indent="0" algn="r" rtl="1">
              <a:buNone/>
            </a:pPr>
            <a:r>
              <a:rPr lang="he-IL" sz="1200"/>
              <a:t>•  במפרט 2025-11-25 הלקוח הציע גם sampling ו־roots, ובמפרט 2026-07-28 שני אלה, וגם logging, סומנו כמיושנים (deprecated) ויישארו לפחות שנה.</a:t>
            </a:r>
          </a:p>
          <a:p>
            <a:pPr marL="0" indent="0" algn="r" rtl="1">
              <a:buNone/>
            </a:pPr>
            <a:r>
              <a:rPr lang="he-IL" sz="1200"/>
              <a:t>•  לכן אין צורך ללמוד אותם עכשיו.</a:t>
            </a:r>
          </a:p>
          <a:p>
            <a:pPr marL="0" indent="0" algn="r" rtl="1">
              <a:buNone/>
            </a:pPr>
            <a:r>
              <a:rPr lang="he-IL" sz="1200"/>
              <a:t>•  מפרט עדכני: 2026-07-28 (modelcontextprotocol.io, נבדק 23.10.2026).</a:t>
            </a:r>
          </a:p>
          <a:p>
            <a:pPr marL="0" indent="0" algn="r" rtl="1">
              <a:spcBef>
                <a:spcPts val="800"/>
              </a:spcBef>
              <a:buNone/>
            </a:pPr>
            <a:r>
              <a:rPr lang="he-IL" sz="1200" b="1"/>
              <a:t>שאלה לכיתה</a:t>
            </a:r>
          </a:p>
          <a:p>
            <a:pPr marL="0" indent="0" algn="r" rtl="1">
              <a:buNone/>
            </a:pPr>
            <a:r>
              <a:rPr lang="he-IL" sz="1200"/>
              <a:t>•  מה היתרון של חיבור אחד סטנדרטי?</a:t>
            </a:r>
          </a:p>
          <a:p>
            <a:pPr marL="0" indent="0" algn="r" rtl="1">
              <a:spcBef>
                <a:spcPts val="800"/>
              </a:spcBef>
              <a:buNone/>
            </a:pPr>
            <a:r>
              <a:rPr lang="he-IL" sz="1200" b="1"/>
              <a:t>תשובה</a:t>
            </a:r>
          </a:p>
          <a:p>
            <a:pPr marL="0" indent="0" algn="r" rtl="1">
              <a:buNone/>
            </a:pPr>
            <a:r>
              <a:rPr lang="he-IL" sz="1200"/>
              <a:t>•  כותבים שרת פעם אחת והוא עובד מול כל לקוח שתומך בתקן, וכל כלי חדש לא מחייב קוד חדש בכל אפליקציה.</a:t>
            </a:r>
          </a:p>
          <a:p>
            <a:pPr marL="0" indent="0" algn="r" rtl="1">
              <a:spcBef>
                <a:spcPts val="800"/>
              </a:spcBef>
              <a:buNone/>
            </a:pPr>
            <a:r>
              <a:rPr lang="he-IL" sz="1200" b="1"/>
              <a:t>טעות נפוצה</a:t>
            </a:r>
          </a:p>
          <a:p>
            <a:pPr marL="0" indent="0" algn="r" rtl="1">
              <a:buNone/>
            </a:pPr>
            <a:r>
              <a:rPr lang="he-IL" sz="1200"/>
              <a:t>•  לחשוב ש־MCP הוא מוצר של חברה אחת או ספרייה.</a:t>
            </a:r>
          </a:p>
          <a:p>
            <a:pPr marL="0" indent="0" algn="r" rtl="1">
              <a:buNone/>
            </a:pPr>
            <a:r>
              <a:rPr lang="he-IL" sz="1200"/>
              <a:t>•  הוא פרוטוקול (כללי שיחה) עם מפרט וכמה מימושים.</a:t>
            </a:r>
          </a:p>
          <a:p>
            <a:pPr marL="0" indent="0" algn="r" rtl="1">
              <a:buNone/>
            </a:pPr>
            <a:r>
              <a:rPr lang="he-IL" sz="1200"/>
              <a:t>•  מה שנאמר כעובדה: המקור, התאריכים, שלושת המרכיבים.</a:t>
            </a:r>
          </a:p>
          <a:p>
            <a:pPr marL="0" indent="0" algn="r" rtl="1">
              <a:buNone/>
            </a:pPr>
            <a:r>
              <a:rPr lang="he-IL" sz="1200"/>
              <a:t>•  המלצה: לבדוק את גרסת המפרט שהכלי שלכם תומך בה.</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מבנה MCP, ארבע שכבות, כשתי דקות.</a:t>
            </a:r>
          </a:p>
          <a:p>
            <a:pPr marL="0" indent="0" algn="r" rtl="1">
              <a:spcBef>
                <a:spcPts val="800"/>
              </a:spcBef>
              <a:buNone/>
            </a:pPr>
            <a:r>
              <a:rPr lang="he-IL" sz="1200" b="1"/>
              <a:t>מה אומרים</a:t>
            </a:r>
          </a:p>
          <a:p>
            <a:pPr marL="0" indent="0" algn="r" rtl="1">
              <a:buNone/>
            </a:pPr>
            <a:r>
              <a:rPr lang="he-IL" sz="1200"/>
              <a:t>•  קראו את התרשים מימין לשמאל.</a:t>
            </a:r>
          </a:p>
          <a:p>
            <a:pPr marL="0" indent="0" algn="r" rtl="1">
              <a:buNone/>
            </a:pPr>
            <a:r>
              <a:rPr lang="he-IL" sz="1200"/>
              <a:t>•  משתמש (כחול) מדבר עם ה־host, אפליקציית הסוכן (כתום).</a:t>
            </a:r>
          </a:p>
          <a:p>
            <a:pPr marL="0" indent="0" algn="r" rtl="1">
              <a:buNone/>
            </a:pPr>
            <a:r>
              <a:rPr lang="he-IL" sz="1200"/>
              <a:t>•  בתוך ה־host שני רכיבים: המודל (LLM), והלקוח (client) של MCP.</a:t>
            </a:r>
          </a:p>
          <a:p>
            <a:pPr marL="0" indent="0" algn="r" rtl="1">
              <a:buNone/>
            </a:pPr>
            <a:r>
              <a:rPr lang="he-IL" sz="1200"/>
              <a:t>•  מכאן ה־host מדבר עם שרת MCP (ירוק־כחול), שמכיר את מקור הנתונים ומריץ בו את הפעולות; בקצה השמאלי מסד הנתונים.</a:t>
            </a:r>
          </a:p>
          <a:p>
            <a:pPr marL="0" indent="0" algn="r" rtl="1">
              <a:buNone/>
            </a:pPr>
            <a:r>
              <a:rPr lang="he-IL" sz="1200"/>
              <a:t>•  במפרט: ה־host הוא אפליקציית ה־LLM שיוזמת חיבורים, הלקוח הוא מחבר בתוך ה־host, והשרת מספק הקשר ויכולות.</a:t>
            </a:r>
          </a:p>
          <a:p>
            <a:pPr marL="0" indent="0" algn="r" rtl="1">
              <a:buNone/>
            </a:pPr>
            <a:r>
              <a:rPr lang="he-IL" sz="1200"/>
              <a:t>•  התקשורת היא הודעות JSON־RPC 2.0.</a:t>
            </a:r>
          </a:p>
          <a:p>
            <a:pPr marL="0" indent="0" algn="r" rtl="1">
              <a:buNone/>
            </a:pPr>
            <a:r>
              <a:rPr lang="he-IL" sz="1200"/>
              <a:t>•  שלוש נקודות לסמן.</a:t>
            </a:r>
          </a:p>
          <a:p>
            <a:pPr marL="0" indent="0" algn="r" rtl="1">
              <a:buNone/>
            </a:pPr>
            <a:r>
              <a:rPr lang="he-IL" sz="1200"/>
              <a:t>•  אחד, איפה המודל: בתוך ה־host.</a:t>
            </a:r>
          </a:p>
          <a:p>
            <a:pPr marL="0" indent="0" algn="r" rtl="1">
              <a:buNone/>
            </a:pPr>
            <a:r>
              <a:rPr lang="he-IL" sz="1200"/>
              <a:t>•  המודל רואה רק טקסט: שם, תיאור וסכמה של כל כלי, ואת התוצאות שחוזרות.</a:t>
            </a:r>
          </a:p>
          <a:p>
            <a:pPr marL="0" indent="0" algn="r" rtl="1">
              <a:buNone/>
            </a:pPr>
            <a:r>
              <a:rPr lang="he-IL" sz="1200"/>
              <a:t>•  שניים, איפה פרטי ההתחברות למסד (המסגרת האדומה): רק בשרת, ולא בפרומפט ולא בהקשר של המודל.</a:t>
            </a:r>
          </a:p>
          <a:p>
            <a:pPr marL="0" indent="0" algn="r" rtl="1">
              <a:buNone/>
            </a:pPr>
            <a:r>
              <a:rPr lang="he-IL" sz="1200"/>
              <a:t>•  זו המלצת פרקטיקה: בשרת מקומי (stdio) המפרט ממליץ לקחת פרטי גישה מהסביבה ולא ליישם את פרוטוקול ההרשאות של HTTP; בשרת מרוחק משתמשים ב־OAuth לפי המפרט.</a:t>
            </a:r>
          </a:p>
          <a:p>
            <a:pPr marL="0" indent="0" algn="r" rtl="1">
              <a:buNone/>
            </a:pPr>
            <a:r>
              <a:rPr lang="he-IL" sz="1200"/>
              <a:t>•  שלוש, התעבורה (transport): בשני התקנים שהמפרט מגדיר, stdio, שבו ה־host מפעיל את השרת כתהליך בן ומתקשר דרך הקלט והפלט הסטנדרטיים, ו־Streamable HTTP לשרת מרוחק.</a:t>
            </a:r>
          </a:p>
          <a:p>
            <a:pPr marL="0" indent="0" algn="r" rtl="1">
              <a:buNone/>
            </a:pPr>
            <a:r>
              <a:rPr lang="he-IL" sz="1200"/>
              <a:t>•  HTTP+SSE הישן סומן כמיושן.</a:t>
            </a:r>
          </a:p>
          <a:p>
            <a:pPr marL="0" indent="0" algn="r" rtl="1">
              <a:buNone/>
            </a:pPr>
            <a:r>
              <a:rPr lang="he-IL" sz="1200"/>
              <a:t>•  אנלוגיה מתעשייה וניהול: דלפק קבלה שמעביר למחסן רק בקשות מאושרות.</a:t>
            </a:r>
          </a:p>
          <a:p>
            <a:pPr marL="0" indent="0" algn="r" rtl="1">
              <a:buNone/>
            </a:pPr>
            <a:r>
              <a:rPr lang="he-IL" sz="1200"/>
              <a:t>•  הלקוח הוא הדלפק, השרת הוא המחסנאי שמחזיק את המפתחות, והמודל אינו נכנס למחסן.</a:t>
            </a:r>
          </a:p>
          <a:p>
            <a:pPr marL="0" indent="0" algn="r" rtl="1">
              <a:spcBef>
                <a:spcPts val="800"/>
              </a:spcBef>
              <a:buNone/>
            </a:pPr>
            <a:r>
              <a:rPr lang="he-IL" sz="1200" b="1"/>
              <a:t>שאלה לכיתה</a:t>
            </a:r>
          </a:p>
          <a:p>
            <a:pPr marL="0" indent="0" algn="r" rtl="1">
              <a:buNone/>
            </a:pPr>
            <a:r>
              <a:rPr lang="he-IL" sz="1200"/>
              <a:t>•  איפה כדאי לשמור את סיסמת המסד?</a:t>
            </a:r>
          </a:p>
          <a:p>
            <a:pPr marL="0" indent="0" algn="r" rtl="1">
              <a:spcBef>
                <a:spcPts val="800"/>
              </a:spcBef>
              <a:buNone/>
            </a:pPr>
            <a:r>
              <a:rPr lang="he-IL" sz="1200" b="1"/>
              <a:t>תשובה</a:t>
            </a:r>
          </a:p>
          <a:p>
            <a:pPr marL="0" indent="0" algn="r" rtl="1">
              <a:buNone/>
            </a:pPr>
            <a:r>
              <a:rPr lang="he-IL" sz="1200"/>
              <a:t>•  בהגדרות השרת (משתני סביבה), לא בפרומפט ולא בקובץ ההנחיה.</a:t>
            </a:r>
          </a:p>
          <a:p>
            <a:pPr marL="0" indent="0" algn="r" rtl="1">
              <a:spcBef>
                <a:spcPts val="800"/>
              </a:spcBef>
              <a:buNone/>
            </a:pPr>
            <a:r>
              <a:rPr lang="he-IL" sz="1200" b="1"/>
              <a:t>טעות נפוצה</a:t>
            </a:r>
          </a:p>
          <a:p>
            <a:pPr marL="0" indent="0" algn="r" rtl="1">
              <a:buNone/>
            </a:pPr>
            <a:r>
              <a:rPr lang="he-IL" sz="1200"/>
              <a:t>•  להדביק את מחרוזת החיבור לצ׳אט כדי ״לעזור לסוכן״; כך הסוד נשלח לשרת הספק (מפגש 10).</a:t>
            </a:r>
          </a:p>
          <a:p>
            <a:pPr marL="0" indent="0" algn="r" rtl="1">
              <a:spcBef>
                <a:spcPts val="800"/>
              </a:spcBef>
              <a:buNone/>
            </a:pPr>
            <a:r>
              <a:rPr lang="he-IL" sz="1200" b="1"/>
              <a:t>מקורות</a:t>
            </a:r>
          </a:p>
          <a:p>
            <a:pPr marL="0" indent="0" algn="r" rtl="1">
              <a:buNone/>
            </a:pPr>
            <a:r>
              <a:rPr lang="he-IL" sz="1200"/>
              <a:t>•  מפרט MCP 2026-07-28, מבוא וארכיטקטורה, ו־Transports.</a:t>
            </a:r>
          </a:p>
          <a:p>
            <a:pPr marL="0" indent="0" algn="r" rtl="1">
              <a:buNone/>
            </a:pPr>
            <a:r>
              <a:rPr lang="he-IL" sz="1200"/>
              <a:t>•  בשרת מקומי המפרט ממליץ להפעיל כלי עם הרשאות מצומצמות.</a:t>
            </a:r>
          </a:p>
          <a:p>
            <a:pPr marL="0" indent="0" algn="r" rtl="1">
              <a:buNone/>
            </a:pPr>
            <a:r>
              <a:rPr lang="he-IL" sz="1200"/>
              <a:t>•  עובדה: ההגדרות.</a:t>
            </a:r>
          </a:p>
          <a:p>
            <a:pPr marL="0" indent="0" algn="r" rtl="1">
              <a:buNone/>
            </a:pPr>
            <a:r>
              <a:rPr lang="he-IL" sz="1200"/>
              <a:t>•  המלצה: איפה לשמור סודות.</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רצף ההודעות, כשתי דקות.</a:t>
            </a:r>
          </a:p>
          <a:p>
            <a:pPr marL="0" indent="0" algn="r" rtl="1">
              <a:spcBef>
                <a:spcPts val="800"/>
              </a:spcBef>
              <a:buNone/>
            </a:pPr>
            <a:r>
              <a:rPr lang="he-IL" sz="1200" b="1"/>
              <a:t>מה אומרים</a:t>
            </a:r>
          </a:p>
          <a:p>
            <a:pPr marL="0" indent="0" algn="r" rtl="1">
              <a:buNone/>
            </a:pPr>
            <a:r>
              <a:rPr lang="he-IL" sz="1200"/>
              <a:t>•  זה השקף המרכזי של הבלוק, ואותו תראו גם במחברת (HM_05, העשרה, הפונקציה mcp_handle).</a:t>
            </a:r>
          </a:p>
          <a:p>
            <a:pPr marL="0" indent="0" algn="r" rtl="1">
              <a:buNone/>
            </a:pPr>
            <a:r>
              <a:rPr lang="he-IL" sz="1200"/>
              <a:t>•  ארבעה עמודים: המודל, ה־host עם הלקוח, שרת ה־MCP, מסד הנתונים.</a:t>
            </a:r>
          </a:p>
          <a:p>
            <a:pPr marL="0" indent="0" algn="r" rtl="1">
              <a:buNone/>
            </a:pPr>
            <a:r>
              <a:rPr lang="he-IL" sz="1200"/>
              <a:t>•  הזמן זורם מלמעלה למטה.</a:t>
            </a:r>
          </a:p>
          <a:p>
            <a:pPr marL="0" indent="0" algn="r" rtl="1">
              <a:buNone/>
            </a:pPr>
            <a:r>
              <a:rPr lang="he-IL" sz="1200"/>
              <a:t>•  שלבים 1 עד 3 (אפור) הם החיבור: הלקוח שולח initialize עם protocolVersion, capabilities ו־clientInfo; השרת עונה עם היכולות שלו ו־serverInfo; הלקוח שולח הודעת notification, notifications/initialized, שאין עליה תשובה.</a:t>
            </a:r>
          </a:p>
          <a:p>
            <a:pPr marL="0" indent="0" algn="r" rtl="1">
              <a:buNone/>
            </a:pPr>
            <a:r>
              <a:rPr lang="he-IL" sz="1200"/>
              <a:t>•  שלבים 4 ו־5 (כחול), גילוי כלים: tools/list, והשרת מחזיר לכל כלי name, description ו־inputSchema.</a:t>
            </a:r>
          </a:p>
          <a:p>
            <a:pPr marL="0" indent="0" algn="r" rtl="1">
              <a:buNone/>
            </a:pPr>
            <a:r>
              <a:rPr lang="he-IL" sz="1200"/>
              <a:t>•  זה כל מה שהמודל יודע על הכלי.</a:t>
            </a:r>
          </a:p>
          <a:p>
            <a:pPr marL="0" indent="0" algn="r" rtl="1">
              <a:buNone/>
            </a:pPr>
            <a:r>
              <a:rPr lang="he-IL" sz="1200"/>
              <a:t>•  שלבים 6 עד 11 (כתום), שימוש: ה־host מכניס את רשימת הכלים ואת שאלת המשתמש להקשר</a:t>
            </a:r>
          </a:p>
          <a:p>
            <a:pPr marL="0" indent="0" algn="r" rtl="1">
              <a:buNone/>
            </a:pPr>
            <a:r>
              <a:rPr lang="he-IL" sz="1200"/>
              <a:t>•  המודל מחליט לקרוא לכלי ומחזיר בקשה (למשל query עם sql)</a:t>
            </a:r>
          </a:p>
          <a:p>
            <a:pPr marL="0" indent="0" algn="r" rtl="1">
              <a:buNone/>
            </a:pPr>
            <a:r>
              <a:rPr lang="he-IL" sz="1200"/>
              <a:t>•  ה־host, לא המודל, שולח tools/call עם name ו־arguments</a:t>
            </a:r>
          </a:p>
          <a:p>
            <a:pPr marL="0" indent="0" algn="r" rtl="1">
              <a:buNone/>
            </a:pPr>
            <a:r>
              <a:rPr lang="he-IL" sz="1200"/>
              <a:t>•  השרת מריץ את השאילתה במסד</a:t>
            </a:r>
          </a:p>
          <a:p>
            <a:pPr marL="0" indent="0" algn="r" rtl="1">
              <a:buNone/>
            </a:pPr>
            <a:r>
              <a:rPr lang="he-IL" sz="1200"/>
              <a:t>•  השרת מחזיר result עם content ו־isError</a:t>
            </a:r>
          </a:p>
          <a:p>
            <a:pPr marL="0" indent="0" algn="r" rtl="1">
              <a:buNone/>
            </a:pPr>
            <a:r>
              <a:rPr lang="he-IL" sz="1200"/>
              <a:t>•  התוצאה נכנסת להקשר והמודל קורא וענה.</a:t>
            </a:r>
          </a:p>
          <a:p>
            <a:pPr marL="0" indent="0" algn="r" rtl="1">
              <a:buNone/>
            </a:pPr>
            <a:r>
              <a:rPr lang="he-IL" sz="1200"/>
              <a:t>•  הנקודה החשובה: המודל לא פונה למסד, וה־host מבצע בשמו.</a:t>
            </a:r>
          </a:p>
          <a:p>
            <a:pPr marL="0" indent="0" algn="r" rtl="1">
              <a:buNone/>
            </a:pPr>
            <a:r>
              <a:rPr lang="he-IL" sz="1200"/>
              <a:t>•  דיוק לגבי הגרסה: סדר initialize ואז initialized הוא המודל של המפרט עד 2025-11-25, וזה מה שמדמה המחברת (protocolVersion 2025-06-18).</a:t>
            </a:r>
          </a:p>
          <a:p>
            <a:pPr marL="0" indent="0" algn="r" rtl="1">
              <a:buNone/>
            </a:pPr>
            <a:r>
              <a:rPr lang="he-IL" sz="1200"/>
              <a:t>•  במפרט העדכני 2026-07-28 המפרט הפך חסר מצב (stateless): אין initialize; כל בקשה נושאת את הגרסה ואת יכולות הלקוח בשדה _meta, ולשרת יש שיטה server/discover שהלקוח יכול לקרוא לה לפני הכול. tools/list ו־tools/call נשארו.</a:t>
            </a:r>
          </a:p>
          <a:p>
            <a:pPr marL="0" indent="0" algn="r" rtl="1">
              <a:buNone/>
            </a:pPr>
            <a:r>
              <a:rPr lang="he-IL" sz="1200"/>
              <a:t>•  לכן השקף מציג את הרצף המסורתי, ומציין בשורה התחתונה מה השתנה.</a:t>
            </a:r>
          </a:p>
          <a:p>
            <a:pPr marL="0" indent="0" algn="r" rtl="1">
              <a:spcBef>
                <a:spcPts val="800"/>
              </a:spcBef>
              <a:buNone/>
            </a:pPr>
            <a:r>
              <a:rPr lang="he-IL" sz="1200" b="1"/>
              <a:t>אנלוגיה</a:t>
            </a:r>
          </a:p>
          <a:p>
            <a:pPr marL="0" indent="0" algn="r" rtl="1">
              <a:buNone/>
            </a:pPr>
            <a:r>
              <a:rPr lang="he-IL" sz="1200"/>
              <a:t>•  הזמנת חומר ממחסן.</a:t>
            </a:r>
          </a:p>
          <a:p>
            <a:pPr marL="0" indent="0" algn="r" rtl="1">
              <a:buNone/>
            </a:pPr>
            <a:r>
              <a:rPr lang="he-IL" sz="1200"/>
              <a:t>•  פותחים קשר, מקבלים קטלוג (tools/list), מזמינים פריט (tools/call), מקבלים משלוח או הודעת סירוב.</a:t>
            </a:r>
          </a:p>
          <a:p>
            <a:pPr marL="0" indent="0" algn="r" rtl="1">
              <a:spcBef>
                <a:spcPts val="800"/>
              </a:spcBef>
              <a:buNone/>
            </a:pPr>
            <a:r>
              <a:rPr lang="he-IL" sz="1200" b="1"/>
              <a:t>שאלה לכיתה</a:t>
            </a:r>
          </a:p>
          <a:p>
            <a:pPr marL="0" indent="0" algn="r" rtl="1">
              <a:buNone/>
            </a:pPr>
            <a:r>
              <a:rPr lang="he-IL" sz="1200"/>
              <a:t>•  מי מפעיל את הכלי, המודל או ה־host?</a:t>
            </a:r>
          </a:p>
          <a:p>
            <a:pPr marL="0" indent="0" algn="r" rtl="1">
              <a:spcBef>
                <a:spcPts val="800"/>
              </a:spcBef>
              <a:buNone/>
            </a:pPr>
            <a:r>
              <a:rPr lang="he-IL" sz="1200" b="1"/>
              <a:t>תשובה</a:t>
            </a:r>
          </a:p>
          <a:p>
            <a:pPr marL="0" indent="0" algn="r" rtl="1">
              <a:buNone/>
            </a:pPr>
            <a:r>
              <a:rPr lang="he-IL" sz="1200"/>
              <a:t>•  ה־host.</a:t>
            </a:r>
          </a:p>
          <a:p>
            <a:pPr marL="0" indent="0" algn="r" rtl="1">
              <a:spcBef>
                <a:spcPts val="800"/>
              </a:spcBef>
              <a:buNone/>
            </a:pPr>
            <a:r>
              <a:rPr lang="he-IL" sz="1200" b="1"/>
              <a:t>טעות נפוצה</a:t>
            </a:r>
          </a:p>
          <a:p>
            <a:pPr marL="0" indent="0" algn="r" rtl="1">
              <a:buNone/>
            </a:pPr>
            <a:r>
              <a:rPr lang="he-IL" sz="1200"/>
              <a:t>•  לחשוב שיש חיבור ישיר בין המודל למסד.</a:t>
            </a:r>
          </a:p>
          <a:p>
            <a:pPr marL="0" indent="0" algn="r" rtl="1">
              <a:spcBef>
                <a:spcPts val="800"/>
              </a:spcBef>
              <a:buNone/>
            </a:pPr>
            <a:r>
              <a:rPr lang="he-IL" sz="1200" b="1"/>
              <a:t>מקורות</a:t>
            </a:r>
          </a:p>
          <a:p>
            <a:pPr marL="0" indent="0" algn="r" rtl="1">
              <a:buNone/>
            </a:pPr>
            <a:r>
              <a:rPr lang="he-IL" sz="1200"/>
              <a:t>•  מפרט MCP, Lifecycle (2025-06-18 ו־2025-11-25), Versioning ו־Changelog של 2026-07-28 (נבדקו ב־23.10.2026).</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דוגמת הודעות SQL, כדקה וחצי.</a:t>
            </a:r>
          </a:p>
          <a:p>
            <a:pPr marL="0" indent="0" algn="r" rtl="1">
              <a:spcBef>
                <a:spcPts val="800"/>
              </a:spcBef>
              <a:buNone/>
            </a:pPr>
            <a:r>
              <a:rPr lang="he-IL" sz="1200" b="1"/>
              <a:t>מה אומרים</a:t>
            </a:r>
          </a:p>
          <a:p>
            <a:pPr marL="0" indent="0" algn="r" rtl="1">
              <a:buNone/>
            </a:pPr>
            <a:r>
              <a:rPr lang="he-IL" sz="1200"/>
              <a:t>•  אלה אותן הודעות שמודפסות במחברת.</a:t>
            </a:r>
          </a:p>
          <a:p>
            <a:pPr marL="0" indent="0" algn="r" rtl="1">
              <a:buNone/>
            </a:pPr>
            <a:r>
              <a:rPr lang="he-IL" sz="1200"/>
              <a:t>•  בפינה הימנית העליונה בקשה מהלקוח: jsonrpc 2.0, id, method בשם tools/call, ו־params עם name, כאן query, ו־arguments עם שאילתת SQL.</a:t>
            </a:r>
          </a:p>
          <a:p>
            <a:pPr marL="0" indent="0" algn="r" rtl="1">
              <a:buNone/>
            </a:pPr>
            <a:r>
              <a:rPr lang="he-IL" sz="1200"/>
              <a:t>•  משמאל התשובה: result עם content (רשימה של פריטים מסוג text; כאן טבלה בפורמט CSV, חמשת המוצרים עם ההכנסה הגבוהה ביותר, הראשון Plant Pot Plus) ועם isError false.</a:t>
            </a:r>
          </a:p>
          <a:p>
            <a:pPr marL="0" indent="0" algn="r" rtl="1">
              <a:buNone/>
            </a:pPr>
            <a:r>
              <a:rPr lang="he-IL" sz="1200"/>
              <a:t>•  מתחת, שני כשלים שונים.</a:t>
            </a:r>
          </a:p>
          <a:p>
            <a:pPr marL="0" indent="0" algn="r" rtl="1">
              <a:buNone/>
            </a:pPr>
            <a:r>
              <a:rPr lang="he-IL" sz="1200"/>
              <a:t>•  מימין: הכלי נחסם.</a:t>
            </a:r>
          </a:p>
          <a:p>
            <a:pPr marL="0" indent="0" algn="r" rtl="1">
              <a:buNone/>
            </a:pPr>
            <a:r>
              <a:rPr lang="he-IL" sz="1200"/>
              <a:t>•  עדיין חזרה תשובה רגילה (result), אבל isError הוא true והטקסט מסביר שהטבלה customers אינה מותרת.</a:t>
            </a:r>
          </a:p>
          <a:p>
            <a:pPr marL="0" indent="0" algn="r" rtl="1">
              <a:buNone/>
            </a:pPr>
            <a:r>
              <a:rPr lang="he-IL" sz="1200"/>
              <a:t>•  המודל קורא את ההסבר ויכול לתקן.</a:t>
            </a:r>
          </a:p>
          <a:p>
            <a:pPr marL="0" indent="0" algn="r" rtl="1">
              <a:buNone/>
            </a:pPr>
            <a:r>
              <a:rPr lang="he-IL" sz="1200"/>
              <a:t>•  משמאל: שגיאת פרוטוקול, error עם קוד, כאן 32602 ו־Unknown tool, כי הכלי לא קיים.</a:t>
            </a:r>
          </a:p>
          <a:p>
            <a:pPr marL="0" indent="0" algn="r" rtl="1">
              <a:buNone/>
            </a:pPr>
            <a:r>
              <a:rPr lang="he-IL" sz="1200"/>
              <a:t>•  אין result, והכלי לא הורץ.</a:t>
            </a:r>
          </a:p>
          <a:p>
            <a:pPr marL="0" indent="0" algn="r" rtl="1">
              <a:buNone/>
            </a:pPr>
            <a:r>
              <a:rPr lang="he-IL" sz="1200"/>
              <a:t>•  עובדה לפי המפרט: כשל בהרצת כלי (קלט לא תקין, תקלת API, כלל עסקי) מדווחים בתוך result עם isError true כדי שהמודל יוכל להשתמש בהסבר ולנסות שוב; שגיאות מבנה בבקשה, כמו כלי לא מוכר, חוזרות כשגיאת JSON־RPC.</a:t>
            </a:r>
          </a:p>
          <a:p>
            <a:pPr marL="0" indent="0" algn="r" rtl="1">
              <a:buNone/>
            </a:pPr>
            <a:r>
              <a:rPr lang="he-IL" sz="1200"/>
              <a:t>•  המפרט גם קובע כי על השרת לאמת קלט, לבקר גישה, להגביל קצב ולנקות פלט, ועל הלקוח מומלץ (SHOULD) להציג למשתמש את הקלט לפני שליחה.</a:t>
            </a:r>
          </a:p>
          <a:p>
            <a:pPr marL="0" indent="0" algn="r" rtl="1">
              <a:buNone/>
            </a:pPr>
            <a:r>
              <a:rPr lang="he-IL" sz="1200"/>
              <a:t>•  דיוק: במפרט 2026-07-28 לכל result נוסף שדה resultType (complete), ולכל בקשה שדה _meta; ההדמיה במחברת פשוטה יותר ומתאימה לגרסאות עד 2025-11-25.</a:t>
            </a:r>
          </a:p>
          <a:p>
            <a:pPr marL="0" indent="0" algn="r" rtl="1">
              <a:spcBef>
                <a:spcPts val="800"/>
              </a:spcBef>
              <a:buNone/>
            </a:pPr>
            <a:r>
              <a:rPr lang="he-IL" sz="1200" b="1"/>
              <a:t>אנלוגיה</a:t>
            </a:r>
          </a:p>
          <a:p>
            <a:pPr marL="0" indent="0" algn="r" rtl="1">
              <a:buNone/>
            </a:pPr>
            <a:r>
              <a:rPr lang="he-IL" sz="1200"/>
              <a:t>•  דלפק שמחזיר לכם טופס עם חותמת ״נדחה, חסר אישור מנהל״ (הכלי נחסם), מול חלון שנסגר כי פניתם לדלפק שלא קיים (שגיאת פרוטוקול).</a:t>
            </a:r>
          </a:p>
          <a:p>
            <a:pPr marL="0" indent="0" algn="r" rtl="1">
              <a:spcBef>
                <a:spcPts val="800"/>
              </a:spcBef>
              <a:buNone/>
            </a:pPr>
            <a:r>
              <a:rPr lang="he-IL" sz="1200" b="1"/>
              <a:t>שאלה לכיתה</a:t>
            </a:r>
          </a:p>
          <a:p>
            <a:pPr marL="0" indent="0" algn="r" rtl="1">
              <a:buNone/>
            </a:pPr>
            <a:r>
              <a:rPr lang="he-IL" sz="1200"/>
              <a:t>•  מה יעשה המודל כשהוא רואה isError true?</a:t>
            </a:r>
          </a:p>
          <a:p>
            <a:pPr marL="0" indent="0" algn="r" rtl="1">
              <a:spcBef>
                <a:spcPts val="800"/>
              </a:spcBef>
              <a:buNone/>
            </a:pPr>
            <a:r>
              <a:rPr lang="he-IL" sz="1200" b="1"/>
              <a:t>תשובה</a:t>
            </a:r>
          </a:p>
          <a:p>
            <a:pPr marL="0" indent="0" algn="r" rtl="1">
              <a:buNone/>
            </a:pPr>
            <a:r>
              <a:rPr lang="he-IL" sz="1200"/>
              <a:t>•  יקרא את ההסבר, ינסח מחדש (למשל ישאל על customers_safe) או יודיע שאין הרשאה.</a:t>
            </a:r>
          </a:p>
          <a:p>
            <a:pPr marL="0" indent="0" algn="r" rtl="1">
              <a:spcBef>
                <a:spcPts val="800"/>
              </a:spcBef>
              <a:buNone/>
            </a:pPr>
            <a:r>
              <a:rPr lang="he-IL" sz="1200" b="1"/>
              <a:t>טעות נפוצה</a:t>
            </a:r>
          </a:p>
          <a:p>
            <a:pPr marL="0" indent="0" algn="r" rtl="1">
              <a:buNone/>
            </a:pPr>
            <a:r>
              <a:rPr lang="he-IL" sz="1200"/>
              <a:t>•  לחשוב ש־isError פירושו שהמערכת התרסקה.</a:t>
            </a:r>
          </a:p>
          <a:p>
            <a:pPr marL="0" indent="0" algn="r" rtl="1">
              <a:buNone/>
            </a:pPr>
            <a:r>
              <a:rPr lang="he-IL" sz="1200"/>
              <a:t>•  זו תשובה לגיטימית של כלי.</a:t>
            </a:r>
          </a:p>
          <a:p>
            <a:pPr marL="0" indent="0" algn="r" rtl="1">
              <a:spcBef>
                <a:spcPts val="800"/>
              </a:spcBef>
              <a:buNone/>
            </a:pPr>
            <a:r>
              <a:rPr lang="he-IL" sz="1200" b="1"/>
              <a:t>מקורות</a:t>
            </a:r>
          </a:p>
          <a:p>
            <a:pPr marL="0" indent="0" algn="r" rtl="1">
              <a:buNone/>
            </a:pPr>
            <a:r>
              <a:rPr lang="he-IL" sz="1200"/>
              <a:t>•  מפרט MCP, Tools (2026-07-28), ומחברת HM_05.</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הדוגמה המרכזית, שאלה בעברית אל מסד נתונים, כשתי דקות.</a:t>
            </a:r>
          </a:p>
          <a:p>
            <a:pPr marL="0" indent="0" algn="r" rtl="1">
              <a:spcBef>
                <a:spcPts val="800"/>
              </a:spcBef>
              <a:buNone/>
            </a:pPr>
            <a:r>
              <a:rPr lang="he-IL" sz="1200" b="1"/>
              <a:t>מה אומרים</a:t>
            </a:r>
          </a:p>
          <a:p>
            <a:pPr marL="0" indent="0" algn="r" rtl="1">
              <a:buNone/>
            </a:pPr>
            <a:r>
              <a:rPr lang="he-IL" sz="1200"/>
              <a:t>•  הבעיה: מנהל בחנות מבין בעסק ולא ב־SQL.</a:t>
            </a:r>
          </a:p>
          <a:p>
            <a:pPr marL="0" indent="0" algn="r" rtl="1">
              <a:buNone/>
            </a:pPr>
            <a:r>
              <a:rPr lang="he-IL" sz="1200"/>
              <a:t>•  עד היום הוא ביקש מאנליסט או שהדביק נתונים לצ׳אט.</a:t>
            </a:r>
          </a:p>
          <a:p>
            <a:pPr marL="0" indent="0" algn="r" rtl="1">
              <a:buNone/>
            </a:pPr>
            <a:r>
              <a:rPr lang="he-IL" sz="1200"/>
              <a:t>•  עם MCP מחברים מקור נתונים (data source) לסוכן, ואומרים לסוכן ללכת לשרת ה־MCP ולבצע.</a:t>
            </a:r>
          </a:p>
          <a:p>
            <a:pPr marL="0" indent="0" algn="r" rtl="1">
              <a:buNone/>
            </a:pPr>
            <a:r>
              <a:rPr lang="he-IL" sz="1200"/>
              <a:t>•  מה קורה בארבעה צעדים: אחד, list_tables: הסוכן מגלה אילו טבלאות יש.</a:t>
            </a:r>
          </a:p>
          <a:p>
            <a:pPr marL="0" indent="0" algn="r" rtl="1">
              <a:buNone/>
            </a:pPr>
            <a:r>
              <a:rPr lang="he-IL" sz="1200"/>
              <a:t>•  שניים, describe_table: הוא קורא את העמודות של הטבלאות הרלוונטיות.</a:t>
            </a:r>
          </a:p>
          <a:p>
            <a:pPr marL="0" indent="0" algn="r" rtl="1">
              <a:buNone/>
            </a:pPr>
            <a:r>
              <a:rPr lang="he-IL" sz="1200"/>
              <a:t>•  שלוש, query: הוא כותב SELECT עם JOIN בין orders, products ו־suppliers, והשרת מריץ.</a:t>
            </a:r>
          </a:p>
          <a:p>
            <a:pPr marL="0" indent="0" algn="r" rtl="1">
              <a:buNone/>
            </a:pPr>
            <a:r>
              <a:rPr lang="he-IL" sz="1200"/>
              <a:t>•  ארבע, תשובה: הטבלה חוזרת, והסוכן מסכם בעברית ומציג את ה־SQL כדי שאפשר יהיה לבדוק.</a:t>
            </a:r>
          </a:p>
          <a:p>
            <a:pPr marL="0" indent="0" algn="r" rtl="1">
              <a:buNone/>
            </a:pPr>
            <a:r>
              <a:rPr lang="he-IL" sz="1200"/>
              <a:t>•  הבהרות: שמות הכלים נקבעים על ידי כותב השרת, ואין שם תקני; במחברת יש כלי אחד, query.</a:t>
            </a:r>
          </a:p>
          <a:p>
            <a:pPr marL="0" indent="0" algn="r" rtl="1">
              <a:buNone/>
            </a:pPr>
            <a:r>
              <a:rPr lang="he-IL" sz="1200"/>
              <a:t>•  הטבלאות products ו־suppliers הן להמחשה בלבד: בנתוני ״החנות״ במחברת יש orders, ותצוגה customers_safe.</a:t>
            </a:r>
          </a:p>
          <a:p>
            <a:pPr marL="0" indent="0" algn="r" rtl="1">
              <a:buNone/>
            </a:pPr>
            <a:r>
              <a:rPr lang="he-IL" sz="1200"/>
              <a:t>•  ההדגמה מוצגת על המקרן או בפרויקט, ולא רצה ב־Colab; המחברת מדמה את המנגנון בקוד.</a:t>
            </a:r>
          </a:p>
          <a:p>
            <a:pPr marL="0" indent="0" algn="r" rtl="1">
              <a:buNone/>
            </a:pPr>
            <a:r>
              <a:rPr lang="he-IL" sz="1200"/>
              <a:t>•  היתרונות: הנתונים חיים (לא העתקה שמתיישנת), הסוכן מגלה לבד אילו כלים וטבלאות קיימים (tool discovery), חיבור אחד סטנדרטי, והפרדת אחריות בין המסד, השרת והסוכן.</a:t>
            </a:r>
          </a:p>
          <a:p>
            <a:pPr marL="0" indent="0" algn="r" rtl="1">
              <a:spcBef>
                <a:spcPts val="800"/>
              </a:spcBef>
              <a:buNone/>
            </a:pPr>
            <a:r>
              <a:rPr lang="he-IL" sz="1200" b="1"/>
              <a:t>אנלוגיה</a:t>
            </a:r>
          </a:p>
          <a:p>
            <a:pPr marL="0" indent="0" algn="r" rtl="1">
              <a:buNone/>
            </a:pPr>
            <a:r>
              <a:rPr lang="he-IL" sz="1200"/>
              <a:t>•  מנהל ייצור שמבקש דוח מהמחסן בעברית פשוטה, ומי שבפועל ניגש למערכת ומריץ את החיפוש הוא נציג שמכיר את המערכת.</a:t>
            </a:r>
          </a:p>
          <a:p>
            <a:pPr marL="0" indent="0" algn="r" rtl="1">
              <a:spcBef>
                <a:spcPts val="800"/>
              </a:spcBef>
              <a:buNone/>
            </a:pPr>
            <a:r>
              <a:rPr lang="he-IL" sz="1200" b="1"/>
              <a:t>שאלה לכיתה</a:t>
            </a:r>
          </a:p>
          <a:p>
            <a:pPr marL="0" indent="0" algn="r" rtl="1">
              <a:buNone/>
            </a:pPr>
            <a:r>
              <a:rPr lang="he-IL" sz="1200"/>
              <a:t>•  מי כתב את ה־SQL?</a:t>
            </a:r>
          </a:p>
          <a:p>
            <a:pPr marL="0" indent="0" algn="r" rtl="1">
              <a:spcBef>
                <a:spcPts val="800"/>
              </a:spcBef>
              <a:buNone/>
            </a:pPr>
            <a:r>
              <a:rPr lang="he-IL" sz="1200" b="1"/>
              <a:t>תשובה</a:t>
            </a:r>
          </a:p>
          <a:p>
            <a:pPr marL="0" indent="0" algn="r" rtl="1">
              <a:buNone/>
            </a:pPr>
            <a:r>
              <a:rPr lang="he-IL" sz="1200"/>
              <a:t>•  המודל.</a:t>
            </a:r>
          </a:p>
          <a:p>
            <a:pPr marL="0" indent="0" algn="r" rtl="1">
              <a:buNone/>
            </a:pPr>
            <a:r>
              <a:rPr lang="he-IL" sz="1200"/>
              <a:t>•  ומי אחראי על נכונות התוצאה?</a:t>
            </a:r>
          </a:p>
          <a:p>
            <a:pPr marL="0" indent="0" algn="r" rtl="1">
              <a:buNone/>
            </a:pPr>
            <a:r>
              <a:rPr lang="he-IL" sz="1200"/>
              <a:t>•  אנחנו.</a:t>
            </a:r>
          </a:p>
          <a:p>
            <a:pPr marL="0" indent="0" algn="r" rtl="1">
              <a:spcBef>
                <a:spcPts val="800"/>
              </a:spcBef>
              <a:buNone/>
            </a:pPr>
            <a:r>
              <a:rPr lang="he-IL" sz="1200" b="1"/>
              <a:t>טעות נפוצה</a:t>
            </a:r>
          </a:p>
          <a:p>
            <a:pPr marL="0" indent="0" algn="r" rtl="1">
              <a:buNone/>
            </a:pPr>
            <a:r>
              <a:rPr lang="he-IL" sz="1200"/>
              <a:t>•  להסיק שמי שאינו יודע SQL אינו צריך לבדוק.</a:t>
            </a:r>
          </a:p>
          <a:p>
            <a:pPr marL="0" indent="0" algn="r" rtl="1">
              <a:buNone/>
            </a:pPr>
            <a:r>
              <a:rPr lang="he-IL" sz="1200"/>
              <a:t>•  להפך, הוא צריך שיטת בדיקה (השקף הבא).</a:t>
            </a:r>
          </a:p>
          <a:p>
            <a:pPr marL="0" indent="0" algn="r" rtl="1">
              <a:spcBef>
                <a:spcPts val="800"/>
              </a:spcBef>
              <a:buNone/>
            </a:pPr>
            <a:r>
              <a:rPr lang="he-IL" sz="1200" b="1"/>
              <a:t>שימו לב</a:t>
            </a:r>
          </a:p>
          <a:p>
            <a:pPr marL="0" indent="0" algn="r" rtl="1">
              <a:buNone/>
            </a:pPr>
            <a:r>
              <a:rPr lang="he-IL" sz="1200"/>
              <a:t>•  זו המלצת פרקטיקה ולא נתון מחקרי; הבדיקה מבוססת על מפגשים 2, 5 ו־7.</a:t>
            </a:r>
          </a:p>
          <a:p>
            <a:pPr marL="0" indent="0" algn="r" rtl="1">
              <a:spcBef>
                <a:spcPts val="800"/>
              </a:spcBef>
              <a:buNone/>
            </a:pPr>
            <a:r>
              <a:rPr lang="he-IL" sz="1200" b="1"/>
              <a:t>מקורות</a:t>
            </a:r>
          </a:p>
          <a:p>
            <a:pPr marL="0" indent="0" algn="r" rtl="1">
              <a:buNone/>
            </a:pPr>
            <a:r>
              <a:rPr lang="he-IL" sz="1200"/>
              <a:t>•  מפרט MCP (tools/list ו־tools/call) ומחברת HM_05.</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מה יכול להשתבש עם SQL, כדקה וחצי.</a:t>
            </a:r>
          </a:p>
          <a:p>
            <a:pPr marL="0" indent="0" algn="r" rtl="1">
              <a:spcBef>
                <a:spcPts val="800"/>
              </a:spcBef>
              <a:buNone/>
            </a:pPr>
            <a:r>
              <a:rPr lang="he-IL" sz="1200" b="1"/>
              <a:t>מה אומרים</a:t>
            </a:r>
          </a:p>
          <a:p>
            <a:pPr marL="0" indent="0" algn="r" rtl="1">
              <a:buNone/>
            </a:pPr>
            <a:r>
              <a:rPr lang="he-IL" sz="1200"/>
              <a:t>•  נתחיל מהשאילתה בצד ימין של הקוד (להמחשה): הסוכן מצרף orders, products ו־suppliers, ומסכם הכנסה לפי מוצר וספק.</a:t>
            </a:r>
          </a:p>
          <a:p>
            <a:pPr marL="0" indent="0" algn="r" rtl="1">
              <a:buNone/>
            </a:pPr>
            <a:r>
              <a:rPr lang="he-IL" sz="1200"/>
              <a:t>•  אם בטבלת הספקים לכל מוצר יש שני ספקים, כל שורת הזמנה מופיעה פעמיים אחרי ה־JOIN, וההכנסה כפולה, בלי שגיאה ובלי אזהרה.</a:t>
            </a:r>
          </a:p>
          <a:p>
            <a:pPr marL="0" indent="0" algn="r" rtl="1">
              <a:buNone/>
            </a:pPr>
            <a:r>
              <a:rPr lang="he-IL" sz="1200"/>
              <a:t>•  זה ה־JOIN שמכפיל שורות ממפגש 7.</a:t>
            </a:r>
          </a:p>
          <a:p>
            <a:pPr marL="0" indent="0" algn="r" rtl="1">
              <a:buNone/>
            </a:pPr>
            <a:r>
              <a:rPr lang="he-IL" sz="1200"/>
              <a:t>•  הכשל השני הוא ממפגש 2: הזיית התנהגות.</a:t>
            </a:r>
          </a:p>
          <a:p>
            <a:pPr marL="0" indent="0" algn="r" rtl="1">
              <a:buNone/>
            </a:pPr>
            <a:r>
              <a:rPr lang="he-IL" sz="1200"/>
              <a:t>•  הקוד רץ והתשובה נשמעת סבירה, אבל היא עונה על שאלה אחרת.</a:t>
            </a:r>
          </a:p>
          <a:p>
            <a:pPr marL="0" indent="0" algn="r" rtl="1">
              <a:buNone/>
            </a:pPr>
            <a:r>
              <a:rPr lang="he-IL" sz="1200"/>
              <a:t>•  הפתרון הוא ממפגש 5: בודקים מול ידוע מראש.</a:t>
            </a:r>
          </a:p>
          <a:p>
            <a:pPr marL="0" indent="0" algn="r" rtl="1">
              <a:buNone/>
            </a:pPr>
            <a:r>
              <a:rPr lang="he-IL" sz="1200"/>
              <a:t>•  במעבדה א׳ בניתם validate_top5, בדיקה שמשווה תוצאה לתשובה שאנחנו כבר מכירים.</a:t>
            </a:r>
          </a:p>
          <a:p>
            <a:pPr marL="0" indent="0" algn="r" rtl="1">
              <a:buNone/>
            </a:pPr>
            <a:r>
              <a:rPr lang="he-IL" sz="1200"/>
              <a:t>•  כאן: מחשבים ידנית הכנסה של מוצר אחד, סופרים שורות לפני ואחרי ה־JOIN, ומבקשים מהסוכן להציג את ה־SQL.</a:t>
            </a:r>
          </a:p>
          <a:p>
            <a:pPr marL="0" indent="0" algn="r" rtl="1">
              <a:buNone/>
            </a:pPr>
            <a:r>
              <a:rPr lang="he-IL" sz="1200"/>
              <a:t>•  מקור לרקע (עובדה, נתון היסטורי): ב־BIRD (Li ועמיתים, NeurIPS 2023, arXiv 2305.03111), בנצ׳מרק של 12,751 זוגות שאלה־SQL על 95 מסדי נתונים, המודל הטוב ביותר אז (ChatGPT) קיבל 40.08% דיוק ביצוע מול 92.96% לבני אדם.</a:t>
            </a:r>
          </a:p>
          <a:p>
            <a:pPr marL="0" indent="0" algn="r" rtl="1">
              <a:buNone/>
            </a:pPr>
            <a:r>
              <a:rPr lang="he-IL" sz="1200"/>
              <a:t>•  המודלים השתפרו מאז ואיננו מציגים מספר עדכני, ולכן אין להסיק ממנו על מודל מסוים; הנקודה היא שהפער קיים ושצריך אימות.</a:t>
            </a:r>
          </a:p>
          <a:p>
            <a:pPr marL="0" indent="0" algn="r" rtl="1">
              <a:spcBef>
                <a:spcPts val="800"/>
              </a:spcBef>
              <a:buNone/>
            </a:pPr>
            <a:r>
              <a:rPr lang="he-IL" sz="1200" b="1"/>
              <a:t>אנלוגיה</a:t>
            </a:r>
          </a:p>
          <a:p>
            <a:pPr marL="0" indent="0" algn="r" rtl="1">
              <a:buNone/>
            </a:pPr>
            <a:r>
              <a:rPr lang="he-IL" sz="1200"/>
              <a:t>•  דוח מלאי שנראה הגיוני, אבל סופרים את אותה משטח פעמיים.</a:t>
            </a:r>
          </a:p>
          <a:p>
            <a:pPr marL="0" indent="0" algn="r" rtl="1">
              <a:spcBef>
                <a:spcPts val="800"/>
              </a:spcBef>
              <a:buNone/>
            </a:pPr>
            <a:r>
              <a:rPr lang="he-IL" sz="1200" b="1"/>
              <a:t>שאלה לכיתה</a:t>
            </a:r>
          </a:p>
          <a:p>
            <a:pPr marL="0" indent="0" algn="r" rtl="1">
              <a:buNone/>
            </a:pPr>
            <a:r>
              <a:rPr lang="he-IL" sz="1200"/>
              <a:t>•  איך תגלו שההכנסה הכפולה?</a:t>
            </a:r>
          </a:p>
          <a:p>
            <a:pPr marL="0" indent="0" algn="r" rtl="1">
              <a:spcBef>
                <a:spcPts val="800"/>
              </a:spcBef>
              <a:buNone/>
            </a:pPr>
            <a:r>
              <a:rPr lang="he-IL" sz="1200" b="1"/>
              <a:t>תשובה</a:t>
            </a:r>
          </a:p>
          <a:p>
            <a:pPr marL="0" indent="0" algn="r" rtl="1">
              <a:buNone/>
            </a:pPr>
            <a:r>
              <a:rPr lang="he-IL" sz="1200"/>
              <a:t>•  סכום הכנסה כולל גבוה ממה שידוע, ספירת שורות אחרי JOIN גדולה ממספר ההזמנות, או השוואה לחישוב ידני.</a:t>
            </a:r>
          </a:p>
          <a:p>
            <a:pPr marL="0" indent="0" algn="r" rtl="1">
              <a:spcBef>
                <a:spcPts val="800"/>
              </a:spcBef>
              <a:buNone/>
            </a:pPr>
            <a:r>
              <a:rPr lang="he-IL" sz="1200" b="1"/>
              <a:t>טעות נפוצה</a:t>
            </a:r>
          </a:p>
          <a:p>
            <a:pPr marL="0" indent="0" algn="r" rtl="1">
              <a:buNone/>
            </a:pPr>
            <a:r>
              <a:rPr lang="he-IL" sz="1200"/>
              <a:t>•  לבדוק רק שהשאילתה ״רצה״ (מפגש 5: ״רץ״ אינו ״נכון״).</a:t>
            </a:r>
          </a:p>
          <a:p>
            <a:pPr marL="0" indent="0" algn="r" rtl="1">
              <a:buNone/>
            </a:pPr>
            <a:r>
              <a:rPr lang="he-IL" sz="1200"/>
              <a:t>•  זו המלצת פרקטיקה; העובדה היא התנהגות ה־JOIN.</a:t>
            </a:r>
          </a:p>
          <a:p>
            <a:pPr marL="0" indent="0" algn="r" rtl="1">
              <a:spcBef>
                <a:spcPts val="800"/>
              </a:spcBef>
              <a:buNone/>
            </a:pPr>
            <a:r>
              <a:rPr lang="he-IL" sz="1200" b="1"/>
              <a:t>מקורות</a:t>
            </a:r>
          </a:p>
          <a:p>
            <a:pPr marL="0" indent="0" algn="r" rtl="1">
              <a:buNone/>
            </a:pPr>
            <a:r>
              <a:rPr lang="he-IL" sz="1200"/>
              <a:t>•  Li et al.</a:t>
            </a:r>
          </a:p>
          <a:p>
            <a:pPr marL="0" indent="0" algn="r" rtl="1">
              <a:buNone/>
            </a:pPr>
            <a:r>
              <a:rPr lang="he-IL" sz="1200"/>
              <a:t>•  2023; מפגשים 2, 5 ו־7.</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איך מגבילים MCP, עקרון ההרשאה המינימלית, כדקה וחצי.</a:t>
            </a:r>
          </a:p>
          <a:p>
            <a:pPr marL="0" indent="0" algn="r" rtl="1">
              <a:spcBef>
                <a:spcPts val="800"/>
              </a:spcBef>
              <a:buNone/>
            </a:pPr>
            <a:r>
              <a:rPr lang="he-IL" sz="1200" b="1"/>
              <a:t>מה אומרים</a:t>
            </a:r>
          </a:p>
          <a:p>
            <a:pPr marL="0" indent="0" algn="r" rtl="1">
              <a:buNone/>
            </a:pPr>
            <a:r>
              <a:rPr lang="he-IL" sz="1200"/>
              <a:t>•  שמונה אמצעים בשני צבעים.</a:t>
            </a:r>
          </a:p>
          <a:p>
            <a:pPr marL="0" indent="0" algn="r" rtl="1">
              <a:buNone/>
            </a:pPr>
            <a:r>
              <a:rPr lang="he-IL" sz="1200"/>
              <a:t>•  בכחול, הגבלה במסד ובכלי: חשבון DB לקריאה בלבד (SELECT בלבד, חשבון ייעודי לסוכן), תצוגות מסוננות (views) שמסתירות עמודות רגישות, כמו customers_safe במחברת בלי phone ו־email, רשימת כלים מותרים (חושפים רק את הנדרש), ומגבלת שורות וזמן.</a:t>
            </a:r>
          </a:p>
          <a:p>
            <a:pPr marL="0" indent="0" algn="r" rtl="1">
              <a:buNone/>
            </a:pPr>
            <a:r>
              <a:rPr lang="he-IL" sz="1200"/>
              <a:t>•  בכתום, שליטה במארח ובארגון: אישור אנושי לפעולות כותבות (רמות האוטונומיה ממפגש 6), הרצה בסביבה מבודדת ובחירה בין שרת מקומי למרוחק, אימות והרשאות, וניטור עם יומן ביקורת.</a:t>
            </a:r>
          </a:p>
          <a:p>
            <a:pPr marL="0" indent="0" algn="r" rtl="1">
              <a:buNone/>
            </a:pPr>
            <a:r>
              <a:rPr lang="he-IL" sz="1200"/>
              <a:t>•  עובדות לפי מפרט MCP (נבדק 23.10.2026): הרשאות ברמת התעבורה הן אופציונליות; כשמשתמשים ב־HTTP מומלץ לפעול לפי מפרט ההרשאות (OAuth 2.1, מזהה משאב לפי RFC 8707, ואימות שהטוקן הונפק לשרת עצמו), ובשרת מקומי עם stdio המפרט ממליץ לקחת פרטי גישה מהסביבה.</a:t>
            </a:r>
          </a:p>
          <a:p>
            <a:pPr marL="0" indent="0" algn="r" rtl="1">
              <a:buNone/>
            </a:pPr>
            <a:r>
              <a:rPr lang="he-IL" sz="1200"/>
              <a:t>•  במפרט הכלים נאמר שעל המארח להבטיח שיש אדם בלולאה עם יכולת לדחות קריאות לכלי (SHOULD), ושעל השרת לאמת קלט, לבקר גישה ולהגביל קצב.</a:t>
            </a:r>
          </a:p>
          <a:p>
            <a:pPr marL="0" indent="0" algn="r" rtl="1">
              <a:buNone/>
            </a:pPr>
            <a:r>
              <a:rPr lang="he-IL" sz="1200"/>
              <a:t>•  במסמך Security Best Practices: מזעור הרשאות (scope minimization) והרצת שרתים מקומיים בסביבה מבודדת.</a:t>
            </a:r>
          </a:p>
          <a:p>
            <a:pPr marL="0" indent="0" algn="r" rtl="1">
              <a:spcBef>
                <a:spcPts val="800"/>
              </a:spcBef>
              <a:buNone/>
            </a:pPr>
            <a:r>
              <a:rPr lang="he-IL" sz="1200" b="1"/>
              <a:t>אנלוגיה</a:t>
            </a:r>
          </a:p>
          <a:p>
            <a:pPr marL="0" indent="0" algn="r" rtl="1">
              <a:buNone/>
            </a:pPr>
            <a:r>
              <a:rPr lang="he-IL" sz="1200"/>
              <a:t>•  כרטיס כניסה למפעל שפותח רק את הדלתות הדרושות לתפקיד, ובלוג רושם כל כניסה.</a:t>
            </a:r>
          </a:p>
          <a:p>
            <a:pPr marL="0" indent="0" algn="r" rtl="1">
              <a:spcBef>
                <a:spcPts val="800"/>
              </a:spcBef>
              <a:buNone/>
            </a:pPr>
            <a:r>
              <a:rPr lang="he-IL" sz="1200" b="1"/>
              <a:t>שאלה לכיתה</a:t>
            </a:r>
          </a:p>
          <a:p>
            <a:pPr marL="0" indent="0" algn="r" rtl="1">
              <a:buNone/>
            </a:pPr>
            <a:r>
              <a:rPr lang="he-IL" sz="1200"/>
              <a:t>•  מה ההבדל בין חשבון לקריאה בלבד לבין בדיקה בקוד שאין שם DELETE?</a:t>
            </a:r>
          </a:p>
          <a:p>
            <a:pPr marL="0" indent="0" algn="r" rtl="1">
              <a:spcBef>
                <a:spcPts val="800"/>
              </a:spcBef>
              <a:buNone/>
            </a:pPr>
            <a:r>
              <a:rPr lang="he-IL" sz="1200" b="1"/>
              <a:t>תשובה</a:t>
            </a:r>
          </a:p>
          <a:p>
            <a:pPr marL="0" indent="0" algn="r" rtl="1">
              <a:buNone/>
            </a:pPr>
            <a:r>
              <a:rPr lang="he-IL" sz="1200"/>
              <a:t>•  החשבון נאכף במנוע המסד; בדיקת הטקסט אפשר לעקוף (השקף הבא).</a:t>
            </a:r>
          </a:p>
          <a:p>
            <a:pPr marL="0" indent="0" algn="r" rtl="1">
              <a:spcBef>
                <a:spcPts val="800"/>
              </a:spcBef>
              <a:buNone/>
            </a:pPr>
            <a:r>
              <a:rPr lang="he-IL" sz="1200" b="1"/>
              <a:t>טעות נפוצה</a:t>
            </a:r>
          </a:p>
          <a:p>
            <a:pPr marL="0" indent="0" algn="r" rtl="1">
              <a:buNone/>
            </a:pPr>
            <a:r>
              <a:rPr lang="he-IL" sz="1200"/>
              <a:t>•  ״הסוכן שלנו ממילא רק קורא״ בלי לאכוף זאת.</a:t>
            </a:r>
          </a:p>
          <a:p>
            <a:pPr marL="0" indent="0" algn="r" rtl="1">
              <a:buNone/>
            </a:pPr>
            <a:r>
              <a:rPr lang="he-IL" sz="1200"/>
              <a:t>•  מה שנאמר כעובדה: דרישות המפרט.</a:t>
            </a:r>
          </a:p>
          <a:p>
            <a:pPr marL="0" indent="0" algn="r" rtl="1">
              <a:buNone/>
            </a:pPr>
            <a:r>
              <a:rPr lang="he-IL" sz="1200"/>
              <a:t>•  המלצת פרקטיקה: כל השאר, כולל החלוקה לשמונה.</a:t>
            </a:r>
          </a:p>
          <a:p>
            <a:pPr marL="0" indent="0" algn="r" rtl="1">
              <a:buNone/>
            </a:pPr>
            <a:r>
              <a:rPr lang="he-IL" sz="1200"/>
              <a:t>•  הפניה: מפגש 6 (אוטונומיה), מפגש 10 (אבטחה), HM_05 (העשרה): is_read_only, tables_not_allowed, safe_query, AUDIT.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איפה כל הגנה חיה, כדקה.</a:t>
            </a:r>
          </a:p>
          <a:p>
            <a:pPr marL="0" indent="0" algn="r" rtl="1">
              <a:spcBef>
                <a:spcPts val="800"/>
              </a:spcBef>
              <a:buNone/>
            </a:pPr>
            <a:r>
              <a:rPr lang="he-IL" sz="1200" b="1"/>
              <a:t>מה אומרים</a:t>
            </a:r>
          </a:p>
          <a:p>
            <a:pPr marL="0" indent="0" algn="r" rtl="1">
              <a:buNone/>
            </a:pPr>
            <a:r>
              <a:rPr lang="he-IL" sz="1200"/>
              <a:t>•  שלוש שכבות וקו ביקורת.</a:t>
            </a:r>
          </a:p>
          <a:p>
            <a:pPr marL="0" indent="0" algn="r" rtl="1">
              <a:buNone/>
            </a:pPr>
            <a:r>
              <a:rPr lang="he-IL" sz="1200"/>
              <a:t>•  הנקודה: לא כל הגנה שווה.</a:t>
            </a:r>
          </a:p>
          <a:p>
            <a:pPr marL="0" indent="0" algn="r" rtl="1">
              <a:buNone/>
            </a:pPr>
            <a:r>
              <a:rPr lang="he-IL" sz="1200"/>
              <a:t>•  בשכבה העליונה, במארח, יש אישור אנושי ורשימות של כלים ושרתים מאושרים.</a:t>
            </a:r>
          </a:p>
          <a:p>
            <a:pPr marL="0" indent="0" algn="r" rtl="1">
              <a:buNone/>
            </a:pPr>
            <a:r>
              <a:rPr lang="he-IL" sz="1200"/>
              <a:t>•  היא חשובה, אבל עוצמתה תלויה בקשב של אדם: עייפות אישורים (approval fatigue) גורמת לאנשים ללחוץ ״אשר״ מבלי לקרוא.</a:t>
            </a:r>
          </a:p>
          <a:p>
            <a:pPr marL="0" indent="0" algn="r" rtl="1">
              <a:buNone/>
            </a:pPr>
            <a:r>
              <a:rPr lang="he-IL" sz="1200"/>
              <a:t>•  בשכבה האמצעית, בתוך כלי השרת, יש מסנן טקסט: is_read_only (רק SELECT אחד) ו־tables_not_allowed (רשימת טבלאות).</a:t>
            </a:r>
          </a:p>
          <a:p>
            <a:pPr marL="0" indent="0" algn="r" rtl="1">
              <a:buNone/>
            </a:pPr>
            <a:r>
              <a:rPr lang="he-IL" sz="1200"/>
              <a:t>•  זו שכבה חלשה, כי אפשר לעקוף אותה; במחברת רואים שהסינון נעקף ב־JOIN עם customers, וההרשאה שבמסד חסמה.</a:t>
            </a:r>
          </a:p>
          <a:p>
            <a:pPr marL="0" indent="0" algn="r" rtl="1">
              <a:buNone/>
            </a:pPr>
            <a:r>
              <a:rPr lang="he-IL" sz="1200"/>
              <a:t>•  השכבה החזקה היא במסד הנתונים עצמו: חשבון לקריאה בלבד, תצוגות (views) ו־authorizer ב־SQLite, שמונעים גישה בלי תלות בניסוח השאילתה.</a:t>
            </a:r>
          </a:p>
          <a:p>
            <a:pPr marL="0" indent="0" algn="r" rtl="1">
              <a:buNone/>
            </a:pPr>
            <a:r>
              <a:rPr lang="he-IL" sz="1200"/>
              <a:t>•  יומן ביקורת בכל שכבה מאפשר לגלות, לחקור ולהוכיח מה קרה.</a:t>
            </a:r>
          </a:p>
          <a:p>
            <a:pPr marL="0" indent="0" algn="r" rtl="1">
              <a:buNone/>
            </a:pPr>
            <a:r>
              <a:rPr lang="he-IL" sz="1200"/>
              <a:t>•  עדות מהשטח (עובדה מתועדת): Datadog Security Labs פרסמה ב־21.8.2025 שהשרת הישן של Postgres, שהיה שרת הרפרנס, הגן בעזרת עטיפת BEGIN TRANSACTION READ ONLY, ואפשר היה לעקוף אותה בהזרקת COMMIT ואחריה פקודות כתיבה.</a:t>
            </a:r>
          </a:p>
          <a:p>
            <a:pPr marL="0" indent="0" algn="r" rtl="1">
              <a:buNone/>
            </a:pPr>
            <a:r>
              <a:rPr lang="he-IL" sz="1200"/>
              <a:t>•  השרת הוצא משימוש, והמלצת Datadog: להתחבר עם משתמש בעל הרשאות מוגבלות.</a:t>
            </a:r>
          </a:p>
          <a:p>
            <a:pPr marL="0" indent="0" algn="r" rtl="1">
              <a:buNone/>
            </a:pPr>
            <a:r>
              <a:rPr lang="he-IL" sz="1200"/>
              <a:t>•  הלקח: אכיפה בקוד של שכבת היישום אינה תחליף להרשאה במסד.</a:t>
            </a:r>
          </a:p>
          <a:p>
            <a:pPr marL="0" indent="0" algn="r" rtl="1">
              <a:spcBef>
                <a:spcPts val="800"/>
              </a:spcBef>
              <a:buNone/>
            </a:pPr>
            <a:r>
              <a:rPr lang="he-IL" sz="1200" b="1"/>
              <a:t>אנלוגיה</a:t>
            </a:r>
          </a:p>
          <a:p>
            <a:pPr marL="0" indent="0" algn="r" rtl="1">
              <a:buNone/>
            </a:pPr>
            <a:r>
              <a:rPr lang="he-IL" sz="1200"/>
              <a:t>•  שומר בשער שמסתכל על הבקשה (שכבה חלשה) מול מנעול שאין לו מפתח עבור מי שלא הוסמך (שכבה חזקה).</a:t>
            </a:r>
          </a:p>
          <a:p>
            <a:pPr marL="0" indent="0" algn="r" rtl="1">
              <a:spcBef>
                <a:spcPts val="800"/>
              </a:spcBef>
              <a:buNone/>
            </a:pPr>
            <a:r>
              <a:rPr lang="he-IL" sz="1200" b="1"/>
              <a:t>שאלה לכיתה</a:t>
            </a:r>
          </a:p>
          <a:p>
            <a:pPr marL="0" indent="0" algn="r" rtl="1">
              <a:buNone/>
            </a:pPr>
            <a:r>
              <a:rPr lang="he-IL" sz="1200"/>
              <a:t>•  איזו שכבה תבנו קודם?</a:t>
            </a:r>
          </a:p>
          <a:p>
            <a:pPr marL="0" indent="0" algn="r" rtl="1">
              <a:spcBef>
                <a:spcPts val="800"/>
              </a:spcBef>
              <a:buNone/>
            </a:pPr>
            <a:r>
              <a:rPr lang="he-IL" sz="1200" b="1"/>
              <a:t>תשובה</a:t>
            </a:r>
          </a:p>
          <a:p>
            <a:pPr marL="0" indent="0" algn="r" rtl="1">
              <a:buNone/>
            </a:pPr>
            <a:r>
              <a:rPr lang="he-IL" sz="1200"/>
              <a:t>•  את המסד, ואחר כך את השאר.</a:t>
            </a:r>
          </a:p>
          <a:p>
            <a:pPr marL="0" indent="0" algn="r" rtl="1">
              <a:spcBef>
                <a:spcPts val="800"/>
              </a:spcBef>
              <a:buNone/>
            </a:pPr>
            <a:r>
              <a:rPr lang="he-IL" sz="1200" b="1"/>
              <a:t>טעות נפוצה</a:t>
            </a:r>
          </a:p>
          <a:p>
            <a:pPr marL="0" indent="0" algn="r" rtl="1">
              <a:buNone/>
            </a:pPr>
            <a:r>
              <a:rPr lang="he-IL" sz="1200"/>
              <a:t>•  לבנות רק מסנן ולהרגיש בטוחים.</a:t>
            </a:r>
          </a:p>
          <a:p>
            <a:pPr marL="0" indent="0" algn="r" rtl="1">
              <a:buNone/>
            </a:pPr>
            <a:r>
              <a:rPr lang="he-IL" sz="1200"/>
              <a:t>•  המפרט עצמו מציין שהוא אינו יכול לאכוף עקרונות אבטחה ברמת הפרוטוקול.</a:t>
            </a:r>
          </a:p>
          <a:p>
            <a:pPr marL="0" indent="0" algn="r" rtl="1">
              <a:buNone/>
            </a:pPr>
            <a:r>
              <a:rPr lang="he-IL" sz="1200"/>
              <a:t>•  החלוקה לחזק וחלש היא המלצת פרקטיקה; מקרה Datadog הוא עובדה מתועדת.</a:t>
            </a:r>
          </a:p>
          <a:p>
            <a:pPr marL="0" indent="0" algn="r" rtl="1">
              <a:spcBef>
                <a:spcPts val="800"/>
              </a:spcBef>
              <a:buNone/>
            </a:pPr>
            <a:r>
              <a:rPr lang="he-IL" sz="1200" b="1"/>
              <a:t>מקורות</a:t>
            </a:r>
          </a:p>
          <a:p>
            <a:pPr marL="0" indent="0" algn="r" rtl="1">
              <a:buNone/>
            </a:pPr>
            <a:r>
              <a:rPr lang="he-IL" sz="1200"/>
              <a:t>•  Datadog Security Labs, 21.8.2025 (נפתח); מפרט MCP, מבוא; HM_05, העשרה.</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איך מלמדים את הסוכן מראש מה לחפש, כדקה וחצי.</a:t>
            </a:r>
          </a:p>
          <a:p>
            <a:pPr marL="0" indent="0" algn="r" rtl="1">
              <a:spcBef>
                <a:spcPts val="800"/>
              </a:spcBef>
              <a:buNone/>
            </a:pPr>
            <a:r>
              <a:rPr lang="he-IL" sz="1200" b="1"/>
              <a:t>מה אומרים</a:t>
            </a:r>
          </a:p>
          <a:p>
            <a:pPr marL="0" indent="0" algn="r" rtl="1">
              <a:buNone/>
            </a:pPr>
            <a:r>
              <a:rPr lang="he-IL" sz="1200"/>
              <a:t>•  הסוכן יודע רק מה שנמצא בחלון ההקשר (מפגש 2), ולכן ״מלמדים״ אותו על ידי שיפור מה שנכנס אליו.</a:t>
            </a:r>
          </a:p>
          <a:p>
            <a:pPr marL="0" indent="0" algn="r" rtl="1">
              <a:buNone/>
            </a:pPr>
            <a:r>
              <a:rPr lang="he-IL" sz="1200"/>
              <a:t>•  חמישה מקורות, מלמעלה למטה.</a:t>
            </a:r>
          </a:p>
          <a:p>
            <a:pPr marL="0" indent="0" algn="r" rtl="1">
              <a:buNone/>
            </a:pPr>
            <a:r>
              <a:rPr lang="he-IL" sz="1200"/>
              <a:t>•  אחד: תיאורי הכלים. name, description ו־inputSchema הם הפרומפט של הכלי.</a:t>
            </a:r>
          </a:p>
          <a:p>
            <a:pPr marL="0" indent="0" algn="r" rtl="1">
              <a:buNone/>
            </a:pPr>
            <a:r>
              <a:rPr lang="he-IL" sz="1200"/>
              <a:t>•  לפי Anthropic (Writing tools for agents, 11.9.2025) תיאורי כלים נטענים להקשר, ושיפורים קטנים בהם יכולים לשפר מאוד את ההתנהגות.</a:t>
            </a:r>
          </a:p>
          <a:p>
            <a:pPr marL="0" indent="0" algn="r" rtl="1">
              <a:buNone/>
            </a:pPr>
            <a:r>
              <a:rPr lang="he-IL" sz="1200"/>
              <a:t>•  שניים: הוראות השרת (שדה instructions בתשובת השרת, שהמפרט מגדיר כהכוונה בשפה טבעית למודל) ומשאבי resources עם תיעוד הסכמה והגדרות עסקיות, למשל ״הכנסה = כמות × מחיר״.</a:t>
            </a:r>
          </a:p>
          <a:p>
            <a:pPr marL="0" indent="0" algn="r" rtl="1">
              <a:buNone/>
            </a:pPr>
            <a:r>
              <a:rPr lang="he-IL" sz="1200"/>
              <a:t>•  שלוש: תבניות prompts שהשרת מציע.</a:t>
            </a:r>
          </a:p>
          <a:p>
            <a:pPr marL="0" indent="0" algn="r" rtl="1">
              <a:buNone/>
            </a:pPr>
            <a:r>
              <a:rPr lang="he-IL" sz="1200"/>
              <a:t>•  ארבע: קובץ הנחיה בפרויקט, AGENTS.md או CLAUDE.md (מפגש 4 לפי הסילבוס), עם כללים ודוגמאות שאילתות מוכנות, כלומר few-shot (מפגש 3 לפי הסילבוס).</a:t>
            </a:r>
          </a:p>
          <a:p>
            <a:pPr marL="0" indent="0" algn="r" rtl="1">
              <a:buNone/>
            </a:pPr>
            <a:r>
              <a:rPr lang="he-IL" sz="1200"/>
              <a:t>•  חמש: שכבה סמנטית, הגדרה אחת מוסכמת לכל מונח עסקי, וסט שאלות בדיקה עם תשובות ידועות.</a:t>
            </a:r>
          </a:p>
          <a:p>
            <a:pPr marL="0" indent="0" algn="r" rtl="1">
              <a:buNone/>
            </a:pPr>
            <a:r>
              <a:rPr lang="he-IL" sz="1200"/>
              <a:t>•  מה קורה כשאין הגדרה: במעבדה א׳ ai_chat סיכם כמות במקום הכנסה כי ״הכנסה״ לא הוגדרה.</a:t>
            </a:r>
          </a:p>
          <a:p>
            <a:pPr marL="0" indent="0" algn="r" rtl="1">
              <a:buNone/>
            </a:pPr>
            <a:r>
              <a:rPr lang="he-IL" sz="1200"/>
              <a:t>•  אותו דבר ב־SQL.</a:t>
            </a:r>
          </a:p>
          <a:p>
            <a:pPr marL="0" indent="0" algn="r" rtl="1">
              <a:spcBef>
                <a:spcPts val="800"/>
              </a:spcBef>
              <a:buNone/>
            </a:pPr>
            <a:r>
              <a:rPr lang="he-IL" sz="1200" b="1"/>
              <a:t>אנלוגיה</a:t>
            </a:r>
          </a:p>
          <a:p>
            <a:pPr marL="0" indent="0" algn="r" rtl="1">
              <a:buNone/>
            </a:pPr>
            <a:r>
              <a:rPr lang="he-IL" sz="1200"/>
              <a:t>•  נוהל עבודה שמוצג בכניסה לקו, ואלה שמופיעים בו ״מה נחשב פסול״.</a:t>
            </a:r>
          </a:p>
          <a:p>
            <a:pPr marL="0" indent="0" algn="r" rtl="1">
              <a:spcBef>
                <a:spcPts val="800"/>
              </a:spcBef>
              <a:buNone/>
            </a:pPr>
            <a:r>
              <a:rPr lang="he-IL" sz="1200" b="1"/>
              <a:t>שאלה לכיתה</a:t>
            </a:r>
          </a:p>
          <a:p>
            <a:pPr marL="0" indent="0" algn="r" rtl="1">
              <a:buNone/>
            </a:pPr>
            <a:r>
              <a:rPr lang="he-IL" sz="1200"/>
              <a:t>•  מה היית כותב בקובץ ההנחיה לפני שמחברים מסד?</a:t>
            </a:r>
          </a:p>
          <a:p>
            <a:pPr marL="0" indent="0" algn="r" rtl="1">
              <a:spcBef>
                <a:spcPts val="800"/>
              </a:spcBef>
              <a:buNone/>
            </a:pPr>
            <a:r>
              <a:rPr lang="he-IL" sz="1200" b="1"/>
              <a:t>תשובה</a:t>
            </a:r>
          </a:p>
          <a:p>
            <a:pPr marL="0" indent="0" algn="r" rtl="1">
              <a:buNone/>
            </a:pPr>
            <a:r>
              <a:rPr lang="he-IL" sz="1200"/>
              <a:t>•  מבנה הטבלאות, הגדרות עסקיות, כללי JOIN, ושתי שאלות לדוגמה עם תשובה ידועה.</a:t>
            </a:r>
          </a:p>
          <a:p>
            <a:pPr marL="0" indent="0" algn="r" rtl="1">
              <a:spcBef>
                <a:spcPts val="800"/>
              </a:spcBef>
              <a:buNone/>
            </a:pPr>
            <a:r>
              <a:rPr lang="he-IL" sz="1200" b="1"/>
              <a:t>טעות נפוצה</a:t>
            </a:r>
          </a:p>
          <a:p>
            <a:pPr marL="0" indent="0" algn="r" rtl="1">
              <a:buNone/>
            </a:pPr>
            <a:r>
              <a:rPr lang="he-IL" sz="1200"/>
              <a:t>•  להסתמך על שם עמודה כמו price שיסביר את עצמו.</a:t>
            </a:r>
          </a:p>
          <a:p>
            <a:pPr marL="0" indent="0" algn="r" rtl="1">
              <a:buNone/>
            </a:pPr>
            <a:r>
              <a:rPr lang="he-IL" sz="1200"/>
              <a:t>•  עובדה: שלושת מרכיבי השרת לפי המפרט ושדה instructions; AGENTS.md הוא אחד מפרויקטי הקרן ב־9.12.2025.</a:t>
            </a:r>
          </a:p>
          <a:p>
            <a:pPr marL="0" indent="0" algn="r" rtl="1">
              <a:buNone/>
            </a:pPr>
            <a:r>
              <a:rPr lang="he-IL" sz="1200"/>
              <a:t>•  המלצת פרקטיקה: שאלות הבדיקה והשכבה הסמנטית.</a:t>
            </a:r>
          </a:p>
          <a:p>
            <a:pPr marL="0" indent="0" algn="r" rtl="1">
              <a:spcBef>
                <a:spcPts val="800"/>
              </a:spcBef>
              <a:buNone/>
            </a:pPr>
            <a:r>
              <a:rPr lang="he-IL" sz="1200" b="1"/>
              <a:t>מקורות</a:t>
            </a:r>
          </a:p>
          <a:p>
            <a:pPr marL="0" indent="0" algn="r" rtl="1">
              <a:buNone/>
            </a:pPr>
            <a:r>
              <a:rPr lang="he-IL" sz="1200"/>
              <a:t>•  מפרט MCP (server/discover, tools, resources, prompts); Anthropic Engineering, Writing effective tools for agents; הודעת Linux Foundation.</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pPr marL="0" indent="0" algn="r" rtl="1">
              <a:buNone/>
            </a:pPr>
            <a:r>
              <a:rPr lang="he-IL" sz="1300" b="1"/>
              <a:t>העשרה, כ־2 דקות.</a:t>
            </a:r>
          </a:p>
          <a:p>
            <a:pPr marL="0" indent="0" algn="r" rtl="1">
              <a:buNone/>
            </a:pPr>
            <a:r>
              <a:rPr lang="he-IL" sz="1200" b="1"/>
              <a:t>מה אומרים</a:t>
            </a:r>
          </a:p>
          <a:p>
            <a:pPr marL="0" indent="0" algn="r" rtl="1">
              <a:buNone/>
            </a:pPr>
            <a:r>
              <a:rPr lang="he-IL" sz="1200"/>
              <a:t>•  שאלה פתיחה: כשאומרים שסוכן קוד פותר 80% מהבעיות, מה בדיוק נמדד?</a:t>
            </a:r>
          </a:p>
          <a:p>
            <a:pPr marL="0" indent="0" algn="r" rtl="1">
              <a:buNone/>
            </a:pPr>
            <a:r>
              <a:rPr lang="he-IL" sz="1200"/>
              <a:t>•  SWE-bench (Jimenez ועמיתים, ICLR 2024) הוא אוסף של 2,294 בעיות אמיתיות (issues) מ־12 מאגרי Python פופולריים.</a:t>
            </a:r>
          </a:p>
          <a:p>
            <a:pPr marL="0" indent="0" algn="r" rtl="1">
              <a:buNone/>
            </a:pPr>
            <a:r>
              <a:rPr lang="he-IL" sz="1200"/>
              <a:t>•  הכלי מקבל תיאור בעיה ואת המאגר, מפיק תיקון, ובדיקות מוסתרות קובעות אם עבר.</a:t>
            </a:r>
          </a:p>
          <a:p>
            <a:pPr marL="0" indent="0" algn="r" rtl="1">
              <a:buNone/>
            </a:pPr>
            <a:r>
              <a:rPr lang="he-IL" sz="1200"/>
              <a:t>•  בזמן הפרסום המודל הטוב ביותר פתר 1.96% מהבעיות.</a:t>
            </a:r>
          </a:p>
          <a:p>
            <a:pPr marL="0" indent="0" algn="r" rtl="1">
              <a:buNone/>
            </a:pPr>
            <a:r>
              <a:rPr lang="he-IL" sz="1200"/>
              <a:t>•  בשנת 2024 פרסמה OpenAI תת־קבוצה של 500 בעיות שאומתו בידי אנשים (SWE-bench Verified).</a:t>
            </a:r>
          </a:p>
          <a:p>
            <a:pPr marL="0" indent="0" algn="r" rtl="1">
              <a:buNone/>
            </a:pPr>
            <a:r>
              <a:rPr lang="he-IL" sz="1200"/>
              <a:t>•  מגבלות: בפברואר 2026 הודיעה OpenAI שהיא אינה מדווחת עוד על Verified.</a:t>
            </a:r>
          </a:p>
          <a:p>
            <a:pPr marL="0" indent="0" algn="r" rtl="1">
              <a:buNone/>
            </a:pPr>
            <a:r>
              <a:rPr lang="he-IL" sz="1200"/>
              <a:t>•  ביקורת על תת־קבוצה של בעיות שמודלים נכשלים בהן מצאה שלפחות 59.4% מהן כוללות בדיקות שדוחות פתרונות נכונים, ומודלים מתקדמים הצליחו לשחזר מהזיכרון פתרונות מקוריים, כלומר זליגה של נתוני הבדיקה אל האימון.</a:t>
            </a:r>
          </a:p>
          <a:p>
            <a:pPr marL="0" indent="0" algn="r" rtl="1">
              <a:buNone/>
            </a:pPr>
            <a:r>
              <a:rPr lang="he-IL" sz="1200"/>
              <a:t>•  OpenAI ממליצה על SWE-bench Pro.</a:t>
            </a:r>
          </a:p>
          <a:p>
            <a:pPr marL="0" indent="0" algn="r" rtl="1">
              <a:buNone/>
            </a:pPr>
            <a:r>
              <a:rPr lang="he-IL" sz="1200"/>
              <a:t>•  במרץ 2026 פרסמה METR בדיקה נוספת: ארבעה מתחזקי מאגרים סקרו 296 תיקונים שעברו את הבדיקות האוטומטיות, ובהתאמה לבסיס של תיקונים אנושיים אמיתיים, שיעור האישור היה נמוך בכ־24 נקודות אחוז מהציון האוטומטי, כלומר בערך מחצית.</a:t>
            </a:r>
          </a:p>
          <a:p>
            <a:pPr marL="0" indent="0" algn="r" rtl="1">
              <a:buNone/>
            </a:pPr>
            <a:r>
              <a:rPr lang="he-IL" sz="1200"/>
              <a:t>•  METR עצמה מדגישה שהסוכנים קיבלו ניסיון אחד בלי משוב, ולכן אין לראות בכך הוכחה לחוסר יכולת מהותי.</a:t>
            </a:r>
          </a:p>
          <a:p>
            <a:pPr marL="0" indent="0" algn="r" rtl="1">
              <a:buNone/>
            </a:pPr>
            <a:r>
              <a:rPr lang="he-IL" sz="1200"/>
              <a:t>•  שלושה גבולות כלליים: המדד כולל Python בלבד ומשימות תיקון, הציון תלוי גם במעטפת ולא רק במודל, ובדיקות אוטומטיות אינן סקירת קוד אנושית.</a:t>
            </a:r>
          </a:p>
          <a:p>
            <a:pPr marL="0" indent="0" algn="r" rtl="1">
              <a:buNone/>
            </a:pPr>
            <a:r>
              <a:rPr lang="he-IL" sz="1200" b="1"/>
              <a:t>קישור למעבדה</a:t>
            </a:r>
          </a:p>
          <a:p>
            <a:pPr marL="0" indent="0" algn="r" rtl="1">
              <a:buNone/>
            </a:pPr>
            <a:r>
              <a:rPr lang="he-IL" sz="1200"/>
              <a:t>•  validate_top5 הוא מבחן קטן באותו רעיון, ויש לו אותו גבול.</a:t>
            </a:r>
          </a:p>
          <a:p>
            <a:pPr marL="0" indent="0" algn="r" rtl="1">
              <a:buNone/>
            </a:pPr>
            <a:r>
              <a:rPr lang="he-IL" sz="1200"/>
              <a:t>•  אל תבטיחו איזה כלי טוב יותר: הציונים משתנים מהר.</a:t>
            </a:r>
          </a:p>
          <a:p>
            <a:pPr marL="0" indent="0" algn="r" rtl="1">
              <a:buNone/>
            </a:pPr>
            <a:r>
              <a:rPr lang="he-IL" sz="1200" b="1"/>
              <a:t>שאלה לכיתה</a:t>
            </a:r>
          </a:p>
          <a:p>
            <a:pPr marL="0" indent="0" algn="r" rtl="1">
              <a:buNone/>
            </a:pPr>
            <a:r>
              <a:rPr lang="he-IL" sz="1200"/>
              <a:t>•  מה היה גורם לכם לסמוך על ציון של כלי?</a:t>
            </a:r>
          </a:p>
          <a:p>
            <a:pPr marL="0" indent="0" algn="r" rtl="1">
              <a:buNone/>
            </a:pPr>
            <a:r>
              <a:rPr lang="he-IL" sz="1200" b="1"/>
              <a:t>מתי לדלג</a:t>
            </a:r>
          </a:p>
          <a:p>
            <a:pPr marL="0" indent="0" algn="r" rtl="1">
              <a:buNone/>
            </a:pPr>
            <a:r>
              <a:rPr lang="he-IL" sz="1200"/>
              <a:t>•  בזמן קצר.</a:t>
            </a:r>
          </a:p>
          <a:p>
            <a:pPr marL="0" indent="0" algn="r" rtl="1">
              <a:buNone/>
            </a:pPr>
            <a:r>
              <a:rPr lang="he-IL" sz="1200" b="1"/>
              <a:t>מקורות</a:t>
            </a:r>
          </a:p>
          <a:p>
            <a:pPr marL="0" indent="0" algn="r" rtl="1">
              <a:buNone/>
            </a:pPr>
            <a:r>
              <a:rPr lang="he-IL" sz="1200"/>
              <a:t>•  Jimenez et al.</a:t>
            </a:r>
          </a:p>
          <a:p>
            <a:pPr marL="0" indent="0" algn="r" rtl="1">
              <a:buNone/>
            </a:pPr>
            <a:r>
              <a:rPr lang="he-IL" sz="1200"/>
              <a:t>•  2024, arXiv 2310.06770; OpenAI, 23.2.2026; METR, 10.3.2026.</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a:t>
            </a:r>
          </a:p>
          <a:p>
            <a:pPr marL="0" indent="0" algn="r" rtl="1">
              <a:buNone/>
            </a:pPr>
            <a:r>
              <a:rPr lang="he-IL" sz="1200" b="1"/>
              <a:t>מה אומרים</a:t>
            </a:r>
          </a:p>
          <a:p>
            <a:pPr marL="0" indent="0" algn="r" rtl="1">
              <a:buNone/>
            </a:pPr>
            <a:r>
              <a:rPr lang="he-IL" sz="1200"/>
              <a:t>•  שני מקרים מתועדים שמחזקים את שקף ״מה יכול להשתבש״.</a:t>
            </a:r>
          </a:p>
          <a:p>
            <a:pPr marL="0" indent="0" algn="r" rtl="1">
              <a:buNone/>
            </a:pPr>
            <a:r>
              <a:rPr lang="he-IL" sz="1200"/>
              <a:t>•  מקרה ראשון: בקיץ 2025 דיווח המשקיע Jason Lemkin (SaaStr) שסוכן של Replit מחק את מסד נתוני הייצור שלו בזמן הקפאת קוד שהוא עצמו הגדיר, יצר נתונים וביקורות מזויפים, וטען בשגגה שאי אפשר לשחזר, בעוד שהשחזור עבד.</a:t>
            </a:r>
          </a:p>
          <a:p>
            <a:pPr marL="0" indent="0" algn="r" rtl="1">
              <a:buNone/>
            </a:pPr>
            <a:r>
              <a:rPr lang="he-IL" sz="1200"/>
              <a:t>•  מנכ״ל Replit הכיר בתקרית והודיע על הפרדה אוטומטית בין מסדי פיתוח לייצור.</a:t>
            </a:r>
          </a:p>
          <a:p>
            <a:pPr marL="0" indent="0" algn="r" rtl="1">
              <a:buNone/>
            </a:pPr>
            <a:r>
              <a:rPr lang="he-IL" sz="1200"/>
              <a:t>•  התקרית רשומה במאגר תקריות הבינה המלאכותית (מספר 1152).</a:t>
            </a:r>
          </a:p>
          <a:p>
            <a:pPr marL="0" indent="0" algn="r" rtl="1">
              <a:buNone/>
            </a:pPr>
            <a:r>
              <a:rPr lang="he-IL" sz="1200"/>
              <a:t>•  זהירות: זה דיווח של משתמש ושל החברה ולא חקירה עצמאית, ויש מי שטוענים שהמערכת לא הייתה ״ייצור״ במלוא מובן המילה.</a:t>
            </a:r>
          </a:p>
          <a:p>
            <a:pPr marL="0" indent="0" algn="r" rtl="1">
              <a:buNone/>
            </a:pPr>
            <a:r>
              <a:rPr lang="he-IL" sz="1200"/>
              <a:t>•  הלקח אינו שהכלי גרוע אלא שגבולות הרשאה (הפרדת סביבות, גיבוי, אישור) צריכים להיות מנגנון ולא הוראה בטקסט.</a:t>
            </a:r>
          </a:p>
          <a:p>
            <a:pPr marL="0" indent="0" algn="r" rtl="1">
              <a:buNone/>
            </a:pPr>
            <a:r>
              <a:rPr lang="he-IL" sz="1200"/>
              <a:t>•  מקרה שני: Spracklen ועמיתים (USENIX Security 2025) בדקו 16 מודלים שכתבו קוד בשתי שפות ב־576,000 דגימות.</a:t>
            </a:r>
          </a:p>
          <a:p>
            <a:pPr marL="0" indent="0" algn="r" rtl="1">
              <a:buNone/>
            </a:pPr>
            <a:r>
              <a:rPr lang="he-IL" sz="1200"/>
              <a:t>•  בממוצע לפחות 5.2% מהחבילות שמודלים מסחריים המליצו עליהן ו־21.7% במודלים בקוד פתוח לא היו קיימות, ונמצאו 205,474 שמות ייחודיים שהומצאו.</a:t>
            </a:r>
          </a:p>
          <a:p>
            <a:pPr marL="0" indent="0" algn="r" rtl="1">
              <a:buNone/>
            </a:pPr>
            <a:r>
              <a:rPr lang="he-IL" sz="1200"/>
              <a:t>•  תוקף יכול לרשום חבילה זדונית בשם כזה, ובתקשורת המקצועית מכנים זאת לפעמים slopsquatting.</a:t>
            </a:r>
          </a:p>
          <a:p>
            <a:pPr marL="0" indent="0" algn="r" rtl="1">
              <a:buNone/>
            </a:pPr>
            <a:r>
              <a:rPr lang="he-IL" sz="1200"/>
              <a:t>•  קשר למעבדה ב׳: ההתקנה של fast-excel-writer-pro בתמלול השני היא בדיוק המקרה הזה.</a:t>
            </a:r>
          </a:p>
          <a:p>
            <a:pPr marL="0" indent="0" algn="r" rtl="1">
              <a:buNone/>
            </a:pPr>
            <a:r>
              <a:rPr lang="he-IL" sz="1200"/>
              <a:t>•  מה עושים: גיבוי לפני סוכן, אישור ידני לכל התקנה, ובדיקת השם ובעליו באתר הרשמי של החבילה (PyPI).</a:t>
            </a:r>
          </a:p>
          <a:p>
            <a:pPr marL="0" indent="0" algn="r" rtl="1">
              <a:buNone/>
            </a:pPr>
            <a:r>
              <a:rPr lang="he-IL" sz="1200" b="1"/>
              <a:t>שאלה לכיתה</a:t>
            </a:r>
          </a:p>
          <a:p>
            <a:pPr marL="0" indent="0" algn="r" rtl="1">
              <a:buNone/>
            </a:pPr>
            <a:r>
              <a:rPr lang="he-IL" sz="1200"/>
              <a:t>•  למה חבילה מומצאת מסוכנת יותר מפונקציה שגויה?</a:t>
            </a:r>
          </a:p>
          <a:p>
            <a:pPr marL="0" indent="0" algn="r" rtl="1">
              <a:buNone/>
            </a:pPr>
            <a:r>
              <a:rPr lang="he-IL" sz="1200" b="1"/>
              <a:t>תשובה</a:t>
            </a:r>
          </a:p>
          <a:p>
            <a:pPr marL="0" indent="0" algn="r" rtl="1">
              <a:buNone/>
            </a:pPr>
            <a:r>
              <a:rPr lang="he-IL" sz="1200"/>
              <a:t>•  היא מריצה קוד זר אצלכם.</a:t>
            </a:r>
          </a:p>
          <a:p>
            <a:pPr marL="0" indent="0" algn="r" rtl="1">
              <a:buNone/>
            </a:pPr>
            <a:r>
              <a:rPr lang="he-IL" sz="1200" b="1"/>
              <a:t>מתי לדלג</a:t>
            </a:r>
          </a:p>
          <a:p>
            <a:pPr marL="0" indent="0" algn="r" rtl="1">
              <a:buNone/>
            </a:pPr>
            <a:r>
              <a:rPr lang="he-IL" sz="1200"/>
              <a:t>•  אם אין זמן.</a:t>
            </a:r>
          </a:p>
          <a:p>
            <a:pPr marL="0" indent="0" algn="r" rtl="1">
              <a:buNone/>
            </a:pPr>
            <a:r>
              <a:rPr lang="he-IL" sz="1200" b="1"/>
              <a:t>מקורות</a:t>
            </a:r>
          </a:p>
          <a:p>
            <a:pPr marL="0" indent="0" algn="r" rtl="1">
              <a:buNone/>
            </a:pPr>
            <a:r>
              <a:rPr lang="he-IL" sz="1200"/>
              <a:t>•  arXiv 2406.10279; AIID incident 1152; TechTarget, יולי 2025.</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a:t>
            </a:r>
          </a:p>
          <a:p>
            <a:pPr marL="0" indent="0" algn="r" rtl="1">
              <a:buNone/>
            </a:pPr>
            <a:r>
              <a:rPr lang="he-IL" sz="1200" b="1"/>
              <a:t>מה אומרים</a:t>
            </a:r>
          </a:p>
          <a:p>
            <a:pPr marL="0" indent="0" algn="r" rtl="1">
              <a:buNone/>
            </a:pPr>
            <a:r>
              <a:rPr lang="he-IL" sz="1200"/>
              <a:t>•  הנקודה: מה קורה לנתונים שלכם תלוי בשכבת השימוש, ולא רק בשם הכלי.</a:t>
            </a:r>
          </a:p>
          <a:p>
            <a:pPr marL="0" indent="0" algn="r" rtl="1">
              <a:buNone/>
            </a:pPr>
            <a:r>
              <a:rPr lang="he-IL" sz="1200"/>
              <a:t>•  הנוסח בשקף מכוון לכלל נפוץ ולא לחוק: מדיניות משתנה, והדוגמאות הבאות נבדקו באוקטובר 2026 מול התיעוד הרשמי.</a:t>
            </a:r>
          </a:p>
          <a:p>
            <a:pPr marL="0" indent="0" algn="r" rtl="1">
              <a:buNone/>
            </a:pPr>
            <a:r>
              <a:rPr lang="he-IL" sz="1200"/>
              <a:t>•  חינמי: בתנאי ה־API החינמי של Gemini נאמר שתוכן עשוי לשמש לשיפור מוצרי גוגל ושבודקים אנושיים עשויים לקרוא אותו, ושאין להעלות מידע רגיש.</a:t>
            </a:r>
          </a:p>
          <a:p>
            <a:pPr marL="0" indent="0" algn="r" rtl="1">
              <a:buNone/>
            </a:pPr>
            <a:r>
              <a:rPr lang="he-IL" sz="1200"/>
              <a:t>•  בשאלות הנפוצות של Colab נאמר שתכונות ה־AI אוספות פרומפטים, קוד ופלט, שבודקים אנושיים עשויים לקרוא אותם, ושהם נשמרים עד 18 חודשים.</a:t>
            </a:r>
          </a:p>
          <a:p>
            <a:pPr marL="0" indent="0" algn="r" rtl="1">
              <a:buNone/>
            </a:pPr>
            <a:r>
              <a:rPr lang="he-IL" sz="1200"/>
              <a:t>•  מנוי אישי: GitHub הודיעה במרץ 2026 שמ־24 באפריל 2026 נתוני האינטראקציה של Copilot Free, Pro ו־Pro+ ישמשו לאימון אלא אם המשתמש מבטל זאת בהגדרות</a:t>
            </a:r>
          </a:p>
          <a:p>
            <a:pPr marL="0" indent="0" algn="r" rtl="1">
              <a:buNone/>
            </a:pPr>
            <a:r>
              <a:rPr lang="he-IL" sz="1200"/>
              <a:t>•  Anthropic עדכנה ב־28 באוגוסט 2025 את תנאי השימוש לצרכנים (Free, Pro, Max, כולל Claude Code בחשבונות אלה) כך שהמשתמש בוחר אם לאפשר אימון, ובהסכמה הנתונים נשמרים עד חמש שנים לעומת 30 יום</a:t>
            </a:r>
          </a:p>
          <a:p>
            <a:pPr marL="0" indent="0" algn="r" rtl="1">
              <a:buNone/>
            </a:pPr>
            <a:r>
              <a:rPr lang="he-IL" sz="1200"/>
              <a:t>•  ל־ChatGPT האישי יש מתג בהגדרות ״Improve the model for everyone״ לפי עמוד העזרה של OpenAI.</a:t>
            </a:r>
          </a:p>
          <a:p>
            <a:pPr marL="0" indent="0" algn="r" rtl="1">
              <a:buNone/>
            </a:pPr>
            <a:r>
              <a:rPr lang="he-IL" sz="1200"/>
              <a:t>•  ארגוני ו־API: מוצרי Business ו־Enterprise של GitHub אינם בהיקף השינוי</a:t>
            </a:r>
          </a:p>
          <a:p>
            <a:pPr marL="0" indent="0" algn="r" rtl="1">
              <a:buNone/>
            </a:pPr>
            <a:r>
              <a:rPr lang="he-IL" sz="1200"/>
              <a:t>•  Claude לצוותים ולארגונים ושימוש ב־API אינם בהיקף עדכון התנאים הצרכני</a:t>
            </a:r>
          </a:p>
          <a:p>
            <a:pPr marL="0" indent="0" algn="r" rtl="1">
              <a:buNone/>
            </a:pPr>
            <a:r>
              <a:rPr lang="he-IL" sz="1200"/>
              <a:t>•  לפי OpenAI נתוני ChatGPT Business, Enterprise, Edu וה־API אינם משמשים לאימון כברירת מחדל</a:t>
            </a:r>
          </a:p>
          <a:p>
            <a:pPr marL="0" indent="0" algn="r" rtl="1">
              <a:buNone/>
            </a:pPr>
            <a:r>
              <a:rPr lang="he-IL" sz="1200"/>
              <a:t>•  בתנאי ה־API בתשלום של Gemini נאמר שהתוכן אינו משמש לשיפור מוצרים, אך נשמר זמן מוגבל לאבטחה ולחוק.</a:t>
            </a:r>
          </a:p>
          <a:p>
            <a:pPr marL="0" indent="0" algn="r" rtl="1">
              <a:buNone/>
            </a:pPr>
            <a:r>
              <a:rPr lang="he-IL" sz="1200"/>
              <a:t>•  הלקח הוא תהליך ולא רשימה: לפני העלאת קוד או נתונים, לבדוק באיזו שכבה אתם, מה ברירת המחדל, ומה מדיניות הארגון שלכם.</a:t>
            </a:r>
          </a:p>
          <a:p>
            <a:pPr marL="0" indent="0" algn="r" rtl="1">
              <a:buNone/>
            </a:pPr>
            <a:r>
              <a:rPr lang="he-IL" sz="1200"/>
              <a:t>•  במעבדות הנתונים סינתטיים, ולכן אין בעיה.</a:t>
            </a:r>
          </a:p>
          <a:p>
            <a:pPr marL="0" indent="0" algn="r" rtl="1">
              <a:buNone/>
            </a:pPr>
            <a:r>
              <a:rPr lang="he-IL" sz="1200" b="1"/>
              <a:t>שאלה לכיתה</a:t>
            </a:r>
          </a:p>
          <a:p>
            <a:pPr marL="0" indent="0" algn="r" rtl="1">
              <a:buNone/>
            </a:pPr>
            <a:r>
              <a:rPr lang="he-IL" sz="1200"/>
              <a:t>•  האם כלי בתשלום הוא תמיד בטוח יותר?</a:t>
            </a:r>
          </a:p>
          <a:p>
            <a:pPr marL="0" indent="0" algn="r" rtl="1">
              <a:buNone/>
            </a:pPr>
            <a:r>
              <a:rPr lang="he-IL" sz="1200" b="1"/>
              <a:t>תשובה</a:t>
            </a:r>
          </a:p>
          <a:p>
            <a:pPr marL="0" indent="0" algn="r" rtl="1">
              <a:buNone/>
            </a:pPr>
            <a:r>
              <a:rPr lang="he-IL" sz="1200"/>
              <a:t>•  לא בהכרח, צריך לקרוא את התנאים.</a:t>
            </a:r>
          </a:p>
          <a:p>
            <a:pPr marL="0" indent="0" algn="r" rtl="1">
              <a:buNone/>
            </a:pPr>
            <a:r>
              <a:rPr lang="he-IL" sz="1200" b="1"/>
              <a:t>מתי לדלג</a:t>
            </a:r>
          </a:p>
          <a:p>
            <a:pPr marL="0" indent="0" algn="r" rtl="1">
              <a:buNone/>
            </a:pPr>
            <a:r>
              <a:rPr lang="he-IL" sz="1200"/>
              <a:t>•  בזמן קצר.</a:t>
            </a:r>
          </a:p>
          <a:p>
            <a:pPr marL="0" indent="0" algn="r" rtl="1">
              <a:buNone/>
            </a:pPr>
            <a:r>
              <a:rPr lang="he-IL" sz="1200" b="1"/>
              <a:t>מקורות</a:t>
            </a:r>
          </a:p>
          <a:p>
            <a:pPr marL="0" indent="0" algn="r" rtl="1">
              <a:buNone/>
            </a:pPr>
            <a:r>
              <a:rPr lang="he-IL" sz="1200"/>
              <a:t>•  ai.google.dev/gemini-api/terms; github.blog (25.3.2026); anthropic.com/news/updates-to-our-consumer-terms; research.google.com/colaboratory/faq.</a:t>
            </a:r>
          </a:p>
          <a:p>
            <a:pPr marL="0" indent="0" algn="r" rtl="1">
              <a:spcBef>
                <a:spcPts val="800"/>
              </a:spcBef>
              <a:buNone/>
            </a:pPr>
            <a:r>
              <a:rPr lang="he-IL" sz="1200" b="1"/>
              <a:t>עדכון MCP</a:t>
            </a:r>
          </a:p>
          <a:p>
            <a:pPr marL="0" indent="0" algn="r" rtl="1">
              <a:buNone/>
            </a:pPr>
            <a:r>
              <a:rPr lang="he-IL" sz="1200" b="0"/>
              <a:t>•  ההיבט המשפטי הישראלי של מידע רגיש ושל זליגת מידע מהארגון החוצה נמצא בשקפי ההעשרה בסוף המפגש (מידע רגיש ומאגר מידע, חובות אבטחה והעברה לחו״ל, זליגת מידע והשלכות), ובמפגש 12.</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גשר למעבדה ב׳, כ־1.5 דקות.</a:t>
            </a:r>
          </a:p>
          <a:p>
            <a:pPr marL="0" indent="0" algn="r" rtl="1">
              <a:buNone/>
            </a:pPr>
            <a:r>
              <a:rPr lang="he-IL" sz="1200" b="1"/>
              <a:t>מה אומרים</a:t>
            </a:r>
          </a:p>
          <a:p>
            <a:pPr marL="0" indent="0" algn="r" rtl="1">
              <a:buNone/>
            </a:pPr>
            <a:r>
              <a:rPr lang="he-IL" sz="1200"/>
              <a:t>•  הסוכן עצמו אינו רץ ב־Colab, ולכן במעבדה הסטודנטים קוראים ומנתחים תמלול של ריצה.</a:t>
            </a:r>
          </a:p>
          <a:p>
            <a:pPr marL="0" indent="0" algn="r" rtl="1">
              <a:buNone/>
            </a:pPr>
            <a:r>
              <a:rPr lang="he-IL" sz="1200"/>
              <a:t>•  השקף מכין אותם לפורמט שיופיע במחברת.</a:t>
            </a:r>
          </a:p>
          <a:p>
            <a:pPr marL="0" indent="0" algn="r" rtl="1">
              <a:buNone/>
            </a:pPr>
            <a:r>
              <a:rPr lang="he-IL" sz="1200"/>
              <a:t>•  כל שורה היא פעולה: read קרא קובץ, create יצר קובץ, edit ערך קובץ קיים, run הריץ פקודה, install התקין חבילה, וסימן קריאה הוא הודעת שגיאה שהסוכן קיבל.</a:t>
            </a:r>
          </a:p>
          <a:p>
            <a:pPr marL="0" indent="0" algn="r" rtl="1">
              <a:buNone/>
            </a:pPr>
            <a:r>
              <a:rPr lang="he-IL" sz="1200"/>
              <a:t>•  שלוש שאלות קוראות את התמלול: מה נקרא, מה נוצר או נערך, ומה הורץ.</a:t>
            </a:r>
          </a:p>
          <a:p>
            <a:pPr marL="0" indent="0" algn="r" rtl="1">
              <a:buNone/>
            </a:pPr>
            <a:r>
              <a:rPr lang="he-IL" sz="1200"/>
              <a:t>•  שימו לב לרגע שבשורה הרביעית: הסוכן קיבל שגיאה (KeyError, העמודה revenue לא קיימת), ערך את הקובץ והריץ שוב.</a:t>
            </a:r>
          </a:p>
          <a:p>
            <a:pPr marL="0" indent="0" algn="r" rtl="1">
              <a:buNone/>
            </a:pPr>
            <a:r>
              <a:rPr lang="he-IL" sz="1200"/>
              <a:t>•  זו בדיקה עצמית, יכולת שלצ׳אט אין כי הוא אינו מריץ.</a:t>
            </a:r>
          </a:p>
          <a:p>
            <a:pPr marL="0" indent="0" algn="r" rtl="1">
              <a:buNone/>
            </a:pPr>
            <a:r>
              <a:rPr lang="he-IL" sz="1200"/>
              <a:t>•  למה זה חשוב: שליטה בסוכן פירושה קריאה של מה שעשה.</a:t>
            </a:r>
          </a:p>
          <a:p>
            <a:pPr marL="0" indent="0" algn="r" rtl="1">
              <a:buNone/>
            </a:pPr>
            <a:r>
              <a:rPr lang="he-IL" sz="1200"/>
              <a:t>•  עקרון ההרשאות מסביר גם את סולם האוטונומיה: ברמה ״שואל לפני כל פעולה״ כל שורת פעולה היא אישור שאתם נותנים, ובמעבדה תספרו אותם.</a:t>
            </a:r>
          </a:p>
          <a:p>
            <a:pPr marL="0" indent="0" algn="r" rtl="1">
              <a:buNone/>
            </a:pPr>
            <a:r>
              <a:rPr lang="he-IL" sz="1200"/>
              <a:t>•  הערה על הסולם: בשקף הסולם יש ארבע רמות, והרמה הראשונה (רק מציע) אינה מבצעת פעולות ולכן אין בה מה לאשר; המחברת סופרת אישורים בשלוש הרמות העליונות.</a:t>
            </a:r>
          </a:p>
          <a:p>
            <a:pPr marL="0" indent="0" algn="r" rtl="1">
              <a:buNone/>
            </a:pPr>
            <a:r>
              <a:rPr lang="he-IL" sz="1200" b="1"/>
              <a:t>שימו לב</a:t>
            </a:r>
          </a:p>
          <a:p>
            <a:pPr marL="0" indent="0" algn="r" rtl="1">
              <a:buNone/>
            </a:pPr>
            <a:r>
              <a:rPr lang="he-IL" sz="1200"/>
              <a:t>•  בדיקה של שורה מסוכנת לפי טקסט היא כלל גס שנועד להמחשה.</a:t>
            </a:r>
          </a:p>
          <a:p>
            <a:pPr marL="0" indent="0" algn="r" rtl="1">
              <a:buNone/>
            </a:pPr>
            <a:r>
              <a:rPr lang="he-IL" sz="1200"/>
              <a:t>•  סוכן אמיתי יכול להסוות פעולה מסוכנת בתוך פקודה אחרת, ולכן קריאה אנושית נשארת הכרחית.</a:t>
            </a:r>
          </a:p>
          <a:p>
            <a:pPr marL="0" indent="0" algn="r" rtl="1">
              <a:buNone/>
            </a:pPr>
            <a:r>
              <a:rPr lang="he-IL" sz="1200" b="1"/>
              <a:t>שאלה לכיתה</a:t>
            </a:r>
          </a:p>
          <a:p>
            <a:pPr marL="0" indent="0" algn="r" rtl="1">
              <a:buNone/>
            </a:pPr>
            <a:r>
              <a:rPr lang="he-IL" sz="1200"/>
              <a:t>•  איזו שורה בתמלול הייתם עוצרים?</a:t>
            </a:r>
          </a:p>
          <a:p>
            <a:pPr marL="0" indent="0" algn="r" rtl="1">
              <a:buNone/>
            </a:pPr>
            <a:r>
              <a:rPr lang="he-IL" sz="1200"/>
              <a:t>•  במעבדה יופיע תמלול נוסף עם שלוש פעולות חריגות.</a:t>
            </a:r>
          </a:p>
          <a:p>
            <a:pPr marL="0" indent="0" algn="r" rtl="1">
              <a:buNone/>
            </a:pPr>
            <a:r>
              <a:rPr lang="he-IL" sz="1200" b="1"/>
              <a:t>חיבור לשיעורים קודמים</a:t>
            </a:r>
          </a:p>
          <a:p>
            <a:pPr marL="0" indent="0" algn="r" rtl="1">
              <a:buNone/>
            </a:pPr>
            <a:r>
              <a:rPr lang="he-IL" sz="1200"/>
              <a:t>•  קריאת תמלול היא ההרחבה של ״קוראים ומבינים״ ממפגש 1: כשסוכן עושה במקומכם, קוראים את מה שעשה לפני שמאשרים.</a:t>
            </a:r>
          </a:p>
          <a:p>
            <a:pPr marL="0" indent="0" algn="r" rtl="1">
              <a:buNone/>
            </a:pPr>
            <a:r>
              <a:rPr lang="he-IL" sz="1200"/>
              <a:t>•  שגיאת KeyError בתמלול היא בדיוק מה שמפגש 1 לימד לצפות לו מקוד שלא נבדק.</a:t>
            </a:r>
          </a:p>
          <a:p>
            <a:pPr marL="0" indent="0" algn="r" rtl="1">
              <a:buNone/>
            </a:pPr>
            <a:r>
              <a:rPr lang="he-IL" sz="1200" b="1"/>
              <a:t>שאלה לכיתה</a:t>
            </a:r>
          </a:p>
          <a:p>
            <a:pPr marL="0" indent="0" algn="r" rtl="1">
              <a:buNone/>
            </a:pPr>
            <a:r>
              <a:rPr lang="he-IL" sz="1200"/>
              <a:t>•  מה ההבדל בין לקרוא קוד ללקרוא תמלול?</a:t>
            </a:r>
          </a:p>
          <a:p>
            <a:pPr marL="0" indent="0" algn="r" rtl="1">
              <a:buNone/>
            </a:pPr>
            <a:r>
              <a:rPr lang="he-IL" sz="1200" b="1"/>
              <a:t>תשובה</a:t>
            </a:r>
          </a:p>
          <a:p>
            <a:pPr marL="0" indent="0" algn="r" rtl="1">
              <a:buNone/>
            </a:pPr>
            <a:r>
              <a:rPr lang="he-IL" sz="1200"/>
              <a:t>•  בתמלול רואים מה בוצע, לא רק מה נכתב.</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a:t>📎 הקובץ הנדרש לתרגול, כדקה. 13 דקות</a:t>
            </a:r>
          </a:p>
          <a:p>
            <a:pPr marL="0" indent="0" algn="r" rtl="1">
              <a:buNone/>
            </a:pPr>
            <a:r>
              <a:rPr lang="he-IL"/>
              <a:t>מה אומרים</a:t>
            </a:r>
          </a:p>
          <a:p>
            <a:pPr marL="0" indent="0" algn="r" rtl="1">
              <a:buNone/>
            </a:pPr>
            <a:r>
              <a:rPr lang="he-IL"/>
              <a:t>• הקובץ לתרגול הזה: HM_05.ipynb. חלק ב׳: תמלול סוכן.</a:t>
            </a:r>
          </a:p>
          <a:p>
            <a:pPr marL="0" indent="0" algn="r" rtl="1">
              <a:buNone/>
            </a:pPr>
            <a:r>
              <a:rPr lang="he-IL"/>
              <a:t>• זה אותו קובץ HM_05.ipynb שפתחתם במעבדה הקודמת. ממשיכים לחלק הבא בתוכו.</a:t>
            </a:r>
          </a:p>
          <a:p>
            <a:pPr marL="0" indent="0" algn="r" rtl="1">
              <a:buNone/>
            </a:pPr>
            <a:r>
              <a:rPr lang="he-IL"/>
              <a:t>• הנתונים כבר בתוך המחברת, ולכן לא צריך להעלות קבצים.</a:t>
            </a:r>
          </a:p>
          <a:p>
            <a:pPr marL="0" indent="0" algn="r" rtl="1">
              <a:buNone/>
            </a:pPr>
            <a:r>
              <a:rPr lang="he-IL"/>
              <a:t>• פותחים בעזרת הקישור או קוד ה־QR, או מעלים את הקובץ ב־Colab (File → Upload notebook). כל הדרכים במדריך Google Colab, פרק 3.</a:t>
            </a:r>
          </a:p>
          <a:p>
            <a:pPr marL="0" indent="0" algn="r" rtl="1">
              <a:buNone/>
            </a:pPr>
            <a:r>
              <a:rPr lang="he-IL"/>
              <a:t>• בסוף כל מעבדה שומרים את המחברת ב־Drive, כדי שלא תאבד כשהחיבור מתנתק.</a:t>
            </a:r>
          </a:p>
          <a:p>
            <a:pPr marL="0" indent="0" algn="r" rtl="1">
              <a:buNone/>
            </a:pPr>
            <a:r>
              <a:rPr lang="he-IL"/>
              <a:t>הכנה לפני השיעור</a:t>
            </a:r>
          </a:p>
          <a:p>
            <a:pPr marL="0" indent="0" algn="r" rtl="1">
              <a:buNone/>
            </a:pPr>
            <a:r>
              <a:rPr lang="he-IL"/>
              <a:t>• להעלות את HM_05.ipynb ל־Colab או ל־Drive, ולהחליף את ה־QR (מקום שמור) בקישור אמיתי.</a:t>
            </a:r>
          </a:p>
          <a:p>
            <a:pPr marL="0" indent="0" algn="r" rtl="1">
              <a:buNone/>
            </a:pPr>
            <a:r>
              <a:rPr lang="he-IL"/>
              <a:t>• להריץ Run all על HM_05_SOLUTION לפני השיעור, ולוודא שכל הבדיקות מסומנות ✓.</a:t>
            </a:r>
          </a:p>
          <a:p>
            <a:pPr marL="0" indent="0" algn="r" rtl="1">
              <a:buNone/>
            </a:pPr>
            <a:r>
              <a:rPr lang="he-IL"/>
              <a:t>• להפיץ לסטודנטים את הקובץ מדריך_Google_Colab.pdf (גם מי שמגיע בלי הכנה צריך אותו).</a:t>
            </a:r>
          </a:p>
          <a:p>
            <a:pPr marL="0" indent="0" algn="r" rtl="1">
              <a:buNone/>
            </a:pPr>
            <a:r>
              <a:rPr lang="he-IL"/>
              <a:t>שגיאות צפויות</a:t>
            </a:r>
          </a:p>
          <a:p>
            <a:pPr marL="0" indent="0" algn="r" rtl="1">
              <a:buNone/>
            </a:pPr>
            <a:r>
              <a:rPr lang="he-IL"/>
              <a:t>• סטודנט בלי חשבון Google או בלי מחשב עובד: עבודה בזוגות.</a:t>
            </a:r>
          </a:p>
          <a:p>
            <a:pPr marL="0" indent="0" algn="r" rtl="1">
              <a:buNone/>
            </a:pPr>
            <a:r>
              <a:rPr lang="he-IL"/>
              <a:t>• הקבצים נעלמו אחרי ניתוק: מריצים מההתחלה (Run all). תוצרים חשובים נשמרים ב־Drive (המדריך, פרק 5).</a:t>
            </a:r>
          </a:p>
          <a:p>
            <a:pPr marL="0" indent="0" algn="r" rtl="1">
              <a:buNone/>
            </a:pPr>
            <a:r>
              <a:rPr lang="he-IL"/>
              <a:t>• המחברת נפתחה לקריאה בלבד: צריך לשמור עותק ב־Drive לפני העבודה.</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pPr marL="0" indent="0" algn="r" rtl="1">
              <a:buNone/>
            </a:pPr>
            <a:r>
              <a:rPr lang="he-IL" sz="1300" b="1"/>
              <a:t>מעבדה ב׳, 13 דקות, בזוגות, חלק ב׳ במחברת HM_05.</a:t>
            </a:r>
          </a:p>
          <a:p>
            <a:pPr marL="0" indent="0" algn="r" rtl="1">
              <a:buNone/>
            </a:pPr>
            <a:r>
              <a:rPr lang="he-IL" sz="1200" b="1"/>
              <a:t>למה עושים את זה</a:t>
            </a:r>
          </a:p>
          <a:p>
            <a:pPr marL="0" indent="0" algn="r" rtl="1">
              <a:buNone/>
            </a:pPr>
            <a:r>
              <a:rPr lang="he-IL" sz="1200"/>
              <a:t>•  בחלק ב׳ למדנו שסוכן פועל בפועל, ושהשליטה בו היא אישורים ובדיקה.</a:t>
            </a:r>
          </a:p>
          <a:p>
            <a:pPr marL="0" indent="0" algn="r" rtl="1">
              <a:buNone/>
            </a:pPr>
            <a:r>
              <a:rPr lang="he-IL" sz="1200"/>
              <a:t>•  סוכן שורת פקודה אינו רץ ב־Colab, ובשביל Codespace וסוכן מותקן צריך הכנה שלא כל סטודנט יספיק לעשות.</a:t>
            </a:r>
          </a:p>
          <a:p>
            <a:pPr marL="0" indent="0" algn="r" rtl="1">
              <a:buNone/>
            </a:pPr>
            <a:r>
              <a:rPr lang="he-IL" sz="1200"/>
              <a:t>•  לכן הסטודנטים מנתחים תמלול של ריצת סוכן ומתרגלים בדיוק את מה ששקף ״איך קוראים תמלול של סוכן״ דרש: מה נקרא, מה נוצר ונערך, מה הורץ.</a:t>
            </a:r>
          </a:p>
          <a:p>
            <a:pPr marL="0" indent="0" algn="r" rtl="1">
              <a:buNone/>
            </a:pPr>
            <a:r>
              <a:rPr lang="he-IL" sz="1200"/>
              <a:t>•  הם כותבים שלוש פונקציות קטנות.</a:t>
            </a:r>
          </a:p>
          <a:p>
            <a:pPr marL="0" indent="0" algn="r" rtl="1">
              <a:buNone/>
            </a:pPr>
            <a:r>
              <a:rPr lang="he-IL" sz="1200"/>
              <a:t>•  הראשונה, summarize_transcript, מסכמת תמלול.</a:t>
            </a:r>
          </a:p>
          <a:p>
            <a:pPr marL="0" indent="0" algn="r" rtl="1">
              <a:buNone/>
            </a:pPr>
            <a:r>
              <a:rPr lang="he-IL" sz="1200"/>
              <a:t>•  השנייה, count_approvals, סופרת כמה אישורים נדרשים בכל רמה של סולם האוטונומיה.</a:t>
            </a:r>
          </a:p>
          <a:p>
            <a:pPr marL="0" indent="0" algn="r" rtl="1">
              <a:buNone/>
            </a:pPr>
            <a:r>
              <a:rPr lang="he-IL" sz="1200"/>
              <a:t>•  השלישית, find_risky, מסמנת פעולות מסוכנות: התקנת חבילה, פקודה שמוחקת, או עריכה של קובץ שלא ברשימה המותרת.</a:t>
            </a:r>
          </a:p>
          <a:p>
            <a:pPr marL="0" indent="0" algn="r" rtl="1">
              <a:buNone/>
            </a:pPr>
            <a:r>
              <a:rPr lang="he-IL" sz="1200"/>
              <a:t>•  תקציב זמן מוצע: דקה למבוא, כ־9 דקות עבודה, ושלוש דקות להדגמה קצרה על המקרן של ריצת סוכן אמיתי בשאלה זהה, כדי שהסטודנטים יראו סוכן ויתאימו למה שקראו בתמלול.</a:t>
            </a:r>
          </a:p>
          <a:p>
            <a:pPr marL="0" indent="0" algn="r" rtl="1">
              <a:buNone/>
            </a:pPr>
            <a:r>
              <a:rPr lang="he-IL" sz="1200"/>
              <a:t>•  אם אין זמן להדגמה חיה, אפשר להקרין תמלול מוקלט.</a:t>
            </a:r>
          </a:p>
          <a:p>
            <a:pPr marL="0" indent="0" algn="r" rtl="1">
              <a:buNone/>
            </a:pPr>
            <a:r>
              <a:rPr lang="he-IL" sz="1200"/>
              <a:t>•  הערת התאמה: בשקף הסולם יש ארבע רמות, ובמחברת שלוש (הרמה הראשונה, רק מציע, אינה מבצעת פעולות, ולכן אינה נספרת).</a:t>
            </a:r>
          </a:p>
          <a:p>
            <a:pPr marL="0" indent="0" algn="r" rtl="1">
              <a:buNone/>
            </a:pPr>
            <a:r>
              <a:rPr lang="he-IL" sz="1200"/>
              <a:t>•  הנקודה הפדגוגית: מי שיודע לקרוא תמלול יודע לשלוט בסוכן, ומי שנותן אוטונומיה בלי לקרוא מסתכן בלי לדעת.</a:t>
            </a:r>
          </a:p>
          <a:p>
            <a:pPr marL="0" indent="0" algn="r" rtl="1">
              <a:buNone/>
            </a:pPr>
            <a:r>
              <a:rPr lang="he-IL" sz="1200" b="1"/>
              <a:t>חיבור לשיעורים קודמים</a:t>
            </a:r>
          </a:p>
          <a:p>
            <a:pPr marL="0" indent="0" algn="r" rtl="1">
              <a:buNone/>
            </a:pPr>
            <a:r>
              <a:rPr lang="he-IL" sz="1200"/>
              <a:t>•  קריאת תמלול היא ״קוראים ומבינים״ ממפגש 1, כשהעבודה נעשית על ידי סוכן. find_risky מסמן את התקנת fast-excel-writer-pro: זו הזיית חבילה, אחד מחמשת הסוגים ממפגש 2, שם למדנו לבדוק את השם ב־PyPI לפני התקנה. count_approvals מכין לסולם האוטונומיה שנעמיק בו במפגש 6.</a:t>
            </a:r>
          </a:p>
          <a:p>
            <a:pPr marL="0" indent="0" algn="r" rtl="1">
              <a:buNone/>
            </a:pPr>
            <a:r>
              <a:rPr lang="he-IL" sz="1200" b="1"/>
              <a:t>שאלת היזכרות</a:t>
            </a:r>
          </a:p>
          <a:p>
            <a:pPr marL="0" indent="0" algn="r" rtl="1">
              <a:buNone/>
            </a:pPr>
            <a:r>
              <a:rPr lang="he-IL" sz="1200"/>
              <a:t>•  ״אילו סוגי הזיות למדנו?״ תשובה: פונקציה, פרמטר, חבילה, גרסה והתנהגות.</a:t>
            </a:r>
          </a:p>
          <a:p>
            <a:pPr marL="0" indent="0" algn="r" rtl="1">
              <a:buNone/>
            </a:pPr>
            <a:r>
              <a:rPr lang="he-IL" sz="1200"/>
              <a:t>•  אם הכיתה לא זוכרת, די להזכיר את הסוג חבילה ולהמשיך.</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מה אמור לצאת במעבדה ב׳, כדקה.</a:t>
            </a:r>
          </a:p>
          <a:p>
            <a:pPr marL="0" indent="0" algn="r" rtl="1">
              <a:buNone/>
            </a:pPr>
            <a:r>
              <a:rPr lang="he-IL" sz="1200" b="1"/>
              <a:t>מה אומרים</a:t>
            </a:r>
          </a:p>
          <a:p>
            <a:pPr marL="0" indent="0" algn="r" rtl="1">
              <a:buNone/>
            </a:pPr>
            <a:r>
              <a:rPr lang="he-IL" sz="1200"/>
              <a:t>•  בתמלול הראשון: נקראו שני הקבצים: orders.csv, products.csv.</a:t>
            </a:r>
          </a:p>
          <a:p>
            <a:pPr marL="0" indent="0" algn="r" rtl="1">
              <a:buNone/>
            </a:pPr>
            <a:r>
              <a:rPr lang="he-IL" sz="1200"/>
              <a:t>•  נוצרו analysis.py ו־top5.png, נערך analysis.py, הפקודה python analysis.py הורצה פעמיים, ושורה אחת היא שגיאה (KeyError).</a:t>
            </a:r>
          </a:p>
          <a:p>
            <a:pPr marL="0" indent="0" algn="r" rtl="1">
              <a:buNone/>
            </a:pPr>
            <a:r>
              <a:rPr lang="he-IL" sz="1200"/>
              <a:t>•  בסולם האוטונומיה: ask_all דורש 7 אישורים (כל שורת פעולה חוץ משורת done), auto_edit דורש 2 (שתי ההרצות), ובמצב full_auto אפס.</a:t>
            </a:r>
          </a:p>
          <a:p>
            <a:pPr marL="0" indent="0" algn="r" rtl="1">
              <a:buNone/>
            </a:pPr>
            <a:r>
              <a:rPr lang="he-IL" sz="1200"/>
              <a:t>•  בתמלול השני הפונקציה find_risky צריכה להחזיר בדיוק שלוש שורות, לפי הסדר: עריכת settings.py (קובץ שלא ברשימה המותרת), התקנת fast-excel-writer-pro (התקנה, ובנוסף שם שנראה כהזיית חבילה פוטנציאלית ממפגש 2), והפקודה rm -rf old_results (מחיקה).</a:t>
            </a:r>
          </a:p>
          <a:p>
            <a:pPr marL="0" indent="0" algn="r" rtl="1">
              <a:buNone/>
            </a:pPr>
            <a:r>
              <a:rPr lang="he-IL" sz="1200" b="1"/>
              <a:t>שאלה לכיתה</a:t>
            </a:r>
          </a:p>
          <a:p>
            <a:pPr marL="0" indent="0" algn="r" rtl="1">
              <a:buNone/>
            </a:pPr>
            <a:r>
              <a:rPr lang="he-IL" sz="1200"/>
              <a:t>•  באיזו רמת אוטונומיה הייתם מתחילים בפרויקט בלי גיבוי?</a:t>
            </a:r>
          </a:p>
          <a:p>
            <a:pPr marL="0" indent="0" algn="r" rtl="1">
              <a:buNone/>
            </a:pPr>
            <a:r>
              <a:rPr lang="he-IL" sz="1200" b="1"/>
              <a:t>תשובה</a:t>
            </a:r>
          </a:p>
          <a:p>
            <a:pPr marL="0" indent="0" algn="r" rtl="1">
              <a:buNone/>
            </a:pPr>
            <a:r>
              <a:rPr lang="he-IL" sz="1200"/>
              <a:t>•  ask_all, ולפני כן ליצור גיבוי, וזה הגשר למפגש 6 על Git.</a:t>
            </a:r>
          </a:p>
          <a:p>
            <a:pPr marL="0" indent="0" algn="r" rtl="1">
              <a:buNone/>
            </a:pPr>
            <a:r>
              <a:rPr lang="he-IL" sz="1200"/>
              <a:t>•  בדיקת שורה מסוכנת לפי טקסט היא כלל גס, ולא מחליפה קריאה אנושית של התמלול.</a:t>
            </a:r>
          </a:p>
          <a:p>
            <a:pPr marL="0" indent="0" algn="r" rtl="1">
              <a:buNone/>
            </a:pPr>
            <a:r>
              <a:rPr lang="he-IL" sz="1200"/>
              <a:t>•  הקשר לשקף ״כשסוכן טועה״: המקרים שם מראים שפעולה מסוכנת עלולה להיראות רגילה.</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חלק ג׳, 6 דקות (בלי השקפים האופציונליים).</a:t>
            </a:r>
          </a:p>
          <a:p>
            <a:pPr marL="0" indent="0" algn="r" rtl="1">
              <a:buNone/>
            </a:pPr>
            <a:r>
              <a:rPr lang="he-IL" sz="1200" b="1"/>
              <a:t>מה אומרים</a:t>
            </a:r>
          </a:p>
          <a:p>
            <a:pPr marL="0" indent="0" algn="r" rtl="1">
              <a:buNone/>
            </a:pPr>
            <a:r>
              <a:rPr lang="he-IL" sz="1200"/>
              <a:t>•  חמש שאלות שאפשר לשאול על כל משימה, ולא צריך לשנן אותן, אלא לעבור עליהן שאלה אחרי שאלה.</a:t>
            </a:r>
          </a:p>
          <a:p>
            <a:pPr marL="0" indent="0" algn="r" rtl="1">
              <a:buNone/>
            </a:pPr>
            <a:r>
              <a:rPr lang="he-IL" sz="1200"/>
              <a:t>•  הקריאו מימין לשמאל.</a:t>
            </a:r>
          </a:p>
          <a:p>
            <a:pPr marL="0" indent="0" algn="r" rtl="1">
              <a:buNone/>
            </a:pPr>
            <a:r>
              <a:rPr lang="he-IL" sz="1200"/>
              <a:t>•  אחד, גודל המשימה: שורה אחת או כמה קבצים?</a:t>
            </a:r>
          </a:p>
          <a:p>
            <a:pPr marL="0" indent="0" algn="r" rtl="1">
              <a:buNone/>
            </a:pPr>
            <a:r>
              <a:rPr lang="he-IL" sz="1200"/>
              <a:t>•  שניים, הקשר: מה הכלי צריך לראות כדי להצליח?</a:t>
            </a:r>
          </a:p>
          <a:p>
            <a:pPr marL="0" indent="0" algn="r" rtl="1">
              <a:buNone/>
            </a:pPr>
            <a:r>
              <a:rPr lang="he-IL" sz="1200"/>
              <a:t>•  שלושה, סיכון: מה יקרה אם הוא טועה?</a:t>
            </a:r>
          </a:p>
          <a:p>
            <a:pPr marL="0" indent="0" algn="r" rtl="1">
              <a:buNone/>
            </a:pPr>
            <a:r>
              <a:rPr lang="he-IL" sz="1200"/>
              <a:t>•  ארבעה, פרטיות ועלות: מה נשלח החוצה וכמה זה עולה?</a:t>
            </a:r>
          </a:p>
          <a:p>
            <a:pPr marL="0" indent="0" algn="r" rtl="1">
              <a:buNone/>
            </a:pPr>
            <a:r>
              <a:rPr lang="he-IL" sz="1200"/>
              <a:t>•  חמישה, שליטה: כמה אני רוצה לאשר בעצמי?</a:t>
            </a:r>
          </a:p>
          <a:p>
            <a:pPr marL="0" indent="0" algn="r" rtl="1">
              <a:buNone/>
            </a:pPr>
            <a:r>
              <a:rPr lang="he-IL" sz="1200" b="1"/>
              <a:t>אנלוגיה</a:t>
            </a:r>
          </a:p>
          <a:p>
            <a:pPr marL="0" indent="0" algn="r" rtl="1">
              <a:buNone/>
            </a:pPr>
            <a:r>
              <a:rPr lang="he-IL" sz="1200"/>
              <a:t>•  בחירת כלי עבודה בסדנה.</a:t>
            </a:r>
          </a:p>
          <a:p>
            <a:pPr marL="0" indent="0" algn="r" rtl="1">
              <a:buNone/>
            </a:pPr>
            <a:r>
              <a:rPr lang="he-IL" sz="1200"/>
              <a:t>•  לא משתמשים במקדחה תעשייתית כדי לתלות תמונה, ולא במברג כדי לקדוח בטון.</a:t>
            </a:r>
          </a:p>
          <a:p>
            <a:pPr marL="0" indent="0" algn="r" rtl="1">
              <a:buNone/>
            </a:pPr>
            <a:r>
              <a:rPr lang="he-IL" sz="1200" b="1"/>
              <a:t>שאלה לכיתה</a:t>
            </a:r>
          </a:p>
          <a:p>
            <a:pPr marL="0" indent="0" algn="r" rtl="1">
              <a:buNone/>
            </a:pPr>
            <a:r>
              <a:rPr lang="he-IL" sz="1200"/>
              <a:t>•  איזה קריטריון הכי קל לשכוח?</a:t>
            </a:r>
          </a:p>
          <a:p>
            <a:pPr marL="0" indent="0" algn="r" rtl="1">
              <a:buNone/>
            </a:pPr>
            <a:r>
              <a:rPr lang="he-IL" sz="1200" b="1"/>
              <a:t>תשובה</a:t>
            </a:r>
          </a:p>
          <a:p>
            <a:pPr marL="0" indent="0" algn="r" rtl="1">
              <a:buNone/>
            </a:pPr>
            <a:r>
              <a:rPr lang="he-IL" sz="1200"/>
              <a:t>•  פרטיות, כי היא לא נראית בתוצאה.</a:t>
            </a:r>
          </a:p>
          <a:p>
            <a:pPr marL="0" indent="0" algn="r" rtl="1">
              <a:buNone/>
            </a:pPr>
            <a:r>
              <a:rPr lang="he-IL" sz="1200" b="1"/>
              <a:t>טעות נפוצה</a:t>
            </a:r>
          </a:p>
          <a:p>
            <a:pPr marL="0" indent="0" algn="r" rtl="1">
              <a:buNone/>
            </a:pPr>
            <a:r>
              <a:rPr lang="he-IL" sz="1200"/>
              <a:t>•  לבחור לפי קריטריון אחד בלבד.</a:t>
            </a:r>
          </a:p>
          <a:p>
            <a:pPr marL="0" indent="0" algn="r" rtl="1">
              <a:buNone/>
            </a:pPr>
            <a:r>
              <a:rPr lang="he-IL" sz="1200" b="1"/>
              <a:t>חיבור לשיעורים קודמים</a:t>
            </a:r>
          </a:p>
          <a:p>
            <a:pPr marL="0" indent="0" algn="r" rtl="1">
              <a:buNone/>
            </a:pPr>
            <a:r>
              <a:rPr lang="he-IL" sz="1200"/>
              <a:t>•  פרטיות מורחבת במפגש 12.</a:t>
            </a:r>
          </a:p>
          <a:p>
            <a:pPr marL="0" indent="0" algn="r" rtl="1">
              <a:buNone/>
            </a:pPr>
            <a:r>
              <a:rPr lang="he-IL" sz="1200" b="1"/>
              <a:t>להעמקה</a:t>
            </a:r>
          </a:p>
          <a:p>
            <a:pPr marL="0" indent="0" algn="r" rtl="1">
              <a:buNone/>
            </a:pPr>
            <a:r>
              <a:rPr lang="he-IL" sz="1200"/>
              <a:t>•  חמשת הקריטריונים הם המלצת פרקטיקה של הקורס, ולא תוצאה אמפירית.</a:t>
            </a:r>
          </a:p>
          <a:p>
            <a:pPr marL="0" indent="0" algn="r" rtl="1">
              <a:buNone/>
            </a:pPr>
            <a:r>
              <a:rPr lang="he-IL" sz="1200"/>
              <a:t>•  הם נשענים על עיקרון מקובל, למשל ההנחיה של Anthropic (2024) להתחיל בפתרון הפשוט ביותר ולהוסיף מורכבות רק לפי הצורך.</a:t>
            </a:r>
          </a:p>
          <a:p>
            <a:pPr marL="0" indent="0" algn="r" rtl="1">
              <a:buNone/>
            </a:pPr>
            <a:r>
              <a:rPr lang="he-IL" sz="1200"/>
              <a:t>•  מבחינה מושגית אפשר לראות בהם איזון בין עלות וסיכון: משימה קטנה בהקשר קטן אינה מצדיקה כלי יקר ומסוכן.</a:t>
            </a:r>
          </a:p>
          <a:p>
            <a:pPr marL="0" indent="0" algn="r" rtl="1">
              <a:buNone/>
            </a:pPr>
            <a:r>
              <a:rPr lang="he-IL" sz="1200" b="1"/>
              <a:t>חיבור לשיעורים קודמים</a:t>
            </a:r>
          </a:p>
          <a:p>
            <a:pPr marL="0" indent="0" algn="r" rtl="1">
              <a:buNone/>
            </a:pPr>
            <a:r>
              <a:rPr lang="he-IL" sz="1200"/>
              <a:t>•  הקריטריון ״הקשר״ הוא חלון ההקשר ממפגש 2 (מה הכלי רואה).</a:t>
            </a:r>
          </a:p>
          <a:p>
            <a:pPr marL="0" indent="0" algn="r" rtl="1">
              <a:buNone/>
            </a:pPr>
            <a:r>
              <a:rPr lang="he-IL" sz="1200"/>
              <a:t>•  ״סיכון״ ו״שליטה״ ממשיכים את ״סומכים אבל בודקים״ ממפגש 1: ככל שהסיכון גדול יותר, הבדיקה חייבת להיות קפדנית יותר.</a:t>
            </a:r>
          </a:p>
          <a:p>
            <a:pPr marL="0" indent="0" algn="r" rtl="1">
              <a:buNone/>
            </a:pPr>
            <a:r>
              <a:rPr lang="he-IL" sz="1200" b="1"/>
              <a:t>שאלת היזכרות</a:t>
            </a:r>
          </a:p>
          <a:p>
            <a:pPr marL="0" indent="0" algn="r" rtl="1">
              <a:buNone/>
            </a:pPr>
            <a:r>
              <a:rPr lang="he-IL" sz="1200"/>
              <a:t>•  ״איזה קריטריון קשור לחלון ההקשר?״ תשובה: הקשר, מה הכלי צריך לראות.</a:t>
            </a:r>
          </a:p>
          <a:p>
            <a:pPr marL="0" indent="0" algn="r" rtl="1">
              <a:buNone/>
            </a:pPr>
            <a:r>
              <a:rPr lang="he-IL" sz="1200"/>
              <a:t>•  אם לא זוכרים, הצביעו על הכרטיס השני בשקף.</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עץ החלטה.</a:t>
            </a:r>
          </a:p>
          <a:p>
            <a:pPr marL="0" indent="0" algn="r" rtl="1">
              <a:buNone/>
            </a:pPr>
            <a:r>
              <a:rPr lang="he-IL" sz="1200" b="1"/>
              <a:t>מה אומרים</a:t>
            </a:r>
          </a:p>
          <a:p>
            <a:pPr marL="0" indent="0" algn="r" rtl="1">
              <a:buNone/>
            </a:pPr>
            <a:r>
              <a:rPr lang="he-IL" sz="1200"/>
              <a:t>•  עוברים עליו בקול עם משימה אחת, למשל שינוי צבע של כפתור.</a:t>
            </a:r>
          </a:p>
          <a:p>
            <a:pPr marL="0" indent="0" algn="r" rtl="1">
              <a:buNone/>
            </a:pPr>
            <a:r>
              <a:rPr lang="he-IL" sz="1200"/>
              <a:t>•  השאלה העליונה: האם המשימה נוגעת בכמה קבצים או דורשת הרצה?</a:t>
            </a:r>
          </a:p>
          <a:p>
            <a:pPr marL="0" indent="0" algn="r" rtl="1">
              <a:buNone/>
            </a:pPr>
            <a:r>
              <a:rPr lang="he-IL" sz="1200"/>
              <a:t>•  אם לא (החץ הימני): האם יש לי קובץ פתוח בעורך?</a:t>
            </a:r>
          </a:p>
          <a:p>
            <a:pPr marL="0" indent="0" algn="r" rtl="1">
              <a:buNone/>
            </a:pPr>
            <a:r>
              <a:rPr lang="he-IL" sz="1200"/>
              <a:t>•  אם כן, עוזר בעורך.</a:t>
            </a:r>
          </a:p>
          <a:p>
            <a:pPr marL="0" indent="0" algn="r" rtl="1">
              <a:buNone/>
            </a:pPr>
            <a:r>
              <a:rPr lang="he-IL" sz="1200"/>
              <a:t>•  אם לא, צ׳אט.</a:t>
            </a:r>
          </a:p>
          <a:p>
            <a:pPr marL="0" indent="0" algn="r" rtl="1">
              <a:buNone/>
            </a:pPr>
            <a:r>
              <a:rPr lang="he-IL" sz="1200"/>
              <a:t>•  אם כן, כלומר המשימה גדולה (החץ השמאלי): האם יש גיבוי ב-Git והנתונים אינם רגישים?</a:t>
            </a:r>
          </a:p>
          <a:p>
            <a:pPr marL="0" indent="0" algn="r" rtl="1">
              <a:buNone/>
            </a:pPr>
            <a:r>
              <a:rPr lang="he-IL" sz="1200"/>
              <a:t>•  אם כן, סוכן באוטונומיה נמוכה.</a:t>
            </a:r>
          </a:p>
          <a:p>
            <a:pPr marL="0" indent="0" algn="r" rtl="1">
              <a:buNone/>
            </a:pPr>
            <a:r>
              <a:rPr lang="he-IL" sz="1200"/>
              <a:t>•  אם לא, קודם גיבוי, או בלי סוכן.</a:t>
            </a:r>
          </a:p>
          <a:p>
            <a:pPr marL="0" indent="0" algn="r" rtl="1">
              <a:buNone/>
            </a:pPr>
            <a:r>
              <a:rPr lang="he-IL" sz="1200"/>
              <a:t>•  נקודות חשובות: ברוב המשימות הקטנות צ׳אט או עוזר מספיקים, וסוכן דורש גיבוי.</a:t>
            </a:r>
          </a:p>
          <a:p>
            <a:pPr marL="0" indent="0" algn="r" rtl="1">
              <a:buNone/>
            </a:pPr>
            <a:r>
              <a:rPr lang="he-IL" sz="1200" b="1"/>
              <a:t>אנלוגיה</a:t>
            </a:r>
          </a:p>
          <a:p>
            <a:pPr marL="0" indent="0" algn="r" rtl="1">
              <a:buNone/>
            </a:pPr>
            <a:r>
              <a:rPr lang="he-IL" sz="1200"/>
              <a:t>•  תרשים זרימה של בחירת שיטת בקרה.</a:t>
            </a:r>
          </a:p>
          <a:p>
            <a:pPr marL="0" indent="0" algn="r" rtl="1">
              <a:buNone/>
            </a:pPr>
            <a:r>
              <a:rPr lang="he-IL" sz="1200" b="1"/>
              <a:t>שאלה לכיתה</a:t>
            </a:r>
          </a:p>
          <a:p>
            <a:pPr marL="0" indent="0" algn="r" rtl="1">
              <a:buNone/>
            </a:pPr>
            <a:r>
              <a:rPr lang="he-IL" sz="1200"/>
              <a:t>•  מה אם הנתונים רגישים והמשימה קטנה?</a:t>
            </a:r>
          </a:p>
          <a:p>
            <a:pPr marL="0" indent="0" algn="r" rtl="1">
              <a:buNone/>
            </a:pPr>
            <a:r>
              <a:rPr lang="he-IL" sz="1200" b="1"/>
              <a:t>תשובה</a:t>
            </a:r>
          </a:p>
          <a:p>
            <a:pPr marL="0" indent="0" algn="r" rtl="1">
              <a:buNone/>
            </a:pPr>
            <a:r>
              <a:rPr lang="he-IL" sz="1200"/>
              <a:t>•  העץ אינו מכסה זאת במלואו, ולנתונים רגישים אסור להשתמש בכלי חיצוני ללא אישור, ראו שקף הבא.</a:t>
            </a:r>
          </a:p>
          <a:p>
            <a:pPr marL="0" indent="0" algn="r" rtl="1">
              <a:buNone/>
            </a:pPr>
            <a:r>
              <a:rPr lang="he-IL" sz="1200"/>
              <a:t>•  העץ הוא כלל אצבע ולא מחליף שיקול דעת.</a:t>
            </a:r>
          </a:p>
          <a:p>
            <a:pPr marL="0" indent="0" algn="r" rtl="1">
              <a:buNone/>
            </a:pPr>
            <a:r>
              <a:rPr lang="he-IL" sz="1200"/>
              <a:t>•  תוספת לעץ: הקופסה האדומה בצד מציינת שבדיקת נתונים רגישים באה לפני כל שאלה אחרת.</a:t>
            </a:r>
          </a:p>
          <a:p>
            <a:pPr marL="0" indent="0" algn="r" rtl="1">
              <a:buNone/>
            </a:pPr>
            <a:r>
              <a:rPr lang="he-IL" sz="1200"/>
              <a:t>•  זה גם הסדר שהסטודנטים יממשו בפונקציה choose_tool במעבדה, והוא עונה על השאלה ״מה אם הנתונים רגישים והמשימה קטנה?״: כלי חיצוני אינו מתאים, בלי קשר לגודל המשימה.</a:t>
            </a:r>
          </a:p>
          <a:p>
            <a:pPr marL="0" indent="0" algn="r" rtl="1">
              <a:buNone/>
            </a:pPr>
            <a:r>
              <a:rPr lang="he-IL" sz="1200" b="1"/>
              <a:t>להעמקה</a:t>
            </a:r>
          </a:p>
          <a:p>
            <a:pPr marL="0" indent="0" algn="r" rtl="1">
              <a:buNone/>
            </a:pPr>
            <a:r>
              <a:rPr lang="he-IL" sz="1200"/>
              <a:t>•  העץ הוא כלל אצבע של הקורס, לא ממצא מחקרי.</a:t>
            </a:r>
          </a:p>
          <a:p>
            <a:pPr marL="0" indent="0" algn="r" rtl="1">
              <a:buNone/>
            </a:pPr>
            <a:r>
              <a:rPr lang="he-IL" sz="1200"/>
              <a:t>•  הוא נבנה כך שאפשר להפוך אותו לפונקציה ולבדוק אותו (מעבדה ג׳), וכל סטודנט יכול לשנות אותו אם התרחישים שלו מראים שהוא אינו מתאים.</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דוגמאות להחלטה.</a:t>
            </a:r>
          </a:p>
          <a:p>
            <a:pPr marL="0" indent="0" algn="r" rtl="1">
              <a:buNone/>
            </a:pPr>
            <a:r>
              <a:rPr lang="he-IL" sz="1200" b="1"/>
              <a:t>מה אומרים</a:t>
            </a:r>
          </a:p>
          <a:p>
            <a:pPr marL="0" indent="0" algn="r" rtl="1">
              <a:buNone/>
            </a:pPr>
            <a:r>
              <a:rPr lang="he-IL" sz="1200"/>
              <a:t>•  מומלץ לבקש מהסטודנטים להחליט לפני שחושפים את העמודה האמצעית, למשל על ידי הצבעה.</a:t>
            </a:r>
          </a:p>
          <a:p>
            <a:pPr marL="0" indent="0" algn="r" rtl="1">
              <a:buNone/>
            </a:pPr>
            <a:r>
              <a:rPr lang="he-IL" sz="1200"/>
              <a:t>•  שורה 1: להבין שגיאה מוזרה.</a:t>
            </a:r>
          </a:p>
          <a:p>
            <a:pPr marL="0" indent="0" algn="r" rtl="1">
              <a:buNone/>
            </a:pPr>
            <a:r>
              <a:rPr lang="he-IL" sz="1200"/>
              <a:t>•  צ׳אט, כי ההקשר קטן והסיכון נמוך.</a:t>
            </a:r>
          </a:p>
          <a:p>
            <a:pPr marL="0" indent="0" algn="r" rtl="1">
              <a:buNone/>
            </a:pPr>
            <a:r>
              <a:rPr lang="he-IL" sz="1200"/>
              <a:t>•  שורה 2: להשלים פונקציה בקובץ פתוח.</a:t>
            </a:r>
          </a:p>
          <a:p>
            <a:pPr marL="0" indent="0" algn="r" rtl="1">
              <a:buNone/>
            </a:pPr>
            <a:r>
              <a:rPr lang="he-IL" sz="1200"/>
              <a:t>•  עוזר בעורך, כי הוא רואה את הקובץ ואתם מאשרים.</a:t>
            </a:r>
          </a:p>
          <a:p>
            <a:pPr marL="0" indent="0" algn="r" rtl="1">
              <a:buNone/>
            </a:pPr>
            <a:r>
              <a:rPr lang="he-IL" sz="1200"/>
              <a:t>•  שורה 3: פיצ׳ר שנוגע בחמישה קבצים ובבדיקות.</a:t>
            </a:r>
          </a:p>
          <a:p>
            <a:pPr marL="0" indent="0" algn="r" rtl="1">
              <a:buNone/>
            </a:pPr>
            <a:r>
              <a:rPr lang="he-IL" sz="1200"/>
              <a:t>•  סוכן עם גיבוי, כי צריך לקרוא, להריץ ולתקן.</a:t>
            </a:r>
          </a:p>
          <a:p>
            <a:pPr marL="0" indent="0" algn="r" rtl="1">
              <a:buNone/>
            </a:pPr>
            <a:r>
              <a:rPr lang="he-IL" sz="1200"/>
              <a:t>•  שורה 4: לנתח נתוני לקוחות אמיתיים.</a:t>
            </a:r>
          </a:p>
          <a:p>
            <a:pPr marL="0" indent="0" algn="r" rtl="1">
              <a:buNone/>
            </a:pPr>
            <a:r>
              <a:rPr lang="he-IL" sz="1200"/>
              <a:t>•  לא כלי חיצוני, בגלל פרטיות.</a:t>
            </a:r>
          </a:p>
          <a:p>
            <a:pPr marL="0" indent="0" algn="r" rtl="1">
              <a:buNone/>
            </a:pPr>
            <a:r>
              <a:rPr lang="he-IL" sz="1200"/>
              <a:t>•  את זה נרחיב במפגש 12.</a:t>
            </a:r>
          </a:p>
          <a:p>
            <a:pPr marL="0" indent="0" algn="r" rtl="1">
              <a:buNone/>
            </a:pPr>
            <a:r>
              <a:rPr lang="he-IL" sz="1200" b="1"/>
              <a:t>אנלוגיה</a:t>
            </a:r>
          </a:p>
          <a:p>
            <a:pPr marL="0" indent="0" algn="r" rtl="1">
              <a:buNone/>
            </a:pPr>
            <a:r>
              <a:rPr lang="he-IL" sz="1200"/>
              <a:t>•  בחירת אמצעי הובלה: אופניים לשליח קרוב, משאית למשלוח גדול, וכלום כשהמטען רגיש בלי אישור.</a:t>
            </a:r>
          </a:p>
          <a:p>
            <a:pPr marL="0" indent="0" algn="r" rtl="1">
              <a:buNone/>
            </a:pPr>
            <a:r>
              <a:rPr lang="he-IL" sz="1200" b="1"/>
              <a:t>שאלה לכיתה</a:t>
            </a:r>
          </a:p>
          <a:p>
            <a:pPr marL="0" indent="0" algn="r" rtl="1">
              <a:buNone/>
            </a:pPr>
            <a:r>
              <a:rPr lang="he-IL" sz="1200"/>
              <a:t>•  האם יש משימה שבה שני כלים מתאימים?</a:t>
            </a:r>
          </a:p>
          <a:p>
            <a:pPr marL="0" indent="0" algn="r" rtl="1">
              <a:buNone/>
            </a:pPr>
            <a:r>
              <a:rPr lang="he-IL" sz="1200" b="1"/>
              <a:t>תשובה</a:t>
            </a:r>
          </a:p>
          <a:p>
            <a:pPr marL="0" indent="0" algn="r" rtl="1">
              <a:buNone/>
            </a:pPr>
            <a:r>
              <a:rPr lang="he-IL" sz="1200"/>
              <a:t>•  כן, ולכן הטבלה היא המלצה ולא כלל קשיח.</a:t>
            </a:r>
          </a:p>
          <a:p>
            <a:pPr marL="0" indent="0" algn="r" rtl="1">
              <a:buNone/>
            </a:pPr>
            <a:r>
              <a:rPr lang="he-IL" sz="1200"/>
              <a:t>•  ממליצים לרשום את ההחלטה ביומן.</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בייק-אוף של 10 דקות, שיטה להעריך כלי חדש בלי להיסחף.</a:t>
            </a:r>
          </a:p>
          <a:p>
            <a:pPr marL="0" indent="0" algn="r" rtl="1">
              <a:buNone/>
            </a:pPr>
            <a:r>
              <a:rPr lang="he-IL" sz="1200" b="1"/>
              <a:t>מה אומרים</a:t>
            </a:r>
          </a:p>
          <a:p>
            <a:pPr marL="0" indent="0" algn="r" rtl="1">
              <a:buNone/>
            </a:pPr>
            <a:r>
              <a:rPr lang="he-IL" sz="1200"/>
              <a:t>•  ארבעה שלבים.</a:t>
            </a:r>
          </a:p>
          <a:p>
            <a:pPr marL="0" indent="0" algn="r" rtl="1">
              <a:buNone/>
            </a:pPr>
            <a:r>
              <a:rPr lang="he-IL" sz="1200"/>
              <a:t>•  שתי דקות: מגדירים משימה אחת קבועה.</a:t>
            </a:r>
          </a:p>
          <a:p>
            <a:pPr marL="0" indent="0" algn="r" rtl="1">
              <a:buNone/>
            </a:pPr>
            <a:r>
              <a:rPr lang="he-IL" sz="1200"/>
              <a:t>•  ארבע דקות: מריצים אותה בשני כלים.</a:t>
            </a:r>
          </a:p>
          <a:p>
            <a:pPr marL="0" indent="0" algn="r" rtl="1">
              <a:buNone/>
            </a:pPr>
            <a:r>
              <a:rPr lang="he-IL" sz="1200"/>
              <a:t>•  שתי דקות: ממלאים טבלה של מה עבד ומה לא.</a:t>
            </a:r>
          </a:p>
          <a:p>
            <a:pPr marL="0" indent="0" algn="r" rtl="1">
              <a:buNone/>
            </a:pPr>
            <a:r>
              <a:rPr lang="he-IL" sz="1200"/>
              <a:t>•  שתי דקות: מחליטים ורושמים כלל.</a:t>
            </a:r>
          </a:p>
          <a:p>
            <a:pPr marL="0" indent="0" algn="r" rtl="1">
              <a:buNone/>
            </a:pPr>
            <a:r>
              <a:rPr lang="he-IL" sz="1200"/>
              <a:t>•  המשפט התחתון: אותה משימה, אותם קריטריונים והחלטה כתובה.</a:t>
            </a:r>
          </a:p>
          <a:p>
            <a:pPr marL="0" indent="0" algn="r" rtl="1">
              <a:buNone/>
            </a:pPr>
            <a:r>
              <a:rPr lang="he-IL" sz="1200" b="1"/>
              <a:t>שימו לב</a:t>
            </a:r>
          </a:p>
          <a:p>
            <a:pPr marL="0" indent="0" algn="r" rtl="1">
              <a:buNone/>
            </a:pPr>
            <a:r>
              <a:rPr lang="he-IL" sz="1200"/>
              <a:t>•  מעבדות א׳ ו-ב׳ היו בייק-אוף קטן, שבו אותה משימה הורצה בצ׳אט, בעוזר ובסוכן.</a:t>
            </a:r>
          </a:p>
          <a:p>
            <a:pPr marL="0" indent="0" algn="r" rtl="1">
              <a:buNone/>
            </a:pPr>
            <a:r>
              <a:rPr lang="he-IL" sz="1200"/>
              <a:t>•  אפשר לחזור לשיטה כשיופיע כלי חדש, וגם בפרויקט הקבוצתי.</a:t>
            </a:r>
          </a:p>
          <a:p>
            <a:pPr marL="0" indent="0" algn="r" rtl="1">
              <a:buNone/>
            </a:pPr>
            <a:r>
              <a:rPr lang="he-IL" sz="1200" b="1"/>
              <a:t>אנלוגיה</a:t>
            </a:r>
          </a:p>
          <a:p>
            <a:pPr marL="0" indent="0" algn="r" rtl="1">
              <a:buNone/>
            </a:pPr>
            <a:r>
              <a:rPr lang="he-IL" sz="1200"/>
              <a:t>•  בדיקת קבלה של מכונה חדשה, אותה סדרת בדיקות לכל מועמדת.</a:t>
            </a:r>
          </a:p>
          <a:p>
            <a:pPr marL="0" indent="0" algn="r" rtl="1">
              <a:buNone/>
            </a:pPr>
            <a:r>
              <a:rPr lang="he-IL" sz="1200" b="1"/>
              <a:t>טעות נפוצה</a:t>
            </a:r>
          </a:p>
          <a:p>
            <a:pPr marL="0" indent="0" algn="r" rtl="1">
              <a:buNone/>
            </a:pPr>
            <a:r>
              <a:rPr lang="he-IL" sz="1200"/>
              <a:t>•  להחליף משימה בין כלים, ואז אי אפשר להשוות.</a:t>
            </a:r>
          </a:p>
          <a:p>
            <a:pPr marL="0" indent="0" algn="r" rtl="1">
              <a:buNone/>
            </a:pPr>
            <a:r>
              <a:rPr lang="he-IL" sz="1200" b="1"/>
              <a:t>שאלה לכיתה</a:t>
            </a:r>
          </a:p>
          <a:p>
            <a:pPr marL="0" indent="0" algn="r" rtl="1">
              <a:buNone/>
            </a:pPr>
            <a:r>
              <a:rPr lang="he-IL" sz="1200"/>
              <a:t>•  למה חשוב שהמשימה תהיה זהה?</a:t>
            </a:r>
          </a:p>
          <a:p>
            <a:pPr marL="0" indent="0" algn="r" rtl="1">
              <a:buNone/>
            </a:pPr>
            <a:r>
              <a:rPr lang="he-IL" sz="1200" b="1"/>
              <a:t>תשובה</a:t>
            </a:r>
          </a:p>
          <a:p>
            <a:pPr marL="0" indent="0" algn="r" rtl="1">
              <a:buNone/>
            </a:pPr>
            <a:r>
              <a:rPr lang="he-IL" sz="1200"/>
              <a:t>•  אחרת ההבדל נובע מהמשימה ולא מהכלי.</a:t>
            </a:r>
          </a:p>
          <a:p>
            <a:pPr marL="0" indent="0" algn="r" rtl="1">
              <a:buNone/>
            </a:pPr>
            <a:r>
              <a:rPr lang="he-IL" sz="1200"/>
              <a:t>•  שקף אופציונלי, כדקה וחצי.</a:t>
            </a:r>
          </a:p>
          <a:p>
            <a:pPr marL="0" indent="0" algn="r" rtl="1">
              <a:buNone/>
            </a:pPr>
            <a:r>
              <a:rPr lang="he-IL" sz="1200"/>
              <a:t>•  אפשר לדלג בזמן קצר: מעבדות א׳ וב׳ כבר היו בייק־אוף קטן.</a:t>
            </a:r>
          </a:p>
          <a:p>
            <a:pPr marL="0" indent="0" algn="r" rtl="1">
              <a:buNone/>
            </a:pPr>
            <a:r>
              <a:rPr lang="he-IL" sz="1200"/>
              <a:t>•  אם מציגים, קשרו ללמידה מהמחקר על פרודוקטיביות (שקף ההעשרה): תוצאות תלויות במשימה, ולכן משווים על אותה משימה.</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מלכודות בבחירת כלי, ארבע טעויות נפוצות גם אצל מנוסים.</a:t>
            </a:r>
          </a:p>
          <a:p>
            <a:pPr marL="0" indent="0" algn="r" rtl="1">
              <a:buNone/>
            </a:pPr>
            <a:r>
              <a:rPr lang="he-IL" sz="1200" b="1"/>
              <a:t>מה אומרים</a:t>
            </a:r>
          </a:p>
          <a:p>
            <a:pPr marL="0" indent="0" algn="r" rtl="1">
              <a:buNone/>
            </a:pPr>
            <a:r>
              <a:rPr lang="he-IL" sz="1200"/>
              <a:t>•  אחת: בוחרים לפי הרעש, כולם מדברים על זה.</a:t>
            </a:r>
          </a:p>
          <a:p>
            <a:pPr marL="0" indent="0" algn="r" rtl="1">
              <a:buNone/>
            </a:pPr>
            <a:r>
              <a:rPr lang="he-IL" sz="1200"/>
              <a:t>•  שתיים: בוחרים רק לפי מחיר, בלי לבדוק פרטיות ומכסה.</a:t>
            </a:r>
          </a:p>
          <a:p>
            <a:pPr marL="0" indent="0" algn="r" rtl="1">
              <a:buNone/>
            </a:pPr>
            <a:r>
              <a:rPr lang="he-IL" sz="1200"/>
              <a:t>•  שלוש: כלי אחד לכל דבר, גם למשימה של שורה אחת.</a:t>
            </a:r>
          </a:p>
          <a:p>
            <a:pPr marL="0" indent="0" algn="r" rtl="1">
              <a:buNone/>
            </a:pPr>
            <a:r>
              <a:rPr lang="he-IL" sz="1200"/>
              <a:t>•  ארבע: לא בודקים מה נשלח, וקבצים רגישים יוצאים החוצה.</a:t>
            </a:r>
          </a:p>
          <a:p>
            <a:pPr marL="0" indent="0" algn="r" rtl="1">
              <a:buNone/>
            </a:pPr>
            <a:r>
              <a:rPr lang="he-IL" sz="1200" b="1"/>
              <a:t>אנלוגיה</a:t>
            </a:r>
          </a:p>
          <a:p>
            <a:pPr marL="0" indent="0" algn="r" rtl="1">
              <a:buNone/>
            </a:pPr>
            <a:r>
              <a:rPr lang="he-IL" sz="1200"/>
              <a:t>•  קניית ציוד לפי פרסומת ולא לפי דרישות.</a:t>
            </a:r>
          </a:p>
          <a:p>
            <a:pPr marL="0" indent="0" algn="r" rtl="1">
              <a:buNone/>
            </a:pPr>
            <a:r>
              <a:rPr lang="he-IL" sz="1200"/>
              <a:t>•  בחרו שתי מלכודות והציעו מקרה קצר מהעולם התעשייתי, למשל חברה שבחרה מערכת ERP בגלל שכולם משתמשים בה.</a:t>
            </a:r>
          </a:p>
          <a:p>
            <a:pPr marL="0" indent="0" algn="r" rtl="1">
              <a:buNone/>
            </a:pPr>
            <a:r>
              <a:rPr lang="he-IL" sz="1200" b="1"/>
              <a:t>שאלה לכיתה</a:t>
            </a:r>
          </a:p>
          <a:p>
            <a:pPr marL="0" indent="0" algn="r" rtl="1">
              <a:buNone/>
            </a:pPr>
            <a:r>
              <a:rPr lang="he-IL" sz="1200"/>
              <a:t>•  איזו מלכודת הכי מסוכנת?</a:t>
            </a:r>
          </a:p>
          <a:p>
            <a:pPr marL="0" indent="0" algn="r" rtl="1">
              <a:buNone/>
            </a:pPr>
            <a:r>
              <a:rPr lang="he-IL" sz="1200" b="1"/>
              <a:t>תשובה</a:t>
            </a:r>
          </a:p>
          <a:p>
            <a:pPr marL="0" indent="0" algn="r" rtl="1">
              <a:buNone/>
            </a:pPr>
            <a:r>
              <a:rPr lang="he-IL" sz="1200"/>
              <a:t>•  לא בודקים מה נשלח, כי הנזק קשה לתיקון.</a:t>
            </a:r>
          </a:p>
          <a:p>
            <a:pPr marL="0" indent="0" algn="r" rtl="1">
              <a:buNone/>
            </a:pPr>
            <a:r>
              <a:rPr lang="he-IL" sz="1200" b="1"/>
              <a:t>חיבור לשיעורים קודמים</a:t>
            </a:r>
          </a:p>
          <a:p>
            <a:pPr marL="0" indent="0" algn="r" rtl="1">
              <a:buNone/>
            </a:pPr>
            <a:r>
              <a:rPr lang="he-IL" sz="1200"/>
              <a:t>•  חלק ב׳, פרטיות ועלות, ומפגש 12.</a:t>
            </a:r>
          </a:p>
          <a:p>
            <a:pPr marL="0" indent="0" algn="r" rtl="1">
              <a:buNone/>
            </a:pPr>
            <a:r>
              <a:rPr lang="he-IL" sz="1200" b="1"/>
              <a:t>טעות נפוצה</a:t>
            </a:r>
          </a:p>
          <a:p>
            <a:pPr marL="0" indent="0" algn="r" rtl="1">
              <a:buNone/>
            </a:pPr>
            <a:r>
              <a:rPr lang="he-IL" sz="1200"/>
              <a:t>•  לחשוב שכלי יקר הוא תמיד טוב יותר, או שחינמי הוא תמיד מספיק.</a:t>
            </a:r>
          </a:p>
          <a:p>
            <a:pPr marL="0" indent="0" algn="r" rtl="1">
              <a:buNone/>
            </a:pPr>
            <a:r>
              <a:rPr lang="he-IL" sz="1200"/>
              <a:t>•  זה תלוי במשימה.</a:t>
            </a:r>
          </a:p>
          <a:p>
            <a:pPr marL="0" indent="0" algn="r" rtl="1">
              <a:spcBef>
                <a:spcPts val="800"/>
              </a:spcBef>
              <a:buNone/>
            </a:pPr>
            <a:r>
              <a:rPr lang="he-IL" sz="1200" b="1"/>
              <a:t>עדכון MCP</a:t>
            </a:r>
          </a:p>
          <a:p>
            <a:pPr marL="0" indent="0" algn="r" rtl="1">
              <a:buNone/>
            </a:pPr>
            <a:r>
              <a:rPr lang="he-IL" sz="1200" b="0"/>
              <a:t>•  שקף זה סומן אופציונלי כדי לפנות כ־12 דקות לבלוק MCP בלי לגעת בזמני המעבדות.</a:t>
            </a:r>
          </a:p>
          <a:p>
            <a:pPr marL="0" indent="0" algn="r" rtl="1">
              <a:buNone/>
            </a:pPr>
            <a:r>
              <a:rPr lang="he-IL" sz="1200" b="0"/>
              <a:t>•  אפשר לדלג, והמלכודות עולות גם בעץ ההחלטה (כדקה).</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הכלל של השיעור: בוחרים כלי לפי המשימה והסיכון, לא לפי הרעש סביבו.</a:t>
            </a:r>
          </a:p>
          <a:p>
            <a:pPr marL="0" indent="0" algn="r" rtl="1">
              <a:buNone/>
            </a:pPr>
            <a:r>
              <a:rPr lang="he-IL" sz="1200" b="1"/>
              <a:t>מה אומרים</a:t>
            </a:r>
          </a:p>
          <a:p>
            <a:pPr marL="0" indent="0" algn="r" rtl="1">
              <a:buNone/>
            </a:pPr>
            <a:r>
              <a:rPr lang="he-IL" sz="1200"/>
              <a:t>•  קראו אותו בקול, ובקשו מהכיתה לחזור עליו.</a:t>
            </a:r>
          </a:p>
          <a:p>
            <a:pPr marL="0" indent="0" algn="r" rtl="1">
              <a:buNone/>
            </a:pPr>
            <a:r>
              <a:rPr lang="he-IL" sz="1200"/>
              <a:t>•  המשפט שמתחת: ועדיין קוראים, מבינים ובודקים, בכל כלי.</a:t>
            </a:r>
          </a:p>
          <a:p>
            <a:pPr marL="0" indent="0" algn="r" rtl="1">
              <a:buNone/>
            </a:pPr>
            <a:r>
              <a:rPr lang="he-IL" sz="1200"/>
              <a:t>•  כלומר גם כשבחרתם נכון, האחריות נשארת שלכם.</a:t>
            </a:r>
          </a:p>
          <a:p>
            <a:pPr marL="0" indent="0" algn="r" rtl="1">
              <a:buNone/>
            </a:pPr>
            <a:r>
              <a:rPr lang="he-IL" sz="1200" b="1"/>
              <a:t>אנלוגיה</a:t>
            </a:r>
          </a:p>
          <a:p>
            <a:pPr marL="0" indent="0" algn="r" rtl="1">
              <a:buNone/>
            </a:pPr>
            <a:r>
              <a:rPr lang="he-IL" sz="1200"/>
              <a:t>•  מהנדס אחראי על התוצאה גם אם המכונה מחשבת.</a:t>
            </a:r>
          </a:p>
          <a:p>
            <a:pPr marL="0" indent="0" algn="r" rtl="1">
              <a:buNone/>
            </a:pPr>
            <a:r>
              <a:rPr lang="he-IL" sz="1200"/>
              <a:t>•  זה הכלל שחוזרים אליו גם בסוף השיעור.</a:t>
            </a:r>
          </a:p>
          <a:p>
            <a:pPr marL="0" indent="0" algn="r" rtl="1">
              <a:buNone/>
            </a:pPr>
            <a:r>
              <a:rPr lang="he-IL" sz="1200" b="1"/>
              <a:t>שאלה לכיתה</a:t>
            </a:r>
          </a:p>
          <a:p>
            <a:pPr marL="0" indent="0" algn="r" rtl="1">
              <a:buNone/>
            </a:pPr>
            <a:r>
              <a:rPr lang="he-IL" sz="1200"/>
              <a:t>•  מה ההבדל בין לבחור לפי הרעש לבין לפי המשימה?</a:t>
            </a:r>
          </a:p>
          <a:p>
            <a:pPr marL="0" indent="0" algn="r" rtl="1">
              <a:buNone/>
            </a:pPr>
            <a:r>
              <a:rPr lang="he-IL" sz="1200" b="1"/>
              <a:t>תשובה</a:t>
            </a:r>
          </a:p>
          <a:p>
            <a:pPr marL="0" indent="0" algn="r" rtl="1">
              <a:buNone/>
            </a:pPr>
            <a:r>
              <a:rPr lang="he-IL" sz="1200"/>
              <a:t>•  משימה מוגדרת מראש עם קריטריונים, והרעש מבוסס על מה שאחרים אומרים.</a:t>
            </a:r>
          </a:p>
          <a:p>
            <a:pPr marL="0" indent="0" algn="r" rtl="1">
              <a:buNone/>
            </a:pPr>
            <a:r>
              <a:rPr lang="he-IL" sz="1200"/>
              <a:t>•  קשרו אותו לשקף ״טעות נפוצה״ בחלק א׳ ולמלכודות בשקף הקודם.</a:t>
            </a:r>
          </a:p>
          <a:p>
            <a:pPr marL="0" indent="0" algn="r" rtl="1">
              <a:buNone/>
            </a:pPr>
            <a:r>
              <a:rPr lang="he-IL" sz="1200" b="1"/>
              <a:t>טעות נפוצה</a:t>
            </a:r>
          </a:p>
          <a:p>
            <a:pPr marL="0" indent="0" algn="r" rtl="1">
              <a:buNone/>
            </a:pPr>
            <a:r>
              <a:rPr lang="he-IL" sz="1200"/>
              <a:t>•  לזכור רק את החצי הראשון של הכלל ולשכוח את הבדיקה.</a:t>
            </a:r>
          </a:p>
          <a:p>
            <a:pPr marL="0" indent="0" algn="r" rtl="1">
              <a:buNone/>
            </a:pPr>
            <a:r>
              <a:rPr lang="he-IL" sz="1200" b="1"/>
              <a:t>חיבור לשיעורים קודמים</a:t>
            </a:r>
          </a:p>
          <a:p>
            <a:pPr marL="0" indent="0" algn="r" rtl="1">
              <a:buNone/>
            </a:pPr>
            <a:r>
              <a:rPr lang="he-IL" sz="1200"/>
              <a:t>•  המשפט בתחתית, קוראים מבינים ובודקים, הוא הכלל ממפגש 1 (מתכנת ג׳וניור מוכשר).</a:t>
            </a:r>
          </a:p>
          <a:p>
            <a:pPr marL="0" indent="0" algn="r" rtl="1">
              <a:buNone/>
            </a:pPr>
            <a:r>
              <a:rPr lang="he-IL" sz="1200"/>
              <a:t>•  הכלל של היום הוא החוליה שמוסיפה בחירה: קודם בוחרים כלי לפי המשימה והסיכון, ואחר כך בודקים.</a:t>
            </a:r>
          </a:p>
          <a:p>
            <a:pPr marL="0" indent="0" algn="r" rtl="1">
              <a:buNone/>
            </a:pPr>
            <a:r>
              <a:rPr lang="he-IL" sz="1200" b="1"/>
              <a:t>שאלת היזכרות</a:t>
            </a:r>
          </a:p>
          <a:p>
            <a:pPr marL="0" indent="0" algn="r" rtl="1">
              <a:buNone/>
            </a:pPr>
            <a:r>
              <a:rPr lang="he-IL" sz="1200"/>
              <a:t>•  ״מי זוכר את שלושת הפעלים של מפגש 1?״ תשובה: קוראים, מבינים, בודקים.</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שאלת בדיקה לסוף חלק ג׳, כ-2 דקות.</a:t>
            </a:r>
          </a:p>
          <a:p>
            <a:pPr marL="0" indent="0" algn="r" rtl="1">
              <a:buNone/>
            </a:pPr>
            <a:r>
              <a:rPr lang="he-IL" sz="1200" b="1"/>
              <a:t>מה אומרים</a:t>
            </a:r>
          </a:p>
          <a:p>
            <a:pPr marL="0" indent="0" algn="r" rtl="1">
              <a:buNone/>
            </a:pPr>
            <a:r>
              <a:rPr lang="he-IL" sz="1200"/>
              <a:t>•  קראו: צריך לשנות צבע של כפתור באתר, בקובץ אחד, ללא נתונים רגישים.</a:t>
            </a:r>
          </a:p>
          <a:p>
            <a:pPr marL="0" indent="0" algn="r" rtl="1">
              <a:buNone/>
            </a:pPr>
            <a:r>
              <a:rPr lang="he-IL" sz="1200"/>
              <a:t>•  איזה כלי סביר, ולמה?</a:t>
            </a:r>
          </a:p>
          <a:p>
            <a:pPr marL="0" indent="0" algn="r" rtl="1">
              <a:buNone/>
            </a:pPr>
            <a:r>
              <a:rPr lang="he-IL" sz="1200"/>
              <a:t>•  תנו להם 30 עד 60 שניות לחשוב, ובקשו שיתייחסו לחמשת הקריטריונים: גודל, הקשר, סיכון, פרטיות ושליטה.</a:t>
            </a:r>
          </a:p>
          <a:p>
            <a:pPr marL="0" indent="0" algn="r" rtl="1">
              <a:buNone/>
            </a:pPr>
            <a:r>
              <a:rPr lang="he-IL" sz="1200"/>
              <a:t>•  אל תחשפו את התשובה.</a:t>
            </a:r>
          </a:p>
          <a:p>
            <a:pPr marL="0" indent="0" algn="r" rtl="1">
              <a:buNone/>
            </a:pPr>
            <a:r>
              <a:rPr lang="he-IL" sz="1200"/>
              <a:t>•  אם הכיתה אומרת סוכן, שאלו: האם הצורך בגיבוי, באישורים ובהפעלה מצדיק זאת למשימה של שורה אחת?</a:t>
            </a:r>
          </a:p>
          <a:p>
            <a:pPr marL="0" indent="0" algn="r" rtl="1">
              <a:buNone/>
            </a:pPr>
            <a:r>
              <a:rPr lang="he-IL" sz="1200" b="1"/>
              <a:t>אנלוגיה</a:t>
            </a:r>
          </a:p>
          <a:p>
            <a:pPr marL="0" indent="0" algn="r" rtl="1">
              <a:buNone/>
            </a:pPr>
            <a:r>
              <a:rPr lang="he-IL" sz="1200"/>
              <a:t>•  האם נשכור קבלן לתלות מדף.</a:t>
            </a:r>
          </a:p>
          <a:p>
            <a:pPr marL="0" indent="0" algn="r" rtl="1">
              <a:buNone/>
            </a:pPr>
            <a:r>
              <a:rPr lang="he-IL" sz="1200"/>
              <a:t>•  השאלה בודקת שימוש בעץ ההחלטה ובקריטריונים, ולא ידע על מוצר.</a:t>
            </a:r>
          </a:p>
          <a:p>
            <a:pPr marL="0" indent="0" algn="r" rtl="1">
              <a:spcBef>
                <a:spcPts val="800"/>
              </a:spcBef>
              <a:buNone/>
            </a:pPr>
            <a:r>
              <a:rPr lang="he-IL" sz="1200" b="1"/>
              <a:t>עדכון MCP</a:t>
            </a:r>
          </a:p>
          <a:p>
            <a:pPr marL="0" indent="0" algn="r" rtl="1">
              <a:buNone/>
            </a:pPr>
            <a:r>
              <a:rPr lang="he-IL" sz="1200" b="0"/>
              <a:t>•  שקף זה סומן אופציונלי כדי לפנות כ־12 דקות לבלוק MCP בלי לגעת בזמני המעבדות.</a:t>
            </a:r>
          </a:p>
          <a:p>
            <a:pPr marL="0" indent="0" algn="r" rtl="1">
              <a:buNone/>
            </a:pPr>
            <a:r>
              <a:rPr lang="he-IL" sz="1200" b="0"/>
              <a:t>•  אפשר לדלג על שאלת הבדיקה ועל התשובה שאחריה אם הזמן קצר (כדקה לכל שקף).</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תשובה.</a:t>
            </a:r>
          </a:p>
          <a:p>
            <a:pPr marL="0" indent="0" algn="r" rtl="1">
              <a:buNone/>
            </a:pPr>
            <a:r>
              <a:rPr lang="he-IL" sz="1200" b="1"/>
              <a:t>מה אומרים</a:t>
            </a:r>
          </a:p>
          <a:p>
            <a:pPr marL="0" indent="0" algn="r" rtl="1">
              <a:buNone/>
            </a:pPr>
            <a:r>
              <a:rPr lang="he-IL" sz="1200"/>
              <a:t>•  עוזר בעורך או צ׳אט מתאימים: המשימה קטנה, ההקשר קטן והסיכון נמוך.</a:t>
            </a:r>
          </a:p>
          <a:p>
            <a:pPr marL="0" indent="0" algn="r" rtl="1">
              <a:buNone/>
            </a:pPr>
            <a:r>
              <a:rPr lang="he-IL" sz="1200"/>
              <a:t>•  סוכן הוא יותר מדי: הרבה כוח למשימה של שורה אחת, עם עלות של גיבוי, אישורים והפעלה.</a:t>
            </a:r>
          </a:p>
          <a:p>
            <a:pPr marL="0" indent="0" algn="r" rtl="1">
              <a:buNone/>
            </a:pPr>
            <a:r>
              <a:rPr lang="he-IL" sz="1200"/>
              <a:t>•  אם יש קובץ פתוח בעורך, עוזר בעורך נוח כי הוא רואה את הקובץ.</a:t>
            </a:r>
          </a:p>
          <a:p>
            <a:pPr marL="0" indent="0" algn="r" rtl="1">
              <a:buNone/>
            </a:pPr>
            <a:r>
              <a:rPr lang="he-IL" sz="1200"/>
              <a:t>•  אם לא, מדביקים את השורה לצ׳אט.</a:t>
            </a:r>
          </a:p>
          <a:p>
            <a:pPr marL="0" indent="0" algn="r" rtl="1">
              <a:buNone/>
            </a:pPr>
            <a:r>
              <a:rPr lang="he-IL" sz="1200"/>
              <a:t>•  אין כאן נתונים רגישים, ולכן אין בעיית פרטיות.</a:t>
            </a:r>
          </a:p>
          <a:p>
            <a:pPr marL="0" indent="0" algn="r" rtl="1">
              <a:buNone/>
            </a:pPr>
            <a:r>
              <a:rPr lang="he-IL" sz="1200" b="1"/>
              <a:t>אנלוגיה</a:t>
            </a:r>
          </a:p>
          <a:p>
            <a:pPr marL="0" indent="0" algn="r" rtl="1">
              <a:buNone/>
            </a:pPr>
            <a:r>
              <a:rPr lang="he-IL" sz="1200"/>
              <a:t>•  מברג רגיל לבורג אחד.</a:t>
            </a:r>
          </a:p>
          <a:p>
            <a:pPr marL="0" indent="0" algn="r" rtl="1">
              <a:buNone/>
            </a:pPr>
            <a:r>
              <a:rPr lang="he-IL" sz="1200" b="1"/>
              <a:t>טעות נפוצה</a:t>
            </a:r>
          </a:p>
          <a:p>
            <a:pPr marL="0" indent="0" algn="r" rtl="1">
              <a:buNone/>
            </a:pPr>
            <a:r>
              <a:rPr lang="he-IL" sz="1200"/>
              <a:t>•  לבחור סוכן בכל מצב כי הוא הכי חזק.</a:t>
            </a:r>
          </a:p>
          <a:p>
            <a:pPr marL="0" indent="0" algn="r" rtl="1">
              <a:buNone/>
            </a:pPr>
            <a:r>
              <a:rPr lang="he-IL" sz="1200"/>
              <a:t>•  קשרו לעץ ההחלטה ולמלכודת כלי אחד לכל דבר.</a:t>
            </a:r>
          </a:p>
          <a:p>
            <a:pPr marL="0" indent="0" algn="r" rtl="1">
              <a:buNone/>
            </a:pPr>
            <a:r>
              <a:rPr lang="he-IL" sz="1200"/>
              <a:t>•  זה סוף התיאוריה של חלק ג׳.</a:t>
            </a:r>
          </a:p>
          <a:p>
            <a:pPr marL="0" indent="0" algn="r" rtl="1">
              <a:buNone/>
            </a:pPr>
            <a:r>
              <a:rPr lang="he-IL" sz="1200"/>
              <a:t>•  ממשיכים בהעשרה ובמקורות (אופציונליים) ובשקף הגשר ״מהעץ לפונקציה״, ואז למעבדה ג׳.</a:t>
            </a:r>
          </a:p>
          <a:p>
            <a:pPr marL="0" indent="0" algn="r" rtl="1">
              <a:spcBef>
                <a:spcPts val="800"/>
              </a:spcBef>
              <a:buNone/>
            </a:pPr>
            <a:r>
              <a:rPr lang="he-IL" sz="1200" b="1"/>
              <a:t>עדכון MCP</a:t>
            </a:r>
          </a:p>
          <a:p>
            <a:pPr marL="0" indent="0" algn="r" rtl="1">
              <a:buNone/>
            </a:pPr>
            <a:r>
              <a:rPr lang="he-IL" sz="1200" b="0"/>
              <a:t>•  שקף זה סומן אופציונלי כדי לפנות כ־12 דקות לבלוק MCP בלי לגעת בזמני המעבדות.</a:t>
            </a:r>
          </a:p>
          <a:p>
            <a:pPr marL="0" indent="0" algn="r" rtl="1">
              <a:buNone/>
            </a:pPr>
            <a:r>
              <a:rPr lang="he-IL" sz="1200" b="0"/>
              <a:t>•  אפשר לדלג יחד עם השקף הקודם.</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a:t>
            </a:r>
          </a:p>
          <a:p>
            <a:pPr marL="0" indent="0" algn="r" rtl="1">
              <a:buNone/>
            </a:pPr>
            <a:r>
              <a:rPr lang="he-IL" sz="1200" b="1"/>
              <a:t>מה אומרים</a:t>
            </a:r>
          </a:p>
          <a:p>
            <a:pPr marL="0" indent="0" algn="r" rtl="1">
              <a:buNone/>
            </a:pPr>
            <a:r>
              <a:rPr lang="he-IL" sz="1200"/>
              <a:t>•  שאלה פתיחה: האם כלי AI מגבירים פרודוקטיביות?</a:t>
            </a:r>
          </a:p>
          <a:p>
            <a:pPr marL="0" indent="0" algn="r" rtl="1">
              <a:buNone/>
            </a:pPr>
            <a:r>
              <a:rPr lang="he-IL" sz="1200"/>
              <a:t>•  המחקר אינו נותן מספר אחד, ושווה להבין למה.</a:t>
            </a:r>
          </a:p>
          <a:p>
            <a:pPr marL="0" indent="0" algn="r" rtl="1">
              <a:buNone/>
            </a:pPr>
            <a:r>
              <a:rPr lang="he-IL" sz="1200"/>
              <a:t>•  Peng ועמיתים (2023): ניסוי מבוקר עם 95 מתכנתים שגויסו דרך Upwork, משימה אחת מוגדרת (שרת HTTP ב־JavaScript), והקבוצה עם Copilot סיימה מהר יותר ב־55.8% (רווח סמך 95% בין 21% ל־89%).</a:t>
            </a:r>
          </a:p>
          <a:p>
            <a:pPr marL="0" indent="0" algn="r" rtl="1">
              <a:buNone/>
            </a:pPr>
            <a:r>
              <a:rPr lang="he-IL" sz="1200"/>
              <a:t>•  Cui ועמיתים (2025, Management Science): שלושה ניסויי שדה בחברות (Microsoft, Accenture וחברה אנונימית מה־Fortune 100) עם 4,867 מפתחים: בהשוואה מאוחדת, 26.08% יותר משימות שהושלמו, עם סטיית תקן של 10.3% (כלומר טווח רחב).</a:t>
            </a:r>
          </a:p>
          <a:p>
            <a:pPr marL="0" indent="0" algn="r" rtl="1">
              <a:buNone/>
            </a:pPr>
            <a:r>
              <a:rPr lang="he-IL" sz="1200"/>
              <a:t>•  METR (Becker ועמיתים, יולי 2025): 16 מפתחים ותיקים במאגרי קוד פתוח מוכרים להם, 246 משימות שחולקו באקראי לעם AI או בלעדיו: עם AI המשימות ארכו 19% יותר, בעוד שהמפתחים ציפו לחיסכון של 24% ואחרי הניסוי עדיין סברו שחסכו 20%.</a:t>
            </a:r>
          </a:p>
          <a:p>
            <a:pPr marL="0" indent="0" algn="r" rtl="1">
              <a:buNone/>
            </a:pPr>
            <a:r>
              <a:rPr lang="he-IL" sz="1200"/>
              <a:t>•  עדכון של METR מפברואר 2026, עם 57 מפתחים, העריך שיפור של 18% בקבוצה אחת ו־4% באחרת, אך עם טווחי סמך שחוצים אפס, ו־METR עצמה קוראת לנתונים ״אות לא אמין״ בגלל השתתפות סלקטיבית: חלק מהמפתחים לא הסכימו לעבוד בלי AI.</a:t>
            </a:r>
          </a:p>
          <a:p>
            <a:pPr marL="0" indent="0" algn="r" rtl="1">
              <a:buNone/>
            </a:pPr>
            <a:r>
              <a:rPr lang="he-IL" sz="1200"/>
              <a:t>•  Anthropic (ינואר 2026): ניסוי עם 52 מפתחים בעיקר צעירים שלמדו ספרייה חדשה (Trio): הקבוצה עם עוזר AI קיבלה ציון ממוצע של 50% בחידון מול 67% בקבוצה שכתבה ביד, והפרש הזמן (כשתי דקות) לא היה מובהק.</a:t>
            </a:r>
          </a:p>
          <a:p>
            <a:pPr marL="0" indent="0" algn="r" rtl="1">
              <a:buNone/>
            </a:pPr>
            <a:r>
              <a:rPr lang="he-IL" sz="1200"/>
              <a:t>•  דפוסים שבהם ביקשו הסברים שמרו על למידה, ואלה שהעבירו את כל הכתיבה לכלי פגעו בה.</a:t>
            </a:r>
          </a:p>
          <a:p>
            <a:pPr marL="0" indent="0" algn="r" rtl="1">
              <a:buNone/>
            </a:pPr>
            <a:r>
              <a:rPr lang="he-IL" sz="1200"/>
              <a:t>•  מה לומר: ההבדלים נובעים ממשימה (מוגדרת מול מורכבת), ניסיון (ותיקים מול צעירים), כלים (2023 מול 2025) ומדד (מהירות מול למידה).</a:t>
            </a:r>
          </a:p>
          <a:p>
            <a:pPr marL="0" indent="0" algn="r" rtl="1">
              <a:buNone/>
            </a:pPr>
            <a:r>
              <a:rPr lang="he-IL" sz="1200"/>
              <a:t>•  הם אינם סותרים אלא מגדירים תנאים.</a:t>
            </a:r>
          </a:p>
          <a:p>
            <a:pPr marL="0" indent="0" algn="r" rtl="1">
              <a:buNone/>
            </a:pPr>
            <a:r>
              <a:rPr lang="he-IL" sz="1200"/>
              <a:t>•  גבולות: מדגמים קטנים, כלים שהשתנו, והמחקרים אינם מודדים איכות קוד לאורך זמן.</a:t>
            </a:r>
          </a:p>
          <a:p>
            <a:pPr marL="0" indent="0" algn="r" rtl="1">
              <a:buNone/>
            </a:pPr>
            <a:r>
              <a:rPr lang="he-IL" sz="1200"/>
              <a:t>•  שאלה פתוחה לדיון: איך הייתם מודדים אם כלי חדש משתלם בצוות שלכם?</a:t>
            </a:r>
          </a:p>
          <a:p>
            <a:pPr marL="0" indent="0" algn="r" rtl="1">
              <a:buNone/>
            </a:pPr>
            <a:r>
              <a:rPr lang="he-IL" sz="1200" b="1"/>
              <a:t>מתי לדלג</a:t>
            </a:r>
          </a:p>
          <a:p>
            <a:pPr marL="0" indent="0" algn="r" rtl="1">
              <a:buNone/>
            </a:pPr>
            <a:r>
              <a:rPr lang="he-IL" sz="1200"/>
              <a:t>•  בזמן קצר.</a:t>
            </a:r>
          </a:p>
          <a:p>
            <a:pPr marL="0" indent="0" algn="r" rtl="1">
              <a:buNone/>
            </a:pPr>
            <a:r>
              <a:rPr lang="he-IL" sz="1200" b="1"/>
              <a:t>מקורות</a:t>
            </a:r>
          </a:p>
          <a:p>
            <a:pPr marL="0" indent="0" algn="r" rtl="1">
              <a:buNone/>
            </a:pPr>
            <a:r>
              <a:rPr lang="he-IL" sz="1200"/>
              <a:t>•  arXiv 2302.06590, 2507.09089; METR, 24.2.2026; Anthropic Research, 29.1.2026; SSRN 4945566.</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שקף אופציונלי, כ־30 שניות, או לדלג ולהשאיר לקריאה בבית.</a:t>
            </a:r>
          </a:p>
          <a:p>
            <a:pPr marL="0" indent="0" algn="r" rtl="1">
              <a:buNone/>
            </a:pPr>
            <a:r>
              <a:rPr lang="he-IL" sz="1200" b="1"/>
              <a:t>מה אומרים</a:t>
            </a:r>
          </a:p>
          <a:p>
            <a:pPr marL="0" indent="0" algn="r" rtl="1">
              <a:buNone/>
            </a:pPr>
            <a:r>
              <a:rPr lang="he-IL" sz="1200"/>
              <a:t>•  שמונה מקורות, וכולם נפתחו ואומתו בפועל באוקטובר 2026.</a:t>
            </a:r>
          </a:p>
          <a:p>
            <a:pPr marL="0" indent="0" algn="r" rtl="1">
              <a:buNone/>
            </a:pPr>
            <a:r>
              <a:rPr lang="he-IL" sz="1200"/>
              <a:t>•  מחקרי פרודוקטיביות: METR (Becker ועמיתים, 2025, arXiv 2507.09089), Peng ועמיתים (2023, arXiv 2302.06590) ו־Cui ועמיתים (2025, Management Science, SSRN 4945566).</a:t>
            </a:r>
          </a:p>
          <a:p>
            <a:pPr marL="0" indent="0" algn="r" rtl="1">
              <a:buNone/>
            </a:pPr>
            <a:r>
              <a:rPr lang="he-IL" sz="1200"/>
              <a:t>•  הערכת סוכני קוד: Jimenez ועמיתים (ICLR 2024) על SWE-bench, ו־Yang ועמיתים (NeurIPS 2024) על SWE-agent והממשק לסוכן.</a:t>
            </a:r>
          </a:p>
          <a:p>
            <a:pPr marL="0" indent="0" algn="r" rtl="1">
              <a:buNone/>
            </a:pPr>
            <a:r>
              <a:rPr lang="he-IL" sz="1200"/>
              <a:t>•  סיכוני בטיחות: Spracklen ועמיתים (USENIX Security 2025) על חבילות מומצאות.</a:t>
            </a:r>
          </a:p>
          <a:p>
            <a:pPr marL="0" indent="0" algn="r" rtl="1">
              <a:buNone/>
            </a:pPr>
            <a:r>
              <a:rPr lang="he-IL" sz="1200"/>
              <a:t>•  תיעוד רשמי: שני מאמרי ההנדסה של Anthropic על בניית סוכנים ועל הנדסת הקשר, ומפרט ה־MCP.</a:t>
            </a:r>
          </a:p>
          <a:p>
            <a:pPr marL="0" indent="0" algn="r" rtl="1">
              <a:buNone/>
            </a:pPr>
            <a:r>
              <a:rPr lang="he-IL" sz="1200"/>
              <a:t>•  מקורות נוספים שהוזכרו בהערות ואינם בשקף: Liu ועמיתים (TACL 2024) Lost in the Middle</a:t>
            </a:r>
          </a:p>
          <a:p>
            <a:pPr marL="0" indent="0" algn="r" rtl="1">
              <a:buNone/>
            </a:pPr>
            <a:r>
              <a:rPr lang="he-IL" sz="1200"/>
              <a:t>•  METR (10.3.2026) על תיקונים שעברו בדיקות ולא היו מתקבלים</a:t>
            </a:r>
          </a:p>
          <a:p>
            <a:pPr marL="0" indent="0" algn="r" rtl="1">
              <a:buNone/>
            </a:pPr>
            <a:r>
              <a:rPr lang="he-IL" sz="1200"/>
              <a:t>•  OpenAI (23.2.2026) על הפסקת הדיווח על SWE-bench Verified</a:t>
            </a:r>
          </a:p>
          <a:p>
            <a:pPr marL="0" indent="0" algn="r" rtl="1">
              <a:buNone/>
            </a:pPr>
            <a:r>
              <a:rPr lang="he-IL" sz="1200"/>
              <a:t>•  METR (24.2.2026) עדכון המחקר</a:t>
            </a:r>
          </a:p>
          <a:p>
            <a:pPr marL="0" indent="0" algn="r" rtl="1">
              <a:buNone/>
            </a:pPr>
            <a:r>
              <a:rPr lang="he-IL" sz="1200"/>
              <a:t>•  Anthropic (29.1.2026) על רכישת מיומנות בשימוש בעוזר AI</a:t>
            </a:r>
          </a:p>
          <a:p>
            <a:pPr marL="0" indent="0" algn="r" rtl="1">
              <a:buNone/>
            </a:pPr>
            <a:r>
              <a:rPr lang="he-IL" sz="1200"/>
              <a:t>•  מאגר תקריות הבינה המלאכותית, תקרית 1152</a:t>
            </a:r>
          </a:p>
          <a:p>
            <a:pPr marL="0" indent="0" algn="r" rtl="1">
              <a:buNone/>
            </a:pPr>
            <a:r>
              <a:rPr lang="he-IL" sz="1200"/>
              <a:t>•  ותנאי השימוש של Gemini API, GitHub, Anthropic ו־Colab המצוינים בשקף על פרטיות.</a:t>
            </a:r>
          </a:p>
          <a:p>
            <a:pPr marL="0" indent="0" algn="r" rtl="1">
              <a:buNone/>
            </a:pPr>
            <a:r>
              <a:rPr lang="he-IL" sz="1200"/>
              <a:t>•  המלצה לסטודנטים שרוצים להעמיק: להתחיל ממאמר METR ומ־Building effective agents, שני טקסטים קצרים יחסית.</a:t>
            </a:r>
          </a:p>
          <a:p>
            <a:pPr marL="0" indent="0" algn="r" rtl="1">
              <a:buNone/>
            </a:pPr>
            <a:r>
              <a:rPr lang="he-IL" sz="1200"/>
              <a:t>•  אין צורך לקרוא את כל המאמר: תקציר ואיורים מספיקים.</a:t>
            </a:r>
          </a:p>
          <a:p>
            <a:pPr marL="0" indent="0" algn="r" rtl="1">
              <a:buNone/>
            </a:pPr>
            <a:r>
              <a:rPr lang="he-IL" sz="1200"/>
              <a:t>•  כל מקור שנפתח מחדש עשוי להתעדכן.</a:t>
            </a:r>
          </a:p>
          <a:p>
            <a:pPr marL="0" indent="0" algn="r" rtl="1">
              <a:buNone/>
            </a:pPr>
            <a:r>
              <a:rPr lang="he-IL" sz="1200" b="1"/>
              <a:t>אנלוגיה</a:t>
            </a:r>
          </a:p>
          <a:p>
            <a:pPr marL="0" indent="0" algn="r" rtl="1">
              <a:buNone/>
            </a:pPr>
            <a:r>
              <a:rPr lang="he-IL" sz="1200"/>
              <a:t>•  כמו קריאת תקן: מתחילים בסקירה.</a:t>
            </a:r>
          </a:p>
          <a:p>
            <a:pPr marL="0" indent="0" algn="r" rtl="1">
              <a:buNone/>
            </a:pPr>
            <a:r>
              <a:rPr lang="he-IL" sz="1200" b="1"/>
              <a:t>שאלה לכיתה</a:t>
            </a:r>
          </a:p>
          <a:p>
            <a:pPr marL="0" indent="0" algn="r" rtl="1">
              <a:buNone/>
            </a:pPr>
            <a:r>
              <a:rPr lang="he-IL" sz="1200"/>
              <a:t>•  מי רוצה להציג מחקר אחד במפגש הבא?</a:t>
            </a:r>
          </a:p>
          <a:p>
            <a:pPr marL="0" indent="0" algn="r" rtl="1">
              <a:buNone/>
            </a:pPr>
            <a:r>
              <a:rPr lang="he-IL" sz="1200"/>
              <a:t>•  זו הצעה לשיקול המרצה.</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גשר למעבדה ג׳, כדקה.</a:t>
            </a:r>
          </a:p>
          <a:p>
            <a:pPr marL="0" indent="0" algn="r" rtl="1">
              <a:buNone/>
            </a:pPr>
            <a:r>
              <a:rPr lang="he-IL" sz="1200" b="1"/>
              <a:t>מטרה</a:t>
            </a:r>
          </a:p>
          <a:p>
            <a:pPr marL="0" indent="0" algn="r" rtl="1">
              <a:buNone/>
            </a:pPr>
            <a:r>
              <a:rPr lang="he-IL" sz="1200"/>
              <a:t>•  להראות שעץ ההחלטה הוא לא רק ציור אלא כלל שאפשר לכתוב כפונקציה ולבדוק.</a:t>
            </a:r>
          </a:p>
          <a:p>
            <a:pPr marL="0" indent="0" algn="r" rtl="1">
              <a:buNone/>
            </a:pPr>
            <a:r>
              <a:rPr lang="he-IL" sz="1200"/>
              <a:t>•  כל קריטריון מחמשת הקריטריונים הופך לשדה בתיאור משימה: גודל המשימה הוא מספר הקבצים, הקשר הוא האם צריך להריץ והאם הקובץ פתוח בעורך, סיכון הוא האם יש גיבוי ב־Git, ופרטיות היא האם יש נתונים רגישים.</a:t>
            </a:r>
          </a:p>
          <a:p>
            <a:pPr marL="0" indent="0" algn="r" rtl="1">
              <a:buNone/>
            </a:pPr>
            <a:r>
              <a:rPr lang="he-IL" sz="1200"/>
              <a:t>•  הקריטריון החמישי, שליטה, אינו שדה: הוא נקבע בתוצאה, ולכן הפונקציה מחזירה סוכן באוטונומיה נמוכה ולא סוכן מלא.</a:t>
            </a:r>
          </a:p>
          <a:p>
            <a:pPr marL="0" indent="0" algn="r" rtl="1">
              <a:buNone/>
            </a:pPr>
            <a:r>
              <a:rPr lang="he-IL" sz="1200"/>
              <a:t>•  בפונקציה choose_tool הסטודנטים כותבים שלוש בדיקות לפי סדר העץ.</a:t>
            </a:r>
          </a:p>
          <a:p>
            <a:pPr marL="0" indent="0" algn="r" rtl="1">
              <a:buNone/>
            </a:pPr>
            <a:r>
              <a:rPr lang="he-IL" sz="1200"/>
              <a:t>•  הסדר הוא החלק העדין: אם בודקים נתונים רגישים רק אחרי השאר, משימה רגישה וגדולה תקבל המלצה על סוכן.</a:t>
            </a:r>
          </a:p>
          <a:p>
            <a:pPr marL="0" indent="0" algn="r" rtl="1">
              <a:buNone/>
            </a:pPr>
            <a:r>
              <a:rPr lang="he-IL" sz="1200"/>
              <a:t>•  זה כלל תכנות כללי שנקרא ״בדיקת תנאי סף ראשונה״: תנאי שחוסם הכול נבדק לפני כל השאר.</a:t>
            </a:r>
          </a:p>
          <a:p>
            <a:pPr marL="0" indent="0" algn="r" rtl="1">
              <a:buNone/>
            </a:pPr>
            <a:r>
              <a:rPr lang="he-IL" sz="1200"/>
              <a:t>•  אל תכתבו את הפונקציה על המקרן: זה התרגיל.</a:t>
            </a:r>
          </a:p>
          <a:p>
            <a:pPr marL="0" indent="0" algn="r" rtl="1">
              <a:buNone/>
            </a:pPr>
            <a:r>
              <a:rPr lang="he-IL" sz="1200" b="1"/>
              <a:t>שאלה לכיתה</a:t>
            </a:r>
          </a:p>
          <a:p>
            <a:pPr marL="0" indent="0" algn="r" rtl="1">
              <a:buNone/>
            </a:pPr>
            <a:r>
              <a:rPr lang="he-IL" sz="1200"/>
              <a:t>•  מה יקרה אם נבדוק את הגיבוי לפני הרגישות?</a:t>
            </a:r>
          </a:p>
          <a:p>
            <a:pPr marL="0" indent="0" algn="r" rtl="1">
              <a:buNone/>
            </a:pPr>
            <a:r>
              <a:rPr lang="he-IL" sz="1200" b="1"/>
              <a:t>תשובה</a:t>
            </a:r>
          </a:p>
          <a:p>
            <a:pPr marL="0" indent="0" algn="r" rtl="1">
              <a:buNone/>
            </a:pPr>
            <a:r>
              <a:rPr lang="he-IL" sz="1200"/>
              <a:t>•  משימה על נתוני לקוחות עם גיבוי תוחזר כסוכן.</a:t>
            </a:r>
          </a:p>
          <a:p>
            <a:pPr marL="0" indent="0" algn="r" rtl="1">
              <a:buNone/>
            </a:pPr>
            <a:r>
              <a:rPr lang="he-IL" sz="1200" b="1"/>
              <a:t>שימו לב</a:t>
            </a:r>
          </a:p>
          <a:p>
            <a:pPr marL="0" indent="0" algn="r" rtl="1">
              <a:buNone/>
            </a:pPr>
            <a:r>
              <a:rPr lang="he-IL" sz="1200"/>
              <a:t>•  שדות הקלט הם הפשטה, שבעולם האמיתי יש בהם עוד משתנים: עלות, גודל החלון, מדיניות הארגון.</a:t>
            </a:r>
          </a:p>
          <a:p>
            <a:pPr marL="0" indent="0" algn="r" rtl="1">
              <a:buNone/>
            </a:pPr>
            <a:r>
              <a:rPr lang="he-IL" sz="1200" b="1"/>
              <a:t>טעות נפוצה</a:t>
            </a:r>
          </a:p>
          <a:p>
            <a:pPr marL="0" indent="0" algn="r" rtl="1">
              <a:buNone/>
            </a:pPr>
            <a:r>
              <a:rPr lang="he-IL" sz="1200"/>
              <a:t>•  לחשוב שהפונקציה היא האמת.</a:t>
            </a:r>
          </a:p>
          <a:p>
            <a:pPr marL="0" indent="0" algn="r" rtl="1">
              <a:buNone/>
            </a:pPr>
            <a:r>
              <a:rPr lang="he-IL" sz="1200"/>
              <a:t>•  היא ייצוג של כלל אצבע, ותרחישים משלכם עשויים לחשוף מקרים שבהם היא אינה מתאימה.</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a:t>📎 הקובץ הנדרש לתרגול, כדקה. 13 דקות</a:t>
            </a:r>
          </a:p>
          <a:p>
            <a:pPr marL="0" indent="0" algn="r" rtl="1">
              <a:buNone/>
            </a:pPr>
            <a:r>
              <a:rPr lang="he-IL"/>
              <a:t>מה אומרים</a:t>
            </a:r>
          </a:p>
          <a:p>
            <a:pPr marL="0" indent="0" algn="r" rtl="1">
              <a:buNone/>
            </a:pPr>
            <a:r>
              <a:rPr lang="he-IL"/>
              <a:t>• הקובץ לתרגול הזה: HM_05.ipynb. חלקים ג׳-ד׳: בחירת כלי ויומן.</a:t>
            </a:r>
          </a:p>
          <a:p>
            <a:pPr marL="0" indent="0" algn="r" rtl="1">
              <a:buNone/>
            </a:pPr>
            <a:r>
              <a:rPr lang="he-IL"/>
              <a:t>• זה אותו קובץ HM_05.ipynb שפתחתם במעבדה הקודמת. ממשיכים לחלק הבא בתוכו.</a:t>
            </a:r>
          </a:p>
          <a:p>
            <a:pPr marL="0" indent="0" algn="r" rtl="1">
              <a:buNone/>
            </a:pPr>
            <a:r>
              <a:rPr lang="he-IL"/>
              <a:t>• הנתונים כבר בתוך המחברת, ולכן לא צריך להעלות קבצים.</a:t>
            </a:r>
          </a:p>
          <a:p>
            <a:pPr marL="0" indent="0" algn="r" rtl="1">
              <a:buNone/>
            </a:pPr>
            <a:r>
              <a:rPr lang="he-IL"/>
              <a:t>• פותחים בעזרת הקישור או קוד ה־QR, או מעלים את הקובץ ב־Colab (File → Upload notebook). כל הדרכים במדריך Google Colab, פרק 3.</a:t>
            </a:r>
          </a:p>
          <a:p>
            <a:pPr marL="0" indent="0" algn="r" rtl="1">
              <a:buNone/>
            </a:pPr>
            <a:r>
              <a:rPr lang="he-IL"/>
              <a:t>• בסוף כל מעבדה שומרים את המחברת ב־Drive, כדי שלא תאבד כשהחיבור מתנתק.</a:t>
            </a:r>
          </a:p>
          <a:p>
            <a:pPr marL="0" indent="0" algn="r" rtl="1">
              <a:buNone/>
            </a:pPr>
            <a:r>
              <a:rPr lang="he-IL"/>
              <a:t>הכנה לפני השיעור</a:t>
            </a:r>
          </a:p>
          <a:p>
            <a:pPr marL="0" indent="0" algn="r" rtl="1">
              <a:buNone/>
            </a:pPr>
            <a:r>
              <a:rPr lang="he-IL"/>
              <a:t>• להעלות את HM_05.ipynb ל־Colab או ל־Drive, ולהחליף את ה־QR (מקום שמור) בקישור אמיתי.</a:t>
            </a:r>
          </a:p>
          <a:p>
            <a:pPr marL="0" indent="0" algn="r" rtl="1">
              <a:buNone/>
            </a:pPr>
            <a:r>
              <a:rPr lang="he-IL"/>
              <a:t>• להריץ Run all על HM_05_SOLUTION לפני השיעור, ולוודא שכל הבדיקות מסומנות ✓.</a:t>
            </a:r>
          </a:p>
          <a:p>
            <a:pPr marL="0" indent="0" algn="r" rtl="1">
              <a:buNone/>
            </a:pPr>
            <a:r>
              <a:rPr lang="he-IL"/>
              <a:t>• להפיץ לסטודנטים את הקובץ מדריך_Google_Colab.pdf (גם מי שמגיע בלי הכנה צריך אותו).</a:t>
            </a:r>
          </a:p>
          <a:p>
            <a:pPr marL="0" indent="0" algn="r" rtl="1">
              <a:buNone/>
            </a:pPr>
            <a:r>
              <a:rPr lang="he-IL"/>
              <a:t>שגיאות צפויות</a:t>
            </a:r>
          </a:p>
          <a:p>
            <a:pPr marL="0" indent="0" algn="r" rtl="1">
              <a:buNone/>
            </a:pPr>
            <a:r>
              <a:rPr lang="he-IL"/>
              <a:t>• סטודנט בלי חשבון Google או בלי מחשב עובד: עבודה בזוגות.</a:t>
            </a:r>
          </a:p>
          <a:p>
            <a:pPr marL="0" indent="0" algn="r" rtl="1">
              <a:buNone/>
            </a:pPr>
            <a:r>
              <a:rPr lang="he-IL"/>
              <a:t>• הקבצים נעלמו אחרי ניתוק: מריצים מההתחלה (Run all). תוצרים חשובים נשמרים ב־Drive (המדריך, פרק 5).</a:t>
            </a:r>
          </a:p>
          <a:p>
            <a:pPr marL="0" indent="0" algn="r" rtl="1">
              <a:buNone/>
            </a:pPr>
            <a:r>
              <a:rPr lang="he-IL"/>
              <a:t>• המחברת נפתחה לקריאה בלבד: צריך לשמור עותק ב־Drive לפני העבודה.</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מעבדה ג׳, 13 דקות, בזוגות, חלקים ג׳ ו־ד׳ במחברת HM_05.</a:t>
            </a:r>
          </a:p>
          <a:p>
            <a:pPr marL="0" indent="0" algn="r" rtl="1">
              <a:buNone/>
            </a:pPr>
            <a:r>
              <a:rPr lang="he-IL" sz="1200" b="1"/>
              <a:t>למה עושים את זה</a:t>
            </a:r>
          </a:p>
          <a:p>
            <a:pPr marL="0" indent="0" algn="r" rtl="1">
              <a:buNone/>
            </a:pPr>
            <a:r>
              <a:rPr lang="he-IL" sz="1200"/>
              <a:t>•  חמשת הקריטריונים הם שאלות.</a:t>
            </a:r>
          </a:p>
          <a:p>
            <a:pPr marL="0" indent="0" algn="r" rtl="1">
              <a:buNone/>
            </a:pPr>
            <a:r>
              <a:rPr lang="he-IL" sz="1200"/>
              <a:t>•  כדי לבדוק שהן מובילות להחלטה עקבית, הופכים אותן לכלל מפורש, וכלל מפורש אפשר להריץ על תרחישים ולמצוא היכן הוא טועה.</a:t>
            </a:r>
          </a:p>
          <a:p>
            <a:pPr marL="0" indent="0" algn="r" rtl="1">
              <a:buNone/>
            </a:pPr>
            <a:r>
              <a:rPr lang="he-IL" sz="1200"/>
              <a:t>•  הפונקציה choose_tool מקבלת תרחיש (כמה קבצים, האם צריך להריץ, האם יש נתונים רגישים, האם יש גיבוי, האם הקובץ פתוח בעורך) ומחזירה כלי.</a:t>
            </a:r>
          </a:p>
          <a:p>
            <a:pPr marL="0" indent="0" algn="r" rtl="1">
              <a:buNone/>
            </a:pPr>
            <a:r>
              <a:rPr lang="he-IL" sz="1200"/>
              <a:t>•  הבדיקה מריצה את ששת התרחישים מהשקף ״דוגמאות להחלטה״ ועוד אחד.</a:t>
            </a:r>
          </a:p>
          <a:p>
            <a:pPr marL="0" indent="0" algn="r" rtl="1">
              <a:buNone/>
            </a:pPr>
            <a:r>
              <a:rPr lang="he-IL" sz="1200"/>
              <a:t>•  הסדר חשוב: נתונים רגישים נבדקים ראשונים, וזו הטעות הקלה ביותר.</a:t>
            </a:r>
          </a:p>
          <a:p>
            <a:pPr marL="0" indent="0" algn="r" rtl="1">
              <a:buNone/>
            </a:pPr>
            <a:r>
              <a:rPr lang="he-IL" sz="1200"/>
              <a:t>•  אחר כך כל זוג כותב שלושה תרחישים מהחיים שלו ורואה מה הפונקציה בוחרת.</a:t>
            </a:r>
          </a:p>
          <a:p>
            <a:pPr marL="0" indent="0" algn="r" rtl="1">
              <a:buNone/>
            </a:pPr>
            <a:r>
              <a:rPr lang="he-IL" sz="1200"/>
              <a:t>•  אם התוצאה לא מסתדרת עם האינטואיציה, זה בדיוק הדיון.</a:t>
            </a:r>
          </a:p>
          <a:p>
            <a:pPr marL="0" indent="0" algn="r" rtl="1">
              <a:buNone/>
            </a:pPr>
            <a:r>
              <a:rPr lang="he-IL" sz="1200"/>
              <a:t>•  משם עוברים לסיווג פרטיות לפי הרמזור, וליומן שימוש: הפונקציות log_row, write_log בונות קובץ AI_LOG.md בפורמט טבלה שנכנס לפרויקט הקבוצתי.</a:t>
            </a:r>
          </a:p>
          <a:p>
            <a:pPr marL="0" indent="0" algn="r" rtl="1">
              <a:buNone/>
            </a:pPr>
            <a:r>
              <a:rPr lang="he-IL" sz="1200"/>
              <a:t>•  לסיום כל סטודנט כותב כלל החלטה אישי.</a:t>
            </a:r>
          </a:p>
          <a:p>
            <a:pPr marL="0" indent="0" algn="r" rtl="1">
              <a:buNone/>
            </a:pPr>
            <a:r>
              <a:rPr lang="he-IL" sz="1200"/>
              <a:t>•  תקציב זמן מוצע: 5 דקות לשלב הראשון עם התרחישים האישיים, 3 לפרטיות, 3 ליומן, 2 לכלל האישי.</a:t>
            </a:r>
          </a:p>
          <a:p>
            <a:pPr marL="0" indent="0" algn="r" rtl="1">
              <a:buNone/>
            </a:pPr>
            <a:r>
              <a:rPr lang="he-IL" sz="1200"/>
              <a:t>•  אם נגמר הזמן: את חלק ד׳ (היומן) אפשר לסיים בבית, וכן את הקמת המאגר.</a:t>
            </a:r>
          </a:p>
          <a:p>
            <a:pPr marL="0" indent="0" algn="r" rtl="1">
              <a:buNone/>
            </a:pPr>
            <a:r>
              <a:rPr lang="he-IL" sz="1200"/>
              <a:t>•  תזכורת: סיווג הפרטיות (הרמזור) הוצג בשקף ״פרטיות ועלות״ בחלק ב׳, ולכן הזכירו אותו בשתי דקות בתחילת המעבדה.</a:t>
            </a:r>
          </a:p>
          <a:p>
            <a:pPr marL="0" indent="0" algn="r" rtl="1">
              <a:buNone/>
            </a:pPr>
            <a:r>
              <a:rPr lang="he-IL" sz="1200"/>
              <a:t>•  לקשר לתיאוריה: choose_tool מממשת את שקף ״עץ החלטה״ כולל תוספת ״נתונים רגישים קודם״, והיומן מיישם את הכלל של איך אימתתי.</a:t>
            </a:r>
          </a:p>
          <a:p>
            <a:pPr marL="0" indent="0" algn="r" rtl="1">
              <a:buNone/>
            </a:pPr>
            <a:r>
              <a:rPr lang="he-IL" sz="1200" b="1"/>
              <a:t>חיבור לשיעורים קודמים</a:t>
            </a:r>
          </a:p>
          <a:p>
            <a:pPr marL="0" indent="0" algn="r" rtl="1">
              <a:buNone/>
            </a:pPr>
            <a:r>
              <a:rPr lang="he-IL" sz="1200"/>
              <a:t>•  choose_tool מממשת את חמשת הקריטריונים, וקריטריון ההקשר מתחבר לחלון ההקשר ממפגש 2 ולניהול הקשר ממפגש 4 (לפי הסילבוס).</a:t>
            </a:r>
          </a:p>
          <a:p>
            <a:pPr marL="0" indent="0" algn="r" rtl="1">
              <a:buNone/>
            </a:pPr>
            <a:r>
              <a:rPr lang="he-IL" sz="1200"/>
              <a:t>•  בדיקת ששת התרחישים היא אותה תפיסה של מעבדה א׳: ציפייה שנכתבה מראש מול התוצאה של הפונקציה, כלומר בודקים לפני שסומכים (מפגש 1).</a:t>
            </a:r>
          </a:p>
          <a:p>
            <a:pPr marL="0" indent="0" algn="r" rtl="1">
              <a:buNone/>
            </a:pPr>
            <a:r>
              <a:rPr lang="he-IL" sz="1200"/>
              <a:t>•  סיווג הפרטיות נשען על כך שמה שבחלון ההקשר נשלח לשרת הספק (מפגש 2).</a:t>
            </a:r>
          </a:p>
          <a:p>
            <a:pPr marL="0" indent="0" algn="r" rtl="1">
              <a:buNone/>
            </a:pPr>
            <a:r>
              <a:rPr lang="he-IL" sz="1200"/>
              <a:t>•  יומן AI_LOG מתעד איך אימתתם, והוא ההתחלה של אחריות אישית מתועדת בפרויקט הגמר, לפי הסילבוס.</a:t>
            </a:r>
          </a:p>
          <a:p>
            <a:pPr marL="0" indent="0" algn="r" rtl="1">
              <a:buNone/>
            </a:pPr>
            <a:r>
              <a:rPr lang="he-IL" sz="1200" b="1"/>
              <a:t>שאלת היזכרות</a:t>
            </a:r>
          </a:p>
          <a:p>
            <a:pPr marL="0" indent="0" algn="r" rtl="1">
              <a:buNone/>
            </a:pPr>
            <a:r>
              <a:rPr lang="he-IL" sz="1200"/>
              <a:t>•  ״איזו בדיקה בנינו במעבדה א׳?״ תשובה: validate_top5, בדיקה שמשווה את תוצאת הכלי לתשובה שידועה מראש.</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מה אמור לצאת במעבדה ג׳, כדקה.</a:t>
            </a:r>
          </a:p>
          <a:p>
            <a:pPr marL="0" indent="0" algn="r" rtl="1">
              <a:buNone/>
            </a:pPr>
            <a:r>
              <a:rPr lang="he-IL" sz="1200" b="1"/>
              <a:t>מה אומרים</a:t>
            </a:r>
          </a:p>
          <a:p>
            <a:pPr marL="0" indent="0" algn="r" rtl="1">
              <a:buNone/>
            </a:pPr>
            <a:r>
              <a:rPr lang="he-IL" sz="1200"/>
              <a:t>•  בבדיקה של choose_tool הצפי הוא: להבין שגיאה מוזרה מחזיר chat</a:t>
            </a:r>
          </a:p>
          <a:p>
            <a:pPr marL="0" indent="0" algn="r" rtl="1">
              <a:buNone/>
            </a:pPr>
            <a:r>
              <a:rPr lang="he-IL" sz="1200"/>
              <a:t>•  להשלים פונקציה בקובץ פתוח מחזיר ide</a:t>
            </a:r>
          </a:p>
          <a:p>
            <a:pPr marL="0" indent="0" algn="r" rtl="1">
              <a:buNone/>
            </a:pPr>
            <a:r>
              <a:rPr lang="he-IL" sz="1200"/>
              <a:t>•  פיצ׳ר בחמישה קבצים ובדיקות עם גיבוי מחזיר agent_low</a:t>
            </a:r>
          </a:p>
          <a:p>
            <a:pPr marL="0" indent="0" algn="r" rtl="1">
              <a:buNone/>
            </a:pPr>
            <a:r>
              <a:rPr lang="he-IL" sz="1200"/>
              <a:t>•  אותו פיצ׳ר בלי גיבוי מחזיר backup_first</a:t>
            </a:r>
          </a:p>
          <a:p>
            <a:pPr marL="0" indent="0" algn="r" rtl="1">
              <a:buNone/>
            </a:pPr>
            <a:r>
              <a:rPr lang="he-IL" sz="1200"/>
              <a:t>•  ניתוח נתוני לקוחות אמיתיים מחזיר no_external_tool</a:t>
            </a:r>
          </a:p>
          <a:p>
            <a:pPr marL="0" indent="0" algn="r" rtl="1">
              <a:buNone/>
            </a:pPr>
            <a:r>
              <a:rPr lang="he-IL" sz="1200"/>
              <a:t>•  שינוי צבע כפתור בקובץ אחד פתוח מחזיר ide.</a:t>
            </a:r>
          </a:p>
          <a:p>
            <a:pPr marL="0" indent="0" algn="r" rtl="1">
              <a:buNone/>
            </a:pPr>
            <a:r>
              <a:rPr lang="he-IL" sz="1200"/>
              <a:t>•  בסיווג הפרטיות: orders.csv הסינתטי ירוק, הקוד של הפרויקט הקבוצתי צהוב, קוד פתוח מ־GitHub ירוק, סיסמת מסד נתונים אדומה, קובץ לקוחות אמיתי אדום, ומפתח API מסחרי אדום.</a:t>
            </a:r>
          </a:p>
          <a:p>
            <a:pPr marL="0" indent="0" algn="r" rtl="1">
              <a:buNone/>
            </a:pPr>
            <a:r>
              <a:rPr lang="he-IL" sz="1200"/>
              <a:t>•  ביומן: טבלה בת חמש עמודות (כלי, פרומפט, מה קיבלתי, איך אימתתי, החלטה), ובדיקה שהתו | בתוך טקסט מוחלף ב־/ כדי לא לשבור את הטבלה.</a:t>
            </a:r>
          </a:p>
          <a:p>
            <a:pPr marL="0" indent="0" algn="r" rtl="1">
              <a:buNone/>
            </a:pPr>
            <a:r>
              <a:rPr lang="he-IL" sz="1200"/>
              <a:t>•  אחרי המחברת: הקמת קבוצה ומאגר ב־GitHub היא משימת הכנה למפגש 6, ו־AI_LOG.md נכנס אליו.</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צעד 2: כלל החלטה.</a:t>
            </a:r>
          </a:p>
          <a:p>
            <a:pPr marL="0" indent="0" algn="r" rtl="1">
              <a:buNone/>
            </a:pPr>
            <a:r>
              <a:rPr lang="he-IL" sz="1200" b="1"/>
              <a:t>מה אומרים</a:t>
            </a:r>
          </a:p>
          <a:p>
            <a:pPr marL="0" indent="0" algn="r" rtl="1">
              <a:buNone/>
            </a:pPr>
            <a:r>
              <a:rPr lang="he-IL" sz="1200"/>
              <a:t>•  כל סטודנט מקבל תבנית משפט: כשהמשימה ___ וההקשר ___ והסיכון ___, אבחר ב-___ כי ___.</a:t>
            </a:r>
          </a:p>
          <a:p>
            <a:pPr marL="0" indent="0" algn="r" rtl="1">
              <a:buNone/>
            </a:pPr>
            <a:r>
              <a:rPr lang="he-IL" sz="1200"/>
              <a:t>•  הדוגמה בירוק: כשהמשימה נוגעת בכמה קבצים וההקשר גדול והסיכון בינוני, אבחר בסוכן באוטונומיה נמוכה, אחרי גיבוי, כי הוא יכול לקרוא ולהריץ.</a:t>
            </a:r>
          </a:p>
          <a:p>
            <a:pPr marL="0" indent="0" algn="r" rtl="1">
              <a:buNone/>
            </a:pPr>
            <a:r>
              <a:rPr lang="he-IL" sz="1200"/>
              <a:t>•  כל אחד כותב כלל משלו, ובקשו מ-2 סטודנטים להקריא.</a:t>
            </a:r>
          </a:p>
          <a:p>
            <a:pPr marL="0" indent="0" algn="r" rtl="1">
              <a:buNone/>
            </a:pPr>
            <a:r>
              <a:rPr lang="he-IL" sz="1200"/>
              <a:t>•  הנחיה: הכלל צריך להתבסס על חמשת הקריטריונים מחלק ג׳.</a:t>
            </a:r>
          </a:p>
          <a:p>
            <a:pPr marL="0" indent="0" algn="r" rtl="1">
              <a:buNone/>
            </a:pPr>
            <a:r>
              <a:rPr lang="he-IL" sz="1200"/>
              <a:t>•  כשלים נפוצים: כלל כללי מדי כמו תמיד אשתמש בצ׳אט, או כלל שמתעלם מהסיכון.</a:t>
            </a:r>
          </a:p>
          <a:p>
            <a:pPr marL="0" indent="0" algn="r" rtl="1">
              <a:buNone/>
            </a:pPr>
            <a:r>
              <a:rPr lang="he-IL" sz="1200"/>
              <a:t>•  תנו משוב קצר: האם הכלל עוזר להחליט במצב אחר?</a:t>
            </a:r>
          </a:p>
          <a:p>
            <a:pPr marL="0" indent="0" algn="r" rtl="1">
              <a:buNone/>
            </a:pPr>
            <a:r>
              <a:rPr lang="he-IL" sz="1200" b="1"/>
              <a:t>אנלוגיה</a:t>
            </a:r>
          </a:p>
          <a:p>
            <a:pPr marL="0" indent="0" algn="r" rtl="1">
              <a:buNone/>
            </a:pPr>
            <a:r>
              <a:rPr lang="he-IL" sz="1200"/>
              <a:t>•  נוהל עבודה קצר בארגון.</a:t>
            </a:r>
          </a:p>
          <a:p>
            <a:pPr marL="0" indent="0" algn="r" rtl="1">
              <a:buNone/>
            </a:pPr>
            <a:r>
              <a:rPr lang="he-IL" sz="1200"/>
              <a:t>•  הכללים נכנסים לקובץ של הקבוצה ויהיו בסיס להחלטות בפרויקט.</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יומן שימוש ב-AI.</a:t>
            </a:r>
          </a:p>
          <a:p>
            <a:pPr marL="0" indent="0" algn="r" rtl="1">
              <a:buNone/>
            </a:pPr>
            <a:r>
              <a:rPr lang="he-IL" sz="1200" b="1"/>
              <a:t>מה אומרים</a:t>
            </a:r>
          </a:p>
          <a:p>
            <a:pPr marL="0" indent="0" algn="r" rtl="1">
              <a:buNone/>
            </a:pPr>
            <a:r>
              <a:rPr lang="he-IL" sz="1200"/>
              <a:t>•  זה קובץ שמתחילים עכשיו וממלאים בכל מפגש.</a:t>
            </a:r>
          </a:p>
          <a:p>
            <a:pPr marL="0" indent="0" algn="r" rtl="1">
              <a:buNone/>
            </a:pPr>
            <a:r>
              <a:rPr lang="he-IL" sz="1200"/>
              <a:t>•  בשקף ארבע עמודות (כלי ופרומפט, מה קיבלתי, איך אימתתי, החלטה).</a:t>
            </a:r>
          </a:p>
          <a:p>
            <a:pPr marL="0" indent="0" algn="r" rtl="1">
              <a:buNone/>
            </a:pPr>
            <a:r>
              <a:rPr lang="he-IL" sz="1200"/>
              <a:t>•  במחברת הפונקציה log_row מפצלת את כלי ופרומפט לשתי עמודות, ולכן קובץ AI_LOG.md שהם בונים יהיה בן חמש עמודות.</a:t>
            </a:r>
          </a:p>
          <a:p>
            <a:pPr marL="0" indent="0" algn="r" rtl="1">
              <a:buNone/>
            </a:pPr>
            <a:r>
              <a:rPr lang="he-IL" sz="1200"/>
              <a:t>•  שתי הצורות מתאימות.</a:t>
            </a:r>
          </a:p>
          <a:p>
            <a:pPr marL="0" indent="0" algn="r" rtl="1">
              <a:buNone/>
            </a:pPr>
            <a:r>
              <a:rPr lang="he-IL" sz="1200"/>
              <a:t>•  השורה הראשונה היא דוגמה: צ׳אט, top 5 products, קוד pandas וגרף, הרצתי והשוויתי ל-5 המוצרים הצפויים, ואימצתי.</a:t>
            </a:r>
          </a:p>
          <a:p>
            <a:pPr marL="0" indent="0" algn="r" rtl="1">
              <a:buNone/>
            </a:pPr>
            <a:r>
              <a:rPr lang="he-IL" sz="1200"/>
              <a:t>•  שתי השורות הריקות הן למילוי.</a:t>
            </a:r>
          </a:p>
          <a:p>
            <a:pPr marL="0" indent="0" algn="r" rtl="1">
              <a:buNone/>
            </a:pPr>
            <a:r>
              <a:rPr lang="he-IL" sz="1200"/>
              <a:t>•  הכלל בתחתית: כל שימוש משמעותי ב-AI נרשם, מה ביקשתי, מה קיבלתי, איך בדקתי.</a:t>
            </a:r>
          </a:p>
          <a:p>
            <a:pPr marL="0" indent="0" algn="r" rtl="1">
              <a:buNone/>
            </a:pPr>
            <a:r>
              <a:rPr lang="he-IL" sz="1200"/>
              <a:t>•  היומן הוא תשתית לאחריות אישית מתועדת בפרויקט הגמר, ולכן חשוב להתחיל עכשיו.</a:t>
            </a:r>
          </a:p>
          <a:p>
            <a:pPr marL="0" indent="0" algn="r" rtl="1">
              <a:buNone/>
            </a:pPr>
            <a:r>
              <a:rPr lang="he-IL" sz="1200"/>
              <a:t>•  עידוד: בקשו מהסטודנטים להעתיק את הטבלה לקובץ AI_LOG.md ולמלא את שורה 2 בעקבות מעבדה ב׳.</a:t>
            </a:r>
          </a:p>
          <a:p>
            <a:pPr marL="0" indent="0" algn="r" rtl="1">
              <a:buNone/>
            </a:pPr>
            <a:r>
              <a:rPr lang="he-IL" sz="1200" b="1"/>
              <a:t>אנלוגיה</a:t>
            </a:r>
          </a:p>
          <a:p>
            <a:pPr marL="0" indent="0" algn="r" rtl="1">
              <a:buNone/>
            </a:pPr>
            <a:r>
              <a:rPr lang="he-IL" sz="1200"/>
              <a:t>•  יומן אצווה בייצור.</a:t>
            </a:r>
          </a:p>
          <a:p>
            <a:pPr marL="0" indent="0" algn="r" rtl="1">
              <a:buNone/>
            </a:pPr>
            <a:r>
              <a:rPr lang="he-IL" sz="1200" b="1"/>
              <a:t>טעות נפוצה</a:t>
            </a:r>
          </a:p>
          <a:p>
            <a:pPr marL="0" indent="0" algn="r" rtl="1">
              <a:buNone/>
            </a:pPr>
            <a:r>
              <a:rPr lang="he-IL" sz="1200"/>
              <a:t>•  לרשום רק את הפרומפט ולא את האימות.</a:t>
            </a:r>
          </a:p>
          <a:p>
            <a:pPr marL="0" indent="0" algn="r" rtl="1">
              <a:buNone/>
            </a:pPr>
            <a:r>
              <a:rPr lang="he-IL" sz="1200"/>
              <a:t>•  לשיעור הבא נמשיך למלא.</a:t>
            </a:r>
          </a:p>
          <a:p>
            <a:pPr marL="0" indent="0" algn="r" rtl="1">
              <a:buNone/>
            </a:pPr>
            <a:r>
              <a:rPr lang="he-IL" sz="1200" b="1"/>
              <a:t>שאלה לכיתה</a:t>
            </a:r>
          </a:p>
          <a:p>
            <a:pPr marL="0" indent="0" algn="r" rtl="1">
              <a:buNone/>
            </a:pPr>
            <a:r>
              <a:rPr lang="he-IL" sz="1200"/>
              <a:t>•  למה חשוב לרשום איך אימתתי?</a:t>
            </a:r>
          </a:p>
          <a:p>
            <a:pPr marL="0" indent="0" algn="r" rtl="1">
              <a:buNone/>
            </a:pPr>
            <a:r>
              <a:rPr lang="he-IL" sz="1200" b="1"/>
              <a:t>תשובה</a:t>
            </a:r>
          </a:p>
          <a:p>
            <a:pPr marL="0" indent="0" algn="r" rtl="1">
              <a:buNone/>
            </a:pPr>
            <a:r>
              <a:rPr lang="he-IL" sz="1200"/>
              <a:t>•  כי זו ההוכחה שהבנתי ולא רק העתקתי.</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אחרי המחברת: קבוצה ומאגר, כ־5 דקות בכיתה, ואם לא נשאר זמן אז בבית לפני מפגש 6.</a:t>
            </a:r>
          </a:p>
          <a:p>
            <a:pPr marL="0" indent="0" algn="r" rtl="1">
              <a:buNone/>
            </a:pPr>
            <a:r>
              <a:rPr lang="he-IL" sz="1200" b="1"/>
              <a:t>מה אומרים</a:t>
            </a:r>
          </a:p>
          <a:p>
            <a:pPr marL="0" indent="0" algn="r" rtl="1">
              <a:buNone/>
            </a:pPr>
            <a:r>
              <a:rPr lang="he-IL" sz="1200"/>
              <a:t>•  בהתאם לרשימה על המקרן מתיישבים עם הקבוצה (3 עד 5 סטודנטים).</a:t>
            </a:r>
          </a:p>
          <a:p>
            <a:pPr marL="0" indent="0" algn="r" rtl="1">
              <a:buNone/>
            </a:pPr>
            <a:r>
              <a:rPr lang="he-IL" sz="1200"/>
              <a:t>•  אחד יוצר מאגר מהתבנית של הקורס (Use this template), מזמין את כולם דרך Settings ← Collaborators, וכולם מאשרים את ההזמנה.</a:t>
            </a:r>
          </a:p>
          <a:p>
            <a:pPr marL="0" indent="0" algn="r" rtl="1">
              <a:buNone/>
            </a:pPr>
            <a:r>
              <a:rPr lang="he-IL" sz="1200"/>
              <a:t>•  מוסיפים למאגר את הקובץ AI_LOG.md שנוצר במחברת (מורידים מחלונית הקבצים של Colab: קליק ימני ← Download), ועושים commit ראשון.</a:t>
            </a:r>
          </a:p>
          <a:p>
            <a:pPr marL="0" indent="0" algn="r" rtl="1">
              <a:buNone/>
            </a:pPr>
            <a:r>
              <a:rPr lang="he-IL" sz="1200"/>
              <a:t>•  זו הדרישה היחידה מהמעבדה שמתבצעת מחוץ ל־Colab, והיא הכנה למפגש 6, שבו עובדים ב־Git.</a:t>
            </a:r>
          </a:p>
          <a:p>
            <a:pPr marL="0" indent="0" algn="r" rtl="1">
              <a:buNone/>
            </a:pPr>
            <a:r>
              <a:rPr lang="he-IL" sz="1200"/>
              <a:t>•  החליפו את ה־QR (מקום שמור) בקישור אמיתי למאגר התבנית לפני השיעור.</a:t>
            </a:r>
          </a:p>
          <a:p>
            <a:pPr marL="0" indent="0" algn="r" rtl="1">
              <a:buNone/>
            </a:pPr>
            <a:r>
              <a:rPr lang="he-IL" sz="1200"/>
              <a:t>•  אם יש סטודנט בלי חשבון GitHub: ליצור חשבון לפני המפגש הבא.</a:t>
            </a:r>
          </a:p>
          <a:p>
            <a:pPr marL="0" indent="0" algn="r" rtl="1">
              <a:buNone/>
            </a:pPr>
            <a:r>
              <a:rPr lang="he-IL" sz="1200"/>
              <a:t>•  לעולם אל תבקשו להציג סיסמאות או מפתחות על המקרן.</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 אפשר לדלג.</a:t>
            </a:r>
          </a:p>
          <a:p>
            <a:pPr marL="0" indent="0" algn="r" rtl="1">
              <a:spcBef>
                <a:spcPts val="800"/>
              </a:spcBef>
              <a:buNone/>
            </a:pPr>
            <a:r>
              <a:rPr lang="he-IL" sz="1200" b="1"/>
              <a:t>מה אומרים</a:t>
            </a:r>
          </a:p>
          <a:p>
            <a:pPr marL="0" indent="0" algn="r" rtl="1">
              <a:buNone/>
            </a:pPr>
            <a:r>
              <a:rPr lang="he-IL" sz="1200"/>
              <a:t>•  שש משפחות סיכון בחיבור סוכן ל־MCP, כל אחת עם מקור.</a:t>
            </a:r>
          </a:p>
          <a:p>
            <a:pPr marL="0" indent="0" algn="r" rtl="1">
              <a:buNone/>
            </a:pPr>
            <a:r>
              <a:rPr lang="he-IL" sz="1200"/>
              <a:t>•  אחד, הרעלת כלי (tool poisoning): Invariant Labs (1.4.2025) הראתה כלי חיבור לכאורה תמים בשם add שבתיאור שלו הוסתרו הוראות לקרוא קבצי הגדרות ומפתחות SSH ולהעביר אותם דרך פרמטר; המודל רואה את התיאור המלא, המשתמש רואה לעיתים רק סיכום.</a:t>
            </a:r>
          </a:p>
          <a:p>
            <a:pPr marL="0" indent="0" algn="r" rtl="1">
              <a:buNone/>
            </a:pPr>
            <a:r>
              <a:rPr lang="he-IL" sz="1200"/>
              <a:t>•  שניים, שינוי אחרי אישור (rug pull) והצללת כלים (tool shadowing): לפי אותו פרסום שרת יכול לשנות תיאור כלי אחרי שאושר, ותיאור של כלי זדוני יכול לשנות את אופן השימוש בכלי אמין.</a:t>
            </a:r>
          </a:p>
          <a:p>
            <a:pPr marL="0" indent="0" algn="r" rtl="1">
              <a:buNone/>
            </a:pPr>
            <a:r>
              <a:rPr lang="he-IL" sz="1200"/>
              <a:t>•  שלוש, הזרקת פרומפט עקיפה (Greshake ועמיתים 2023, arXiv 2302.12173, ו־OWASP LLM01): נתון שהסוכן קורא, כמו כרטיס תמיכה, מתחפש להוראה; בכך עסקנו במפגש 10.</a:t>
            </a:r>
          </a:p>
          <a:p>
            <a:pPr marL="0" indent="0" algn="r" rtl="1">
              <a:buNone/>
            </a:pPr>
            <a:r>
              <a:rPr lang="he-IL" sz="1200"/>
              <a:t>•  ארבע, הרשאות עודפות: OWASP LLM06:2025 Excessive Agency מנה שלוש סיבות, יותר מדי פונקציות, יותר מדי הרשאות ויותר מדי אוטונומיה (המספור בגרסת 2026 שונה, ראו מפגש 10).</a:t>
            </a:r>
          </a:p>
          <a:p>
            <a:pPr marL="0" indent="0" algn="r" rtl="1">
              <a:buNone/>
            </a:pPr>
            <a:r>
              <a:rPr lang="he-IL" sz="1200"/>
              <a:t>•  חמש, שרשרת אספקה: חבילה או שרת זדוניים.</a:t>
            </a:r>
          </a:p>
          <a:p>
            <a:pPr marL="0" indent="0" algn="r" rtl="1">
              <a:buNone/>
            </a:pPr>
            <a:r>
              <a:rPr lang="he-IL" sz="1200"/>
              <a:t>•  שש, שרת מקומי הוא קוד שרץ במחשב שלכם; מסמך Security Best Practices של MCP מזהיר מפני פקודות הפעלה זדוניות ומחייב הסכמה מפורשת לפני הרצת פקודת שרת מקומי בהגדרה בלחיצה אחת.</a:t>
            </a:r>
          </a:p>
          <a:p>
            <a:pPr marL="0" indent="0" algn="r" rtl="1">
              <a:buNone/>
            </a:pPr>
            <a:r>
              <a:rPr lang="he-IL" sz="1200"/>
              <a:t>•  סקירות אקדמיות: Hou ועמיתים (arXiv 2503.23278, גרסה אחרונה 7.10.2025) ממפים מחזור חיים של שרת בארבע שלבים ו־16 תרחישי איום</a:t>
            </a:r>
          </a:p>
          <a:p>
            <a:pPr marL="0" indent="0" algn="r" rtl="1">
              <a:buNone/>
            </a:pPr>
            <a:r>
              <a:rPr lang="he-IL" sz="1200"/>
              <a:t>•  Radosevich ו־Halloran (arXiv 2504.03767, אפריל 2025) הציגו כלי סריקה, MCPSafetyScanner, והראו שמודלים מובילים אפשר לשכנע להשתמש בכלי MCP כדי לפגוע במחשב המפתח.</a:t>
            </a:r>
          </a:p>
          <a:p>
            <a:pPr marL="0" indent="0" algn="r" rtl="1">
              <a:spcBef>
                <a:spcPts val="800"/>
              </a:spcBef>
              <a:buNone/>
            </a:pPr>
            <a:r>
              <a:rPr lang="he-IL" sz="1200" b="1"/>
              <a:t>אנלוגיה</a:t>
            </a:r>
          </a:p>
          <a:p>
            <a:pPr marL="0" indent="0" algn="r" rtl="1">
              <a:buNone/>
            </a:pPr>
            <a:r>
              <a:rPr lang="he-IL" sz="1200"/>
              <a:t>•  ספק חדש שמקבל מפתח למחסן.</a:t>
            </a:r>
          </a:p>
          <a:p>
            <a:pPr marL="0" indent="0" algn="r" rtl="1">
              <a:spcBef>
                <a:spcPts val="800"/>
              </a:spcBef>
              <a:buNone/>
            </a:pPr>
            <a:r>
              <a:rPr lang="he-IL" sz="1200" b="1"/>
              <a:t>שאלה לכיתה</a:t>
            </a:r>
          </a:p>
          <a:p>
            <a:pPr marL="0" indent="0" algn="r" rtl="1">
              <a:buNone/>
            </a:pPr>
            <a:r>
              <a:rPr lang="he-IL" sz="1200"/>
              <a:t>•  איזה איום קשה יותר לזהות?</a:t>
            </a:r>
          </a:p>
          <a:p>
            <a:pPr marL="0" indent="0" algn="r" rtl="1">
              <a:spcBef>
                <a:spcPts val="800"/>
              </a:spcBef>
              <a:buNone/>
            </a:pPr>
            <a:r>
              <a:rPr lang="he-IL" sz="1200" b="1"/>
              <a:t>תשובה</a:t>
            </a:r>
          </a:p>
          <a:p>
            <a:pPr marL="0" indent="0" algn="r" rtl="1">
              <a:buNone/>
            </a:pPr>
            <a:r>
              <a:rPr lang="he-IL" sz="1200"/>
              <a:t>•  את אלה שהמשתמש אינו רואה, כמו הוראות מוסתרות בתיאור כלי.</a:t>
            </a:r>
          </a:p>
          <a:p>
            <a:pPr marL="0" indent="0" algn="r" rtl="1">
              <a:spcBef>
                <a:spcPts val="800"/>
              </a:spcBef>
              <a:buNone/>
            </a:pPr>
            <a:r>
              <a:rPr lang="he-IL" sz="1200" b="1"/>
              <a:t>טעות נפוצה</a:t>
            </a:r>
          </a:p>
          <a:p>
            <a:pPr marL="0" indent="0" algn="r" rtl="1">
              <a:buNone/>
            </a:pPr>
            <a:r>
              <a:rPr lang="he-IL" sz="1200"/>
              <a:t>•  לבדוק רק את הקוד של השרת ולא את התיאורים שהוא מחזיר.</a:t>
            </a:r>
          </a:p>
          <a:p>
            <a:pPr marL="0" indent="0" algn="r" rtl="1">
              <a:spcBef>
                <a:spcPts val="800"/>
              </a:spcBef>
              <a:buNone/>
            </a:pPr>
            <a:r>
              <a:rPr lang="he-IL" sz="1200" b="1"/>
              <a:t>מתי לדלג</a:t>
            </a:r>
          </a:p>
          <a:p>
            <a:pPr marL="0" indent="0" algn="r" rtl="1">
              <a:buNone/>
            </a:pPr>
            <a:r>
              <a:rPr lang="he-IL" sz="1200"/>
              <a:t>•  אם הזמן קצר, עוברים ישר לשקף המשולש הקטלני.</a:t>
            </a:r>
          </a:p>
          <a:p>
            <a:pPr marL="0" indent="0" algn="r" rtl="1">
              <a:buNone/>
            </a:pPr>
            <a:r>
              <a:rPr lang="he-IL" sz="1200"/>
              <a:t>•  עובדה: הממצאים במאמרים ובפרסומים; המלצה: לבחון גם תיאורי כלים, לא רק קוד.</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כדקה וחצי.</a:t>
            </a:r>
          </a:p>
          <a:p>
            <a:pPr marL="0" indent="0" algn="r" rtl="1">
              <a:spcBef>
                <a:spcPts val="800"/>
              </a:spcBef>
              <a:buNone/>
            </a:pPr>
            <a:r>
              <a:rPr lang="he-IL" sz="1200" b="1"/>
              <a:t>מה אומרים</a:t>
            </a:r>
          </a:p>
          <a:p>
            <a:pPr marL="0" indent="0" algn="r" rtl="1">
              <a:buNone/>
            </a:pPr>
            <a:r>
              <a:rPr lang="he-IL" sz="1200"/>
              <a:t>•  המשולש הקטלני (lethal trifecta) הוא מונח של Simon Willison, 16.6.2025: כשלסוכן יש יחד גישה למידע פרטי, חשיפה לתוכן לא מהימן, ויכולת לתקשר החוצה, תוקף יכול להטעות אותו לקרוא את המידע ולשלוח אותו.</a:t>
            </a:r>
          </a:p>
          <a:p>
            <a:pPr marL="0" indent="0" algn="r" rtl="1">
              <a:buNone/>
            </a:pPr>
            <a:r>
              <a:rPr lang="he-IL" sz="1200"/>
              <a:t>•  Willison מוסיף ש־MCP ״מעודד לערבב כלים ממקורות שונים״ ולכן קל להרכיב את שלושתם בטעות, ושהמוכרים אינם יכולים להגן עליכם כשאתם מחברים את הכלים בעצמכם.</a:t>
            </a:r>
          </a:p>
          <a:p>
            <a:pPr marL="0" indent="0" algn="r" rtl="1">
              <a:buNone/>
            </a:pPr>
            <a:r>
              <a:rPr lang="he-IL" sz="1200"/>
              <a:t>•  בשקף שלושה רכיבים: מידע פרטי (טבלת לקוחות, מפתחות), תוכן לא מהימן (כרטיס תמיכה, מייל, issue בריפו ציבורי) ויכולת החוצה (כתיבה, שליחת מייל, בקשת רשת).</a:t>
            </a:r>
          </a:p>
          <a:p>
            <a:pPr marL="0" indent="0" algn="r" rtl="1">
              <a:buNone/>
            </a:pPr>
            <a:r>
              <a:rPr lang="he-IL" sz="1200"/>
              <a:t>•  בתחתית, שלוש דרכים להוריד רכיב אחד לפחות: מסד לקריאה בלבד (מסיר את ערוץ ההדלפה, כפי ש־Willison מציין בפרשת Supabase), הפרדת שרתים (לא מחברים לאותו סוכן שרת של תוכן חיצוני לצד שרת הנתונים), ואישור אנושי לכל שליחה.</a:t>
            </a:r>
          </a:p>
          <a:p>
            <a:pPr marL="0" indent="0" algn="r" rtl="1">
              <a:spcBef>
                <a:spcPts val="800"/>
              </a:spcBef>
              <a:buNone/>
            </a:pPr>
            <a:r>
              <a:rPr lang="he-IL" sz="1200" b="1"/>
              <a:t>חיבור לשיעורים קודמים</a:t>
            </a:r>
          </a:p>
          <a:p>
            <a:pPr marL="0" indent="0" algn="r" rtl="1">
              <a:buNone/>
            </a:pPr>
            <a:r>
              <a:rPr lang="he-IL" sz="1200"/>
              <a:t>•  המשולש נלמד במפגש 10, ואותו כלל פורסם גם בניסוח ״Agents Rule of Two״ של Meta ב־31.10.2025 (נבדק במפגש 10).</a:t>
            </a:r>
          </a:p>
          <a:p>
            <a:pPr marL="0" indent="0" algn="r" rtl="1">
              <a:spcBef>
                <a:spcPts val="800"/>
              </a:spcBef>
              <a:buNone/>
            </a:pPr>
            <a:r>
              <a:rPr lang="he-IL" sz="1200" b="1"/>
              <a:t>אנלוגיה</a:t>
            </a:r>
          </a:p>
          <a:p>
            <a:pPr marL="0" indent="0" algn="r" rtl="1">
              <a:buNone/>
            </a:pPr>
            <a:r>
              <a:rPr lang="he-IL" sz="1200"/>
              <a:t>•  עובד שיש לו גישה לארכיון הלקוחות, קורא כל בקשה שמגיעה בדואר ויכול לשלוח פקס החוצה.</a:t>
            </a:r>
          </a:p>
          <a:p>
            <a:pPr marL="0" indent="0" algn="r" rtl="1">
              <a:spcBef>
                <a:spcPts val="800"/>
              </a:spcBef>
              <a:buNone/>
            </a:pPr>
            <a:r>
              <a:rPr lang="he-IL" sz="1200" b="1"/>
              <a:t>שאלה לכיתה</a:t>
            </a:r>
          </a:p>
          <a:p>
            <a:pPr marL="0" indent="0" algn="r" rtl="1">
              <a:buNone/>
            </a:pPr>
            <a:r>
              <a:rPr lang="he-IL" sz="1200"/>
              <a:t>•  מה הרכיב הכי קל להסיר במסד המכירות שלנו?</a:t>
            </a:r>
          </a:p>
          <a:p>
            <a:pPr marL="0" indent="0" algn="r" rtl="1">
              <a:spcBef>
                <a:spcPts val="800"/>
              </a:spcBef>
              <a:buNone/>
            </a:pPr>
            <a:r>
              <a:rPr lang="he-IL" sz="1200" b="1"/>
              <a:t>תשובה</a:t>
            </a:r>
          </a:p>
          <a:p>
            <a:pPr marL="0" indent="0" algn="r" rtl="1">
              <a:buNone/>
            </a:pPr>
            <a:r>
              <a:rPr lang="he-IL" sz="1200"/>
              <a:t>•  היכולת לכתוב או לשלוח, כי חשבון לקריאה בלבד מסיר אותה.</a:t>
            </a:r>
          </a:p>
          <a:p>
            <a:pPr marL="0" indent="0" algn="r" rtl="1">
              <a:spcBef>
                <a:spcPts val="800"/>
              </a:spcBef>
              <a:buNone/>
            </a:pPr>
            <a:r>
              <a:rPr lang="he-IL" sz="1200" b="1"/>
              <a:t>טעות נפוצה</a:t>
            </a:r>
          </a:p>
          <a:p>
            <a:pPr marL="0" indent="0" algn="r" rtl="1">
              <a:buNone/>
            </a:pPr>
            <a:r>
              <a:rPr lang="he-IL" sz="1200"/>
              <a:t>•  להאמין שמודל חכם מספיק יזהה את ההטעיה; Invariant Labs טוענים שגם מודל מאוד מיושר הושפע בהדגמה, וש־Willison טוען שאין עדיין הגנה אמינה במאה אחוז.</a:t>
            </a:r>
          </a:p>
          <a:p>
            <a:pPr marL="0" indent="0" algn="r" rtl="1">
              <a:buNone/>
            </a:pPr>
            <a:r>
              <a:rPr lang="he-IL" sz="1200"/>
              <a:t>•  זו עמדה של חוקרים, לא תוצאה מחקרית כללית.</a:t>
            </a:r>
          </a:p>
          <a:p>
            <a:pPr marL="0" indent="0" algn="r" rtl="1">
              <a:buNone/>
            </a:pPr>
            <a:r>
              <a:rPr lang="he-IL" sz="1200"/>
              <a:t>•  עובדה: הגדרת המונח והמקורות.</a:t>
            </a:r>
          </a:p>
          <a:p>
            <a:pPr marL="0" indent="0" algn="r" rtl="1">
              <a:buNone/>
            </a:pPr>
            <a:r>
              <a:rPr lang="he-IL" sz="1200"/>
              <a:t>•  המלצת פרקטיקה: להוריד רכיב ולא להסתמך על סינון.</a:t>
            </a:r>
          </a:p>
          <a:p>
            <a:pPr marL="0" indent="0" algn="r" rtl="1">
              <a:spcBef>
                <a:spcPts val="800"/>
              </a:spcBef>
              <a:buNone/>
            </a:pPr>
            <a:r>
              <a:rPr lang="he-IL" sz="1200" b="1"/>
              <a:t>מקורות</a:t>
            </a:r>
          </a:p>
          <a:p>
            <a:pPr marL="0" indent="0" algn="r" rtl="1">
              <a:buNone/>
            </a:pPr>
            <a:r>
              <a:rPr lang="he-IL" sz="1200"/>
              <a:t>•  Willison, 16.6.2025 ו־6.7.2025; Invariant Labs, 26.5.2025.</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a:t>
            </a:r>
          </a:p>
          <a:p>
            <a:pPr marL="0" indent="0" algn="r" rtl="1">
              <a:spcBef>
                <a:spcPts val="800"/>
              </a:spcBef>
              <a:buNone/>
            </a:pPr>
            <a:r>
              <a:rPr lang="he-IL" sz="1200" b="1"/>
              <a:t>מה אומרים</a:t>
            </a:r>
          </a:p>
          <a:p>
            <a:pPr marL="0" indent="0" algn="r" rtl="1">
              <a:buNone/>
            </a:pPr>
            <a:r>
              <a:rPr lang="he-IL" sz="1200"/>
              <a:t>•  שני מקרים שבהם נתונים הפכו להוראות, ושניהם הדגמות של חוקרים ולא אירועי תקיפה מדווחים.</a:t>
            </a:r>
          </a:p>
          <a:p>
            <a:pPr marL="0" indent="0" algn="r" rtl="1">
              <a:buNone/>
            </a:pPr>
            <a:r>
              <a:rPr lang="he-IL" sz="1200"/>
              <a:t>•  מקרה ראשון, GitHub MCP (Invariant Labs, 26.5.2025, מאת Marco Milanta ו־Luca Beurer-Kellner): תוקף פותח issue בריפו ציבורי</a:t>
            </a:r>
          </a:p>
          <a:p>
            <a:pPr marL="0" indent="0" algn="r" rtl="1">
              <a:buNone/>
            </a:pPr>
            <a:r>
              <a:rPr lang="he-IL" sz="1200"/>
              <a:t>•  כשבעל הריפו מבקש מהסוכן לעבור על ה־issues, הסוכן קורא את ההוראה הנסתרת, שולף נתונים מריפואים פרטיים של המשתמש ומפרסם אותם ב־pull request בריפו הציבורי, שם התוקף יכול לקרוא.</a:t>
            </a:r>
          </a:p>
          <a:p>
            <a:pPr marL="0" indent="0" algn="r" rtl="1">
              <a:buNone/>
            </a:pPr>
            <a:r>
              <a:rPr lang="he-IL" sz="1200"/>
              <a:t>•  בהדגמה נחשפו פרטים על ריפו פרטי, תוכנית מעבר וגם נתוני שכר.</a:t>
            </a:r>
          </a:p>
          <a:p>
            <a:pPr marL="0" indent="0" algn="r" rtl="1">
              <a:buNone/>
            </a:pPr>
            <a:r>
              <a:rPr lang="he-IL" sz="1200"/>
              <a:t>•  החוקרים מדגישים שזו אינה פגם בקוד שרת GitHub עצמו, ושגם מודל מיושר מאוד הושפע.</a:t>
            </a:r>
          </a:p>
          <a:p>
            <a:pPr marL="0" indent="0" algn="r" rtl="1">
              <a:buNone/>
            </a:pPr>
            <a:r>
              <a:rPr lang="he-IL" sz="1200"/>
              <a:t>•  צמצום: הרשאות מוגבלות (למשל ריפו אחד לכל שיחה) וניטור רציף, כלומר הגנה ברמת המערכת.</a:t>
            </a:r>
          </a:p>
          <a:p>
            <a:pPr marL="0" indent="0" algn="r" rtl="1">
              <a:buNone/>
            </a:pPr>
            <a:r>
              <a:rPr lang="he-IL" sz="1200"/>
              <a:t>•  מקרה שני, Supabase MCP (General Analysis; Willison, 6.7.2025): מפתח בודק עם Cursor ו־Supabase MCP שאל על כרטיסי תמיכה אחרונים; כרטיס שהכניס תוקף הכיל הוראה לקרוא את הטבלה integration_tokens ולכתוב את תוכנה לתוך הכרטיס.</a:t>
            </a:r>
          </a:p>
          <a:p>
            <a:pPr marL="0" indent="0" algn="r" rtl="1">
              <a:buNone/>
            </a:pPr>
            <a:r>
              <a:rPr lang="he-IL" sz="1200"/>
              <a:t>•  הסוכן השתמש במפתח service_role, שעוקף את הרשאות השורה (RLS), ובנוסף קרא טקסט לא מהימן.</a:t>
            </a:r>
          </a:p>
          <a:p>
            <a:pPr marL="0" indent="0" algn="r" rtl="1">
              <a:buNone/>
            </a:pPr>
            <a:r>
              <a:rPr lang="he-IL" sz="1200"/>
              <a:t>•  Supabase הגיבה ב־16.9.2025: לדבריה היא מעולם לא הציעה שרת MCP מתארח, אין דיווח על דליפת נתוני לקוחות דרך MCP, ו־MCP אינו עוקף RLS; ההדגמה הסתמכה על שרת שרץ בהרשאה גבוהה.</a:t>
            </a:r>
          </a:p>
          <a:p>
            <a:pPr marL="0" indent="0" algn="r" rtl="1">
              <a:buNone/>
            </a:pPr>
            <a:r>
              <a:rPr lang="he-IL" sz="1200"/>
              <a:t>•  עם זאת היא מאשרת שחיבור סוכן למסד ייצור בלי מגננות חושף נתונים, ומציעה: נתוני לא־ייצור, מצב קריאה בלבד ומוגבל לפרויקט, אישור ידני לכל קריאה, ניטור, ושכבות הגנה; בשרת עצמו התוצאות נעטפות באזהרה שלא לבצע הוראות הכלולות בהן, מה שמפחית סיכון ואינו מבטל אותו.</a:t>
            </a:r>
          </a:p>
          <a:p>
            <a:pPr marL="0" indent="0" algn="r" rtl="1">
              <a:buNone/>
            </a:pPr>
            <a:r>
              <a:rPr lang="he-IL" sz="1200"/>
              <a:t>•  מקור הדוח המקורי של General Analysis לא נפתח, והפרטים מבלוג של Willison ומפרסום Supabase.</a:t>
            </a:r>
          </a:p>
          <a:p>
            <a:pPr marL="0" indent="0" algn="r" rtl="1">
              <a:spcBef>
                <a:spcPts val="800"/>
              </a:spcBef>
              <a:buNone/>
            </a:pPr>
            <a:r>
              <a:rPr lang="he-IL" sz="1200" b="1"/>
              <a:t>אנלוגיה</a:t>
            </a:r>
          </a:p>
          <a:p>
            <a:pPr marL="0" indent="0" algn="r" rtl="1">
              <a:buNone/>
            </a:pPr>
            <a:r>
              <a:rPr lang="he-IL" sz="1200"/>
              <a:t>•  מעטפה מסודרת לפי כלל שמישהו הדביק בתוכה פתק ״שלחו לי את המפתחות״.</a:t>
            </a:r>
          </a:p>
          <a:p>
            <a:pPr marL="0" indent="0" algn="r" rtl="1">
              <a:spcBef>
                <a:spcPts val="800"/>
              </a:spcBef>
              <a:buNone/>
            </a:pPr>
            <a:r>
              <a:rPr lang="he-IL" sz="1200" b="1"/>
              <a:t>שאלה לכיתה</a:t>
            </a:r>
          </a:p>
          <a:p>
            <a:pPr marL="0" indent="0" algn="r" rtl="1">
              <a:buNone/>
            </a:pPr>
            <a:r>
              <a:rPr lang="he-IL" sz="1200"/>
              <a:t>•  מה המשותף לשני המקרים?</a:t>
            </a:r>
          </a:p>
          <a:p>
            <a:pPr marL="0" indent="0" algn="r" rtl="1">
              <a:spcBef>
                <a:spcPts val="800"/>
              </a:spcBef>
              <a:buNone/>
            </a:pPr>
            <a:r>
              <a:rPr lang="he-IL" sz="1200" b="1"/>
              <a:t>תשובה</a:t>
            </a:r>
          </a:p>
          <a:p>
            <a:pPr marL="0" indent="0" algn="r" rtl="1">
              <a:buNone/>
            </a:pPr>
            <a:r>
              <a:rPr lang="he-IL" sz="1200"/>
              <a:t>•  סוכן עם נתונים פרטיים, תוכן שאדם זר יכול לכתוב, ויכולת לכתוב או לפרסם.</a:t>
            </a:r>
          </a:p>
          <a:p>
            <a:pPr marL="0" indent="0" algn="r" rtl="1">
              <a:spcBef>
                <a:spcPts val="800"/>
              </a:spcBef>
              <a:buNone/>
            </a:pPr>
            <a:r>
              <a:rPr lang="he-IL" sz="1200" b="1"/>
              <a:t>טעות נפוצה</a:t>
            </a:r>
          </a:p>
          <a:p>
            <a:pPr marL="0" indent="0" algn="r" rtl="1">
              <a:buNone/>
            </a:pPr>
            <a:r>
              <a:rPr lang="he-IL" sz="1200"/>
              <a:t>•  לדבר על ״פריצה לשרת״; הקוד פעל כמתוכנן.</a:t>
            </a:r>
          </a:p>
          <a:p>
            <a:pPr marL="0" indent="0" algn="r" rtl="1">
              <a:spcBef>
                <a:spcPts val="800"/>
              </a:spcBef>
              <a:buNone/>
            </a:pPr>
            <a:r>
              <a:rPr lang="he-IL" sz="1200" b="1"/>
              <a:t>מתי לדלג</a:t>
            </a:r>
          </a:p>
          <a:p>
            <a:pPr marL="0" indent="0" algn="r" rtl="1">
              <a:buNone/>
            </a:pPr>
            <a:r>
              <a:rPr lang="he-IL" sz="1200"/>
              <a:t>•  אם אין זמן, די בלקח.</a:t>
            </a:r>
          </a:p>
          <a:p>
            <a:pPr marL="0" indent="0" algn="r" rtl="1">
              <a:buNone/>
            </a:pPr>
            <a:r>
              <a:rPr lang="he-IL" sz="1200"/>
              <a:t>•  עובדה: התיאורים.</a:t>
            </a:r>
          </a:p>
          <a:p>
            <a:pPr marL="0" indent="0" algn="r" rtl="1">
              <a:buNone/>
            </a:pPr>
            <a:r>
              <a:rPr lang="he-IL" sz="1200"/>
              <a:t>•  המלצה: מסד קריאה בלבד ונתוני בדיקה.</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a:t>
            </a:r>
          </a:p>
          <a:p>
            <a:pPr marL="0" indent="0" algn="r" rtl="1">
              <a:spcBef>
                <a:spcPts val="800"/>
              </a:spcBef>
              <a:buNone/>
            </a:pPr>
            <a:r>
              <a:rPr lang="he-IL" sz="1200" b="1"/>
              <a:t>מה אומרים</a:t>
            </a:r>
          </a:p>
          <a:p>
            <a:pPr marL="0" indent="0" algn="r" rtl="1">
              <a:buNone/>
            </a:pPr>
            <a:r>
              <a:rPr lang="he-IL" sz="1200"/>
              <a:t>•  שלושה מקרים מתועדים של חולשות בקוד ובכלי החיבור.</a:t>
            </a:r>
          </a:p>
          <a:p>
            <a:pPr marL="0" indent="0" algn="r" rtl="1">
              <a:buNone/>
            </a:pPr>
            <a:r>
              <a:rPr lang="he-IL" sz="1200"/>
              <a:t>•  אחד: Datadog Security Labs (21.8.2025) הראתה ששרת Postgres של הרפרנס, שנועד להיות לקריאה בלבד, עטף כל שאילתה ב־BEGIN TRANSACTION READ ONLY, ואפשר היה לעקוף זאת: הזרקת COMMIT סיימה את העסקה, ואחריה פקודות כתיבה כמו מחיקת סכמה.</a:t>
            </a:r>
          </a:p>
          <a:p>
            <a:pPr marL="0" indent="0" algn="r" rtl="1">
              <a:buNone/>
            </a:pPr>
            <a:r>
              <a:rPr lang="he-IL" sz="1200"/>
              <a:t>•  השרת הוצא משימוש (ארכוב), וה־fork של Zed תוקן באמצעות שאילתות עם פרמטרים.</a:t>
            </a:r>
          </a:p>
          <a:p>
            <a:pPr marL="0" indent="0" algn="r" rtl="1">
              <a:buNone/>
            </a:pPr>
            <a:r>
              <a:rPr lang="he-IL" sz="1200"/>
              <a:t>•  לקח: משתמש עם הרשאות מוגבלות במסד.</a:t>
            </a:r>
          </a:p>
          <a:p>
            <a:pPr marL="0" indent="0" algn="r" rtl="1">
              <a:buNone/>
            </a:pPr>
            <a:r>
              <a:rPr lang="he-IL" sz="1200"/>
              <a:t>•  שניים: CVE-2025-49596 ב־MCP Inspector, כלי הבדיקה הרשמי: לפי רשומת NVD (13.6.2025) חסר אימות בין לקוח הכלי ל־proxy, מה שמאפשר הרצת פקודות מרחוק; גרסאות קודמות ל־0.14.1 מושפעות; ציון CVSS 4.0 הוא 9.4.</a:t>
            </a:r>
          </a:p>
          <a:p>
            <a:pPr marL="0" indent="0" algn="r" rtl="1">
              <a:buNone/>
            </a:pPr>
            <a:r>
              <a:rPr lang="he-IL" sz="1200"/>
              <a:t>•  שלוש: CVE-2025-6514 ב־mcp-remote, חבילה שמחברת לקוחות מקומיים לשרתי MCP מרוחקים: לפי JFrog (9.7.2025) שרת זדוני יכול לספק ערך authorization_endpoint שמוביל להרצת פקודות על מחשב הלקוח; גרסאות 0.0.5 עד 0.1.15 מושפעות, התיקון ב־0.1.16, וציון CVSS 9.6.</a:t>
            </a:r>
          </a:p>
          <a:p>
            <a:pPr marL="0" indent="0" algn="r" rtl="1">
              <a:buNone/>
            </a:pPr>
            <a:r>
              <a:rPr lang="he-IL" sz="1200"/>
              <a:t>•  ההמלצה שלהם: לחבר רק לשרתים אמינים ורק ב־HTTPS.</a:t>
            </a:r>
          </a:p>
          <a:p>
            <a:pPr marL="0" indent="0" algn="r" rtl="1">
              <a:buNone/>
            </a:pPr>
            <a:r>
              <a:rPr lang="he-IL" sz="1200"/>
              <a:t>•  שימו לב לסדר הגודל: אלה כלים שמסביב ל־MCP ולא פגם בפרוטוקול עצמו; מסמך Security Best Practices של MCP מתאר את הסיכון של פקודות הפעלה זדוניות ואת הצורך בהסכמה לפניהן.</a:t>
            </a:r>
          </a:p>
          <a:p>
            <a:pPr marL="0" indent="0" algn="r" rtl="1">
              <a:spcBef>
                <a:spcPts val="800"/>
              </a:spcBef>
              <a:buNone/>
            </a:pPr>
            <a:r>
              <a:rPr lang="he-IL" sz="1200" b="1"/>
              <a:t>אנלוגיה</a:t>
            </a:r>
          </a:p>
          <a:p>
            <a:pPr marL="0" indent="0" algn="r" rtl="1">
              <a:buNone/>
            </a:pPr>
            <a:r>
              <a:rPr lang="he-IL" sz="1200"/>
              <a:t>•  מפתח ברגים של הספק שחלקו התקלקל גורם נזק בקו הייצור.</a:t>
            </a:r>
          </a:p>
          <a:p>
            <a:pPr marL="0" indent="0" algn="r" rtl="1">
              <a:spcBef>
                <a:spcPts val="800"/>
              </a:spcBef>
              <a:buNone/>
            </a:pPr>
            <a:r>
              <a:rPr lang="he-IL" sz="1200" b="1"/>
              <a:t>שאלה לכיתה</a:t>
            </a:r>
          </a:p>
          <a:p>
            <a:pPr marL="0" indent="0" algn="r" rtl="1">
              <a:buNone/>
            </a:pPr>
            <a:r>
              <a:rPr lang="he-IL" sz="1200"/>
              <a:t>•  למה חשוב לעדכן כלי חיבור?</a:t>
            </a:r>
          </a:p>
          <a:p>
            <a:pPr marL="0" indent="0" algn="r" rtl="1">
              <a:spcBef>
                <a:spcPts val="800"/>
              </a:spcBef>
              <a:buNone/>
            </a:pPr>
            <a:r>
              <a:rPr lang="he-IL" sz="1200" b="1"/>
              <a:t>תשובה</a:t>
            </a:r>
          </a:p>
          <a:p>
            <a:pPr marL="0" indent="0" algn="r" rtl="1">
              <a:buNone/>
            </a:pPr>
            <a:r>
              <a:rPr lang="he-IL" sz="1200"/>
              <a:t>•  כי הם רצים עם ההרשאות שלכם.</a:t>
            </a:r>
          </a:p>
          <a:p>
            <a:pPr marL="0" indent="0" algn="r" rtl="1">
              <a:spcBef>
                <a:spcPts val="800"/>
              </a:spcBef>
              <a:buNone/>
            </a:pPr>
            <a:r>
              <a:rPr lang="he-IL" sz="1200" b="1"/>
              <a:t>טעות נפוצה</a:t>
            </a:r>
          </a:p>
          <a:p>
            <a:pPr marL="0" indent="0" algn="r" rtl="1">
              <a:buNone/>
            </a:pPr>
            <a:r>
              <a:rPr lang="he-IL" sz="1200"/>
              <a:t>•  לחשוב ש־stdio אינו מסוכן כי הוא מקומי.</a:t>
            </a:r>
          </a:p>
          <a:p>
            <a:pPr marL="0" indent="0" algn="r" rtl="1">
              <a:buNone/>
            </a:pPr>
            <a:r>
              <a:rPr lang="he-IL" sz="1200"/>
              <a:t>•  עובדה: המקרים והגרסאות כפי שנבדקו; המלצה: עדכון, בידוד והרשאות מצומצמות.</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a:t>
            </a:r>
          </a:p>
          <a:p>
            <a:pPr marL="0" indent="0" algn="r" rtl="1">
              <a:spcBef>
                <a:spcPts val="800"/>
              </a:spcBef>
              <a:buNone/>
            </a:pPr>
            <a:r>
              <a:rPr lang="he-IL" sz="1200" b="1"/>
              <a:t>מה אומרים</a:t>
            </a:r>
          </a:p>
          <a:p>
            <a:pPr marL="0" indent="0" algn="r" rtl="1">
              <a:buNone/>
            </a:pPr>
            <a:r>
              <a:rPr lang="he-IL" sz="1200"/>
              <a:t>•  שני מקרים של שרשרת אספקה ושל בידוד בין לקוחות.</a:t>
            </a:r>
          </a:p>
          <a:p>
            <a:pPr marL="0" indent="0" algn="r" rtl="1">
              <a:buNone/>
            </a:pPr>
            <a:r>
              <a:rPr lang="he-IL" sz="1200"/>
              <a:t>•  אחד: postmark-mcp.</a:t>
            </a:r>
          </a:p>
          <a:p>
            <a:pPr marL="0" indent="0" algn="r" rtl="1">
              <a:buNone/>
            </a:pPr>
            <a:r>
              <a:rPr lang="he-IL" sz="1200"/>
              <a:t>•  לפי דיווח של CSO Online (26.9.2025), על בסיס חוקרי Koi Security, חבילת npm שהתחפשה לשרת MCP של Postmark הוסיפה בגרסה 1.0.16 שורה אחת שהעתיקה בסתר (BCC) כל מייל לכתובת של התוקף; 15 הגרסאות הקודמות פעלו כרגיל.</a:t>
            </a:r>
          </a:p>
          <a:p>
            <a:pPr marL="0" indent="0" algn="r" rtl="1">
              <a:buNone/>
            </a:pPr>
            <a:r>
              <a:rPr lang="he-IL" sz="1200"/>
              <a:t>•  כ־1,500 הורדות בשבוע, והערכה שמרנית של 3,000 עד 15,000 מיילים ביום לארגון בכ־500 ארגונים.</a:t>
            </a:r>
          </a:p>
          <a:p>
            <a:pPr marL="0" indent="0" algn="r" rtl="1">
              <a:buNone/>
            </a:pPr>
            <a:r>
              <a:rPr lang="he-IL" sz="1200"/>
              <a:t>•  החבילה הוסרה במהירות, אבל הסרה אינה מנקה התקנות קיימות.</a:t>
            </a:r>
          </a:p>
          <a:p>
            <a:pPr marL="0" indent="0" algn="r" rtl="1">
              <a:buNone/>
            </a:pPr>
            <a:r>
              <a:rPr lang="he-IL" sz="1200"/>
              <a:t>•  המלצות: להסיר את הגרסה, להחליף סיסמאות שנחשפו בדואר, ולבדוק את כל שרתי ה־MCP בשימוש.</a:t>
            </a:r>
          </a:p>
          <a:p>
            <a:pPr marL="0" indent="0" algn="r" rtl="1">
              <a:buNone/>
            </a:pPr>
            <a:r>
              <a:rPr lang="he-IL" sz="1200"/>
              <a:t>•  הדוח המקורי של Koi לא היה נגיש, ולכן זה דיווח משני.</a:t>
            </a:r>
          </a:p>
          <a:p>
            <a:pPr marL="0" indent="0" algn="r" rtl="1">
              <a:buNone/>
            </a:pPr>
            <a:r>
              <a:rPr lang="he-IL" sz="1200"/>
              <a:t>•  שניים: Asana MCP.</a:t>
            </a:r>
          </a:p>
          <a:p>
            <a:pPr marL="0" indent="0" algn="r" rtl="1">
              <a:buNone/>
            </a:pPr>
            <a:r>
              <a:rPr lang="he-IL" sz="1200"/>
              <a:t>•  לפי The Register ו־BleepingComputer (18.6.2025) נתגלה ב־4.6.2025 באג בשרת ה־MCP של Asana: משתמש MCP עלול היה לראות מידע מארגון אחר, בגבולות ההרשאות של אותו משתמש; השרת הושבת בין 5 ל־17.6.2025, הבאג תוקן, כל החיבורים אופסו והלקוחות הופנו להתחבר מחדש.</a:t>
            </a:r>
          </a:p>
          <a:p>
            <a:pPr marL="0" indent="0" algn="r" rtl="1">
              <a:buNone/>
            </a:pPr>
            <a:r>
              <a:rPr lang="he-IL" sz="1200"/>
              <a:t>•  BleepingComputer מדווח על כ־1,000 לקוחות ועל חשיפה של כחודש מאז ההשקה ב־1.5.2025; The Register מציין שלא נמסר מספר ושאין סימן לניצול בפועל.</a:t>
            </a:r>
          </a:p>
          <a:p>
            <a:pPr marL="0" indent="0" algn="r" rtl="1">
              <a:buNone/>
            </a:pPr>
            <a:r>
              <a:rPr lang="he-IL" sz="1200"/>
              <a:t>•  אנחנו לא יכולים לאמת את המספר מול Asana.</a:t>
            </a:r>
          </a:p>
          <a:p>
            <a:pPr marL="0" indent="0" algn="r" rtl="1">
              <a:buNone/>
            </a:pPr>
            <a:r>
              <a:rPr lang="he-IL" sz="1200"/>
              <a:t>•  זה מקרה שבו השרת של הספק נכשל בהפרדה בין דיירים, בלי תוקף.</a:t>
            </a:r>
          </a:p>
          <a:p>
            <a:pPr marL="0" indent="0" algn="r" rtl="1">
              <a:buNone/>
            </a:pPr>
            <a:r>
              <a:rPr lang="he-IL" sz="1200"/>
              <a:t>•  הלקח הארגוני: ספק MCP הוא גורם חיצוני שמעבד מידע, ובישראל יש לכך משמעות (שקפי המשפט בהמשך).</a:t>
            </a:r>
          </a:p>
          <a:p>
            <a:pPr marL="0" indent="0" algn="r" rtl="1">
              <a:spcBef>
                <a:spcPts val="800"/>
              </a:spcBef>
              <a:buNone/>
            </a:pPr>
            <a:r>
              <a:rPr lang="he-IL" sz="1200" b="1"/>
              <a:t>אנלוגיה</a:t>
            </a:r>
          </a:p>
          <a:p>
            <a:pPr marL="0" indent="0" algn="r" rtl="1">
              <a:buNone/>
            </a:pPr>
            <a:r>
              <a:rPr lang="he-IL" sz="1200"/>
              <a:t>•  ספק חיצוני שמקבל מפתח למחסן והעתק הדוחות הגיע ללקוח אחר.</a:t>
            </a:r>
          </a:p>
          <a:p>
            <a:pPr marL="0" indent="0" algn="r" rtl="1">
              <a:spcBef>
                <a:spcPts val="800"/>
              </a:spcBef>
              <a:buNone/>
            </a:pPr>
            <a:r>
              <a:rPr lang="he-IL" sz="1200" b="1"/>
              <a:t>שאלה לכיתה</a:t>
            </a:r>
          </a:p>
          <a:p>
            <a:pPr marL="0" indent="0" algn="r" rtl="1">
              <a:buNone/>
            </a:pPr>
            <a:r>
              <a:rPr lang="he-IL" sz="1200"/>
              <a:t>•  מה אפשר לעשות לפני שמתקינים שרת?</a:t>
            </a:r>
          </a:p>
          <a:p>
            <a:pPr marL="0" indent="0" algn="r" rtl="1">
              <a:spcBef>
                <a:spcPts val="800"/>
              </a:spcBef>
              <a:buNone/>
            </a:pPr>
            <a:r>
              <a:rPr lang="he-IL" sz="1200" b="1"/>
              <a:t>תשובה</a:t>
            </a:r>
          </a:p>
          <a:p>
            <a:pPr marL="0" indent="0" algn="r" rtl="1">
              <a:buNone/>
            </a:pPr>
            <a:r>
              <a:rPr lang="he-IL" sz="1200"/>
              <a:t>•  לבדוק מי פרסם, להצמיד גרסה, להריץ בבידוד ולוודא שאינו מקבל יותר הרשאות מהדרוש.</a:t>
            </a:r>
          </a:p>
          <a:p>
            <a:pPr marL="0" indent="0" algn="r" rtl="1">
              <a:spcBef>
                <a:spcPts val="800"/>
              </a:spcBef>
              <a:buNone/>
            </a:pPr>
            <a:r>
              <a:rPr lang="he-IL" sz="1200" b="1"/>
              <a:t>טעות נפוצה</a:t>
            </a:r>
          </a:p>
          <a:p>
            <a:pPr marL="0" indent="0" algn="r" rtl="1">
              <a:buNone/>
            </a:pPr>
            <a:r>
              <a:rPr lang="he-IL" sz="1200"/>
              <a:t>•  לסמוך על שם דומה לשם של חברה מוכרת.</a:t>
            </a:r>
          </a:p>
          <a:p>
            <a:pPr marL="0" indent="0" algn="r" rtl="1">
              <a:buNone/>
            </a:pPr>
            <a:r>
              <a:rPr lang="he-IL" sz="1200"/>
              <a:t>•  עובדה: הדיווחים; המלצה: רשימת שרתים מאושרת בארגון.</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a:t>
            </a:r>
          </a:p>
          <a:p>
            <a:pPr marL="0" indent="0" algn="r" rtl="1">
              <a:spcBef>
                <a:spcPts val="800"/>
              </a:spcBef>
              <a:buNone/>
            </a:pPr>
            <a:r>
              <a:rPr lang="he-IL" sz="1200" b="1"/>
              <a:t>מה אומרים</a:t>
            </a:r>
          </a:p>
          <a:p>
            <a:pPr marL="0" indent="0" algn="r" rtl="1">
              <a:buNone/>
            </a:pPr>
            <a:r>
              <a:rPr lang="he-IL" sz="1200"/>
              <a:t>•  סיכום מעשי, שבע שורות, וכל אחת עם מקור.</a:t>
            </a:r>
          </a:p>
          <a:p>
            <a:pPr marL="0" indent="0" algn="r" rtl="1">
              <a:buNone/>
            </a:pPr>
            <a:r>
              <a:rPr lang="he-IL" sz="1200"/>
              <a:t>•  הרשאה מינימלית: חשבון DB לקריאה בלבד ותצוגות, מול הדלפה וכתיבה לא רצויות (OWASP LLM06:2025 מציין לצמצם פונקציות והרשאות).</a:t>
            </a:r>
          </a:p>
          <a:p>
            <a:pPr marL="0" indent="0" algn="r" rtl="1">
              <a:buNone/>
            </a:pPr>
            <a:r>
              <a:rPr lang="he-IL" sz="1200"/>
              <a:t>•  הפרדת המשולש הקטלני: מונעת הדלפה בהזרקת פרומפט (Willison 2025).</a:t>
            </a:r>
          </a:p>
          <a:p>
            <a:pPr marL="0" indent="0" algn="r" rtl="1">
              <a:buNone/>
            </a:pPr>
            <a:r>
              <a:rPr lang="he-IL" sz="1200"/>
              <a:t>•  אישור אנושי לפעולות רגישות: המפרט ממליץ שיהיה אדם בלולאה עם יכולת לדחות; האזהרה היא שאישורים מתמשכים גורמים לעייפות ולכן מקצים אותם לפעולות רגישות.</a:t>
            </a:r>
          </a:p>
          <a:p>
            <a:pPr marL="0" indent="0" algn="r" rtl="1">
              <a:buNone/>
            </a:pPr>
            <a:r>
              <a:rPr lang="he-IL" sz="1200"/>
              <a:t>•  רשימת שרתים מאושרת בארגון והצמדת גרסה: מול שרשרת אספקה ו־rug pull (Invariant Labs מציעה הצמדה ובדיקה של תיאורי כלים בעזרת hash).</a:t>
            </a:r>
          </a:p>
          <a:p>
            <a:pPr marL="0" indent="0" algn="r" rtl="1">
              <a:buNone/>
            </a:pPr>
            <a:r>
              <a:rPr lang="he-IL" sz="1200"/>
              <a:t>•  הרצה מבודדת: Security Best Practices של MCP מורה על ארגז חול (sandbox) עם הרשאות מינימליות לשרת מקומי.</a:t>
            </a:r>
          </a:p>
          <a:p>
            <a:pPr marL="0" indent="0" algn="r" rtl="1">
              <a:buNone/>
            </a:pPr>
            <a:r>
              <a:rPr lang="he-IL" sz="1200"/>
              <a:t>•  סודות מחוץ להקשר, וטוקן ייעודי לכל שרת: המפרט אוסר לשרת לקבל טוקנים שלא הונפקו עבורו (token passthrough), כדי לשמור על הפרדה.</a:t>
            </a:r>
          </a:p>
          <a:p>
            <a:pPr marL="0" indent="0" algn="r" rtl="1">
              <a:buNone/>
            </a:pPr>
            <a:r>
              <a:rPr lang="he-IL" sz="1200"/>
              <a:t>•  ניטור ויומן: המפרט ממליץ לתעד שימוש בכלים.</a:t>
            </a:r>
          </a:p>
          <a:p>
            <a:pPr marL="0" indent="0" algn="r" rtl="1">
              <a:buNone/>
            </a:pPr>
            <a:r>
              <a:rPr lang="he-IL" sz="1200"/>
              <a:t>•  הבהרה: אין הגנה אחת שמספיקה; זו שכבות (מפגש 10).</a:t>
            </a:r>
          </a:p>
          <a:p>
            <a:pPr marL="0" indent="0" algn="r" rtl="1">
              <a:buNone/>
            </a:pPr>
            <a:r>
              <a:rPr lang="he-IL" sz="1200"/>
              <a:t>•  הפניה: המשולש הקטלני ושכבות הגנה במפגש 10.</a:t>
            </a:r>
          </a:p>
          <a:p>
            <a:pPr marL="0" indent="0" algn="r" rtl="1">
              <a:spcBef>
                <a:spcPts val="800"/>
              </a:spcBef>
              <a:buNone/>
            </a:pPr>
            <a:r>
              <a:rPr lang="he-IL" sz="1200" b="1"/>
              <a:t>אנלוגיה</a:t>
            </a:r>
          </a:p>
          <a:p>
            <a:pPr marL="0" indent="0" algn="r" rtl="1">
              <a:buNone/>
            </a:pPr>
            <a:r>
              <a:rPr lang="he-IL" sz="1200"/>
              <a:t>•  נוהל בטיחות במפעל, כמה מנגנונים שמגבים זה את זה.</a:t>
            </a:r>
          </a:p>
          <a:p>
            <a:pPr marL="0" indent="0" algn="r" rtl="1">
              <a:spcBef>
                <a:spcPts val="800"/>
              </a:spcBef>
              <a:buNone/>
            </a:pPr>
            <a:r>
              <a:rPr lang="he-IL" sz="1200" b="1"/>
              <a:t>שאלה לכיתה</a:t>
            </a:r>
          </a:p>
          <a:p>
            <a:pPr marL="0" indent="0" algn="r" rtl="1">
              <a:buNone/>
            </a:pPr>
            <a:r>
              <a:rPr lang="he-IL" sz="1200"/>
              <a:t>•  איזה שלושה צעדים תיקחו אם יש לכם רק שעה?</a:t>
            </a:r>
          </a:p>
          <a:p>
            <a:pPr marL="0" indent="0" algn="r" rtl="1">
              <a:buNone/>
            </a:pPr>
            <a:r>
              <a:rPr lang="he-IL" sz="1200"/>
              <a:t>•  תשובה אפשרית: חשבון לקריאה בלבד, רשימת שרתים מאושרת, ויומן.</a:t>
            </a:r>
          </a:p>
          <a:p>
            <a:pPr marL="0" indent="0" algn="r" rtl="1">
              <a:spcBef>
                <a:spcPts val="800"/>
              </a:spcBef>
              <a:buNone/>
            </a:pPr>
            <a:r>
              <a:rPr lang="he-IL" sz="1200" b="1"/>
              <a:t>טעות נפוצה</a:t>
            </a:r>
          </a:p>
          <a:p>
            <a:pPr marL="0" indent="0" algn="r" rtl="1">
              <a:buNone/>
            </a:pPr>
            <a:r>
              <a:rPr lang="he-IL" sz="1200"/>
              <a:t>•  להסתמך על ״ההנחיה לא לציית להוראות בנתונים״ כהגנה בלבד; Supabase עצמה מציינת שזה מפחית ואינו מבטל.</a:t>
            </a:r>
          </a:p>
          <a:p>
            <a:pPr marL="0" indent="0" algn="r" rtl="1">
              <a:buNone/>
            </a:pPr>
            <a:r>
              <a:rPr lang="he-IL" sz="1200"/>
              <a:t>•  עובדה: דרישות המפרט והדוחות.</a:t>
            </a:r>
          </a:p>
          <a:p>
            <a:pPr marL="0" indent="0" algn="r" rtl="1">
              <a:buNone/>
            </a:pPr>
            <a:r>
              <a:rPr lang="he-IL" sz="1200"/>
              <a:t>•  המלצה: הסדר והחלוקה.</a:t>
            </a:r>
          </a:p>
          <a:p>
            <a:pPr marL="0" indent="0" algn="r" rtl="1">
              <a:spcBef>
                <a:spcPts val="800"/>
              </a:spcBef>
              <a:buNone/>
            </a:pPr>
            <a:r>
              <a:rPr lang="he-IL" sz="1200" b="1"/>
              <a:t>מקורות</a:t>
            </a:r>
          </a:p>
          <a:p>
            <a:pPr marL="0" indent="0" algn="r" rtl="1">
              <a:buNone/>
            </a:pPr>
            <a:r>
              <a:rPr lang="he-IL" sz="1200"/>
              <a:t>•  OWASP LLM06:2025 (נפתח); מפרט MCP, Security Best Practices ו־Authorization (נפתחו); Willison 2025; Invariant Labs 2025; Supabase 2025.</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 לא ייעוץ משפטי, נכון ל־23.10.2026.</a:t>
            </a:r>
          </a:p>
          <a:p>
            <a:pPr marL="0" indent="0" algn="r" rtl="1">
              <a:spcBef>
                <a:spcPts val="800"/>
              </a:spcBef>
              <a:buNone/>
            </a:pPr>
            <a:r>
              <a:rPr lang="he-IL" sz="1200" b="1"/>
              <a:t>מה אומרים</a:t>
            </a:r>
          </a:p>
          <a:p>
            <a:pPr marL="0" indent="0" algn="r" rtl="1">
              <a:buNone/>
            </a:pPr>
            <a:r>
              <a:rPr lang="he-IL" sz="1200"/>
              <a:t>•  היעד: להכיר מושגים, לא לתת חוות דעת.</a:t>
            </a:r>
          </a:p>
          <a:p>
            <a:pPr marL="0" indent="0" algn="r" rtl="1">
              <a:buNone/>
            </a:pPr>
            <a:r>
              <a:rPr lang="he-IL" sz="1200"/>
              <a:t>•  הקשר: כשסוכן מחובר למסד של ארגון, הנתונים הם לעיתים נתונים אישיים, והחוק הישראלי חל.</a:t>
            </a:r>
          </a:p>
          <a:p>
            <a:pPr marL="0" indent="0" algn="r" rtl="1">
              <a:buNone/>
            </a:pPr>
            <a:r>
              <a:rPr lang="he-IL" sz="1200"/>
              <a:t>•  המקור: מדריך הרשות להגנת הפרטיות לתיקון 13 (מאי 2025, נפתח, gov.il), ושקפי מפגש 12 (שם נבדק שתיקון 13 נכנס לתוקף ב־14.8.2025).</a:t>
            </a:r>
          </a:p>
          <a:p>
            <a:pPr marL="0" indent="0" algn="r" rtl="1">
              <a:buNone/>
            </a:pPr>
            <a:r>
              <a:rPr lang="he-IL" sz="1200"/>
              <a:t>•  לפי המדריך: ״מאגר מידע״ הוא כעת ״אוסף פרטי מידע אישי המעובד באמצעי דיגיטלי״, בכפוף לחריגים (למשל אוסף לשימוש אישי שאינו לעסק, ואוסף של שם, מען ודרכי התקשרות של עד 100,000 איש בתנאים).</a:t>
            </a:r>
          </a:p>
          <a:p>
            <a:pPr marL="0" indent="0" algn="r" rtl="1">
              <a:buNone/>
            </a:pPr>
            <a:r>
              <a:rPr lang="he-IL" sz="1200"/>
              <a:t>•  ״מידע אישי״ הוא כל נתון הנוגע לאדם מזוהה או שניתן לזהותו במאמץ סביר.</a:t>
            </a:r>
          </a:p>
          <a:p>
            <a:pPr marL="0" indent="0" algn="r" rtl="1">
              <a:buNone/>
            </a:pPr>
            <a:r>
              <a:rPr lang="he-IL" sz="1200"/>
              <a:t>•  ״מידע בעל רגישות מיוחדת״ מחליף את ״מידע רגיש״ וכולל בין השאר בריאות, מידע גנטי, ביומטרי, פלילי, מוצא, דעות ואמונות, שכר ופעילות פיננסית, נתוני מיקום ותעבורה, והערכת אישיות.</a:t>
            </a:r>
          </a:p>
          <a:p>
            <a:pPr marL="0" indent="0" algn="r" rtl="1">
              <a:buNone/>
            </a:pPr>
            <a:r>
              <a:rPr lang="he-IL" sz="1200"/>
              <a:t>•  ״בעל שליטה״ הוא מי שקובע את מטרות העיבוד, כלומר הארגון עצמו; ״מחזיק״ הוא כל גורם חיצוני שמעבד מידע עבורו.</a:t>
            </a:r>
          </a:p>
          <a:p>
            <a:pPr marL="0" indent="0" algn="r" rtl="1">
              <a:buNone/>
            </a:pPr>
            <a:r>
              <a:rPr lang="he-IL" sz="1200"/>
              <a:t>•  ״עיבוד״ הוא כל פעולה, כולל קבלה, עיון, העברה ומתן גישה.</a:t>
            </a:r>
          </a:p>
          <a:p>
            <a:pPr marL="0" indent="0" algn="r" rtl="1">
              <a:buNone/>
            </a:pPr>
            <a:r>
              <a:rPr lang="he-IL" sz="1200"/>
              <a:t>•  משמעות לכם (פרשנות שלנו, לא קביעה משפטית): שאילתה של סוכן למסד כזה היא עיבוד; ספק AI או שרת MCP מרוחק עשויים להיחשב מחזיק, תלוי בעובדות ובחוזה, ולכן צריך לבדוק עם גורם משפטי.</a:t>
            </a:r>
          </a:p>
          <a:p>
            <a:pPr marL="0" indent="0" algn="r" rtl="1">
              <a:spcBef>
                <a:spcPts val="800"/>
              </a:spcBef>
              <a:buNone/>
            </a:pPr>
            <a:r>
              <a:rPr lang="he-IL" sz="1200" b="1"/>
              <a:t>אנלוגיה</a:t>
            </a:r>
          </a:p>
          <a:p>
            <a:pPr marL="0" indent="0" algn="r" rtl="1">
              <a:buNone/>
            </a:pPr>
            <a:r>
              <a:rPr lang="he-IL" sz="1200"/>
              <a:t>•  מחסן שמכיל חומרים מסוכנים, שאי אפשר להשאיר פתוח לכל קבלן.</a:t>
            </a:r>
          </a:p>
          <a:p>
            <a:pPr marL="0" indent="0" algn="r" rtl="1">
              <a:spcBef>
                <a:spcPts val="800"/>
              </a:spcBef>
              <a:buNone/>
            </a:pPr>
            <a:r>
              <a:rPr lang="he-IL" sz="1200" b="1"/>
              <a:t>שאלה לכיתה</a:t>
            </a:r>
          </a:p>
          <a:p>
            <a:pPr marL="0" indent="0" algn="r" rtl="1">
              <a:buNone/>
            </a:pPr>
            <a:r>
              <a:rPr lang="he-IL" sz="1200"/>
              <a:t>•  האם מסד החנות במעבדות הוא מאגר מידע?</a:t>
            </a:r>
          </a:p>
          <a:p>
            <a:pPr marL="0" indent="0" algn="r" rtl="1">
              <a:spcBef>
                <a:spcPts val="800"/>
              </a:spcBef>
              <a:buNone/>
            </a:pPr>
            <a:r>
              <a:rPr lang="he-IL" sz="1200" b="1"/>
              <a:t>תשובה</a:t>
            </a:r>
          </a:p>
          <a:p>
            <a:pPr marL="0" indent="0" algn="r" rtl="1">
              <a:buNone/>
            </a:pPr>
            <a:r>
              <a:rPr lang="he-IL" sz="1200"/>
              <a:t>•  הוא סינתטי, ולכן לא מכיל מידע על אנשים אמיתיים; מסד לקוחות אמיתי היה כזה.</a:t>
            </a:r>
          </a:p>
          <a:p>
            <a:pPr marL="0" indent="0" algn="r" rtl="1">
              <a:spcBef>
                <a:spcPts val="800"/>
              </a:spcBef>
              <a:buNone/>
            </a:pPr>
            <a:r>
              <a:rPr lang="he-IL" sz="1200" b="1"/>
              <a:t>טעות נפוצה</a:t>
            </a:r>
          </a:p>
          <a:p>
            <a:pPr marL="0" indent="0" algn="r" rtl="1">
              <a:buNone/>
            </a:pPr>
            <a:r>
              <a:rPr lang="he-IL" sz="1200"/>
              <a:t>•  לחשוב שרק מידע רפואי חשוב; שכר ופעילות פיננסית נמנים ברשימה.</a:t>
            </a:r>
          </a:p>
          <a:p>
            <a:pPr marL="0" indent="0" algn="r" rtl="1">
              <a:buNone/>
            </a:pPr>
            <a:r>
              <a:rPr lang="he-IL" sz="1200"/>
              <a:t>•  מה שאין בשקף: סכומים וחובות פרטניות, שנבדקו במפגש 12.</a:t>
            </a:r>
          </a:p>
          <a:p>
            <a:pPr marL="0" indent="0" algn="r" rtl="1">
              <a:buNone/>
            </a:pPr>
            <a:r>
              <a:rPr lang="he-IL" sz="1200"/>
              <a:t>•  הפניה: מפגש 12 (תיקון 13 לעומק).</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 לא ייעוץ משפטי, נכון ל־23.10.2026.</a:t>
            </a:r>
          </a:p>
          <a:p>
            <a:pPr marL="0" indent="0" algn="r" rtl="1">
              <a:spcBef>
                <a:spcPts val="800"/>
              </a:spcBef>
              <a:buNone/>
            </a:pPr>
            <a:r>
              <a:rPr lang="he-IL" sz="1200" b="1"/>
              <a:t>מקורות</a:t>
            </a:r>
          </a:p>
          <a:p>
            <a:pPr marL="0" indent="0" algn="r" rtl="1">
              <a:buNone/>
            </a:pPr>
            <a:r>
              <a:rPr lang="he-IL" sz="1200"/>
              <a:t>•  תקנות הגנת הפרטיות (אבטחת מידע), התשע״ז־2017, פורסמו בקובץ התקנות 7809 ב־8.5.2017 ונכנסו לתוקף שנה אחר כך (תקנה 22).</a:t>
            </a:r>
          </a:p>
          <a:p>
            <a:pPr marL="0" indent="0" algn="r" rtl="1">
              <a:buNone/>
            </a:pPr>
            <a:r>
              <a:rPr lang="he-IL" sz="1200"/>
              <a:t>•  נבדק בתרגום האנגלי של הרשות להגנת הפרטיות באתר gov.il, שאינו מחייב; הנוסח העברי המחייב לא נפתח, וייתכנו עדכונים מאז תיקון 13.</a:t>
            </a:r>
          </a:p>
          <a:p>
            <a:pPr marL="0" indent="0" algn="r" rtl="1">
              <a:buNone/>
            </a:pPr>
            <a:r>
              <a:rPr lang="he-IL" sz="1200"/>
              <a:t>•  התקנות מחלקות מאגרים לרמות: בסיסית, בינונית וגבוהה, והחובות עולות איתן.</a:t>
            </a:r>
          </a:p>
          <a:p>
            <a:pPr marL="0" indent="0" algn="r" rtl="1">
              <a:buNone/>
            </a:pPr>
            <a:r>
              <a:rPr lang="he-IL" sz="1200"/>
              <a:t>•  בינונית: בין השאר מאגר שבו סוגי מידע כמו בריאות, מצב כלכלי או עבר פלילי; גבוהה: מאגר כזה עם מידע על 100,000 איש או יותר, או עם יותר מ־100 מורשי גישה.</a:t>
            </a:r>
          </a:p>
          <a:p>
            <a:pPr marL="0" indent="0" algn="r" rtl="1">
              <a:buNone/>
            </a:pPr>
            <a:r>
              <a:rPr lang="he-IL" sz="1200"/>
              <a:t>•  עמודת התקנה בשקף מקשרת כל חובה ל־MCP: תקנה 8, הרשאות גישה לפי תפקיד ובמידה הנדרשת, כלומר חשבון ייעודי לסוכן</a:t>
            </a:r>
          </a:p>
          <a:p>
            <a:pPr marL="0" indent="0" algn="r" rtl="1">
              <a:buNone/>
            </a:pPr>
            <a:r>
              <a:rPr lang="he-IL" sz="1200"/>
              <a:t>•  תקנה 10, מנגנון תיעוד גישה ברמה בינונית וגבוהה ושמירת הנתונים 24 חודשים לפחות, כלומר יומן ביקורת</a:t>
            </a:r>
          </a:p>
          <a:p>
            <a:pPr marL="0" indent="0" algn="r" rtl="1">
              <a:buNone/>
            </a:pPr>
            <a:r>
              <a:rPr lang="he-IL" sz="1200"/>
              <a:t>•  תקנה 15, התקשרות עם ספק חיצוני שיש לו גישה למאגר, עם בדיקת סיכונים, הסכם מפורט ופיקוח, כלומר ספק AI או שרת MCP מרוחק</a:t>
            </a:r>
          </a:p>
          <a:p>
            <a:pPr marL="0" indent="0" algn="r" rtl="1">
              <a:buNone/>
            </a:pPr>
            <a:r>
              <a:rPr lang="he-IL" sz="1200"/>
              <a:t>•  תקנה 11(ד), אירוע אבטחה חמור, בו על בעל המאגר להודיע מיד לרשם ולדווח על הצעדים שנקט.</a:t>
            </a:r>
          </a:p>
          <a:p>
            <a:pPr marL="0" indent="0" algn="r" rtl="1">
              <a:buNone/>
            </a:pPr>
            <a:r>
              <a:rPr lang="he-IL" sz="1200"/>
              <a:t>•  אירוע חמור ברמה גבוהה הוא שימוש בנתונים ללא הרשאה או בחריגה ממנה, או פגיעה בשלמותם; ברמה בינונית, כשמדובר בחלק מהותי מהמאגר.</a:t>
            </a:r>
          </a:p>
          <a:p>
            <a:pPr marL="0" indent="0" algn="r" rtl="1">
              <a:buNone/>
            </a:pPr>
            <a:r>
              <a:rPr lang="he-IL" sz="1200"/>
              <a:t>•  העברה מחוץ לישראל: תקנות העברת מידע אל מאגרי מידע שמחוץ לגבולות המדינה, התשס״א־2001 (כפי שמצוטטות בגילוי דעת הרשות בעניין תקנה 2(4), נפתח, gov.il): תקנה 1 אוסרת העברה אלא אם דין המדינה מבטיח הגנה שאינה פחותה, ותקנה 2 מתירה חריגים, למשל הסכמת האדם או התחייבות בהסכם לקיים את התנאים החלים על מאגר בישראל, בשינויים המחויבים.</a:t>
            </a:r>
          </a:p>
          <a:p>
            <a:pPr marL="0" indent="0" algn="r" rtl="1">
              <a:buNone/>
            </a:pPr>
            <a:r>
              <a:rPr lang="he-IL" sz="1200"/>
              <a:t>•  לפי גילוי הדעת, כשמדובר בהעברה למחזיק מחוץ לישראל נדרשת עמידה מלאה בחוק ובתקנות.</a:t>
            </a:r>
          </a:p>
          <a:p>
            <a:pPr marL="0" indent="0" algn="r" rtl="1">
              <a:buNone/>
            </a:pPr>
            <a:r>
              <a:rPr lang="he-IL" sz="1200"/>
              <a:t>•  תאריך הפרסום של גילוי הדעת לא אומת (לפי משרד עורכי דין, 13.4.2026).</a:t>
            </a:r>
          </a:p>
          <a:p>
            <a:pPr marL="0" indent="0" algn="r" rtl="1">
              <a:spcBef>
                <a:spcPts val="800"/>
              </a:spcBef>
              <a:buNone/>
            </a:pPr>
            <a:r>
              <a:rPr lang="he-IL" sz="1200" b="1"/>
              <a:t>אנלוגיה</a:t>
            </a:r>
          </a:p>
          <a:p>
            <a:pPr marL="0" indent="0" algn="r" rtl="1">
              <a:buNone/>
            </a:pPr>
            <a:r>
              <a:rPr lang="he-IL" sz="1200"/>
              <a:t>•  ספק שמחסן אצלו ציוד רגיש חייב להחזיק במחסן ברמת האבטחה שלכם.</a:t>
            </a:r>
          </a:p>
          <a:p>
            <a:pPr marL="0" indent="0" algn="r" rtl="1">
              <a:spcBef>
                <a:spcPts val="800"/>
              </a:spcBef>
              <a:buNone/>
            </a:pPr>
            <a:r>
              <a:rPr lang="he-IL" sz="1200" b="1"/>
              <a:t>שאלה לכיתה</a:t>
            </a:r>
          </a:p>
          <a:p>
            <a:pPr marL="0" indent="0" algn="r" rtl="1">
              <a:buNone/>
            </a:pPr>
            <a:r>
              <a:rPr lang="he-IL" sz="1200"/>
              <a:t>•  איזו תקנה מחייבת יומן?</a:t>
            </a:r>
          </a:p>
          <a:p>
            <a:pPr marL="0" indent="0" algn="r" rtl="1">
              <a:spcBef>
                <a:spcPts val="800"/>
              </a:spcBef>
              <a:buNone/>
            </a:pPr>
            <a:r>
              <a:rPr lang="he-IL" sz="1200" b="1"/>
              <a:t>תשובה</a:t>
            </a:r>
          </a:p>
          <a:p>
            <a:pPr marL="0" indent="0" algn="r" rtl="1">
              <a:buNone/>
            </a:pPr>
            <a:r>
              <a:rPr lang="he-IL" sz="1200"/>
              <a:t>•  10 (ברמה בינונית וגבוהה).</a:t>
            </a:r>
          </a:p>
          <a:p>
            <a:pPr marL="0" indent="0" algn="r" rtl="1">
              <a:spcBef>
                <a:spcPts val="800"/>
              </a:spcBef>
              <a:buNone/>
            </a:pPr>
            <a:r>
              <a:rPr lang="he-IL" sz="1200" b="1"/>
              <a:t>טעות נפוצה</a:t>
            </a:r>
          </a:p>
          <a:p>
            <a:pPr marL="0" indent="0" algn="r" rtl="1">
              <a:buNone/>
            </a:pPr>
            <a:r>
              <a:rPr lang="he-IL" sz="1200"/>
              <a:t>•  לחשוב שאם הספק גדול ובחו״ל, האחריות עוברת אליו.</a:t>
            </a:r>
          </a:p>
          <a:p>
            <a:pPr marL="0" indent="0" algn="r" rtl="1">
              <a:buNone/>
            </a:pPr>
            <a:r>
              <a:rPr lang="he-IL" sz="1200"/>
              <a:t>•  הארגון נשאר בעל השליטה.</a:t>
            </a:r>
          </a:p>
          <a:p>
            <a:pPr marL="0" indent="0" algn="r" rtl="1">
              <a:buNone/>
            </a:pPr>
            <a:r>
              <a:rPr lang="he-IL" sz="1200"/>
              <a:t>•  הפניה: מפגש 12.</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כ־2 דקות, לא ייעוץ משפטי, נכון ל־23.10.2026.</a:t>
            </a:r>
          </a:p>
          <a:p>
            <a:pPr marL="0" indent="0" algn="r" rtl="1">
              <a:spcBef>
                <a:spcPts val="800"/>
              </a:spcBef>
              <a:buNone/>
            </a:pPr>
            <a:r>
              <a:rPr lang="he-IL" sz="1200" b="1"/>
              <a:t>מה אומרים</a:t>
            </a:r>
          </a:p>
          <a:p>
            <a:pPr marL="0" indent="0" algn="r" rtl="1">
              <a:buNone/>
            </a:pPr>
            <a:r>
              <a:rPr lang="he-IL" sz="1200"/>
              <a:t>•  השאלה: מה ההשלכות כשמידע רגיש זולג מהארגון החוצה, למשל דרך סוכן או שרת MCP?</a:t>
            </a:r>
          </a:p>
          <a:p>
            <a:pPr marL="0" indent="0" algn="r" rtl="1">
              <a:buNone/>
            </a:pPr>
            <a:r>
              <a:rPr lang="he-IL" sz="1200"/>
              <a:t>•  כל הנתונים שבשקף ממדריך הרשות לתיקון 13 (מאי 2025), ומתקנות אבטחת המידע 2017, אלא אם צוין.</a:t>
            </a:r>
          </a:p>
          <a:p>
            <a:pPr marL="0" indent="0" algn="r" rtl="1">
              <a:buNone/>
            </a:pPr>
            <a:r>
              <a:rPr lang="he-IL" sz="1200"/>
              <a:t>•  אחד, דיווח: אירוע אבטחה חמור מחייב הודעה מיידית לרשם ודיווח על הצעדים (תקנה 11(ד)), והרשם רשאי, לאחר התייעצות עם ראש הרשות הלאומית להגנת הסייבר (כך בתרגום הרשות), להורות להודיע לנושאי המידע שעלולים להינזק.</a:t>
            </a:r>
          </a:p>
          <a:p>
            <a:pPr marL="0" indent="0" algn="r" rtl="1">
              <a:buNone/>
            </a:pPr>
            <a:r>
              <a:rPr lang="he-IL" sz="1200"/>
              <a:t>•  שניים, עיצומים כספיים לפי תיקון 13: למשל 8 ש״ח לכל נושא מידע במאגר שיש בו מידע בעל רגישות מיוחדת על עיבוד ללא הרשאה או בחריגה ממנה, ולא פחות מ־200,000 ש״ח; הדוגמה במדריך היא 200,000 איש ומידע רגיש, שמגיעה ל־1,600,000 ש״ח.</a:t>
            </a:r>
          </a:p>
          <a:p>
            <a:pPr marL="0" indent="0" algn="r" rtl="1">
              <a:buNone/>
            </a:pPr>
            <a:r>
              <a:rPr lang="he-IL" sz="1200"/>
              <a:t>•  אי־דיווח על אירוע אבטחה חמור, 80,000 ש״ח ברמה בינונית ו־320,000 ברמה גבוהה; כפל במאגר של יותר ממיליון נושאי מידע; תקרה כוללת של 5% מהמחזור השנתי; אפשר להפחית עד 70%.</a:t>
            </a:r>
          </a:p>
          <a:p>
            <a:pPr marL="0" indent="0" algn="r" rtl="1">
              <a:buNone/>
            </a:pPr>
            <a:r>
              <a:rPr lang="he-IL" sz="1200"/>
              <a:t>•  שלוש, פיצוי ללא הוכחת נזק עד 10,000 ש״ח בעילות שנמנו במדריך (רישום, יידוע, עיון, תיקון), ובוטלה ההתיישנות המקוצרת לעילות שנוצרו אחרי כניסת התיקון לתוקף.</a:t>
            </a:r>
          </a:p>
          <a:p>
            <a:pPr marL="0" indent="0" algn="r" rtl="1">
              <a:buNone/>
            </a:pPr>
            <a:r>
              <a:rPr lang="he-IL" sz="1200"/>
              <a:t>•  חשוב: העילות האלה אינן אירוע דליפה כשלעצמו; בדליפה התביעה האזרחית היא ברגיל, וצריך להוכיח נזק אלא אם חל סעיף ספציפי.</a:t>
            </a:r>
          </a:p>
          <a:p>
            <a:pPr marL="0" indent="0" algn="r" rtl="1">
              <a:buNone/>
            </a:pPr>
            <a:r>
              <a:rPr lang="he-IL" sz="1200"/>
              <a:t>•  תביעות ייצוגיות: לא אומת מול מקור ראשוני; מאמר של המכון הישראלי לדמוקרטיה (18.8.2020, משני) מציין שב־2019 הכריע בית המשפט העליון שתובענה ייצוגית בעילת פרטיות אפשרית במקרים מצומצמים.</a:t>
            </a:r>
          </a:p>
          <a:p>
            <a:pPr marL="0" indent="0" algn="r" rtl="1">
              <a:buNone/>
            </a:pPr>
            <a:r>
              <a:rPr lang="he-IL" sz="1200"/>
              <a:t>•  ייתכן שהמצב השתנה.</a:t>
            </a:r>
          </a:p>
          <a:p>
            <a:pPr marL="0" indent="0" algn="r" rtl="1">
              <a:buNone/>
            </a:pPr>
            <a:r>
              <a:rPr lang="he-IL" sz="1200"/>
              <a:t>•  ארבע, אכיפה: צו שיפוטי להפסקת עיבוד או למחיקת מידע, ועבירה פלילית על עיבוד ללא הרשאה, מאסר עד שלוש שנים.</a:t>
            </a:r>
          </a:p>
          <a:p>
            <a:pPr marL="0" indent="0" algn="r" rtl="1">
              <a:buNone/>
            </a:pPr>
            <a:r>
              <a:rPr lang="he-IL" sz="1200"/>
              <a:t>•  אחריות: החובות מוטלות על הארגון כבעל שליטה; אחריות אישית של מנהל מאגר על אבטחה בוטלה בתיקון 13, ויש ממונה פרטיות או אבטחה לפי סוג הארגון.</a:t>
            </a:r>
          </a:p>
          <a:p>
            <a:pPr marL="0" indent="0" algn="r" rtl="1">
              <a:buNone/>
            </a:pPr>
            <a:r>
              <a:rPr lang="he-IL" sz="1200"/>
              <a:t>•  מוניטין: פגיעה באמון היא תוצאה מעשית, לא נתון חוקי.</a:t>
            </a:r>
          </a:p>
          <a:p>
            <a:pPr marL="0" indent="0" algn="r" rtl="1">
              <a:spcBef>
                <a:spcPts val="800"/>
              </a:spcBef>
              <a:buNone/>
            </a:pPr>
            <a:r>
              <a:rPr lang="he-IL" sz="1200" b="1"/>
              <a:t>אנלוגיה</a:t>
            </a:r>
          </a:p>
          <a:p>
            <a:pPr marL="0" indent="0" algn="r" rtl="1">
              <a:buNone/>
            </a:pPr>
            <a:r>
              <a:rPr lang="he-IL" sz="1200"/>
              <a:t>•  אירוע בטיחות שמחייב דיווח, חקירה ופיצוי.</a:t>
            </a:r>
          </a:p>
          <a:p>
            <a:pPr marL="0" indent="0" algn="r" rtl="1">
              <a:spcBef>
                <a:spcPts val="800"/>
              </a:spcBef>
              <a:buNone/>
            </a:pPr>
            <a:r>
              <a:rPr lang="he-IL" sz="1200" b="1"/>
              <a:t>שאלה לכיתה</a:t>
            </a:r>
          </a:p>
          <a:p>
            <a:pPr marL="0" indent="0" algn="r" rtl="1">
              <a:buNone/>
            </a:pPr>
            <a:r>
              <a:rPr lang="he-IL" sz="1200"/>
              <a:t>•  מי אחראי כשסוכן מדליף?</a:t>
            </a:r>
          </a:p>
          <a:p>
            <a:pPr marL="0" indent="0" algn="r" rtl="1">
              <a:spcBef>
                <a:spcPts val="800"/>
              </a:spcBef>
              <a:buNone/>
            </a:pPr>
            <a:r>
              <a:rPr lang="he-IL" sz="1200" b="1"/>
              <a:t>תשובה</a:t>
            </a:r>
          </a:p>
          <a:p>
            <a:pPr marL="0" indent="0" algn="r" rtl="1">
              <a:buNone/>
            </a:pPr>
            <a:r>
              <a:rPr lang="he-IL" sz="1200"/>
              <a:t>•  הארגון.</a:t>
            </a:r>
          </a:p>
          <a:p>
            <a:pPr marL="0" indent="0" algn="r" rtl="1">
              <a:spcBef>
                <a:spcPts val="800"/>
              </a:spcBef>
              <a:buNone/>
            </a:pPr>
            <a:r>
              <a:rPr lang="he-IL" sz="1200" b="1"/>
              <a:t>טעות נפוצה</a:t>
            </a:r>
          </a:p>
          <a:p>
            <a:pPr marL="0" indent="0" algn="r" rtl="1">
              <a:buNone/>
            </a:pPr>
            <a:r>
              <a:rPr lang="he-IL" sz="1200"/>
              <a:t>•  ״זו טעות של המודל״.</a:t>
            </a:r>
          </a:p>
          <a:p>
            <a:pPr marL="0" indent="0" algn="r" rtl="1">
              <a:buNone/>
            </a:pPr>
            <a:r>
              <a:rPr lang="he-IL" sz="1200"/>
              <a:t>•  מה שלא אומת ואינו בשקף: נתוני פסיקה על דליפות, וחובת הודעה לנפגעים בכל מקרה.</a:t>
            </a:r>
          </a:p>
          <a:p>
            <a:pPr marL="0" indent="0" algn="r" rtl="1">
              <a:buNone/>
            </a:pPr>
            <a:r>
              <a:rPr lang="he-IL" sz="1200"/>
              <a:t>•  הפניה: מפגש 12.</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לקריאה בבית, בלי הצגה בכיתה.</a:t>
            </a:r>
          </a:p>
          <a:p>
            <a:pPr marL="0" indent="0" algn="r" rtl="1">
              <a:spcBef>
                <a:spcPts val="800"/>
              </a:spcBef>
              <a:buNone/>
            </a:pPr>
            <a:r>
              <a:rPr lang="he-IL" sz="1200" b="1"/>
              <a:t>מה אומרים</a:t>
            </a:r>
          </a:p>
          <a:p>
            <a:pPr marL="0" indent="0" algn="r" rtl="1">
              <a:buNone/>
            </a:pPr>
            <a:r>
              <a:rPr lang="he-IL" sz="1200"/>
              <a:t>•  מקורות המקטע על סוכנים, MCP ואבטחה; כל מקור נפתח ב־23.10.2026.</a:t>
            </a:r>
          </a:p>
          <a:p>
            <a:pPr marL="0" indent="0" algn="r" rtl="1">
              <a:buNone/>
            </a:pPr>
            <a:r>
              <a:rPr lang="he-IL" sz="1200"/>
              <a:t>•  מקורות ראשוניים: ReAct (arXiv 2210.03629, ICLR 2023)</a:t>
            </a:r>
          </a:p>
          <a:p>
            <a:pPr marL="0" indent="0" algn="r" rtl="1">
              <a:buNone/>
            </a:pPr>
            <a:r>
              <a:rPr lang="he-IL" sz="1200"/>
              <a:t>•  Anthropic, Building effective agents (19.12.2024) ו־Writing effective tools for agents (11.9.2025)</a:t>
            </a:r>
          </a:p>
          <a:p>
            <a:pPr marL="0" indent="0" algn="r" rtl="1">
              <a:buNone/>
            </a:pPr>
            <a:r>
              <a:rPr lang="he-IL" sz="1200"/>
              <a:t>•  הודעת Anthropic על MCP (25.11.2024)</a:t>
            </a:r>
          </a:p>
          <a:p>
            <a:pPr marL="0" indent="0" algn="r" rtl="1">
              <a:buNone/>
            </a:pPr>
            <a:r>
              <a:rPr lang="he-IL" sz="1200"/>
              <a:t>•  הודעת Linux Foundation על Agentic AI Foundation (9.12.2025)</a:t>
            </a:r>
          </a:p>
          <a:p>
            <a:pPr marL="0" indent="0" algn="r" rtl="1">
              <a:buNone/>
            </a:pPr>
            <a:r>
              <a:rPr lang="he-IL" sz="1200"/>
              <a:t>•  מפרט MCP בגרסאות 2026-07-28 ו־2025-11-25 (כולל Changelog, Lifecycle, Transports, Tools, Authorization, Security Best Practices)</a:t>
            </a:r>
          </a:p>
          <a:p>
            <a:pPr marL="0" indent="0" algn="r" rtl="1">
              <a:buNone/>
            </a:pPr>
            <a:r>
              <a:rPr lang="he-IL" sz="1200"/>
              <a:t>•  Hou ועמיתים (arXiv 2503.23278), Radosevich ו־Halloran (arXiv 2504.03767), כשנפתחו תקצירי עמודי arXiv בלבד ולא נקרא המאמר המלא</a:t>
            </a:r>
          </a:p>
          <a:p>
            <a:pPr marL="0" indent="0" algn="r" rtl="1">
              <a:buNone/>
            </a:pPr>
            <a:r>
              <a:rPr lang="he-IL" sz="1200"/>
              <a:t>•  Invariant Labs, 1.4.2025</a:t>
            </a:r>
          </a:p>
          <a:p>
            <a:pPr marL="0" indent="0" algn="r" rtl="1">
              <a:buNone/>
            </a:pPr>
            <a:r>
              <a:rPr lang="he-IL" sz="1200"/>
              <a:t>•  Simon Willison, 16.6.2025</a:t>
            </a:r>
          </a:p>
          <a:p>
            <a:pPr marL="0" indent="0" algn="r" rtl="1">
              <a:buNone/>
            </a:pPr>
            <a:r>
              <a:rPr lang="he-IL" sz="1200"/>
              <a:t>•  OWASP LLM06:2025</a:t>
            </a:r>
          </a:p>
          <a:p>
            <a:pPr marL="0" indent="0" algn="r" rtl="1">
              <a:buNone/>
            </a:pPr>
            <a:r>
              <a:rPr lang="he-IL" sz="1200"/>
              <a:t>•  Li ועמיתים, BIRD (arXiv 2305.03111), בו נבדק עמוד arXiv בלבד.</a:t>
            </a:r>
          </a:p>
          <a:p>
            <a:pPr marL="0" indent="0" algn="r" rtl="1">
              <a:buNone/>
            </a:pPr>
            <a:r>
              <a:rPr lang="he-IL" sz="1200"/>
              <a:t>•  מקורות נוספים שהוזכרו בהערות: Lilian Weng (23.6.2023); תיעוד tool use של Anthropic; Meta, Agents Rule of Two (31.10.2025, נבדק במפגש 10).</a:t>
            </a:r>
          </a:p>
          <a:p>
            <a:pPr marL="0" indent="0" algn="r" rtl="1">
              <a:buNone/>
            </a:pPr>
            <a:r>
              <a:rPr lang="he-IL" sz="1200"/>
              <a:t>•  מה לא נבדק: המאמרים המלאים של Hou ו־Radosevich, ותוצאות עדכניות של בנצ׳מרקים של text-to-SQL.</a:t>
            </a:r>
          </a:p>
          <a:p>
            <a:pPr marL="0" indent="0" algn="r" rtl="1">
              <a:buNone/>
            </a:pPr>
            <a:r>
              <a:rPr lang="he-IL" sz="1200"/>
              <a:t>•  אל תציגו מספרי בנצ׳מרק כמייצגים מודלים עדכניים.</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העשרה, לקריאה בבית, בלי הצגה בכיתה.</a:t>
            </a:r>
          </a:p>
          <a:p>
            <a:pPr marL="0" indent="0" algn="r" rtl="1">
              <a:spcBef>
                <a:spcPts val="800"/>
              </a:spcBef>
              <a:buNone/>
            </a:pPr>
            <a:r>
              <a:rPr lang="he-IL" sz="1200" b="1"/>
              <a:t>מה אומרים</a:t>
            </a:r>
          </a:p>
          <a:p>
            <a:pPr marL="0" indent="0" algn="r" rtl="1">
              <a:buNone/>
            </a:pPr>
            <a:r>
              <a:rPr lang="he-IL" sz="1200"/>
              <a:t>•  מקורות המקרים והמשפט; כל מקור נפתח ב־23.10.2026 אלא אם צוין.</a:t>
            </a:r>
          </a:p>
          <a:p>
            <a:pPr marL="0" indent="0" algn="r" rtl="1">
              <a:buNone/>
            </a:pPr>
            <a:r>
              <a:rPr lang="he-IL" sz="1200"/>
              <a:t>•  מקרים: Invariant Labs, GitHub MCP, 26.5.2025</a:t>
            </a:r>
          </a:p>
          <a:p>
            <a:pPr marL="0" indent="0" algn="r" rtl="1">
              <a:buNone/>
            </a:pPr>
            <a:r>
              <a:rPr lang="he-IL" sz="1200"/>
              <a:t>•  Simon Willison, 6.7.2025, ו־Supabase, Defense in Depth for MCP Servers, 16.9.2025 (הדוח המקורי של General Analysis לא נפתח)</a:t>
            </a:r>
          </a:p>
          <a:p>
            <a:pPr marL="0" indent="0" algn="r" rtl="1">
              <a:buNone/>
            </a:pPr>
            <a:r>
              <a:rPr lang="he-IL" sz="1200"/>
              <a:t>•  Datadog Security Labs, 21.8.2025</a:t>
            </a:r>
          </a:p>
          <a:p>
            <a:pPr marL="0" indent="0" algn="r" rtl="1">
              <a:buNone/>
            </a:pPr>
            <a:r>
              <a:rPr lang="he-IL" sz="1200"/>
              <a:t>•  NVD לשני ה־CVE, ו־JFrog, 9.7.2025</a:t>
            </a:r>
          </a:p>
          <a:p>
            <a:pPr marL="0" indent="0" algn="r" rtl="1">
              <a:buNone/>
            </a:pPr>
            <a:r>
              <a:rPr lang="he-IL" sz="1200"/>
              <a:t>•  CSO Online, 26.9.2025, על postmark-mcp (הדוח של Koi לא היה נגיש, ולכן משני)</a:t>
            </a:r>
          </a:p>
          <a:p>
            <a:pPr marL="0" indent="0" algn="r" rtl="1">
              <a:buNone/>
            </a:pPr>
            <a:r>
              <a:rPr lang="he-IL" sz="1200"/>
              <a:t>•  BleepingComputer ו־The Register, 18.6.2025, על Asana (משני</a:t>
            </a:r>
          </a:p>
          <a:p>
            <a:pPr marL="0" indent="0" algn="r" rtl="1">
              <a:buNone/>
            </a:pPr>
            <a:r>
              <a:rPr lang="he-IL" sz="1200"/>
              <a:t>•  Asana עצמה לא נפתחה).</a:t>
            </a:r>
          </a:p>
          <a:p>
            <a:pPr marL="0" indent="0" algn="r" rtl="1">
              <a:buNone/>
            </a:pPr>
            <a:r>
              <a:rPr lang="he-IL" sz="1200"/>
              <a:t>•  משפט: מדריך הרשות להגנת הפרטיות לתיקון 13 (מאי 2025, PDF, נפתח, ראשוני)</a:t>
            </a:r>
          </a:p>
          <a:p>
            <a:pPr marL="0" indent="0" algn="r" rtl="1">
              <a:buNone/>
            </a:pPr>
            <a:r>
              <a:rPr lang="he-IL" sz="1200"/>
              <a:t>•  תקנות הגנת הפרטיות (אבטחת מידע), התשע״ז־2017, בתרגום האנגלי של הרשות (ראשוני, אך לא מחייב)</a:t>
            </a:r>
          </a:p>
          <a:p>
            <a:pPr marL="0" indent="0" algn="r" rtl="1">
              <a:buNone/>
            </a:pPr>
            <a:r>
              <a:rPr lang="he-IL" sz="1200"/>
              <a:t>•  גילוי דעת הרשות בעניין תקנה 2(4) לתקנות העברת מידע מחוץ לישראל, התשס״א־2001 (ראשוני, נפתח, תאריך פרסומו לא אומת).</a:t>
            </a:r>
          </a:p>
          <a:p>
            <a:pPr marL="0" indent="0" algn="r" rtl="1">
              <a:buNone/>
            </a:pPr>
            <a:r>
              <a:rPr lang="he-IL" sz="1200"/>
              <a:t>•  מה לא נבדק ולא נכנס: הנוסח העברי המחייב של תקנות 2017 ושל תקנות 2001</a:t>
            </a:r>
          </a:p>
          <a:p>
            <a:pPr marL="0" indent="0" algn="r" rtl="1">
              <a:buNone/>
            </a:pPr>
            <a:r>
              <a:rPr lang="he-IL" sz="1200"/>
              <a:t>•  נוסח סופי מעודכן של חוק הגנת הפרטיות</a:t>
            </a:r>
          </a:p>
          <a:p>
            <a:pPr marL="0" indent="0" algn="r" rtl="1">
              <a:buNone/>
            </a:pPr>
            <a:r>
              <a:rPr lang="he-IL" sz="1200"/>
              <a:t>•  פסיקה בנושא דליפות ותביעות ייצוגיות (המאמר של המכון הישראלי לדמוקרטיה, 18.8.2020, משני בלבד)</a:t>
            </a:r>
          </a:p>
          <a:p>
            <a:pPr marL="0" indent="0" algn="r" rtl="1">
              <a:buNone/>
            </a:pPr>
            <a:r>
              <a:rPr lang="he-IL" sz="1200"/>
              <a:t>•  עמוד הדיווח על אירוע חמור באתר gov.il (חסום, 403)</a:t>
            </a:r>
          </a:p>
          <a:p>
            <a:pPr marL="0" indent="0" algn="r" rtl="1">
              <a:buNone/>
            </a:pPr>
            <a:r>
              <a:rPr lang="he-IL" sz="1200"/>
              <a:t>•  נוסח סעיף 29א לחוק.</a:t>
            </a:r>
          </a:p>
          <a:p>
            <a:pPr marL="0" indent="0" algn="r" rtl="1">
              <a:buNone/>
            </a:pPr>
            <a:r>
              <a:rPr lang="he-IL" sz="1200"/>
              <a:t>•  הרחבה על תיקון 13 ועל העיצומים: מפגש 12.</a:t>
            </a:r>
          </a:p>
          <a:p>
            <a:pPr marL="0" indent="0" algn="r" rtl="1">
              <a:buNone/>
            </a:pPr>
            <a:r>
              <a:rPr lang="he-IL" sz="1200"/>
              <a:t>•  הצהרה: לא ייעוץ משפטי, נכון ל־23.10.2026.</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חידון סיום, כ־2.5 דקות.</a:t>
            </a:r>
          </a:p>
          <a:p>
            <a:pPr marL="0" indent="0" algn="r" rtl="1">
              <a:buNone/>
            </a:pPr>
            <a:r>
              <a:rPr lang="he-IL" sz="1200" b="1"/>
              <a:t>מה אומרים</a:t>
            </a:r>
          </a:p>
          <a:p>
            <a:pPr marL="0" indent="0" algn="r" rtl="1">
              <a:buNone/>
            </a:pPr>
            <a:r>
              <a:rPr lang="he-IL" sz="1200"/>
              <a:t>•  שאלה אחרי שאלה, ואחר כך מעבר לשקף התשובות.</a:t>
            </a:r>
          </a:p>
          <a:p>
            <a:pPr marL="0" indent="0" algn="r" rtl="1">
              <a:buNone/>
            </a:pPr>
            <a:r>
              <a:rPr lang="he-IL" sz="1200"/>
              <a:t>•  אפשר לתת לסטודנטים לענות בכתב על דף או במכשיר שלהם, ואחר כך לבדוק.</a:t>
            </a:r>
          </a:p>
          <a:p>
            <a:pPr marL="0" indent="0" algn="r" rtl="1">
              <a:buNone/>
            </a:pPr>
            <a:r>
              <a:rPr lang="he-IL" sz="1200"/>
              <a:t>•  חמש שאלות: מה ההבדל המרכזי בין צ׳אט לסוכן CLI?</a:t>
            </a:r>
          </a:p>
          <a:p>
            <a:pPr marL="0" indent="0" algn="r" rtl="1">
              <a:buNone/>
            </a:pPr>
            <a:r>
              <a:rPr lang="he-IL" sz="1200"/>
              <a:t>•  למה אותו מודל יכול לתת תוצאה שונה בשני כלים?</a:t>
            </a:r>
          </a:p>
          <a:p>
            <a:pPr marL="0" indent="0" algn="r" rtl="1">
              <a:buNone/>
            </a:pPr>
            <a:r>
              <a:rPr lang="he-IL" sz="1200"/>
              <a:t>•  מתי עדיף צ׳אט על פני סוכן?</a:t>
            </a:r>
          </a:p>
          <a:p>
            <a:pPr marL="0" indent="0" algn="r" rtl="1">
              <a:buNone/>
            </a:pPr>
            <a:r>
              <a:rPr lang="he-IL" sz="1200"/>
              <a:t>•  ומהם חמשת הקריטריונים לבחירת כלי? והשאלה החמישית, מבלוק MCP: למה סינון בקוד אינו מספיק כשמחברים סוכן למסד נתונים?</a:t>
            </a:r>
          </a:p>
          <a:p>
            <a:pPr marL="0" indent="0" algn="r" rtl="1">
              <a:buNone/>
            </a:pPr>
            <a:r>
              <a:rPr lang="he-IL" sz="1200"/>
              <a:t>•  השאלות משמשות גם כבנק לבוחן האמצע במפגש הבא, ולכן כדאי שהסטודנטים ירשמו אותן.</a:t>
            </a:r>
          </a:p>
          <a:p>
            <a:pPr marL="0" indent="0" algn="r" rtl="1">
              <a:buNone/>
            </a:pPr>
            <a:r>
              <a:rPr lang="he-IL" sz="1200" b="1"/>
              <a:t>אנלוגיה</a:t>
            </a:r>
          </a:p>
          <a:p>
            <a:pPr marL="0" indent="0" algn="r" rtl="1">
              <a:buNone/>
            </a:pPr>
            <a:r>
              <a:rPr lang="he-IL" sz="1200"/>
              <a:t>•  בדיקת ידע בסוף משמרת.</a:t>
            </a:r>
          </a:p>
          <a:p>
            <a:pPr marL="0" indent="0" algn="r" rtl="1">
              <a:buNone/>
            </a:pPr>
            <a:r>
              <a:rPr lang="he-IL" sz="1200"/>
              <a:t>•  אם יש מעט זמן, שאלו רק את שתי הראשונות בקול.</a:t>
            </a:r>
          </a:p>
          <a:p>
            <a:pPr marL="0" indent="0" algn="r" rtl="1">
              <a:buNone/>
            </a:pPr>
            <a:r>
              <a:rPr lang="he-IL" sz="1200"/>
              <a:t>•  אל תחשפו תשובות לפני שהכיתה ניסתה.</a:t>
            </a:r>
          </a:p>
          <a:p>
            <a:pPr marL="0" indent="0" algn="r" rtl="1">
              <a:buNone/>
            </a:pPr>
            <a:r>
              <a:rPr lang="he-IL" sz="1200"/>
              <a:t>•  שאלת בונוס בעל פה, אם יש זמן: ״למה הגרף של הכלי נראה תקין, ובכל זאת התוצאה שגויה?״ התשובה: כי ריצה בלי שגיאה אינה הוכחה, ורק מבחן שמשווה לתוצאה ידועה חושף את ההבדל (מעבדה א׳).</a:t>
            </a:r>
          </a:p>
          <a:p>
            <a:pPr marL="0" indent="0" algn="r" rtl="1">
              <a:spcBef>
                <a:spcPts val="800"/>
              </a:spcBef>
              <a:buNone/>
            </a:pPr>
            <a:r>
              <a:rPr lang="he-IL" sz="1200" b="1"/>
              <a:t>עדכון MCP</a:t>
            </a:r>
          </a:p>
          <a:p>
            <a:pPr marL="0" indent="0" algn="r" rtl="1">
              <a:buNone/>
            </a:pPr>
            <a:r>
              <a:rPr lang="he-IL" sz="1200" b="0"/>
              <a:t>•  שאלה 5 נוספה בעדכון MCP.</a:t>
            </a:r>
          </a:p>
          <a:p>
            <a:pPr marL="0" indent="0" algn="r" rtl="1">
              <a:buNone/>
            </a:pPr>
            <a:r>
              <a:rPr lang="he-IL" sz="1200" b="0"/>
              <a:t>•  אם אין זמן, שאלו רק את שאלות 2 ו־5.</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תשובות לחידון.</a:t>
            </a:r>
          </a:p>
          <a:p>
            <a:pPr marL="0" indent="0" algn="r" rtl="1">
              <a:buNone/>
            </a:pPr>
            <a:r>
              <a:rPr lang="he-IL" sz="1200" b="1"/>
              <a:t>מה אומרים</a:t>
            </a:r>
          </a:p>
          <a:p>
            <a:pPr marL="0" indent="0" algn="r" rtl="1">
              <a:buNone/>
            </a:pPr>
            <a:r>
              <a:rPr lang="he-IL" sz="1200"/>
              <a:t>•  אחד: צ׳אט רואה רק מה שהדבקתם ולא מריץ.</a:t>
            </a:r>
          </a:p>
          <a:p>
            <a:pPr marL="0" indent="0" algn="r" rtl="1">
              <a:buNone/>
            </a:pPr>
            <a:r>
              <a:rPr lang="he-IL" sz="1200"/>
              <a:t>•  סוכן קורא את הפרויקט, מריץ ועורך.</a:t>
            </a:r>
          </a:p>
          <a:p>
            <a:pPr marL="0" indent="0" algn="r" rtl="1">
              <a:buNone/>
            </a:pPr>
            <a:r>
              <a:rPr lang="he-IL" sz="1200"/>
              <a:t>•  שניים: המעטפת קובעת מה נכנס להקשר, אילו כלים זמינים ואילו הוראות פעילות.</a:t>
            </a:r>
          </a:p>
          <a:p>
            <a:pPr marL="0" indent="0" algn="r" rtl="1">
              <a:buNone/>
            </a:pPr>
            <a:r>
              <a:rPr lang="he-IL" sz="1200"/>
              <a:t>•  שלוש: משימה קטנה, הסבר או רעיון, או קוד שלא רוצים לחשוף לכל הפרויקט.</a:t>
            </a:r>
          </a:p>
          <a:p>
            <a:pPr marL="0" indent="0" algn="r" rtl="1">
              <a:buNone/>
            </a:pPr>
            <a:r>
              <a:rPr lang="he-IL" sz="1200"/>
              <a:t>•  ארבע: גודל, הקשר, סיכון, פרטיות ועלות, שליטה.</a:t>
            </a:r>
          </a:p>
          <a:p>
            <a:pPr marL="0" indent="0" algn="r" rtl="1">
              <a:buNone/>
            </a:pPr>
            <a:r>
              <a:rPr lang="he-IL" sz="1200"/>
              <a:t>•  קבלו גם ניסוחים אחרים אם הרעיון נכון.</a:t>
            </a:r>
          </a:p>
          <a:p>
            <a:pPr marL="0" indent="0" algn="r" rtl="1">
              <a:buNone/>
            </a:pPr>
            <a:r>
              <a:rPr lang="he-IL" sz="1200"/>
              <a:t>•  אם חלק גדול טעה בשאלה 2, חזרו לשקף ״כלי = מודל + מעטפת״ דקה אחת.</a:t>
            </a:r>
          </a:p>
          <a:p>
            <a:pPr marL="0" indent="0" algn="r" rtl="1">
              <a:buNone/>
            </a:pPr>
            <a:r>
              <a:rPr lang="he-IL" sz="1200"/>
              <a:t>•  אם בשאלה 4, חזרו לשקף ״חמישה קריטריונים״.</a:t>
            </a:r>
          </a:p>
          <a:p>
            <a:pPr marL="0" indent="0" algn="r" rtl="1">
              <a:buNone/>
            </a:pPr>
            <a:r>
              <a:rPr lang="he-IL" sz="1200" b="1"/>
              <a:t>אנלוגיה</a:t>
            </a:r>
          </a:p>
          <a:p>
            <a:pPr marL="0" indent="0" algn="r" rtl="1">
              <a:buNone/>
            </a:pPr>
            <a:r>
              <a:rPr lang="he-IL" sz="1200"/>
              <a:t>•  חוזרים על כללי בטיחות לפני עזיבת המפעל.</a:t>
            </a:r>
          </a:p>
          <a:p>
            <a:pPr marL="0" indent="0" algn="r" rtl="1">
              <a:buNone/>
            </a:pPr>
            <a:r>
              <a:rPr lang="he-IL" sz="1200" b="1"/>
              <a:t>טעות נפוצה</a:t>
            </a:r>
          </a:p>
          <a:p>
            <a:pPr marL="0" indent="0" algn="r" rtl="1">
              <a:buNone/>
            </a:pPr>
            <a:r>
              <a:rPr lang="he-IL" sz="1200"/>
              <a:t>•  לענות על שאלה 3 בנימוק של מחיר בלבד.</a:t>
            </a:r>
          </a:p>
          <a:p>
            <a:pPr marL="0" indent="0" algn="r" rtl="1">
              <a:buNone/>
            </a:pPr>
            <a:r>
              <a:rPr lang="he-IL" sz="1200"/>
              <a:t>•  תשובה לשאלת הבונוס: ריצה בלי שגיאה אינה הוכחה לנכונות.</a:t>
            </a:r>
          </a:p>
          <a:p>
            <a:pPr marL="0" indent="0" algn="r" rtl="1">
              <a:buNone/>
            </a:pPr>
            <a:r>
              <a:rPr lang="he-IL" sz="1200"/>
              <a:t>•  המבחן שבנינו במעבדה א׳ משווה לתוצאה שידועה מראש, ולכן תופס טעויות כמו סכימת כמות במקום הכנסה.</a:t>
            </a:r>
          </a:p>
          <a:p>
            <a:pPr marL="0" indent="0" algn="r" rtl="1">
              <a:spcBef>
                <a:spcPts val="800"/>
              </a:spcBef>
              <a:buNone/>
            </a:pPr>
            <a:r>
              <a:rPr lang="he-IL" sz="1200" b="1"/>
              <a:t>עדכון MCP</a:t>
            </a:r>
          </a:p>
          <a:p>
            <a:pPr marL="0" indent="0" algn="r" rtl="1">
              <a:buNone/>
            </a:pPr>
            <a:r>
              <a:rPr lang="he-IL" sz="1200" b="0"/>
              <a:t>•  תשובה 5 (בלוק MCP): אפשר לעקוף סינון טקסט בקוד, כמו שנראה במחברת ובמקרה של שרת Postgres של הרפרנס (Datadog, 21.8.2025).</a:t>
            </a:r>
          </a:p>
          <a:p>
            <a:pPr marL="0" indent="0" algn="r" rtl="1">
              <a:buNone/>
            </a:pPr>
            <a:r>
              <a:rPr lang="he-IL" sz="1200" b="0"/>
              <a:t>•  ההגנה החזקה היא הרשאה במסד עצמו (חשבון לקריאה בלבד, תצוגות), ועליה מוסיפים יומן ביקורת ואישור אנושי.</a:t>
            </a:r>
          </a:p>
          <a:p>
            <a:pPr marL="0" indent="0" algn="r" rtl="1">
              <a:buNone/>
            </a:pPr>
            <a:r>
              <a:rPr lang="he-IL" sz="1200" b="0"/>
              <a:t>•  אם הכיתה טעתה, חזרו לשקף 55.</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סיכום של כ־1.5 דקות.</a:t>
            </a:r>
          </a:p>
          <a:p>
            <a:pPr marL="0" indent="0" algn="r" rtl="1">
              <a:buNone/>
            </a:pPr>
            <a:r>
              <a:rPr lang="he-IL" sz="1200" b="1"/>
              <a:t>מה אומרים</a:t>
            </a:r>
          </a:p>
          <a:p>
            <a:pPr marL="0" indent="0" algn="r" rtl="1">
              <a:buNone/>
            </a:pPr>
            <a:r>
              <a:rPr lang="he-IL" sz="1200"/>
              <a:t>•  עברו על ששת הסעיפים.</a:t>
            </a:r>
          </a:p>
          <a:p>
            <a:pPr marL="0" indent="0" algn="r" rtl="1">
              <a:buNone/>
            </a:pPr>
            <a:r>
              <a:rPr lang="he-IL" sz="1200"/>
              <a:t>•  אחד: שלוש משפחות כלים, צ׳אט, עוזר בעורך וסוכן CLI, וכל אחת רואה ועושה דברים אחרים.</a:t>
            </a:r>
          </a:p>
          <a:p>
            <a:pPr marL="0" indent="0" algn="r" rtl="1">
              <a:buNone/>
            </a:pPr>
            <a:r>
              <a:rPr lang="he-IL" sz="1200"/>
              <a:t>•  שניים: כלי הוא מודל ועוד מעטפת, ולכן ההבדלים בין כלים הם לעיתים במעטפת.</a:t>
            </a:r>
          </a:p>
          <a:p>
            <a:pPr marL="0" indent="0" algn="r" rtl="1">
              <a:buNone/>
            </a:pPr>
            <a:r>
              <a:rPr lang="he-IL" sz="1200"/>
              <a:t>•  שלושה: יותר כוח לכלי, יותר אחריות לכם לבדוק, וסוכן דורש גיבוי.</a:t>
            </a:r>
          </a:p>
          <a:p>
            <a:pPr marL="0" indent="0" algn="r" rtl="1">
              <a:buNone/>
            </a:pPr>
            <a:r>
              <a:rPr lang="he-IL" sz="1200"/>
              <a:t>•  ארבעה: בוחרים לפי חמישה קריטריונים, גודל, הקשר, סיכון, פרטיות ועלות, שליטה.</a:t>
            </a:r>
          </a:p>
          <a:p>
            <a:pPr marL="0" indent="0" algn="r" rtl="1">
              <a:buNone/>
            </a:pPr>
            <a:r>
              <a:rPr lang="he-IL" sz="1200"/>
              <a:t>•  חמישה: MCP מחבר סוכן לנתונים, וההגנה האמיתית היא הרשאה במסד. שישה: כלים מתחלפים, תהליך העבודה נשאר.</a:t>
            </a:r>
          </a:p>
          <a:p>
            <a:pPr marL="0" indent="0" algn="r" rtl="1">
              <a:buNone/>
            </a:pPr>
            <a:r>
              <a:rPr lang="he-IL" sz="1200"/>
              <a:t>•  קישור לסילבוס: השוואה בין ממשקי שיחה, תוספי IDE וסוכני שורת פקודה.</a:t>
            </a:r>
          </a:p>
          <a:p>
            <a:pPr marL="0" indent="0" algn="r" rtl="1">
              <a:buNone/>
            </a:pPr>
            <a:r>
              <a:rPr lang="he-IL" sz="1200"/>
              <a:t>•  תזכורת לעובדות שעלולות להשתנות: מכסות, מחירים וזמינות, ויש לאמת.</a:t>
            </a:r>
          </a:p>
          <a:p>
            <a:pPr marL="0" indent="0" algn="r" rtl="1">
              <a:buNone/>
            </a:pPr>
            <a:r>
              <a:rPr lang="he-IL" sz="1200" b="1"/>
              <a:t>אנלוגיה</a:t>
            </a:r>
          </a:p>
          <a:p>
            <a:pPr marL="0" indent="0" algn="r" rtl="1">
              <a:buNone/>
            </a:pPr>
            <a:r>
              <a:rPr lang="he-IL" sz="1200"/>
              <a:t>•  סיכום שיעור כמו סיכום משמרת.</a:t>
            </a:r>
          </a:p>
          <a:p>
            <a:pPr marL="0" indent="0" algn="r" rtl="1">
              <a:buNone/>
            </a:pPr>
            <a:r>
              <a:rPr lang="he-IL" sz="1200"/>
              <a:t>•  שאלה לסיום: מהו המשפט שתזכרו?</a:t>
            </a:r>
          </a:p>
          <a:p>
            <a:pPr marL="0" indent="0" algn="r" rtl="1">
              <a:buNone/>
            </a:pPr>
            <a:r>
              <a:rPr lang="he-IL" sz="1200" b="1"/>
              <a:t>תשובה</a:t>
            </a:r>
          </a:p>
          <a:p>
            <a:pPr marL="0" indent="0" algn="r" rtl="1">
              <a:buNone/>
            </a:pPr>
            <a:r>
              <a:rPr lang="he-IL" sz="1200"/>
              <a:t>•  בוחרים כלי לפי המשימה והסיכון.</a:t>
            </a:r>
          </a:p>
          <a:p>
            <a:pPr marL="0" indent="0" algn="r" rtl="1">
              <a:buNone/>
            </a:pPr>
            <a:r>
              <a:rPr lang="he-IL" sz="1200"/>
              <a:t>•  שימו לב שבמפגש זה נוספו שלושה רעיונות לסיכום בעל פה, מעבר לחמשת הסעיפים בשקף: ריצה בלי שגיאה אינה הוכחה (מבחן מול ידוע מראש), הבדלים בין כלים נובעים לעיתים מהמעטפת, ותנאי הפרטיות תלויים בשכבת השימוש.</a:t>
            </a:r>
          </a:p>
          <a:p>
            <a:pPr marL="0" indent="0" algn="r" rtl="1">
              <a:buNone/>
            </a:pPr>
            <a:r>
              <a:rPr lang="he-IL" sz="1200"/>
              <a:t>•  מי שהשתמש בשקפי ההעשרה יכול להוסיף: ציוני בנצ׳מרק אינם אחריות, ומחקרי פרודוקטיביות נותנים תוצאות שונות לפי משימה וניסיון.</a:t>
            </a:r>
          </a:p>
          <a:p>
            <a:pPr marL="0" indent="0" algn="r" rtl="1">
              <a:buNone/>
            </a:pPr>
            <a:r>
              <a:rPr lang="he-IL" sz="1200"/>
              <a:t>•  חיבור לשרשרת, כדקה: הכלל של היום נוסף לשרשרת שבנינו במפגשים הקודמים.</a:t>
            </a:r>
          </a:p>
          <a:p>
            <a:pPr marL="0" indent="0" algn="r" rtl="1">
              <a:buNone/>
            </a:pPr>
            <a:r>
              <a:rPr lang="he-IL" sz="1200"/>
              <a:t>•  במפגש 1: סומכים אבל בודקים.</a:t>
            </a:r>
          </a:p>
          <a:p>
            <a:pPr marL="0" indent="0" algn="r" rtl="1">
              <a:buNone/>
            </a:pPr>
            <a:r>
              <a:rPr lang="he-IL" sz="1200"/>
              <a:t>•  במפגש 2: המודל רואה רק את חלון ההקשר, ולכן הוא לא מכיר את מה שלא הכנסתם.</a:t>
            </a:r>
          </a:p>
          <a:p>
            <a:pPr marL="0" indent="0" algn="r" rtl="1">
              <a:buNone/>
            </a:pPr>
            <a:r>
              <a:rPr lang="he-IL" sz="1200"/>
              <a:t>•  בנושאי מפגשים 3 ו־4, לפי הסילבוס: פרומפט טוב והקשר מנוהל.</a:t>
            </a:r>
          </a:p>
          <a:p>
            <a:pPr marL="0" indent="0" algn="r" rtl="1">
              <a:buNone/>
            </a:pPr>
            <a:r>
              <a:rPr lang="he-IL" sz="1200"/>
              <a:t>•  היום נוספה השאלה איזה כלי מתאים לאיזו משימה, ותמיד עם בדיקה.</a:t>
            </a:r>
          </a:p>
          <a:p>
            <a:pPr marL="0" indent="0" algn="r" rtl="1">
              <a:buNone/>
            </a:pPr>
            <a:r>
              <a:rPr lang="he-IL" sz="1200"/>
              <a:t>•  שאלת היזכרות לסיום: ״איזה כלל מכל מפגש תקחו איתכם?״ תשובות אפשריות: בודקים, ההקשר מוגבל, בוחרים לפי משימה וסיכון.</a:t>
            </a:r>
          </a:p>
          <a:p>
            <a:pPr marL="0" indent="0" algn="r" rtl="1">
              <a:buNone/>
            </a:pPr>
            <a:r>
              <a:rPr lang="he-IL" sz="1200"/>
              <a:t>•  אם הכיתה לא זוכרת, חזרו לשקף ״במפגשים הקודמים״ בפתיחה והראו את ארבע השורות.</a:t>
            </a:r>
          </a:p>
          <a:p>
            <a:pPr marL="0" indent="0" algn="r" rtl="1">
              <a:spcBef>
                <a:spcPts val="800"/>
              </a:spcBef>
              <a:buNone/>
            </a:pPr>
            <a:r>
              <a:rPr lang="he-IL" sz="1200" b="1"/>
              <a:t>עדכון MCP</a:t>
            </a:r>
          </a:p>
          <a:p>
            <a:pPr marL="0" indent="0" algn="r" rtl="1">
              <a:buNone/>
            </a:pPr>
            <a:r>
              <a:rPr lang="he-IL" sz="1200" b="0"/>
              <a:t>•  הסעיף החדש, מספר חמש, הוא על MCP: MCP הוא תקן שמחבר סוכן למקורות נתונים וכלים.</a:t>
            </a:r>
          </a:p>
          <a:p>
            <a:pPr marL="0" indent="0" algn="r" rtl="1">
              <a:buNone/>
            </a:pPr>
            <a:r>
              <a:rPr lang="he-IL" sz="1200" b="0"/>
              <a:t>•  ההגנה האמיתית היא הרשאה מינימלית במקור (חשבון לקריאה בלבד), ועליה יומן ביקורת ואישור אנושי.</a:t>
            </a:r>
          </a:p>
          <a:p>
            <a:pPr marL="0" indent="0" algn="r" rtl="1">
              <a:buNone/>
            </a:pPr>
            <a:r>
              <a:rPr lang="he-IL" sz="1200" b="0"/>
              <a:t>•  הכלל מתחבר לשרשרת: בודקים (1), ההקשר מוגבל (2), סוכנים ואישורים (6), SQL ו־JOIN (7), הזרקות ואבטחה (10), פרטיות וחוק (12).</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pPr marL="0" indent="0" algn="r" rtl="1">
              <a:buNone/>
            </a:pPr>
            <a:r>
              <a:rPr lang="he-IL" sz="1300" b="1"/>
              <a:t>הכנה למפגש הבא, כדקה, שקף מעבר.</a:t>
            </a:r>
          </a:p>
          <a:p>
            <a:pPr marL="0" indent="0" algn="r" rtl="1">
              <a:buNone/>
            </a:pPr>
            <a:r>
              <a:rPr lang="he-IL" sz="1200" b="1"/>
              <a:t>מה אומרים</a:t>
            </a:r>
          </a:p>
          <a:p>
            <a:pPr marL="0" indent="0" algn="r" rtl="1">
              <a:buNone/>
            </a:pPr>
            <a:r>
              <a:rPr lang="he-IL" sz="1200"/>
              <a:t>•  שלוש משימות לבית: לצפות בסרטון Git של 10 דקות, לוודא שחשבון GitHub פעיל ושהמאגר הקבוצתי קיים, ולהגיע עם מחשב טעון ועם Colab שנפתח.</a:t>
            </a:r>
          </a:p>
          <a:p>
            <a:pPr marL="0" indent="0" algn="r" rtl="1">
              <a:buNone/>
            </a:pPr>
            <a:r>
              <a:rPr lang="he-IL" sz="1200"/>
              <a:t>•  התיבה הכחולה: בשיעור הבא בוחן אמצע על מפגשים 1 עד 5, ואחריו תכנות אג׳נטי ו-Git.</a:t>
            </a:r>
          </a:p>
          <a:p>
            <a:pPr marL="0" indent="0" algn="r" rtl="1">
              <a:buNone/>
            </a:pPr>
            <a:r>
              <a:rPr lang="he-IL" sz="1200"/>
              <a:t>•  יש לאמת את מועד הבוחן מול לוח הזמנים של הקורס.</a:t>
            </a:r>
          </a:p>
          <a:p>
            <a:pPr marL="0" indent="0" algn="r" rtl="1">
              <a:buNone/>
            </a:pPr>
            <a:r>
              <a:rPr lang="he-IL" sz="1200"/>
              <a:t>•  חזרו על הכלל של היום: בוחרים כלי לפי המשימה והסיכון.</a:t>
            </a:r>
          </a:p>
          <a:p>
            <a:pPr marL="0" indent="0" algn="r" rtl="1">
              <a:buNone/>
            </a:pPr>
            <a:r>
              <a:rPr lang="he-IL" sz="1200"/>
              <a:t>•  הזכירו שחידון הסיום משמש כבנק שאלות לבוחן.</a:t>
            </a:r>
          </a:p>
          <a:p>
            <a:pPr marL="0" indent="0" algn="r" rtl="1">
              <a:buNone/>
            </a:pPr>
            <a:r>
              <a:rPr lang="he-IL" sz="1200" b="1"/>
              <a:t>אנלוגיה</a:t>
            </a:r>
          </a:p>
          <a:p>
            <a:pPr marL="0" indent="0" algn="r" rtl="1">
              <a:buNone/>
            </a:pPr>
            <a:r>
              <a:rPr lang="he-IL" sz="1200"/>
              <a:t>•  הכנה לפני ביקור במפעל, בודקים ציוד מראש.</a:t>
            </a:r>
          </a:p>
          <a:p>
            <a:pPr marL="0" indent="0" algn="r" rtl="1">
              <a:buNone/>
            </a:pPr>
            <a:r>
              <a:rPr lang="he-IL" sz="1200" b="1"/>
              <a:t>שאלה לכיתה</a:t>
            </a:r>
          </a:p>
          <a:p>
            <a:pPr marL="0" indent="0" algn="r" rtl="1">
              <a:buNone/>
            </a:pPr>
            <a:r>
              <a:rPr lang="he-IL" sz="1200"/>
              <a:t>•  מה עושים אם Colab לא נפתח?</a:t>
            </a:r>
          </a:p>
          <a:p>
            <a:pPr marL="0" indent="0" algn="r" rtl="1">
              <a:buNone/>
            </a:pPr>
            <a:r>
              <a:rPr lang="he-IL" sz="1200" b="1"/>
              <a:t>תשובה</a:t>
            </a:r>
          </a:p>
          <a:p>
            <a:pPr marL="0" indent="0" algn="r" rtl="1">
              <a:buNone/>
            </a:pPr>
            <a:r>
              <a:rPr lang="he-IL" sz="1200"/>
              <a:t>•  לפנות לפני השיעור, ולא להמתין לרגע האחרון.</a:t>
            </a:r>
          </a:p>
          <a:p>
            <a:pPr marL="0" indent="0" algn="r" rtl="1">
              <a:buNone/>
            </a:pPr>
            <a:r>
              <a:rPr lang="he-IL" sz="1200"/>
              <a:t>•  תודה וסיום.</a:t>
            </a:r>
          </a:p>
          <a:p>
            <a:pPr marL="0" indent="0" algn="r" rtl="1">
              <a:buNone/>
            </a:pPr>
            <a:r>
              <a:rPr lang="he-IL" sz="1200"/>
              <a:t>•  קדימה, כדקה: מה שהתחלנו היום נמשך.</a:t>
            </a:r>
          </a:p>
          <a:p>
            <a:pPr marL="0" indent="0" algn="r" rtl="1">
              <a:buNone/>
            </a:pPr>
            <a:r>
              <a:rPr lang="he-IL" sz="1200"/>
              <a:t>•  הכלל ״גיבוי לפני סוכן״ שעלה בחלק ב׳ הופך במפגש 6 ל־Git: commit לפני שנותנים לסוכן לעבוד, וקריאת diff אחרי.</a:t>
            </a:r>
          </a:p>
          <a:p>
            <a:pPr marL="0" indent="0" algn="r" rtl="1">
              <a:buNone/>
            </a:pPr>
            <a:r>
              <a:rPr lang="he-IL" sz="1200"/>
              <a:t>•  סולם האוטונומיה שהוצג היום בקצרה יורחב שם, יחד עם הלולאה plan-act-observe.</a:t>
            </a:r>
          </a:p>
          <a:p>
            <a:pPr marL="0" indent="0" algn="r" rtl="1">
              <a:buNone/>
            </a:pPr>
            <a:r>
              <a:rPr lang="he-IL" sz="1200"/>
              <a:t>•  יומן AI_LOG והמאגר הקבוצתי הם התשתית של הפרויקט לאורך הקורס.</a:t>
            </a:r>
          </a:p>
          <a:p>
            <a:pPr marL="0" indent="0" algn="r" rtl="1">
              <a:buNone/>
            </a:pPr>
            <a:r>
              <a:rPr lang="he-IL" sz="1200" b="1"/>
              <a:t>שאלה לכיתה</a:t>
            </a:r>
          </a:p>
          <a:p>
            <a:pPr marL="0" indent="0" algn="r" rtl="1">
              <a:buNone/>
            </a:pPr>
            <a:r>
              <a:rPr lang="he-IL" sz="1200"/>
              <a:t>•  איזו בעיה מהיום Git פותר?</a:t>
            </a:r>
          </a:p>
          <a:p>
            <a:pPr marL="0" indent="0" algn="r" rtl="1">
              <a:buNone/>
            </a:pPr>
            <a:r>
              <a:rPr lang="he-IL" sz="1200" b="1"/>
              <a:t>תשובה</a:t>
            </a:r>
          </a:p>
          <a:p>
            <a:pPr marL="0" indent="0" algn="r" rtl="1">
              <a:buNone/>
            </a:pPr>
            <a:r>
              <a:rPr lang="he-IL" sz="1200"/>
              <a:t>•  סוכן שמוחק או משנה קבצים בשוגג, ואין דרך לחזור אחורה.</a:t>
            </a:r>
          </a:p>
          <a:p>
            <a:pPr marL="0" indent="0" algn="r" rtl="1">
              <a:buNone/>
            </a:pPr>
            <a:r>
              <a:rPr lang="he-IL" sz="1200"/>
              <a:t>•  אם הכיתה לא זוכרת, חזרו לשקף ״מה יכול להשתבש״.</a:t>
            </a:r>
          </a:p>
          <a:p>
            <a:pPr marL="0" indent="0" algn="r" rtl="1">
              <a:spcBef>
                <a:spcPts val="800"/>
              </a:spcBef>
              <a:buNone/>
            </a:pPr>
            <a:r>
              <a:rPr lang="he-IL" sz="1200" b="1"/>
              <a:t>סרטונים לצפייה (קישורים מלאים)</a:t>
            </a:r>
          </a:p>
          <a:p>
            <a:pPr marL="0" indent="0" algn="r" rtl="1">
              <a:buNone/>
            </a:pPr>
            <a:r>
              <a:rPr lang="he-IL" sz="1200" b="0"/>
              <a:t>•  באנגלית, 9 דקות: A brief introduction to Git for beginners, ערוץ GitHub הרשמי: https://www.youtube.com/watch?v=r8jQ9hVA2qs</a:t>
            </a:r>
          </a:p>
          <a:p>
            <a:pPr marL="0" indent="0" algn="r" rtl="1">
              <a:buNone/>
            </a:pPr>
            <a:r>
              <a:rPr lang="he-IL" sz="1200" b="0"/>
              <a:t>•  בעברית, 20 דקות: להבין גיט וגיטהאב ולהתחיל לעבוד, ערוץ עידן והבינה: https://www.youtube.com/watch?v=7L9VP1E5CU4</a:t>
            </a:r>
          </a:p>
          <a:p>
            <a:pPr marL="0" indent="0" algn="r" rtl="1">
              <a:buNone/>
            </a:pPr>
            <a:r>
              <a:rPr lang="he-IL" sz="1200" b="0"/>
              <a:t>•  להעמקה, 2:48 דקות: Learn Git Worktrees in Under 3 Minutes, ערוץ KodeKloud (Short): https://www.youtube.com/shorts/efVKPUr9D1A. נושא מתקדם יותר: ענפים במקביל בתיקיות נפרדות, שימושי כשמריצים כמה סוכנים במקביל.</a:t>
            </a:r>
          </a:p>
          <a:p>
            <a:pPr marL="0" indent="0" algn="r" rtl="1">
              <a:buNone/>
            </a:pPr>
            <a:r>
              <a:rPr lang="he-IL" sz="1200" b="0"/>
              <a:t>•  אומת ביוטיוב: כותרת, ערוץ, אורך ותאריך פרסום. התוכן עצמו לא נבדק בצפייה מלאה: כדאי לצפות לפני ההפצה, ולהחליף אם הסרטון לא מתאים לרמת הכיתה.</a:t>
            </a:r>
          </a:p>
          <a:p>
            <a:pPr marL="0" indent="0" algn="r" rtl="1">
              <a:buNone/>
            </a:pPr>
            <a:r>
              <a:rPr lang="he-IL" sz="1200" b="0"/>
              <a:t>•  הזכירו שהקישורים לחיצים בתצוגת המצגת; במצגת מודפסת הכתובת הקצרה מופיעה בשקף.</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hyperlink" Target="https://www.youtube.com/watch?v=r8jQ9hVA2qs" TargetMode="External"/><Relationship Id="rId4" Type="http://schemas.openxmlformats.org/officeDocument/2006/relationships/hyperlink" Target="https://www.youtube.com/watch?v=7L9VP1E5CU4" TargetMode="External"/><Relationship Id="rId5" Type="http://schemas.openxmlformats.org/officeDocument/2006/relationships/hyperlink" Target="https://www.youtube.com/shorts/efVKPUr9D1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שיעור 5</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457200" y="1737360"/>
            <a:ext cx="8229600" cy="228600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3600" b="1" i="0">
                <a:solidFill>
                  <a:srgbClr val="212121"/>
                </a:solidFill>
              </a:rPr>
              <a:t>אותה בקשה, שלושה כלים.</a:t>
            </a:r>
          </a:p>
          <a:p>
            <a:pPr marL="0" indent="0" algn="ctr" rtl="1">
              <a:lnSpc>
                <a:spcPct val="110000"/>
              </a:lnSpc>
              <a:spcBef>
                <a:spcPts val="0"/>
              </a:spcBef>
              <a:spcAft>
                <a:spcPts val="0"/>
              </a:spcAft>
              <a:buNone/>
            </a:pPr>
            <a:r>
              <a:rPr lang="he-IL" sz="3600" b="0" i="0">
                <a:solidFill>
                  <a:srgbClr val="4285F4"/>
                </a:solidFill>
              </a:rPr>
              <a:t>האם התוצאה תהיה זהה?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a:t>
            </a:r>
            <a:r>
              <a:rPr lang="he-IL" sz="3000" b="1" i="0">
                <a:solidFill>
                  <a:srgbClr val="212121"/>
                </a:solidFill>
              </a:rPr>
              <a:t>הדגמה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298448"/>
            <a:ext cx="8412480" cy="45720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1" i="0">
                <a:solidFill>
                  <a:srgbClr val="212121"/>
                </a:solidFill>
              </a:rPr>
              <a:t>הבקשה (זהה בשלושת הכלים):</a:t>
            </a:r>
          </a:p>
        </p:txBody>
      </p:sp>
      <p:sp>
        <p:nvSpPr>
          <p:cNvPr id="6" name="Rounded Rectangle 5"/>
          <p:cNvSpPr/>
          <p:nvPr/>
        </p:nvSpPr>
        <p:spPr>
          <a:xfrm>
            <a:off x="640080" y="1755648"/>
            <a:ext cx="7863840" cy="713232"/>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000" b="1" i="0">
                <a:solidFill>
                  <a:srgbClr val="212121"/>
                </a:solidFill>
              </a:rPr>
              <a:t>מצא את 5 המוצרים עם ההכנסה הגבוהה ביותר בקובץ orders.csv, והצג אותם בגרף</a:t>
            </a:r>
          </a:p>
        </p:txBody>
      </p:sp>
      <p:cxnSp>
        <p:nvCxnSpPr>
          <p:cNvPr id="7" name="Connector 6"/>
          <p:cNvCxnSpPr/>
          <p:nvPr/>
        </p:nvCxnSpPr>
        <p:spPr>
          <a:xfrm>
            <a:off x="4572000" y="2487168"/>
            <a:ext cx="2834640" cy="576072"/>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172200" y="3063240"/>
            <a:ext cx="2468880" cy="82296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200" b="1" i="0">
                <a:solidFill>
                  <a:srgbClr val="212121"/>
                </a:solidFill>
              </a:rPr>
              <a:t>💬  צ׳אט</a:t>
            </a:r>
          </a:p>
        </p:txBody>
      </p:sp>
      <p:sp>
        <p:nvSpPr>
          <p:cNvPr id="9" name="Rounded Rectangle 8"/>
          <p:cNvSpPr/>
          <p:nvPr/>
        </p:nvSpPr>
        <p:spPr>
          <a:xfrm>
            <a:off x="6492240" y="4160520"/>
            <a:ext cx="1828800" cy="685800"/>
          </a:xfrm>
          <a:prstGeom prst="roundRect">
            <a:avLst>
              <a:gd name="adj" fmla="val 12000"/>
            </a:avLst>
          </a:prstGeom>
          <a:solidFill>
            <a:srgbClr val="FFFFFF"/>
          </a:solidFill>
          <a:ln w="19050">
            <a:solidFill>
              <a:srgbClr val="78909C"/>
            </a:solidFill>
            <a:prstDash val="dash"/>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3400" b="1" i="0">
                <a:solidFill>
                  <a:srgbClr val="78909C"/>
                </a:solidFill>
              </a:rPr>
              <a:t>?</a:t>
            </a:r>
          </a:p>
        </p:txBody>
      </p:sp>
      <p:cxnSp>
        <p:nvCxnSpPr>
          <p:cNvPr id="10" name="Connector 9"/>
          <p:cNvCxnSpPr/>
          <p:nvPr/>
        </p:nvCxnSpPr>
        <p:spPr>
          <a:xfrm>
            <a:off x="7406640" y="3904487"/>
            <a:ext cx="0" cy="237745"/>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2487168"/>
            <a:ext cx="0" cy="576072"/>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37560" y="3063240"/>
            <a:ext cx="2468880" cy="82296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200" b="1" i="0">
                <a:solidFill>
                  <a:srgbClr val="212121"/>
                </a:solidFill>
              </a:rPr>
              <a:t>✏️  עוזר בעורך</a:t>
            </a:r>
          </a:p>
        </p:txBody>
      </p:sp>
      <p:sp>
        <p:nvSpPr>
          <p:cNvPr id="13" name="Rounded Rectangle 12"/>
          <p:cNvSpPr/>
          <p:nvPr/>
        </p:nvSpPr>
        <p:spPr>
          <a:xfrm>
            <a:off x="3657600" y="4160520"/>
            <a:ext cx="1828800" cy="685800"/>
          </a:xfrm>
          <a:prstGeom prst="roundRect">
            <a:avLst>
              <a:gd name="adj" fmla="val 12000"/>
            </a:avLst>
          </a:prstGeom>
          <a:solidFill>
            <a:srgbClr val="FFFFFF"/>
          </a:solidFill>
          <a:ln w="19050">
            <a:solidFill>
              <a:srgbClr val="78909C"/>
            </a:solidFill>
            <a:prstDash val="dash"/>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3400" b="1" i="0">
                <a:solidFill>
                  <a:srgbClr val="78909C"/>
                </a:solidFill>
              </a:rPr>
              <a:t>?</a:t>
            </a:r>
          </a:p>
        </p:txBody>
      </p:sp>
      <p:cxnSp>
        <p:nvCxnSpPr>
          <p:cNvPr id="14" name="Connector 13"/>
          <p:cNvCxnSpPr/>
          <p:nvPr/>
        </p:nvCxnSpPr>
        <p:spPr>
          <a:xfrm>
            <a:off x="4572000" y="3904487"/>
            <a:ext cx="0" cy="237745"/>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737360" y="2487168"/>
            <a:ext cx="2834640" cy="576072"/>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2920" y="3063240"/>
            <a:ext cx="2468880" cy="82296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200" b="1" i="0">
                <a:solidFill>
                  <a:srgbClr val="212121"/>
                </a:solidFill>
              </a:rPr>
              <a:t>🤖  סוכן</a:t>
            </a:r>
          </a:p>
        </p:txBody>
      </p:sp>
      <p:sp>
        <p:nvSpPr>
          <p:cNvPr id="17" name="Rounded Rectangle 16"/>
          <p:cNvSpPr/>
          <p:nvPr/>
        </p:nvSpPr>
        <p:spPr>
          <a:xfrm>
            <a:off x="822960" y="4160520"/>
            <a:ext cx="1828800" cy="685800"/>
          </a:xfrm>
          <a:prstGeom prst="roundRect">
            <a:avLst>
              <a:gd name="adj" fmla="val 12000"/>
            </a:avLst>
          </a:prstGeom>
          <a:solidFill>
            <a:srgbClr val="FFFFFF"/>
          </a:solidFill>
          <a:ln w="19050">
            <a:solidFill>
              <a:srgbClr val="78909C"/>
            </a:solidFill>
            <a:prstDash val="dash"/>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3400" b="1" i="0">
                <a:solidFill>
                  <a:srgbClr val="78909C"/>
                </a:solidFill>
              </a:rPr>
              <a:t>?</a:t>
            </a:r>
          </a:p>
        </p:txBody>
      </p:sp>
      <p:cxnSp>
        <p:nvCxnSpPr>
          <p:cNvPr id="18" name="Connector 17"/>
          <p:cNvCxnSpPr/>
          <p:nvPr/>
        </p:nvCxnSpPr>
        <p:spPr>
          <a:xfrm>
            <a:off x="1737360" y="3904487"/>
            <a:ext cx="0" cy="237745"/>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a:t>
            </a:r>
            <a:r>
              <a:rPr lang="he-IL" sz="3000" b="1" i="0">
                <a:solidFill>
                  <a:srgbClr val="212121"/>
                </a:solidFill>
              </a:rPr>
              <a:t>הדגמה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325880"/>
            <a:ext cx="841248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600" b="1" i="0">
                <a:solidFill>
                  <a:srgbClr val="212121"/>
                </a:solidFill>
              </a:rPr>
              <a:t>מה ראיתם? מה היה שונה בין שלושת הכלים?</a:t>
            </a:r>
          </a:p>
        </p:txBody>
      </p:sp>
      <p:sp>
        <p:nvSpPr>
          <p:cNvPr id="6" name="Oval 5"/>
          <p:cNvSpPr/>
          <p:nvPr/>
        </p:nvSpPr>
        <p:spPr>
          <a:xfrm>
            <a:off x="8229600" y="219456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1</a:t>
            </a:r>
          </a:p>
        </p:txBody>
      </p:sp>
      <p:sp>
        <p:nvSpPr>
          <p:cNvPr id="7" name="Rounded Rectangle 6"/>
          <p:cNvSpPr/>
          <p:nvPr/>
        </p:nvSpPr>
        <p:spPr>
          <a:xfrm>
            <a:off x="548640" y="2103120"/>
            <a:ext cx="7498079" cy="68580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r" rtl="1">
              <a:lnSpc>
                <a:spcPct val="105000"/>
              </a:lnSpc>
              <a:spcBef>
                <a:spcPts val="0"/>
              </a:spcBef>
              <a:spcAft>
                <a:spcPts val="0"/>
              </a:spcAft>
              <a:buNone/>
            </a:pPr>
            <a:r>
              <a:rPr lang="he-IL" sz="2200" b="0" i="0">
                <a:solidFill>
                  <a:srgbClr val="212121"/>
                </a:solidFill>
              </a:rPr>
              <a:t>👤  כמה פעמים נדרש להעתיק ולהדביק?</a:t>
            </a:r>
          </a:p>
        </p:txBody>
      </p:sp>
      <p:sp>
        <p:nvSpPr>
          <p:cNvPr id="8" name="Oval 7"/>
          <p:cNvSpPr/>
          <p:nvPr/>
        </p:nvSpPr>
        <p:spPr>
          <a:xfrm>
            <a:off x="8229600" y="310896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2</a:t>
            </a:r>
          </a:p>
        </p:txBody>
      </p:sp>
      <p:sp>
        <p:nvSpPr>
          <p:cNvPr id="9" name="Rounded Rectangle 8"/>
          <p:cNvSpPr/>
          <p:nvPr/>
        </p:nvSpPr>
        <p:spPr>
          <a:xfrm>
            <a:off x="548640" y="3017520"/>
            <a:ext cx="7498079" cy="68580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r" rtl="1">
              <a:lnSpc>
                <a:spcPct val="105000"/>
              </a:lnSpc>
              <a:spcBef>
                <a:spcPts val="0"/>
              </a:spcBef>
              <a:spcAft>
                <a:spcPts val="0"/>
              </a:spcAft>
              <a:buNone/>
            </a:pPr>
            <a:r>
              <a:rPr lang="he-IL" sz="2200" b="0" i="0">
                <a:solidFill>
                  <a:srgbClr val="212121"/>
                </a:solidFill>
              </a:rPr>
              <a:t>📄  איזה כלי ראה את הקובץ בעצמו?</a:t>
            </a:r>
          </a:p>
        </p:txBody>
      </p:sp>
      <p:sp>
        <p:nvSpPr>
          <p:cNvPr id="10" name="Oval 9"/>
          <p:cNvSpPr/>
          <p:nvPr/>
        </p:nvSpPr>
        <p:spPr>
          <a:xfrm>
            <a:off x="8229600" y="4023359"/>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3</a:t>
            </a:r>
          </a:p>
        </p:txBody>
      </p:sp>
      <p:sp>
        <p:nvSpPr>
          <p:cNvPr id="11" name="Rounded Rectangle 10"/>
          <p:cNvSpPr/>
          <p:nvPr/>
        </p:nvSpPr>
        <p:spPr>
          <a:xfrm>
            <a:off x="548640" y="3931920"/>
            <a:ext cx="7498079" cy="68580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r" rtl="1">
              <a:lnSpc>
                <a:spcPct val="105000"/>
              </a:lnSpc>
              <a:spcBef>
                <a:spcPts val="0"/>
              </a:spcBef>
              <a:spcAft>
                <a:spcPts val="0"/>
              </a:spcAft>
              <a:buNone/>
            </a:pPr>
            <a:r>
              <a:rPr lang="he-IL" sz="2200" b="0" i="0">
                <a:solidFill>
                  <a:srgbClr val="212121"/>
                </a:solidFill>
              </a:rPr>
              <a:t>▶️  מי הריץ את הקוד, ומי רק כתב אותו?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a:t>
            </a:r>
            <a:r>
              <a:rPr lang="he-IL" sz="3000" b="1" i="0">
                <a:solidFill>
                  <a:srgbClr val="212121"/>
                </a:solidFill>
              </a:rPr>
              <a:t>במפגשים הקודמים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463040"/>
          <a:ext cx="8412479" cy="3520000"/>
        </p:xfrm>
        <a:graphic>
          <a:graphicData uri="http://schemas.openxmlformats.org/drawingml/2006/table">
            <a:tbl>
              <a:tblPr>
                <a:tableStyleId>{2D5ABB26-0587-4C30-8999-92F81FD0307C}</a:tableStyleId>
              </a:tblPr>
              <a:tblGrid>
                <a:gridCol w="3512479">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1450000">
                  <a:extLst>
                    <a:ext uri="{9D8B030D-6E8A-4147-A177-3AD203B41FA5}">
                      <a16:colId xmlns:a16="http://schemas.microsoft.com/office/drawing/2014/main" val="20002"/>
                    </a:ext>
                  </a:extLst>
                </a:gridCol>
              </a:tblGrid>
              <a:tr h="480000">
                <a:tc>
                  <a:txBody>
                    <a:bodyPr/>
                    <a:lstStyle/>
                    <a:p>
                      <a:pPr marL="0" indent="0" algn="ctr" rtl="1">
                        <a:lnSpc>
                          <a:spcPct val="100000"/>
                        </a:lnSpc>
                        <a:spcBef>
                          <a:spcPts val="0"/>
                        </a:spcBef>
                        <a:spcAft>
                          <a:spcPts val="0"/>
                        </a:spcAft>
                        <a:buNone/>
                      </a:pPr>
                      <a:r>
                        <a:rPr lang="he-IL" sz="1600" b="1" i="0">
                          <a:solidFill>
                            <a:srgbClr val="212121"/>
                          </a:solidFill>
                        </a:rPr>
                        <a:t>איפה זה חוזר היום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600" b="1" i="0">
                          <a:solidFill>
                            <a:srgbClr val="212121"/>
                          </a:solidFill>
                        </a:rPr>
                        <a:t>מה למדנו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600" b="1" i="0">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760000">
                <a:tc>
                  <a:txBody>
                    <a:bodyPr/>
                    <a:lstStyle/>
                    <a:p>
                      <a:pPr marL="0" indent="0" algn="r" rtl="1">
                        <a:lnSpc>
                          <a:spcPct val="100000"/>
                        </a:lnSpc>
                        <a:spcBef>
                          <a:spcPts val="0"/>
                        </a:spcBef>
                        <a:spcAft>
                          <a:spcPts val="0"/>
                        </a:spcAft>
                        <a:buNone/>
                      </a:pPr>
                      <a:r>
                        <a:rPr lang="he-IL" sz="1500" b="0" i="0">
                          <a:solidFill>
                            <a:srgbClr val="212121"/>
                          </a:solidFill>
                        </a:rPr>
                        <a:t>מעבדה א׳: validate_top5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סומכים אבל בודקים: קוראים, מבינים, בודקים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tcPr>
                </a:tc>
                <a:tc>
                  <a:txBody>
                    <a:bodyPr/>
                    <a:lstStyle/>
                    <a:p>
                      <a:pPr marL="0" indent="0" algn="r" rtl="1">
                        <a:lnSpc>
                          <a:spcPct val="100000"/>
                        </a:lnSpc>
                        <a:spcBef>
                          <a:spcPts val="0"/>
                        </a:spcBef>
                        <a:spcAft>
                          <a:spcPts val="0"/>
                        </a:spcAft>
                        <a:buNone/>
                      </a:pPr>
                      <a:r>
                        <a:rPr lang="he-IL" sz="1500" b="1" i="0">
                          <a:solidFill>
                            <a:srgbClr val="212121"/>
                          </a:solidFill>
                        </a:rPr>
                        <a:t>מפגש 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760000">
                <a:tc>
                  <a:txBody>
                    <a:bodyPr/>
                    <a:lstStyle/>
                    <a:p>
                      <a:pPr marL="0" indent="0" algn="r" rtl="1">
                        <a:lnSpc>
                          <a:spcPct val="100000"/>
                        </a:lnSpc>
                        <a:spcBef>
                          <a:spcPts val="0"/>
                        </a:spcBef>
                        <a:spcAft>
                          <a:spcPts val="0"/>
                        </a:spcAft>
                        <a:buNone/>
                      </a:pPr>
                      <a:r>
                        <a:rPr lang="he-IL" sz="1500" b="0" i="0">
                          <a:solidFill>
                            <a:srgbClr val="212121"/>
                          </a:solidFill>
                        </a:rPr>
                        <a:t>״כלי = מודל + מעטפת״; חבילה מומצאת במעבדה 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המודל רואה רק את חלון ההקשר; הזיות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tcPr>
                </a:tc>
                <a:tc>
                  <a:txBody>
                    <a:bodyPr/>
                    <a:lstStyle/>
                    <a:p>
                      <a:pPr marL="0" indent="0" algn="r" rtl="1">
                        <a:lnSpc>
                          <a:spcPct val="100000"/>
                        </a:lnSpc>
                        <a:spcBef>
                          <a:spcPts val="0"/>
                        </a:spcBef>
                        <a:spcAft>
                          <a:spcPts val="0"/>
                        </a:spcAft>
                        <a:buNone/>
                      </a:pPr>
                      <a:r>
                        <a:rPr lang="he-IL" sz="1500" b="1" i="0">
                          <a:solidFill>
                            <a:srgbClr val="212121"/>
                          </a:solidFill>
                        </a:rPr>
                        <a:t>מפגש 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760000">
                <a:tc>
                  <a:txBody>
                    <a:bodyPr/>
                    <a:lstStyle/>
                    <a:p>
                      <a:pPr marL="0" indent="0" algn="r" rtl="1">
                        <a:lnSpc>
                          <a:spcPct val="100000"/>
                        </a:lnSpc>
                        <a:spcBef>
                          <a:spcPts val="0"/>
                        </a:spcBef>
                        <a:spcAft>
                          <a:spcPts val="0"/>
                        </a:spcAft>
                        <a:buNone/>
                      </a:pPr>
                      <a:r>
                        <a:rPr lang="he-IL" sz="1500" b="0" i="0">
                          <a:solidFill>
                            <a:srgbClr val="212121"/>
                          </a:solidFill>
                        </a:rPr>
                        <a:t>ההדגמה: אותו פרומפט, שלושה כלים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לפי הסילבוס: מבנה פרומפט אפקטיבי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tcPr>
                </a:tc>
                <a:tc>
                  <a:txBody>
                    <a:bodyPr/>
                    <a:lstStyle/>
                    <a:p>
                      <a:pPr marL="0" indent="0" algn="r" rtl="1">
                        <a:lnSpc>
                          <a:spcPct val="100000"/>
                        </a:lnSpc>
                        <a:spcBef>
                          <a:spcPts val="0"/>
                        </a:spcBef>
                        <a:spcAft>
                          <a:spcPts val="0"/>
                        </a:spcAft>
                        <a:buNone/>
                      </a:pPr>
                      <a:r>
                        <a:rPr lang="he-IL" sz="1500" b="1" i="0">
                          <a:solidFill>
                            <a:srgbClr val="212121"/>
                          </a:solidFill>
                        </a:rPr>
                        <a:t>מפגש 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r h="760000">
                <a:tc>
                  <a:txBody>
                    <a:bodyPr/>
                    <a:lstStyle/>
                    <a:p>
                      <a:pPr marL="0" indent="0" algn="r" rtl="1">
                        <a:lnSpc>
                          <a:spcPct val="100000"/>
                        </a:lnSpc>
                        <a:spcBef>
                          <a:spcPts val="0"/>
                        </a:spcBef>
                        <a:spcAft>
                          <a:spcPts val="0"/>
                        </a:spcAft>
                        <a:buNone/>
                      </a:pPr>
                      <a:r>
                        <a:rPr lang="he-IL" sz="1500" b="0" i="0">
                          <a:solidFill>
                            <a:srgbClr val="212121"/>
                          </a:solidFill>
                        </a:rPr>
                        <a:t>בצ׳אט אתם בונים את החלון, בסוכן הכלי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לפי הסילבוס: ניהול הקשר בפרויקט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tcPr>
                </a:tc>
                <a:tc>
                  <a:txBody>
                    <a:bodyPr/>
                    <a:lstStyle/>
                    <a:p>
                      <a:pPr marL="0" indent="0" algn="r" rtl="1">
                        <a:lnSpc>
                          <a:spcPct val="100000"/>
                        </a:lnSpc>
                        <a:spcBef>
                          <a:spcPts val="0"/>
                        </a:spcBef>
                        <a:spcAft>
                          <a:spcPts val="0"/>
                        </a:spcAft>
                        <a:buNone/>
                      </a:pPr>
                      <a:r>
                        <a:rPr lang="he-IL" sz="1500" b="1" i="0">
                          <a:solidFill>
                            <a:srgbClr val="212121"/>
                          </a:solidFill>
                        </a:rPr>
                        <a:t>מפגש 4</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a:t>
            </a:r>
            <a:r>
              <a:rPr lang="he-IL" sz="3000" b="1" i="0">
                <a:solidFill>
                  <a:srgbClr val="212121"/>
                </a:solidFill>
              </a:rPr>
              <a:t>השאלה של היום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298448"/>
            <a:ext cx="8412480" cy="82296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400" b="1" i="0">
                <a:solidFill>
                  <a:srgbClr val="212121"/>
                </a:solidFill>
              </a:rPr>
              <a:t>מפגשים 2 ו־4: המודל רואה רק את חלון ההקשר.</a:t>
            </a:r>
          </a:p>
          <a:p>
            <a:pPr marL="0" indent="0" algn="r" rtl="1">
              <a:lnSpc>
                <a:spcPct val="110000"/>
              </a:lnSpc>
              <a:spcBef>
                <a:spcPts val="0"/>
              </a:spcBef>
              <a:spcAft>
                <a:spcPts val="0"/>
              </a:spcAft>
              <a:buNone/>
            </a:pPr>
            <a:r>
              <a:rPr lang="he-IL" sz="2200" b="0" i="0">
                <a:solidFill>
                  <a:srgbClr val="212121"/>
                </a:solidFill>
              </a:rPr>
              <a:t>השאלה של היום: </a:t>
            </a:r>
            <a:r>
              <a:rPr lang="he-IL" sz="2200" b="1" i="0">
                <a:solidFill>
                  <a:srgbClr val="212121"/>
                </a:solidFill>
              </a:rPr>
              <a:t>מי מחליט</a:t>
            </a:r>
            <a:r>
              <a:rPr lang="he-IL" sz="2200" b="0" i="0">
                <a:solidFill>
                  <a:srgbClr val="212121"/>
                </a:solidFill>
              </a:rPr>
              <a:t> מה נכנס לשם, ומה הכלי </a:t>
            </a:r>
            <a:r>
              <a:rPr lang="he-IL" sz="2200" b="1" i="0">
                <a:solidFill>
                  <a:srgbClr val="212121"/>
                </a:solidFill>
              </a:rPr>
              <a:t>יכול לעשות</a:t>
            </a:r>
            <a:r>
              <a:rPr lang="he-IL" sz="2200" b="0" i="0">
                <a:solidFill>
                  <a:srgbClr val="212121"/>
                </a:solidFill>
              </a:rPr>
              <a:t>?</a:t>
            </a:r>
          </a:p>
        </p:txBody>
      </p:sp>
      <p:sp>
        <p:nvSpPr>
          <p:cNvPr id="6" name="Rounded Rectangle 5"/>
          <p:cNvSpPr/>
          <p:nvPr/>
        </p:nvSpPr>
        <p:spPr>
          <a:xfrm>
            <a:off x="822960" y="2331720"/>
            <a:ext cx="5120640" cy="2606040"/>
          </a:xfrm>
          <a:prstGeom prst="roundRect">
            <a:avLst>
              <a:gd name="adj" fmla="val 6000"/>
            </a:avLst>
          </a:prstGeom>
          <a:solidFill>
            <a:srgbClr val="FFF0D9"/>
          </a:solidFill>
          <a:ln w="38100">
            <a:solidFill>
              <a:srgbClr val="FFAB40"/>
            </a:solidFill>
          </a:ln>
        </p:spPr>
        <p:txBody>
          <a:bodyPr wrap="square" lIns="73152" tIns="73152" rIns="73152" bIns="73152" rtlCol="0" anchor="ctr">
            <a:noAutofit/>
          </a:bodyPr>
          <a:lstStyle/>
          <a:p>
            <a:pPr algn="ctr"/>
            <a:endParaRPr/>
          </a:p>
        </p:txBody>
      </p:sp>
      <p:sp>
        <p:nvSpPr>
          <p:cNvPr id="7" name="TextBox 6"/>
          <p:cNvSpPr txBox="1"/>
          <p:nvPr/>
        </p:nvSpPr>
        <p:spPr>
          <a:xfrm>
            <a:off x="822960" y="2359152"/>
            <a:ext cx="512064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1" i="0">
                <a:solidFill>
                  <a:srgbClr val="595959"/>
                </a:solidFill>
              </a:rPr>
              <a:t>חלון ההקשר (מפגש 2)</a:t>
            </a:r>
          </a:p>
        </p:txBody>
      </p:sp>
      <p:sp>
        <p:nvSpPr>
          <p:cNvPr id="8" name="Rounded Rectangle 7"/>
          <p:cNvSpPr/>
          <p:nvPr/>
        </p:nvSpPr>
        <p:spPr>
          <a:xfrm>
            <a:off x="1097280" y="2743200"/>
            <a:ext cx="4572000" cy="438912"/>
          </a:xfrm>
          <a:prstGeom prst="roundRect">
            <a:avLst>
              <a:gd name="adj" fmla="val 12000"/>
            </a:avLst>
          </a:prstGeom>
          <a:solidFill>
            <a:srgbClr val="FFFFFF"/>
          </a:solidFill>
          <a:ln w="19050">
            <a:solidFill>
              <a:srgbClr val="78909C"/>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הוראות מערכת של הכלי</a:t>
            </a:r>
          </a:p>
        </p:txBody>
      </p:sp>
      <p:sp>
        <p:nvSpPr>
          <p:cNvPr id="9" name="Rounded Rectangle 8"/>
          <p:cNvSpPr/>
          <p:nvPr/>
        </p:nvSpPr>
        <p:spPr>
          <a:xfrm>
            <a:off x="1097280" y="3273552"/>
            <a:ext cx="4572000" cy="438912"/>
          </a:xfrm>
          <a:prstGeom prst="roundRect">
            <a:avLst>
              <a:gd name="adj" fmla="val 12000"/>
            </a:avLst>
          </a:prstGeom>
          <a:solidFill>
            <a:srgbClr val="FFFF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השיחה עד כה</a:t>
            </a:r>
          </a:p>
        </p:txBody>
      </p:sp>
      <p:sp>
        <p:nvSpPr>
          <p:cNvPr id="10" name="Rounded Rectangle 9"/>
          <p:cNvSpPr/>
          <p:nvPr/>
        </p:nvSpPr>
        <p:spPr>
          <a:xfrm>
            <a:off x="1097280" y="3803904"/>
            <a:ext cx="4572000" cy="438912"/>
          </a:xfrm>
          <a:prstGeom prst="roundRect">
            <a:avLst>
              <a:gd name="adj" fmla="val 12000"/>
            </a:avLst>
          </a:prstGeom>
          <a:solidFill>
            <a:srgbClr val="FFFFFF"/>
          </a:solidFill>
          <a:ln w="19050">
            <a:solidFill>
              <a:srgbClr val="0097A7"/>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קבצים וקוד</a:t>
            </a:r>
          </a:p>
        </p:txBody>
      </p:sp>
      <p:sp>
        <p:nvSpPr>
          <p:cNvPr id="11" name="Rounded Rectangle 10"/>
          <p:cNvSpPr/>
          <p:nvPr/>
        </p:nvSpPr>
        <p:spPr>
          <a:xfrm>
            <a:off x="1097280" y="4334256"/>
            <a:ext cx="4572000" cy="438912"/>
          </a:xfrm>
          <a:prstGeom prst="roundRect">
            <a:avLst>
              <a:gd name="adj" fmla="val 12000"/>
            </a:avLst>
          </a:prstGeom>
          <a:solidFill>
            <a:srgbClr val="FFFF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הבקשה שלכם עכשיו</a:t>
            </a:r>
          </a:p>
        </p:txBody>
      </p:sp>
      <p:sp>
        <p:nvSpPr>
          <p:cNvPr id="12" name="Rounded Rectangle 11"/>
          <p:cNvSpPr/>
          <p:nvPr/>
        </p:nvSpPr>
        <p:spPr>
          <a:xfrm>
            <a:off x="6400800" y="3017520"/>
            <a:ext cx="2103120" cy="822960"/>
          </a:xfrm>
          <a:prstGeom prst="roundRect">
            <a:avLst>
              <a:gd name="adj" fmla="val 12000"/>
            </a:avLst>
          </a:prstGeom>
          <a:solidFill>
            <a:srgbClr val="FFAB40"/>
          </a:solidFill>
          <a:ln>
            <a:no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200" b="1" i="0">
                <a:solidFill>
                  <a:srgbClr val="212121"/>
                </a:solidFill>
              </a:rPr>
              <a:t>🧠 המודל</a:t>
            </a:r>
          </a:p>
        </p:txBody>
      </p:sp>
      <p:cxnSp>
        <p:nvCxnSpPr>
          <p:cNvPr id="13" name="Connector 12"/>
          <p:cNvCxnSpPr/>
          <p:nvPr/>
        </p:nvCxnSpPr>
        <p:spPr>
          <a:xfrm>
            <a:off x="5989320" y="3429000"/>
            <a:ext cx="393192"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126480" y="3931920"/>
            <a:ext cx="265176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595959"/>
                </a:solidFill>
              </a:rPr>
              <a:t>כל כלי בונה את החלון אחרת</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a:t>
            </a:r>
            <a:r>
              <a:rPr lang="he-IL" sz="3000" b="1" i="0">
                <a:solidFill>
                  <a:srgbClr val="212121"/>
                </a:solidFill>
              </a:rPr>
              <a:t>מטרות המפגש</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Oval 4"/>
          <p:cNvSpPr/>
          <p:nvPr/>
        </p:nvSpPr>
        <p:spPr>
          <a:xfrm>
            <a:off x="8229600" y="1386000"/>
            <a:ext cx="457200" cy="4572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2000" b="1" i="0">
                <a:solidFill>
                  <a:srgbClr val="FFFFFF"/>
                </a:solidFill>
              </a:rPr>
              <a:t>1</a:t>
            </a:r>
          </a:p>
        </p:txBody>
      </p:sp>
      <p:sp>
        <p:nvSpPr>
          <p:cNvPr id="6" name="TextBox 5"/>
          <p:cNvSpPr txBox="1"/>
          <p:nvPr/>
        </p:nvSpPr>
        <p:spPr>
          <a:xfrm>
            <a:off x="365760" y="1278000"/>
            <a:ext cx="7726679"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2000" b="0" i="0">
                <a:solidFill>
                  <a:srgbClr val="212121"/>
                </a:solidFill>
              </a:rPr>
              <a:t>להבחין בין שלוש משפחות של כלים: צ׳אט, עוזר בעורך (IDE) וסוכן שורת פקודה (CLI).</a:t>
            </a:r>
          </a:p>
        </p:txBody>
      </p:sp>
      <p:sp>
        <p:nvSpPr>
          <p:cNvPr id="7" name="Oval 6"/>
          <p:cNvSpPr/>
          <p:nvPr/>
        </p:nvSpPr>
        <p:spPr>
          <a:xfrm>
            <a:off x="8229600" y="2124000"/>
            <a:ext cx="457200" cy="4572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2000" b="1" i="0">
                <a:solidFill>
                  <a:srgbClr val="FFFFFF"/>
                </a:solidFill>
              </a:rPr>
              <a:t>2</a:t>
            </a:r>
          </a:p>
        </p:txBody>
      </p:sp>
      <p:sp>
        <p:nvSpPr>
          <p:cNvPr id="8" name="TextBox 7"/>
          <p:cNvSpPr txBox="1"/>
          <p:nvPr/>
        </p:nvSpPr>
        <p:spPr>
          <a:xfrm>
            <a:off x="365760" y="2016000"/>
            <a:ext cx="7726679"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2000" b="0" i="0">
                <a:solidFill>
                  <a:srgbClr val="212121"/>
                </a:solidFill>
              </a:rPr>
              <a:t>להסביר ש</a:t>
            </a:r>
            <a:r>
              <a:rPr lang="he-IL" sz="2000" b="1" i="0">
                <a:solidFill>
                  <a:srgbClr val="212121"/>
                </a:solidFill>
              </a:rPr>
              <a:t>כלי = מודל + מעטפת</a:t>
            </a:r>
            <a:r>
              <a:rPr lang="he-IL" sz="2000" b="0" i="0">
                <a:solidFill>
                  <a:srgbClr val="212121"/>
                </a:solidFill>
              </a:rPr>
              <a:t>, ולכן אותו מודל נותן חוויה שונה בכלים שונים.</a:t>
            </a:r>
          </a:p>
        </p:txBody>
      </p:sp>
      <p:sp>
        <p:nvSpPr>
          <p:cNvPr id="9" name="Oval 8"/>
          <p:cNvSpPr/>
          <p:nvPr/>
        </p:nvSpPr>
        <p:spPr>
          <a:xfrm>
            <a:off x="8229600" y="2862000"/>
            <a:ext cx="457200" cy="4572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2000" b="1" i="0">
                <a:solidFill>
                  <a:srgbClr val="FFFFFF"/>
                </a:solidFill>
              </a:rPr>
              <a:t>3</a:t>
            </a:r>
          </a:p>
        </p:txBody>
      </p:sp>
      <p:sp>
        <p:nvSpPr>
          <p:cNvPr id="10" name="TextBox 9"/>
          <p:cNvSpPr txBox="1"/>
          <p:nvPr/>
        </p:nvSpPr>
        <p:spPr>
          <a:xfrm>
            <a:off x="365760" y="2754000"/>
            <a:ext cx="7726679"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2000" b="0" i="0">
                <a:solidFill>
                  <a:srgbClr val="212121"/>
                </a:solidFill>
              </a:rPr>
              <a:t>לבחור כלי למשימה לפי חמישה קריטריונים, ולבדוק את התוצאה שלו במבחן.</a:t>
            </a:r>
          </a:p>
        </p:txBody>
      </p:sp>
      <p:sp>
        <p:nvSpPr>
          <p:cNvPr id="11" name="Oval 10"/>
          <p:cNvSpPr/>
          <p:nvPr/>
        </p:nvSpPr>
        <p:spPr>
          <a:xfrm>
            <a:off x="8229600" y="3600000"/>
            <a:ext cx="457200" cy="4572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2000" b="1" i="0">
                <a:solidFill>
                  <a:srgbClr val="FFFFFF"/>
                </a:solidFill>
              </a:rPr>
              <a:t>4</a:t>
            </a:r>
          </a:p>
        </p:txBody>
      </p:sp>
      <p:sp>
        <p:nvSpPr>
          <p:cNvPr id="12" name="TextBox 11"/>
          <p:cNvSpPr txBox="1"/>
          <p:nvPr/>
        </p:nvSpPr>
        <p:spPr>
          <a:xfrm>
            <a:off x="365760" y="3492000"/>
            <a:ext cx="7726679"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2000" b="0" i="0">
                <a:solidFill>
                  <a:srgbClr val="212121"/>
                </a:solidFill>
              </a:rPr>
              <a:t>להסביר איך MCP מחבר סוכן למקור נתונים, ואיך מגבילים ומבטחים אותו.</a:t>
            </a:r>
          </a:p>
        </p:txBody>
      </p:sp>
      <p:sp>
        <p:nvSpPr>
          <p:cNvPr id="13" name="Oval 10 b"/>
          <p:cNvSpPr/>
          <p:nvPr/>
        </p:nvSpPr>
        <p:spPr>
          <a:xfrm>
            <a:off x="8229600" y="4338000"/>
            <a:ext cx="457200" cy="4572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2000" b="1" i="0">
                <a:solidFill>
                  <a:srgbClr val="FFFFFF"/>
                </a:solidFill>
              </a:rPr>
              <a:t>5</a:t>
            </a:r>
          </a:p>
        </p:txBody>
      </p:sp>
      <p:sp>
        <p:nvSpPr>
          <p:cNvPr id="14" name="TextBox 11 b"/>
          <p:cNvSpPr txBox="1"/>
          <p:nvPr/>
        </p:nvSpPr>
        <p:spPr>
          <a:xfrm>
            <a:off x="365760" y="4230000"/>
            <a:ext cx="7726679"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2000" b="0" i="0">
                <a:solidFill>
                  <a:srgbClr val="212121"/>
                </a:solidFill>
              </a:rPr>
              <a:t>להקים סביבת עבודה: קבוצה, מאגר GitHub, ויומן שימוש ב־AI.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a:t>
            </a:r>
            <a:r>
              <a:rPr lang="he-IL" sz="3000" b="1" i="0">
                <a:solidFill>
                  <a:srgbClr val="212121"/>
                </a:solidFill>
              </a:rPr>
              <a:t>מפת המפגש</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8008800" y="2011680"/>
            <a:ext cx="739200" cy="1005840"/>
          </a:xfrm>
          <a:prstGeom prst="roundRect">
            <a:avLst>
              <a:gd name="adj" fmla="val 8000"/>
            </a:avLst>
          </a:prstGeom>
          <a:solidFill>
            <a:srgbClr val="78909C"/>
          </a:solidFill>
          <a:ln>
            <a:noFill/>
          </a:ln>
        </p:spPr>
        <p:txBody>
          <a:bodyPr wrap="square" lIns="18288" tIns="18288" rIns="18288" bIns="18288" rtlCol="0" anchor="ctr">
            <a:noAutofit/>
          </a:bodyPr>
          <a:lstStyle/>
          <a:p>
            <a:pPr marL="0" indent="0" algn="ctr" rtl="1">
              <a:lnSpc>
                <a:spcPct val="105000"/>
              </a:lnSpc>
              <a:spcBef>
                <a:spcPts val="0"/>
              </a:spcBef>
              <a:spcAft>
                <a:spcPts val="0"/>
              </a:spcAft>
              <a:buNone/>
            </a:pPr>
            <a:r>
              <a:rPr lang="he-IL" sz="1400" b="1" i="0">
                <a:solidFill>
                  <a:srgbClr val="FFFFFF"/>
                </a:solidFill>
              </a:rPr>
              <a:t>פתיחה</a:t>
            </a:r>
          </a:p>
          <a:p>
            <a:pPr marL="0" indent="0" algn="ctr" rtl="1">
              <a:lnSpc>
                <a:spcPct val="105000"/>
              </a:lnSpc>
              <a:spcBef>
                <a:spcPts val="0"/>
              </a:spcBef>
              <a:spcAft>
                <a:spcPts val="0"/>
              </a:spcAft>
              <a:buNone/>
            </a:pPr>
            <a:r>
              <a:rPr lang="he-IL" sz="1400" b="1" i="0">
                <a:solidFill>
                  <a:srgbClr val="FFFFFF"/>
                </a:solidFill>
              </a:rPr>
              <a:t>8׳</a:t>
            </a:r>
          </a:p>
        </p:txBody>
      </p:sp>
      <p:sp>
        <p:nvSpPr>
          <p:cNvPr id="6" name="Rounded Rectangle 5"/>
          <p:cNvSpPr/>
          <p:nvPr/>
        </p:nvSpPr>
        <p:spPr>
          <a:xfrm>
            <a:off x="7269600" y="2011680"/>
            <a:ext cx="739200" cy="1005840"/>
          </a:xfrm>
          <a:prstGeom prst="roundRect">
            <a:avLst>
              <a:gd name="adj" fmla="val 8000"/>
            </a:avLst>
          </a:prstGeom>
          <a:solidFill>
            <a:srgbClr val="4285F4"/>
          </a:solidFill>
          <a:ln>
            <a:noFill/>
          </a:ln>
        </p:spPr>
        <p:txBody>
          <a:bodyPr wrap="square" lIns="18288" tIns="18288" rIns="18288" bIns="18288" rtlCol="0" anchor="ctr">
            <a:noAutofit/>
          </a:bodyPr>
          <a:lstStyle/>
          <a:p>
            <a:pPr marL="0" indent="0" algn="ctr" rtl="1">
              <a:lnSpc>
                <a:spcPct val="105000"/>
              </a:lnSpc>
              <a:spcBef>
                <a:spcPts val="0"/>
              </a:spcBef>
              <a:spcAft>
                <a:spcPts val="0"/>
              </a:spcAft>
              <a:buNone/>
            </a:pPr>
            <a:r>
              <a:rPr lang="he-IL" sz="1600" b="1" i="0">
                <a:solidFill>
                  <a:srgbClr val="FFFFFF"/>
                </a:solidFill>
              </a:rPr>
              <a:t>א׳</a:t>
            </a:r>
          </a:p>
          <a:p>
            <a:pPr marL="0" indent="0" algn="ctr" rtl="1">
              <a:lnSpc>
                <a:spcPct val="105000"/>
              </a:lnSpc>
              <a:spcBef>
                <a:spcPts val="0"/>
              </a:spcBef>
              <a:spcAft>
                <a:spcPts val="0"/>
              </a:spcAft>
              <a:buNone/>
            </a:pPr>
            <a:r>
              <a:rPr lang="he-IL" sz="1600" b="1" i="0">
                <a:solidFill>
                  <a:srgbClr val="FFFFFF"/>
                </a:solidFill>
              </a:rPr>
              <a:t>8׳</a:t>
            </a:r>
          </a:p>
        </p:txBody>
      </p:sp>
      <p:sp>
        <p:nvSpPr>
          <p:cNvPr id="7" name="Rounded Rectangle 6"/>
          <p:cNvSpPr/>
          <p:nvPr/>
        </p:nvSpPr>
        <p:spPr>
          <a:xfrm>
            <a:off x="6068400" y="2011680"/>
            <a:ext cx="1201200" cy="1005840"/>
          </a:xfrm>
          <a:prstGeom prst="roundRect">
            <a:avLst>
              <a:gd name="adj" fmla="val 8000"/>
            </a:avLst>
          </a:prstGeom>
          <a:solidFill>
            <a:srgbClr val="FFAB40"/>
          </a:solidFill>
          <a:ln>
            <a:noFill/>
          </a:ln>
        </p:spPr>
        <p:txBody>
          <a:bodyPr wrap="square" lIns="18288" tIns="18288" rIns="18288" bIns="18288" rtlCol="0" anchor="ctr">
            <a:noAutofit/>
          </a:bodyPr>
          <a:lstStyle/>
          <a:p>
            <a:pPr marL="0" indent="0" algn="ctr" rtl="1">
              <a:lnSpc>
                <a:spcPct val="105000"/>
              </a:lnSpc>
              <a:spcBef>
                <a:spcPts val="0"/>
              </a:spcBef>
              <a:spcAft>
                <a:spcPts val="0"/>
              </a:spcAft>
              <a:buNone/>
            </a:pPr>
            <a:r>
              <a:rPr lang="he-IL" sz="1600" b="1" i="0">
                <a:solidFill>
                  <a:srgbClr val="212121"/>
                </a:solidFill>
              </a:rPr>
              <a:t>מעבדה א׳</a:t>
            </a:r>
          </a:p>
          <a:p>
            <a:pPr marL="0" indent="0" algn="ctr" rtl="1">
              <a:lnSpc>
                <a:spcPct val="105000"/>
              </a:lnSpc>
              <a:spcBef>
                <a:spcPts val="0"/>
              </a:spcBef>
              <a:spcAft>
                <a:spcPts val="0"/>
              </a:spcAft>
              <a:buNone/>
            </a:pPr>
            <a:r>
              <a:rPr lang="he-IL" sz="1600" b="1" i="0">
                <a:solidFill>
                  <a:srgbClr val="212121"/>
                </a:solidFill>
              </a:rPr>
              <a:t>13׳</a:t>
            </a:r>
          </a:p>
        </p:txBody>
      </p:sp>
      <p:sp>
        <p:nvSpPr>
          <p:cNvPr id="8" name="Rounded Rectangle 7"/>
          <p:cNvSpPr/>
          <p:nvPr/>
        </p:nvSpPr>
        <p:spPr>
          <a:xfrm>
            <a:off x="5421600" y="2011680"/>
            <a:ext cx="646800" cy="1005840"/>
          </a:xfrm>
          <a:prstGeom prst="roundRect">
            <a:avLst>
              <a:gd name="adj" fmla="val 8000"/>
            </a:avLst>
          </a:prstGeom>
          <a:solidFill>
            <a:srgbClr val="4285F4"/>
          </a:solidFill>
          <a:ln>
            <a:noFill/>
          </a:ln>
        </p:spPr>
        <p:txBody>
          <a:bodyPr wrap="square" lIns="18288" tIns="18288" rIns="18288" bIns="18288" rtlCol="0" anchor="ctr">
            <a:noAutofit/>
          </a:bodyPr>
          <a:lstStyle/>
          <a:p>
            <a:pPr marL="0" indent="0" algn="ctr" rtl="1">
              <a:lnSpc>
                <a:spcPct val="105000"/>
              </a:lnSpc>
              <a:spcBef>
                <a:spcPts val="0"/>
              </a:spcBef>
              <a:spcAft>
                <a:spcPts val="0"/>
              </a:spcAft>
              <a:buNone/>
            </a:pPr>
            <a:r>
              <a:rPr lang="he-IL" sz="1400" b="1" i="0">
                <a:solidFill>
                  <a:srgbClr val="FFFFFF"/>
                </a:solidFill>
              </a:rPr>
              <a:t>ב׳</a:t>
            </a:r>
          </a:p>
          <a:p>
            <a:pPr marL="0" indent="0" algn="ctr" rtl="1">
              <a:lnSpc>
                <a:spcPct val="105000"/>
              </a:lnSpc>
              <a:spcBef>
                <a:spcPts val="0"/>
              </a:spcBef>
              <a:spcAft>
                <a:spcPts val="0"/>
              </a:spcAft>
              <a:buNone/>
            </a:pPr>
            <a:r>
              <a:rPr lang="he-IL" sz="1400" b="1" i="0">
                <a:solidFill>
                  <a:srgbClr val="FFFFFF"/>
                </a:solidFill>
              </a:rPr>
              <a:t>7׳</a:t>
            </a:r>
          </a:p>
        </p:txBody>
      </p:sp>
      <p:sp>
        <p:nvSpPr>
          <p:cNvPr id="901" name="Rounded Rectangle MCP"/>
          <p:cNvSpPr/>
          <p:nvPr/>
        </p:nvSpPr>
        <p:spPr>
          <a:xfrm>
            <a:off x="4312800" y="2011680"/>
            <a:ext cx="1108800" cy="1005840"/>
          </a:xfrm>
          <a:prstGeom prst="roundRect">
            <a:avLst>
              <a:gd name="adj" fmla="val 8000"/>
            </a:avLst>
          </a:prstGeom>
          <a:solidFill>
            <a:srgbClr val="4285F4"/>
          </a:solidFill>
          <a:ln>
            <a:noFill/>
          </a:ln>
        </p:spPr>
        <p:txBody>
          <a:bodyPr wrap="square" lIns="18288" tIns="18288" rIns="18288" bIns="18288" rtlCol="0" anchor="ctr">
            <a:noAutofit/>
          </a:bodyPr>
          <a:lstStyle/>
          <a:p>
            <a:pPr marL="0" indent="0" algn="ctr" rtl="1">
              <a:lnSpc>
                <a:spcPct val="105000"/>
              </a:lnSpc>
              <a:spcBef>
                <a:spcPts val="0"/>
              </a:spcBef>
              <a:spcAft>
                <a:spcPts val="0"/>
              </a:spcAft>
              <a:buNone/>
            </a:pPr>
            <a:r>
              <a:rPr lang="he-IL" sz="1400" b="1" i="0">
                <a:solidFill>
                  <a:srgbClr val="FFFFFF"/>
                </a:solidFill>
              </a:rPr>
              <a:t>MCP</a:t>
            </a:r>
          </a:p>
          <a:p>
            <a:pPr marL="0" indent="0" algn="ctr" rtl="1">
              <a:lnSpc>
                <a:spcPct val="105000"/>
              </a:lnSpc>
              <a:spcBef>
                <a:spcPts val="0"/>
              </a:spcBef>
              <a:spcAft>
                <a:spcPts val="0"/>
              </a:spcAft>
              <a:buNone/>
            </a:pPr>
            <a:r>
              <a:rPr lang="he-IL" sz="1400" b="1" i="0">
                <a:solidFill>
                  <a:srgbClr val="FFFFFF"/>
                </a:solidFill>
              </a:rPr>
              <a:t>12׳</a:t>
            </a:r>
          </a:p>
        </p:txBody>
      </p:sp>
      <p:sp>
        <p:nvSpPr>
          <p:cNvPr id="9" name="Rounded Rectangle 8"/>
          <p:cNvSpPr/>
          <p:nvPr/>
        </p:nvSpPr>
        <p:spPr>
          <a:xfrm>
            <a:off x="3111600" y="2011680"/>
            <a:ext cx="1201200" cy="1005840"/>
          </a:xfrm>
          <a:prstGeom prst="roundRect">
            <a:avLst>
              <a:gd name="adj" fmla="val 8000"/>
            </a:avLst>
          </a:prstGeom>
          <a:solidFill>
            <a:srgbClr val="FFAB40"/>
          </a:solidFill>
          <a:ln>
            <a:noFill/>
          </a:ln>
        </p:spPr>
        <p:txBody>
          <a:bodyPr wrap="square" lIns="18288" tIns="18288" rIns="18288" bIns="18288" rtlCol="0" anchor="ctr">
            <a:noAutofit/>
          </a:bodyPr>
          <a:lstStyle/>
          <a:p>
            <a:pPr marL="0" indent="0" algn="ctr" rtl="1">
              <a:lnSpc>
                <a:spcPct val="105000"/>
              </a:lnSpc>
              <a:spcBef>
                <a:spcPts val="0"/>
              </a:spcBef>
              <a:spcAft>
                <a:spcPts val="0"/>
              </a:spcAft>
              <a:buNone/>
            </a:pPr>
            <a:r>
              <a:rPr lang="he-IL" sz="1600" b="1" i="0">
                <a:solidFill>
                  <a:srgbClr val="212121"/>
                </a:solidFill>
              </a:rPr>
              <a:t>מעבדה ב׳</a:t>
            </a:r>
          </a:p>
          <a:p>
            <a:pPr marL="0" indent="0" algn="ctr" rtl="1">
              <a:lnSpc>
                <a:spcPct val="105000"/>
              </a:lnSpc>
              <a:spcBef>
                <a:spcPts val="0"/>
              </a:spcBef>
              <a:spcAft>
                <a:spcPts val="0"/>
              </a:spcAft>
              <a:buNone/>
            </a:pPr>
            <a:r>
              <a:rPr lang="he-IL" sz="1600" b="1" i="0">
                <a:solidFill>
                  <a:srgbClr val="212121"/>
                </a:solidFill>
              </a:rPr>
              <a:t>13׳</a:t>
            </a:r>
          </a:p>
        </p:txBody>
      </p:sp>
      <p:sp>
        <p:nvSpPr>
          <p:cNvPr id="10" name="Rounded Rectangle 9"/>
          <p:cNvSpPr/>
          <p:nvPr/>
        </p:nvSpPr>
        <p:spPr>
          <a:xfrm>
            <a:off x="2557200" y="2011680"/>
            <a:ext cx="554400" cy="1005840"/>
          </a:xfrm>
          <a:prstGeom prst="roundRect">
            <a:avLst>
              <a:gd name="adj" fmla="val 8000"/>
            </a:avLst>
          </a:prstGeom>
          <a:solidFill>
            <a:srgbClr val="4285F4"/>
          </a:solidFill>
          <a:ln>
            <a:noFill/>
          </a:ln>
        </p:spPr>
        <p:txBody>
          <a:bodyPr wrap="square" lIns="18288" tIns="18288" rIns="18288" bIns="18288" rtlCol="0" anchor="ctr">
            <a:noAutofit/>
          </a:bodyPr>
          <a:lstStyle/>
          <a:p>
            <a:pPr marL="0" indent="0" algn="ctr" rtl="1">
              <a:lnSpc>
                <a:spcPct val="105000"/>
              </a:lnSpc>
              <a:spcBef>
                <a:spcPts val="0"/>
              </a:spcBef>
              <a:spcAft>
                <a:spcPts val="0"/>
              </a:spcAft>
              <a:buNone/>
            </a:pPr>
            <a:r>
              <a:rPr lang="he-IL" sz="1400" b="1" i="0">
                <a:solidFill>
                  <a:srgbClr val="FFFFFF"/>
                </a:solidFill>
              </a:rPr>
              <a:t>ג׳</a:t>
            </a:r>
          </a:p>
          <a:p>
            <a:pPr marL="0" indent="0" algn="ctr" rtl="1">
              <a:lnSpc>
                <a:spcPct val="105000"/>
              </a:lnSpc>
              <a:spcBef>
                <a:spcPts val="0"/>
              </a:spcBef>
              <a:spcAft>
                <a:spcPts val="0"/>
              </a:spcAft>
              <a:buNone/>
            </a:pPr>
            <a:r>
              <a:rPr lang="he-IL" sz="1400" b="1" i="0">
                <a:solidFill>
                  <a:srgbClr val="FFFFFF"/>
                </a:solidFill>
              </a:rPr>
              <a:t>6׳</a:t>
            </a:r>
          </a:p>
        </p:txBody>
      </p:sp>
      <p:sp>
        <p:nvSpPr>
          <p:cNvPr id="11" name="Rounded Rectangle 10"/>
          <p:cNvSpPr/>
          <p:nvPr/>
        </p:nvSpPr>
        <p:spPr>
          <a:xfrm>
            <a:off x="1356000" y="2011680"/>
            <a:ext cx="1201200" cy="1005840"/>
          </a:xfrm>
          <a:prstGeom prst="roundRect">
            <a:avLst>
              <a:gd name="adj" fmla="val 8000"/>
            </a:avLst>
          </a:prstGeom>
          <a:solidFill>
            <a:srgbClr val="FFAB40"/>
          </a:solidFill>
          <a:ln>
            <a:noFill/>
          </a:ln>
        </p:spPr>
        <p:txBody>
          <a:bodyPr wrap="square" lIns="18288" tIns="18288" rIns="18288" bIns="18288" rtlCol="0" anchor="ctr">
            <a:noAutofit/>
          </a:bodyPr>
          <a:lstStyle/>
          <a:p>
            <a:pPr marL="0" indent="0" algn="ctr" rtl="1">
              <a:lnSpc>
                <a:spcPct val="105000"/>
              </a:lnSpc>
              <a:spcBef>
                <a:spcPts val="0"/>
              </a:spcBef>
              <a:spcAft>
                <a:spcPts val="0"/>
              </a:spcAft>
              <a:buNone/>
            </a:pPr>
            <a:r>
              <a:rPr lang="he-IL" sz="1600" b="1" i="0">
                <a:solidFill>
                  <a:srgbClr val="212121"/>
                </a:solidFill>
              </a:rPr>
              <a:t>מעבדה ג׳</a:t>
            </a:r>
          </a:p>
          <a:p>
            <a:pPr marL="0" indent="0" algn="ctr" rtl="1">
              <a:lnSpc>
                <a:spcPct val="105000"/>
              </a:lnSpc>
              <a:spcBef>
                <a:spcPts val="0"/>
              </a:spcBef>
              <a:spcAft>
                <a:spcPts val="0"/>
              </a:spcAft>
              <a:buNone/>
            </a:pPr>
            <a:r>
              <a:rPr lang="he-IL" sz="1600" b="1" i="0">
                <a:solidFill>
                  <a:srgbClr val="212121"/>
                </a:solidFill>
              </a:rPr>
              <a:t>13׳</a:t>
            </a:r>
          </a:p>
        </p:txBody>
      </p:sp>
      <p:sp>
        <p:nvSpPr>
          <p:cNvPr id="12" name="Rounded Rectangle 11"/>
          <p:cNvSpPr/>
          <p:nvPr/>
        </p:nvSpPr>
        <p:spPr>
          <a:xfrm>
            <a:off x="432000" y="2011680"/>
            <a:ext cx="924000" cy="1005840"/>
          </a:xfrm>
          <a:prstGeom prst="roundRect">
            <a:avLst>
              <a:gd name="adj" fmla="val 8000"/>
            </a:avLst>
          </a:prstGeom>
          <a:solidFill>
            <a:srgbClr val="78909C"/>
          </a:solidFill>
          <a:ln>
            <a:noFill/>
          </a:ln>
        </p:spPr>
        <p:txBody>
          <a:bodyPr wrap="square" lIns="18288" tIns="18288" rIns="18288" bIns="18288" rtlCol="0" anchor="ctr">
            <a:noAutofit/>
          </a:bodyPr>
          <a:lstStyle/>
          <a:p>
            <a:pPr marL="0" indent="0" algn="ctr" rtl="1">
              <a:lnSpc>
                <a:spcPct val="105000"/>
              </a:lnSpc>
              <a:spcBef>
                <a:spcPts val="0"/>
              </a:spcBef>
              <a:spcAft>
                <a:spcPts val="0"/>
              </a:spcAft>
              <a:buNone/>
            </a:pPr>
            <a:r>
              <a:rPr lang="he-IL" sz="1600" b="1" i="0">
                <a:solidFill>
                  <a:srgbClr val="FFFFFF"/>
                </a:solidFill>
              </a:rPr>
              <a:t>סיכום</a:t>
            </a:r>
          </a:p>
          <a:p>
            <a:pPr marL="0" indent="0" algn="ctr" rtl="1">
              <a:lnSpc>
                <a:spcPct val="105000"/>
              </a:lnSpc>
              <a:spcBef>
                <a:spcPts val="0"/>
              </a:spcBef>
              <a:spcAft>
                <a:spcPts val="0"/>
              </a:spcAft>
              <a:buNone/>
            </a:pPr>
            <a:r>
              <a:rPr lang="he-IL" sz="1600" b="1" i="0">
                <a:solidFill>
                  <a:srgbClr val="FFFFFF"/>
                </a:solidFill>
              </a:rPr>
              <a:t>10׳</a:t>
            </a:r>
          </a:p>
        </p:txBody>
      </p:sp>
      <p:cxnSp>
        <p:nvCxnSpPr>
          <p:cNvPr id="13" name="Connector 12"/>
          <p:cNvCxnSpPr/>
          <p:nvPr/>
        </p:nvCxnSpPr>
        <p:spPr>
          <a:xfrm flipH="1">
            <a:off x="365760" y="3337560"/>
            <a:ext cx="8412480" cy="0"/>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5760" y="3383280"/>
            <a:ext cx="841248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595959"/>
                </a:solidFill>
              </a:rPr>
              <a:t>90 דקות</a:t>
            </a:r>
          </a:p>
        </p:txBody>
      </p:sp>
      <p:sp>
        <p:nvSpPr>
          <p:cNvPr id="15" name="Rectangle 14"/>
          <p:cNvSpPr/>
          <p:nvPr/>
        </p:nvSpPr>
        <p:spPr>
          <a:xfrm>
            <a:off x="6126480" y="4023360"/>
            <a:ext cx="320040" cy="274320"/>
          </a:xfrm>
          <a:prstGeom prst="rect">
            <a:avLst/>
          </a:prstGeom>
          <a:solidFill>
            <a:srgbClr val="4285F4"/>
          </a:solidFill>
          <a:ln>
            <a:noFill/>
          </a:ln>
        </p:spPr>
        <p:txBody>
          <a:bodyPr wrap="square" lIns="73152" tIns="73152" rIns="73152" bIns="73152" rtlCol="0" anchor="ctr">
            <a:noAutofit/>
          </a:bodyPr>
          <a:lstStyle/>
          <a:p>
            <a:pPr algn="ctr"/>
            <a:endParaRPr/>
          </a:p>
        </p:txBody>
      </p:sp>
      <p:sp>
        <p:nvSpPr>
          <p:cNvPr id="16" name="TextBox 15"/>
          <p:cNvSpPr txBox="1"/>
          <p:nvPr/>
        </p:nvSpPr>
        <p:spPr>
          <a:xfrm>
            <a:off x="3931920" y="3950208"/>
            <a:ext cx="2194560" cy="41148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600" b="0" i="0">
                <a:solidFill>
                  <a:srgbClr val="212121"/>
                </a:solidFill>
              </a:rPr>
              <a:t>הסבר קצר</a:t>
            </a:r>
          </a:p>
        </p:txBody>
      </p:sp>
      <p:sp>
        <p:nvSpPr>
          <p:cNvPr id="17" name="Rectangle 16"/>
          <p:cNvSpPr/>
          <p:nvPr/>
        </p:nvSpPr>
        <p:spPr>
          <a:xfrm>
            <a:off x="3566160" y="4023360"/>
            <a:ext cx="320040" cy="274320"/>
          </a:xfrm>
          <a:prstGeom prst="rect">
            <a:avLst/>
          </a:prstGeom>
          <a:solidFill>
            <a:srgbClr val="FFAB40"/>
          </a:solidFill>
          <a:ln>
            <a:noFill/>
          </a:ln>
        </p:spPr>
        <p:txBody>
          <a:bodyPr wrap="square" lIns="73152" tIns="73152" rIns="73152" bIns="73152" rtlCol="0" anchor="ctr">
            <a:noAutofit/>
          </a:bodyPr>
          <a:lstStyle/>
          <a:p>
            <a:pPr algn="ctr"/>
            <a:endParaRPr/>
          </a:p>
        </p:txBody>
      </p:sp>
      <p:sp>
        <p:nvSpPr>
          <p:cNvPr id="18" name="TextBox 17"/>
          <p:cNvSpPr txBox="1"/>
          <p:nvPr/>
        </p:nvSpPr>
        <p:spPr>
          <a:xfrm>
            <a:off x="1463040" y="3950208"/>
            <a:ext cx="2103120" cy="41148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600" b="0" i="0">
                <a:solidFill>
                  <a:srgbClr val="212121"/>
                </a:solidFill>
              </a:rPr>
              <a:t>עבודה שלכם</a:t>
            </a:r>
          </a:p>
        </p:txBody>
      </p:sp>
      <p:sp>
        <p:nvSpPr>
          <p:cNvPr id="900" name="TextBox 15"/>
          <p:cNvSpPr txBox="1"/>
          <p:nvPr/>
        </p:nvSpPr>
        <p:spPr>
          <a:xfrm>
            <a:off x="365760" y="4420000"/>
            <a:ext cx="8412480" cy="38000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600" b="0" i="0">
                <a:solidFill>
                  <a:srgbClr val="212121"/>
                </a:solidFill>
              </a:rPr>
              <a:t>בתג ״העשרה״ או ״אופציונלי״ בפינה: שקפים שאפשר לדלג עליהם (כ־42 דקות בסך הכול).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שלוש משפחות כלים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6172200" y="1463040"/>
            <a:ext cx="2697480" cy="32004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6" name="TextBox 5"/>
          <p:cNvSpPr txBox="1"/>
          <p:nvPr/>
        </p:nvSpPr>
        <p:spPr>
          <a:xfrm>
            <a:off x="617220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7" name="TextBox 6"/>
          <p:cNvSpPr txBox="1"/>
          <p:nvPr/>
        </p:nvSpPr>
        <p:spPr>
          <a:xfrm>
            <a:off x="626364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צ׳אט</a:t>
            </a:r>
          </a:p>
        </p:txBody>
      </p:sp>
      <p:sp>
        <p:nvSpPr>
          <p:cNvPr id="8" name="TextBox 7"/>
          <p:cNvSpPr txBox="1"/>
          <p:nvPr/>
        </p:nvSpPr>
        <p:spPr>
          <a:xfrm>
            <a:off x="6309360"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שיחה בדפדפן. אתם מעתיקים קוד פנימה והחוצה.</a:t>
            </a:r>
          </a:p>
        </p:txBody>
      </p:sp>
      <p:sp>
        <p:nvSpPr>
          <p:cNvPr id="9" name="Rounded Rectangle 8"/>
          <p:cNvSpPr/>
          <p:nvPr/>
        </p:nvSpPr>
        <p:spPr>
          <a:xfrm>
            <a:off x="3246120" y="1463040"/>
            <a:ext cx="2697480" cy="32004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0" name="TextBox 9"/>
          <p:cNvSpPr txBox="1"/>
          <p:nvPr/>
        </p:nvSpPr>
        <p:spPr>
          <a:xfrm>
            <a:off x="324612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1" name="TextBox 10"/>
          <p:cNvSpPr txBox="1"/>
          <p:nvPr/>
        </p:nvSpPr>
        <p:spPr>
          <a:xfrm>
            <a:off x="333756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עוזר בעורך (IDE)</a:t>
            </a:r>
          </a:p>
        </p:txBody>
      </p:sp>
      <p:sp>
        <p:nvSpPr>
          <p:cNvPr id="12" name="TextBox 11"/>
          <p:cNvSpPr txBox="1"/>
          <p:nvPr/>
        </p:nvSpPr>
        <p:spPr>
          <a:xfrm>
            <a:off x="338327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הצעות והסברים בתוך עורך הקוד שבו אתם כותבים.</a:t>
            </a:r>
          </a:p>
        </p:txBody>
      </p:sp>
      <p:sp>
        <p:nvSpPr>
          <p:cNvPr id="13" name="Rounded Rectangle 12"/>
          <p:cNvSpPr/>
          <p:nvPr/>
        </p:nvSpPr>
        <p:spPr>
          <a:xfrm>
            <a:off x="320039" y="1463040"/>
            <a:ext cx="2697480" cy="32004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4" name="TextBox 13"/>
          <p:cNvSpPr txBox="1"/>
          <p:nvPr/>
        </p:nvSpPr>
        <p:spPr>
          <a:xfrm>
            <a:off x="320039"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5" name="TextBox 14"/>
          <p:cNvSpPr txBox="1"/>
          <p:nvPr/>
        </p:nvSpPr>
        <p:spPr>
          <a:xfrm>
            <a:off x="411479"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סוכן שורת פקודה (CLI)</a:t>
            </a:r>
          </a:p>
        </p:txBody>
      </p:sp>
      <p:sp>
        <p:nvSpPr>
          <p:cNvPr id="16" name="TextBox 15"/>
          <p:cNvSpPr txBox="1"/>
          <p:nvPr/>
        </p:nvSpPr>
        <p:spPr>
          <a:xfrm>
            <a:off x="45719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תוכנה שקוראת קבצים, מריצה פקודות ועורכת בעצמה.</a:t>
            </a:r>
          </a:p>
        </p:txBody>
      </p:sp>
      <p:sp>
        <p:nvSpPr>
          <p:cNvPr id="17" name="TextBox 16"/>
          <p:cNvSpPr txBox="1"/>
          <p:nvPr/>
        </p:nvSpPr>
        <p:spPr>
          <a:xfrm>
            <a:off x="365760" y="4709160"/>
            <a:ext cx="841248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300" b="0" i="0">
                <a:solidFill>
                  <a:srgbClr val="595959"/>
                </a:solidFill>
              </a:rPr>
              <a:t>IDE = עורך קוד עם כלים משולבים. CLI = שורת פקודה (חלון שמקלידים בו הוראות).</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משפחה 1: צ׳אט</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7040880" y="1600200"/>
            <a:ext cx="1737360" cy="100584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200" b="1" i="0">
                <a:solidFill>
                  <a:srgbClr val="212121"/>
                </a:solidFill>
              </a:rPr>
              <a:t>👤 אתם</a:t>
            </a:r>
          </a:p>
        </p:txBody>
      </p:sp>
      <p:sp>
        <p:nvSpPr>
          <p:cNvPr id="6" name="Rounded Rectangle 5"/>
          <p:cNvSpPr/>
          <p:nvPr/>
        </p:nvSpPr>
        <p:spPr>
          <a:xfrm>
            <a:off x="3657600" y="1600200"/>
            <a:ext cx="2011680" cy="100584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200" b="1" i="0">
                <a:solidFill>
                  <a:srgbClr val="212121"/>
                </a:solidFill>
              </a:rPr>
              <a:t>💬 חלון צ׳אט</a:t>
            </a:r>
          </a:p>
        </p:txBody>
      </p:sp>
      <p:sp>
        <p:nvSpPr>
          <p:cNvPr id="7" name="Rounded Rectangle 6"/>
          <p:cNvSpPr/>
          <p:nvPr/>
        </p:nvSpPr>
        <p:spPr>
          <a:xfrm>
            <a:off x="365760" y="1600200"/>
            <a:ext cx="2011680" cy="1005840"/>
          </a:xfrm>
          <a:prstGeom prst="roundRect">
            <a:avLst>
              <a:gd name="adj" fmla="val 12000"/>
            </a:avLst>
          </a:prstGeom>
          <a:solidFill>
            <a:srgbClr val="DDF2F5"/>
          </a:solidFill>
          <a:ln w="19050">
            <a:solidFill>
              <a:srgbClr val="0097A7"/>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200" b="1" i="0">
                <a:solidFill>
                  <a:srgbClr val="212121"/>
                </a:solidFill>
              </a:rPr>
              <a:t>📄 הקובץ שלכם</a:t>
            </a:r>
          </a:p>
        </p:txBody>
      </p:sp>
      <p:cxnSp>
        <p:nvCxnSpPr>
          <p:cNvPr id="8" name="Connector 7"/>
          <p:cNvCxnSpPr/>
          <p:nvPr/>
        </p:nvCxnSpPr>
        <p:spPr>
          <a:xfrm flipH="1">
            <a:off x="5715000" y="1920240"/>
            <a:ext cx="1280160" cy="0"/>
          </a:xfrm>
          <a:prstGeom prst="line">
            <a:avLst/>
          </a:prstGeom>
          <a:ln w="38100">
            <a:solidFill>
              <a:srgbClr val="4285F4"/>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0" y="1325880"/>
            <a:ext cx="137160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400" b="1" i="0">
                <a:solidFill>
                  <a:srgbClr val="4285F4"/>
                </a:solidFill>
              </a:rPr>
              <a:t>① מעתיקים</a:t>
            </a:r>
          </a:p>
        </p:txBody>
      </p:sp>
      <p:cxnSp>
        <p:nvCxnSpPr>
          <p:cNvPr id="10" name="Connector 9"/>
          <p:cNvCxnSpPr/>
          <p:nvPr/>
        </p:nvCxnSpPr>
        <p:spPr>
          <a:xfrm flipH="1">
            <a:off x="2423160" y="2286000"/>
            <a:ext cx="1234440" cy="0"/>
          </a:xfrm>
          <a:prstGeom prst="line">
            <a:avLst/>
          </a:prstGeom>
          <a:ln w="38100">
            <a:solidFill>
              <a:srgbClr val="FFAB4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331720" y="2331720"/>
            <a:ext cx="146304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400" b="1" i="0">
                <a:solidFill>
                  <a:srgbClr val="FFAB40"/>
                </a:solidFill>
              </a:rPr>
              <a:t>② תשובה</a:t>
            </a:r>
          </a:p>
        </p:txBody>
      </p:sp>
      <p:cxnSp>
        <p:nvCxnSpPr>
          <p:cNvPr id="12" name="Connector 11"/>
          <p:cNvCxnSpPr/>
          <p:nvPr/>
        </p:nvCxnSpPr>
        <p:spPr>
          <a:xfrm>
            <a:off x="2011680" y="2697480"/>
            <a:ext cx="5029200" cy="0"/>
          </a:xfrm>
          <a:prstGeom prst="line">
            <a:avLst/>
          </a:prstGeom>
          <a:ln w="38100">
            <a:solidFill>
              <a:srgbClr val="4285F4"/>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200400" y="2743200"/>
            <a:ext cx="274320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400" b="1" i="0">
                <a:solidFill>
                  <a:srgbClr val="4285F4"/>
                </a:solidFill>
              </a:rPr>
              <a:t>③ מדביקים בחזרה בעצמכם</a:t>
            </a:r>
          </a:p>
        </p:txBody>
      </p:sp>
      <p:sp>
        <p:nvSpPr>
          <p:cNvPr id="14" name="Rounded Rectangle 13"/>
          <p:cNvSpPr/>
          <p:nvPr/>
        </p:nvSpPr>
        <p:spPr>
          <a:xfrm>
            <a:off x="6126480" y="3474720"/>
            <a:ext cx="2651760" cy="731520"/>
          </a:xfrm>
          <a:prstGeom prst="roundRect">
            <a:avLst>
              <a:gd name="adj" fmla="val 12000"/>
            </a:avLst>
          </a:prstGeom>
          <a:solidFill>
            <a:srgbClr val="FDE3E0"/>
          </a:solidFill>
          <a:ln w="19050">
            <a:solidFill>
              <a:srgbClr val="EA4335"/>
            </a:solidFill>
          </a:ln>
        </p:spPr>
        <p:txBody>
          <a:bodyPr wrap="square" lIns="36576" tIns="36576" rIns="36576" bIns="36576" rtlCol="0" anchor="ctr">
            <a:noAutofit/>
          </a:bodyPr>
          <a:lstStyle/>
          <a:p>
            <a:pPr marL="0" indent="0" algn="ctr" rtl="1">
              <a:lnSpc>
                <a:spcPct val="105000"/>
              </a:lnSpc>
              <a:spcBef>
                <a:spcPts val="0"/>
              </a:spcBef>
              <a:spcAft>
                <a:spcPts val="0"/>
              </a:spcAft>
              <a:buNone/>
            </a:pPr>
            <a:r>
              <a:rPr lang="he-IL" sz="1300" b="0" i="0">
                <a:solidFill>
                  <a:srgbClr val="595959"/>
                </a:solidFill>
              </a:rPr>
              <a:t>רואה</a:t>
            </a:r>
          </a:p>
          <a:p>
            <a:pPr marL="0" indent="0" algn="ctr" rtl="1">
              <a:lnSpc>
                <a:spcPct val="105000"/>
              </a:lnSpc>
              <a:spcBef>
                <a:spcPts val="0"/>
              </a:spcBef>
              <a:spcAft>
                <a:spcPts val="0"/>
              </a:spcAft>
              <a:buNone/>
            </a:pPr>
            <a:r>
              <a:rPr lang="he-IL" sz="1600" b="1" i="0">
                <a:solidFill>
                  <a:srgbClr val="212121"/>
                </a:solidFill>
              </a:rPr>
              <a:t>רק מה שהדבקתם</a:t>
            </a:r>
          </a:p>
        </p:txBody>
      </p:sp>
      <p:sp>
        <p:nvSpPr>
          <p:cNvPr id="15" name="Rounded Rectangle 14"/>
          <p:cNvSpPr/>
          <p:nvPr/>
        </p:nvSpPr>
        <p:spPr>
          <a:xfrm>
            <a:off x="3246120" y="3474720"/>
            <a:ext cx="2651760" cy="731520"/>
          </a:xfrm>
          <a:prstGeom prst="roundRect">
            <a:avLst>
              <a:gd name="adj" fmla="val 12000"/>
            </a:avLst>
          </a:prstGeom>
          <a:solidFill>
            <a:srgbClr val="FDE3E0"/>
          </a:solidFill>
          <a:ln w="19050">
            <a:solidFill>
              <a:srgbClr val="EA4335"/>
            </a:solidFill>
          </a:ln>
        </p:spPr>
        <p:txBody>
          <a:bodyPr wrap="square" lIns="36576" tIns="36576" rIns="36576" bIns="36576" rtlCol="0" anchor="ctr">
            <a:noAutofit/>
          </a:bodyPr>
          <a:lstStyle/>
          <a:p>
            <a:pPr marL="0" indent="0" algn="ctr" rtl="1">
              <a:lnSpc>
                <a:spcPct val="105000"/>
              </a:lnSpc>
              <a:spcBef>
                <a:spcPts val="0"/>
              </a:spcBef>
              <a:spcAft>
                <a:spcPts val="0"/>
              </a:spcAft>
              <a:buNone/>
            </a:pPr>
            <a:r>
              <a:rPr lang="he-IL" sz="1300" b="0" i="0">
                <a:solidFill>
                  <a:srgbClr val="595959"/>
                </a:solidFill>
              </a:rPr>
              <a:t>מריץ קוד?</a:t>
            </a:r>
          </a:p>
          <a:p>
            <a:pPr marL="0" indent="0" algn="ctr" rtl="1">
              <a:lnSpc>
                <a:spcPct val="105000"/>
              </a:lnSpc>
              <a:spcBef>
                <a:spcPts val="0"/>
              </a:spcBef>
              <a:spcAft>
                <a:spcPts val="0"/>
              </a:spcAft>
              <a:buNone/>
            </a:pPr>
            <a:r>
              <a:rPr lang="he-IL" sz="1600" b="1" i="0">
                <a:solidFill>
                  <a:srgbClr val="212121"/>
                </a:solidFill>
              </a:rPr>
              <a:t>לא</a:t>
            </a:r>
          </a:p>
        </p:txBody>
      </p:sp>
      <p:sp>
        <p:nvSpPr>
          <p:cNvPr id="16" name="Rounded Rectangle 15"/>
          <p:cNvSpPr/>
          <p:nvPr/>
        </p:nvSpPr>
        <p:spPr>
          <a:xfrm>
            <a:off x="365760" y="3474720"/>
            <a:ext cx="2651760" cy="731520"/>
          </a:xfrm>
          <a:prstGeom prst="roundRect">
            <a:avLst>
              <a:gd name="adj" fmla="val 12000"/>
            </a:avLst>
          </a:prstGeom>
          <a:solidFill>
            <a:srgbClr val="E1F4E6"/>
          </a:solidFill>
          <a:ln w="19050">
            <a:solidFill>
              <a:srgbClr val="34A853"/>
            </a:solidFill>
          </a:ln>
        </p:spPr>
        <p:txBody>
          <a:bodyPr wrap="square" lIns="36576" tIns="36576" rIns="36576" bIns="36576" rtlCol="0" anchor="ctr">
            <a:noAutofit/>
          </a:bodyPr>
          <a:lstStyle/>
          <a:p>
            <a:pPr marL="0" indent="0" algn="ctr" rtl="1">
              <a:lnSpc>
                <a:spcPct val="105000"/>
              </a:lnSpc>
              <a:spcBef>
                <a:spcPts val="0"/>
              </a:spcBef>
              <a:spcAft>
                <a:spcPts val="0"/>
              </a:spcAft>
              <a:buNone/>
            </a:pPr>
            <a:r>
              <a:rPr lang="he-IL" sz="1300" b="0" i="0">
                <a:solidFill>
                  <a:srgbClr val="595959"/>
                </a:solidFill>
              </a:rPr>
              <a:t>מי מאשר?</a:t>
            </a:r>
          </a:p>
          <a:p>
            <a:pPr marL="0" indent="0" algn="ctr" rtl="1">
              <a:lnSpc>
                <a:spcPct val="105000"/>
              </a:lnSpc>
              <a:spcBef>
                <a:spcPts val="0"/>
              </a:spcBef>
              <a:spcAft>
                <a:spcPts val="0"/>
              </a:spcAft>
              <a:buNone/>
            </a:pPr>
            <a:r>
              <a:rPr lang="he-IL" sz="1600" b="1" i="0">
                <a:solidFill>
                  <a:srgbClr val="212121"/>
                </a:solidFill>
              </a:rPr>
              <a:t>אתם, בהדבקה</a:t>
            </a:r>
          </a:p>
        </p:txBody>
      </p:sp>
      <p:sp>
        <p:nvSpPr>
          <p:cNvPr id="17" name="TextBox 16"/>
          <p:cNvSpPr txBox="1"/>
          <p:nvPr/>
        </p:nvSpPr>
        <p:spPr>
          <a:xfrm>
            <a:off x="365760" y="4297680"/>
            <a:ext cx="8412480" cy="6400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900" b="1" i="0">
                <a:solidFill>
                  <a:srgbClr val="212121"/>
                </a:solidFill>
              </a:rPr>
              <a:t>יתרון: פשוט ובטוח. חיסרון: הקשר ידני והרבה העתקות.</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משפחה 2: עוזר בעורך</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3108960" y="1417320"/>
            <a:ext cx="5669280" cy="2286000"/>
          </a:xfrm>
          <a:prstGeom prst="roundRect">
            <a:avLst>
              <a:gd name="adj" fmla="val 3000"/>
            </a:avLst>
          </a:prstGeom>
          <a:solidFill>
            <a:srgbClr val="FAFAFA"/>
          </a:solidFill>
          <a:ln w="19050">
            <a:solidFill>
              <a:srgbClr val="78909C"/>
            </a:solidFill>
          </a:ln>
        </p:spPr>
        <p:txBody>
          <a:bodyPr wrap="square" lIns="73152" tIns="73152" rIns="73152" bIns="73152" rtlCol="0" anchor="ctr">
            <a:noAutofit/>
          </a:bodyPr>
          <a:lstStyle/>
          <a:p>
            <a:pPr algn="ctr"/>
            <a:endParaRPr/>
          </a:p>
        </p:txBody>
      </p:sp>
      <p:sp>
        <p:nvSpPr>
          <p:cNvPr id="6" name="Rectangle 5"/>
          <p:cNvSpPr/>
          <p:nvPr/>
        </p:nvSpPr>
        <p:spPr>
          <a:xfrm>
            <a:off x="3108960" y="1417320"/>
            <a:ext cx="5669280" cy="320040"/>
          </a:xfrm>
          <a:prstGeom prst="rect">
            <a:avLst/>
          </a:prstGeom>
          <a:solidFill>
            <a:srgbClr val="EEEEEE"/>
          </a:solidFill>
          <a:ln w="19050">
            <a:solidFill>
              <a:srgbClr val="78909C"/>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300" b="0" i="0">
                <a:solidFill>
                  <a:srgbClr val="212121"/>
                </a:solidFill>
              </a:rPr>
              <a:t>analysis.py</a:t>
            </a:r>
          </a:p>
        </p:txBody>
      </p:sp>
      <p:sp>
        <p:nvSpPr>
          <p:cNvPr id="7" name="TextBox 6"/>
          <p:cNvSpPr txBox="1"/>
          <p:nvPr/>
        </p:nvSpPr>
        <p:spPr>
          <a:xfrm>
            <a:off x="3200400" y="1783080"/>
            <a:ext cx="5486400" cy="1463040"/>
          </a:xfrm>
          <a:prstGeom prst="rect">
            <a:avLst/>
          </a:prstGeom>
          <a:solidFill>
            <a:srgbClr val="F4F4F4"/>
          </a:solidFill>
          <a:ln w="9525">
            <a:solidFill>
              <a:srgbClr val="DDDDDD"/>
            </a:solidFill>
          </a:ln>
        </p:spPr>
        <p:txBody>
          <a:bodyPr wrap="square" lIns="109728" tIns="109728" rIns="109728" bIns="109728" anchor="t">
            <a:noAutofit/>
          </a:bodyPr>
          <a:lstStyle/>
          <a:p>
            <a:pPr marL="0" indent="0" algn="l" rtl="0">
              <a:lnSpc>
                <a:spcPct val="110000"/>
              </a:lnSpc>
              <a:spcBef>
                <a:spcPts val="0"/>
              </a:spcBef>
              <a:spcAft>
                <a:spcPts val="0"/>
              </a:spcAft>
              <a:buNone/>
            </a:pPr>
            <a:r>
              <a:rPr lang="he-IL" sz="1300" b="0" i="0">
                <a:solidFill>
                  <a:srgbClr val="212121"/>
                </a:solidFill>
                <a:latin typeface="Courier New"/>
                <a:ea typeface="Courier New"/>
                <a:cs typeface="Courier New"/>
              </a:rPr>
              <a:t>import pandas as pd</a:t>
            </a:r>
          </a:p>
          <a:p>
            <a:pPr marL="0" indent="0" algn="l" rtl="0">
              <a:lnSpc>
                <a:spcPct val="110000"/>
              </a:lnSpc>
              <a:spcBef>
                <a:spcPts val="0"/>
              </a:spcBef>
              <a:spcAft>
                <a:spcPts val="0"/>
              </a:spcAft>
              <a:buNone/>
            </a:pPr>
            <a:r>
              <a:rPr lang="he-IL" sz="1300" b="0" i="0">
                <a:solidFill>
                  <a:srgbClr val="212121"/>
                </a:solidFill>
                <a:latin typeface="Courier New"/>
                <a:ea typeface="Courier New"/>
                <a:cs typeface="Courier New"/>
              </a:rPr>
              <a:t>df = pd.read_csv('orders.csv')</a:t>
            </a:r>
          </a:p>
          <a:p>
            <a:pPr marL="0" indent="0" algn="l" rtl="0">
              <a:lnSpc>
                <a:spcPct val="110000"/>
              </a:lnSpc>
              <a:spcBef>
                <a:spcPts val="0"/>
              </a:spcBef>
              <a:spcAft>
                <a:spcPts val="0"/>
              </a:spcAft>
              <a:buNone/>
            </a:pPr>
            <a:r>
              <a:rPr lang="he-IL" sz="1300" b="0" i="0">
                <a:solidFill>
                  <a:srgbClr val="212121"/>
                </a:solidFill>
                <a:latin typeface="Courier New"/>
                <a:ea typeface="Courier New"/>
                <a:cs typeface="Courier New"/>
              </a:rPr>
              <a:t>df['revenue'] = df.quantity * df.unit_price</a:t>
            </a:r>
          </a:p>
        </p:txBody>
      </p:sp>
      <p:sp>
        <p:nvSpPr>
          <p:cNvPr id="8" name="TextBox 7"/>
          <p:cNvSpPr txBox="1"/>
          <p:nvPr/>
        </p:nvSpPr>
        <p:spPr>
          <a:xfrm>
            <a:off x="3246120" y="3017520"/>
            <a:ext cx="5486400" cy="36576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300" b="0" i="0">
                <a:solidFill>
                  <a:srgbClr val="9E9E9E"/>
                </a:solidFill>
              </a:rPr>
              <a:t>top5 = df.groupby('product_name').revenue.sum().nlargest(5)</a:t>
            </a:r>
          </a:p>
        </p:txBody>
      </p:sp>
      <p:sp>
        <p:nvSpPr>
          <p:cNvPr id="9" name="Rounded Rectangle 8"/>
          <p:cNvSpPr/>
          <p:nvPr/>
        </p:nvSpPr>
        <p:spPr>
          <a:xfrm>
            <a:off x="7315200" y="3310128"/>
            <a:ext cx="1371600" cy="274320"/>
          </a:xfrm>
          <a:prstGeom prst="roundRect">
            <a:avLst>
              <a:gd name="adj" fmla="val 12000"/>
            </a:avLst>
          </a:prstGeom>
          <a:solidFill>
            <a:srgbClr val="DDF2F5"/>
          </a:solidFill>
          <a:ln w="19050">
            <a:solidFill>
              <a:srgbClr val="0097A7"/>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200" b="0" i="0">
                <a:solidFill>
                  <a:srgbClr val="212121"/>
                </a:solidFill>
              </a:rPr>
              <a:t>Tab ← קבלת הצעה</a:t>
            </a:r>
          </a:p>
        </p:txBody>
      </p:sp>
      <p:sp>
        <p:nvSpPr>
          <p:cNvPr id="10" name="Rounded Rectangle 9"/>
          <p:cNvSpPr/>
          <p:nvPr/>
        </p:nvSpPr>
        <p:spPr>
          <a:xfrm>
            <a:off x="365760" y="1417320"/>
            <a:ext cx="2560320" cy="2286000"/>
          </a:xfrm>
          <a:prstGeom prst="roundRect">
            <a:avLst>
              <a:gd name="adj" fmla="val 12000"/>
            </a:avLst>
          </a:prstGeom>
          <a:solidFill>
            <a:srgbClr val="E3EEFF"/>
          </a:solidFill>
          <a:ln w="19050">
            <a:solidFill>
              <a:srgbClr val="4285F4"/>
            </a:solidFill>
          </a:ln>
        </p:spPr>
        <p:txBody>
          <a:bodyPr wrap="square" lIns="73152" tIns="73152" rIns="73152" bIns="73152" rtlCol="0" anchor="t">
            <a:noAutofit/>
          </a:bodyPr>
          <a:lstStyle/>
          <a:p>
            <a:pPr marL="0" indent="0" algn="ctr" rtl="1">
              <a:lnSpc>
                <a:spcPct val="105000"/>
              </a:lnSpc>
              <a:spcBef>
                <a:spcPts val="0"/>
              </a:spcBef>
              <a:spcAft>
                <a:spcPts val="0"/>
              </a:spcAft>
              <a:buNone/>
            </a:pPr>
            <a:r>
              <a:rPr lang="he-IL" sz="1400" b="1" i="0">
                <a:solidFill>
                  <a:srgbClr val="212121"/>
                </a:solidFill>
              </a:rPr>
              <a:t>💬 צ׳אט צדדי</a:t>
            </a:r>
          </a:p>
          <a:p>
            <a:pPr marL="0" indent="0" algn="ctr" rtl="1">
              <a:lnSpc>
                <a:spcPct val="105000"/>
              </a:lnSpc>
              <a:spcBef>
                <a:spcPts val="0"/>
              </a:spcBef>
              <a:spcAft>
                <a:spcPts val="0"/>
              </a:spcAft>
              <a:buNone/>
            </a:pPr>
            <a:r>
              <a:rPr lang="he-IL" sz="1300" b="0" i="0">
                <a:solidFill>
                  <a:srgbClr val="595959"/>
                </a:solidFill>
              </a:rPr>
              <a:t>מה עושה השורה הזו?</a:t>
            </a:r>
          </a:p>
        </p:txBody>
      </p:sp>
      <p:sp>
        <p:nvSpPr>
          <p:cNvPr id="11" name="Rounded Rectangle 10"/>
          <p:cNvSpPr/>
          <p:nvPr/>
        </p:nvSpPr>
        <p:spPr>
          <a:xfrm>
            <a:off x="6126480" y="4023360"/>
            <a:ext cx="2651760" cy="731520"/>
          </a:xfrm>
          <a:prstGeom prst="roundRect">
            <a:avLst>
              <a:gd name="adj" fmla="val 12000"/>
            </a:avLst>
          </a:prstGeom>
          <a:solidFill>
            <a:srgbClr val="FFF0D9"/>
          </a:solidFill>
          <a:ln w="19050">
            <a:solidFill>
              <a:srgbClr val="FFAB40"/>
            </a:solidFill>
          </a:ln>
        </p:spPr>
        <p:txBody>
          <a:bodyPr wrap="square" lIns="36576" tIns="36576" rIns="36576" bIns="36576" rtlCol="0" anchor="ctr">
            <a:noAutofit/>
          </a:bodyPr>
          <a:lstStyle/>
          <a:p>
            <a:pPr marL="0" indent="0" algn="ctr" rtl="1">
              <a:lnSpc>
                <a:spcPct val="105000"/>
              </a:lnSpc>
              <a:spcBef>
                <a:spcPts val="0"/>
              </a:spcBef>
              <a:spcAft>
                <a:spcPts val="0"/>
              </a:spcAft>
              <a:buNone/>
            </a:pPr>
            <a:r>
              <a:rPr lang="he-IL" sz="1300" b="0" i="0">
                <a:solidFill>
                  <a:srgbClr val="595959"/>
                </a:solidFill>
              </a:rPr>
              <a:t>רואה</a:t>
            </a:r>
          </a:p>
          <a:p>
            <a:pPr marL="0" indent="0" algn="ctr" rtl="1">
              <a:lnSpc>
                <a:spcPct val="105000"/>
              </a:lnSpc>
              <a:spcBef>
                <a:spcPts val="0"/>
              </a:spcBef>
              <a:spcAft>
                <a:spcPts val="0"/>
              </a:spcAft>
              <a:buNone/>
            </a:pPr>
            <a:r>
              <a:rPr lang="he-IL" sz="1600" b="1" i="0">
                <a:solidFill>
                  <a:srgbClr val="212121"/>
                </a:solidFill>
              </a:rPr>
              <a:t>הקובץ הפתוח</a:t>
            </a:r>
          </a:p>
        </p:txBody>
      </p:sp>
      <p:sp>
        <p:nvSpPr>
          <p:cNvPr id="12" name="Rounded Rectangle 11"/>
          <p:cNvSpPr/>
          <p:nvPr/>
        </p:nvSpPr>
        <p:spPr>
          <a:xfrm>
            <a:off x="3246120" y="4023360"/>
            <a:ext cx="2651760" cy="731520"/>
          </a:xfrm>
          <a:prstGeom prst="roundRect">
            <a:avLst>
              <a:gd name="adj" fmla="val 12000"/>
            </a:avLst>
          </a:prstGeom>
          <a:solidFill>
            <a:srgbClr val="FDE3E0"/>
          </a:solidFill>
          <a:ln w="19050">
            <a:solidFill>
              <a:srgbClr val="EA4335"/>
            </a:solidFill>
          </a:ln>
        </p:spPr>
        <p:txBody>
          <a:bodyPr wrap="square" lIns="36576" tIns="36576" rIns="36576" bIns="36576" rtlCol="0" anchor="ctr">
            <a:noAutofit/>
          </a:bodyPr>
          <a:lstStyle/>
          <a:p>
            <a:pPr marL="0" indent="0" algn="ctr" rtl="1">
              <a:lnSpc>
                <a:spcPct val="105000"/>
              </a:lnSpc>
              <a:spcBef>
                <a:spcPts val="0"/>
              </a:spcBef>
              <a:spcAft>
                <a:spcPts val="0"/>
              </a:spcAft>
              <a:buNone/>
            </a:pPr>
            <a:r>
              <a:rPr lang="he-IL" sz="1300" b="0" i="0">
                <a:solidFill>
                  <a:srgbClr val="595959"/>
                </a:solidFill>
              </a:rPr>
              <a:t>מריץ קוד?</a:t>
            </a:r>
          </a:p>
          <a:p>
            <a:pPr marL="0" indent="0" algn="ctr" rtl="1">
              <a:lnSpc>
                <a:spcPct val="105000"/>
              </a:lnSpc>
              <a:spcBef>
                <a:spcPts val="0"/>
              </a:spcBef>
              <a:spcAft>
                <a:spcPts val="0"/>
              </a:spcAft>
              <a:buNone/>
            </a:pPr>
            <a:r>
              <a:rPr lang="he-IL" sz="1600" b="1" i="0">
                <a:solidFill>
                  <a:srgbClr val="212121"/>
                </a:solidFill>
              </a:rPr>
              <a:t>בדרך כלל לא</a:t>
            </a:r>
          </a:p>
        </p:txBody>
      </p:sp>
      <p:sp>
        <p:nvSpPr>
          <p:cNvPr id="13" name="Rounded Rectangle 12"/>
          <p:cNvSpPr/>
          <p:nvPr/>
        </p:nvSpPr>
        <p:spPr>
          <a:xfrm>
            <a:off x="365760" y="4023360"/>
            <a:ext cx="2651760" cy="731520"/>
          </a:xfrm>
          <a:prstGeom prst="roundRect">
            <a:avLst>
              <a:gd name="adj" fmla="val 12000"/>
            </a:avLst>
          </a:prstGeom>
          <a:solidFill>
            <a:srgbClr val="E1F4E6"/>
          </a:solidFill>
          <a:ln w="19050">
            <a:solidFill>
              <a:srgbClr val="34A853"/>
            </a:solidFill>
          </a:ln>
        </p:spPr>
        <p:txBody>
          <a:bodyPr wrap="square" lIns="36576" tIns="36576" rIns="36576" bIns="36576" rtlCol="0" anchor="ctr">
            <a:noAutofit/>
          </a:bodyPr>
          <a:lstStyle/>
          <a:p>
            <a:pPr marL="0" indent="0" algn="ctr" rtl="1">
              <a:lnSpc>
                <a:spcPct val="105000"/>
              </a:lnSpc>
              <a:spcBef>
                <a:spcPts val="0"/>
              </a:spcBef>
              <a:spcAft>
                <a:spcPts val="0"/>
              </a:spcAft>
              <a:buNone/>
            </a:pPr>
            <a:r>
              <a:rPr lang="he-IL" sz="1300" b="0" i="0">
                <a:solidFill>
                  <a:srgbClr val="595959"/>
                </a:solidFill>
              </a:rPr>
              <a:t>מי מאשר?</a:t>
            </a:r>
          </a:p>
          <a:p>
            <a:pPr marL="0" indent="0" algn="ctr" rtl="1">
              <a:lnSpc>
                <a:spcPct val="105000"/>
              </a:lnSpc>
              <a:spcBef>
                <a:spcPts val="0"/>
              </a:spcBef>
              <a:spcAft>
                <a:spcPts val="0"/>
              </a:spcAft>
              <a:buNone/>
            </a:pPr>
            <a:r>
              <a:rPr lang="he-IL" sz="1600" b="1" i="0">
                <a:solidFill>
                  <a:srgbClr val="212121"/>
                </a:solidFill>
              </a:rPr>
              <a:t>אתם, בקבלה</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משפחה 3: סוכן</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3474720" y="2103120"/>
            <a:ext cx="2194560" cy="1005840"/>
          </a:xfrm>
          <a:prstGeom prst="roundRect">
            <a:avLst>
              <a:gd name="adj" fmla="val 12000"/>
            </a:avLst>
          </a:prstGeom>
          <a:solidFill>
            <a:srgbClr val="FFAB40"/>
          </a:solidFill>
          <a:ln>
            <a:no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600" b="1" i="0">
                <a:solidFill>
                  <a:srgbClr val="212121"/>
                </a:solidFill>
              </a:rPr>
              <a:t>🤖 סוכן</a:t>
            </a:r>
          </a:p>
        </p:txBody>
      </p:sp>
      <p:sp>
        <p:nvSpPr>
          <p:cNvPr id="6" name="Rounded Rectangle 5"/>
          <p:cNvSpPr/>
          <p:nvPr/>
        </p:nvSpPr>
        <p:spPr>
          <a:xfrm>
            <a:off x="6400800" y="1371600"/>
            <a:ext cx="2377440" cy="914400"/>
          </a:xfrm>
          <a:prstGeom prst="roundRect">
            <a:avLst>
              <a:gd name="adj" fmla="val 12000"/>
            </a:avLst>
          </a:prstGeom>
          <a:solidFill>
            <a:srgbClr val="DDF2F5"/>
          </a:solidFill>
          <a:ln w="19050">
            <a:solidFill>
              <a:srgbClr val="0097A7"/>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 קבצי הפרויקט</a:t>
            </a:r>
          </a:p>
          <a:p>
            <a:pPr marL="0" indent="0" algn="ctr" rtl="1">
              <a:lnSpc>
                <a:spcPct val="105000"/>
              </a:lnSpc>
              <a:spcBef>
                <a:spcPts val="0"/>
              </a:spcBef>
              <a:spcAft>
                <a:spcPts val="0"/>
              </a:spcAft>
              <a:buNone/>
            </a:pPr>
            <a:r>
              <a:rPr lang="he-IL" sz="1600" b="0" i="0">
                <a:solidFill>
                  <a:srgbClr val="212121"/>
                </a:solidFill>
              </a:rPr>
              <a:t>קורא וגם עורך</a:t>
            </a:r>
          </a:p>
        </p:txBody>
      </p:sp>
      <p:sp>
        <p:nvSpPr>
          <p:cNvPr id="7" name="Rounded Rectangle 6"/>
          <p:cNvSpPr/>
          <p:nvPr/>
        </p:nvSpPr>
        <p:spPr>
          <a:xfrm>
            <a:off x="6400800" y="2926080"/>
            <a:ext cx="2377440" cy="914400"/>
          </a:xfrm>
          <a:prstGeom prst="roundRect">
            <a:avLst>
              <a:gd name="adj" fmla="val 12000"/>
            </a:avLst>
          </a:prstGeom>
          <a:solidFill>
            <a:srgbClr val="DDF2F5"/>
          </a:solidFill>
          <a:ln w="19050">
            <a:solidFill>
              <a:srgbClr val="0097A7"/>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 מסוף</a:t>
            </a:r>
          </a:p>
          <a:p>
            <a:pPr marL="0" indent="0" algn="ctr" rtl="1">
              <a:lnSpc>
                <a:spcPct val="105000"/>
              </a:lnSpc>
              <a:spcBef>
                <a:spcPts val="0"/>
              </a:spcBef>
              <a:spcAft>
                <a:spcPts val="0"/>
              </a:spcAft>
              <a:buNone/>
            </a:pPr>
            <a:r>
              <a:rPr lang="he-IL" sz="1600" b="0" i="0">
                <a:solidFill>
                  <a:srgbClr val="212121"/>
                </a:solidFill>
              </a:rPr>
              <a:t>מריץ פקודות ובדיקות</a:t>
            </a:r>
          </a:p>
        </p:txBody>
      </p:sp>
      <p:sp>
        <p:nvSpPr>
          <p:cNvPr id="8" name="Rounded Rectangle 7"/>
          <p:cNvSpPr/>
          <p:nvPr/>
        </p:nvSpPr>
        <p:spPr>
          <a:xfrm>
            <a:off x="365760" y="2148840"/>
            <a:ext cx="2377440" cy="91440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 אתם</a:t>
            </a:r>
          </a:p>
          <a:p>
            <a:pPr marL="0" indent="0" algn="ctr" rtl="1">
              <a:lnSpc>
                <a:spcPct val="105000"/>
              </a:lnSpc>
              <a:spcBef>
                <a:spcPts val="0"/>
              </a:spcBef>
              <a:spcAft>
                <a:spcPts val="0"/>
              </a:spcAft>
              <a:buNone/>
            </a:pPr>
            <a:r>
              <a:rPr lang="he-IL" sz="1600" b="0" i="0">
                <a:solidFill>
                  <a:srgbClr val="212121"/>
                </a:solidFill>
              </a:rPr>
              <a:t>מאשרים או חוסמים</a:t>
            </a:r>
          </a:p>
        </p:txBody>
      </p:sp>
      <p:cxnSp>
        <p:nvCxnSpPr>
          <p:cNvPr id="9" name="Connector 8"/>
          <p:cNvCxnSpPr/>
          <p:nvPr/>
        </p:nvCxnSpPr>
        <p:spPr>
          <a:xfrm flipV="1">
            <a:off x="5715000" y="1920240"/>
            <a:ext cx="685800" cy="411480"/>
          </a:xfrm>
          <a:prstGeom prst="line">
            <a:avLst/>
          </a:prstGeom>
          <a:ln w="38100">
            <a:solidFill>
              <a:srgbClr val="0097A7"/>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715000" y="2926080"/>
            <a:ext cx="685800" cy="365760"/>
          </a:xfrm>
          <a:prstGeom prst="line">
            <a:avLst/>
          </a:prstGeom>
          <a:ln w="38100">
            <a:solidFill>
              <a:srgbClr val="0097A7"/>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788920" y="2606040"/>
            <a:ext cx="640080" cy="0"/>
          </a:xfrm>
          <a:prstGeom prst="line">
            <a:avLst/>
          </a:prstGeom>
          <a:ln w="38100">
            <a:solidFill>
              <a:srgbClr val="4285F4"/>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26480" y="4160520"/>
            <a:ext cx="2651760" cy="731520"/>
          </a:xfrm>
          <a:prstGeom prst="roundRect">
            <a:avLst>
              <a:gd name="adj" fmla="val 12000"/>
            </a:avLst>
          </a:prstGeom>
          <a:solidFill>
            <a:srgbClr val="FFF0D9"/>
          </a:solidFill>
          <a:ln w="19050">
            <a:solidFill>
              <a:srgbClr val="FFAB40"/>
            </a:solidFill>
          </a:ln>
        </p:spPr>
        <p:txBody>
          <a:bodyPr wrap="square" lIns="36576" tIns="36576" rIns="36576" bIns="36576" rtlCol="0" anchor="ctr">
            <a:noAutofit/>
          </a:bodyPr>
          <a:lstStyle/>
          <a:p>
            <a:pPr marL="0" indent="0" algn="ctr" rtl="1">
              <a:lnSpc>
                <a:spcPct val="105000"/>
              </a:lnSpc>
              <a:spcBef>
                <a:spcPts val="0"/>
              </a:spcBef>
              <a:spcAft>
                <a:spcPts val="0"/>
              </a:spcAft>
              <a:buNone/>
            </a:pPr>
            <a:r>
              <a:rPr lang="he-IL" sz="1300" b="0" i="0">
                <a:solidFill>
                  <a:srgbClr val="595959"/>
                </a:solidFill>
              </a:rPr>
              <a:t>רואה</a:t>
            </a:r>
          </a:p>
          <a:p>
            <a:pPr marL="0" indent="0" algn="ctr" rtl="1">
              <a:lnSpc>
                <a:spcPct val="105000"/>
              </a:lnSpc>
              <a:spcBef>
                <a:spcPts val="0"/>
              </a:spcBef>
              <a:spcAft>
                <a:spcPts val="0"/>
              </a:spcAft>
              <a:buNone/>
            </a:pPr>
            <a:r>
              <a:rPr lang="he-IL" sz="1600" b="1" i="0">
                <a:solidFill>
                  <a:srgbClr val="212121"/>
                </a:solidFill>
              </a:rPr>
              <a:t>את כל הפרויקט</a:t>
            </a:r>
          </a:p>
        </p:txBody>
      </p:sp>
      <p:sp>
        <p:nvSpPr>
          <p:cNvPr id="13" name="Rounded Rectangle 12"/>
          <p:cNvSpPr/>
          <p:nvPr/>
        </p:nvSpPr>
        <p:spPr>
          <a:xfrm>
            <a:off x="3246120" y="4160520"/>
            <a:ext cx="2651760" cy="731520"/>
          </a:xfrm>
          <a:prstGeom prst="roundRect">
            <a:avLst>
              <a:gd name="adj" fmla="val 12000"/>
            </a:avLst>
          </a:prstGeom>
          <a:solidFill>
            <a:srgbClr val="E1F4E6"/>
          </a:solidFill>
          <a:ln w="19050">
            <a:solidFill>
              <a:srgbClr val="34A853"/>
            </a:solidFill>
          </a:ln>
        </p:spPr>
        <p:txBody>
          <a:bodyPr wrap="square" lIns="36576" tIns="36576" rIns="36576" bIns="36576" rtlCol="0" anchor="ctr">
            <a:noAutofit/>
          </a:bodyPr>
          <a:lstStyle/>
          <a:p>
            <a:pPr marL="0" indent="0" algn="ctr" rtl="1">
              <a:lnSpc>
                <a:spcPct val="105000"/>
              </a:lnSpc>
              <a:spcBef>
                <a:spcPts val="0"/>
              </a:spcBef>
              <a:spcAft>
                <a:spcPts val="0"/>
              </a:spcAft>
              <a:buNone/>
            </a:pPr>
            <a:r>
              <a:rPr lang="he-IL" sz="1300" b="0" i="0">
                <a:solidFill>
                  <a:srgbClr val="595959"/>
                </a:solidFill>
              </a:rPr>
              <a:t>מריץ קוד?</a:t>
            </a:r>
          </a:p>
          <a:p>
            <a:pPr marL="0" indent="0" algn="ctr" rtl="1">
              <a:lnSpc>
                <a:spcPct val="105000"/>
              </a:lnSpc>
              <a:spcBef>
                <a:spcPts val="0"/>
              </a:spcBef>
              <a:spcAft>
                <a:spcPts val="0"/>
              </a:spcAft>
              <a:buNone/>
            </a:pPr>
            <a:r>
              <a:rPr lang="he-IL" sz="1600" b="1" i="0">
                <a:solidFill>
                  <a:srgbClr val="212121"/>
                </a:solidFill>
              </a:rPr>
              <a:t>כן</a:t>
            </a:r>
          </a:p>
        </p:txBody>
      </p:sp>
      <p:sp>
        <p:nvSpPr>
          <p:cNvPr id="14" name="Rounded Rectangle 13"/>
          <p:cNvSpPr/>
          <p:nvPr/>
        </p:nvSpPr>
        <p:spPr>
          <a:xfrm>
            <a:off x="365760" y="4160520"/>
            <a:ext cx="2651760" cy="731520"/>
          </a:xfrm>
          <a:prstGeom prst="roundRect">
            <a:avLst>
              <a:gd name="adj" fmla="val 12000"/>
            </a:avLst>
          </a:prstGeom>
          <a:solidFill>
            <a:srgbClr val="FFF0D9"/>
          </a:solidFill>
          <a:ln w="19050">
            <a:solidFill>
              <a:srgbClr val="FFAB40"/>
            </a:solidFill>
          </a:ln>
        </p:spPr>
        <p:txBody>
          <a:bodyPr wrap="square" lIns="36576" tIns="36576" rIns="36576" bIns="36576" rtlCol="0" anchor="ctr">
            <a:noAutofit/>
          </a:bodyPr>
          <a:lstStyle/>
          <a:p>
            <a:pPr marL="0" indent="0" algn="ctr" rtl="1">
              <a:lnSpc>
                <a:spcPct val="105000"/>
              </a:lnSpc>
              <a:spcBef>
                <a:spcPts val="0"/>
              </a:spcBef>
              <a:spcAft>
                <a:spcPts val="0"/>
              </a:spcAft>
              <a:buNone/>
            </a:pPr>
            <a:r>
              <a:rPr lang="he-IL" sz="1300" b="0" i="0">
                <a:solidFill>
                  <a:srgbClr val="595959"/>
                </a:solidFill>
              </a:rPr>
              <a:t>מי מאשר?</a:t>
            </a:r>
          </a:p>
          <a:p>
            <a:pPr marL="0" indent="0" algn="ctr" rtl="1">
              <a:lnSpc>
                <a:spcPct val="105000"/>
              </a:lnSpc>
              <a:spcBef>
                <a:spcPts val="0"/>
              </a:spcBef>
              <a:spcAft>
                <a:spcPts val="0"/>
              </a:spcAft>
              <a:buNone/>
            </a:pPr>
            <a:r>
              <a:rPr lang="he-IL" sz="1600" b="1" i="0">
                <a:solidFill>
                  <a:srgbClr val="212121"/>
                </a:solidFill>
              </a:rPr>
              <a:t>לפי רמת אוטונומיה</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השוואה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457200" y="1554480"/>
          <a:ext cx="8229597" cy="3291840"/>
        </p:xfrm>
        <a:graphic>
          <a:graphicData uri="http://schemas.openxmlformats.org/drawingml/2006/table">
            <a:tbl>
              <a:tblPr>
                <a:tableStyleId>{2D5ABB26-0587-4C30-8999-92F81FD0307C}</a:tableStyleId>
              </a:tblPr>
              <a:tblGrid>
                <a:gridCol w="2080008">
                  <a:extLst>
                    <a:ext uri="{9D8B030D-6E8A-4147-A177-3AD203B41FA5}">
                      <a16:colId xmlns:a16="http://schemas.microsoft.com/office/drawing/2014/main" val="20000"/>
                    </a:ext>
                  </a:extLst>
                </a:gridCol>
                <a:gridCol w="2080008">
                  <a:extLst>
                    <a:ext uri="{9D8B030D-6E8A-4147-A177-3AD203B41FA5}">
                      <a16:colId xmlns:a16="http://schemas.microsoft.com/office/drawing/2014/main" val="20001"/>
                    </a:ext>
                  </a:extLst>
                </a:gridCol>
                <a:gridCol w="2080008">
                  <a:extLst>
                    <a:ext uri="{9D8B030D-6E8A-4147-A177-3AD203B41FA5}">
                      <a16:colId xmlns:a16="http://schemas.microsoft.com/office/drawing/2014/main" val="20002"/>
                    </a:ext>
                  </a:extLst>
                </a:gridCol>
                <a:gridCol w="1989573">
                  <a:extLst>
                    <a:ext uri="{9D8B030D-6E8A-4147-A177-3AD203B41FA5}">
                      <a16:colId xmlns:a16="http://schemas.microsoft.com/office/drawing/2014/main" val="20003"/>
                    </a:ext>
                  </a:extLst>
                </a:gridCol>
              </a:tblGrid>
              <a:tr h="658368">
                <a:tc>
                  <a:txBody>
                    <a:bodyPr/>
                    <a:lstStyle/>
                    <a:p>
                      <a:pPr marL="0" indent="0" algn="ctr" rtl="1">
                        <a:lnSpc>
                          <a:spcPct val="100000"/>
                        </a:lnSpc>
                        <a:spcBef>
                          <a:spcPts val="0"/>
                        </a:spcBef>
                        <a:spcAft>
                          <a:spcPts val="0"/>
                        </a:spcAft>
                        <a:buNone/>
                      </a:pPr>
                      <a:r>
                        <a:rPr lang="he-IL" sz="1800" b="1" i="0">
                          <a:solidFill>
                            <a:srgbClr val="212121"/>
                          </a:solidFill>
                        </a:rPr>
                        <a:t>סוכן CLI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800" b="1" i="0">
                          <a:solidFill>
                            <a:srgbClr val="212121"/>
                          </a:solidFill>
                        </a:rPr>
                        <a:t>עוזר בעורך</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800" b="1" i="0">
                          <a:solidFill>
                            <a:srgbClr val="212121"/>
                          </a:solidFill>
                        </a:rPr>
                        <a:t>צ׳אט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endParaR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658368">
                <a:tc>
                  <a:txBody>
                    <a:bodyPr/>
                    <a:lstStyle/>
                    <a:p>
                      <a:pPr marL="0" indent="0" algn="r" rtl="1">
                        <a:lnSpc>
                          <a:spcPct val="100000"/>
                        </a:lnSpc>
                        <a:spcBef>
                          <a:spcPts val="0"/>
                        </a:spcBef>
                        <a:spcAft>
                          <a:spcPts val="0"/>
                        </a:spcAft>
                        <a:buNone/>
                      </a:pPr>
                      <a:r>
                        <a:rPr lang="he-IL" sz="1800" b="0" i="0">
                          <a:solidFill>
                            <a:srgbClr val="212121"/>
                          </a:solidFill>
                        </a:rPr>
                        <a:t>בתיקיית הפרויקט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a:lstStyle/>
                    <a:p>
                      <a:pPr marL="0" indent="0" algn="r" rtl="1">
                        <a:lnSpc>
                          <a:spcPct val="100000"/>
                        </a:lnSpc>
                        <a:spcBef>
                          <a:spcPts val="0"/>
                        </a:spcBef>
                        <a:spcAft>
                          <a:spcPts val="0"/>
                        </a:spcAft>
                        <a:buNone/>
                      </a:pPr>
                      <a:r>
                        <a:rPr lang="he-IL" sz="1800" b="0" i="0">
                          <a:solidFill>
                            <a:srgbClr val="212121"/>
                          </a:solidFill>
                        </a:rPr>
                        <a:t>בעורך שלכם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DDF2F5"/>
                    </a:solidFill>
                  </a:tcPr>
                </a:tc>
                <a:tc>
                  <a:txBody>
                    <a:bodyPr/>
                    <a:lstStyle/>
                    <a:p>
                      <a:pPr marL="0" indent="0" algn="r" rtl="1">
                        <a:lnSpc>
                          <a:spcPct val="100000"/>
                        </a:lnSpc>
                        <a:spcBef>
                          <a:spcPts val="0"/>
                        </a:spcBef>
                        <a:spcAft>
                          <a:spcPts val="0"/>
                        </a:spcAft>
                        <a:buNone/>
                      </a:pPr>
                      <a:r>
                        <a:rPr lang="he-IL" sz="1800" b="0" i="0">
                          <a:solidFill>
                            <a:srgbClr val="212121"/>
                          </a:solidFill>
                        </a:rPr>
                        <a:t>אצלכם. הצ׳אט רק מציע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c>
                  <a:txBody>
                    <a:bodyPr/>
                    <a:lstStyle/>
                    <a:p>
                      <a:pPr marL="0" indent="0" algn="r" rtl="1">
                        <a:lnSpc>
                          <a:spcPct val="100000"/>
                        </a:lnSpc>
                        <a:spcBef>
                          <a:spcPts val="0"/>
                        </a:spcBef>
                        <a:spcAft>
                          <a:spcPts val="0"/>
                        </a:spcAft>
                        <a:buNone/>
                      </a:pPr>
                      <a:r>
                        <a:rPr lang="he-IL" sz="1800" b="1" i="0">
                          <a:solidFill>
                            <a:srgbClr val="212121"/>
                          </a:solidFill>
                        </a:rPr>
                        <a:t>איפה הקוד חי?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658368">
                <a:tc>
                  <a:txBody>
                    <a:bodyPr/>
                    <a:lstStyle/>
                    <a:p>
                      <a:pPr marL="0" indent="0" algn="r" rtl="1">
                        <a:lnSpc>
                          <a:spcPct val="100000"/>
                        </a:lnSpc>
                        <a:spcBef>
                          <a:spcPts val="0"/>
                        </a:spcBef>
                        <a:spcAft>
                          <a:spcPts val="0"/>
                        </a:spcAft>
                        <a:buNone/>
                      </a:pPr>
                      <a:r>
                        <a:rPr lang="he-IL" sz="1800" b="0" i="0">
                          <a:solidFill>
                            <a:srgbClr val="212121"/>
                          </a:solidFill>
                        </a:rPr>
                        <a:t>כל הפרויקט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a:lstStyle/>
                    <a:p>
                      <a:pPr marL="0" indent="0" algn="r" rtl="1">
                        <a:lnSpc>
                          <a:spcPct val="100000"/>
                        </a:lnSpc>
                        <a:spcBef>
                          <a:spcPts val="0"/>
                        </a:spcBef>
                        <a:spcAft>
                          <a:spcPts val="0"/>
                        </a:spcAft>
                        <a:buNone/>
                      </a:pPr>
                      <a:r>
                        <a:rPr lang="he-IL" sz="1800" b="0" i="0">
                          <a:solidFill>
                            <a:srgbClr val="212121"/>
                          </a:solidFill>
                        </a:rPr>
                        <a:t>הקובץ הפתוח</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a:lstStyle/>
                    <a:p>
                      <a:pPr marL="0" indent="0" algn="r" rtl="1">
                        <a:lnSpc>
                          <a:spcPct val="100000"/>
                        </a:lnSpc>
                        <a:spcBef>
                          <a:spcPts val="0"/>
                        </a:spcBef>
                        <a:spcAft>
                          <a:spcPts val="0"/>
                        </a:spcAft>
                        <a:buNone/>
                      </a:pPr>
                      <a:r>
                        <a:rPr lang="he-IL" sz="1800" b="0" i="0">
                          <a:solidFill>
                            <a:srgbClr val="212121"/>
                          </a:solidFill>
                        </a:rPr>
                        <a:t>מה שהדבקתם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a:lstStyle/>
                    <a:p>
                      <a:pPr marL="0" indent="0" algn="r" rtl="1">
                        <a:lnSpc>
                          <a:spcPct val="100000"/>
                        </a:lnSpc>
                        <a:spcBef>
                          <a:spcPts val="0"/>
                        </a:spcBef>
                        <a:spcAft>
                          <a:spcPts val="0"/>
                        </a:spcAft>
                        <a:buNone/>
                      </a:pPr>
                      <a:r>
                        <a:rPr lang="he-IL" sz="1800" b="1" i="0">
                          <a:solidFill>
                            <a:srgbClr val="212121"/>
                          </a:solidFill>
                        </a:rPr>
                        <a:t>מה הכלי רואה?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658368">
                <a:tc>
                  <a:txBody>
                    <a:bodyPr/>
                    <a:lstStyle/>
                    <a:p>
                      <a:pPr marL="0" indent="0" algn="r" rtl="1">
                        <a:lnSpc>
                          <a:spcPct val="100000"/>
                        </a:lnSpc>
                        <a:spcBef>
                          <a:spcPts val="0"/>
                        </a:spcBef>
                        <a:spcAft>
                          <a:spcPts val="0"/>
                        </a:spcAft>
                        <a:buNone/>
                      </a:pPr>
                      <a:r>
                        <a:rPr lang="he-IL" sz="1800" b="0" i="0">
                          <a:solidFill>
                            <a:srgbClr val="212121"/>
                          </a:solidFill>
                        </a:rPr>
                        <a:t>כן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a:lstStyle/>
                    <a:p>
                      <a:pPr marL="0" indent="0" algn="r" rtl="1">
                        <a:lnSpc>
                          <a:spcPct val="100000"/>
                        </a:lnSpc>
                        <a:spcBef>
                          <a:spcPts val="0"/>
                        </a:spcBef>
                        <a:spcAft>
                          <a:spcPts val="0"/>
                        </a:spcAft>
                        <a:buNone/>
                      </a:pPr>
                      <a:r>
                        <a:rPr lang="he-IL" sz="1800" b="0" i="0">
                          <a:solidFill>
                            <a:srgbClr val="212121"/>
                          </a:solidFill>
                        </a:rPr>
                        <a:t>בדרך כלל לא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a:lstStyle/>
                    <a:p>
                      <a:pPr marL="0" indent="0" algn="r" rtl="1">
                        <a:lnSpc>
                          <a:spcPct val="100000"/>
                        </a:lnSpc>
                        <a:spcBef>
                          <a:spcPts val="0"/>
                        </a:spcBef>
                        <a:spcAft>
                          <a:spcPts val="0"/>
                        </a:spcAft>
                        <a:buNone/>
                      </a:pPr>
                      <a:r>
                        <a:rPr lang="he-IL" sz="1800" b="0" i="0">
                          <a:solidFill>
                            <a:srgbClr val="212121"/>
                          </a:solidFill>
                        </a:rPr>
                        <a:t>לא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a:lstStyle/>
                    <a:p>
                      <a:pPr marL="0" indent="0" algn="r" rtl="1">
                        <a:lnSpc>
                          <a:spcPct val="100000"/>
                        </a:lnSpc>
                        <a:spcBef>
                          <a:spcPts val="0"/>
                        </a:spcBef>
                        <a:spcAft>
                          <a:spcPts val="0"/>
                        </a:spcAft>
                        <a:buNone/>
                      </a:pPr>
                      <a:r>
                        <a:rPr lang="he-IL" sz="1800" b="1" i="0">
                          <a:solidFill>
                            <a:srgbClr val="212121"/>
                          </a:solidFill>
                        </a:rPr>
                        <a:t>האם מריץ קוד?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r h="658368">
                <a:tc>
                  <a:txBody>
                    <a:bodyPr/>
                    <a:lstStyle/>
                    <a:p>
                      <a:pPr marL="0" indent="0" algn="r" rtl="1">
                        <a:lnSpc>
                          <a:spcPct val="100000"/>
                        </a:lnSpc>
                        <a:spcBef>
                          <a:spcPts val="0"/>
                        </a:spcBef>
                        <a:spcAft>
                          <a:spcPts val="0"/>
                        </a:spcAft>
                        <a:buNone/>
                      </a:pPr>
                      <a:r>
                        <a:rPr lang="he-IL" sz="1800" b="0" i="0">
                          <a:solidFill>
                            <a:srgbClr val="212121"/>
                          </a:solidFill>
                        </a:rPr>
                        <a:t>לפי רמת אוטונומיה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a:lstStyle/>
                    <a:p>
                      <a:pPr marL="0" indent="0" algn="r" rtl="1">
                        <a:lnSpc>
                          <a:spcPct val="100000"/>
                        </a:lnSpc>
                        <a:spcBef>
                          <a:spcPts val="0"/>
                        </a:spcBef>
                        <a:spcAft>
                          <a:spcPts val="0"/>
                        </a:spcAft>
                        <a:buNone/>
                      </a:pPr>
                      <a:r>
                        <a:rPr lang="he-IL" sz="1800" b="0" i="0">
                          <a:solidFill>
                            <a:srgbClr val="212121"/>
                          </a:solidFill>
                        </a:rPr>
                        <a:t>אתם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a:lstStyle/>
                    <a:p>
                      <a:pPr marL="0" indent="0" algn="r" rtl="1">
                        <a:lnSpc>
                          <a:spcPct val="100000"/>
                        </a:lnSpc>
                        <a:spcBef>
                          <a:spcPts val="0"/>
                        </a:spcBef>
                        <a:spcAft>
                          <a:spcPts val="0"/>
                        </a:spcAft>
                        <a:buNone/>
                      </a:pPr>
                      <a:r>
                        <a:rPr lang="he-IL" sz="1800" b="0" i="0">
                          <a:solidFill>
                            <a:srgbClr val="212121"/>
                          </a:solidFill>
                        </a:rPr>
                        <a:t>אתם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a:lstStyle/>
                    <a:p>
                      <a:pPr marL="0" indent="0" algn="r" rtl="1">
                        <a:lnSpc>
                          <a:spcPct val="100000"/>
                        </a:lnSpc>
                        <a:spcBef>
                          <a:spcPts val="0"/>
                        </a:spcBef>
                        <a:spcAft>
                          <a:spcPts val="0"/>
                        </a:spcAft>
                        <a:buNone/>
                      </a:pPr>
                      <a:r>
                        <a:rPr lang="he-IL" sz="1800" b="1" i="0">
                          <a:solidFill>
                            <a:srgbClr val="212121"/>
                          </a:solidFill>
                        </a:rPr>
                        <a:t>מי מאשר?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כמה רואה, כמה עושה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cxnSp>
        <p:nvCxnSpPr>
          <p:cNvPr id="5" name="Connector 4"/>
          <p:cNvCxnSpPr/>
          <p:nvPr/>
        </p:nvCxnSpPr>
        <p:spPr>
          <a:xfrm flipH="1">
            <a:off x="822960" y="4434840"/>
            <a:ext cx="7680960" cy="0"/>
          </a:xfrm>
          <a:prstGeom prst="line">
            <a:avLst/>
          </a:prstGeom>
          <a:ln w="3175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503920" y="1417320"/>
            <a:ext cx="0" cy="3017520"/>
          </a:xfrm>
          <a:prstGeom prst="line">
            <a:avLst/>
          </a:prstGeom>
          <a:ln w="317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743200" y="4480560"/>
            <a:ext cx="411480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1" i="0">
                <a:solidFill>
                  <a:srgbClr val="595959"/>
                </a:solidFill>
              </a:rPr>
              <a:t>כמה הכלי רואה מהפרויקט  ←</a:t>
            </a:r>
          </a:p>
        </p:txBody>
      </p:sp>
      <p:sp>
        <p:nvSpPr>
          <p:cNvPr id="8" name="TextBox 7"/>
          <p:cNvSpPr txBox="1"/>
          <p:nvPr/>
        </p:nvSpPr>
        <p:spPr>
          <a:xfrm rot="16200000">
            <a:off x="7452360" y="2697480"/>
            <a:ext cx="2743200" cy="457200"/>
          </a:xfrm>
          <a:prstGeom prst="rect">
            <a:avLst/>
          </a:prstGeom>
          <a:noFill/>
        </p:spPr>
        <p:txBody>
          <a:bodyPr wrap="square" lIns="18288" tIns="18288" rIns="18288" bIns="18288" anchor="ctr">
            <a:noAutofit/>
          </a:bodyPr>
          <a:lstStyle/>
          <a:p>
            <a:pPr marL="0" indent="0" algn="ctr" rtl="1">
              <a:lnSpc>
                <a:spcPct val="110000"/>
              </a:lnSpc>
              <a:spcBef>
                <a:spcPts val="0"/>
              </a:spcBef>
              <a:spcAft>
                <a:spcPts val="0"/>
              </a:spcAft>
              <a:buNone/>
            </a:pPr>
            <a:r>
              <a:rPr lang="he-IL" sz="1600" b="1" i="0">
                <a:solidFill>
                  <a:srgbClr val="595959"/>
                </a:solidFill>
              </a:rPr>
              <a:t>כמה הוא עושה לבד  ←</a:t>
            </a:r>
          </a:p>
        </p:txBody>
      </p:sp>
      <p:sp>
        <p:nvSpPr>
          <p:cNvPr id="9" name="Oval 8"/>
          <p:cNvSpPr/>
          <p:nvPr/>
        </p:nvSpPr>
        <p:spPr>
          <a:xfrm>
            <a:off x="6126480" y="3383280"/>
            <a:ext cx="2011680" cy="868680"/>
          </a:xfrm>
          <a:prstGeom prst="ellipse">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000" b="1" i="0">
                <a:solidFill>
                  <a:srgbClr val="212121"/>
                </a:solidFill>
              </a:rPr>
              <a:t>💬 צ׳אט</a:t>
            </a:r>
          </a:p>
        </p:txBody>
      </p:sp>
      <p:sp>
        <p:nvSpPr>
          <p:cNvPr id="10" name="Oval 9"/>
          <p:cNvSpPr/>
          <p:nvPr/>
        </p:nvSpPr>
        <p:spPr>
          <a:xfrm>
            <a:off x="3657600" y="2514600"/>
            <a:ext cx="2194560" cy="868680"/>
          </a:xfrm>
          <a:prstGeom prst="ellipse">
            <a:avLst/>
          </a:prstGeom>
          <a:solidFill>
            <a:srgbClr val="DDF2F5"/>
          </a:solidFill>
          <a:ln w="19050">
            <a:solidFill>
              <a:srgbClr val="0097A7"/>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000" b="1" i="0">
                <a:solidFill>
                  <a:srgbClr val="212121"/>
                </a:solidFill>
              </a:rPr>
              <a:t>✏️ עוזר בעורך</a:t>
            </a:r>
          </a:p>
        </p:txBody>
      </p:sp>
      <p:sp>
        <p:nvSpPr>
          <p:cNvPr id="11" name="Oval 10"/>
          <p:cNvSpPr/>
          <p:nvPr/>
        </p:nvSpPr>
        <p:spPr>
          <a:xfrm>
            <a:off x="1097280" y="1554480"/>
            <a:ext cx="2194560" cy="868680"/>
          </a:xfrm>
          <a:prstGeom prst="ellipse">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000" b="1" i="0">
                <a:solidFill>
                  <a:srgbClr val="212121"/>
                </a:solidFill>
              </a:rPr>
              <a:t>🤖 סוכן</a:t>
            </a:r>
          </a:p>
        </p:txBody>
      </p:sp>
      <p:cxnSp>
        <p:nvCxnSpPr>
          <p:cNvPr id="12" name="Connector 11"/>
          <p:cNvCxnSpPr/>
          <p:nvPr/>
        </p:nvCxnSpPr>
        <p:spPr>
          <a:xfrm flipH="1" flipV="1">
            <a:off x="3383280" y="2011680"/>
            <a:ext cx="2743200" cy="1737359"/>
          </a:xfrm>
          <a:prstGeom prst="line">
            <a:avLst/>
          </a:prstGeom>
          <a:ln w="31750">
            <a:solidFill>
              <a:srgbClr val="EA433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66160" y="3520440"/>
            <a:ext cx="2743200" cy="73152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700" b="1" i="0">
                <a:solidFill>
                  <a:srgbClr val="EA4335"/>
                </a:solidFill>
              </a:rPr>
              <a:t>יותר כוח = יותר אחריות לבדוק</a:t>
            </a:r>
          </a:p>
        </p:txBody>
      </p:sp>
      <p:sp>
        <p:nvSpPr>
          <p:cNvPr id="14"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כלי = מודל + מעטפת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365760" y="1371600"/>
            <a:ext cx="4937760" cy="3520440"/>
          </a:xfrm>
          <a:prstGeom prst="roundRect">
            <a:avLst>
              <a:gd name="adj" fmla="val 4000"/>
            </a:avLst>
          </a:prstGeom>
          <a:solidFill>
            <a:srgbClr val="F7F7F7"/>
          </a:solidFill>
          <a:ln w="19050">
            <a:solidFill>
              <a:srgbClr val="78909C"/>
            </a:solidFill>
          </a:ln>
        </p:spPr>
        <p:txBody>
          <a:bodyPr wrap="square" lIns="73152" tIns="73152" rIns="73152" bIns="73152" rtlCol="0" anchor="ctr">
            <a:noAutofit/>
          </a:bodyPr>
          <a:lstStyle/>
          <a:p>
            <a:pPr algn="ctr"/>
            <a:endParaRPr/>
          </a:p>
        </p:txBody>
      </p:sp>
      <p:sp>
        <p:nvSpPr>
          <p:cNvPr id="6" name="Rounded Rectangle 5"/>
          <p:cNvSpPr/>
          <p:nvPr/>
        </p:nvSpPr>
        <p:spPr>
          <a:xfrm>
            <a:off x="594360" y="1783080"/>
            <a:ext cx="4480560" cy="2926080"/>
          </a:xfrm>
          <a:prstGeom prst="roundRect">
            <a:avLst>
              <a:gd name="adj" fmla="val 5000"/>
            </a:avLst>
          </a:prstGeom>
          <a:solidFill>
            <a:srgbClr val="DDF2F5"/>
          </a:solidFill>
          <a:ln w="19050">
            <a:solidFill>
              <a:srgbClr val="0097A7"/>
            </a:solidFill>
          </a:ln>
        </p:spPr>
        <p:txBody>
          <a:bodyPr wrap="square" lIns="73152" tIns="73152" rIns="73152" bIns="73152" rtlCol="0" anchor="ctr">
            <a:noAutofit/>
          </a:bodyPr>
          <a:lstStyle/>
          <a:p>
            <a:pPr algn="ctr"/>
            <a:endParaRPr/>
          </a:p>
        </p:txBody>
      </p:sp>
      <p:sp>
        <p:nvSpPr>
          <p:cNvPr id="7" name="Rounded Rectangle 6"/>
          <p:cNvSpPr/>
          <p:nvPr/>
        </p:nvSpPr>
        <p:spPr>
          <a:xfrm>
            <a:off x="822960" y="2240280"/>
            <a:ext cx="4023360" cy="2286000"/>
          </a:xfrm>
          <a:prstGeom prst="roundRect">
            <a:avLst>
              <a:gd name="adj" fmla="val 5000"/>
            </a:avLst>
          </a:prstGeom>
          <a:solidFill>
            <a:srgbClr val="E3EEFF"/>
          </a:solidFill>
          <a:ln w="19050">
            <a:solidFill>
              <a:srgbClr val="4285F4"/>
            </a:solidFill>
          </a:ln>
        </p:spPr>
        <p:txBody>
          <a:bodyPr wrap="square" lIns="73152" tIns="73152" rIns="73152" bIns="73152" rtlCol="0" anchor="ctr">
            <a:noAutofit/>
          </a:bodyPr>
          <a:lstStyle/>
          <a:p>
            <a:pPr algn="ctr"/>
            <a:endParaRPr/>
          </a:p>
        </p:txBody>
      </p:sp>
      <p:sp>
        <p:nvSpPr>
          <p:cNvPr id="8" name="Rounded Rectangle 7"/>
          <p:cNvSpPr/>
          <p:nvPr/>
        </p:nvSpPr>
        <p:spPr>
          <a:xfrm>
            <a:off x="1737360" y="3063240"/>
            <a:ext cx="2194560" cy="1005840"/>
          </a:xfrm>
          <a:prstGeom prst="roundRect">
            <a:avLst>
              <a:gd name="adj" fmla="val 12000"/>
            </a:avLst>
          </a:prstGeom>
          <a:solidFill>
            <a:srgbClr val="FFAB40"/>
          </a:solidFill>
          <a:ln>
            <a:no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200" b="1" i="0">
                <a:solidFill>
                  <a:srgbClr val="212121"/>
                </a:solidFill>
              </a:rPr>
              <a:t>🧠 מודל שפה</a:t>
            </a:r>
          </a:p>
        </p:txBody>
      </p:sp>
      <p:sp>
        <p:nvSpPr>
          <p:cNvPr id="9" name="TextBox 8"/>
          <p:cNvSpPr txBox="1"/>
          <p:nvPr/>
        </p:nvSpPr>
        <p:spPr>
          <a:xfrm>
            <a:off x="365760" y="1389888"/>
            <a:ext cx="4937760" cy="384048"/>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500" b="1" i="0">
                <a:solidFill>
                  <a:srgbClr val="595959"/>
                </a:solidFill>
              </a:rPr>
              <a:t>הרשאות ואישורים</a:t>
            </a:r>
          </a:p>
        </p:txBody>
      </p:sp>
      <p:sp>
        <p:nvSpPr>
          <p:cNvPr id="10" name="TextBox 9"/>
          <p:cNvSpPr txBox="1"/>
          <p:nvPr/>
        </p:nvSpPr>
        <p:spPr>
          <a:xfrm>
            <a:off x="594360" y="1810512"/>
            <a:ext cx="4480560" cy="384048"/>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500" b="1" i="0">
                <a:solidFill>
                  <a:srgbClr val="0097A7"/>
                </a:solidFill>
              </a:rPr>
              <a:t>כלים: קריאת קבצים, הרצה, חיפוש</a:t>
            </a:r>
          </a:p>
        </p:txBody>
      </p:sp>
      <p:sp>
        <p:nvSpPr>
          <p:cNvPr id="11" name="TextBox 10"/>
          <p:cNvSpPr txBox="1"/>
          <p:nvPr/>
        </p:nvSpPr>
        <p:spPr>
          <a:xfrm>
            <a:off x="822960" y="2267712"/>
            <a:ext cx="4023360" cy="7772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500" b="1" i="0">
                <a:solidFill>
                  <a:srgbClr val="4285F4"/>
                </a:solidFill>
              </a:rPr>
              <a:t>הוראות מערכת + מה נכנס לחלון ההקשר</a:t>
            </a:r>
          </a:p>
        </p:txBody>
      </p:sp>
      <p:sp>
        <p:nvSpPr>
          <p:cNvPr id="12" name="TextBox 11"/>
          <p:cNvSpPr txBox="1"/>
          <p:nvPr/>
        </p:nvSpPr>
        <p:spPr>
          <a:xfrm>
            <a:off x="5486400" y="1463040"/>
            <a:ext cx="3291840" cy="45720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78909C"/>
                </a:solidFill>
              </a:rPr>
              <a:t>המעטפת (Harness)</a:t>
            </a:r>
          </a:p>
        </p:txBody>
      </p:sp>
      <p:sp>
        <p:nvSpPr>
          <p:cNvPr id="13" name="TextBox 12"/>
          <p:cNvSpPr txBox="1"/>
          <p:nvPr/>
        </p:nvSpPr>
        <p:spPr>
          <a:xfrm>
            <a:off x="5486400" y="2011680"/>
            <a:ext cx="3291840" cy="2560320"/>
          </a:xfrm>
          <a:prstGeom prst="rect">
            <a:avLst/>
          </a:prstGeom>
          <a:noFill/>
        </p:spPr>
        <p:txBody>
          <a:bodyPr wrap="square" lIns="73152" tIns="73152" rIns="73152" bIns="73152" anchor="t">
            <a:noAutofit/>
          </a:bodyPr>
          <a:lstStyle/>
          <a:p>
            <a:pPr marL="0" indent="0" algn="r" rtl="1">
              <a:lnSpc>
                <a:spcPct val="110000"/>
              </a:lnSpc>
              <a:spcBef>
                <a:spcPts val="0"/>
              </a:spcBef>
              <a:spcAft>
                <a:spcPts val="1000"/>
              </a:spcAft>
              <a:buNone/>
            </a:pPr>
            <a:r>
              <a:rPr lang="he-IL" sz="1800" b="0" i="0">
                <a:solidFill>
                  <a:srgbClr val="212121"/>
                </a:solidFill>
              </a:rPr>
              <a:t>כל מה שהכלי בונה סביב המודל.</a:t>
            </a:r>
          </a:p>
          <a:p>
            <a:pPr marL="0" indent="0" algn="r" rtl="1">
              <a:lnSpc>
                <a:spcPct val="110000"/>
              </a:lnSpc>
              <a:spcBef>
                <a:spcPts val="0"/>
              </a:spcBef>
              <a:spcAft>
                <a:spcPts val="0"/>
              </a:spcAft>
              <a:buNone/>
            </a:pPr>
            <a:r>
              <a:rPr lang="he-IL" sz="1800" b="1" i="0">
                <a:solidFill>
                  <a:srgbClr val="212121"/>
                </a:solidFill>
              </a:rPr>
              <a:t>אותו מודל, מעטפת אחרת</a:t>
            </a:r>
          </a:p>
          <a:p>
            <a:pPr marL="0" indent="0" algn="r" rtl="1">
              <a:lnSpc>
                <a:spcPct val="110000"/>
              </a:lnSpc>
              <a:spcBef>
                <a:spcPts val="0"/>
              </a:spcBef>
              <a:spcAft>
                <a:spcPts val="0"/>
              </a:spcAft>
              <a:buNone/>
            </a:pPr>
            <a:r>
              <a:rPr lang="he-IL" sz="1800" b="1" i="0">
                <a:solidFill>
                  <a:srgbClr val="EA4335"/>
                </a:solidFill>
              </a:rPr>
              <a:t>= חוויה ותוצאות אחרות.</a:t>
            </a:r>
          </a:p>
          <a:p>
            <a:pPr marL="0" indent="0" algn="r" rtl="1">
              <a:lnSpc>
                <a:spcPct val="110000"/>
              </a:lnSpc>
              <a:spcBef>
                <a:spcPts val="0"/>
              </a:spcBef>
              <a:spcAft>
                <a:spcPts val="1000"/>
              </a:spcAft>
              <a:buNone/>
            </a:pPr>
            <a:r>
              <a:rPr lang="he-IL" sz="1800" b="0" i="0">
                <a:solidFill>
                  <a:srgbClr val="212121"/>
                </a:solidFill>
              </a:rPr>
              <a:t>ממפגשים 2 ו־4: המעטפת בונה את חלון ההקשר.</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טעות נפוצה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600" b="1" i="0">
                <a:solidFill>
                  <a:srgbClr val="EA4335"/>
                </a:solidFill>
              </a:rPr>
              <a:t>"כלי א׳ פשוט חכם יותר מכלי ב׳."</a:t>
            </a:r>
          </a:p>
          <a:p>
            <a:pPr marL="0" indent="0" algn="r" rtl="1">
              <a:lnSpc>
                <a:spcPct val="110000"/>
              </a:lnSpc>
              <a:spcBef>
                <a:spcPts val="0"/>
              </a:spcBef>
              <a:spcAft>
                <a:spcPts val="0"/>
              </a:spcAft>
              <a:buNone/>
            </a:pPr>
            <a:r>
              <a:rPr lang="he-IL" sz="2000" b="0" i="0">
                <a:solidFill>
                  <a:srgbClr val="212121"/>
                </a:solidFill>
              </a:rPr>
              <a:t>לא בהכרח. לעיתים ההבדל הוא במעטפת, לא במודל.</a:t>
            </a:r>
          </a:p>
        </p:txBody>
      </p:sp>
      <p:sp>
        <p:nvSpPr>
          <p:cNvPr id="6" name="Rounded Rectangle 5"/>
          <p:cNvSpPr/>
          <p:nvPr/>
        </p:nvSpPr>
        <p:spPr>
          <a:xfrm>
            <a:off x="4663440" y="2651760"/>
            <a:ext cx="4114800" cy="2103120"/>
          </a:xfrm>
          <a:prstGeom prst="roundRect">
            <a:avLst>
              <a:gd name="adj" fmla="val 5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7" name="TextBox 6"/>
          <p:cNvSpPr txBox="1"/>
          <p:nvPr/>
        </p:nvSpPr>
        <p:spPr>
          <a:xfrm>
            <a:off x="4663440" y="2697480"/>
            <a:ext cx="411480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כלי א׳</a:t>
            </a:r>
          </a:p>
        </p:txBody>
      </p:sp>
      <p:sp>
        <p:nvSpPr>
          <p:cNvPr id="8" name="Rounded Rectangle 7"/>
          <p:cNvSpPr/>
          <p:nvPr/>
        </p:nvSpPr>
        <p:spPr>
          <a:xfrm>
            <a:off x="5852159" y="3200400"/>
            <a:ext cx="1737360" cy="502920"/>
          </a:xfrm>
          <a:prstGeom prst="roundRect">
            <a:avLst>
              <a:gd name="adj" fmla="val 12000"/>
            </a:avLst>
          </a:prstGeom>
          <a:solidFill>
            <a:srgbClr val="FFAB40"/>
          </a:solidFill>
          <a:ln>
            <a:no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אותו מודל</a:t>
            </a:r>
          </a:p>
        </p:txBody>
      </p:sp>
      <p:sp>
        <p:nvSpPr>
          <p:cNvPr id="9" name="TextBox 8"/>
          <p:cNvSpPr txBox="1"/>
          <p:nvPr/>
        </p:nvSpPr>
        <p:spPr>
          <a:xfrm>
            <a:off x="4754879" y="3840480"/>
            <a:ext cx="3931920" cy="82296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1700" b="0" i="0">
                <a:solidFill>
                  <a:srgbClr val="212121"/>
                </a:solidFill>
              </a:rPr>
              <a:t>רואה את כל הפרויקט, מריץ ובודק את עצמו</a:t>
            </a:r>
          </a:p>
        </p:txBody>
      </p:sp>
      <p:sp>
        <p:nvSpPr>
          <p:cNvPr id="10" name="Rounded Rectangle 9"/>
          <p:cNvSpPr/>
          <p:nvPr/>
        </p:nvSpPr>
        <p:spPr>
          <a:xfrm>
            <a:off x="457200" y="2651760"/>
            <a:ext cx="4114800" cy="2103120"/>
          </a:xfrm>
          <a:prstGeom prst="roundRect">
            <a:avLst>
              <a:gd name="adj" fmla="val 5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11" name="TextBox 10"/>
          <p:cNvSpPr txBox="1"/>
          <p:nvPr/>
        </p:nvSpPr>
        <p:spPr>
          <a:xfrm>
            <a:off x="457200" y="2697480"/>
            <a:ext cx="411480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כלי ב׳</a:t>
            </a:r>
          </a:p>
        </p:txBody>
      </p:sp>
      <p:sp>
        <p:nvSpPr>
          <p:cNvPr id="12" name="Rounded Rectangle 11"/>
          <p:cNvSpPr/>
          <p:nvPr/>
        </p:nvSpPr>
        <p:spPr>
          <a:xfrm>
            <a:off x="1645920" y="3200400"/>
            <a:ext cx="1737360" cy="502920"/>
          </a:xfrm>
          <a:prstGeom prst="roundRect">
            <a:avLst>
              <a:gd name="adj" fmla="val 12000"/>
            </a:avLst>
          </a:prstGeom>
          <a:solidFill>
            <a:srgbClr val="FFAB40"/>
          </a:solidFill>
          <a:ln>
            <a:no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אותו מודל</a:t>
            </a:r>
          </a:p>
        </p:txBody>
      </p:sp>
      <p:sp>
        <p:nvSpPr>
          <p:cNvPr id="13" name="TextBox 12"/>
          <p:cNvSpPr txBox="1"/>
          <p:nvPr/>
        </p:nvSpPr>
        <p:spPr>
          <a:xfrm>
            <a:off x="548640" y="3840480"/>
            <a:ext cx="3931920" cy="82296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1700" b="0" i="0">
                <a:solidFill>
                  <a:srgbClr val="212121"/>
                </a:solidFill>
              </a:rPr>
              <a:t>רואה רק מה שהודבק, לא מריץ</a:t>
            </a:r>
          </a:p>
        </p:txBody>
      </p:sp>
      <p:sp>
        <p:nvSpPr>
          <p:cNvPr id="14"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463040"/>
            <a:ext cx="8412480" cy="274320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400" b="0" i="0">
                <a:solidFill>
                  <a:srgbClr val="212121"/>
                </a:solidFill>
              </a:rPr>
              <a:t>ביקשתם מצ׳אט לתקן באג בפרויקט של 20 קבצים. הוא תיקן קובץ אחד, וזה היה הקובץ הלא נכון.</a:t>
            </a:r>
          </a:p>
          <a:p>
            <a:pPr marL="0" indent="0" algn="r" rtl="1">
              <a:lnSpc>
                <a:spcPct val="110000"/>
              </a:lnSpc>
              <a:spcBef>
                <a:spcPts val="1400"/>
              </a:spcBef>
              <a:spcAft>
                <a:spcPts val="0"/>
              </a:spcAft>
              <a:buNone/>
            </a:pPr>
            <a:r>
              <a:rPr lang="he-IL" sz="2600" b="1" i="0">
                <a:solidFill>
                  <a:srgbClr val="4285F4"/>
                </a:solidFill>
              </a:rPr>
              <a:t>למה זה קרה, ומה אפשר לעשות?</a:t>
            </a:r>
          </a:p>
        </p:txBody>
      </p:sp>
      <p:sp>
        <p:nvSpPr>
          <p:cNvPr id="6"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417320"/>
            <a:ext cx="8412480" cy="109728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800" b="0" i="0">
                <a:solidFill>
                  <a:srgbClr val="595959"/>
                </a:solidFill>
              </a:rPr>
              <a:t>ביקשתם מצ׳אט לתקן באג בפרויקט של 20 קבצים. הוא תיקן קובץ אחד, וזה היה הקובץ הלא נכון.</a:t>
            </a:r>
          </a:p>
        </p:txBody>
      </p:sp>
      <p:sp>
        <p:nvSpPr>
          <p:cNvPr id="6" name="TextBox 5"/>
          <p:cNvSpPr txBox="1"/>
          <p:nvPr/>
        </p:nvSpPr>
        <p:spPr>
          <a:xfrm>
            <a:off x="365760" y="2468880"/>
            <a:ext cx="8412480" cy="25603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34A853"/>
                </a:solidFill>
              </a:rPr>
              <a:t>תשובה:</a:t>
            </a:r>
          </a:p>
          <a:p>
            <a:pPr marL="347472" indent="-292608" algn="r" rtl="1">
              <a:lnSpc>
                <a:spcPct val="110000"/>
              </a:lnSpc>
              <a:spcBef>
                <a:spcPts val="0"/>
              </a:spcBef>
              <a:spcAft>
                <a:spcPts val="600"/>
              </a:spcAft>
              <a:buClr>
                <a:srgbClr val="212121"/>
              </a:buClr>
              <a:buSzPts val="1680"/>
              <a:buChar char="●"/>
            </a:pPr>
            <a:r>
              <a:rPr lang="he-IL" sz="2100" b="0" i="0">
                <a:solidFill>
                  <a:srgbClr val="212121"/>
                </a:solidFill>
              </a:rPr>
              <a:t>הצ׳אט ראה רק את מה שהודבק, ולא את שאר הפרויקט.</a:t>
            </a:r>
          </a:p>
          <a:p>
            <a:pPr marL="347472" indent="-292608" algn="r" rtl="1">
              <a:lnSpc>
                <a:spcPct val="110000"/>
              </a:lnSpc>
              <a:spcBef>
                <a:spcPts val="0"/>
              </a:spcBef>
              <a:spcAft>
                <a:spcPts val="600"/>
              </a:spcAft>
              <a:buClr>
                <a:srgbClr val="212121"/>
              </a:buClr>
              <a:buSzPts val="1680"/>
              <a:buChar char="●"/>
            </a:pPr>
            <a:r>
              <a:rPr lang="he-IL" sz="2100" b="0" i="0">
                <a:solidFill>
                  <a:srgbClr val="212121"/>
                </a:solidFill>
              </a:rPr>
              <a:t>אפשר להדביק את הקבצים הרלוונטיים בעצמכם...</a:t>
            </a:r>
          </a:p>
          <a:p>
            <a:pPr marL="347472" indent="-292608" algn="r" rtl="1">
              <a:lnSpc>
                <a:spcPct val="110000"/>
              </a:lnSpc>
              <a:spcBef>
                <a:spcPts val="0"/>
              </a:spcBef>
              <a:spcAft>
                <a:spcPts val="0"/>
              </a:spcAft>
              <a:buClr>
                <a:srgbClr val="212121"/>
              </a:buClr>
              <a:buSzPts val="1680"/>
              <a:buChar char="●"/>
            </a:pPr>
            <a:r>
              <a:rPr lang="he-IL" sz="2100" b="0" i="0">
                <a:solidFill>
                  <a:srgbClr val="212121"/>
                </a:solidFill>
              </a:rPr>
              <a:t>...או להשתמש בכלי שרואה את הפרויקט.</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העשרה: מה בתוך המעטפת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6172200" y="1463040"/>
            <a:ext cx="2697480" cy="32004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6" name="TextBox 5"/>
          <p:cNvSpPr txBox="1"/>
          <p:nvPr/>
        </p:nvSpPr>
        <p:spPr>
          <a:xfrm>
            <a:off x="617220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7" name="TextBox 6"/>
          <p:cNvSpPr txBox="1"/>
          <p:nvPr/>
        </p:nvSpPr>
        <p:spPr>
          <a:xfrm>
            <a:off x="626364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בונה הקשר</a:t>
            </a:r>
          </a:p>
        </p:txBody>
      </p:sp>
      <p:sp>
        <p:nvSpPr>
          <p:cNvPr id="8" name="TextBox 7"/>
          <p:cNvSpPr txBox="1"/>
          <p:nvPr/>
        </p:nvSpPr>
        <p:spPr>
          <a:xfrm>
            <a:off x="6309360"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הוראות מערכת, היסטוריה וקבצים נבחרים נכנסים לחלון ההקשר.</a:t>
            </a:r>
          </a:p>
        </p:txBody>
      </p:sp>
      <p:sp>
        <p:nvSpPr>
          <p:cNvPr id="9" name="Rounded Rectangle 8"/>
          <p:cNvSpPr/>
          <p:nvPr/>
        </p:nvSpPr>
        <p:spPr>
          <a:xfrm>
            <a:off x="3246120" y="1463040"/>
            <a:ext cx="2697480" cy="32004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0" name="TextBox 9"/>
          <p:cNvSpPr txBox="1"/>
          <p:nvPr/>
        </p:nvSpPr>
        <p:spPr>
          <a:xfrm>
            <a:off x="324612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1" name="TextBox 10"/>
          <p:cNvSpPr txBox="1"/>
          <p:nvPr/>
        </p:nvSpPr>
        <p:spPr>
          <a:xfrm>
            <a:off x="333756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נותנת כלים</a:t>
            </a:r>
          </a:p>
        </p:txBody>
      </p:sp>
      <p:sp>
        <p:nvSpPr>
          <p:cNvPr id="12" name="TextBox 11"/>
          <p:cNvSpPr txBox="1"/>
          <p:nvPr/>
        </p:nvSpPr>
        <p:spPr>
          <a:xfrm>
            <a:off x="338327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קריאה, עריכה, הרצה וחיפוש: המודל מבקש, והמעטפת מבצעת.</a:t>
            </a:r>
          </a:p>
        </p:txBody>
      </p:sp>
      <p:sp>
        <p:nvSpPr>
          <p:cNvPr id="13" name="Rounded Rectangle 12"/>
          <p:cNvSpPr/>
          <p:nvPr/>
        </p:nvSpPr>
        <p:spPr>
          <a:xfrm>
            <a:off x="320039" y="1463040"/>
            <a:ext cx="2697480" cy="32004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4" name="TextBox 13"/>
          <p:cNvSpPr txBox="1"/>
          <p:nvPr/>
        </p:nvSpPr>
        <p:spPr>
          <a:xfrm>
            <a:off x="320039"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5" name="TextBox 14"/>
          <p:cNvSpPr txBox="1"/>
          <p:nvPr/>
        </p:nvSpPr>
        <p:spPr>
          <a:xfrm>
            <a:off x="411479"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שומרת גבולות</a:t>
            </a:r>
          </a:p>
        </p:txBody>
      </p:sp>
      <p:sp>
        <p:nvSpPr>
          <p:cNvPr id="16" name="TextBox 15"/>
          <p:cNvSpPr txBox="1"/>
          <p:nvPr/>
        </p:nvSpPr>
        <p:spPr>
          <a:xfrm>
            <a:off x="45719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הרשאות, אישורים ובידוד: מה מותר, ומה דורש אישור שלכם.</a:t>
            </a:r>
          </a:p>
        </p:txBody>
      </p:sp>
      <p:sp>
        <p:nvSpPr>
          <p:cNvPr id="17" name="TextBox 16"/>
          <p:cNvSpPr txBox="1"/>
          <p:nvPr/>
        </p:nvSpPr>
        <p:spPr>
          <a:xfrm>
            <a:off x="365760" y="4709160"/>
            <a:ext cx="841248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300" b="0" i="0">
                <a:solidFill>
                  <a:srgbClr val="595959"/>
                </a:solidFill>
              </a:rPr>
              <a:t>SWE-agent (NeurIPS 2024): ממשק כלים שתוכנן לסוכן שיפר את יכולתו לערוך ולהריץ קוד.</a:t>
            </a:r>
          </a:p>
        </p:txBody>
      </p:sp>
      <p:sp>
        <p:nvSpPr>
          <p:cNvPr id="18"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העשרה: הקשר והפרוטוקול MCP</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6172200" y="1463040"/>
            <a:ext cx="2697480" cy="32004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6" name="TextBox 5"/>
          <p:cNvSpPr txBox="1"/>
          <p:nvPr/>
        </p:nvSpPr>
        <p:spPr>
          <a:xfrm>
            <a:off x="617220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7" name="TextBox 6"/>
          <p:cNvSpPr txBox="1"/>
          <p:nvPr/>
        </p:nvSpPr>
        <p:spPr>
          <a:xfrm>
            <a:off x="626364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הקשר הוא משאב</a:t>
            </a:r>
          </a:p>
        </p:txBody>
      </p:sp>
      <p:sp>
        <p:nvSpPr>
          <p:cNvPr id="8" name="TextBox 7"/>
          <p:cNvSpPr txBox="1"/>
          <p:nvPr/>
        </p:nvSpPr>
        <p:spPr>
          <a:xfrm>
            <a:off x="6309360"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החלון סופי. יותר טקסט אינו תמיד יותר דיוק, גם בחלון גדול.</a:t>
            </a:r>
          </a:p>
        </p:txBody>
      </p:sp>
      <p:sp>
        <p:nvSpPr>
          <p:cNvPr id="9" name="Rounded Rectangle 8"/>
          <p:cNvSpPr/>
          <p:nvPr/>
        </p:nvSpPr>
        <p:spPr>
          <a:xfrm>
            <a:off x="3246120" y="1463040"/>
            <a:ext cx="2697480" cy="32004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0" name="TextBox 9"/>
          <p:cNvSpPr txBox="1"/>
          <p:nvPr/>
        </p:nvSpPr>
        <p:spPr>
          <a:xfrm>
            <a:off x="324612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1" name="TextBox 10"/>
          <p:cNvSpPr txBox="1"/>
          <p:nvPr/>
        </p:nvSpPr>
        <p:spPr>
          <a:xfrm>
            <a:off x="333756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הקשר לפי דרישה</a:t>
            </a:r>
          </a:p>
        </p:txBody>
      </p:sp>
      <p:sp>
        <p:nvSpPr>
          <p:cNvPr id="12" name="TextBox 11"/>
          <p:cNvSpPr txBox="1"/>
          <p:nvPr/>
        </p:nvSpPr>
        <p:spPr>
          <a:xfrm>
            <a:off x="338327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כלים רבים טוענים קבצים לפי הצורך, ומסכמים כשהחלון מתמלא.</a:t>
            </a:r>
          </a:p>
        </p:txBody>
      </p:sp>
      <p:sp>
        <p:nvSpPr>
          <p:cNvPr id="13" name="Rounded Rectangle 12"/>
          <p:cNvSpPr/>
          <p:nvPr/>
        </p:nvSpPr>
        <p:spPr>
          <a:xfrm>
            <a:off x="320039" y="1463040"/>
            <a:ext cx="2697480" cy="32004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4" name="TextBox 13"/>
          <p:cNvSpPr txBox="1"/>
          <p:nvPr/>
        </p:nvSpPr>
        <p:spPr>
          <a:xfrm>
            <a:off x="320039"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5" name="TextBox 14"/>
          <p:cNvSpPr txBox="1"/>
          <p:nvPr/>
        </p:nvSpPr>
        <p:spPr>
          <a:xfrm>
            <a:off x="411479"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MCP</a:t>
            </a:r>
          </a:p>
        </p:txBody>
      </p:sp>
      <p:sp>
        <p:nvSpPr>
          <p:cNvPr id="16" name="TextBox 15"/>
          <p:cNvSpPr txBox="1"/>
          <p:nvPr/>
        </p:nvSpPr>
        <p:spPr>
          <a:xfrm>
            <a:off x="45719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תקן פתוח שמחבר כלי AI למקורות מידע ולכלים חיצוניים.</a:t>
            </a:r>
          </a:p>
        </p:txBody>
      </p:sp>
      <p:sp>
        <p:nvSpPr>
          <p:cNvPr id="17" name="TextBox 16"/>
          <p:cNvSpPr txBox="1"/>
          <p:nvPr/>
        </p:nvSpPr>
        <p:spPr>
          <a:xfrm>
            <a:off x="365760" y="4709160"/>
            <a:ext cx="841248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300" b="0" i="0">
                <a:solidFill>
                  <a:srgbClr val="595959"/>
                </a:solidFill>
              </a:rPr>
              <a:t>MCP הוצג בסוף 2024, ובדצמבר 2025 הועבר לקרן Agentic AI Foundation של Linux Foundation.</a:t>
            </a:r>
          </a:p>
        </p:txBody>
      </p:sp>
      <p:sp>
        <p:nvSpPr>
          <p:cNvPr id="18"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א׳ :</a:t>
            </a:r>
            <a:r>
              <a:rPr lang="he-IL" sz="3000" b="1" i="0">
                <a:solidFill>
                  <a:srgbClr val="212121"/>
                </a:solidFill>
              </a:rPr>
              <a:t>לבדוק לפני שסומכים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6172200" y="1463040"/>
            <a:ext cx="2697480" cy="32004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6" name="TextBox 5"/>
          <p:cNvSpPr txBox="1"/>
          <p:nvPr/>
        </p:nvSpPr>
        <p:spPr>
          <a:xfrm>
            <a:off x="617220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7" name="TextBox 6"/>
          <p:cNvSpPr txBox="1"/>
          <p:nvPr/>
        </p:nvSpPr>
        <p:spPr>
          <a:xfrm>
            <a:off x="626364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רץ ≠ נכון</a:t>
            </a:r>
          </a:p>
        </p:txBody>
      </p:sp>
      <p:sp>
        <p:nvSpPr>
          <p:cNvPr id="8" name="TextBox 7"/>
          <p:cNvSpPr txBox="1"/>
          <p:nvPr/>
        </p:nvSpPr>
        <p:spPr>
          <a:xfrm>
            <a:off x="6309360"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קוד יכול לרוץ בלי שגיאה ועדיין לענות על שאלה אחרת.</a:t>
            </a:r>
          </a:p>
          <a:p>
            <a:pPr marL="0" indent="0" algn="ctr" rtl="1">
              <a:lnSpc>
                <a:spcPct val="110000"/>
              </a:lnSpc>
              <a:spcBef>
                <a:spcPts val="0"/>
              </a:spcBef>
              <a:spcAft>
                <a:spcPts val="0"/>
              </a:spcAft>
              <a:buNone/>
            </a:pPr>
            <a:r>
              <a:rPr lang="he-IL" sz="1800" b="0" i="0">
                <a:solidFill>
                  <a:srgbClr val="212121"/>
                </a:solidFill>
              </a:rPr>
              <a:t>ממפגש 1: סומכים אבל בודקים.</a:t>
            </a:r>
          </a:p>
        </p:txBody>
      </p:sp>
      <p:sp>
        <p:nvSpPr>
          <p:cNvPr id="9" name="Rounded Rectangle 8"/>
          <p:cNvSpPr/>
          <p:nvPr/>
        </p:nvSpPr>
        <p:spPr>
          <a:xfrm>
            <a:off x="3246120" y="1463040"/>
            <a:ext cx="2697480" cy="32004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0" name="TextBox 9"/>
          <p:cNvSpPr txBox="1"/>
          <p:nvPr/>
        </p:nvSpPr>
        <p:spPr>
          <a:xfrm>
            <a:off x="324612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1" name="TextBox 10"/>
          <p:cNvSpPr txBox="1"/>
          <p:nvPr/>
        </p:nvSpPr>
        <p:spPr>
          <a:xfrm>
            <a:off x="333756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מבחן קטן</a:t>
            </a:r>
          </a:p>
        </p:txBody>
      </p:sp>
      <p:sp>
        <p:nvSpPr>
          <p:cNvPr id="12" name="TextBox 11"/>
          <p:cNvSpPr txBox="1"/>
          <p:nvPr/>
        </p:nvSpPr>
        <p:spPr>
          <a:xfrm>
            <a:off x="338327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כותבים מראש מה חייב להיות נכון בתשובה, ובודקים זאת בקוד.</a:t>
            </a:r>
          </a:p>
          <a:p>
            <a:pPr marL="0" indent="0" algn="ctr" rtl="1">
              <a:lnSpc>
                <a:spcPct val="110000"/>
              </a:lnSpc>
              <a:spcBef>
                <a:spcPts val="0"/>
              </a:spcBef>
              <a:spcAft>
                <a:spcPts val="0"/>
              </a:spcAft>
              <a:buNone/>
            </a:pPr>
            <a:r>
              <a:rPr lang="he-IL" sz="1800" b="0" i="0">
                <a:solidFill>
                  <a:srgbClr val="212121"/>
                </a:solidFill>
              </a:rPr>
              <a:t>הכלל ממפגש 1: לא הרצתם = לא לסמוך.</a:t>
            </a:r>
          </a:p>
        </p:txBody>
      </p:sp>
      <p:sp>
        <p:nvSpPr>
          <p:cNvPr id="13" name="Rounded Rectangle 12"/>
          <p:cNvSpPr/>
          <p:nvPr/>
        </p:nvSpPr>
        <p:spPr>
          <a:xfrm>
            <a:off x="320039" y="1463040"/>
            <a:ext cx="2697480" cy="32004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4" name="TextBox 13"/>
          <p:cNvSpPr txBox="1"/>
          <p:nvPr/>
        </p:nvSpPr>
        <p:spPr>
          <a:xfrm>
            <a:off x="320039"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5" name="TextBox 14"/>
          <p:cNvSpPr txBox="1"/>
          <p:nvPr/>
        </p:nvSpPr>
        <p:spPr>
          <a:xfrm>
            <a:off x="411479"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כמות מול הכנסה</a:t>
            </a:r>
          </a:p>
        </p:txBody>
      </p:sp>
      <p:sp>
        <p:nvSpPr>
          <p:cNvPr id="16" name="TextBox 15"/>
          <p:cNvSpPr txBox="1"/>
          <p:nvPr/>
        </p:nvSpPr>
        <p:spPr>
          <a:xfrm>
            <a:off x="45719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א׳: שתי יחידות ב־100, הכנסה 200. ב׳: עשר יחידות ב־5, הכנסה 50.</a:t>
            </a:r>
          </a:p>
        </p:txBody>
      </p:sp>
      <p:sp>
        <p:nvSpPr>
          <p:cNvPr id="17" name="TextBox 16"/>
          <p:cNvSpPr txBox="1"/>
          <p:nvPr/>
        </p:nvSpPr>
        <p:spPr>
          <a:xfrm>
            <a:off x="365760" y="4709160"/>
            <a:ext cx="841248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300" b="0" i="0">
                <a:solidFill>
                  <a:srgbClr val="595959"/>
                </a:solidFill>
              </a:rPr>
              <a:t>לפי כמות ב׳ ראשון, לפי הכנסה א׳ ראשון. במעבדה: ארבע בדיקות על תוצאה של כלי.</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א׳ : הקובץ הנדרש</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212121"/>
                </a:solidFill>
              </a:rPr>
              <a:t>הקובץ לתרגול: HM_05.ipynb. חלק א׳: לבדוק לפני שסומכים.</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8" name="Oval 7"/>
          <p:cNvSpPr/>
          <p:nvPr/>
        </p:nvSpPr>
        <p:spPr>
          <a:xfrm>
            <a:off x="7315200" y="182880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HM_05.ipynb. חלק א׳: לבדוק לפני שסומכים</a:t>
            </a:r>
          </a:p>
        </p:txBody>
      </p:sp>
      <p:sp>
        <p:nvSpPr>
          <p:cNvPr id="11" name="Rounded Rectangle 10"/>
          <p:cNvSpPr/>
          <p:nvPr/>
        </p:nvSpPr>
        <p:spPr>
          <a:xfrm>
            <a:off x="3246120" y="2057400"/>
            <a:ext cx="2697480" cy="18288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2" name="Oval 11"/>
          <p:cNvSpPr/>
          <p:nvPr/>
        </p:nvSpPr>
        <p:spPr>
          <a:xfrm>
            <a:off x="4389120" y="1828800"/>
            <a:ext cx="384048" cy="384048"/>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6" name="Oval 15"/>
          <p:cNvSpPr/>
          <p:nvPr/>
        </p:nvSpPr>
        <p:spPr>
          <a:xfrm>
            <a:off x="1463039" y="1828800"/>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בסוף: ✓ בכל הבדיקות, שמירה ב־Drive והורדת הקובץ</a:t>
            </a:r>
          </a:p>
        </p:txBody>
      </p:sp>
      <p:sp>
        <p:nvSpPr>
          <p:cNvPr id="19" name="Rounded Rectangle 18"/>
          <p:cNvSpPr/>
          <p:nvPr/>
        </p:nvSpPr>
        <p:spPr>
          <a:xfrm>
            <a:off x="365760" y="4160520"/>
            <a:ext cx="667512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1" i="0">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200" b="0" i="0">
                <a:solidFill>
                  <a:srgbClr val="595959"/>
                </a:solidFill>
              </a:rPr>
              <a:t>קישור ל־HM_05.ipynb</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א׳ : לבדוק לפני שסומכים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212121"/>
                </a:solidFill>
              </a:rPr>
              <a:t>למה: ״רץ״ אינו ״נכון״ (מפגש 1). בונים מבחן שבודק מה כלי AI החזיר.</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8" name="Oval 7"/>
          <p:cNvSpPr/>
          <p:nvPr/>
        </p:nvSpPr>
        <p:spPr>
          <a:xfrm>
            <a:off x="7315200" y="182880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פותרים בעצמכם</a:t>
            </a:r>
          </a:p>
        </p:txBody>
      </p:sp>
      <p:sp>
        <p:nvSpPr>
          <p:cNvPr id="10" name="TextBox 9"/>
          <p:cNvSpPr txBox="1"/>
          <p:nvPr/>
        </p:nvSpPr>
        <p:spPr>
          <a:xfrm>
            <a:off x="6309360"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add_revenue, top_n_products: התשובה הנכונה למשימת העוגן</a:t>
            </a:r>
          </a:p>
        </p:txBody>
      </p:sp>
      <p:sp>
        <p:nvSpPr>
          <p:cNvPr id="11" name="Rounded Rectangle 10"/>
          <p:cNvSpPr/>
          <p:nvPr/>
        </p:nvSpPr>
        <p:spPr>
          <a:xfrm>
            <a:off x="3246120" y="2057400"/>
            <a:ext cx="2697480" cy="18288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2" name="Oval 11"/>
          <p:cNvSpPr/>
          <p:nvPr/>
        </p:nvSpPr>
        <p:spPr>
          <a:xfrm>
            <a:off x="4389120" y="1828800"/>
            <a:ext cx="384048" cy="384048"/>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בונים מבחן</a:t>
            </a:r>
          </a:p>
        </p:txBody>
      </p:sp>
      <p:sp>
        <p:nvSpPr>
          <p:cNvPr id="14" name="TextBox 13"/>
          <p:cNvSpPr txBox="1"/>
          <p:nvPr/>
        </p:nvSpPr>
        <p:spPr>
          <a:xfrm>
            <a:off x="338327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validate_top5 בודק שלוש תשובות של כלים. מי נכון? מי טעה ובמה?</a:t>
            </a:r>
          </a:p>
        </p:txBody>
      </p:sp>
      <p:sp>
        <p:nvSpPr>
          <p:cNvPr id="15" name="Rounded Rectangle 14"/>
          <p:cNvSpPr/>
          <p:nvPr/>
        </p:nvSpPr>
        <p:spPr>
          <a:xfrm>
            <a:off x="320039" y="2057400"/>
            <a:ext cx="2697480" cy="18288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6" name="Oval 15"/>
          <p:cNvSpPr/>
          <p:nvPr/>
        </p:nvSpPr>
        <p:spPr>
          <a:xfrm>
            <a:off x="1463039" y="1828800"/>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כלי אמיתי</a:t>
            </a:r>
          </a:p>
        </p:txBody>
      </p:sp>
      <p:sp>
        <p:nvSpPr>
          <p:cNvPr id="18" name="TextBox 17"/>
          <p:cNvSpPr txBox="1"/>
          <p:nvPr/>
        </p:nvSpPr>
        <p:spPr>
          <a:xfrm>
            <a:off x="45719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מבקשים מעוזר ה־AI של Colab, מדביקים, ומריצים את המבחן</a:t>
            </a:r>
          </a:p>
        </p:txBody>
      </p:sp>
      <p:sp>
        <p:nvSpPr>
          <p:cNvPr id="19" name="Rounded Rectangle 18"/>
          <p:cNvSpPr/>
          <p:nvPr/>
        </p:nvSpPr>
        <p:spPr>
          <a:xfrm>
            <a:off x="365760" y="4160520"/>
            <a:ext cx="667512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בזוגות: אחד מקליד, אחד קורא את ההוראות מהמקרן, ומחליפים באמצע. כותבים תחזית לפני כל הרצה.</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1" i="0">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200" b="0" i="0">
                <a:solidFill>
                  <a:srgbClr val="595959"/>
                </a:solidFill>
              </a:rPr>
              <a:t>קישור למחברת HM_05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א׳ : איך עובדים עם המחברת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212121"/>
                </a:solidFill>
              </a:rPr>
              <a:t>כל מחברת בקורס בנויה באותו אופן.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8" name="Oval 7"/>
          <p:cNvSpPr/>
          <p:nvPr/>
        </p:nvSpPr>
        <p:spPr>
          <a:xfrm>
            <a:off x="7315200" y="182880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ממלאים TODO</a:t>
            </a:r>
          </a:p>
        </p:txBody>
      </p:sp>
      <p:sp>
        <p:nvSpPr>
          <p:cNvPr id="10" name="TextBox 9"/>
          <p:cNvSpPr txBox="1"/>
          <p:nvPr/>
        </p:nvSpPr>
        <p:spPr>
          <a:xfrm>
            <a:off x="6309360"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כל פונקציה היא 2 עד 6 שורות. בלי כלי AI, חוץ מהצעד שמסומן</a:t>
            </a:r>
          </a:p>
        </p:txBody>
      </p:sp>
      <p:sp>
        <p:nvSpPr>
          <p:cNvPr id="11" name="Rounded Rectangle 10"/>
          <p:cNvSpPr/>
          <p:nvPr/>
        </p:nvSpPr>
        <p:spPr>
          <a:xfrm>
            <a:off x="3246120" y="2057400"/>
            <a:ext cx="2697480" cy="18288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2" name="Oval 11"/>
          <p:cNvSpPr/>
          <p:nvPr/>
        </p:nvSpPr>
        <p:spPr>
          <a:xfrm>
            <a:off x="4389120" y="1828800"/>
            <a:ext cx="384048" cy="384048"/>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מריצים בדיקה</a:t>
            </a:r>
          </a:p>
        </p:txBody>
      </p:sp>
      <p:sp>
        <p:nvSpPr>
          <p:cNvPr id="14" name="TextBox 13"/>
          <p:cNvSpPr txBox="1"/>
          <p:nvPr/>
        </p:nvSpPr>
        <p:spPr>
          <a:xfrm>
            <a:off x="338327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תא הבדיקה מדפיס ✓, או הודעה שמסבירה מה נכשל</a:t>
            </a:r>
          </a:p>
        </p:txBody>
      </p:sp>
      <p:sp>
        <p:nvSpPr>
          <p:cNvPr id="15" name="Rounded Rectangle 14"/>
          <p:cNvSpPr/>
          <p:nvPr/>
        </p:nvSpPr>
        <p:spPr>
          <a:xfrm>
            <a:off x="320039" y="2057400"/>
            <a:ext cx="2697480" cy="18288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6" name="Oval 15"/>
          <p:cNvSpPr/>
          <p:nvPr/>
        </p:nvSpPr>
        <p:spPr>
          <a:xfrm>
            <a:off x="1463039" y="1828800"/>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תחזית ושאלות</a:t>
            </a:r>
          </a:p>
        </p:txBody>
      </p:sp>
      <p:sp>
        <p:nvSpPr>
          <p:cNvPr id="18" name="TextBox 17"/>
          <p:cNvSpPr txBox="1"/>
          <p:nvPr/>
        </p:nvSpPr>
        <p:spPr>
          <a:xfrm>
            <a:off x="45719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כותבים תחזית לפני הרצה, ועונים על שאלות הניתוח במונחי ההרצאה</a:t>
            </a:r>
          </a:p>
        </p:txBody>
      </p:sp>
      <p:sp>
        <p:nvSpPr>
          <p:cNvPr id="19" name="Rounded Rectangle 18"/>
          <p:cNvSpPr/>
          <p:nvPr/>
        </p:nvSpPr>
        <p:spPr>
          <a:xfrm>
            <a:off x="365760" y="4160520"/>
            <a:ext cx="667512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בסוף: Runtime ← Restart session and run all. ודאו שכל השורות בבדיקה המסכמת מסומנות ✓, והורידו את הקובץ (Download .ipynb).</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1" i="0">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200" b="0" i="0">
                <a:solidFill>
                  <a:srgbClr val="595959"/>
                </a:solidFill>
              </a:rPr>
              <a:t>קישור למחברת HM_05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א׳ : מה אמור לצאת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8" name="Oval 7"/>
          <p:cNvSpPr/>
          <p:nvPr/>
        </p:nvSpPr>
        <p:spPr>
          <a:xfrm>
            <a:off x="7315200" y="182880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 המבחן שלכם</a:t>
            </a:r>
          </a:p>
        </p:txBody>
      </p:sp>
      <p:sp>
        <p:nvSpPr>
          <p:cNvPr id="10" name="TextBox 9"/>
          <p:cNvSpPr txBox="1"/>
          <p:nvPr/>
        </p:nvSpPr>
        <p:spPr>
          <a:xfrm>
            <a:off x="6309360"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על הפתרון הנכון: רשימת בעיות ריקה. על 4 מוצרים או סדר הפוך: בעיה</a:t>
            </a:r>
          </a:p>
        </p:txBody>
      </p:sp>
      <p:sp>
        <p:nvSpPr>
          <p:cNvPr id="11" name="Rounded Rectangle 10"/>
          <p:cNvSpPr/>
          <p:nvPr/>
        </p:nvSpPr>
        <p:spPr>
          <a:xfrm>
            <a:off x="3246120" y="2057400"/>
            <a:ext cx="2697480" cy="18288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2" name="Oval 11"/>
          <p:cNvSpPr/>
          <p:nvPr/>
        </p:nvSpPr>
        <p:spPr>
          <a:xfrm>
            <a:off x="4389120" y="1828800"/>
            <a:ext cx="384048" cy="384048"/>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שלושה כלים</a:t>
            </a:r>
          </a:p>
        </p:txBody>
      </p:sp>
      <p:sp>
        <p:nvSpPr>
          <p:cNvPr id="14" name="TextBox 13"/>
          <p:cNvSpPr txBox="1"/>
          <p:nvPr/>
        </p:nvSpPr>
        <p:spPr>
          <a:xfrm>
            <a:off x="338327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ai_chat ✗ (כמות במקום הכנסה), ai_ide ✗ (בלי מיון), ai_agent ✓</a:t>
            </a:r>
          </a:p>
        </p:txBody>
      </p:sp>
      <p:sp>
        <p:nvSpPr>
          <p:cNvPr id="15" name="Rounded Rectangle 14"/>
          <p:cNvSpPr/>
          <p:nvPr/>
        </p:nvSpPr>
        <p:spPr>
          <a:xfrm>
            <a:off x="320039" y="2057400"/>
            <a:ext cx="2697480" cy="18288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6" name="Oval 15"/>
          <p:cNvSpPr/>
          <p:nvPr/>
        </p:nvSpPr>
        <p:spPr>
          <a:xfrm>
            <a:off x="1463039" y="1828800"/>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הכלי שלכם</a:t>
            </a:r>
          </a:p>
        </p:txBody>
      </p:sp>
      <p:sp>
        <p:nvSpPr>
          <p:cNvPr id="18" name="TextBox 17"/>
          <p:cNvSpPr txBox="1"/>
          <p:nvPr/>
        </p:nvSpPr>
        <p:spPr>
          <a:xfrm>
            <a:off x="45719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ממלאים tool_log: העתקות, דקות וכמה בעיות המבחן מצא</a:t>
            </a:r>
          </a:p>
        </p:txBody>
      </p:sp>
      <p:sp>
        <p:nvSpPr>
          <p:cNvPr id="19" name="Rounded Rectangle 18"/>
          <p:cNvSpPr/>
          <p:nvPr/>
        </p:nvSpPr>
        <p:spPr>
          <a:xfrm>
            <a:off x="365760" y="4160520"/>
            <a:ext cx="667512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0" i="0">
                <a:solidFill>
                  <a:srgbClr val="212121"/>
                </a:solidFill>
              </a:rPr>
              <a:t>הכלל: לא הרצתם ולא בדקתם = לא לסמוך. ״רץ בלי שגיאה״ אינו הוכחה.</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a:t>
            </a:r>
            <a:r>
              <a:rPr lang="he-IL" sz="3000" b="1" i="0">
                <a:solidFill>
                  <a:srgbClr val="212121"/>
                </a:solidFill>
              </a:rPr>
              <a:t>מעבדה א׳</a:t>
            </a:r>
            <a:r>
              <a:rPr lang="he-IL" sz="3000" b="0" i="0">
                <a:solidFill>
                  <a:srgbClr val="212121"/>
                </a:solidFill>
              </a:rPr>
              <a:t> : דיון</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600" b="1" i="0">
                <a:solidFill>
                  <a:srgbClr val="212121"/>
                </a:solidFill>
              </a:rPr>
              <a:t>בצ׳אט, אתם הייתם ההקשר של הכלי.</a:t>
            </a:r>
          </a:p>
        </p:txBody>
      </p:sp>
      <p:sp>
        <p:nvSpPr>
          <p:cNvPr id="7" name="Rounded Rectangle 6"/>
          <p:cNvSpPr/>
          <p:nvPr/>
        </p:nvSpPr>
        <p:spPr>
          <a:xfrm>
            <a:off x="5943600" y="2103120"/>
            <a:ext cx="283464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0" i="0">
                <a:solidFill>
                  <a:srgbClr val="212121"/>
                </a:solidFill>
              </a:rPr>
              <a:t>👤 שמות העמודות</a:t>
            </a:r>
          </a:p>
        </p:txBody>
      </p:sp>
      <p:sp>
        <p:nvSpPr>
          <p:cNvPr id="8" name="Rounded Rectangle 7"/>
          <p:cNvSpPr/>
          <p:nvPr/>
        </p:nvSpPr>
        <p:spPr>
          <a:xfrm>
            <a:off x="2926080" y="2103120"/>
            <a:ext cx="283464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0" i="0">
                <a:solidFill>
                  <a:srgbClr val="212121"/>
                </a:solidFill>
              </a:rPr>
              <a:t>👤 5 השורות הראשונות</a:t>
            </a:r>
          </a:p>
        </p:txBody>
      </p:sp>
      <p:sp>
        <p:nvSpPr>
          <p:cNvPr id="9" name="Rounded Rectangle 8"/>
          <p:cNvSpPr/>
          <p:nvPr/>
        </p:nvSpPr>
        <p:spPr>
          <a:xfrm>
            <a:off x="5943600" y="2880360"/>
            <a:ext cx="283464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0" i="0">
                <a:solidFill>
                  <a:srgbClr val="212121"/>
                </a:solidFill>
              </a:rPr>
              <a:t>👤 הקוד שרץ</a:t>
            </a:r>
          </a:p>
        </p:txBody>
      </p:sp>
      <p:sp>
        <p:nvSpPr>
          <p:cNvPr id="10" name="Rounded Rectangle 9"/>
          <p:cNvSpPr/>
          <p:nvPr/>
        </p:nvSpPr>
        <p:spPr>
          <a:xfrm>
            <a:off x="2926080" y="2880360"/>
            <a:ext cx="283464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0" i="0">
                <a:solidFill>
                  <a:srgbClr val="212121"/>
                </a:solidFill>
              </a:rPr>
              <a:t>👤 ההודעה על שגיאה</a:t>
            </a:r>
          </a:p>
        </p:txBody>
      </p:sp>
      <p:sp>
        <p:nvSpPr>
          <p:cNvPr id="11" name="TextBox 10"/>
          <p:cNvSpPr txBox="1"/>
          <p:nvPr/>
        </p:nvSpPr>
        <p:spPr>
          <a:xfrm>
            <a:off x="365760" y="3794760"/>
            <a:ext cx="8412480" cy="109728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0" i="0">
                <a:solidFill>
                  <a:srgbClr val="212121"/>
                </a:solidFill>
              </a:rPr>
              <a:t>כל מה שהכלי לא רואה, אתם צריכים להעביר לו ידנית.</a:t>
            </a:r>
          </a:p>
          <a:p>
            <a:pPr marL="0" indent="0" algn="r" rtl="1">
              <a:lnSpc>
                <a:spcPct val="110000"/>
              </a:lnSpc>
              <a:spcBef>
                <a:spcPts val="0"/>
              </a:spcBef>
              <a:spcAft>
                <a:spcPts val="0"/>
              </a:spcAft>
              <a:buNone/>
            </a:pPr>
            <a:r>
              <a:rPr lang="he-IL" sz="2000" b="1" i="0">
                <a:solidFill>
                  <a:srgbClr val="FFAB40"/>
                </a:solidFill>
              </a:rPr>
              <a:t>השאלה לחלק הבא: מה אם הכלי יראה ויריץ בעצמו?</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סוכן שורת פקודה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3108960" y="1417320"/>
            <a:ext cx="5669280" cy="3291840"/>
          </a:xfrm>
          <a:prstGeom prst="roundRect">
            <a:avLst>
              <a:gd name="adj" fmla="val 3000"/>
            </a:avLst>
          </a:prstGeom>
          <a:solidFill>
            <a:srgbClr val="1E1E1E"/>
          </a:solidFill>
          <a:ln w="19050">
            <a:solidFill>
              <a:srgbClr val="1E1E1E"/>
            </a:solidFill>
          </a:ln>
        </p:spPr>
        <p:txBody>
          <a:bodyPr wrap="square" lIns="73152" tIns="73152" rIns="73152" bIns="73152" rtlCol="0" anchor="ctr">
            <a:noAutofit/>
          </a:bodyPr>
          <a:lstStyle/>
          <a:p>
            <a:pPr algn="ctr"/>
            <a:endParaRPr/>
          </a:p>
        </p:txBody>
      </p:sp>
      <p:sp>
        <p:nvSpPr>
          <p:cNvPr id="6" name="Rectangle 5"/>
          <p:cNvSpPr/>
          <p:nvPr/>
        </p:nvSpPr>
        <p:spPr>
          <a:xfrm>
            <a:off x="3108960" y="1417320"/>
            <a:ext cx="5669280" cy="347472"/>
          </a:xfrm>
          <a:prstGeom prst="rect">
            <a:avLst/>
          </a:prstGeom>
          <a:solidFill>
            <a:srgbClr val="333333"/>
          </a:solidFill>
          <a:ln w="19050">
            <a:solidFill>
              <a:srgbClr val="333333"/>
            </a:solidFill>
          </a:ln>
        </p:spPr>
        <p:txBody>
          <a:bodyPr wrap="square" lIns="73152" tIns="73152" rIns="73152" bIns="73152" rtlCol="0" anchor="ctr">
            <a:noAutofit/>
          </a:bodyPr>
          <a:lstStyle/>
          <a:p>
            <a:pPr marL="0" indent="0" algn="l" rtl="1">
              <a:lnSpc>
                <a:spcPct val="105000"/>
              </a:lnSpc>
              <a:spcBef>
                <a:spcPts val="0"/>
              </a:spcBef>
              <a:spcAft>
                <a:spcPts val="0"/>
              </a:spcAft>
              <a:buNone/>
            </a:pPr>
            <a:r>
              <a:rPr lang="he-IL" sz="1200" b="0" i="0">
                <a:solidFill>
                  <a:srgbClr val="BBBBBB"/>
                </a:solidFill>
              </a:rPr>
              <a:t>● ● ●   מסוף (Terminal)</a:t>
            </a:r>
          </a:p>
        </p:txBody>
      </p:sp>
      <p:sp>
        <p:nvSpPr>
          <p:cNvPr id="7" name="TextBox 6"/>
          <p:cNvSpPr txBox="1"/>
          <p:nvPr/>
        </p:nvSpPr>
        <p:spPr>
          <a:xfrm>
            <a:off x="3246120" y="1874519"/>
            <a:ext cx="5394960" cy="2743200"/>
          </a:xfrm>
          <a:prstGeom prst="rect">
            <a:avLst/>
          </a:prstGeom>
          <a:noFill/>
        </p:spPr>
        <p:txBody>
          <a:bodyPr wrap="square" lIns="45720" tIns="45720" rIns="45720" bIns="45720" anchor="t">
            <a:noAutofit/>
          </a:bodyPr>
          <a:lstStyle/>
          <a:p>
            <a:pPr marL="0" indent="0" algn="l" rtl="0">
              <a:lnSpc>
                <a:spcPct val="120000"/>
              </a:lnSpc>
              <a:spcBef>
                <a:spcPts val="0"/>
              </a:spcBef>
              <a:spcAft>
                <a:spcPts val="0"/>
              </a:spcAft>
              <a:buNone/>
            </a:pPr>
            <a:r>
              <a:rPr lang="he-IL" sz="1400" b="0" i="0">
                <a:solidFill>
                  <a:srgbClr val="7CFC8A"/>
                </a:solidFill>
                <a:latin typeface="Courier New"/>
                <a:ea typeface="Courier New"/>
                <a:cs typeface="Courier New"/>
              </a:rPr>
              <a:t>$ ls</a:t>
            </a:r>
          </a:p>
          <a:p>
            <a:pPr marL="0" indent="0" algn="l" rtl="0">
              <a:lnSpc>
                <a:spcPct val="120000"/>
              </a:lnSpc>
              <a:spcBef>
                <a:spcPts val="0"/>
              </a:spcBef>
              <a:spcAft>
                <a:spcPts val="0"/>
              </a:spcAft>
              <a:buNone/>
            </a:pPr>
            <a:r>
              <a:rPr lang="he-IL" sz="1400" b="0" i="0">
                <a:solidFill>
                  <a:srgbClr val="EEEEEE"/>
                </a:solidFill>
                <a:latin typeface="Courier New"/>
                <a:ea typeface="Courier New"/>
                <a:cs typeface="Courier New"/>
              </a:rPr>
              <a:t>orders.csv  products.csv  analysis.py</a:t>
            </a:r>
          </a:p>
          <a:p>
            <a:pPr marL="0" indent="0" algn="l" rtl="0">
              <a:lnSpc>
                <a:spcPct val="120000"/>
              </a:lnSpc>
              <a:spcBef>
                <a:spcPts val="0"/>
              </a:spcBef>
              <a:spcAft>
                <a:spcPts val="0"/>
              </a:spcAft>
              <a:buNone/>
            </a:pPr>
            <a:r>
              <a:rPr lang="he-IL" sz="1400" b="0" i="0">
                <a:solidFill>
                  <a:srgbClr val="7CFC8A"/>
                </a:solidFill>
                <a:latin typeface="Courier New"/>
                <a:ea typeface="Courier New"/>
                <a:cs typeface="Courier New"/>
              </a:rPr>
              <a:t>$ agent</a:t>
            </a:r>
          </a:p>
          <a:p>
            <a:pPr marL="0" indent="0" algn="l" rtl="0">
              <a:lnSpc>
                <a:spcPct val="120000"/>
              </a:lnSpc>
              <a:spcBef>
                <a:spcPts val="0"/>
              </a:spcBef>
              <a:spcAft>
                <a:spcPts val="0"/>
              </a:spcAft>
              <a:buNone/>
            </a:pPr>
            <a:r>
              <a:rPr lang="he-IL" sz="1400" b="0" i="0">
                <a:solidFill>
                  <a:srgbClr val="FFCA6B"/>
                </a:solidFill>
                <a:latin typeface="Courier New"/>
                <a:ea typeface="Courier New"/>
                <a:cs typeface="Courier New"/>
              </a:rPr>
              <a:t>&gt; Read orders.csv ...</a:t>
            </a:r>
          </a:p>
          <a:p>
            <a:pPr marL="0" indent="0" algn="l" rtl="0">
              <a:lnSpc>
                <a:spcPct val="120000"/>
              </a:lnSpc>
              <a:spcBef>
                <a:spcPts val="0"/>
              </a:spcBef>
              <a:spcAft>
                <a:spcPts val="0"/>
              </a:spcAft>
              <a:buNone/>
            </a:pPr>
            <a:r>
              <a:rPr lang="he-IL" sz="1400" b="0" i="0">
                <a:solidFill>
                  <a:srgbClr val="FFCA6B"/>
                </a:solidFill>
                <a:latin typeface="Courier New"/>
                <a:ea typeface="Courier New"/>
                <a:cs typeface="Courier New"/>
              </a:rPr>
              <a:t>&gt; Created top5.png</a:t>
            </a:r>
          </a:p>
          <a:p>
            <a:pPr marL="0" indent="0" algn="l" rtl="0">
              <a:lnSpc>
                <a:spcPct val="120000"/>
              </a:lnSpc>
              <a:spcBef>
                <a:spcPts val="0"/>
              </a:spcBef>
              <a:spcAft>
                <a:spcPts val="0"/>
              </a:spcAft>
              <a:buNone/>
            </a:pPr>
            <a:r>
              <a:rPr lang="he-IL" sz="1400" b="0" i="0">
                <a:solidFill>
                  <a:srgbClr val="FFCA6B"/>
                </a:solidFill>
                <a:latin typeface="Courier New"/>
                <a:ea typeface="Courier New"/>
                <a:cs typeface="Courier New"/>
              </a:rPr>
              <a:t>&gt; Done. Review the changes?</a:t>
            </a:r>
          </a:p>
        </p:txBody>
      </p:sp>
      <p:sp>
        <p:nvSpPr>
          <p:cNvPr id="8" name="TextBox 7"/>
          <p:cNvSpPr txBox="1"/>
          <p:nvPr/>
        </p:nvSpPr>
        <p:spPr>
          <a:xfrm>
            <a:off x="274320" y="1417320"/>
            <a:ext cx="2743200" cy="3383280"/>
          </a:xfrm>
          <a:prstGeom prst="rect">
            <a:avLst/>
          </a:prstGeom>
          <a:noFill/>
        </p:spPr>
        <p:txBody>
          <a:bodyPr wrap="square" lIns="73152" tIns="73152" rIns="73152" bIns="73152" anchor="t">
            <a:noAutofit/>
          </a:bodyPr>
          <a:lstStyle/>
          <a:p>
            <a:pPr marL="0" indent="0" algn="r" rtl="1">
              <a:lnSpc>
                <a:spcPct val="110000"/>
              </a:lnSpc>
              <a:spcBef>
                <a:spcPts val="0"/>
              </a:spcBef>
              <a:spcAft>
                <a:spcPts val="600"/>
              </a:spcAft>
              <a:buNone/>
            </a:pPr>
            <a:r>
              <a:rPr lang="he-IL" sz="2200" b="1" i="0">
                <a:solidFill>
                  <a:srgbClr val="FFAB40"/>
                </a:solidFill>
              </a:rPr>
              <a:t>שורת פקודה</a:t>
            </a:r>
          </a:p>
          <a:p>
            <a:pPr marL="0" indent="0" algn="r" rtl="1">
              <a:lnSpc>
                <a:spcPct val="110000"/>
              </a:lnSpc>
              <a:spcBef>
                <a:spcPts val="0"/>
              </a:spcBef>
              <a:spcAft>
                <a:spcPts val="800"/>
              </a:spcAft>
              <a:buNone/>
            </a:pPr>
            <a:r>
              <a:rPr lang="he-IL" sz="1700" b="0" i="0">
                <a:solidFill>
                  <a:srgbClr val="212121"/>
                </a:solidFill>
              </a:rPr>
              <a:t>חלון שמקלידים בו הוראות במקום ללחוץ על כפתורים.</a:t>
            </a:r>
          </a:p>
          <a:p>
            <a:pPr marL="0" indent="0" algn="r" rtl="1">
              <a:lnSpc>
                <a:spcPct val="110000"/>
              </a:lnSpc>
              <a:spcBef>
                <a:spcPts val="0"/>
              </a:spcBef>
              <a:spcAft>
                <a:spcPts val="0"/>
              </a:spcAft>
              <a:buNone/>
            </a:pPr>
            <a:r>
              <a:rPr lang="he-IL" sz="1700" b="0" i="0">
                <a:solidFill>
                  <a:srgbClr val="212121"/>
                </a:solidFill>
              </a:rPr>
              <a:t>הסוכן יושב בתוכו: קורא את התיקייה, מריץ, ועורך קבצים.</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ארבע פקודות לשרוד</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457200" y="1463040"/>
          <a:ext cx="8229599" cy="2926080"/>
        </p:xfrm>
        <a:graphic>
          <a:graphicData uri="http://schemas.openxmlformats.org/drawingml/2006/table">
            <a:tbl>
              <a:tblPr>
                <a:tableStyleId>{2D5ABB26-0587-4C30-8999-92F81FD0307C}</a:tableStyleId>
              </a:tblPr>
              <a:tblGrid>
                <a:gridCol w="3179618">
                  <a:extLst>
                    <a:ext uri="{9D8B030D-6E8A-4147-A177-3AD203B41FA5}">
                      <a16:colId xmlns:a16="http://schemas.microsoft.com/office/drawing/2014/main" val="20000"/>
                    </a:ext>
                  </a:extLst>
                </a:gridCol>
                <a:gridCol w="3366654">
                  <a:extLst>
                    <a:ext uri="{9D8B030D-6E8A-4147-A177-3AD203B41FA5}">
                      <a16:colId xmlns:a16="http://schemas.microsoft.com/office/drawing/2014/main" val="20001"/>
                    </a:ext>
                  </a:extLst>
                </a:gridCol>
                <a:gridCol w="1683327">
                  <a:extLst>
                    <a:ext uri="{9D8B030D-6E8A-4147-A177-3AD203B41FA5}">
                      <a16:colId xmlns:a16="http://schemas.microsoft.com/office/drawing/2014/main" val="20002"/>
                    </a:ext>
                  </a:extLst>
                </a:gridCol>
              </a:tblGrid>
              <a:tr h="585216">
                <a:tc>
                  <a:txBody>
                    <a:bodyPr/>
                    <a:lstStyle/>
                    <a:p>
                      <a:pPr marL="0" indent="0" algn="ctr" rtl="1">
                        <a:lnSpc>
                          <a:spcPct val="100000"/>
                        </a:lnSpc>
                        <a:spcBef>
                          <a:spcPts val="0"/>
                        </a:spcBef>
                        <a:spcAft>
                          <a:spcPts val="0"/>
                        </a:spcAft>
                        <a:buNone/>
                      </a:pPr>
                      <a:r>
                        <a:rPr lang="he-IL" sz="1800" b="1" i="0">
                          <a:solidFill>
                            <a:srgbClr val="212121"/>
                          </a:solidFill>
                        </a:rPr>
                        <a:t>דימוי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800" b="1" i="0">
                          <a:solidFill>
                            <a:srgbClr val="212121"/>
                          </a:solidFill>
                        </a:rPr>
                        <a:t>מה היא עושה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800" b="1" i="0">
                          <a:solidFill>
                            <a:srgbClr val="212121"/>
                          </a:solidFill>
                        </a:rPr>
                        <a:t>הפקודה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585216">
                <a:tc>
                  <a:txBody>
                    <a:bodyPr/>
                    <a:lstStyle/>
                    <a:p>
                      <a:pPr marL="0" indent="0" algn="r" rtl="1">
                        <a:lnSpc>
                          <a:spcPct val="100000"/>
                        </a:lnSpc>
                        <a:spcBef>
                          <a:spcPts val="0"/>
                        </a:spcBef>
                        <a:spcAft>
                          <a:spcPts val="0"/>
                        </a:spcAft>
                        <a:buNone/>
                      </a:pPr>
                      <a:r>
                        <a:rPr lang="he-IL" sz="1800" b="0" i="0">
                          <a:solidFill>
                            <a:srgbClr val="212121"/>
                          </a:solidFill>
                        </a:rPr>
                        <a:t>לפתוח את התיקייה ולהסתכל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800" b="0" i="0">
                          <a:solidFill>
                            <a:srgbClr val="212121"/>
                          </a:solidFill>
                        </a:rPr>
                        <a:t>מציגה את הקבצים בתיקייה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800" b="1" i="0">
                          <a:solidFill>
                            <a:srgbClr val="212121"/>
                          </a:solidFill>
                        </a:rPr>
                        <a:t>ls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585216">
                <a:tc>
                  <a:txBody>
                    <a:bodyPr/>
                    <a:lstStyle/>
                    <a:p>
                      <a:pPr marL="0" indent="0" algn="r" rtl="1">
                        <a:lnSpc>
                          <a:spcPct val="100000"/>
                        </a:lnSpc>
                        <a:spcBef>
                          <a:spcPts val="0"/>
                        </a:spcBef>
                        <a:spcAft>
                          <a:spcPts val="0"/>
                        </a:spcAft>
                        <a:buNone/>
                      </a:pPr>
                      <a:r>
                        <a:rPr lang="he-IL" sz="1800" b="0" i="0">
                          <a:solidFill>
                            <a:srgbClr val="212121"/>
                          </a:solidFill>
                        </a:rPr>
                        <a:t>ללחוץ פעמיים על תיקייה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800" b="0" i="0">
                          <a:solidFill>
                            <a:srgbClr val="212121"/>
                          </a:solidFill>
                        </a:rPr>
                        <a:t>נכנסת לתיקייה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800" b="1" i="0">
                          <a:solidFill>
                            <a:srgbClr val="212121"/>
                          </a:solidFill>
                        </a:rPr>
                        <a:t>cd שם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585216">
                <a:tc>
                  <a:txBody>
                    <a:bodyPr/>
                    <a:lstStyle/>
                    <a:p>
                      <a:pPr marL="0" indent="0" algn="r" rtl="1">
                        <a:lnSpc>
                          <a:spcPct val="100000"/>
                        </a:lnSpc>
                        <a:spcBef>
                          <a:spcPts val="0"/>
                        </a:spcBef>
                        <a:spcAft>
                          <a:spcPts val="0"/>
                        </a:spcAft>
                        <a:buNone/>
                      </a:pPr>
                      <a:r>
                        <a:rPr lang="he-IL" sz="1800" b="0" i="0">
                          <a:solidFill>
                            <a:srgbClr val="212121"/>
                          </a:solidFill>
                        </a:rPr>
                        <a:t>להזמין עוזר לחדר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800" b="0" i="0">
                          <a:solidFill>
                            <a:srgbClr val="212121"/>
                          </a:solidFill>
                        </a:rPr>
                        <a:t>מפעילה את הסוכן בתיקייה הנוכחית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800" b="1" i="0">
                          <a:solidFill>
                            <a:srgbClr val="212121"/>
                          </a:solidFill>
                        </a:rPr>
                        <a:t>שם הסוכן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r h="585216">
                <a:tc>
                  <a:txBody>
                    <a:bodyPr/>
                    <a:lstStyle/>
                    <a:p>
                      <a:pPr marL="0" indent="0" algn="r" rtl="1">
                        <a:lnSpc>
                          <a:spcPct val="100000"/>
                        </a:lnSpc>
                        <a:spcBef>
                          <a:spcPts val="0"/>
                        </a:spcBef>
                        <a:spcAft>
                          <a:spcPts val="0"/>
                        </a:spcAft>
                        <a:buNone/>
                      </a:pPr>
                      <a:r>
                        <a:rPr lang="he-IL" sz="1800" b="0" i="0">
                          <a:solidFill>
                            <a:srgbClr val="212121"/>
                          </a:solidFill>
                        </a:rPr>
                        <a:t>לסגור את החלון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800" b="0" i="0">
                          <a:solidFill>
                            <a:srgbClr val="212121"/>
                          </a:solidFill>
                        </a:rPr>
                        <a:t>יוצאת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800" b="1" i="0">
                          <a:solidFill>
                            <a:srgbClr val="212121"/>
                          </a:solidFill>
                        </a:rPr>
                        <a:t>exit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4572000"/>
            <a:ext cx="822960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400" b="0" i="0">
                <a:solidFill>
                  <a:srgbClr val="595959"/>
                </a:solidFill>
              </a:rPr>
              <a:t>בדף ההוראות מופיעה הפקודה המדויקת של הכלי שנבחר.</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סולם האוטונומיה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ectangle 4"/>
          <p:cNvSpPr/>
          <p:nvPr/>
        </p:nvSpPr>
        <p:spPr>
          <a:xfrm>
            <a:off x="6675120" y="3794759"/>
            <a:ext cx="2011680" cy="1097280"/>
          </a:xfrm>
          <a:prstGeom prst="rect">
            <a:avLst/>
          </a:prstGeom>
          <a:solidFill>
            <a:srgbClr val="4285F4"/>
          </a:solidFill>
          <a:ln>
            <a:noFill/>
          </a:ln>
        </p:spPr>
        <p:txBody>
          <a:bodyPr wrap="square" lIns="73152" tIns="73152" rIns="73152" bIns="73152" rtlCol="0" anchor="t">
            <a:noAutofit/>
          </a:bodyPr>
          <a:lstStyle/>
          <a:p>
            <a:pPr marL="0" indent="0" algn="ctr" rtl="1">
              <a:lnSpc>
                <a:spcPct val="105000"/>
              </a:lnSpc>
              <a:spcBef>
                <a:spcPts val="0"/>
              </a:spcBef>
              <a:spcAft>
                <a:spcPts val="0"/>
              </a:spcAft>
              <a:buNone/>
            </a:pPr>
            <a:r>
              <a:rPr lang="he-IL" sz="2400" b="1" i="0">
                <a:solidFill>
                  <a:srgbClr val="FFFFFF"/>
                </a:solidFill>
              </a:rPr>
              <a:t>1</a:t>
            </a:r>
          </a:p>
          <a:p>
            <a:pPr marL="0" indent="0" algn="ctr" rtl="1">
              <a:lnSpc>
                <a:spcPct val="105000"/>
              </a:lnSpc>
              <a:spcBef>
                <a:spcPts val="0"/>
              </a:spcBef>
              <a:spcAft>
                <a:spcPts val="0"/>
              </a:spcAft>
              <a:buNone/>
            </a:pPr>
            <a:r>
              <a:rPr lang="he-IL" sz="1600" b="1" i="0">
                <a:solidFill>
                  <a:srgbClr val="FFFFFF"/>
                </a:solidFill>
              </a:rPr>
              <a:t>רק מציע</a:t>
            </a:r>
          </a:p>
          <a:p>
            <a:pPr marL="0" indent="0" algn="ctr" rtl="1">
              <a:lnSpc>
                <a:spcPct val="105000"/>
              </a:lnSpc>
              <a:spcBef>
                <a:spcPts val="0"/>
              </a:spcBef>
              <a:spcAft>
                <a:spcPts val="0"/>
              </a:spcAft>
              <a:buNone/>
            </a:pPr>
            <a:r>
              <a:rPr lang="he-IL" sz="1200" b="0" i="0">
                <a:solidFill>
                  <a:srgbClr val="FFFFFF"/>
                </a:solidFill>
              </a:rPr>
              <a:t>אתם מעתיקים ומריצים</a:t>
            </a:r>
          </a:p>
        </p:txBody>
      </p:sp>
      <p:sp>
        <p:nvSpPr>
          <p:cNvPr id="6" name="Rectangle 5"/>
          <p:cNvSpPr/>
          <p:nvPr/>
        </p:nvSpPr>
        <p:spPr>
          <a:xfrm>
            <a:off x="4572000" y="3108959"/>
            <a:ext cx="2011680" cy="1783080"/>
          </a:xfrm>
          <a:prstGeom prst="rect">
            <a:avLst/>
          </a:prstGeom>
          <a:solidFill>
            <a:srgbClr val="0097A7"/>
          </a:solidFill>
          <a:ln>
            <a:noFill/>
          </a:ln>
        </p:spPr>
        <p:txBody>
          <a:bodyPr wrap="square" lIns="73152" tIns="73152" rIns="73152" bIns="73152" rtlCol="0" anchor="t">
            <a:noAutofit/>
          </a:bodyPr>
          <a:lstStyle/>
          <a:p>
            <a:pPr marL="0" indent="0" algn="ctr" rtl="1">
              <a:lnSpc>
                <a:spcPct val="105000"/>
              </a:lnSpc>
              <a:spcBef>
                <a:spcPts val="0"/>
              </a:spcBef>
              <a:spcAft>
                <a:spcPts val="0"/>
              </a:spcAft>
              <a:buNone/>
            </a:pPr>
            <a:r>
              <a:rPr lang="he-IL" sz="2400" b="1" i="0">
                <a:solidFill>
                  <a:srgbClr val="FFFFFF"/>
                </a:solidFill>
              </a:rPr>
              <a:t>2</a:t>
            </a:r>
          </a:p>
          <a:p>
            <a:pPr marL="0" indent="0" algn="ctr" rtl="1">
              <a:lnSpc>
                <a:spcPct val="105000"/>
              </a:lnSpc>
              <a:spcBef>
                <a:spcPts val="0"/>
              </a:spcBef>
              <a:spcAft>
                <a:spcPts val="0"/>
              </a:spcAft>
              <a:buNone/>
            </a:pPr>
            <a:r>
              <a:rPr lang="he-IL" sz="1600" b="1" i="0">
                <a:solidFill>
                  <a:srgbClr val="FFFFFF"/>
                </a:solidFill>
              </a:rPr>
              <a:t>שואל לפני כל פעולה</a:t>
            </a:r>
          </a:p>
          <a:p>
            <a:pPr marL="0" indent="0" algn="ctr" rtl="1">
              <a:lnSpc>
                <a:spcPct val="105000"/>
              </a:lnSpc>
              <a:spcBef>
                <a:spcPts val="0"/>
              </a:spcBef>
              <a:spcAft>
                <a:spcPts val="0"/>
              </a:spcAft>
              <a:buNone/>
            </a:pPr>
            <a:r>
              <a:rPr lang="he-IL" sz="1200" b="0" i="0">
                <a:solidFill>
                  <a:srgbClr val="FFFFFF"/>
                </a:solidFill>
              </a:rPr>
              <a:t>כל קובץ וכל פקודה באישור</a:t>
            </a:r>
          </a:p>
        </p:txBody>
      </p:sp>
      <p:sp>
        <p:nvSpPr>
          <p:cNvPr id="7" name="Rectangle 6"/>
          <p:cNvSpPr/>
          <p:nvPr/>
        </p:nvSpPr>
        <p:spPr>
          <a:xfrm>
            <a:off x="2468880" y="2423159"/>
            <a:ext cx="2011680" cy="2468880"/>
          </a:xfrm>
          <a:prstGeom prst="rect">
            <a:avLst/>
          </a:prstGeom>
          <a:solidFill>
            <a:srgbClr val="FFAB40"/>
          </a:solidFill>
          <a:ln>
            <a:noFill/>
          </a:ln>
        </p:spPr>
        <p:txBody>
          <a:bodyPr wrap="square" lIns="73152" tIns="73152" rIns="73152" bIns="73152" rtlCol="0" anchor="t">
            <a:noAutofit/>
          </a:bodyPr>
          <a:lstStyle/>
          <a:p>
            <a:pPr marL="0" indent="0" algn="ctr" rtl="1">
              <a:lnSpc>
                <a:spcPct val="105000"/>
              </a:lnSpc>
              <a:spcBef>
                <a:spcPts val="0"/>
              </a:spcBef>
              <a:spcAft>
                <a:spcPts val="0"/>
              </a:spcAft>
              <a:buNone/>
            </a:pPr>
            <a:r>
              <a:rPr lang="he-IL" sz="2400" b="1" i="0">
                <a:solidFill>
                  <a:srgbClr val="FFFFFF"/>
                </a:solidFill>
              </a:rPr>
              <a:t>3</a:t>
            </a:r>
          </a:p>
          <a:p>
            <a:pPr marL="0" indent="0" algn="ctr" rtl="1">
              <a:lnSpc>
                <a:spcPct val="105000"/>
              </a:lnSpc>
              <a:spcBef>
                <a:spcPts val="0"/>
              </a:spcBef>
              <a:spcAft>
                <a:spcPts val="0"/>
              </a:spcAft>
              <a:buNone/>
            </a:pPr>
            <a:r>
              <a:rPr lang="he-IL" sz="1600" b="1" i="0">
                <a:solidFill>
                  <a:srgbClr val="FFFFFF"/>
                </a:solidFill>
              </a:rPr>
              <a:t>עריכות אוטומטיות</a:t>
            </a:r>
          </a:p>
          <a:p>
            <a:pPr marL="0" indent="0" algn="ctr" rtl="1">
              <a:lnSpc>
                <a:spcPct val="105000"/>
              </a:lnSpc>
              <a:spcBef>
                <a:spcPts val="0"/>
              </a:spcBef>
              <a:spcAft>
                <a:spcPts val="0"/>
              </a:spcAft>
              <a:buNone/>
            </a:pPr>
            <a:r>
              <a:rPr lang="he-IL" sz="1200" b="0" i="0">
                <a:solidFill>
                  <a:srgbClr val="FFFFFF"/>
                </a:solidFill>
              </a:rPr>
              <a:t>שואל רק על הרצת פקודות</a:t>
            </a:r>
          </a:p>
        </p:txBody>
      </p:sp>
      <p:sp>
        <p:nvSpPr>
          <p:cNvPr id="8" name="Rectangle 7"/>
          <p:cNvSpPr/>
          <p:nvPr/>
        </p:nvSpPr>
        <p:spPr>
          <a:xfrm>
            <a:off x="365760" y="1737359"/>
            <a:ext cx="2011680" cy="3154680"/>
          </a:xfrm>
          <a:prstGeom prst="rect">
            <a:avLst/>
          </a:prstGeom>
          <a:solidFill>
            <a:srgbClr val="EA4335"/>
          </a:solidFill>
          <a:ln>
            <a:noFill/>
          </a:ln>
        </p:spPr>
        <p:txBody>
          <a:bodyPr wrap="square" lIns="73152" tIns="73152" rIns="73152" bIns="73152" rtlCol="0" anchor="t">
            <a:noAutofit/>
          </a:bodyPr>
          <a:lstStyle/>
          <a:p>
            <a:pPr marL="0" indent="0" algn="ctr" rtl="1">
              <a:lnSpc>
                <a:spcPct val="105000"/>
              </a:lnSpc>
              <a:spcBef>
                <a:spcPts val="0"/>
              </a:spcBef>
              <a:spcAft>
                <a:spcPts val="0"/>
              </a:spcAft>
              <a:buNone/>
            </a:pPr>
            <a:r>
              <a:rPr lang="he-IL" sz="2400" b="1" i="0">
                <a:solidFill>
                  <a:srgbClr val="FFFFFF"/>
                </a:solidFill>
              </a:rPr>
              <a:t>4</a:t>
            </a:r>
          </a:p>
          <a:p>
            <a:pPr marL="0" indent="0" algn="ctr" rtl="1">
              <a:lnSpc>
                <a:spcPct val="105000"/>
              </a:lnSpc>
              <a:spcBef>
                <a:spcPts val="0"/>
              </a:spcBef>
              <a:spcAft>
                <a:spcPts val="0"/>
              </a:spcAft>
              <a:buNone/>
            </a:pPr>
            <a:r>
              <a:rPr lang="he-IL" sz="1600" b="1" i="0">
                <a:solidFill>
                  <a:srgbClr val="FFFFFF"/>
                </a:solidFill>
              </a:rPr>
              <a:t>אוטונומיה מלאה</a:t>
            </a:r>
          </a:p>
          <a:p>
            <a:pPr marL="0" indent="0" algn="ctr" rtl="1">
              <a:lnSpc>
                <a:spcPct val="105000"/>
              </a:lnSpc>
              <a:spcBef>
                <a:spcPts val="0"/>
              </a:spcBef>
              <a:spcAft>
                <a:spcPts val="0"/>
              </a:spcAft>
              <a:buNone/>
            </a:pPr>
            <a:r>
              <a:rPr lang="he-IL" sz="1200" b="0" i="0">
                <a:solidFill>
                  <a:srgbClr val="FFFFFF"/>
                </a:solidFill>
              </a:rPr>
              <a:t>פועל לבד עד הסוף</a:t>
            </a:r>
          </a:p>
        </p:txBody>
      </p:sp>
      <p:sp>
        <p:nvSpPr>
          <p:cNvPr id="9" name="TextBox 8"/>
          <p:cNvSpPr txBox="1"/>
          <p:nvPr/>
        </p:nvSpPr>
        <p:spPr>
          <a:xfrm>
            <a:off x="2926080" y="1371600"/>
            <a:ext cx="5852160" cy="82296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1" i="0">
                <a:solidFill>
                  <a:srgbClr val="EA4335"/>
                </a:solidFill>
              </a:rPr>
              <a:t>יותר אוטונומיה = יותר סיכון, ויותר צורך בבדיקה.</a:t>
            </a:r>
          </a:p>
        </p:txBody>
      </p:sp>
      <p:sp>
        <p:nvSpPr>
          <p:cNvPr id="10" name="TextBox 9"/>
          <p:cNvSpPr txBox="1"/>
          <p:nvPr/>
        </p:nvSpPr>
        <p:spPr>
          <a:xfrm>
            <a:off x="5943600" y="4846320"/>
            <a:ext cx="2834640" cy="2743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200" b="0" i="0">
                <a:solidFill>
                  <a:srgbClr val="595959"/>
                </a:solidFill>
              </a:rPr>
              <a:t>← שליטה אצלכם</a:t>
            </a:r>
          </a:p>
        </p:txBody>
      </p:sp>
      <p:sp>
        <p:nvSpPr>
          <p:cNvPr id="11" name="TextBox 10"/>
          <p:cNvSpPr txBox="1"/>
          <p:nvPr/>
        </p:nvSpPr>
        <p:spPr>
          <a:xfrm>
            <a:off x="365760" y="4846320"/>
            <a:ext cx="2194560" cy="274320"/>
          </a:xfrm>
          <a:prstGeom prst="rect">
            <a:avLst/>
          </a:prstGeom>
          <a:noFill/>
        </p:spPr>
        <p:txBody>
          <a:bodyPr wrap="square" lIns="73152" tIns="73152" rIns="73152" bIns="73152" anchor="t">
            <a:noAutofit/>
          </a:bodyPr>
          <a:lstStyle/>
          <a:p>
            <a:pPr marL="0" indent="0" algn="l" rtl="1">
              <a:lnSpc>
                <a:spcPct val="110000"/>
              </a:lnSpc>
              <a:spcBef>
                <a:spcPts val="0"/>
              </a:spcBef>
              <a:spcAft>
                <a:spcPts val="0"/>
              </a:spcAft>
              <a:buNone/>
            </a:pPr>
            <a:r>
              <a:rPr lang="he-IL" sz="1200" b="0" i="0">
                <a:solidFill>
                  <a:srgbClr val="595959"/>
                </a:solidFill>
              </a:rPr>
              <a:t>הסוכן שולט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מה יכול להשתבש</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FDE3E0"/>
          </a:solidFill>
          <a:ln w="25400">
            <a:solidFill>
              <a:srgbClr val="EA4335"/>
            </a:solidFill>
          </a:ln>
        </p:spPr>
        <p:txBody>
          <a:bodyPr wrap="square" lIns="73152" tIns="73152" rIns="73152" bIns="73152" rtlCol="0" anchor="ctr">
            <a:noAutofit/>
          </a:bodyPr>
          <a:lstStyle/>
          <a:p>
            <a:pPr algn="ctr"/>
            <a:endParaRPr/>
          </a:p>
        </p:txBody>
      </p:sp>
      <p:sp>
        <p:nvSpPr>
          <p:cNvPr id="6" name="TextBox 5"/>
          <p:cNvSpPr txBox="1"/>
          <p:nvPr/>
        </p:nvSpPr>
        <p:spPr>
          <a:xfrm>
            <a:off x="7772400" y="1600200"/>
            <a:ext cx="914400" cy="9144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600" b="0" i="0">
                <a:solidFill>
                  <a:srgbClr val="212121"/>
                </a:solidFill>
              </a:rPr>
              <a:t>🗑️</a:t>
            </a:r>
          </a:p>
        </p:txBody>
      </p:sp>
      <p:sp>
        <p:nvSpPr>
          <p:cNvPr id="7" name="TextBox 6"/>
          <p:cNvSpPr txBox="1"/>
          <p:nvPr/>
        </p:nvSpPr>
        <p:spPr>
          <a:xfrm>
            <a:off x="4754879" y="160020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1" i="0">
                <a:solidFill>
                  <a:srgbClr val="212121"/>
                </a:solidFill>
              </a:rPr>
              <a:t>מחק קובץ</a:t>
            </a:r>
          </a:p>
        </p:txBody>
      </p:sp>
      <p:sp>
        <p:nvSpPr>
          <p:cNvPr id="8" name="TextBox 7"/>
          <p:cNvSpPr txBox="1"/>
          <p:nvPr/>
        </p:nvSpPr>
        <p:spPr>
          <a:xfrm>
            <a:off x="4754879" y="2194560"/>
            <a:ext cx="3063240" cy="64008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500" b="0" i="0">
                <a:solidFill>
                  <a:srgbClr val="595959"/>
                </a:solidFill>
              </a:rPr>
              <a:t>בשוגג, כולל קובץ שלא התבקש</a:t>
            </a:r>
          </a:p>
        </p:txBody>
      </p:sp>
      <p:sp>
        <p:nvSpPr>
          <p:cNvPr id="9" name="Rounded Rectangle 8"/>
          <p:cNvSpPr/>
          <p:nvPr/>
        </p:nvSpPr>
        <p:spPr>
          <a:xfrm>
            <a:off x="365760" y="1417320"/>
            <a:ext cx="4114800" cy="1463040"/>
          </a:xfrm>
          <a:prstGeom prst="roundRect">
            <a:avLst>
              <a:gd name="adj" fmla="val 6000"/>
            </a:avLst>
          </a:prstGeom>
          <a:solidFill>
            <a:srgbClr val="FDE3E0"/>
          </a:solidFill>
          <a:ln w="25400">
            <a:solidFill>
              <a:srgbClr val="EA4335"/>
            </a:solidFill>
          </a:ln>
        </p:spPr>
        <p:txBody>
          <a:bodyPr wrap="square" lIns="73152" tIns="73152" rIns="73152" bIns="73152" rtlCol="0" anchor="ctr">
            <a:noAutofit/>
          </a:bodyPr>
          <a:lstStyle/>
          <a:p>
            <a:pPr algn="ctr"/>
            <a:endParaRPr/>
          </a:p>
        </p:txBody>
      </p:sp>
      <p:sp>
        <p:nvSpPr>
          <p:cNvPr id="10" name="TextBox 9"/>
          <p:cNvSpPr txBox="1"/>
          <p:nvPr/>
        </p:nvSpPr>
        <p:spPr>
          <a:xfrm>
            <a:off x="3474720" y="1600200"/>
            <a:ext cx="914400" cy="9144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600" b="0" i="0">
                <a:solidFill>
                  <a:srgbClr val="212121"/>
                </a:solidFill>
              </a:rPr>
              <a:t>📝</a:t>
            </a:r>
          </a:p>
        </p:txBody>
      </p:sp>
      <p:sp>
        <p:nvSpPr>
          <p:cNvPr id="11" name="TextBox 10"/>
          <p:cNvSpPr txBox="1"/>
          <p:nvPr/>
        </p:nvSpPr>
        <p:spPr>
          <a:xfrm>
            <a:off x="457200" y="160020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1" i="0">
                <a:solidFill>
                  <a:srgbClr val="212121"/>
                </a:solidFill>
              </a:rPr>
              <a:t>שינה יותר ממה שביקשתם</a:t>
            </a:r>
          </a:p>
        </p:txBody>
      </p:sp>
      <p:sp>
        <p:nvSpPr>
          <p:cNvPr id="12" name="TextBox 11"/>
          <p:cNvSpPr txBox="1"/>
          <p:nvPr/>
        </p:nvSpPr>
        <p:spPr>
          <a:xfrm>
            <a:off x="457200" y="2194560"/>
            <a:ext cx="3063240" cy="64008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500" b="0" i="0">
                <a:solidFill>
                  <a:srgbClr val="595959"/>
                </a:solidFill>
              </a:rPr>
              <a:t>קבצים שלא היו חלק מהמשימה</a:t>
            </a:r>
          </a:p>
        </p:txBody>
      </p:sp>
      <p:sp>
        <p:nvSpPr>
          <p:cNvPr id="13" name="Rounded Rectangle 12"/>
          <p:cNvSpPr/>
          <p:nvPr/>
        </p:nvSpPr>
        <p:spPr>
          <a:xfrm>
            <a:off x="4663440" y="3063240"/>
            <a:ext cx="4114800" cy="1463040"/>
          </a:xfrm>
          <a:prstGeom prst="roundRect">
            <a:avLst>
              <a:gd name="adj" fmla="val 6000"/>
            </a:avLst>
          </a:prstGeom>
          <a:solidFill>
            <a:srgbClr val="FDE3E0"/>
          </a:solidFill>
          <a:ln w="25400">
            <a:solidFill>
              <a:srgbClr val="EA4335"/>
            </a:solidFill>
          </a:ln>
        </p:spPr>
        <p:txBody>
          <a:bodyPr wrap="square" lIns="73152" tIns="73152" rIns="73152" bIns="73152" rtlCol="0" anchor="ctr">
            <a:noAutofit/>
          </a:bodyPr>
          <a:lstStyle/>
          <a:p>
            <a:pPr algn="ctr"/>
            <a:endParaRPr/>
          </a:p>
        </p:txBody>
      </p:sp>
      <p:sp>
        <p:nvSpPr>
          <p:cNvPr id="14" name="TextBox 13"/>
          <p:cNvSpPr txBox="1"/>
          <p:nvPr/>
        </p:nvSpPr>
        <p:spPr>
          <a:xfrm>
            <a:off x="7772400" y="3246120"/>
            <a:ext cx="914400" cy="9144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600" b="0" i="0">
                <a:solidFill>
                  <a:srgbClr val="212121"/>
                </a:solidFill>
              </a:rPr>
              <a:t>📦</a:t>
            </a:r>
          </a:p>
        </p:txBody>
      </p:sp>
      <p:sp>
        <p:nvSpPr>
          <p:cNvPr id="15" name="TextBox 14"/>
          <p:cNvSpPr txBox="1"/>
          <p:nvPr/>
        </p:nvSpPr>
        <p:spPr>
          <a:xfrm>
            <a:off x="4754879" y="324612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1" i="0">
                <a:solidFill>
                  <a:srgbClr val="212121"/>
                </a:solidFill>
              </a:rPr>
              <a:t>התקין חבילה</a:t>
            </a:r>
          </a:p>
        </p:txBody>
      </p:sp>
      <p:sp>
        <p:nvSpPr>
          <p:cNvPr id="16" name="TextBox 15"/>
          <p:cNvSpPr txBox="1"/>
          <p:nvPr/>
        </p:nvSpPr>
        <p:spPr>
          <a:xfrm>
            <a:off x="4754879" y="3840480"/>
            <a:ext cx="3063240" cy="64008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500" b="0" i="0">
                <a:solidFill>
                  <a:srgbClr val="595959"/>
                </a:solidFill>
              </a:rPr>
              <a:t>אולי כזו שלא קיימת בכלל (הזיית חבילה, מפגש 2)</a:t>
            </a:r>
          </a:p>
        </p:txBody>
      </p:sp>
      <p:sp>
        <p:nvSpPr>
          <p:cNvPr id="17" name="Rounded Rectangle 16"/>
          <p:cNvSpPr/>
          <p:nvPr/>
        </p:nvSpPr>
        <p:spPr>
          <a:xfrm>
            <a:off x="365760" y="3063240"/>
            <a:ext cx="4114800" cy="1463040"/>
          </a:xfrm>
          <a:prstGeom prst="roundRect">
            <a:avLst>
              <a:gd name="adj" fmla="val 6000"/>
            </a:avLst>
          </a:prstGeom>
          <a:solidFill>
            <a:srgbClr val="FDE3E0"/>
          </a:solidFill>
          <a:ln w="25400">
            <a:solidFill>
              <a:srgbClr val="EA4335"/>
            </a:solidFill>
          </a:ln>
        </p:spPr>
        <p:txBody>
          <a:bodyPr wrap="square" lIns="73152" tIns="73152" rIns="73152" bIns="73152" rtlCol="0" anchor="ctr">
            <a:noAutofit/>
          </a:bodyPr>
          <a:lstStyle/>
          <a:p>
            <a:pPr algn="ctr"/>
            <a:endParaRPr/>
          </a:p>
        </p:txBody>
      </p:sp>
      <p:sp>
        <p:nvSpPr>
          <p:cNvPr id="18" name="TextBox 17"/>
          <p:cNvSpPr txBox="1"/>
          <p:nvPr/>
        </p:nvSpPr>
        <p:spPr>
          <a:xfrm>
            <a:off x="3474720" y="3246120"/>
            <a:ext cx="914400" cy="9144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600" b="0" i="0">
                <a:solidFill>
                  <a:srgbClr val="212121"/>
                </a:solidFill>
              </a:rPr>
              <a:t>⚠️</a:t>
            </a:r>
          </a:p>
        </p:txBody>
      </p:sp>
      <p:sp>
        <p:nvSpPr>
          <p:cNvPr id="19" name="TextBox 18"/>
          <p:cNvSpPr txBox="1"/>
          <p:nvPr/>
        </p:nvSpPr>
        <p:spPr>
          <a:xfrm>
            <a:off x="457200" y="324612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1" i="0">
                <a:solidFill>
                  <a:srgbClr val="212121"/>
                </a:solidFill>
              </a:rPr>
              <a:t>הריץ פקודה מסוכנת</a:t>
            </a:r>
          </a:p>
        </p:txBody>
      </p:sp>
      <p:sp>
        <p:nvSpPr>
          <p:cNvPr id="20" name="TextBox 19"/>
          <p:cNvSpPr txBox="1"/>
          <p:nvPr/>
        </p:nvSpPr>
        <p:spPr>
          <a:xfrm>
            <a:off x="457200" y="3840480"/>
            <a:ext cx="3063240" cy="64008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500" b="0" i="0">
                <a:solidFill>
                  <a:srgbClr val="595959"/>
                </a:solidFill>
              </a:rPr>
              <a:t>שמוחקת או שולחת מידע</a:t>
            </a:r>
          </a:p>
        </p:txBody>
      </p:sp>
      <p:sp>
        <p:nvSpPr>
          <p:cNvPr id="21" name="TextBox 20"/>
          <p:cNvSpPr txBox="1"/>
          <p:nvPr/>
        </p:nvSpPr>
        <p:spPr>
          <a:xfrm>
            <a:off x="365760" y="4617720"/>
            <a:ext cx="8412480" cy="411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700" b="1" i="0">
                <a:solidFill>
                  <a:srgbClr val="34A853"/>
                </a:solidFill>
              </a:rPr>
              <a:t>לכן במפגש הבא נלמד Git: רשת ביטחון לפני שנותנים לסוכן לפעול.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פרטיות ועלות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7040880" y="1417320"/>
            <a:ext cx="1737360" cy="91440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700" b="1" i="0">
                <a:solidFill>
                  <a:srgbClr val="212121"/>
                </a:solidFill>
              </a:rPr>
              <a:t>💻 המחשב שלכם</a:t>
            </a:r>
          </a:p>
        </p:txBody>
      </p:sp>
      <p:sp>
        <p:nvSpPr>
          <p:cNvPr id="6" name="Rounded Rectangle 5"/>
          <p:cNvSpPr/>
          <p:nvPr/>
        </p:nvSpPr>
        <p:spPr>
          <a:xfrm>
            <a:off x="365760" y="1417320"/>
            <a:ext cx="2194560" cy="9144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700" b="1" i="0">
                <a:solidFill>
                  <a:srgbClr val="212121"/>
                </a:solidFill>
              </a:rPr>
              <a:t>☁️ שרתי הספק</a:t>
            </a:r>
          </a:p>
        </p:txBody>
      </p:sp>
      <p:cxnSp>
        <p:nvCxnSpPr>
          <p:cNvPr id="7" name="Connector 6"/>
          <p:cNvCxnSpPr/>
          <p:nvPr/>
        </p:nvCxnSpPr>
        <p:spPr>
          <a:xfrm flipH="1">
            <a:off x="2606040" y="1874519"/>
            <a:ext cx="438912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743200" y="1417320"/>
            <a:ext cx="4206240" cy="411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1" i="0">
                <a:solidFill>
                  <a:srgbClr val="212121"/>
                </a:solidFill>
              </a:rPr>
              <a:t>הפרומפט + קבצים שהכלי קרא</a:t>
            </a:r>
          </a:p>
        </p:txBody>
      </p:sp>
      <p:sp>
        <p:nvSpPr>
          <p:cNvPr id="9" name="Rounded Rectangle 8"/>
          <p:cNvSpPr/>
          <p:nvPr/>
        </p:nvSpPr>
        <p:spPr>
          <a:xfrm>
            <a:off x="365760" y="2560320"/>
            <a:ext cx="8412480" cy="621792"/>
          </a:xfrm>
          <a:prstGeom prst="roundRect">
            <a:avLst>
              <a:gd name="adj" fmla="val 10000"/>
            </a:avLst>
          </a:prstGeom>
          <a:solidFill>
            <a:srgbClr val="FDE3E0"/>
          </a:solidFill>
          <a:ln w="19050">
            <a:solidFill>
              <a:srgbClr val="EA4335"/>
            </a:solidFill>
          </a:ln>
        </p:spPr>
        <p:txBody>
          <a:bodyPr wrap="square" lIns="73152" tIns="73152" rIns="73152" bIns="73152" rtlCol="0" anchor="ctr">
            <a:noAutofit/>
          </a:bodyPr>
          <a:lstStyle/>
          <a:p>
            <a:pPr algn="ctr"/>
            <a:endParaRPr/>
          </a:p>
        </p:txBody>
      </p:sp>
      <p:sp>
        <p:nvSpPr>
          <p:cNvPr id="10" name="TextBox 9"/>
          <p:cNvSpPr txBox="1"/>
          <p:nvPr/>
        </p:nvSpPr>
        <p:spPr>
          <a:xfrm>
            <a:off x="7772400" y="2560320"/>
            <a:ext cx="914400" cy="621792"/>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400" b="0" i="0">
                <a:solidFill>
                  <a:srgbClr val="212121"/>
                </a:solidFill>
              </a:rPr>
              <a:t>🔴</a:t>
            </a:r>
          </a:p>
        </p:txBody>
      </p:sp>
      <p:sp>
        <p:nvSpPr>
          <p:cNvPr id="11" name="TextBox 10"/>
          <p:cNvSpPr txBox="1"/>
          <p:nvPr/>
        </p:nvSpPr>
        <p:spPr>
          <a:xfrm>
            <a:off x="6126480" y="2560320"/>
            <a:ext cx="1737360" cy="621792"/>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800" b="1" i="0">
                <a:solidFill>
                  <a:srgbClr val="212121"/>
                </a:solidFill>
              </a:rPr>
              <a:t>לא להעלות</a:t>
            </a:r>
          </a:p>
        </p:txBody>
      </p:sp>
      <p:sp>
        <p:nvSpPr>
          <p:cNvPr id="12" name="TextBox 11"/>
          <p:cNvSpPr txBox="1"/>
          <p:nvPr/>
        </p:nvSpPr>
        <p:spPr>
          <a:xfrm>
            <a:off x="457200" y="2560320"/>
            <a:ext cx="5669280" cy="621792"/>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600" b="0" i="0">
                <a:solidFill>
                  <a:srgbClr val="212121"/>
                </a:solidFill>
              </a:rPr>
              <a:t>נתוני לקוחות, מפתחות וסיסמאות, קוד סודי של ארגון</a:t>
            </a:r>
          </a:p>
        </p:txBody>
      </p:sp>
      <p:sp>
        <p:nvSpPr>
          <p:cNvPr id="13" name="Rounded Rectangle 12"/>
          <p:cNvSpPr/>
          <p:nvPr/>
        </p:nvSpPr>
        <p:spPr>
          <a:xfrm>
            <a:off x="365760" y="3291839"/>
            <a:ext cx="8412480" cy="621792"/>
          </a:xfrm>
          <a:prstGeom prst="roundRect">
            <a:avLst>
              <a:gd name="adj" fmla="val 10000"/>
            </a:avLst>
          </a:prstGeom>
          <a:solidFill>
            <a:srgbClr val="FFF0D9"/>
          </a:solidFill>
          <a:ln w="19050">
            <a:solidFill>
              <a:srgbClr val="FFAB40"/>
            </a:solidFill>
          </a:ln>
        </p:spPr>
        <p:txBody>
          <a:bodyPr wrap="square" lIns="73152" tIns="73152" rIns="73152" bIns="73152" rtlCol="0" anchor="ctr">
            <a:noAutofit/>
          </a:bodyPr>
          <a:lstStyle/>
          <a:p>
            <a:pPr algn="ctr"/>
            <a:endParaRPr/>
          </a:p>
        </p:txBody>
      </p:sp>
      <p:sp>
        <p:nvSpPr>
          <p:cNvPr id="14" name="TextBox 13"/>
          <p:cNvSpPr txBox="1"/>
          <p:nvPr/>
        </p:nvSpPr>
        <p:spPr>
          <a:xfrm>
            <a:off x="7772400" y="3291839"/>
            <a:ext cx="914400" cy="621792"/>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400" b="0" i="0">
                <a:solidFill>
                  <a:srgbClr val="212121"/>
                </a:solidFill>
              </a:rPr>
              <a:t>🟡</a:t>
            </a:r>
          </a:p>
        </p:txBody>
      </p:sp>
      <p:sp>
        <p:nvSpPr>
          <p:cNvPr id="15" name="TextBox 14"/>
          <p:cNvSpPr txBox="1"/>
          <p:nvPr/>
        </p:nvSpPr>
        <p:spPr>
          <a:xfrm>
            <a:off x="6126480" y="3291839"/>
            <a:ext cx="1737360" cy="621792"/>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800" b="1" i="0">
                <a:solidFill>
                  <a:srgbClr val="212121"/>
                </a:solidFill>
              </a:rPr>
              <a:t>בזהירות</a:t>
            </a:r>
          </a:p>
        </p:txBody>
      </p:sp>
      <p:sp>
        <p:nvSpPr>
          <p:cNvPr id="16" name="TextBox 15"/>
          <p:cNvSpPr txBox="1"/>
          <p:nvPr/>
        </p:nvSpPr>
        <p:spPr>
          <a:xfrm>
            <a:off x="457200" y="3291839"/>
            <a:ext cx="5669280" cy="621792"/>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600" b="0" i="0">
                <a:solidFill>
                  <a:srgbClr val="212121"/>
                </a:solidFill>
              </a:rPr>
              <a:t>קוד של הפרויקט שלכם, אחרי בדיקת תנאי השימוש</a:t>
            </a:r>
          </a:p>
        </p:txBody>
      </p:sp>
      <p:sp>
        <p:nvSpPr>
          <p:cNvPr id="17" name="Rounded Rectangle 16"/>
          <p:cNvSpPr/>
          <p:nvPr/>
        </p:nvSpPr>
        <p:spPr>
          <a:xfrm>
            <a:off x="365760" y="4023360"/>
            <a:ext cx="8412480" cy="621792"/>
          </a:xfrm>
          <a:prstGeom prst="roundRect">
            <a:avLst>
              <a:gd name="adj" fmla="val 10000"/>
            </a:avLst>
          </a:prstGeom>
          <a:solidFill>
            <a:srgbClr val="E1F4E6"/>
          </a:solidFill>
          <a:ln w="19050">
            <a:solidFill>
              <a:srgbClr val="34A853"/>
            </a:solidFill>
          </a:ln>
        </p:spPr>
        <p:txBody>
          <a:bodyPr wrap="square" lIns="73152" tIns="73152" rIns="73152" bIns="73152" rtlCol="0" anchor="ctr">
            <a:noAutofit/>
          </a:bodyPr>
          <a:lstStyle/>
          <a:p>
            <a:pPr algn="ctr"/>
            <a:endParaRPr/>
          </a:p>
        </p:txBody>
      </p:sp>
      <p:sp>
        <p:nvSpPr>
          <p:cNvPr id="18" name="TextBox 17"/>
          <p:cNvSpPr txBox="1"/>
          <p:nvPr/>
        </p:nvSpPr>
        <p:spPr>
          <a:xfrm>
            <a:off x="7772400" y="4023360"/>
            <a:ext cx="914400" cy="621792"/>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400" b="0" i="0">
                <a:solidFill>
                  <a:srgbClr val="212121"/>
                </a:solidFill>
              </a:rPr>
              <a:t>🟢</a:t>
            </a:r>
          </a:p>
        </p:txBody>
      </p:sp>
      <p:sp>
        <p:nvSpPr>
          <p:cNvPr id="19" name="TextBox 18"/>
          <p:cNvSpPr txBox="1"/>
          <p:nvPr/>
        </p:nvSpPr>
        <p:spPr>
          <a:xfrm>
            <a:off x="6126480" y="4023360"/>
            <a:ext cx="1737360" cy="621792"/>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800" b="1" i="0">
                <a:solidFill>
                  <a:srgbClr val="212121"/>
                </a:solidFill>
              </a:rPr>
              <a:t>בסדר</a:t>
            </a:r>
          </a:p>
        </p:txBody>
      </p:sp>
      <p:sp>
        <p:nvSpPr>
          <p:cNvPr id="20" name="TextBox 19"/>
          <p:cNvSpPr txBox="1"/>
          <p:nvPr/>
        </p:nvSpPr>
        <p:spPr>
          <a:xfrm>
            <a:off x="457200" y="4023360"/>
            <a:ext cx="5669280" cy="621792"/>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600" b="0" i="0">
                <a:solidFill>
                  <a:srgbClr val="212121"/>
                </a:solidFill>
              </a:rPr>
              <a:t>נתונים סינתטיים, דוגמאות, קוד ציבורי</a:t>
            </a:r>
          </a:p>
        </p:txBody>
      </p:sp>
      <p:sp>
        <p:nvSpPr>
          <p:cNvPr id="21" name="TextBox 20"/>
          <p:cNvSpPr txBox="1"/>
          <p:nvPr/>
        </p:nvSpPr>
        <p:spPr>
          <a:xfrm>
            <a:off x="365760" y="4709160"/>
            <a:ext cx="841248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300" b="0" i="0">
                <a:solidFill>
                  <a:srgbClr val="595959"/>
                </a:solidFill>
              </a:rPr>
              <a:t>עלות: חלק מהכלים חינמיים עם מכסה. מי שמסיים את המכסה מחכה לחידוש שלה.</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הכלים מתחלפים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Oval 4"/>
          <p:cNvSpPr/>
          <p:nvPr/>
        </p:nvSpPr>
        <p:spPr>
          <a:xfrm>
            <a:off x="2834640" y="1828800"/>
            <a:ext cx="3474720" cy="1600200"/>
          </a:xfrm>
          <a:prstGeom prst="ellipse">
            <a:avLst/>
          </a:prstGeom>
          <a:solidFill>
            <a:srgbClr val="E1F4E6"/>
          </a:solidFill>
          <a:ln w="38100">
            <a:solidFill>
              <a:srgbClr val="34A853"/>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200" b="1" i="0">
                <a:solidFill>
                  <a:srgbClr val="212121"/>
                </a:solidFill>
              </a:rPr>
              <a:t>תהליך העבודה</a:t>
            </a:r>
          </a:p>
          <a:p>
            <a:pPr marL="0" indent="0" algn="ctr" rtl="1">
              <a:lnSpc>
                <a:spcPct val="105000"/>
              </a:lnSpc>
              <a:spcBef>
                <a:spcPts val="0"/>
              </a:spcBef>
              <a:spcAft>
                <a:spcPts val="0"/>
              </a:spcAft>
              <a:buNone/>
            </a:pPr>
            <a:r>
              <a:rPr lang="he-IL" sz="1600" b="0" i="0">
                <a:solidFill>
                  <a:srgbClr val="212121"/>
                </a:solidFill>
              </a:rPr>
              <a:t>פרומפט טוב · הקשר · בדיקה · גרסאות</a:t>
            </a:r>
          </a:p>
        </p:txBody>
      </p:sp>
      <p:sp>
        <p:nvSpPr>
          <p:cNvPr id="6" name="Rounded Rectangle 5"/>
          <p:cNvSpPr/>
          <p:nvPr/>
        </p:nvSpPr>
        <p:spPr>
          <a:xfrm>
            <a:off x="6949440" y="1371600"/>
            <a:ext cx="1737360" cy="6858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1" i="0">
                <a:solidFill>
                  <a:srgbClr val="212121"/>
                </a:solidFill>
              </a:rPr>
              <a:t>כלי א׳</a:t>
            </a:r>
          </a:p>
        </p:txBody>
      </p:sp>
      <p:sp>
        <p:nvSpPr>
          <p:cNvPr id="7" name="Rounded Rectangle 6"/>
          <p:cNvSpPr/>
          <p:nvPr/>
        </p:nvSpPr>
        <p:spPr>
          <a:xfrm>
            <a:off x="457200" y="1371600"/>
            <a:ext cx="1737360" cy="6858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1" i="0">
                <a:solidFill>
                  <a:srgbClr val="212121"/>
                </a:solidFill>
              </a:rPr>
              <a:t>כלי ב׳</a:t>
            </a:r>
          </a:p>
        </p:txBody>
      </p:sp>
      <p:sp>
        <p:nvSpPr>
          <p:cNvPr id="8" name="Rounded Rectangle 7"/>
          <p:cNvSpPr/>
          <p:nvPr/>
        </p:nvSpPr>
        <p:spPr>
          <a:xfrm>
            <a:off x="3703320" y="3840480"/>
            <a:ext cx="1737360" cy="6858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1" i="0">
                <a:solidFill>
                  <a:srgbClr val="212121"/>
                </a:solidFill>
              </a:rPr>
              <a:t>כלי ג׳</a:t>
            </a:r>
          </a:p>
        </p:txBody>
      </p:sp>
      <p:cxnSp>
        <p:nvCxnSpPr>
          <p:cNvPr id="9" name="Connector 8"/>
          <p:cNvCxnSpPr/>
          <p:nvPr/>
        </p:nvCxnSpPr>
        <p:spPr>
          <a:xfrm flipH="1">
            <a:off x="6126480" y="1874519"/>
            <a:ext cx="777240" cy="457201"/>
          </a:xfrm>
          <a:prstGeom prst="line">
            <a:avLst/>
          </a:prstGeom>
          <a:ln w="25400">
            <a:solidFill>
              <a:srgbClr val="78909C"/>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240280" y="1874519"/>
            <a:ext cx="777240" cy="457201"/>
          </a:xfrm>
          <a:prstGeom prst="line">
            <a:avLst/>
          </a:prstGeom>
          <a:ln w="25400">
            <a:solidFill>
              <a:srgbClr val="78909C"/>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572000" y="3456432"/>
            <a:ext cx="0" cy="365759"/>
          </a:xfrm>
          <a:prstGeom prst="line">
            <a:avLst/>
          </a:prstGeom>
          <a:ln w="25400">
            <a:solidFill>
              <a:srgbClr val="78909C"/>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5760" y="4663440"/>
            <a:ext cx="8412480" cy="411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1" i="0">
                <a:solidFill>
                  <a:srgbClr val="212121"/>
                </a:solidFill>
              </a:rPr>
              <a:t>כלים מתחלפים כל כמה חודשים. תהליך העבודה נשאר.</a:t>
            </a:r>
          </a:p>
        </p:txBody>
      </p:sp>
      <p:sp>
        <p:nvSpPr>
          <p:cNvPr id="13"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דוגמאות לכלים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508760"/>
          <a:ext cx="8412480" cy="2926080"/>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731520">
                <a:tc>
                  <a:txBody>
                    <a:bodyPr/>
                    <a:lstStyle/>
                    <a:p>
                      <a:pPr marL="0" indent="0" algn="ctr" rtl="1">
                        <a:lnSpc>
                          <a:spcPct val="100000"/>
                        </a:lnSpc>
                        <a:spcBef>
                          <a:spcPts val="0"/>
                        </a:spcBef>
                        <a:spcAft>
                          <a:spcPts val="0"/>
                        </a:spcAft>
                        <a:buNone/>
                      </a:pPr>
                      <a:r>
                        <a:rPr lang="he-IL" sz="1600" b="1" i="0">
                          <a:solidFill>
                            <a:srgbClr val="212121"/>
                          </a:solidFill>
                        </a:rPr>
                        <a:t>כדאי לדעת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600" b="1" i="0">
                          <a:solidFill>
                            <a:srgbClr val="212121"/>
                          </a:solidFill>
                        </a:rPr>
                        <a:t>דוגמאות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600" b="1" i="0">
                          <a:solidFill>
                            <a:srgbClr val="212121"/>
                          </a:solidFill>
                        </a:rPr>
                        <a:t>משפחה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731520">
                <a:tc>
                  <a:txBody>
                    <a:bodyPr/>
                    <a:lstStyle/>
                    <a:p>
                      <a:pPr marL="0" indent="0" algn="r" rtl="1">
                        <a:lnSpc>
                          <a:spcPct val="100000"/>
                        </a:lnSpc>
                        <a:spcBef>
                          <a:spcPts val="0"/>
                        </a:spcBef>
                        <a:spcAft>
                          <a:spcPts val="0"/>
                        </a:spcAft>
                        <a:buNone/>
                      </a:pPr>
                      <a:r>
                        <a:rPr lang="he-IL" sz="1600" b="0" i="0">
                          <a:solidFill>
                            <a:srgbClr val="212121"/>
                          </a:solidFill>
                        </a:rPr>
                        <a:t>גרסאות חינמיות עם מגבלות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600" b="0" i="0">
                          <a:solidFill>
                            <a:srgbClr val="212121"/>
                          </a:solidFill>
                        </a:rPr>
                        <a:t>Gemini, ChatGPT, Claude.ai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600" b="1" i="0">
                          <a:solidFill>
                            <a:srgbClr val="212121"/>
                          </a:solidFill>
                        </a:rPr>
                        <a:t>צ׳אט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731520">
                <a:tc>
                  <a:txBody>
                    <a:bodyPr/>
                    <a:lstStyle/>
                    <a:p>
                      <a:pPr marL="0" indent="0" algn="r" rtl="1">
                        <a:lnSpc>
                          <a:spcPct val="100000"/>
                        </a:lnSpc>
                        <a:spcBef>
                          <a:spcPts val="0"/>
                        </a:spcBef>
                        <a:spcAft>
                          <a:spcPts val="0"/>
                        </a:spcAft>
                        <a:buNone/>
                      </a:pPr>
                      <a:r>
                        <a:rPr lang="he-IL" sz="1600" b="0" i="0">
                          <a:solidFill>
                            <a:srgbClr val="212121"/>
                          </a:solidFill>
                        </a:rPr>
                        <a:t>מכסה חודשית מוגבלת. תנאי האימון השתנו באפריל 2026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600" b="0" i="0">
                          <a:solidFill>
                            <a:srgbClr val="212121"/>
                          </a:solidFill>
                        </a:rPr>
                        <a:t>GitHub Copilot Free (תוסף ל־VS Code), העוזר המובנה ב־Colab</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600" b="1" i="0">
                          <a:solidFill>
                            <a:srgbClr val="212121"/>
                          </a:solidFill>
                        </a:rPr>
                        <a:t>עוזר בעורך</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731520">
                <a:tc>
                  <a:txBody>
                    <a:bodyPr/>
                    <a:lstStyle/>
                    <a:p>
                      <a:pPr marL="0" indent="0" algn="r" rtl="1">
                        <a:lnSpc>
                          <a:spcPct val="100000"/>
                        </a:lnSpc>
                        <a:spcBef>
                          <a:spcPts val="0"/>
                        </a:spcBef>
                        <a:spcAft>
                          <a:spcPts val="0"/>
                        </a:spcAft>
                        <a:buNone/>
                      </a:pPr>
                      <a:r>
                        <a:rPr lang="he-IL" sz="1600" b="0" i="0">
                          <a:solidFill>
                            <a:srgbClr val="212121"/>
                          </a:solidFill>
                        </a:rPr>
                        <a:t>Claude Code בתשלום או API. בחינמיים: מכסה מצומצמת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600" b="0" i="0">
                          <a:solidFill>
                            <a:srgbClr val="212121"/>
                          </a:solidFill>
                        </a:rPr>
                        <a:t>Antigravity CLI (במקום Gemini CLI), OpenCode, Claude Code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600" b="1" i="0">
                          <a:solidFill>
                            <a:srgbClr val="212121"/>
                          </a:solidFill>
                        </a:rPr>
                        <a:t>סוכן CLI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365760" y="4560000"/>
            <a:ext cx="8412480" cy="5200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400" b="0" i="0">
                <a:solidFill>
                  <a:srgbClr val="212121"/>
                </a:solidFill>
              </a:rPr>
              <a:t>18.6.2026: Gemini CLI הפסיק לשרת חשבונות חינמיים ומנויי Pro ו־Ultra (עבר ל־Antigravity CLI). מכסות משתנות.</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463040"/>
            <a:ext cx="8412480" cy="274320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800" b="1" i="0">
                <a:solidFill>
                  <a:srgbClr val="4285F4"/>
                </a:solidFill>
              </a:rPr>
              <a:t>למה לא כדאי לתת לסוכן לעבוד באוטונומיה מלאה על פרויקט שאין לו גיבוי?</a:t>
            </a:r>
          </a:p>
        </p:txBody>
      </p:sp>
      <p:sp>
        <p:nvSpPr>
          <p:cNvPr id="6"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417320"/>
            <a:ext cx="8412480" cy="91440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800" b="0" i="0">
                <a:solidFill>
                  <a:srgbClr val="595959"/>
                </a:solidFill>
              </a:rPr>
              <a:t>למה לא כדאי לתת לסוכן לעבוד באוטונומיה מלאה על פרויקט שאין לו גיבוי?</a:t>
            </a:r>
          </a:p>
        </p:txBody>
      </p:sp>
      <p:sp>
        <p:nvSpPr>
          <p:cNvPr id="6" name="TextBox 5"/>
          <p:cNvSpPr txBox="1"/>
          <p:nvPr/>
        </p:nvSpPr>
        <p:spPr>
          <a:xfrm>
            <a:off x="365760" y="2468880"/>
            <a:ext cx="8412480" cy="25603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34A853"/>
                </a:solidFill>
              </a:rPr>
              <a:t>תשובה:</a:t>
            </a:r>
          </a:p>
          <a:p>
            <a:pPr marL="347472" indent="-292608" algn="r" rtl="1">
              <a:lnSpc>
                <a:spcPct val="110000"/>
              </a:lnSpc>
              <a:spcBef>
                <a:spcPts val="0"/>
              </a:spcBef>
              <a:spcAft>
                <a:spcPts val="600"/>
              </a:spcAft>
              <a:buClr>
                <a:srgbClr val="212121"/>
              </a:buClr>
              <a:buSzPts val="1680"/>
              <a:buChar char="●"/>
            </a:pPr>
            <a:r>
              <a:rPr lang="he-IL" sz="2100" b="0" i="0">
                <a:solidFill>
                  <a:srgbClr val="212121"/>
                </a:solidFill>
              </a:rPr>
              <a:t>אם הסוכן מוחק או משנה בשוגג, אין דרך לחזור למצב הקודם.</a:t>
            </a:r>
          </a:p>
          <a:p>
            <a:pPr marL="347472" indent="-292608" algn="r" rtl="1">
              <a:lnSpc>
                <a:spcPct val="110000"/>
              </a:lnSpc>
              <a:spcBef>
                <a:spcPts val="0"/>
              </a:spcBef>
              <a:spcAft>
                <a:spcPts val="0"/>
              </a:spcAft>
              <a:buClr>
                <a:srgbClr val="212121"/>
              </a:buClr>
              <a:buSzPts val="1680"/>
              <a:buChar char="●"/>
            </a:pPr>
            <a:r>
              <a:rPr lang="he-IL" sz="2100" b="0" i="0">
                <a:solidFill>
                  <a:srgbClr val="212121"/>
                </a:solidFill>
              </a:rPr>
              <a:t>לכן עושים commit לפני, וקוראים את השינויים אחרי (מפגש 6).</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מה הופך מודל לסוכן</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MCP Shape 5"/>
          <p:cNvSpPr/>
          <p:nvPr/>
        </p:nvSpPr>
        <p:spPr>
          <a:xfrm>
            <a:off x="6264000" y="1404000"/>
            <a:ext cx="2448000" cy="1296000"/>
          </a:xfrm>
          <a:prstGeom prst="roundRect">
            <a:avLst>
              <a:gd name="adj" fmla="val 10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200" b="1" i="0">
                <a:solidFill>
                  <a:srgbClr val="212121"/>
                </a:solidFill>
              </a:rPr>
              <a:t>1  תכנון</a:t>
            </a:r>
          </a:p>
          <a:p>
            <a:pPr marL="0" indent="0" algn="ctr" rtl="1">
              <a:lnSpc>
                <a:spcPct val="105000"/>
              </a:lnSpc>
              <a:spcBef>
                <a:spcPts val="400"/>
              </a:spcBef>
              <a:spcAft>
                <a:spcPts val="0"/>
              </a:spcAft>
              <a:buNone/>
            </a:pPr>
            <a:r>
              <a:rPr lang="he-IL" sz="1500" b="0" i="0">
                <a:solidFill>
                  <a:srgbClr val="212121"/>
                </a:solidFill>
              </a:rPr>
              <a:t>המודל חושב ומחליט מה הצעד הבא (Thought)</a:t>
            </a:r>
          </a:p>
        </p:txBody>
      </p:sp>
      <p:sp>
        <p:nvSpPr>
          <p:cNvPr id="6" name="MCP Shape 6"/>
          <p:cNvSpPr/>
          <p:nvPr/>
        </p:nvSpPr>
        <p:spPr>
          <a:xfrm>
            <a:off x="3348000" y="1404000"/>
            <a:ext cx="2448000" cy="1296000"/>
          </a:xfrm>
          <a:prstGeom prst="roundRect">
            <a:avLst>
              <a:gd name="adj" fmla="val 10000"/>
            </a:avLst>
          </a:prstGeom>
          <a:solidFill>
            <a:srgbClr val="DDF2F5"/>
          </a:solidFill>
          <a:ln w="19050">
            <a:solidFill>
              <a:srgbClr val="0097A7"/>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200" b="1" i="0">
                <a:solidFill>
                  <a:srgbClr val="212121"/>
                </a:solidFill>
              </a:rPr>
              <a:t>2  פעולה</a:t>
            </a:r>
          </a:p>
          <a:p>
            <a:pPr marL="0" indent="0" algn="ctr" rtl="1">
              <a:lnSpc>
                <a:spcPct val="105000"/>
              </a:lnSpc>
              <a:spcBef>
                <a:spcPts val="400"/>
              </a:spcBef>
              <a:spcAft>
                <a:spcPts val="0"/>
              </a:spcAft>
              <a:buNone/>
            </a:pPr>
            <a:r>
              <a:rPr lang="he-IL" sz="1500" b="0" i="0">
                <a:solidFill>
                  <a:srgbClr val="212121"/>
                </a:solidFill>
              </a:rPr>
              <a:t>מבקש קריאה לכלי, והמעטפת מבצעת (Action)</a:t>
            </a:r>
          </a:p>
        </p:txBody>
      </p:sp>
      <p:sp>
        <p:nvSpPr>
          <p:cNvPr id="7" name="MCP Shape 7"/>
          <p:cNvSpPr/>
          <p:nvPr/>
        </p:nvSpPr>
        <p:spPr>
          <a:xfrm>
            <a:off x="432000" y="1404000"/>
            <a:ext cx="2448000" cy="1296000"/>
          </a:xfrm>
          <a:prstGeom prst="roundRect">
            <a:avLst>
              <a:gd name="adj" fmla="val 10000"/>
            </a:avLst>
          </a:prstGeom>
          <a:solidFill>
            <a:srgbClr val="E3EEFF"/>
          </a:solidFill>
          <a:ln w="19050">
            <a:solidFill>
              <a:srgbClr val="4285F4"/>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200" b="1" i="0">
                <a:solidFill>
                  <a:srgbClr val="212121"/>
                </a:solidFill>
              </a:rPr>
              <a:t>3  תצפית</a:t>
            </a:r>
          </a:p>
          <a:p>
            <a:pPr marL="0" indent="0" algn="ctr" rtl="1">
              <a:lnSpc>
                <a:spcPct val="105000"/>
              </a:lnSpc>
              <a:spcBef>
                <a:spcPts val="400"/>
              </a:spcBef>
              <a:spcAft>
                <a:spcPts val="0"/>
              </a:spcAft>
              <a:buNone/>
            </a:pPr>
            <a:r>
              <a:rPr lang="he-IL" sz="1500" b="0" i="0">
                <a:solidFill>
                  <a:srgbClr val="212121"/>
                </a:solidFill>
              </a:rPr>
              <a:t>התוצאה חוזרת לחלון ההקשר (Observation)</a:t>
            </a:r>
          </a:p>
        </p:txBody>
      </p:sp>
      <p:cxnSp>
        <p:nvCxnSpPr>
          <p:cNvPr id="8" name="MCP Line 8"/>
          <p:cNvCxnSpPr/>
          <p:nvPr/>
        </p:nvCxnSpPr>
        <p:spPr>
          <a:xfrm flipH="1">
            <a:off x="5832000" y="2052000"/>
            <a:ext cx="396000" cy="0"/>
          </a:xfrm>
          <a:prstGeom prst="line">
            <a:avLst/>
          </a:prstGeom>
          <a:ln w="38100">
            <a:solidFill>
              <a:srgbClr val="595959"/>
            </a:solidFill>
            <a:tailEnd type="triangle"/>
          </a:ln>
        </p:spPr>
      </p:cxnSp>
      <p:cxnSp>
        <p:nvCxnSpPr>
          <p:cNvPr id="9" name="MCP Line 9"/>
          <p:cNvCxnSpPr/>
          <p:nvPr/>
        </p:nvCxnSpPr>
        <p:spPr>
          <a:xfrm flipH="1">
            <a:off x="2916000" y="2052000"/>
            <a:ext cx="396000" cy="0"/>
          </a:xfrm>
          <a:prstGeom prst="line">
            <a:avLst/>
          </a:prstGeom>
          <a:ln w="38100">
            <a:solidFill>
              <a:srgbClr val="595959"/>
            </a:solidFill>
            <a:tailEnd type="triangle"/>
          </a:ln>
        </p:spPr>
      </p:cxnSp>
      <p:cxnSp>
        <p:nvCxnSpPr>
          <p:cNvPr id="10" name="MCP Line 10"/>
          <p:cNvCxnSpPr/>
          <p:nvPr/>
        </p:nvCxnSpPr>
        <p:spPr>
          <a:xfrm>
            <a:off x="1656000" y="2736000"/>
            <a:ext cx="0" cy="360000"/>
          </a:xfrm>
          <a:prstGeom prst="line">
            <a:avLst/>
          </a:prstGeom>
          <a:ln w="28575">
            <a:solidFill>
              <a:srgbClr val="EA4335"/>
            </a:solidFill>
            <a:prstDash val="dash"/>
          </a:ln>
        </p:spPr>
      </p:cxnSp>
      <p:cxnSp>
        <p:nvCxnSpPr>
          <p:cNvPr id="11" name="MCP Line 11"/>
          <p:cNvCxnSpPr/>
          <p:nvPr/>
        </p:nvCxnSpPr>
        <p:spPr>
          <a:xfrm>
            <a:off x="1656000" y="3096000"/>
            <a:ext cx="5832000" cy="0"/>
          </a:xfrm>
          <a:prstGeom prst="line">
            <a:avLst/>
          </a:prstGeom>
          <a:ln w="28575">
            <a:solidFill>
              <a:srgbClr val="EA4335"/>
            </a:solidFill>
            <a:prstDash val="dash"/>
          </a:ln>
        </p:spPr>
      </p:cxnSp>
      <p:cxnSp>
        <p:nvCxnSpPr>
          <p:cNvPr id="12" name="MCP Line 12"/>
          <p:cNvCxnSpPr/>
          <p:nvPr/>
        </p:nvCxnSpPr>
        <p:spPr>
          <a:xfrm flipV="1">
            <a:off x="7488000" y="2736000"/>
            <a:ext cx="0" cy="360000"/>
          </a:xfrm>
          <a:prstGeom prst="line">
            <a:avLst/>
          </a:prstGeom>
          <a:ln w="28575">
            <a:solidFill>
              <a:srgbClr val="EA4335"/>
            </a:solidFill>
            <a:prstDash val="dash"/>
            <a:tailEnd type="triangle"/>
          </a:ln>
        </p:spPr>
      </p:cxnSp>
      <p:sp>
        <p:nvSpPr>
          <p:cNvPr id="13" name="Loop label"/>
          <p:cNvSpPr txBox="1"/>
          <p:nvPr/>
        </p:nvSpPr>
        <p:spPr>
          <a:xfrm>
            <a:off x="2880000" y="2898000"/>
            <a:ext cx="3456000" cy="198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EA4335"/>
                </a:solidFill>
              </a:rPr>
              <a:t>לולאה: חוזרים עד שהמשימה נסגרת</a:t>
            </a:r>
          </a:p>
        </p:txBody>
      </p:sp>
      <p:sp>
        <p:nvSpPr>
          <p:cNvPr id="14" name="MCP Shape 14"/>
          <p:cNvSpPr/>
          <p:nvPr/>
        </p:nvSpPr>
        <p:spPr>
          <a:xfrm>
            <a:off x="6804000" y="3348000"/>
            <a:ext cx="2016000" cy="900000"/>
          </a:xfrm>
          <a:prstGeom prst="roundRect">
            <a:avLst>
              <a:gd name="adj" fmla="val 12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800" b="1" i="0">
                <a:solidFill>
                  <a:srgbClr val="212121"/>
                </a:solidFill>
              </a:rPr>
              <a:t>תכנון</a:t>
            </a:r>
          </a:p>
          <a:p>
            <a:pPr marL="0" indent="0" algn="ctr" rtl="1">
              <a:lnSpc>
                <a:spcPct val="105000"/>
              </a:lnSpc>
              <a:spcBef>
                <a:spcPts val="200"/>
              </a:spcBef>
              <a:spcAft>
                <a:spcPts val="0"/>
              </a:spcAft>
              <a:buNone/>
            </a:pPr>
            <a:r>
              <a:rPr lang="he-IL" sz="1400" b="0" i="0">
                <a:solidFill>
                  <a:srgbClr val="212121"/>
                </a:solidFill>
              </a:rPr>
              <a:t>מפרק משימה לצעדים</a:t>
            </a:r>
          </a:p>
        </p:txBody>
      </p:sp>
      <p:sp>
        <p:nvSpPr>
          <p:cNvPr id="15" name="MCP Shape 15"/>
          <p:cNvSpPr/>
          <p:nvPr/>
        </p:nvSpPr>
        <p:spPr>
          <a:xfrm>
            <a:off x="4644000" y="3348000"/>
            <a:ext cx="2016000" cy="900000"/>
          </a:xfrm>
          <a:prstGeom prst="roundRect">
            <a:avLst>
              <a:gd name="adj" fmla="val 12000"/>
            </a:avLst>
          </a:prstGeom>
          <a:solidFill>
            <a:srgbClr val="E3EEFF"/>
          </a:solidFill>
          <a:ln w="19050">
            <a:solidFill>
              <a:srgbClr val="4285F4"/>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800" b="1" i="0">
                <a:solidFill>
                  <a:srgbClr val="212121"/>
                </a:solidFill>
              </a:rPr>
              <a:t>זיכרון</a:t>
            </a:r>
          </a:p>
          <a:p>
            <a:pPr marL="0" indent="0" algn="ctr" rtl="1">
              <a:lnSpc>
                <a:spcPct val="105000"/>
              </a:lnSpc>
              <a:spcBef>
                <a:spcPts val="200"/>
              </a:spcBef>
              <a:spcAft>
                <a:spcPts val="0"/>
              </a:spcAft>
              <a:buNone/>
            </a:pPr>
            <a:r>
              <a:rPr lang="he-IL" sz="1400" b="0" i="0">
                <a:solidFill>
                  <a:srgbClr val="212121"/>
                </a:solidFill>
              </a:rPr>
              <a:t>ההיסטוריה בחלון ההקשר</a:t>
            </a:r>
          </a:p>
        </p:txBody>
      </p:sp>
      <p:sp>
        <p:nvSpPr>
          <p:cNvPr id="16" name="MCP Shape 16"/>
          <p:cNvSpPr/>
          <p:nvPr/>
        </p:nvSpPr>
        <p:spPr>
          <a:xfrm>
            <a:off x="2484000" y="3348000"/>
            <a:ext cx="2016000" cy="900000"/>
          </a:xfrm>
          <a:prstGeom prst="roundRect">
            <a:avLst>
              <a:gd name="adj" fmla="val 12000"/>
            </a:avLst>
          </a:prstGeom>
          <a:solidFill>
            <a:srgbClr val="DDF2F5"/>
          </a:solidFill>
          <a:ln w="19050">
            <a:solidFill>
              <a:srgbClr val="0097A7"/>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800" b="1" i="0">
                <a:solidFill>
                  <a:srgbClr val="212121"/>
                </a:solidFill>
              </a:rPr>
              <a:t>כלים</a:t>
            </a:r>
          </a:p>
          <a:p>
            <a:pPr marL="0" indent="0" algn="ctr" rtl="1">
              <a:lnSpc>
                <a:spcPct val="105000"/>
              </a:lnSpc>
              <a:spcBef>
                <a:spcPts val="200"/>
              </a:spcBef>
              <a:spcAft>
                <a:spcPts val="0"/>
              </a:spcAft>
              <a:buNone/>
            </a:pPr>
            <a:r>
              <a:rPr lang="he-IL" sz="1400" b="0" i="0">
                <a:solidFill>
                  <a:srgbClr val="212121"/>
                </a:solidFill>
              </a:rPr>
              <a:t>פונקציות שהמעטפת מריצה</a:t>
            </a:r>
          </a:p>
        </p:txBody>
      </p:sp>
      <p:sp>
        <p:nvSpPr>
          <p:cNvPr id="17" name="MCP Shape 17"/>
          <p:cNvSpPr/>
          <p:nvPr/>
        </p:nvSpPr>
        <p:spPr>
          <a:xfrm>
            <a:off x="324000" y="3348000"/>
            <a:ext cx="2016000" cy="900000"/>
          </a:xfrm>
          <a:prstGeom prst="roundRect">
            <a:avLst>
              <a:gd name="adj" fmla="val 12000"/>
            </a:avLst>
          </a:prstGeom>
          <a:solidFill>
            <a:srgbClr val="E1F4E6"/>
          </a:solidFill>
          <a:ln w="19050">
            <a:solidFill>
              <a:srgbClr val="34A853"/>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800" b="1" i="0">
                <a:solidFill>
                  <a:srgbClr val="212121"/>
                </a:solidFill>
              </a:rPr>
              <a:t>פעולה</a:t>
            </a:r>
          </a:p>
          <a:p>
            <a:pPr marL="0" indent="0" algn="ctr" rtl="1">
              <a:lnSpc>
                <a:spcPct val="105000"/>
              </a:lnSpc>
              <a:spcBef>
                <a:spcPts val="200"/>
              </a:spcBef>
              <a:spcAft>
                <a:spcPts val="0"/>
              </a:spcAft>
              <a:buNone/>
            </a:pPr>
            <a:r>
              <a:rPr lang="he-IL" sz="1400" b="0" i="0">
                <a:solidFill>
                  <a:srgbClr val="212121"/>
                </a:solidFill>
              </a:rPr>
              <a:t>שינוי בעולם: קובץ, שאילתה</a:t>
            </a:r>
          </a:p>
        </p:txBody>
      </p:sp>
      <p:sp>
        <p:nvSpPr>
          <p:cNvPr id="18" name="Footnote"/>
          <p:cNvSpPr txBox="1"/>
          <p:nvPr/>
        </p:nvSpPr>
        <p:spPr>
          <a:xfrm>
            <a:off x="360000" y="4392000"/>
            <a:ext cx="8424000" cy="612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0" i="0">
                <a:solidFill>
                  <a:srgbClr val="595959"/>
                </a:solidFill>
              </a:rPr>
              <a:t>ReAct (Yao ועמיתים, ICLR 2023): חשיבה ופעולה לסירוגין. Tool use הוא הפעולה: המודל מפיק בקשה מובנית, והמעטפת מריצה אותה.</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למה צריך תקן: MCP</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Panel before"/>
          <p:cNvSpPr/>
          <p:nvPr/>
        </p:nvSpPr>
        <p:spPr>
          <a:xfrm>
            <a:off x="4752000" y="1368000"/>
            <a:ext cx="4104000" cy="2160000"/>
          </a:xfrm>
          <a:prstGeom prst="roundRect">
            <a:avLst>
              <a:gd name="adj" fmla="val 5000"/>
            </a:avLst>
          </a:prstGeom>
          <a:solidFill>
            <a:srgbClr val="FFFFFF"/>
          </a:solidFill>
          <a:ln w="19050">
            <a:solidFill>
              <a:srgbClr val="BDBDBD"/>
            </a:solidFill>
          </a:ln>
        </p:spPr>
        <p:txBody>
          <a:bodyPr wrap="square" lIns="72000" tIns="72000" rIns="72000" bIns="72000" rtlCol="0" anchor="ctr">
            <a:noAutofit/>
          </a:bodyPr>
          <a:lstStyle/>
          <a:p>
            <a:pPr marL="0" indent="0" algn="ctr" rtl="1">
              <a:lnSpc>
                <a:spcPct val="105000"/>
              </a:lnSpc>
              <a:spcBef>
                <a:spcPts val="0"/>
              </a:spcBef>
              <a:spcAft>
                <a:spcPts val="0"/>
              </a:spcAft>
              <a:buNone/>
            </a:pPr>
            <a:endParaRPr/>
          </a:p>
        </p:txBody>
      </p:sp>
      <p:sp>
        <p:nvSpPr>
          <p:cNvPr id="6" name="MCP Shape 6"/>
          <p:cNvSpPr txBox="1"/>
          <p:nvPr/>
        </p:nvSpPr>
        <p:spPr>
          <a:xfrm>
            <a:off x="4824000" y="1386000"/>
            <a:ext cx="3960000" cy="324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600" b="1" i="0">
                <a:solidFill>
                  <a:srgbClr val="212121"/>
                </a:solidFill>
              </a:rPr>
              <a:t>בלי תקן: כל אפליקציה מול כל כלי</a:t>
            </a:r>
          </a:p>
        </p:txBody>
      </p:sp>
      <p:sp>
        <p:nvSpPr>
          <p:cNvPr id="7" name="MCP Shape 7"/>
          <p:cNvSpPr/>
          <p:nvPr/>
        </p:nvSpPr>
        <p:spPr>
          <a:xfrm>
            <a:off x="7812000" y="1800000"/>
            <a:ext cx="792000" cy="360000"/>
          </a:xfrm>
          <a:prstGeom prst="roundRect">
            <a:avLst>
              <a:gd name="adj" fmla="val 20000"/>
            </a:avLst>
          </a:prstGeom>
          <a:solidFill>
            <a:srgbClr val="E3EEFF"/>
          </a:solidFill>
          <a:ln w="19050">
            <a:solidFill>
              <a:srgbClr val="4285F4"/>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צ׳אט</a:t>
            </a:r>
          </a:p>
        </p:txBody>
      </p:sp>
      <p:sp>
        <p:nvSpPr>
          <p:cNvPr id="8" name="MCP Shape 8"/>
          <p:cNvSpPr/>
          <p:nvPr/>
        </p:nvSpPr>
        <p:spPr>
          <a:xfrm>
            <a:off x="6552000" y="1800000"/>
            <a:ext cx="792000" cy="360000"/>
          </a:xfrm>
          <a:prstGeom prst="roundRect">
            <a:avLst>
              <a:gd name="adj" fmla="val 20000"/>
            </a:avLst>
          </a:prstGeom>
          <a:solidFill>
            <a:srgbClr val="E3EEFF"/>
          </a:solidFill>
          <a:ln w="19050">
            <a:solidFill>
              <a:srgbClr val="4285F4"/>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עורך</a:t>
            </a:r>
          </a:p>
        </p:txBody>
      </p:sp>
      <p:sp>
        <p:nvSpPr>
          <p:cNvPr id="9" name="MCP Shape 9"/>
          <p:cNvSpPr/>
          <p:nvPr/>
        </p:nvSpPr>
        <p:spPr>
          <a:xfrm>
            <a:off x="5292000" y="1800000"/>
            <a:ext cx="792000" cy="360000"/>
          </a:xfrm>
          <a:prstGeom prst="roundRect">
            <a:avLst>
              <a:gd name="adj" fmla="val 20000"/>
            </a:avLst>
          </a:prstGeom>
          <a:solidFill>
            <a:srgbClr val="E3EEFF"/>
          </a:solidFill>
          <a:ln w="19050">
            <a:solidFill>
              <a:srgbClr val="4285F4"/>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סוכן</a:t>
            </a:r>
          </a:p>
        </p:txBody>
      </p:sp>
      <p:sp>
        <p:nvSpPr>
          <p:cNvPr id="10" name="MCP Shape 10"/>
          <p:cNvSpPr/>
          <p:nvPr/>
        </p:nvSpPr>
        <p:spPr>
          <a:xfrm>
            <a:off x="7740000" y="2880000"/>
            <a:ext cx="936000" cy="360000"/>
          </a:xfrm>
          <a:prstGeom prst="roundRect">
            <a:avLst>
              <a:gd name="adj" fmla="val 20000"/>
            </a:avLst>
          </a:prstGeom>
          <a:solidFill>
            <a:srgbClr val="DDF2F5"/>
          </a:solidFill>
          <a:ln w="19050">
            <a:solidFill>
              <a:srgbClr val="0097A7"/>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מסד נתונים</a:t>
            </a:r>
          </a:p>
        </p:txBody>
      </p:sp>
      <p:sp>
        <p:nvSpPr>
          <p:cNvPr id="11" name="MCP Shape 11"/>
          <p:cNvSpPr/>
          <p:nvPr/>
        </p:nvSpPr>
        <p:spPr>
          <a:xfrm>
            <a:off x="6480000" y="2880000"/>
            <a:ext cx="936000" cy="360000"/>
          </a:xfrm>
          <a:prstGeom prst="roundRect">
            <a:avLst>
              <a:gd name="adj" fmla="val 20000"/>
            </a:avLst>
          </a:prstGeom>
          <a:solidFill>
            <a:srgbClr val="DDF2F5"/>
          </a:solidFill>
          <a:ln w="19050">
            <a:solidFill>
              <a:srgbClr val="0097A7"/>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קבצים</a:t>
            </a:r>
          </a:p>
        </p:txBody>
      </p:sp>
      <p:sp>
        <p:nvSpPr>
          <p:cNvPr id="12" name="MCP Shape 12"/>
          <p:cNvSpPr/>
          <p:nvPr/>
        </p:nvSpPr>
        <p:spPr>
          <a:xfrm>
            <a:off x="5220000" y="2880000"/>
            <a:ext cx="936000" cy="360000"/>
          </a:xfrm>
          <a:prstGeom prst="roundRect">
            <a:avLst>
              <a:gd name="adj" fmla="val 20000"/>
            </a:avLst>
          </a:prstGeom>
          <a:solidFill>
            <a:srgbClr val="DDF2F5"/>
          </a:solidFill>
          <a:ln w="19050">
            <a:solidFill>
              <a:srgbClr val="0097A7"/>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מייל</a:t>
            </a:r>
          </a:p>
        </p:txBody>
      </p:sp>
      <p:cxnSp>
        <p:nvCxnSpPr>
          <p:cNvPr id="13" name="MCP Line 13"/>
          <p:cNvCxnSpPr/>
          <p:nvPr/>
        </p:nvCxnSpPr>
        <p:spPr>
          <a:xfrm>
            <a:off x="8208000" y="2160000"/>
            <a:ext cx="0" cy="720000"/>
          </a:xfrm>
          <a:prstGeom prst="line">
            <a:avLst/>
          </a:prstGeom>
          <a:ln w="12700">
            <a:solidFill>
              <a:srgbClr val="BDBDBD"/>
            </a:solidFill>
          </a:ln>
        </p:spPr>
      </p:cxnSp>
      <p:cxnSp>
        <p:nvCxnSpPr>
          <p:cNvPr id="14" name="MCP Line 14"/>
          <p:cNvCxnSpPr/>
          <p:nvPr/>
        </p:nvCxnSpPr>
        <p:spPr>
          <a:xfrm flipH="1">
            <a:off x="6948000" y="2160000"/>
            <a:ext cx="1260000" cy="720000"/>
          </a:xfrm>
          <a:prstGeom prst="line">
            <a:avLst/>
          </a:prstGeom>
          <a:ln w="12700">
            <a:solidFill>
              <a:srgbClr val="BDBDBD"/>
            </a:solidFill>
          </a:ln>
        </p:spPr>
      </p:cxnSp>
      <p:cxnSp>
        <p:nvCxnSpPr>
          <p:cNvPr id="15" name="MCP Line 15"/>
          <p:cNvCxnSpPr/>
          <p:nvPr/>
        </p:nvCxnSpPr>
        <p:spPr>
          <a:xfrm flipH="1">
            <a:off x="5688000" y="2160000"/>
            <a:ext cx="2520000" cy="720000"/>
          </a:xfrm>
          <a:prstGeom prst="line">
            <a:avLst/>
          </a:prstGeom>
          <a:ln w="12700">
            <a:solidFill>
              <a:srgbClr val="BDBDBD"/>
            </a:solidFill>
          </a:ln>
        </p:spPr>
      </p:cxnSp>
      <p:cxnSp>
        <p:nvCxnSpPr>
          <p:cNvPr id="16" name="MCP Line 16"/>
          <p:cNvCxnSpPr/>
          <p:nvPr/>
        </p:nvCxnSpPr>
        <p:spPr>
          <a:xfrm>
            <a:off x="6948000" y="2160000"/>
            <a:ext cx="1260000" cy="720000"/>
          </a:xfrm>
          <a:prstGeom prst="line">
            <a:avLst/>
          </a:prstGeom>
          <a:ln w="12700">
            <a:solidFill>
              <a:srgbClr val="BDBDBD"/>
            </a:solidFill>
          </a:ln>
        </p:spPr>
      </p:cxnSp>
      <p:cxnSp>
        <p:nvCxnSpPr>
          <p:cNvPr id="17" name="MCP Line 17"/>
          <p:cNvCxnSpPr/>
          <p:nvPr/>
        </p:nvCxnSpPr>
        <p:spPr>
          <a:xfrm>
            <a:off x="6948000" y="2160000"/>
            <a:ext cx="0" cy="720000"/>
          </a:xfrm>
          <a:prstGeom prst="line">
            <a:avLst/>
          </a:prstGeom>
          <a:ln w="12700">
            <a:solidFill>
              <a:srgbClr val="BDBDBD"/>
            </a:solidFill>
          </a:ln>
        </p:spPr>
      </p:cxnSp>
      <p:cxnSp>
        <p:nvCxnSpPr>
          <p:cNvPr id="18" name="MCP Line 18"/>
          <p:cNvCxnSpPr/>
          <p:nvPr/>
        </p:nvCxnSpPr>
        <p:spPr>
          <a:xfrm flipH="1">
            <a:off x="5688000" y="2160000"/>
            <a:ext cx="1260000" cy="720000"/>
          </a:xfrm>
          <a:prstGeom prst="line">
            <a:avLst/>
          </a:prstGeom>
          <a:ln w="12700">
            <a:solidFill>
              <a:srgbClr val="BDBDBD"/>
            </a:solidFill>
          </a:ln>
        </p:spPr>
      </p:cxnSp>
      <p:cxnSp>
        <p:nvCxnSpPr>
          <p:cNvPr id="19" name="MCP Line 19"/>
          <p:cNvCxnSpPr/>
          <p:nvPr/>
        </p:nvCxnSpPr>
        <p:spPr>
          <a:xfrm>
            <a:off x="5688000" y="2160000"/>
            <a:ext cx="2520000" cy="720000"/>
          </a:xfrm>
          <a:prstGeom prst="line">
            <a:avLst/>
          </a:prstGeom>
          <a:ln w="12700">
            <a:solidFill>
              <a:srgbClr val="BDBDBD"/>
            </a:solidFill>
          </a:ln>
        </p:spPr>
      </p:cxnSp>
      <p:cxnSp>
        <p:nvCxnSpPr>
          <p:cNvPr id="20" name="MCP Line 20"/>
          <p:cNvCxnSpPr/>
          <p:nvPr/>
        </p:nvCxnSpPr>
        <p:spPr>
          <a:xfrm>
            <a:off x="5688000" y="2160000"/>
            <a:ext cx="1260000" cy="720000"/>
          </a:xfrm>
          <a:prstGeom prst="line">
            <a:avLst/>
          </a:prstGeom>
          <a:ln w="12700">
            <a:solidFill>
              <a:srgbClr val="BDBDBD"/>
            </a:solidFill>
          </a:ln>
        </p:spPr>
      </p:cxnSp>
      <p:cxnSp>
        <p:nvCxnSpPr>
          <p:cNvPr id="21" name="MCP Line 21"/>
          <p:cNvCxnSpPr/>
          <p:nvPr/>
        </p:nvCxnSpPr>
        <p:spPr>
          <a:xfrm>
            <a:off x="5688000" y="2160000"/>
            <a:ext cx="0" cy="720000"/>
          </a:xfrm>
          <a:prstGeom prst="line">
            <a:avLst/>
          </a:prstGeom>
          <a:ln w="12700">
            <a:solidFill>
              <a:srgbClr val="BDBDBD"/>
            </a:solidFill>
          </a:ln>
        </p:spPr>
      </p:cxnSp>
      <p:sp>
        <p:nvSpPr>
          <p:cNvPr id="22" name="MCP Shape 22"/>
          <p:cNvSpPr txBox="1"/>
          <p:nvPr/>
        </p:nvSpPr>
        <p:spPr>
          <a:xfrm>
            <a:off x="4824000" y="3240000"/>
            <a:ext cx="3960000" cy="252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EA4335"/>
                </a:solidFill>
              </a:rPr>
              <a:t>9 חיבורים מותאמים אישית</a:t>
            </a:r>
          </a:p>
        </p:txBody>
      </p:sp>
      <p:sp>
        <p:nvSpPr>
          <p:cNvPr id="23" name="Panel after"/>
          <p:cNvSpPr/>
          <p:nvPr/>
        </p:nvSpPr>
        <p:spPr>
          <a:xfrm>
            <a:off x="288000" y="1368000"/>
            <a:ext cx="4104000" cy="2160000"/>
          </a:xfrm>
          <a:prstGeom prst="roundRect">
            <a:avLst>
              <a:gd name="adj" fmla="val 5000"/>
            </a:avLst>
          </a:prstGeom>
          <a:solidFill>
            <a:srgbClr val="FFFFFF"/>
          </a:solidFill>
          <a:ln w="19050">
            <a:solidFill>
              <a:srgbClr val="BDBDBD"/>
            </a:solidFill>
          </a:ln>
        </p:spPr>
        <p:txBody>
          <a:bodyPr wrap="square" lIns="72000" tIns="72000" rIns="72000" bIns="72000" rtlCol="0" anchor="ctr">
            <a:noAutofit/>
          </a:bodyPr>
          <a:lstStyle/>
          <a:p>
            <a:pPr marL="0" indent="0" algn="ctr" rtl="1">
              <a:lnSpc>
                <a:spcPct val="105000"/>
              </a:lnSpc>
              <a:spcBef>
                <a:spcPts val="0"/>
              </a:spcBef>
              <a:spcAft>
                <a:spcPts val="0"/>
              </a:spcAft>
              <a:buNone/>
            </a:pPr>
            <a:endParaRPr/>
          </a:p>
        </p:txBody>
      </p:sp>
      <p:sp>
        <p:nvSpPr>
          <p:cNvPr id="24" name="MCP Shape 24"/>
          <p:cNvSpPr txBox="1"/>
          <p:nvPr/>
        </p:nvSpPr>
        <p:spPr>
          <a:xfrm>
            <a:off x="360000" y="1386000"/>
            <a:ext cx="3960000" cy="324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600" b="1" i="0">
                <a:solidFill>
                  <a:srgbClr val="212121"/>
                </a:solidFill>
              </a:rPr>
              <a:t>עם MCP: כולם מדברים באותה שפה</a:t>
            </a:r>
          </a:p>
        </p:txBody>
      </p:sp>
      <p:sp>
        <p:nvSpPr>
          <p:cNvPr id="25" name="MCP Shape 25"/>
          <p:cNvSpPr/>
          <p:nvPr/>
        </p:nvSpPr>
        <p:spPr>
          <a:xfrm>
            <a:off x="3348000" y="1800000"/>
            <a:ext cx="792000" cy="360000"/>
          </a:xfrm>
          <a:prstGeom prst="roundRect">
            <a:avLst>
              <a:gd name="adj" fmla="val 20000"/>
            </a:avLst>
          </a:prstGeom>
          <a:solidFill>
            <a:srgbClr val="E3EEFF"/>
          </a:solidFill>
          <a:ln w="19050">
            <a:solidFill>
              <a:srgbClr val="4285F4"/>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צ׳אט</a:t>
            </a:r>
          </a:p>
        </p:txBody>
      </p:sp>
      <p:sp>
        <p:nvSpPr>
          <p:cNvPr id="26" name="MCP Shape 26"/>
          <p:cNvSpPr/>
          <p:nvPr/>
        </p:nvSpPr>
        <p:spPr>
          <a:xfrm>
            <a:off x="2088000" y="1800000"/>
            <a:ext cx="792000" cy="360000"/>
          </a:xfrm>
          <a:prstGeom prst="roundRect">
            <a:avLst>
              <a:gd name="adj" fmla="val 20000"/>
            </a:avLst>
          </a:prstGeom>
          <a:solidFill>
            <a:srgbClr val="E3EEFF"/>
          </a:solidFill>
          <a:ln w="19050">
            <a:solidFill>
              <a:srgbClr val="4285F4"/>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עורך</a:t>
            </a:r>
          </a:p>
        </p:txBody>
      </p:sp>
      <p:sp>
        <p:nvSpPr>
          <p:cNvPr id="27" name="MCP Shape 27"/>
          <p:cNvSpPr/>
          <p:nvPr/>
        </p:nvSpPr>
        <p:spPr>
          <a:xfrm>
            <a:off x="828000" y="1800000"/>
            <a:ext cx="792000" cy="360000"/>
          </a:xfrm>
          <a:prstGeom prst="roundRect">
            <a:avLst>
              <a:gd name="adj" fmla="val 20000"/>
            </a:avLst>
          </a:prstGeom>
          <a:solidFill>
            <a:srgbClr val="E3EEFF"/>
          </a:solidFill>
          <a:ln w="19050">
            <a:solidFill>
              <a:srgbClr val="4285F4"/>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סוכן</a:t>
            </a:r>
          </a:p>
        </p:txBody>
      </p:sp>
      <p:sp>
        <p:nvSpPr>
          <p:cNvPr id="28" name="MCP Shape 28"/>
          <p:cNvSpPr/>
          <p:nvPr/>
        </p:nvSpPr>
        <p:spPr>
          <a:xfrm>
            <a:off x="576000" y="2412000"/>
            <a:ext cx="3600000" cy="324000"/>
          </a:xfrm>
          <a:prstGeom prst="roundRect">
            <a:avLst>
              <a:gd name="adj" fmla="val 20000"/>
            </a:avLst>
          </a:prstGeom>
          <a:solidFill>
            <a:srgbClr val="FFF0D9"/>
          </a:solidFill>
          <a:ln w="19050">
            <a:solidFill>
              <a:srgbClr val="FFAB40"/>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600" b="1" i="0">
                <a:solidFill>
                  <a:srgbClr val="212121"/>
                </a:solidFill>
              </a:rPr>
              <a:t>🔌 MCP</a:t>
            </a:r>
          </a:p>
        </p:txBody>
      </p:sp>
      <p:cxnSp>
        <p:nvCxnSpPr>
          <p:cNvPr id="29" name="MCP Line 29"/>
          <p:cNvCxnSpPr/>
          <p:nvPr/>
        </p:nvCxnSpPr>
        <p:spPr>
          <a:xfrm>
            <a:off x="3744000" y="2160000"/>
            <a:ext cx="0" cy="252000"/>
          </a:xfrm>
          <a:prstGeom prst="line">
            <a:avLst/>
          </a:prstGeom>
          <a:ln w="19050">
            <a:solidFill>
              <a:srgbClr val="595959"/>
            </a:solidFill>
          </a:ln>
        </p:spPr>
      </p:cxnSp>
      <p:cxnSp>
        <p:nvCxnSpPr>
          <p:cNvPr id="30" name="MCP Line 30"/>
          <p:cNvCxnSpPr/>
          <p:nvPr/>
        </p:nvCxnSpPr>
        <p:spPr>
          <a:xfrm>
            <a:off x="2484000" y="2160000"/>
            <a:ext cx="0" cy="252000"/>
          </a:xfrm>
          <a:prstGeom prst="line">
            <a:avLst/>
          </a:prstGeom>
          <a:ln w="19050">
            <a:solidFill>
              <a:srgbClr val="595959"/>
            </a:solidFill>
          </a:ln>
        </p:spPr>
      </p:cxnSp>
      <p:cxnSp>
        <p:nvCxnSpPr>
          <p:cNvPr id="31" name="MCP Line 31"/>
          <p:cNvCxnSpPr/>
          <p:nvPr/>
        </p:nvCxnSpPr>
        <p:spPr>
          <a:xfrm>
            <a:off x="1224000" y="2160000"/>
            <a:ext cx="0" cy="252000"/>
          </a:xfrm>
          <a:prstGeom prst="line">
            <a:avLst/>
          </a:prstGeom>
          <a:ln w="19050">
            <a:solidFill>
              <a:srgbClr val="595959"/>
            </a:solidFill>
          </a:ln>
        </p:spPr>
      </p:cxnSp>
      <p:cxnSp>
        <p:nvCxnSpPr>
          <p:cNvPr id="32" name="MCP Line 32"/>
          <p:cNvCxnSpPr/>
          <p:nvPr/>
        </p:nvCxnSpPr>
        <p:spPr>
          <a:xfrm>
            <a:off x="3744000" y="2736000"/>
            <a:ext cx="0" cy="144000"/>
          </a:xfrm>
          <a:prstGeom prst="line">
            <a:avLst/>
          </a:prstGeom>
          <a:ln w="19050">
            <a:solidFill>
              <a:srgbClr val="595959"/>
            </a:solidFill>
          </a:ln>
        </p:spPr>
      </p:cxnSp>
      <p:sp>
        <p:nvSpPr>
          <p:cNvPr id="33" name="MCP Shape 33"/>
          <p:cNvSpPr/>
          <p:nvPr/>
        </p:nvSpPr>
        <p:spPr>
          <a:xfrm>
            <a:off x="3276000" y="2880000"/>
            <a:ext cx="936000" cy="360000"/>
          </a:xfrm>
          <a:prstGeom prst="roundRect">
            <a:avLst>
              <a:gd name="adj" fmla="val 20000"/>
            </a:avLst>
          </a:prstGeom>
          <a:solidFill>
            <a:srgbClr val="DDF2F5"/>
          </a:solidFill>
          <a:ln w="19050">
            <a:solidFill>
              <a:srgbClr val="0097A7"/>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מסד נתונים</a:t>
            </a:r>
          </a:p>
        </p:txBody>
      </p:sp>
      <p:cxnSp>
        <p:nvCxnSpPr>
          <p:cNvPr id="34" name="MCP Line 34"/>
          <p:cNvCxnSpPr/>
          <p:nvPr/>
        </p:nvCxnSpPr>
        <p:spPr>
          <a:xfrm>
            <a:off x="2484000" y="2736000"/>
            <a:ext cx="0" cy="144000"/>
          </a:xfrm>
          <a:prstGeom prst="line">
            <a:avLst/>
          </a:prstGeom>
          <a:ln w="19050">
            <a:solidFill>
              <a:srgbClr val="595959"/>
            </a:solidFill>
          </a:ln>
        </p:spPr>
      </p:cxnSp>
      <p:sp>
        <p:nvSpPr>
          <p:cNvPr id="35" name="MCP Shape 35"/>
          <p:cNvSpPr/>
          <p:nvPr/>
        </p:nvSpPr>
        <p:spPr>
          <a:xfrm>
            <a:off x="2016000" y="2880000"/>
            <a:ext cx="936000" cy="360000"/>
          </a:xfrm>
          <a:prstGeom prst="roundRect">
            <a:avLst>
              <a:gd name="adj" fmla="val 20000"/>
            </a:avLst>
          </a:prstGeom>
          <a:solidFill>
            <a:srgbClr val="DDF2F5"/>
          </a:solidFill>
          <a:ln w="19050">
            <a:solidFill>
              <a:srgbClr val="0097A7"/>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קבצים</a:t>
            </a:r>
          </a:p>
        </p:txBody>
      </p:sp>
      <p:cxnSp>
        <p:nvCxnSpPr>
          <p:cNvPr id="36" name="MCP Line 36"/>
          <p:cNvCxnSpPr/>
          <p:nvPr/>
        </p:nvCxnSpPr>
        <p:spPr>
          <a:xfrm>
            <a:off x="1224000" y="2736000"/>
            <a:ext cx="0" cy="144000"/>
          </a:xfrm>
          <a:prstGeom prst="line">
            <a:avLst/>
          </a:prstGeom>
          <a:ln w="19050">
            <a:solidFill>
              <a:srgbClr val="595959"/>
            </a:solidFill>
          </a:ln>
        </p:spPr>
      </p:cxnSp>
      <p:sp>
        <p:nvSpPr>
          <p:cNvPr id="37" name="MCP Shape 37"/>
          <p:cNvSpPr/>
          <p:nvPr/>
        </p:nvSpPr>
        <p:spPr>
          <a:xfrm>
            <a:off x="756000" y="2880000"/>
            <a:ext cx="936000" cy="360000"/>
          </a:xfrm>
          <a:prstGeom prst="roundRect">
            <a:avLst>
              <a:gd name="adj" fmla="val 20000"/>
            </a:avLst>
          </a:prstGeom>
          <a:solidFill>
            <a:srgbClr val="DDF2F5"/>
          </a:solidFill>
          <a:ln w="19050">
            <a:solidFill>
              <a:srgbClr val="0097A7"/>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400" b="1" i="0">
                <a:solidFill>
                  <a:srgbClr val="212121"/>
                </a:solidFill>
              </a:rPr>
              <a:t>מייל</a:t>
            </a:r>
          </a:p>
        </p:txBody>
      </p:sp>
      <p:sp>
        <p:nvSpPr>
          <p:cNvPr id="38" name="MCP Shape 38"/>
          <p:cNvSpPr txBox="1"/>
          <p:nvPr/>
        </p:nvSpPr>
        <p:spPr>
          <a:xfrm>
            <a:off x="360000" y="3240000"/>
            <a:ext cx="3960000" cy="252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34A853"/>
                </a:solidFill>
              </a:rPr>
              <a:t>6 חיבורים סטנדרטיים</a:t>
            </a:r>
          </a:p>
        </p:txBody>
      </p:sp>
      <p:sp>
        <p:nvSpPr>
          <p:cNvPr id="39" name="Chips caption"/>
          <p:cNvSpPr txBox="1"/>
          <p:nvPr/>
        </p:nvSpPr>
        <p:spPr>
          <a:xfrm>
            <a:off x="360000" y="3546000"/>
            <a:ext cx="8424000" cy="216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595959"/>
                </a:solidFill>
              </a:rPr>
              <a:t>השרת חושף שלושה דברים, והלקוח יכול להציע אחד:</a:t>
            </a:r>
          </a:p>
        </p:txBody>
      </p:sp>
      <p:sp>
        <p:nvSpPr>
          <p:cNvPr id="40" name="MCP Shape 40"/>
          <p:cNvSpPr/>
          <p:nvPr/>
        </p:nvSpPr>
        <p:spPr>
          <a:xfrm>
            <a:off x="6804000" y="3780000"/>
            <a:ext cx="2016000" cy="684000"/>
          </a:xfrm>
          <a:prstGeom prst="roundRect">
            <a:avLst>
              <a:gd name="adj" fmla="val 12000"/>
            </a:avLst>
          </a:prstGeom>
          <a:solidFill>
            <a:srgbClr val="FFF0D9"/>
          </a:solidFill>
          <a:ln w="19050">
            <a:solidFill>
              <a:srgbClr val="FFAB40"/>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1" i="0">
                <a:solidFill>
                  <a:srgbClr val="212121"/>
                </a:solidFill>
              </a:rPr>
              <a:t>כלים (tools)</a:t>
            </a:r>
          </a:p>
          <a:p>
            <a:pPr marL="0" indent="0" algn="ctr" rtl="1">
              <a:lnSpc>
                <a:spcPct val="105000"/>
              </a:lnSpc>
              <a:spcBef>
                <a:spcPts val="100"/>
              </a:spcBef>
              <a:spcAft>
                <a:spcPts val="0"/>
              </a:spcAft>
              <a:buNone/>
            </a:pPr>
            <a:r>
              <a:rPr lang="he-IL" sz="1300" b="0" i="0">
                <a:solidFill>
                  <a:srgbClr val="212121"/>
                </a:solidFill>
              </a:rPr>
              <a:t>פונקציות שהמודל מפעיל</a:t>
            </a:r>
          </a:p>
        </p:txBody>
      </p:sp>
      <p:sp>
        <p:nvSpPr>
          <p:cNvPr id="41" name="MCP Shape 41"/>
          <p:cNvSpPr/>
          <p:nvPr/>
        </p:nvSpPr>
        <p:spPr>
          <a:xfrm>
            <a:off x="4644000" y="3780000"/>
            <a:ext cx="2016000" cy="684000"/>
          </a:xfrm>
          <a:prstGeom prst="roundRect">
            <a:avLst>
              <a:gd name="adj" fmla="val 12000"/>
            </a:avLst>
          </a:prstGeom>
          <a:solidFill>
            <a:srgbClr val="E3EEFF"/>
          </a:solidFill>
          <a:ln w="19050">
            <a:solidFill>
              <a:srgbClr val="4285F4"/>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1" i="0">
                <a:solidFill>
                  <a:srgbClr val="212121"/>
                </a:solidFill>
              </a:rPr>
              <a:t>משאבים (resources)</a:t>
            </a:r>
          </a:p>
          <a:p>
            <a:pPr marL="0" indent="0" algn="ctr" rtl="1">
              <a:lnSpc>
                <a:spcPct val="105000"/>
              </a:lnSpc>
              <a:spcBef>
                <a:spcPts val="100"/>
              </a:spcBef>
              <a:spcAft>
                <a:spcPts val="0"/>
              </a:spcAft>
              <a:buNone/>
            </a:pPr>
            <a:r>
              <a:rPr lang="he-IL" sz="1300" b="0" i="0">
                <a:solidFill>
                  <a:srgbClr val="212121"/>
                </a:solidFill>
              </a:rPr>
              <a:t>נתונים וקבצים להקשר</a:t>
            </a:r>
          </a:p>
        </p:txBody>
      </p:sp>
      <p:sp>
        <p:nvSpPr>
          <p:cNvPr id="42" name="MCP Shape 42"/>
          <p:cNvSpPr/>
          <p:nvPr/>
        </p:nvSpPr>
        <p:spPr>
          <a:xfrm>
            <a:off x="2484000" y="3780000"/>
            <a:ext cx="2016000" cy="684000"/>
          </a:xfrm>
          <a:prstGeom prst="roundRect">
            <a:avLst>
              <a:gd name="adj" fmla="val 12000"/>
            </a:avLst>
          </a:prstGeom>
          <a:solidFill>
            <a:srgbClr val="DDF2F5"/>
          </a:solidFill>
          <a:ln w="19050">
            <a:solidFill>
              <a:srgbClr val="0097A7"/>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1" i="0">
                <a:solidFill>
                  <a:srgbClr val="212121"/>
                </a:solidFill>
              </a:rPr>
              <a:t>תבניות (prompts)</a:t>
            </a:r>
          </a:p>
          <a:p>
            <a:pPr marL="0" indent="0" algn="ctr" rtl="1">
              <a:lnSpc>
                <a:spcPct val="105000"/>
              </a:lnSpc>
              <a:spcBef>
                <a:spcPts val="100"/>
              </a:spcBef>
              <a:spcAft>
                <a:spcPts val="0"/>
              </a:spcAft>
              <a:buNone/>
            </a:pPr>
            <a:r>
              <a:rPr lang="he-IL" sz="1300" b="0" i="0">
                <a:solidFill>
                  <a:srgbClr val="212121"/>
                </a:solidFill>
              </a:rPr>
              <a:t>הנחיות מוכנות</a:t>
            </a:r>
          </a:p>
        </p:txBody>
      </p:sp>
      <p:sp>
        <p:nvSpPr>
          <p:cNvPr id="43" name="MCP Shape 43"/>
          <p:cNvSpPr/>
          <p:nvPr/>
        </p:nvSpPr>
        <p:spPr>
          <a:xfrm>
            <a:off x="324000" y="3780000"/>
            <a:ext cx="2016000" cy="684000"/>
          </a:xfrm>
          <a:prstGeom prst="roundRect">
            <a:avLst>
              <a:gd name="adj" fmla="val 12000"/>
            </a:avLst>
          </a:prstGeom>
          <a:solidFill>
            <a:srgbClr val="F1F3F4"/>
          </a:solidFill>
          <a:ln w="19050">
            <a:solidFill>
              <a:srgbClr val="78909C"/>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1" i="0">
                <a:solidFill>
                  <a:srgbClr val="212121"/>
                </a:solidFill>
              </a:rPr>
              <a:t>הלקוח: elicitation</a:t>
            </a:r>
          </a:p>
          <a:p>
            <a:pPr marL="0" indent="0" algn="ctr" rtl="1">
              <a:lnSpc>
                <a:spcPct val="105000"/>
              </a:lnSpc>
              <a:spcBef>
                <a:spcPts val="100"/>
              </a:spcBef>
              <a:spcAft>
                <a:spcPts val="0"/>
              </a:spcAft>
              <a:buNone/>
            </a:pPr>
            <a:r>
              <a:rPr lang="he-IL" sz="1300" b="0" i="0">
                <a:solidFill>
                  <a:srgbClr val="212121"/>
                </a:solidFill>
              </a:rPr>
              <a:t>שאלה למשתמש באמצע</a:t>
            </a:r>
          </a:p>
        </p:txBody>
      </p:sp>
      <p:sp>
        <p:nvSpPr>
          <p:cNvPr id="44" name="Footnote"/>
          <p:cNvSpPr txBox="1"/>
          <p:nvPr/>
        </p:nvSpPr>
        <p:spPr>
          <a:xfrm>
            <a:off x="360000" y="4554000"/>
            <a:ext cx="8424000" cy="540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0" i="0">
                <a:solidFill>
                  <a:srgbClr val="595959"/>
                </a:solidFill>
              </a:rPr>
              <a:t>MCP הוצג ב־25.11.2024 על ידי Anthropic. ב־9.12.2025 הועבר לקרן Agentic AI Foundation של Linux Foundation. מפרט עדכני: 2026‎-‎07‎-‎28.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MCP: ארבע שכבות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MCP Shape 5"/>
          <p:cNvSpPr/>
          <p:nvPr/>
        </p:nvSpPr>
        <p:spPr>
          <a:xfrm>
            <a:off x="7992000" y="2016000"/>
            <a:ext cx="936000" cy="936000"/>
          </a:xfrm>
          <a:prstGeom prst="roundRect">
            <a:avLst>
              <a:gd name="adj" fmla="val 12000"/>
            </a:avLst>
          </a:prstGeom>
          <a:solidFill>
            <a:srgbClr val="E3EEFF"/>
          </a:solidFill>
          <a:ln w="19050">
            <a:solidFill>
              <a:srgbClr val="4285F4"/>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4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משתמש</a:t>
            </a:r>
          </a:p>
        </p:txBody>
      </p:sp>
      <p:cxnSp>
        <p:nvCxnSpPr>
          <p:cNvPr id="6" name="MCP Line 6"/>
          <p:cNvCxnSpPr/>
          <p:nvPr/>
        </p:nvCxnSpPr>
        <p:spPr>
          <a:xfrm flipH="1">
            <a:off x="7596000" y="2484000"/>
            <a:ext cx="360000" cy="0"/>
          </a:xfrm>
          <a:prstGeom prst="line">
            <a:avLst/>
          </a:prstGeom>
          <a:ln w="38100">
            <a:solidFill>
              <a:srgbClr val="4285F4"/>
            </a:solidFill>
            <a:headEnd type="triangle"/>
            <a:tailEnd type="triangle"/>
          </a:ln>
        </p:spPr>
      </p:cxnSp>
      <p:sp>
        <p:nvSpPr>
          <p:cNvPr id="7" name="Host"/>
          <p:cNvSpPr/>
          <p:nvPr/>
        </p:nvSpPr>
        <p:spPr>
          <a:xfrm>
            <a:off x="4752000" y="1404000"/>
            <a:ext cx="2808000" cy="2268000"/>
          </a:xfrm>
          <a:prstGeom prst="roundRect">
            <a:avLst>
              <a:gd name="adj" fmla="val 6000"/>
            </a:avLst>
          </a:prstGeom>
          <a:solidFill>
            <a:srgbClr val="FFF0D9"/>
          </a:solidFill>
          <a:ln w="19050">
            <a:solidFill>
              <a:srgbClr val="FFAB40"/>
            </a:solidFill>
          </a:ln>
        </p:spPr>
        <p:txBody>
          <a:bodyPr wrap="square" lIns="72000" tIns="72000" rIns="72000" bIns="72000" rtlCol="0" anchor="t">
            <a:noAutofit/>
          </a:bodyPr>
          <a:lstStyle/>
          <a:p>
            <a:pPr marL="0" indent="0" algn="ctr" rtl="1">
              <a:lnSpc>
                <a:spcPct val="105000"/>
              </a:lnSpc>
              <a:spcBef>
                <a:spcPts val="0"/>
              </a:spcBef>
              <a:spcAft>
                <a:spcPts val="0"/>
              </a:spcAft>
              <a:buNone/>
            </a:pPr>
            <a:r>
              <a:rPr lang="he-IL" sz="1600" b="1" i="0">
                <a:solidFill>
                  <a:srgbClr val="212121"/>
                </a:solidFill>
              </a:rPr>
              <a:t>Host: אפליקציית הסוכן</a:t>
            </a:r>
          </a:p>
        </p:txBody>
      </p:sp>
      <p:sp>
        <p:nvSpPr>
          <p:cNvPr id="8" name="MCP Shape 8"/>
          <p:cNvSpPr/>
          <p:nvPr/>
        </p:nvSpPr>
        <p:spPr>
          <a:xfrm>
            <a:off x="4968000" y="1836000"/>
            <a:ext cx="2376000" cy="720000"/>
          </a:xfrm>
          <a:prstGeom prst="roundRect">
            <a:avLst>
              <a:gd name="adj" fmla="val 12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700" b="1" i="0">
                <a:solidFill>
                  <a:srgbClr val="212121"/>
                </a:solidFill>
              </a:rPr>
              <a:t>🧠 המודל (LLM)</a:t>
            </a:r>
          </a:p>
          <a:p>
            <a:pPr marL="0" indent="0" algn="ctr" rtl="1">
              <a:lnSpc>
                <a:spcPct val="105000"/>
              </a:lnSpc>
              <a:spcBef>
                <a:spcPts val="0"/>
              </a:spcBef>
              <a:spcAft>
                <a:spcPts val="0"/>
              </a:spcAft>
              <a:buNone/>
            </a:pPr>
            <a:r>
              <a:rPr lang="he-IL" sz="1300" b="0" i="0">
                <a:solidFill>
                  <a:srgbClr val="212121"/>
                </a:solidFill>
              </a:rPr>
              <a:t>חושב ומבקש כלים</a:t>
            </a:r>
          </a:p>
        </p:txBody>
      </p:sp>
      <p:sp>
        <p:nvSpPr>
          <p:cNvPr id="9" name="MCP Shape 9"/>
          <p:cNvSpPr/>
          <p:nvPr/>
        </p:nvSpPr>
        <p:spPr>
          <a:xfrm>
            <a:off x="4968000" y="2880000"/>
            <a:ext cx="2376000" cy="684000"/>
          </a:xfrm>
          <a:prstGeom prst="roundRect">
            <a:avLst>
              <a:gd name="adj" fmla="val 12000"/>
            </a:avLst>
          </a:prstGeom>
          <a:solidFill>
            <a:srgbClr val="E3EEFF"/>
          </a:solidFill>
          <a:ln w="19050">
            <a:solidFill>
              <a:srgbClr val="4285F4"/>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700" b="1" i="0">
                <a:solidFill>
                  <a:srgbClr val="212121"/>
                </a:solidFill>
              </a:rPr>
              <a:t>🔌 לקוח MCP (client)</a:t>
            </a:r>
          </a:p>
          <a:p>
            <a:pPr marL="0" indent="0" algn="ctr" rtl="1">
              <a:lnSpc>
                <a:spcPct val="105000"/>
              </a:lnSpc>
              <a:spcBef>
                <a:spcPts val="0"/>
              </a:spcBef>
              <a:spcAft>
                <a:spcPts val="0"/>
              </a:spcAft>
              <a:buNone/>
            </a:pPr>
            <a:r>
              <a:rPr lang="he-IL" sz="1300" b="0" i="0">
                <a:solidFill>
                  <a:srgbClr val="212121"/>
                </a:solidFill>
              </a:rPr>
              <a:t>מדבר עם השרת</a:t>
            </a:r>
          </a:p>
        </p:txBody>
      </p:sp>
      <p:cxnSp>
        <p:nvCxnSpPr>
          <p:cNvPr id="10" name="MCP Line 10"/>
          <p:cNvCxnSpPr/>
          <p:nvPr/>
        </p:nvCxnSpPr>
        <p:spPr>
          <a:xfrm>
            <a:off x="6156000" y="2592000"/>
            <a:ext cx="0" cy="252000"/>
          </a:xfrm>
          <a:prstGeom prst="line">
            <a:avLst/>
          </a:prstGeom>
          <a:ln w="28575">
            <a:solidFill>
              <a:srgbClr val="595959"/>
            </a:solidFill>
            <a:headEnd type="triangle"/>
            <a:tailEnd type="triangle"/>
          </a:ln>
        </p:spPr>
      </p:cxnSp>
      <p:cxnSp>
        <p:nvCxnSpPr>
          <p:cNvPr id="11" name="MCP Line 11"/>
          <p:cNvCxnSpPr/>
          <p:nvPr/>
        </p:nvCxnSpPr>
        <p:spPr>
          <a:xfrm flipH="1">
            <a:off x="3456000" y="3222000"/>
            <a:ext cx="1260000" cy="0"/>
          </a:xfrm>
          <a:prstGeom prst="line">
            <a:avLst/>
          </a:prstGeom>
          <a:ln w="38100">
            <a:solidFill>
              <a:srgbClr val="595959"/>
            </a:solidFill>
            <a:headEnd type="triangle"/>
            <a:tailEnd type="triangle"/>
          </a:ln>
        </p:spPr>
      </p:cxnSp>
      <p:sp>
        <p:nvSpPr>
          <p:cNvPr id="12" name="Transport label"/>
          <p:cNvSpPr txBox="1"/>
          <p:nvPr/>
        </p:nvSpPr>
        <p:spPr>
          <a:xfrm>
            <a:off x="3420000" y="2484000"/>
            <a:ext cx="1332000" cy="684000"/>
          </a:xfrm>
          <a:prstGeom prst="rect">
            <a:avLst/>
          </a:prstGeom>
          <a:noFill/>
          <a:ln>
            <a:noFill/>
          </a:ln>
        </p:spPr>
        <p:txBody>
          <a:bodyPr wrap="square" lIns="36000" tIns="36000" rIns="36000" bIns="36000" rtlCol="0" anchor="b">
            <a:noAutofit/>
          </a:bodyPr>
          <a:lstStyle/>
          <a:p>
            <a:pPr marL="0" indent="0" algn="ctr" rtl="1">
              <a:lnSpc>
                <a:spcPct val="105000"/>
              </a:lnSpc>
              <a:spcBef>
                <a:spcPts val="0"/>
              </a:spcBef>
              <a:spcAft>
                <a:spcPts val="0"/>
              </a:spcAft>
              <a:buNone/>
            </a:pPr>
            <a:r>
              <a:rPr lang="he-IL" sz="1300" b="1" i="0">
                <a:solidFill>
                  <a:srgbClr val="595959"/>
                </a:solidFill>
              </a:rPr>
              <a:t>תעבורה</a:t>
            </a:r>
          </a:p>
          <a:p>
            <a:pPr marL="0" indent="0" algn="ctr" rtl="1">
              <a:lnSpc>
                <a:spcPct val="105000"/>
              </a:lnSpc>
              <a:spcBef>
                <a:spcPts val="0"/>
              </a:spcBef>
              <a:spcAft>
                <a:spcPts val="0"/>
              </a:spcAft>
              <a:buNone/>
            </a:pPr>
            <a:r>
              <a:rPr lang="he-IL" sz="1200" b="0" i="0">
                <a:solidFill>
                  <a:srgbClr val="595959"/>
                </a:solidFill>
              </a:rPr>
              <a:t>stdio או</a:t>
            </a:r>
          </a:p>
          <a:p>
            <a:pPr marL="0" indent="0" algn="ctr" rtl="0">
              <a:lnSpc>
                <a:spcPct val="105000"/>
              </a:lnSpc>
              <a:spcBef>
                <a:spcPts val="0"/>
              </a:spcBef>
              <a:spcAft>
                <a:spcPts val="0"/>
              </a:spcAft>
              <a:buNone/>
            </a:pPr>
            <a:r>
              <a:rPr lang="he-IL" sz="1200" b="0" i="0">
                <a:solidFill>
                  <a:srgbClr val="595959"/>
                </a:solidFill>
              </a:rPr>
              <a:t>Streamable HTTP</a:t>
            </a:r>
          </a:p>
        </p:txBody>
      </p:sp>
      <p:sp>
        <p:nvSpPr>
          <p:cNvPr id="13" name="MCP Shape 13"/>
          <p:cNvSpPr/>
          <p:nvPr/>
        </p:nvSpPr>
        <p:spPr>
          <a:xfrm>
            <a:off x="1728000" y="1764000"/>
            <a:ext cx="1656000" cy="1800000"/>
          </a:xfrm>
          <a:prstGeom prst="roundRect">
            <a:avLst>
              <a:gd name="adj" fmla="val 8000"/>
            </a:avLst>
          </a:prstGeom>
          <a:solidFill>
            <a:srgbClr val="DDF2F5"/>
          </a:solidFill>
          <a:ln w="19050">
            <a:solidFill>
              <a:srgbClr val="0097A7"/>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400" b="0" i="0">
                <a:solidFill>
                  <a:srgbClr val="212121"/>
                </a:solidFill>
              </a:rPr>
              <a:t>🧩</a:t>
            </a:r>
          </a:p>
          <a:p>
            <a:pPr marL="0" indent="0" algn="ctr" rtl="1">
              <a:lnSpc>
                <a:spcPct val="105000"/>
              </a:lnSpc>
              <a:spcBef>
                <a:spcPts val="0"/>
              </a:spcBef>
              <a:spcAft>
                <a:spcPts val="0"/>
              </a:spcAft>
              <a:buNone/>
            </a:pPr>
            <a:r>
              <a:rPr lang="he-IL" sz="1800" b="1" i="0">
                <a:solidFill>
                  <a:srgbClr val="212121"/>
                </a:solidFill>
              </a:rPr>
              <a:t>שרת MCP</a:t>
            </a:r>
          </a:p>
          <a:p>
            <a:pPr marL="0" indent="0" algn="ctr" rtl="1">
              <a:lnSpc>
                <a:spcPct val="105000"/>
              </a:lnSpc>
              <a:spcBef>
                <a:spcPts val="0"/>
              </a:spcBef>
              <a:spcAft>
                <a:spcPts val="0"/>
              </a:spcAft>
              <a:buNone/>
            </a:pPr>
            <a:r>
              <a:rPr lang="he-IL" sz="1300" b="0" i="0">
                <a:solidFill>
                  <a:srgbClr val="212121"/>
                </a:solidFill>
              </a:rPr>
              <a:t>מכיר את ה־DB ומריץ את השאילתות</a:t>
            </a:r>
          </a:p>
        </p:txBody>
      </p:sp>
      <p:cxnSp>
        <p:nvCxnSpPr>
          <p:cNvPr id="14" name="MCP Line 14"/>
          <p:cNvCxnSpPr/>
          <p:nvPr/>
        </p:nvCxnSpPr>
        <p:spPr>
          <a:xfrm flipH="1">
            <a:off x="1368000" y="2664000"/>
            <a:ext cx="324000" cy="0"/>
          </a:xfrm>
          <a:prstGeom prst="line">
            <a:avLst/>
          </a:prstGeom>
          <a:ln w="38100">
            <a:solidFill>
              <a:srgbClr val="595959"/>
            </a:solidFill>
            <a:headEnd type="triangle"/>
            <a:tailEnd type="triangle"/>
          </a:ln>
        </p:spPr>
      </p:cxnSp>
      <p:sp>
        <p:nvSpPr>
          <p:cNvPr id="15" name="MCP Shape 15"/>
          <p:cNvSpPr/>
          <p:nvPr/>
        </p:nvSpPr>
        <p:spPr>
          <a:xfrm>
            <a:off x="288000" y="2016000"/>
            <a:ext cx="1044000" cy="1296000"/>
          </a:xfrm>
          <a:prstGeom prst="roundRect">
            <a:avLst>
              <a:gd name="adj" fmla="val 10000"/>
            </a:avLst>
          </a:prstGeom>
          <a:solidFill>
            <a:srgbClr val="F1F3F4"/>
          </a:solidFill>
          <a:ln w="19050">
            <a:solidFill>
              <a:srgbClr val="78909C"/>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400" b="0" i="0">
                <a:solidFill>
                  <a:srgbClr val="212121"/>
                </a:solidFill>
              </a:rPr>
              <a:t>🗄️</a:t>
            </a:r>
          </a:p>
          <a:p>
            <a:pPr marL="0" indent="0" algn="ctr" rtl="1">
              <a:lnSpc>
                <a:spcPct val="105000"/>
              </a:lnSpc>
              <a:spcBef>
                <a:spcPts val="0"/>
              </a:spcBef>
              <a:spcAft>
                <a:spcPts val="0"/>
              </a:spcAft>
              <a:buNone/>
            </a:pPr>
            <a:r>
              <a:rPr lang="he-IL" sz="1500" b="1" i="0">
                <a:solidFill>
                  <a:srgbClr val="212121"/>
                </a:solidFill>
              </a:rPr>
              <a:t>מקור נתונים (DB)</a:t>
            </a:r>
          </a:p>
        </p:txBody>
      </p:sp>
      <p:sp>
        <p:nvSpPr>
          <p:cNvPr id="16" name="MCP Shape 16"/>
          <p:cNvSpPr/>
          <p:nvPr/>
        </p:nvSpPr>
        <p:spPr>
          <a:xfrm>
            <a:off x="5832000" y="3816000"/>
            <a:ext cx="3096000" cy="684000"/>
          </a:xfrm>
          <a:prstGeom prst="roundRect">
            <a:avLst>
              <a:gd name="adj" fmla="val 10000"/>
            </a:avLst>
          </a:prstGeom>
          <a:solidFill>
            <a:srgbClr val="E3EEFF"/>
          </a:solidFill>
          <a:ln w="19050">
            <a:solidFill>
              <a:srgbClr val="4285F4"/>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600" b="1" i="0">
                <a:solidFill>
                  <a:srgbClr val="212121"/>
                </a:solidFill>
              </a:rPr>
              <a:t>מה המודל רואה?</a:t>
            </a:r>
          </a:p>
          <a:p>
            <a:pPr marL="0" indent="0" algn="ctr" rtl="1">
              <a:lnSpc>
                <a:spcPct val="105000"/>
              </a:lnSpc>
              <a:spcBef>
                <a:spcPts val="100"/>
              </a:spcBef>
              <a:spcAft>
                <a:spcPts val="0"/>
              </a:spcAft>
              <a:buNone/>
            </a:pPr>
            <a:r>
              <a:rPr lang="he-IL" sz="1400" b="0" i="0">
                <a:solidFill>
                  <a:srgbClr val="212121"/>
                </a:solidFill>
              </a:rPr>
              <a:t>רק שם, תיאור וסכמה של כל כלי</a:t>
            </a:r>
          </a:p>
        </p:txBody>
      </p:sp>
      <p:sp>
        <p:nvSpPr>
          <p:cNvPr id="17" name="MCP Shape 17"/>
          <p:cNvSpPr/>
          <p:nvPr/>
        </p:nvSpPr>
        <p:spPr>
          <a:xfrm>
            <a:off x="2988000" y="3816000"/>
            <a:ext cx="2736000" cy="684000"/>
          </a:xfrm>
          <a:prstGeom prst="roundRect">
            <a:avLst>
              <a:gd name="adj" fmla="val 10000"/>
            </a:avLst>
          </a:prstGeom>
          <a:solidFill>
            <a:srgbClr val="FFF0D9"/>
          </a:solidFill>
          <a:ln w="19050">
            <a:solidFill>
              <a:srgbClr val="FFAB40"/>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600" b="1" i="0">
                <a:solidFill>
                  <a:srgbClr val="212121"/>
                </a:solidFill>
              </a:rPr>
              <a:t>מי מפעיל את הכלי?</a:t>
            </a:r>
          </a:p>
          <a:p>
            <a:pPr marL="0" indent="0" algn="ctr" rtl="1">
              <a:lnSpc>
                <a:spcPct val="105000"/>
              </a:lnSpc>
              <a:spcBef>
                <a:spcPts val="100"/>
              </a:spcBef>
              <a:spcAft>
                <a:spcPts val="0"/>
              </a:spcAft>
              <a:buNone/>
            </a:pPr>
            <a:r>
              <a:rPr lang="he-IL" sz="1300" b="0" i="0">
                <a:solidFill>
                  <a:srgbClr val="212121"/>
                </a:solidFill>
              </a:rPr>
              <a:t>ה־host, בשם המודל. המודל לא פונה ל־DB</a:t>
            </a:r>
          </a:p>
        </p:txBody>
      </p:sp>
      <p:sp>
        <p:nvSpPr>
          <p:cNvPr id="18" name="MCP Shape 18"/>
          <p:cNvSpPr/>
          <p:nvPr/>
        </p:nvSpPr>
        <p:spPr>
          <a:xfrm>
            <a:off x="288000" y="3816000"/>
            <a:ext cx="2592000" cy="684000"/>
          </a:xfrm>
          <a:prstGeom prst="roundRect">
            <a:avLst>
              <a:gd name="adj" fmla="val 10000"/>
            </a:avLst>
          </a:prstGeom>
          <a:solidFill>
            <a:srgbClr val="FDE3E0"/>
          </a:solidFill>
          <a:ln w="19050">
            <a:solidFill>
              <a:srgbClr val="EA4335"/>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1" i="0">
                <a:solidFill>
                  <a:srgbClr val="212121"/>
                </a:solidFill>
              </a:rPr>
              <a:t>🔑 פרטי ההתחברות ל־DB</a:t>
            </a:r>
          </a:p>
          <a:p>
            <a:pPr marL="0" indent="0" algn="ctr" rtl="1">
              <a:lnSpc>
                <a:spcPct val="105000"/>
              </a:lnSpc>
              <a:spcBef>
                <a:spcPts val="100"/>
              </a:spcBef>
              <a:spcAft>
                <a:spcPts val="0"/>
              </a:spcAft>
              <a:buNone/>
            </a:pPr>
            <a:r>
              <a:rPr lang="he-IL" sz="1300" b="0" i="0">
                <a:solidFill>
                  <a:srgbClr val="212121"/>
                </a:solidFill>
              </a:rPr>
              <a:t>רק בשרת, לא בפרומפט ולא במודל</a:t>
            </a:r>
          </a:p>
        </p:txBody>
      </p:sp>
      <p:sp>
        <p:nvSpPr>
          <p:cNvPr id="19" name="Footnote"/>
          <p:cNvSpPr txBox="1"/>
          <p:nvPr/>
        </p:nvSpPr>
        <p:spPr>
          <a:xfrm>
            <a:off x="288000" y="4590000"/>
            <a:ext cx="8640000" cy="432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300" b="0" i="0">
                <a:solidFill>
                  <a:srgbClr val="595959"/>
                </a:solidFill>
              </a:rPr>
              <a:t>מקומי: ה־host מפעיל את השרת כתהליך בן (stdio). מרוחק: Streamable HTTP, עם OAuth לפי המפרט.</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MCP: רצף ההודעות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MCP Shape 5"/>
          <p:cNvSpPr/>
          <p:nvPr/>
        </p:nvSpPr>
        <p:spPr>
          <a:xfrm>
            <a:off x="7236000" y="1296000"/>
            <a:ext cx="1512000" cy="360000"/>
          </a:xfrm>
          <a:prstGeom prst="roundRect">
            <a:avLst>
              <a:gd name="adj" fmla="val 20000"/>
            </a:avLst>
          </a:prstGeom>
          <a:solidFill>
            <a:srgbClr val="FFF0D9"/>
          </a:solidFill>
          <a:ln w="19050">
            <a:solidFill>
              <a:srgbClr val="FFAB40"/>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500" b="1" i="0">
                <a:solidFill>
                  <a:srgbClr val="212121"/>
                </a:solidFill>
              </a:rPr>
              <a:t>🧠 המודל</a:t>
            </a:r>
          </a:p>
        </p:txBody>
      </p:sp>
      <p:cxnSp>
        <p:nvCxnSpPr>
          <p:cNvPr id="6" name="MCP Line 6"/>
          <p:cNvCxnSpPr/>
          <p:nvPr/>
        </p:nvCxnSpPr>
        <p:spPr>
          <a:xfrm>
            <a:off x="7992000" y="1656000"/>
            <a:ext cx="0" cy="2934000"/>
          </a:xfrm>
          <a:prstGeom prst="line">
            <a:avLst/>
          </a:prstGeom>
          <a:ln w="12700">
            <a:solidFill>
              <a:srgbClr val="BDBDBD"/>
            </a:solidFill>
            <a:prstDash val="dash"/>
          </a:ln>
        </p:spPr>
      </p:cxnSp>
      <p:sp>
        <p:nvSpPr>
          <p:cNvPr id="7" name="MCP Shape 7"/>
          <p:cNvSpPr/>
          <p:nvPr/>
        </p:nvSpPr>
        <p:spPr>
          <a:xfrm>
            <a:off x="4788000" y="1296000"/>
            <a:ext cx="1512000" cy="360000"/>
          </a:xfrm>
          <a:prstGeom prst="roundRect">
            <a:avLst>
              <a:gd name="adj" fmla="val 20000"/>
            </a:avLst>
          </a:prstGeom>
          <a:solidFill>
            <a:srgbClr val="E3EEFF"/>
          </a:solidFill>
          <a:ln w="19050">
            <a:solidFill>
              <a:srgbClr val="4285F4"/>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500" b="1" i="0">
                <a:solidFill>
                  <a:srgbClr val="212121"/>
                </a:solidFill>
              </a:rPr>
              <a:t>🖥️ Host + לקוח</a:t>
            </a:r>
          </a:p>
        </p:txBody>
      </p:sp>
      <p:cxnSp>
        <p:nvCxnSpPr>
          <p:cNvPr id="8" name="MCP Line 8"/>
          <p:cNvCxnSpPr/>
          <p:nvPr/>
        </p:nvCxnSpPr>
        <p:spPr>
          <a:xfrm>
            <a:off x="5544000" y="1656000"/>
            <a:ext cx="0" cy="2934000"/>
          </a:xfrm>
          <a:prstGeom prst="line">
            <a:avLst/>
          </a:prstGeom>
          <a:ln w="12700">
            <a:solidFill>
              <a:srgbClr val="BDBDBD"/>
            </a:solidFill>
            <a:prstDash val="dash"/>
          </a:ln>
        </p:spPr>
      </p:cxnSp>
      <p:sp>
        <p:nvSpPr>
          <p:cNvPr id="9" name="MCP Shape 9"/>
          <p:cNvSpPr/>
          <p:nvPr/>
        </p:nvSpPr>
        <p:spPr>
          <a:xfrm>
            <a:off x="2340000" y="1296000"/>
            <a:ext cx="1512000" cy="360000"/>
          </a:xfrm>
          <a:prstGeom prst="roundRect">
            <a:avLst>
              <a:gd name="adj" fmla="val 20000"/>
            </a:avLst>
          </a:prstGeom>
          <a:solidFill>
            <a:srgbClr val="DDF2F5"/>
          </a:solidFill>
          <a:ln w="19050">
            <a:solidFill>
              <a:srgbClr val="0097A7"/>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500" b="1" i="0">
                <a:solidFill>
                  <a:srgbClr val="212121"/>
                </a:solidFill>
              </a:rPr>
              <a:t>🧩 שרת MCP</a:t>
            </a:r>
          </a:p>
        </p:txBody>
      </p:sp>
      <p:cxnSp>
        <p:nvCxnSpPr>
          <p:cNvPr id="10" name="MCP Line 10"/>
          <p:cNvCxnSpPr/>
          <p:nvPr/>
        </p:nvCxnSpPr>
        <p:spPr>
          <a:xfrm>
            <a:off x="3096000" y="1656000"/>
            <a:ext cx="0" cy="2934000"/>
          </a:xfrm>
          <a:prstGeom prst="line">
            <a:avLst/>
          </a:prstGeom>
          <a:ln w="12700">
            <a:solidFill>
              <a:srgbClr val="BDBDBD"/>
            </a:solidFill>
            <a:prstDash val="dash"/>
          </a:ln>
        </p:spPr>
      </p:cxnSp>
      <p:sp>
        <p:nvSpPr>
          <p:cNvPr id="11" name="MCP Shape 11"/>
          <p:cNvSpPr/>
          <p:nvPr/>
        </p:nvSpPr>
        <p:spPr>
          <a:xfrm>
            <a:off x="36000" y="1296000"/>
            <a:ext cx="1512000" cy="360000"/>
          </a:xfrm>
          <a:prstGeom prst="roundRect">
            <a:avLst>
              <a:gd name="adj" fmla="val 20000"/>
            </a:avLst>
          </a:prstGeom>
          <a:solidFill>
            <a:srgbClr val="F1F3F4"/>
          </a:solidFill>
          <a:ln w="19050">
            <a:solidFill>
              <a:srgbClr val="78909C"/>
            </a:solidFill>
          </a:ln>
        </p:spPr>
        <p:txBody>
          <a:bodyPr wrap="square" lIns="18000" tIns="18000" rIns="18000" bIns="18000" rtlCol="0" anchor="ctr">
            <a:noAutofit/>
          </a:bodyPr>
          <a:lstStyle/>
          <a:p>
            <a:pPr marL="0" indent="0" algn="ctr" rtl="1">
              <a:lnSpc>
                <a:spcPct val="105000"/>
              </a:lnSpc>
              <a:spcBef>
                <a:spcPts val="0"/>
              </a:spcBef>
              <a:spcAft>
                <a:spcPts val="0"/>
              </a:spcAft>
              <a:buNone/>
            </a:pPr>
            <a:r>
              <a:rPr lang="he-IL" sz="1500" b="1" i="0">
                <a:solidFill>
                  <a:srgbClr val="212121"/>
                </a:solidFill>
              </a:rPr>
              <a:t>🗄️ מסד נתונים</a:t>
            </a:r>
          </a:p>
        </p:txBody>
      </p:sp>
      <p:cxnSp>
        <p:nvCxnSpPr>
          <p:cNvPr id="12" name="MCP Line 12"/>
          <p:cNvCxnSpPr/>
          <p:nvPr/>
        </p:nvCxnSpPr>
        <p:spPr>
          <a:xfrm>
            <a:off x="792000" y="1656000"/>
            <a:ext cx="0" cy="2934000"/>
          </a:xfrm>
          <a:prstGeom prst="line">
            <a:avLst/>
          </a:prstGeom>
          <a:ln w="12700">
            <a:solidFill>
              <a:srgbClr val="BDBDBD"/>
            </a:solidFill>
            <a:prstDash val="dash"/>
          </a:ln>
        </p:spPr>
      </p:cxnSp>
      <p:cxnSp>
        <p:nvCxnSpPr>
          <p:cNvPr id="13" name="MCP Line 13"/>
          <p:cNvCxnSpPr/>
          <p:nvPr/>
        </p:nvCxnSpPr>
        <p:spPr>
          <a:xfrm flipH="1">
            <a:off x="3096000" y="1836000"/>
            <a:ext cx="2448000" cy="0"/>
          </a:xfrm>
          <a:prstGeom prst="line">
            <a:avLst/>
          </a:prstGeom>
          <a:ln w="25400">
            <a:solidFill>
              <a:srgbClr val="595959"/>
            </a:solidFill>
            <a:tailEnd type="triangle"/>
          </a:ln>
        </p:spPr>
      </p:cxnSp>
      <p:sp>
        <p:nvSpPr>
          <p:cNvPr id="14" name="Seq label 1"/>
          <p:cNvSpPr txBox="1"/>
          <p:nvPr/>
        </p:nvSpPr>
        <p:spPr>
          <a:xfrm>
            <a:off x="2035800" y="1663200"/>
            <a:ext cx="45684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initialize: protocolVersion, capabilities, clientInfo</a:t>
            </a:r>
          </a:p>
        </p:txBody>
      </p:sp>
      <p:sp>
        <p:nvSpPr>
          <p:cNvPr id="15" name="Seq num 1"/>
          <p:cNvSpPr/>
          <p:nvPr/>
        </p:nvSpPr>
        <p:spPr>
          <a:xfrm>
            <a:off x="8712000" y="1717200"/>
            <a:ext cx="252000" cy="252000"/>
          </a:xfrm>
          <a:prstGeom prst="ellipse">
            <a:avLst/>
          </a:prstGeom>
          <a:solidFill>
            <a:srgbClr val="595959"/>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1</a:t>
            </a:r>
          </a:p>
        </p:txBody>
      </p:sp>
      <p:cxnSp>
        <p:nvCxnSpPr>
          <p:cNvPr id="16" name="MCP Line 16"/>
          <p:cNvCxnSpPr/>
          <p:nvPr/>
        </p:nvCxnSpPr>
        <p:spPr>
          <a:xfrm>
            <a:off x="3096000" y="2088000"/>
            <a:ext cx="2448000" cy="0"/>
          </a:xfrm>
          <a:prstGeom prst="line">
            <a:avLst/>
          </a:prstGeom>
          <a:ln w="25400">
            <a:solidFill>
              <a:srgbClr val="595959"/>
            </a:solidFill>
            <a:tailEnd type="triangle"/>
          </a:ln>
        </p:spPr>
      </p:cxnSp>
      <p:sp>
        <p:nvSpPr>
          <p:cNvPr id="17" name="Seq label 2"/>
          <p:cNvSpPr txBox="1"/>
          <p:nvPr/>
        </p:nvSpPr>
        <p:spPr>
          <a:xfrm>
            <a:off x="2946600" y="1915200"/>
            <a:ext cx="27468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תשובה: capabilities, serverInfo</a:t>
            </a:r>
          </a:p>
        </p:txBody>
      </p:sp>
      <p:sp>
        <p:nvSpPr>
          <p:cNvPr id="18" name="Seq num 2"/>
          <p:cNvSpPr/>
          <p:nvPr/>
        </p:nvSpPr>
        <p:spPr>
          <a:xfrm>
            <a:off x="8712000" y="1969200"/>
            <a:ext cx="252000" cy="252000"/>
          </a:xfrm>
          <a:prstGeom prst="ellipse">
            <a:avLst/>
          </a:prstGeom>
          <a:solidFill>
            <a:srgbClr val="595959"/>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2</a:t>
            </a:r>
          </a:p>
        </p:txBody>
      </p:sp>
      <p:cxnSp>
        <p:nvCxnSpPr>
          <p:cNvPr id="19" name="MCP Line 19"/>
          <p:cNvCxnSpPr/>
          <p:nvPr/>
        </p:nvCxnSpPr>
        <p:spPr>
          <a:xfrm flipH="1">
            <a:off x="3096000" y="2340000"/>
            <a:ext cx="2448000" cy="0"/>
          </a:xfrm>
          <a:prstGeom prst="line">
            <a:avLst/>
          </a:prstGeom>
          <a:ln w="25400">
            <a:solidFill>
              <a:srgbClr val="595959"/>
            </a:solidFill>
            <a:tailEnd type="triangle"/>
          </a:ln>
        </p:spPr>
      </p:cxnSp>
      <p:sp>
        <p:nvSpPr>
          <p:cNvPr id="20" name="Seq label 3"/>
          <p:cNvSpPr txBox="1"/>
          <p:nvPr/>
        </p:nvSpPr>
        <p:spPr>
          <a:xfrm>
            <a:off x="3195000" y="2167200"/>
            <a:ext cx="22500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notifications/initialized</a:t>
            </a:r>
          </a:p>
        </p:txBody>
      </p:sp>
      <p:sp>
        <p:nvSpPr>
          <p:cNvPr id="21" name="Seq num 3"/>
          <p:cNvSpPr/>
          <p:nvPr/>
        </p:nvSpPr>
        <p:spPr>
          <a:xfrm>
            <a:off x="8712000" y="2221200"/>
            <a:ext cx="252000" cy="252000"/>
          </a:xfrm>
          <a:prstGeom prst="ellipse">
            <a:avLst/>
          </a:prstGeom>
          <a:solidFill>
            <a:srgbClr val="595959"/>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3</a:t>
            </a:r>
          </a:p>
        </p:txBody>
      </p:sp>
      <p:cxnSp>
        <p:nvCxnSpPr>
          <p:cNvPr id="22" name="MCP Line 22"/>
          <p:cNvCxnSpPr/>
          <p:nvPr/>
        </p:nvCxnSpPr>
        <p:spPr>
          <a:xfrm flipH="1">
            <a:off x="3096000" y="2592000"/>
            <a:ext cx="2448000" cy="0"/>
          </a:xfrm>
          <a:prstGeom prst="line">
            <a:avLst/>
          </a:prstGeom>
          <a:ln w="25400">
            <a:solidFill>
              <a:srgbClr val="4285F4"/>
            </a:solidFill>
            <a:tailEnd type="triangle"/>
          </a:ln>
        </p:spPr>
      </p:cxnSp>
      <p:sp>
        <p:nvSpPr>
          <p:cNvPr id="23" name="Seq label 4"/>
          <p:cNvSpPr txBox="1"/>
          <p:nvPr/>
        </p:nvSpPr>
        <p:spPr>
          <a:xfrm>
            <a:off x="3816000" y="2419200"/>
            <a:ext cx="10080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tools/list</a:t>
            </a:r>
          </a:p>
        </p:txBody>
      </p:sp>
      <p:sp>
        <p:nvSpPr>
          <p:cNvPr id="24" name="Seq num 4"/>
          <p:cNvSpPr/>
          <p:nvPr/>
        </p:nvSpPr>
        <p:spPr>
          <a:xfrm>
            <a:off x="8712000" y="2473200"/>
            <a:ext cx="252000" cy="2520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4</a:t>
            </a:r>
          </a:p>
        </p:txBody>
      </p:sp>
      <p:cxnSp>
        <p:nvCxnSpPr>
          <p:cNvPr id="25" name="MCP Line 25"/>
          <p:cNvCxnSpPr/>
          <p:nvPr/>
        </p:nvCxnSpPr>
        <p:spPr>
          <a:xfrm>
            <a:off x="3096000" y="2844000"/>
            <a:ext cx="2448000" cy="0"/>
          </a:xfrm>
          <a:prstGeom prst="line">
            <a:avLst/>
          </a:prstGeom>
          <a:ln w="25400">
            <a:solidFill>
              <a:srgbClr val="4285F4"/>
            </a:solidFill>
            <a:tailEnd type="triangle"/>
          </a:ln>
        </p:spPr>
      </p:cxnSp>
      <p:sp>
        <p:nvSpPr>
          <p:cNvPr id="26" name="Seq label 5"/>
          <p:cNvSpPr txBox="1"/>
          <p:nvPr/>
        </p:nvSpPr>
        <p:spPr>
          <a:xfrm>
            <a:off x="2532600" y="2671200"/>
            <a:ext cx="35748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tools: [ name, description, inputSchema ]</a:t>
            </a:r>
          </a:p>
        </p:txBody>
      </p:sp>
      <p:sp>
        <p:nvSpPr>
          <p:cNvPr id="27" name="Seq num 5"/>
          <p:cNvSpPr/>
          <p:nvPr/>
        </p:nvSpPr>
        <p:spPr>
          <a:xfrm>
            <a:off x="8712000" y="2725200"/>
            <a:ext cx="252000" cy="2520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5</a:t>
            </a:r>
          </a:p>
        </p:txBody>
      </p:sp>
      <p:cxnSp>
        <p:nvCxnSpPr>
          <p:cNvPr id="28" name="MCP Line 28"/>
          <p:cNvCxnSpPr/>
          <p:nvPr/>
        </p:nvCxnSpPr>
        <p:spPr>
          <a:xfrm>
            <a:off x="5544000" y="3096000"/>
            <a:ext cx="2448000" cy="0"/>
          </a:xfrm>
          <a:prstGeom prst="line">
            <a:avLst/>
          </a:prstGeom>
          <a:ln w="25400">
            <a:solidFill>
              <a:srgbClr val="F9A825"/>
            </a:solidFill>
            <a:tailEnd type="triangle"/>
          </a:ln>
        </p:spPr>
      </p:cxnSp>
      <p:sp>
        <p:nvSpPr>
          <p:cNvPr id="29" name="Seq label 6"/>
          <p:cNvSpPr txBox="1"/>
          <p:nvPr/>
        </p:nvSpPr>
        <p:spPr>
          <a:xfrm>
            <a:off x="5394600" y="2923200"/>
            <a:ext cx="27468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הכלים ושאלת המשתמש נכנסים להקשר</a:t>
            </a:r>
          </a:p>
        </p:txBody>
      </p:sp>
      <p:sp>
        <p:nvSpPr>
          <p:cNvPr id="30" name="Seq num 6"/>
          <p:cNvSpPr/>
          <p:nvPr/>
        </p:nvSpPr>
        <p:spPr>
          <a:xfrm>
            <a:off x="8712000" y="2977200"/>
            <a:ext cx="252000" cy="252000"/>
          </a:xfrm>
          <a:prstGeom prst="ellipse">
            <a:avLst/>
          </a:prstGeom>
          <a:solidFill>
            <a:srgbClr val="F9A825"/>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6</a:t>
            </a:r>
          </a:p>
        </p:txBody>
      </p:sp>
      <p:cxnSp>
        <p:nvCxnSpPr>
          <p:cNvPr id="31" name="MCP Line 31"/>
          <p:cNvCxnSpPr/>
          <p:nvPr/>
        </p:nvCxnSpPr>
        <p:spPr>
          <a:xfrm flipH="1">
            <a:off x="5544000" y="3348000"/>
            <a:ext cx="2448000" cy="0"/>
          </a:xfrm>
          <a:prstGeom prst="line">
            <a:avLst/>
          </a:prstGeom>
          <a:ln w="25400">
            <a:solidFill>
              <a:srgbClr val="F9A825"/>
            </a:solidFill>
            <a:tailEnd type="triangle"/>
          </a:ln>
        </p:spPr>
      </p:cxnSp>
      <p:sp>
        <p:nvSpPr>
          <p:cNvPr id="32" name="Seq label 7"/>
          <p:cNvSpPr txBox="1"/>
          <p:nvPr/>
        </p:nvSpPr>
        <p:spPr>
          <a:xfrm>
            <a:off x="5767200" y="3175200"/>
            <a:ext cx="20016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המודל מבקש: query(sql)</a:t>
            </a:r>
          </a:p>
        </p:txBody>
      </p:sp>
      <p:sp>
        <p:nvSpPr>
          <p:cNvPr id="33" name="Seq num 7"/>
          <p:cNvSpPr/>
          <p:nvPr/>
        </p:nvSpPr>
        <p:spPr>
          <a:xfrm>
            <a:off x="8712000" y="3229200"/>
            <a:ext cx="252000" cy="252000"/>
          </a:xfrm>
          <a:prstGeom prst="ellipse">
            <a:avLst/>
          </a:prstGeom>
          <a:solidFill>
            <a:srgbClr val="F9A825"/>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7</a:t>
            </a:r>
          </a:p>
        </p:txBody>
      </p:sp>
      <p:cxnSp>
        <p:nvCxnSpPr>
          <p:cNvPr id="34" name="MCP Line 34"/>
          <p:cNvCxnSpPr/>
          <p:nvPr/>
        </p:nvCxnSpPr>
        <p:spPr>
          <a:xfrm flipH="1">
            <a:off x="3096000" y="3600000"/>
            <a:ext cx="2448000" cy="0"/>
          </a:xfrm>
          <a:prstGeom prst="line">
            <a:avLst/>
          </a:prstGeom>
          <a:ln w="25400">
            <a:solidFill>
              <a:srgbClr val="F9A825"/>
            </a:solidFill>
            <a:tailEnd type="triangle"/>
          </a:ln>
        </p:spPr>
      </p:cxnSp>
      <p:sp>
        <p:nvSpPr>
          <p:cNvPr id="35" name="Seq label 8"/>
          <p:cNvSpPr txBox="1"/>
          <p:nvPr/>
        </p:nvSpPr>
        <p:spPr>
          <a:xfrm>
            <a:off x="2988000" y="3427200"/>
            <a:ext cx="26640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tools/call { name, arguments }</a:t>
            </a:r>
          </a:p>
        </p:txBody>
      </p:sp>
      <p:sp>
        <p:nvSpPr>
          <p:cNvPr id="36" name="Seq num 8"/>
          <p:cNvSpPr/>
          <p:nvPr/>
        </p:nvSpPr>
        <p:spPr>
          <a:xfrm>
            <a:off x="8712000" y="3481200"/>
            <a:ext cx="252000" cy="252000"/>
          </a:xfrm>
          <a:prstGeom prst="ellipse">
            <a:avLst/>
          </a:prstGeom>
          <a:solidFill>
            <a:srgbClr val="F9A825"/>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8</a:t>
            </a:r>
          </a:p>
        </p:txBody>
      </p:sp>
      <p:cxnSp>
        <p:nvCxnSpPr>
          <p:cNvPr id="37" name="MCP Line 37"/>
          <p:cNvCxnSpPr/>
          <p:nvPr/>
        </p:nvCxnSpPr>
        <p:spPr>
          <a:xfrm flipH="1">
            <a:off x="792000" y="3852000"/>
            <a:ext cx="2304000" cy="0"/>
          </a:xfrm>
          <a:prstGeom prst="line">
            <a:avLst/>
          </a:prstGeom>
          <a:ln w="25400">
            <a:solidFill>
              <a:srgbClr val="F9A825"/>
            </a:solidFill>
            <a:tailEnd type="triangle"/>
          </a:ln>
        </p:spPr>
      </p:cxnSp>
      <p:sp>
        <p:nvSpPr>
          <p:cNvPr id="38" name="Seq label 9"/>
          <p:cNvSpPr txBox="1"/>
          <p:nvPr/>
        </p:nvSpPr>
        <p:spPr>
          <a:xfrm>
            <a:off x="1398600" y="3679200"/>
            <a:ext cx="10908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מריץ SELECT</a:t>
            </a:r>
          </a:p>
        </p:txBody>
      </p:sp>
      <p:sp>
        <p:nvSpPr>
          <p:cNvPr id="39" name="Seq num 9"/>
          <p:cNvSpPr/>
          <p:nvPr/>
        </p:nvSpPr>
        <p:spPr>
          <a:xfrm>
            <a:off x="8712000" y="3733200"/>
            <a:ext cx="252000" cy="252000"/>
          </a:xfrm>
          <a:prstGeom prst="ellipse">
            <a:avLst/>
          </a:prstGeom>
          <a:solidFill>
            <a:srgbClr val="F9A825"/>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9</a:t>
            </a:r>
          </a:p>
        </p:txBody>
      </p:sp>
      <p:cxnSp>
        <p:nvCxnSpPr>
          <p:cNvPr id="40" name="MCP Line 40"/>
          <p:cNvCxnSpPr/>
          <p:nvPr/>
        </p:nvCxnSpPr>
        <p:spPr>
          <a:xfrm>
            <a:off x="3096000" y="4104000"/>
            <a:ext cx="2448000" cy="0"/>
          </a:xfrm>
          <a:prstGeom prst="line">
            <a:avLst/>
          </a:prstGeom>
          <a:ln w="25400">
            <a:solidFill>
              <a:srgbClr val="F9A825"/>
            </a:solidFill>
            <a:tailEnd type="triangle"/>
          </a:ln>
        </p:spPr>
      </p:cxnSp>
      <p:sp>
        <p:nvSpPr>
          <p:cNvPr id="41" name="Seq label 10"/>
          <p:cNvSpPr txBox="1"/>
          <p:nvPr/>
        </p:nvSpPr>
        <p:spPr>
          <a:xfrm>
            <a:off x="3112200" y="3931200"/>
            <a:ext cx="24156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result { content, isError }</a:t>
            </a:r>
          </a:p>
        </p:txBody>
      </p:sp>
      <p:sp>
        <p:nvSpPr>
          <p:cNvPr id="42" name="Seq num 10"/>
          <p:cNvSpPr/>
          <p:nvPr/>
        </p:nvSpPr>
        <p:spPr>
          <a:xfrm>
            <a:off x="8712000" y="3985200"/>
            <a:ext cx="252000" cy="252000"/>
          </a:xfrm>
          <a:prstGeom prst="ellipse">
            <a:avLst/>
          </a:prstGeom>
          <a:solidFill>
            <a:srgbClr val="F9A825"/>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10</a:t>
            </a:r>
          </a:p>
        </p:txBody>
      </p:sp>
      <p:cxnSp>
        <p:nvCxnSpPr>
          <p:cNvPr id="43" name="MCP Line 43"/>
          <p:cNvCxnSpPr/>
          <p:nvPr/>
        </p:nvCxnSpPr>
        <p:spPr>
          <a:xfrm>
            <a:off x="5544000" y="4356000"/>
            <a:ext cx="2448000" cy="0"/>
          </a:xfrm>
          <a:prstGeom prst="line">
            <a:avLst/>
          </a:prstGeom>
          <a:ln w="25400">
            <a:solidFill>
              <a:srgbClr val="F9A825"/>
            </a:solidFill>
            <a:tailEnd type="triangle"/>
          </a:ln>
        </p:spPr>
      </p:cxnSp>
      <p:sp>
        <p:nvSpPr>
          <p:cNvPr id="44" name="Seq label 11"/>
          <p:cNvSpPr txBox="1"/>
          <p:nvPr/>
        </p:nvSpPr>
        <p:spPr>
          <a:xfrm>
            <a:off x="5394600" y="4183200"/>
            <a:ext cx="2746800" cy="165600"/>
          </a:xfrm>
          <a:prstGeom prst="rect">
            <a:avLst/>
          </a:prstGeom>
          <a:solidFill>
            <a:srgbClr val="FFFFFF"/>
          </a:solidFill>
          <a:ln>
            <a:noFill/>
          </a:ln>
        </p:spPr>
        <p:txBody>
          <a:bodyPr wrap="square" lIns="7200" tIns="7200" rIns="7200" bIns="7200" rtlCol="0" anchor="ctr">
            <a:noAutofit/>
          </a:bodyPr>
          <a:lstStyle/>
          <a:p>
            <a:pPr marL="0" indent="0" algn="ctr" rtl="1">
              <a:lnSpc>
                <a:spcPct val="105000"/>
              </a:lnSpc>
              <a:spcBef>
                <a:spcPts val="0"/>
              </a:spcBef>
              <a:spcAft>
                <a:spcPts val="0"/>
              </a:spcAft>
              <a:buNone/>
            </a:pPr>
            <a:r>
              <a:rPr lang="he-IL" sz="1200" b="1" i="0">
                <a:solidFill>
                  <a:srgbClr val="212121"/>
                </a:solidFill>
              </a:rPr>
              <a:t>התוצאה נכנסת להקשר, והמודל עונה</a:t>
            </a:r>
          </a:p>
        </p:txBody>
      </p:sp>
      <p:sp>
        <p:nvSpPr>
          <p:cNvPr id="45" name="Seq num 11"/>
          <p:cNvSpPr/>
          <p:nvPr/>
        </p:nvSpPr>
        <p:spPr>
          <a:xfrm>
            <a:off x="8712000" y="4237200"/>
            <a:ext cx="252000" cy="252000"/>
          </a:xfrm>
          <a:prstGeom prst="ellipse">
            <a:avLst/>
          </a:prstGeom>
          <a:solidFill>
            <a:srgbClr val="F9A825"/>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200" b="1" i="0">
                <a:solidFill>
                  <a:srgbClr val="FFFFFF"/>
                </a:solidFill>
              </a:rPr>
              <a:t>11</a:t>
            </a:r>
          </a:p>
        </p:txBody>
      </p:sp>
      <p:cxnSp>
        <p:nvCxnSpPr>
          <p:cNvPr id="46" name="MCP Line 46"/>
          <p:cNvCxnSpPr/>
          <p:nvPr/>
        </p:nvCxnSpPr>
        <p:spPr>
          <a:xfrm>
            <a:off x="1224000" y="3924000"/>
            <a:ext cx="1440000" cy="0"/>
          </a:xfrm>
          <a:prstGeom prst="line">
            <a:avLst/>
          </a:prstGeom>
          <a:ln w="12700">
            <a:solidFill>
              <a:srgbClr val="F9A825"/>
            </a:solidFill>
            <a:prstDash val="dash"/>
            <a:tailEnd type="triangle"/>
          </a:ln>
        </p:spPr>
      </p:cxnSp>
      <p:sp>
        <p:nvSpPr>
          <p:cNvPr id="47" name="Footnote"/>
          <p:cNvSpPr txBox="1"/>
          <p:nvPr/>
        </p:nvSpPr>
        <p:spPr>
          <a:xfrm>
            <a:off x="180000" y="4662000"/>
            <a:ext cx="7776000" cy="396000"/>
          </a:xfrm>
          <a:prstGeom prst="rect">
            <a:avLst/>
          </a:prstGeom>
          <a:noFill/>
          <a:ln>
            <a:noFill/>
          </a:ln>
        </p:spPr>
        <p:txBody>
          <a:bodyPr wrap="square" lIns="36000" tIns="36000" rIns="36000" bIns="36000" rtlCol="0" anchor="ctr">
            <a:noAutofit/>
          </a:bodyPr>
          <a:lstStyle/>
          <a:p>
            <a:pPr marL="0" indent="0" algn="r" rtl="1">
              <a:lnSpc>
                <a:spcPct val="105000"/>
              </a:lnSpc>
              <a:spcBef>
                <a:spcPts val="0"/>
              </a:spcBef>
              <a:spcAft>
                <a:spcPts val="0"/>
              </a:spcAft>
              <a:buNone/>
            </a:pPr>
            <a:r>
              <a:rPr lang="he-IL" sz="1300" b="0" i="0">
                <a:solidFill>
                  <a:srgbClr val="595959"/>
                </a:solidFill>
              </a:rPr>
              <a:t>אפור: חיבור · כחול: גילוי כלים · כתום: שימוש. המודל לא פונה למסד: ה־host מבצע את הקריאה בשמו. בגרסה 2026‎-‎07‎-‎28 אין שלבים 1 עד 3: כל בקשה נושאת גרסה ויכולות.</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MCP: דוגמת הודעות SQL</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Code head"/>
          <p:cNvSpPr txBox="1"/>
          <p:nvPr/>
        </p:nvSpPr>
        <p:spPr>
          <a:xfrm>
            <a:off x="4680000" y="1278000"/>
            <a:ext cx="4176000" cy="288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4285F4"/>
                </a:solidFill>
              </a:rPr>
              <a:t>בקשה מהלקוח: קריאה לכלי</a:t>
            </a:r>
          </a:p>
        </p:txBody>
      </p:sp>
      <p:sp>
        <p:nvSpPr>
          <p:cNvPr id="6" name="MCP Shape 6"/>
          <p:cNvSpPr/>
          <p:nvPr/>
        </p:nvSpPr>
        <p:spPr>
          <a:xfrm>
            <a:off x="4680000" y="1548000"/>
            <a:ext cx="4176000" cy="1512000"/>
          </a:xfrm>
          <a:prstGeom prst="roundRect">
            <a:avLst>
              <a:gd name="adj" fmla="val 6000"/>
            </a:avLst>
          </a:prstGeom>
          <a:solidFill>
            <a:srgbClr val="1E1E1E"/>
          </a:solidFill>
          <a:ln>
            <a:noFill/>
          </a:ln>
        </p:spPr>
        <p:txBody>
          <a:bodyPr wrap="square" lIns="90000" tIns="90000" rIns="90000" bIns="90000" rtlCol="0" anchor="t">
            <a:noAutofit/>
          </a:bodyPr>
          <a:lstStyle/>
          <a:p>
            <a:pPr marL="0" indent="0" algn="l" rtl="0">
              <a:lnSpc>
                <a:spcPct val="100000"/>
              </a:lnSpc>
              <a:spcBef>
                <a:spcPts val="0"/>
              </a:spcBef>
              <a:spcAft>
                <a:spcPts val="0"/>
              </a:spcAft>
              <a:buNone/>
            </a:pPr>
            <a:r>
              <a:rPr lang="en-US" sz="1200" b="0" i="0">
                <a:solidFill>
                  <a:srgbClr val="EEEEEE"/>
                </a:solidFill>
                <a:latin typeface="Courier New"/>
                <a:cs typeface="Courier New"/>
              </a:rPr>
              <a:t>{"jsonrpc": "2.0", "id": 3,</a:t>
            </a:r>
          </a:p>
          <a:p>
            <a:pPr marL="0" indent="0" algn="l" rtl="0">
              <a:lnSpc>
                <a:spcPct val="100000"/>
              </a:lnSpc>
              <a:spcBef>
                <a:spcPts val="0"/>
              </a:spcBef>
              <a:spcAft>
                <a:spcPts val="0"/>
              </a:spcAft>
              <a:buNone/>
            </a:pPr>
            <a:r>
              <a:rPr lang="en-US" sz="1200" b="0" i="0">
                <a:solidFill>
                  <a:srgbClr val="EEEEEE"/>
                </a:solidFill>
                <a:latin typeface="Courier New"/>
                <a:cs typeface="Courier New"/>
              </a:rPr>
              <a:t> "method": </a:t>
            </a:r>
            <a:r>
              <a:rPr lang="en-US" sz="1200" b="0" i="0">
                <a:solidFill>
                  <a:srgbClr val="7CFC8A"/>
                </a:solidFill>
                <a:latin typeface="Courier New"/>
                <a:cs typeface="Courier New"/>
              </a:rPr>
              <a:t>"tools/call"</a:t>
            </a:r>
            <a:r>
              <a:rPr lang="en-US" sz="1200" b="0" i="0">
                <a:solidFill>
                  <a:srgbClr val="EEEEEE"/>
                </a:solidFill>
                <a:latin typeface="Courier New"/>
                <a:cs typeface="Courier New"/>
              </a:rPr>
              <a:t>,</a:t>
            </a:r>
          </a:p>
          <a:p>
            <a:pPr marL="0" indent="0" algn="l" rtl="0">
              <a:lnSpc>
                <a:spcPct val="100000"/>
              </a:lnSpc>
              <a:spcBef>
                <a:spcPts val="0"/>
              </a:spcBef>
              <a:spcAft>
                <a:spcPts val="0"/>
              </a:spcAft>
              <a:buNone/>
            </a:pPr>
            <a:r>
              <a:rPr lang="en-US" sz="1200" b="0" i="0">
                <a:solidFill>
                  <a:srgbClr val="EEEEEE"/>
                </a:solidFill>
                <a:latin typeface="Courier New"/>
                <a:cs typeface="Courier New"/>
              </a:rPr>
              <a:t> "params": {"name": </a:t>
            </a:r>
            <a:r>
              <a:rPr lang="en-US" sz="1200" b="0" i="0">
                <a:solidFill>
                  <a:srgbClr val="7CFC8A"/>
                </a:solidFill>
                <a:latin typeface="Courier New"/>
                <a:cs typeface="Courier New"/>
              </a:rPr>
              <a:t>"query"</a:t>
            </a:r>
            <a:r>
              <a:rPr lang="en-US" sz="1200" b="0" i="0">
                <a:solidFill>
                  <a:srgbClr val="EEEEEE"/>
                </a:solidFill>
                <a:latin typeface="Courier New"/>
                <a:cs typeface="Courier New"/>
              </a:rPr>
              <a:t>,</a:t>
            </a:r>
          </a:p>
          <a:p>
            <a:pPr marL="0" indent="0" algn="l" rtl="0">
              <a:lnSpc>
                <a:spcPct val="100000"/>
              </a:lnSpc>
              <a:spcBef>
                <a:spcPts val="0"/>
              </a:spcBef>
              <a:spcAft>
                <a:spcPts val="0"/>
              </a:spcAft>
              <a:buNone/>
            </a:pPr>
            <a:r>
              <a:rPr lang="en-US" sz="1200" b="0" i="0">
                <a:solidFill>
                  <a:srgbClr val="EEEEEE"/>
                </a:solidFill>
                <a:latin typeface="Courier New"/>
                <a:cs typeface="Courier New"/>
              </a:rPr>
              <a:t>  "arguments": {"sql": </a:t>
            </a:r>
            <a:r>
              <a:rPr lang="en-US" sz="1200" b="0" i="0">
                <a:solidFill>
                  <a:srgbClr val="7CFC8A"/>
                </a:solidFill>
                <a:latin typeface="Courier New"/>
                <a:cs typeface="Courier New"/>
              </a:rPr>
              <a:t>"SELECT</a:t>
            </a:r>
          </a:p>
          <a:p>
            <a:pPr marL="0" indent="0" algn="l" rtl="0">
              <a:lnSpc>
                <a:spcPct val="100000"/>
              </a:lnSpc>
              <a:spcBef>
                <a:spcPts val="0"/>
              </a:spcBef>
              <a:spcAft>
                <a:spcPts val="0"/>
              </a:spcAft>
              <a:buNone/>
            </a:pPr>
            <a:r>
              <a:rPr lang="en-US" sz="1200" b="0" i="0">
                <a:solidFill>
                  <a:srgbClr val="7CFC8A"/>
                </a:solidFill>
                <a:latin typeface="Courier New"/>
                <a:cs typeface="Courier New"/>
              </a:rPr>
              <a:t>   product_name, SUM(quantity *</a:t>
            </a:r>
          </a:p>
          <a:p>
            <a:pPr marL="0" indent="0" algn="l" rtl="0">
              <a:lnSpc>
                <a:spcPct val="100000"/>
              </a:lnSpc>
              <a:spcBef>
                <a:spcPts val="0"/>
              </a:spcBef>
              <a:spcAft>
                <a:spcPts val="0"/>
              </a:spcAft>
              <a:buNone/>
            </a:pPr>
            <a:r>
              <a:rPr lang="en-US" sz="1200" b="0" i="0">
                <a:solidFill>
                  <a:srgbClr val="7CFC8A"/>
                </a:solidFill>
                <a:latin typeface="Courier New"/>
                <a:cs typeface="Courier New"/>
              </a:rPr>
              <a:t>   unit_price) AS revenue FROM</a:t>
            </a:r>
          </a:p>
          <a:p>
            <a:pPr marL="0" indent="0" algn="l" rtl="0">
              <a:lnSpc>
                <a:spcPct val="100000"/>
              </a:lnSpc>
              <a:spcBef>
                <a:spcPts val="0"/>
              </a:spcBef>
              <a:spcAft>
                <a:spcPts val="0"/>
              </a:spcAft>
              <a:buNone/>
            </a:pPr>
            <a:r>
              <a:rPr lang="en-US" sz="1200" b="0" i="0">
                <a:solidFill>
                  <a:srgbClr val="7CFC8A"/>
                </a:solidFill>
                <a:latin typeface="Courier New"/>
                <a:cs typeface="Courier New"/>
              </a:rPr>
              <a:t>   orders GROUP BY 1 ORDER BY 2 DESC"}}}</a:t>
            </a:r>
          </a:p>
        </p:txBody>
      </p:sp>
      <p:sp>
        <p:nvSpPr>
          <p:cNvPr id="7" name="Code head"/>
          <p:cNvSpPr txBox="1"/>
          <p:nvPr/>
        </p:nvSpPr>
        <p:spPr>
          <a:xfrm>
            <a:off x="288000" y="1278000"/>
            <a:ext cx="4176000" cy="288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34A853"/>
                </a:solidFill>
              </a:rPr>
              <a:t>תשובה מהשרת: הצלחה</a:t>
            </a:r>
          </a:p>
        </p:txBody>
      </p:sp>
      <p:sp>
        <p:nvSpPr>
          <p:cNvPr id="8" name="MCP Shape 8"/>
          <p:cNvSpPr/>
          <p:nvPr/>
        </p:nvSpPr>
        <p:spPr>
          <a:xfrm>
            <a:off x="288000" y="1548000"/>
            <a:ext cx="4176000" cy="1512000"/>
          </a:xfrm>
          <a:prstGeom prst="roundRect">
            <a:avLst>
              <a:gd name="adj" fmla="val 6000"/>
            </a:avLst>
          </a:prstGeom>
          <a:solidFill>
            <a:srgbClr val="1E1E1E"/>
          </a:solidFill>
          <a:ln>
            <a:noFill/>
          </a:ln>
        </p:spPr>
        <p:txBody>
          <a:bodyPr wrap="square" lIns="90000" tIns="90000" rIns="90000" bIns="90000" rtlCol="0" anchor="t">
            <a:noAutofit/>
          </a:bodyPr>
          <a:lstStyle/>
          <a:p>
            <a:pPr marL="0" indent="0" algn="l" rtl="0">
              <a:lnSpc>
                <a:spcPct val="100000"/>
              </a:lnSpc>
              <a:spcBef>
                <a:spcPts val="0"/>
              </a:spcBef>
              <a:spcAft>
                <a:spcPts val="0"/>
              </a:spcAft>
              <a:buNone/>
            </a:pPr>
            <a:r>
              <a:rPr lang="en-US" sz="1200" b="0" i="0">
                <a:solidFill>
                  <a:srgbClr val="EEEEEE"/>
                </a:solidFill>
                <a:latin typeface="Courier New"/>
                <a:cs typeface="Courier New"/>
              </a:rPr>
              <a:t>{"jsonrpc": "2.0", "id": 3,</a:t>
            </a:r>
          </a:p>
          <a:p>
            <a:pPr marL="0" indent="0" algn="l" rtl="0">
              <a:lnSpc>
                <a:spcPct val="100000"/>
              </a:lnSpc>
              <a:spcBef>
                <a:spcPts val="0"/>
              </a:spcBef>
              <a:spcAft>
                <a:spcPts val="0"/>
              </a:spcAft>
              <a:buNone/>
            </a:pPr>
            <a:r>
              <a:rPr lang="en-US" sz="1200" b="0" i="0">
                <a:solidFill>
                  <a:srgbClr val="EEEEEE"/>
                </a:solidFill>
                <a:latin typeface="Courier New"/>
                <a:cs typeface="Courier New"/>
              </a:rPr>
              <a:t> "result": {"content": [{</a:t>
            </a:r>
          </a:p>
          <a:p>
            <a:pPr marL="0" indent="0" algn="l" rtl="0">
              <a:lnSpc>
                <a:spcPct val="100000"/>
              </a:lnSpc>
              <a:spcBef>
                <a:spcPts val="0"/>
              </a:spcBef>
              <a:spcAft>
                <a:spcPts val="0"/>
              </a:spcAft>
              <a:buNone/>
            </a:pPr>
            <a:r>
              <a:rPr lang="en-US" sz="1200" b="0" i="0">
                <a:solidFill>
                  <a:srgbClr val="EEEEEE"/>
                </a:solidFill>
                <a:latin typeface="Courier New"/>
                <a:cs typeface="Courier New"/>
              </a:rPr>
              <a:t>  "type": </a:t>
            </a:r>
            <a:r>
              <a:rPr lang="en-US" sz="1200" b="0" i="0">
                <a:solidFill>
                  <a:srgbClr val="7CFC8A"/>
                </a:solidFill>
                <a:latin typeface="Courier New"/>
                <a:cs typeface="Courier New"/>
              </a:rPr>
              <a:t>"text"</a:t>
            </a:r>
            <a:r>
              <a:rPr lang="en-US" sz="1200" b="0" i="0">
                <a:solidFill>
                  <a:srgbClr val="EEEEEE"/>
                </a:solidFill>
                <a:latin typeface="Courier New"/>
                <a:cs typeface="Courier New"/>
              </a:rPr>
              <a:t>, "text":</a:t>
            </a:r>
          </a:p>
          <a:p>
            <a:pPr marL="0" indent="0" algn="l" rtl="0">
              <a:lnSpc>
                <a:spcPct val="100000"/>
              </a:lnSpc>
              <a:spcBef>
                <a:spcPts val="0"/>
              </a:spcBef>
              <a:spcAft>
                <a:spcPts val="0"/>
              </a:spcAft>
              <a:buNone/>
            </a:pPr>
            <a:r>
              <a:rPr lang="en-US" sz="1200" b="0" i="0">
                <a:solidFill>
                  <a:srgbClr val="7CFC8A"/>
                </a:solidFill>
                <a:latin typeface="Courier New"/>
                <a:cs typeface="Courier New"/>
              </a:rPr>
              <a:t>  "product_name,revenue</a:t>
            </a:r>
          </a:p>
          <a:p>
            <a:pPr marL="0" indent="0" algn="l" rtl="0">
              <a:lnSpc>
                <a:spcPct val="100000"/>
              </a:lnSpc>
              <a:spcBef>
                <a:spcPts val="0"/>
              </a:spcBef>
              <a:spcAft>
                <a:spcPts val="0"/>
              </a:spcAft>
              <a:buNone/>
            </a:pPr>
            <a:r>
              <a:rPr lang="en-US" sz="1200" b="0" i="0">
                <a:solidFill>
                  <a:srgbClr val="7CFC8A"/>
                </a:solidFill>
                <a:latin typeface="Courier New"/>
                <a:cs typeface="Courier New"/>
              </a:rPr>
              <a:t>   Plant Pot Plus,33595.62</a:t>
            </a:r>
          </a:p>
          <a:p>
            <a:pPr marL="0" indent="0" algn="l" rtl="0">
              <a:lnSpc>
                <a:spcPct val="100000"/>
              </a:lnSpc>
              <a:spcBef>
                <a:spcPts val="0"/>
              </a:spcBef>
              <a:spcAft>
                <a:spcPts val="0"/>
              </a:spcAft>
              <a:buNone/>
            </a:pPr>
            <a:r>
              <a:rPr lang="en-US" sz="1200" b="0" i="0">
                <a:solidFill>
                  <a:srgbClr val="7CFC8A"/>
                </a:solidFill>
                <a:latin typeface="Courier New"/>
                <a:cs typeface="Courier New"/>
              </a:rPr>
              <a:t>   ..."}],</a:t>
            </a:r>
          </a:p>
          <a:p>
            <a:pPr marL="0" indent="0" algn="l" rtl="0">
              <a:lnSpc>
                <a:spcPct val="100000"/>
              </a:lnSpc>
              <a:spcBef>
                <a:spcPts val="0"/>
              </a:spcBef>
              <a:spcAft>
                <a:spcPts val="0"/>
              </a:spcAft>
              <a:buNone/>
            </a:pPr>
            <a:r>
              <a:rPr lang="en-US" sz="1200" b="0" i="0">
                <a:solidFill>
                  <a:srgbClr val="EEEEEE"/>
                </a:solidFill>
                <a:latin typeface="Courier New"/>
                <a:cs typeface="Courier New"/>
              </a:rPr>
              <a:t> "isError": </a:t>
            </a:r>
            <a:r>
              <a:rPr lang="en-US" sz="1200" b="0" i="0">
                <a:solidFill>
                  <a:srgbClr val="FFCA6B"/>
                </a:solidFill>
                <a:latin typeface="Courier New"/>
                <a:cs typeface="Courier New"/>
              </a:rPr>
              <a:t>false</a:t>
            </a:r>
            <a:r>
              <a:rPr lang="en-US" sz="1200" b="0" i="0">
                <a:solidFill>
                  <a:srgbClr val="EEEEEE"/>
                </a:solidFill>
                <a:latin typeface="Courier New"/>
                <a:cs typeface="Courier New"/>
              </a:rPr>
              <a:t>}}</a:t>
            </a:r>
          </a:p>
        </p:txBody>
      </p:sp>
      <p:sp>
        <p:nvSpPr>
          <p:cNvPr id="9" name="Code head"/>
          <p:cNvSpPr txBox="1"/>
          <p:nvPr/>
        </p:nvSpPr>
        <p:spPr>
          <a:xfrm>
            <a:off x="4680000" y="3114000"/>
            <a:ext cx="4176000" cy="288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EA4335"/>
                </a:solidFill>
              </a:rPr>
              <a:t>הכלי נחסם (isError: true)</a:t>
            </a:r>
          </a:p>
        </p:txBody>
      </p:sp>
      <p:sp>
        <p:nvSpPr>
          <p:cNvPr id="10" name="MCP Shape 10"/>
          <p:cNvSpPr/>
          <p:nvPr/>
        </p:nvSpPr>
        <p:spPr>
          <a:xfrm>
            <a:off x="4680000" y="3384000"/>
            <a:ext cx="4176000" cy="1152000"/>
          </a:xfrm>
          <a:prstGeom prst="roundRect">
            <a:avLst>
              <a:gd name="adj" fmla="val 6000"/>
            </a:avLst>
          </a:prstGeom>
          <a:solidFill>
            <a:srgbClr val="1E1E1E"/>
          </a:solidFill>
          <a:ln>
            <a:noFill/>
          </a:ln>
        </p:spPr>
        <p:txBody>
          <a:bodyPr wrap="square" lIns="90000" tIns="90000" rIns="90000" bIns="90000" rtlCol="0" anchor="t">
            <a:noAutofit/>
          </a:bodyPr>
          <a:lstStyle/>
          <a:p>
            <a:pPr marL="0" indent="0" algn="l" rtl="0">
              <a:lnSpc>
                <a:spcPct val="100000"/>
              </a:lnSpc>
              <a:spcBef>
                <a:spcPts val="0"/>
              </a:spcBef>
              <a:spcAft>
                <a:spcPts val="0"/>
              </a:spcAft>
              <a:buNone/>
            </a:pPr>
            <a:r>
              <a:rPr lang="en-US" sz="1200" b="0" i="0">
                <a:solidFill>
                  <a:srgbClr val="EEEEEE"/>
                </a:solidFill>
                <a:latin typeface="Courier New"/>
                <a:cs typeface="Courier New"/>
              </a:rPr>
              <a:t>{"jsonrpc": "2.0", "id": 4, "result": {</a:t>
            </a:r>
          </a:p>
          <a:p>
            <a:pPr marL="0" indent="0" algn="l" rtl="0">
              <a:lnSpc>
                <a:spcPct val="100000"/>
              </a:lnSpc>
              <a:spcBef>
                <a:spcPts val="0"/>
              </a:spcBef>
              <a:spcAft>
                <a:spcPts val="0"/>
              </a:spcAft>
              <a:buNone/>
            </a:pPr>
            <a:r>
              <a:rPr lang="en-US" sz="1200" b="0" i="0">
                <a:solidFill>
                  <a:srgbClr val="EEEEEE"/>
                </a:solidFill>
                <a:latin typeface="Courier New"/>
                <a:cs typeface="Courier New"/>
              </a:rPr>
              <a:t> "content": [{"type": </a:t>
            </a:r>
            <a:r>
              <a:rPr lang="en-US" sz="1200" b="0" i="0">
                <a:solidFill>
                  <a:srgbClr val="7CFC8A"/>
                </a:solidFill>
                <a:latin typeface="Courier New"/>
                <a:cs typeface="Courier New"/>
              </a:rPr>
              <a:t>"text"</a:t>
            </a:r>
            <a:r>
              <a:rPr lang="en-US" sz="1200" b="0" i="0">
                <a:solidFill>
                  <a:srgbClr val="EEEEEE"/>
                </a:solidFill>
                <a:latin typeface="Courier New"/>
                <a:cs typeface="Courier New"/>
              </a:rPr>
              <a:t>,</a:t>
            </a:r>
          </a:p>
          <a:p>
            <a:pPr marL="0" indent="0" algn="l" rtl="0">
              <a:lnSpc>
                <a:spcPct val="100000"/>
              </a:lnSpc>
              <a:spcBef>
                <a:spcPts val="0"/>
              </a:spcBef>
              <a:spcAft>
                <a:spcPts val="0"/>
              </a:spcAft>
              <a:buNone/>
            </a:pPr>
            <a:r>
              <a:rPr lang="en-US" sz="1200" b="0" i="0">
                <a:solidFill>
                  <a:srgbClr val="EEEEEE"/>
                </a:solidFill>
                <a:latin typeface="Courier New"/>
                <a:cs typeface="Courier New"/>
              </a:rPr>
              <a:t>  "text": </a:t>
            </a:r>
            <a:r>
              <a:rPr lang="en-US" sz="1200" b="0" i="0">
                <a:solidFill>
                  <a:srgbClr val="7CFC8A"/>
                </a:solidFill>
                <a:latin typeface="Courier New"/>
                <a:cs typeface="Courier New"/>
              </a:rPr>
              <a:t>"blocked: tables not</a:t>
            </a:r>
          </a:p>
          <a:p>
            <a:pPr marL="0" indent="0" algn="l" rtl="0">
              <a:lnSpc>
                <a:spcPct val="100000"/>
              </a:lnSpc>
              <a:spcBef>
                <a:spcPts val="0"/>
              </a:spcBef>
              <a:spcAft>
                <a:spcPts val="0"/>
              </a:spcAft>
              <a:buNone/>
            </a:pPr>
            <a:r>
              <a:rPr lang="en-US" sz="1200" b="0" i="0">
                <a:solidFill>
                  <a:srgbClr val="7CFC8A"/>
                </a:solidFill>
                <a:latin typeface="Courier New"/>
                <a:cs typeface="Courier New"/>
              </a:rPr>
              <a:t>   allowed: ['customers']"}],</a:t>
            </a:r>
          </a:p>
          <a:p>
            <a:pPr marL="0" indent="0" algn="l" rtl="0">
              <a:lnSpc>
                <a:spcPct val="100000"/>
              </a:lnSpc>
              <a:spcBef>
                <a:spcPts val="0"/>
              </a:spcBef>
              <a:spcAft>
                <a:spcPts val="0"/>
              </a:spcAft>
              <a:buNone/>
            </a:pPr>
            <a:r>
              <a:rPr lang="en-US" sz="1200" b="0" i="0">
                <a:solidFill>
                  <a:srgbClr val="EEEEEE"/>
                </a:solidFill>
                <a:latin typeface="Courier New"/>
                <a:cs typeface="Courier New"/>
              </a:rPr>
              <a:t> "isError": </a:t>
            </a:r>
            <a:r>
              <a:rPr lang="en-US" sz="1200" b="0" i="0">
                <a:solidFill>
                  <a:srgbClr val="FFCA6B"/>
                </a:solidFill>
                <a:latin typeface="Courier New"/>
                <a:cs typeface="Courier New"/>
              </a:rPr>
              <a:t>true</a:t>
            </a:r>
            <a:r>
              <a:rPr lang="en-US" sz="1200" b="0" i="0">
                <a:solidFill>
                  <a:srgbClr val="EEEEEE"/>
                </a:solidFill>
                <a:latin typeface="Courier New"/>
                <a:cs typeface="Courier New"/>
              </a:rPr>
              <a:t>}}</a:t>
            </a:r>
          </a:p>
        </p:txBody>
      </p:sp>
      <p:sp>
        <p:nvSpPr>
          <p:cNvPr id="11" name="Code head"/>
          <p:cNvSpPr txBox="1"/>
          <p:nvPr/>
        </p:nvSpPr>
        <p:spPr>
          <a:xfrm>
            <a:off x="288000" y="3114000"/>
            <a:ext cx="4176000" cy="288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EA4335"/>
                </a:solidFill>
              </a:rPr>
              <a:t>שגיאת פרוטוקול (error)</a:t>
            </a:r>
          </a:p>
        </p:txBody>
      </p:sp>
      <p:sp>
        <p:nvSpPr>
          <p:cNvPr id="12" name="MCP Shape 12"/>
          <p:cNvSpPr/>
          <p:nvPr/>
        </p:nvSpPr>
        <p:spPr>
          <a:xfrm>
            <a:off x="288000" y="3384000"/>
            <a:ext cx="4176000" cy="1152000"/>
          </a:xfrm>
          <a:prstGeom prst="roundRect">
            <a:avLst>
              <a:gd name="adj" fmla="val 6000"/>
            </a:avLst>
          </a:prstGeom>
          <a:solidFill>
            <a:srgbClr val="1E1E1E"/>
          </a:solidFill>
          <a:ln>
            <a:noFill/>
          </a:ln>
        </p:spPr>
        <p:txBody>
          <a:bodyPr wrap="square" lIns="90000" tIns="90000" rIns="90000" bIns="90000" rtlCol="0" anchor="t">
            <a:noAutofit/>
          </a:bodyPr>
          <a:lstStyle/>
          <a:p>
            <a:pPr marL="0" indent="0" algn="l" rtl="0">
              <a:lnSpc>
                <a:spcPct val="100000"/>
              </a:lnSpc>
              <a:spcBef>
                <a:spcPts val="0"/>
              </a:spcBef>
              <a:spcAft>
                <a:spcPts val="0"/>
              </a:spcAft>
              <a:buNone/>
            </a:pPr>
            <a:r>
              <a:rPr lang="en-US" sz="1200" b="0" i="0">
                <a:solidFill>
                  <a:srgbClr val="EEEEEE"/>
                </a:solidFill>
                <a:latin typeface="Courier New"/>
                <a:cs typeface="Courier New"/>
              </a:rPr>
              <a:t>{"jsonrpc": "2.0", "id": 5,</a:t>
            </a:r>
          </a:p>
          <a:p>
            <a:pPr marL="0" indent="0" algn="l" rtl="0">
              <a:lnSpc>
                <a:spcPct val="100000"/>
              </a:lnSpc>
              <a:spcBef>
                <a:spcPts val="0"/>
              </a:spcBef>
              <a:spcAft>
                <a:spcPts val="0"/>
              </a:spcAft>
              <a:buNone/>
            </a:pPr>
            <a:r>
              <a:rPr lang="en-US" sz="1200" b="0" i="0">
                <a:solidFill>
                  <a:srgbClr val="EEEEEE"/>
                </a:solidFill>
                <a:latin typeface="Courier New"/>
                <a:cs typeface="Courier New"/>
              </a:rPr>
              <a:t> "error": {"code": </a:t>
            </a:r>
            <a:r>
              <a:rPr lang="en-US" sz="1200" b="0" i="0">
                <a:solidFill>
                  <a:srgbClr val="FFCA6B"/>
                </a:solidFill>
                <a:latin typeface="Courier New"/>
                <a:cs typeface="Courier New"/>
              </a:rPr>
              <a:t>-32602</a:t>
            </a:r>
            <a:r>
              <a:rPr lang="en-US" sz="1200" b="0" i="0">
                <a:solidFill>
                  <a:srgbClr val="EEEEEE"/>
                </a:solidFill>
                <a:latin typeface="Courier New"/>
                <a:cs typeface="Courier New"/>
              </a:rPr>
              <a:t>,</a:t>
            </a:r>
          </a:p>
          <a:p>
            <a:pPr marL="0" indent="0" algn="l" rtl="0">
              <a:lnSpc>
                <a:spcPct val="100000"/>
              </a:lnSpc>
              <a:spcBef>
                <a:spcPts val="0"/>
              </a:spcBef>
              <a:spcAft>
                <a:spcPts val="0"/>
              </a:spcAft>
              <a:buNone/>
            </a:pPr>
            <a:r>
              <a:rPr lang="en-US" sz="1200" b="0" i="0">
                <a:solidFill>
                  <a:srgbClr val="EEEEEE"/>
                </a:solidFill>
                <a:latin typeface="Courier New"/>
                <a:cs typeface="Courier New"/>
              </a:rPr>
              <a:t>  "message": </a:t>
            </a:r>
            <a:r>
              <a:rPr lang="en-US" sz="1200" b="0" i="0">
                <a:solidFill>
                  <a:srgbClr val="7CFC8A"/>
                </a:solidFill>
                <a:latin typeface="Courier New"/>
                <a:cs typeface="Courier New"/>
              </a:rPr>
              <a:t>"Unknown tool: drop_all"</a:t>
            </a:r>
            <a:r>
              <a:rPr lang="en-US" sz="1200" b="0" i="0">
                <a:solidFill>
                  <a:srgbClr val="EEEEEE"/>
                </a:solidFill>
                <a:latin typeface="Courier New"/>
                <a:cs typeface="Courier New"/>
              </a:rPr>
              <a:t>}}</a:t>
            </a:r>
          </a:p>
          <a:p>
            <a:pPr marL="0" indent="0" algn="l" rtl="0">
              <a:lnSpc>
                <a:spcPct val="100000"/>
              </a:lnSpc>
              <a:spcBef>
                <a:spcPts val="0"/>
              </a:spcBef>
              <a:spcAft>
                <a:spcPts val="0"/>
              </a:spcAft>
              <a:buNone/>
            </a:pPr>
            <a:endParaRPr lang="en-US" sz="1200" b="0" i="0">
              <a:solidFill>
                <a:srgbClr val="EEEEEE"/>
              </a:solidFill>
              <a:latin typeface="Courier New"/>
              <a:cs typeface="Courier New"/>
            </a:endParaRPr>
          </a:p>
          <a:p>
            <a:pPr marL="0" indent="0" algn="l" rtl="0">
              <a:lnSpc>
                <a:spcPct val="100000"/>
              </a:lnSpc>
              <a:spcBef>
                <a:spcPts val="0"/>
              </a:spcBef>
              <a:spcAft>
                <a:spcPts val="0"/>
              </a:spcAft>
              <a:buNone/>
            </a:pPr>
            <a:r>
              <a:rPr lang="en-US" sz="1200" b="0" i="0">
                <a:solidFill>
                  <a:srgbClr val="9E9E9E"/>
                </a:solidFill>
                <a:latin typeface="Courier New"/>
                <a:cs typeface="Courier New"/>
              </a:rPr>
              <a:t>// no "result": no tool ran</a:t>
            </a:r>
          </a:p>
        </p:txBody>
      </p:sp>
      <p:sp>
        <p:nvSpPr>
          <p:cNvPr id="13" name="Footnote"/>
          <p:cNvSpPr txBox="1"/>
          <p:nvPr/>
        </p:nvSpPr>
        <p:spPr>
          <a:xfrm>
            <a:off x="288000" y="4590000"/>
            <a:ext cx="8568000" cy="468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300" b="0" i="0">
                <a:solidFill>
                  <a:srgbClr val="595959"/>
                </a:solidFill>
              </a:rPr>
              <a:t>isError: הכלי נכשל, והמודל קורא את ההסבר וממשיך. error: הבקשה עצמה פסולה. הצורה כמו במחברת HM_05 (העשרה); במפרט 2026‎-‎07‎-‎28 נוספים resultType ו־_meta.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שאלה בעברית אל מסד נתונים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MCP Shape 5"/>
          <p:cNvSpPr/>
          <p:nvPr/>
        </p:nvSpPr>
        <p:spPr>
          <a:xfrm>
            <a:off x="288000" y="1332000"/>
            <a:ext cx="8568000" cy="540000"/>
          </a:xfrm>
          <a:prstGeom prst="roundRect">
            <a:avLst>
              <a:gd name="adj" fmla="val 20000"/>
            </a:avLst>
          </a:prstGeom>
          <a:solidFill>
            <a:srgbClr val="E3EEFF"/>
          </a:solidFill>
          <a:ln w="19050">
            <a:solidFill>
              <a:srgbClr val="4285F4"/>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700" b="1" i="0">
                <a:solidFill>
                  <a:srgbClr val="212121"/>
                </a:solidFill>
              </a:rPr>
              <a:t>👤 מנהל, בלי לדעת SQL: ״אילו 5 מוצרים הכניסו הכי הרבה ברבעון 3, ומי הספק שלהם?״</a:t>
            </a:r>
          </a:p>
        </p:txBody>
      </p:sp>
      <p:sp>
        <p:nvSpPr>
          <p:cNvPr id="6" name="MCP Shape 6"/>
          <p:cNvSpPr/>
          <p:nvPr/>
        </p:nvSpPr>
        <p:spPr>
          <a:xfrm>
            <a:off x="6858000" y="2124000"/>
            <a:ext cx="2016000" cy="1296000"/>
          </a:xfrm>
          <a:prstGeom prst="roundRect">
            <a:avLst>
              <a:gd name="adj" fmla="val 8000"/>
            </a:avLst>
          </a:prstGeom>
          <a:solidFill>
            <a:srgbClr val="DDF2F5"/>
          </a:solidFill>
          <a:ln w="19050">
            <a:solidFill>
              <a:srgbClr val="0097A7"/>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500" b="1" i="0">
                <a:solidFill>
                  <a:srgbClr val="212121"/>
                </a:solidFill>
                <a:latin typeface="Courier New"/>
                <a:cs typeface="Courier New"/>
              </a:rPr>
              <a:t>list_tables</a:t>
            </a:r>
          </a:p>
          <a:p>
            <a:pPr marL="0" indent="0" algn="ctr" rtl="1">
              <a:lnSpc>
                <a:spcPct val="105000"/>
              </a:lnSpc>
              <a:spcBef>
                <a:spcPts val="400"/>
              </a:spcBef>
              <a:spcAft>
                <a:spcPts val="0"/>
              </a:spcAft>
              <a:buNone/>
            </a:pPr>
            <a:r>
              <a:rPr lang="he-IL" sz="1400" b="0" i="0">
                <a:solidFill>
                  <a:srgbClr val="212121"/>
                </a:solidFill>
              </a:rPr>
              <a:t>הטבלאות הקיימות: orders, products, suppliers</a:t>
            </a:r>
          </a:p>
        </p:txBody>
      </p:sp>
      <p:sp>
        <p:nvSpPr>
          <p:cNvPr id="7" name="MCP Shape 7"/>
          <p:cNvSpPr/>
          <p:nvPr/>
        </p:nvSpPr>
        <p:spPr>
          <a:xfrm>
            <a:off x="8496000" y="1998000"/>
            <a:ext cx="324000" cy="324000"/>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1</a:t>
            </a:r>
          </a:p>
        </p:txBody>
      </p:sp>
      <p:sp>
        <p:nvSpPr>
          <p:cNvPr id="8" name="MCP Shape 8"/>
          <p:cNvSpPr/>
          <p:nvPr/>
        </p:nvSpPr>
        <p:spPr>
          <a:xfrm>
            <a:off x="4662000" y="2124000"/>
            <a:ext cx="2016000" cy="1296000"/>
          </a:xfrm>
          <a:prstGeom prst="roundRect">
            <a:avLst>
              <a:gd name="adj" fmla="val 8000"/>
            </a:avLst>
          </a:prstGeom>
          <a:solidFill>
            <a:srgbClr val="DDF2F5"/>
          </a:solidFill>
          <a:ln w="19050">
            <a:solidFill>
              <a:srgbClr val="0097A7"/>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500" b="1" i="0">
                <a:solidFill>
                  <a:srgbClr val="212121"/>
                </a:solidFill>
                <a:latin typeface="Courier New"/>
                <a:cs typeface="Courier New"/>
              </a:rPr>
              <a:t>describe_table</a:t>
            </a:r>
          </a:p>
          <a:p>
            <a:pPr marL="0" indent="0" algn="ctr" rtl="1">
              <a:lnSpc>
                <a:spcPct val="105000"/>
              </a:lnSpc>
              <a:spcBef>
                <a:spcPts val="400"/>
              </a:spcBef>
              <a:spcAft>
                <a:spcPts val="0"/>
              </a:spcAft>
              <a:buNone/>
            </a:pPr>
            <a:r>
              <a:rPr lang="he-IL" sz="1400" b="0" i="0">
                <a:solidFill>
                  <a:srgbClr val="212121"/>
                </a:solidFill>
              </a:rPr>
              <a:t>העמודות של כל טבלה: product_id, quantity, unit_price</a:t>
            </a:r>
          </a:p>
        </p:txBody>
      </p:sp>
      <p:sp>
        <p:nvSpPr>
          <p:cNvPr id="9" name="MCP Shape 9"/>
          <p:cNvSpPr/>
          <p:nvPr/>
        </p:nvSpPr>
        <p:spPr>
          <a:xfrm>
            <a:off x="6300000" y="1998000"/>
            <a:ext cx="324000" cy="324000"/>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2</a:t>
            </a:r>
          </a:p>
        </p:txBody>
      </p:sp>
      <p:sp>
        <p:nvSpPr>
          <p:cNvPr id="10" name="MCP Shape 10"/>
          <p:cNvSpPr/>
          <p:nvPr/>
        </p:nvSpPr>
        <p:spPr>
          <a:xfrm>
            <a:off x="2466000" y="2124000"/>
            <a:ext cx="2016000" cy="1296000"/>
          </a:xfrm>
          <a:prstGeom prst="roundRect">
            <a:avLst>
              <a:gd name="adj" fmla="val 8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500" b="1" i="0">
                <a:solidFill>
                  <a:srgbClr val="212121"/>
                </a:solidFill>
                <a:latin typeface="Courier New"/>
                <a:cs typeface="Courier New"/>
              </a:rPr>
              <a:t>query</a:t>
            </a:r>
          </a:p>
          <a:p>
            <a:pPr marL="0" indent="0" algn="ctr" rtl="1">
              <a:lnSpc>
                <a:spcPct val="105000"/>
              </a:lnSpc>
              <a:spcBef>
                <a:spcPts val="400"/>
              </a:spcBef>
              <a:spcAft>
                <a:spcPts val="0"/>
              </a:spcAft>
              <a:buNone/>
            </a:pPr>
            <a:r>
              <a:rPr lang="he-IL" sz="1400" b="0" i="0">
                <a:solidFill>
                  <a:srgbClr val="212121"/>
                </a:solidFill>
              </a:rPr>
              <a:t>המודל כותב SELECT עם JOIN, והשרת מריץ</a:t>
            </a:r>
          </a:p>
        </p:txBody>
      </p:sp>
      <p:sp>
        <p:nvSpPr>
          <p:cNvPr id="11" name="MCP Shape 11"/>
          <p:cNvSpPr/>
          <p:nvPr/>
        </p:nvSpPr>
        <p:spPr>
          <a:xfrm>
            <a:off x="4104000" y="1998000"/>
            <a:ext cx="324000" cy="324000"/>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3</a:t>
            </a:r>
          </a:p>
        </p:txBody>
      </p:sp>
      <p:sp>
        <p:nvSpPr>
          <p:cNvPr id="12" name="MCP Shape 12"/>
          <p:cNvSpPr/>
          <p:nvPr/>
        </p:nvSpPr>
        <p:spPr>
          <a:xfrm>
            <a:off x="270000" y="2124000"/>
            <a:ext cx="2016000" cy="1296000"/>
          </a:xfrm>
          <a:prstGeom prst="roundRect">
            <a:avLst>
              <a:gd name="adj" fmla="val 8000"/>
            </a:avLst>
          </a:prstGeom>
          <a:solidFill>
            <a:srgbClr val="E1F4E6"/>
          </a:solidFill>
          <a:ln w="19050">
            <a:solidFill>
              <a:srgbClr val="34A853"/>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600" b="1" i="0">
                <a:solidFill>
                  <a:srgbClr val="212121"/>
                </a:solidFill>
              </a:rPr>
              <a:t>תשובה</a:t>
            </a:r>
          </a:p>
          <a:p>
            <a:pPr marL="0" indent="0" algn="ctr" rtl="1">
              <a:lnSpc>
                <a:spcPct val="105000"/>
              </a:lnSpc>
              <a:spcBef>
                <a:spcPts val="400"/>
              </a:spcBef>
              <a:spcAft>
                <a:spcPts val="0"/>
              </a:spcAft>
              <a:buNone/>
            </a:pPr>
            <a:r>
              <a:rPr lang="he-IL" sz="1400" b="0" i="0">
                <a:solidFill>
                  <a:srgbClr val="212121"/>
                </a:solidFill>
              </a:rPr>
              <a:t>טבלה ← המודל מסכם בעברית ומציג את ה־SQL</a:t>
            </a:r>
          </a:p>
        </p:txBody>
      </p:sp>
      <p:sp>
        <p:nvSpPr>
          <p:cNvPr id="13" name="MCP Shape 13"/>
          <p:cNvSpPr/>
          <p:nvPr/>
        </p:nvSpPr>
        <p:spPr>
          <a:xfrm>
            <a:off x="1908000" y="1998000"/>
            <a:ext cx="324000" cy="324000"/>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4</a:t>
            </a:r>
          </a:p>
        </p:txBody>
      </p:sp>
      <p:cxnSp>
        <p:nvCxnSpPr>
          <p:cNvPr id="14" name="MCP Line 14"/>
          <p:cNvCxnSpPr/>
          <p:nvPr/>
        </p:nvCxnSpPr>
        <p:spPr>
          <a:xfrm flipH="1">
            <a:off x="6696000" y="2772000"/>
            <a:ext cx="144000" cy="0"/>
          </a:xfrm>
          <a:prstGeom prst="line">
            <a:avLst/>
          </a:prstGeom>
          <a:ln w="38100">
            <a:solidFill>
              <a:srgbClr val="595959"/>
            </a:solidFill>
            <a:tailEnd type="triangle"/>
          </a:ln>
        </p:spPr>
      </p:cxnSp>
      <p:cxnSp>
        <p:nvCxnSpPr>
          <p:cNvPr id="15" name="MCP Line 15"/>
          <p:cNvCxnSpPr/>
          <p:nvPr/>
        </p:nvCxnSpPr>
        <p:spPr>
          <a:xfrm flipH="1">
            <a:off x="4500000" y="2772000"/>
            <a:ext cx="144000" cy="0"/>
          </a:xfrm>
          <a:prstGeom prst="line">
            <a:avLst/>
          </a:prstGeom>
          <a:ln w="38100">
            <a:solidFill>
              <a:srgbClr val="595959"/>
            </a:solidFill>
            <a:tailEnd type="triangle"/>
          </a:ln>
        </p:spPr>
      </p:cxnSp>
      <p:cxnSp>
        <p:nvCxnSpPr>
          <p:cNvPr id="16" name="MCP Line 16"/>
          <p:cNvCxnSpPr/>
          <p:nvPr/>
        </p:nvCxnSpPr>
        <p:spPr>
          <a:xfrm flipH="1">
            <a:off x="2304000" y="2772000"/>
            <a:ext cx="144000" cy="0"/>
          </a:xfrm>
          <a:prstGeom prst="line">
            <a:avLst/>
          </a:prstGeom>
          <a:ln w="38100">
            <a:solidFill>
              <a:srgbClr val="595959"/>
            </a:solidFill>
            <a:tailEnd type="triangle"/>
          </a:ln>
        </p:spPr>
      </p:cxnSp>
      <p:sp>
        <p:nvSpPr>
          <p:cNvPr id="17" name="Adv caption"/>
          <p:cNvSpPr txBox="1"/>
          <p:nvPr/>
        </p:nvSpPr>
        <p:spPr>
          <a:xfrm>
            <a:off x="360000" y="3510000"/>
            <a:ext cx="8424000" cy="216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595959"/>
                </a:solidFill>
              </a:rPr>
              <a:t>מה זה נותן:</a:t>
            </a:r>
          </a:p>
        </p:txBody>
      </p:sp>
      <p:sp>
        <p:nvSpPr>
          <p:cNvPr id="18" name="MCP Shape 18"/>
          <p:cNvSpPr/>
          <p:nvPr/>
        </p:nvSpPr>
        <p:spPr>
          <a:xfrm>
            <a:off x="6804000" y="3744000"/>
            <a:ext cx="2016000" cy="540000"/>
          </a:xfrm>
          <a:prstGeom prst="roundRect">
            <a:avLst>
              <a:gd name="adj" fmla="val 15000"/>
            </a:avLst>
          </a:prstGeom>
          <a:solidFill>
            <a:srgbClr val="E1F4E6"/>
          </a:solidFill>
          <a:ln w="19050">
            <a:solidFill>
              <a:srgbClr val="34A853"/>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212121"/>
                </a:solidFill>
              </a:rPr>
              <a:t>הנתונים חיים, בלי הדבקה לצ׳אט</a:t>
            </a:r>
          </a:p>
        </p:txBody>
      </p:sp>
      <p:sp>
        <p:nvSpPr>
          <p:cNvPr id="19" name="MCP Shape 19"/>
          <p:cNvSpPr/>
          <p:nvPr/>
        </p:nvSpPr>
        <p:spPr>
          <a:xfrm>
            <a:off x="4644000" y="3744000"/>
            <a:ext cx="2016000" cy="540000"/>
          </a:xfrm>
          <a:prstGeom prst="roundRect">
            <a:avLst>
              <a:gd name="adj" fmla="val 15000"/>
            </a:avLst>
          </a:prstGeom>
          <a:solidFill>
            <a:srgbClr val="E1F4E6"/>
          </a:solidFill>
          <a:ln w="19050">
            <a:solidFill>
              <a:srgbClr val="34A853"/>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212121"/>
                </a:solidFill>
              </a:rPr>
              <a:t>הסוכן מגלה לבד אילו טבלאות יש</a:t>
            </a:r>
          </a:p>
        </p:txBody>
      </p:sp>
      <p:sp>
        <p:nvSpPr>
          <p:cNvPr id="20" name="MCP Shape 20"/>
          <p:cNvSpPr/>
          <p:nvPr/>
        </p:nvSpPr>
        <p:spPr>
          <a:xfrm>
            <a:off x="2484000" y="3744000"/>
            <a:ext cx="2016000" cy="540000"/>
          </a:xfrm>
          <a:prstGeom prst="roundRect">
            <a:avLst>
              <a:gd name="adj" fmla="val 15000"/>
            </a:avLst>
          </a:prstGeom>
          <a:solidFill>
            <a:srgbClr val="E1F4E6"/>
          </a:solidFill>
          <a:ln w="19050">
            <a:solidFill>
              <a:srgbClr val="34A853"/>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212121"/>
                </a:solidFill>
              </a:rPr>
              <a:t>חיבור סטנדרטי אחד לכל כלי</a:t>
            </a:r>
          </a:p>
        </p:txBody>
      </p:sp>
      <p:sp>
        <p:nvSpPr>
          <p:cNvPr id="21" name="MCP Shape 21"/>
          <p:cNvSpPr/>
          <p:nvPr/>
        </p:nvSpPr>
        <p:spPr>
          <a:xfrm>
            <a:off x="324000" y="3744000"/>
            <a:ext cx="2016000" cy="540000"/>
          </a:xfrm>
          <a:prstGeom prst="roundRect">
            <a:avLst>
              <a:gd name="adj" fmla="val 15000"/>
            </a:avLst>
          </a:prstGeom>
          <a:solidFill>
            <a:srgbClr val="E1F4E6"/>
          </a:solidFill>
          <a:ln w="19050">
            <a:solidFill>
              <a:srgbClr val="34A853"/>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212121"/>
                </a:solidFill>
              </a:rPr>
              <a:t>ה־DB, השרת והסוכן נפרדים</a:t>
            </a:r>
          </a:p>
        </p:txBody>
      </p:sp>
      <p:sp>
        <p:nvSpPr>
          <p:cNvPr id="22" name="Footnote"/>
          <p:cNvSpPr txBox="1"/>
          <p:nvPr/>
        </p:nvSpPr>
        <p:spPr>
          <a:xfrm>
            <a:off x="360000" y="4428000"/>
            <a:ext cx="8424000" cy="612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0" i="0">
                <a:solidFill>
                  <a:srgbClr val="595959"/>
                </a:solidFill>
              </a:rPr>
              <a:t>הדגמה על המקרן או בפרויקט: לא רץ ב־Colab. המחברת HM_05 (העשרה) מדמה את אותו מנגנון בקוד. הטבלאות products ו־suppliers להמחשה בלבד.</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מה יכול להשתבש עם SQL</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Code caption"/>
          <p:cNvSpPr txBox="1"/>
          <p:nvPr/>
        </p:nvSpPr>
        <p:spPr>
          <a:xfrm>
            <a:off x="4608000" y="1278000"/>
            <a:ext cx="4248000" cy="288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595959"/>
                </a:solidFill>
              </a:rPr>
              <a:t>שאילתה אפשרית של הסוכן (להמחשה)</a:t>
            </a:r>
          </a:p>
        </p:txBody>
      </p:sp>
      <p:sp>
        <p:nvSpPr>
          <p:cNvPr id="6" name="MCP Shape 6"/>
          <p:cNvSpPr/>
          <p:nvPr/>
        </p:nvSpPr>
        <p:spPr>
          <a:xfrm>
            <a:off x="4608000" y="1548000"/>
            <a:ext cx="4248000" cy="2196000"/>
          </a:xfrm>
          <a:prstGeom prst="roundRect">
            <a:avLst>
              <a:gd name="adj" fmla="val 6000"/>
            </a:avLst>
          </a:prstGeom>
          <a:solidFill>
            <a:srgbClr val="1E1E1E"/>
          </a:solidFill>
          <a:ln>
            <a:noFill/>
          </a:ln>
        </p:spPr>
        <p:txBody>
          <a:bodyPr wrap="square" lIns="90000" tIns="90000" rIns="90000" bIns="90000" rtlCol="0" anchor="t">
            <a:noAutofit/>
          </a:bodyPr>
          <a:lstStyle/>
          <a:p>
            <a:pPr marL="0" indent="0" algn="l" rtl="0">
              <a:lnSpc>
                <a:spcPct val="100000"/>
              </a:lnSpc>
              <a:spcBef>
                <a:spcPts val="0"/>
              </a:spcBef>
              <a:spcAft>
                <a:spcPts val="0"/>
              </a:spcAft>
              <a:buNone/>
            </a:pPr>
            <a:r>
              <a:rPr lang="en-US" sz="1200" b="0" i="0">
                <a:solidFill>
                  <a:srgbClr val="EEEEEE"/>
                </a:solidFill>
                <a:latin typeface="Courier New"/>
                <a:cs typeface="Courier New"/>
              </a:rPr>
              <a:t>SELECT p.product_name, s.supplier_name,</a:t>
            </a:r>
          </a:p>
          <a:p>
            <a:pPr marL="0" indent="0" algn="l" rtl="0">
              <a:lnSpc>
                <a:spcPct val="100000"/>
              </a:lnSpc>
              <a:spcBef>
                <a:spcPts val="0"/>
              </a:spcBef>
              <a:spcAft>
                <a:spcPts val="0"/>
              </a:spcAft>
              <a:buNone/>
            </a:pPr>
            <a:r>
              <a:rPr lang="en-US" sz="1200" b="0" i="0">
                <a:solidFill>
                  <a:srgbClr val="EEEEEE"/>
                </a:solidFill>
                <a:latin typeface="Courier New"/>
                <a:cs typeface="Courier New"/>
              </a:rPr>
              <a:t>  SUM(o.quantity*o.unit_price) AS revenue</a:t>
            </a:r>
          </a:p>
          <a:p>
            <a:pPr marL="0" indent="0" algn="l" rtl="0">
              <a:lnSpc>
                <a:spcPct val="100000"/>
              </a:lnSpc>
              <a:spcBef>
                <a:spcPts val="0"/>
              </a:spcBef>
              <a:spcAft>
                <a:spcPts val="0"/>
              </a:spcAft>
              <a:buNone/>
            </a:pPr>
            <a:r>
              <a:rPr lang="en-US" sz="1200" b="0" i="0">
                <a:solidFill>
                  <a:srgbClr val="EEEEEE"/>
                </a:solidFill>
                <a:latin typeface="Courier New"/>
                <a:cs typeface="Courier New"/>
              </a:rPr>
              <a:t>FROM orders o</a:t>
            </a:r>
          </a:p>
          <a:p>
            <a:pPr marL="0" indent="0" algn="l" rtl="0">
              <a:lnSpc>
                <a:spcPct val="100000"/>
              </a:lnSpc>
              <a:spcBef>
                <a:spcPts val="0"/>
              </a:spcBef>
              <a:spcAft>
                <a:spcPts val="0"/>
              </a:spcAft>
              <a:buNone/>
            </a:pPr>
            <a:r>
              <a:rPr lang="en-US" sz="1200" b="0" i="0">
                <a:solidFill>
                  <a:srgbClr val="EEEEEE"/>
                </a:solidFill>
                <a:latin typeface="Courier New"/>
                <a:cs typeface="Courier New"/>
              </a:rPr>
              <a:t>JOIN products p USING (product_id)</a:t>
            </a:r>
          </a:p>
          <a:p>
            <a:pPr marL="0" indent="0" algn="l" rtl="0">
              <a:lnSpc>
                <a:spcPct val="100000"/>
              </a:lnSpc>
              <a:spcBef>
                <a:spcPts val="0"/>
              </a:spcBef>
              <a:spcAft>
                <a:spcPts val="0"/>
              </a:spcAft>
              <a:buNone/>
            </a:pPr>
            <a:r>
              <a:rPr lang="en-US" sz="1200" b="0" i="0">
                <a:solidFill>
                  <a:srgbClr val="EEEEEE"/>
                </a:solidFill>
                <a:latin typeface="Courier New"/>
                <a:cs typeface="Courier New"/>
              </a:rPr>
              <a:t>JOIN suppliers s USING (product_id)</a:t>
            </a:r>
          </a:p>
          <a:p>
            <a:pPr marL="0" indent="0" algn="l" rtl="0">
              <a:lnSpc>
                <a:spcPct val="100000"/>
              </a:lnSpc>
              <a:spcBef>
                <a:spcPts val="0"/>
              </a:spcBef>
              <a:spcAft>
                <a:spcPts val="0"/>
              </a:spcAft>
              <a:buNone/>
            </a:pPr>
            <a:r>
              <a:rPr lang="en-US" sz="1200" b="0" i="0">
                <a:solidFill>
                  <a:srgbClr val="EEEEEE"/>
                </a:solidFill>
                <a:latin typeface="Courier New"/>
                <a:cs typeface="Courier New"/>
              </a:rPr>
              <a:t>WHERE o.order_date &gt;= '2025-07-01'</a:t>
            </a:r>
          </a:p>
          <a:p>
            <a:pPr marL="0" indent="0" algn="l" rtl="0">
              <a:lnSpc>
                <a:spcPct val="100000"/>
              </a:lnSpc>
              <a:spcBef>
                <a:spcPts val="0"/>
              </a:spcBef>
              <a:spcAft>
                <a:spcPts val="0"/>
              </a:spcAft>
              <a:buNone/>
            </a:pPr>
            <a:r>
              <a:rPr lang="en-US" sz="1200" b="0" i="0">
                <a:solidFill>
                  <a:srgbClr val="EEEEEE"/>
                </a:solidFill>
                <a:latin typeface="Courier New"/>
                <a:cs typeface="Courier New"/>
              </a:rPr>
              <a:t>  AND o.order_date &lt;= '2025-09-30'</a:t>
            </a:r>
          </a:p>
          <a:p>
            <a:pPr marL="0" indent="0" algn="l" rtl="0">
              <a:lnSpc>
                <a:spcPct val="100000"/>
              </a:lnSpc>
              <a:spcBef>
                <a:spcPts val="0"/>
              </a:spcBef>
              <a:spcAft>
                <a:spcPts val="0"/>
              </a:spcAft>
              <a:buNone/>
            </a:pPr>
            <a:r>
              <a:rPr lang="en-US" sz="1200" b="0" i="0">
                <a:solidFill>
                  <a:srgbClr val="EEEEEE"/>
                </a:solidFill>
                <a:latin typeface="Courier New"/>
                <a:cs typeface="Courier New"/>
              </a:rPr>
              <a:t>GROUP BY 1, 2 ORDER BY 3 DESC LIMIT 5;</a:t>
            </a:r>
          </a:p>
          <a:p>
            <a:pPr marL="0" indent="0" algn="l" rtl="0">
              <a:lnSpc>
                <a:spcPct val="100000"/>
              </a:lnSpc>
              <a:spcBef>
                <a:spcPts val="0"/>
              </a:spcBef>
              <a:spcAft>
                <a:spcPts val="0"/>
              </a:spcAft>
              <a:buNone/>
            </a:pPr>
            <a:r>
              <a:rPr lang="en-US" sz="1200" b="0" i="0">
                <a:solidFill>
                  <a:srgbClr val="FFCA6B"/>
                </a:solidFill>
                <a:latin typeface="Courier New"/>
                <a:cs typeface="Courier New"/>
              </a:rPr>
              <a:t>-- 2 suppliers per product =&gt;</a:t>
            </a:r>
          </a:p>
          <a:p>
            <a:pPr marL="0" indent="0" algn="l" rtl="0">
              <a:lnSpc>
                <a:spcPct val="100000"/>
              </a:lnSpc>
              <a:spcBef>
                <a:spcPts val="0"/>
              </a:spcBef>
              <a:spcAft>
                <a:spcPts val="0"/>
              </a:spcAft>
              <a:buNone/>
            </a:pPr>
            <a:r>
              <a:rPr lang="en-US" sz="1200" b="0" i="0">
                <a:solidFill>
                  <a:srgbClr val="FFCA6B"/>
                </a:solidFill>
                <a:latin typeface="Courier New"/>
                <a:cs typeface="Courier New"/>
              </a:rPr>
              <a:t>-- every order is counted twice</a:t>
            </a:r>
          </a:p>
        </p:txBody>
      </p:sp>
      <p:sp>
        <p:nvSpPr>
          <p:cNvPr id="7" name="MCP Shape 7"/>
          <p:cNvSpPr/>
          <p:nvPr/>
        </p:nvSpPr>
        <p:spPr>
          <a:xfrm>
            <a:off x="288000" y="1332000"/>
            <a:ext cx="4176000" cy="972000"/>
          </a:xfrm>
          <a:prstGeom prst="roundRect">
            <a:avLst>
              <a:gd name="adj" fmla="val 8000"/>
            </a:avLst>
          </a:prstGeom>
          <a:solidFill>
            <a:srgbClr val="FDE3E0"/>
          </a:solidFill>
          <a:ln w="19050">
            <a:solidFill>
              <a:srgbClr val="EA4335"/>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600" b="1" i="0">
                <a:solidFill>
                  <a:srgbClr val="212121"/>
                </a:solidFill>
              </a:rPr>
              <a:t>🔁 JOIN מכפיל שורות (מפגש 7)</a:t>
            </a:r>
          </a:p>
          <a:p>
            <a:pPr marL="0" indent="0" algn="ctr" rtl="1">
              <a:lnSpc>
                <a:spcPct val="105000"/>
              </a:lnSpc>
              <a:spcBef>
                <a:spcPts val="300"/>
              </a:spcBef>
              <a:spcAft>
                <a:spcPts val="0"/>
              </a:spcAft>
              <a:buNone/>
            </a:pPr>
            <a:r>
              <a:rPr lang="he-IL" sz="1400" b="0" i="0">
                <a:solidFill>
                  <a:srgbClr val="212121"/>
                </a:solidFill>
              </a:rPr>
              <a:t>ספק כפול: כל הזמנה נספרת פעמיים.</a:t>
            </a:r>
          </a:p>
        </p:txBody>
      </p:sp>
      <p:sp>
        <p:nvSpPr>
          <p:cNvPr id="8" name="MCP Shape 8"/>
          <p:cNvSpPr/>
          <p:nvPr/>
        </p:nvSpPr>
        <p:spPr>
          <a:xfrm>
            <a:off x="288000" y="2394000"/>
            <a:ext cx="4176000" cy="972000"/>
          </a:xfrm>
          <a:prstGeom prst="roundRect">
            <a:avLst>
              <a:gd name="adj" fmla="val 8000"/>
            </a:avLst>
          </a:prstGeom>
          <a:solidFill>
            <a:srgbClr val="FDE3E0"/>
          </a:solidFill>
          <a:ln w="19050">
            <a:solidFill>
              <a:srgbClr val="EA4335"/>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600" b="1" i="0">
                <a:solidFill>
                  <a:srgbClr val="212121"/>
                </a:solidFill>
              </a:rPr>
              <a:t>🎭 תשובה סבירה אך שגויה (מפגש 2)</a:t>
            </a:r>
          </a:p>
          <a:p>
            <a:pPr marL="0" indent="0" algn="ctr" rtl="1">
              <a:lnSpc>
                <a:spcPct val="105000"/>
              </a:lnSpc>
              <a:spcBef>
                <a:spcPts val="300"/>
              </a:spcBef>
              <a:spcAft>
                <a:spcPts val="0"/>
              </a:spcAft>
              <a:buNone/>
            </a:pPr>
            <a:r>
              <a:rPr lang="he-IL" sz="1400" b="0" i="0">
                <a:solidFill>
                  <a:srgbClr val="212121"/>
                </a:solidFill>
              </a:rPr>
              <a:t>אין שגיאה ואין אזהרה.</a:t>
            </a:r>
          </a:p>
        </p:txBody>
      </p:sp>
      <p:sp>
        <p:nvSpPr>
          <p:cNvPr id="9" name="MCP Shape 9"/>
          <p:cNvSpPr/>
          <p:nvPr/>
        </p:nvSpPr>
        <p:spPr>
          <a:xfrm>
            <a:off x="288000" y="3456000"/>
            <a:ext cx="4176000" cy="972000"/>
          </a:xfrm>
          <a:prstGeom prst="roundRect">
            <a:avLst>
              <a:gd name="adj" fmla="val 8000"/>
            </a:avLst>
          </a:prstGeom>
          <a:solidFill>
            <a:srgbClr val="E1F4E6"/>
          </a:solidFill>
          <a:ln w="19050">
            <a:solidFill>
              <a:srgbClr val="34A853"/>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600" b="1" i="0">
                <a:solidFill>
                  <a:srgbClr val="212121"/>
                </a:solidFill>
              </a:rPr>
              <a:t>✅ בודקים מול ידוע (מפגש 5)</a:t>
            </a:r>
          </a:p>
          <a:p>
            <a:pPr marL="0" indent="0" algn="ctr" rtl="1">
              <a:lnSpc>
                <a:spcPct val="105000"/>
              </a:lnSpc>
              <a:spcBef>
                <a:spcPts val="300"/>
              </a:spcBef>
              <a:spcAft>
                <a:spcPts val="0"/>
              </a:spcAft>
              <a:buNone/>
            </a:pPr>
            <a:r>
              <a:rPr lang="he-IL" sz="1400" b="0" i="0">
                <a:solidFill>
                  <a:srgbClr val="212121"/>
                </a:solidFill>
              </a:rPr>
              <a:t>validate_top5, ספירת שורות, הצגת ה־SQL.</a:t>
            </a:r>
          </a:p>
        </p:txBody>
      </p:sp>
      <p:sp>
        <p:nvSpPr>
          <p:cNvPr id="10" name="Footnote BIRD"/>
          <p:cNvSpPr txBox="1"/>
          <p:nvPr/>
        </p:nvSpPr>
        <p:spPr>
          <a:xfrm>
            <a:off x="4608000" y="3834000"/>
            <a:ext cx="4248000" cy="684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300" b="0" i="0">
                <a:solidFill>
                  <a:srgbClr val="595959"/>
                </a:solidFill>
              </a:rPr>
              <a:t>BIRD (NeurIPS 2023): 40.08% מול 92.96% לבני אדם. נתון היסטורי.</a:t>
            </a:r>
          </a:p>
        </p:txBody>
      </p:sp>
      <p:sp>
        <p:nvSpPr>
          <p:cNvPr id="11" name="Rule"/>
          <p:cNvSpPr txBox="1"/>
          <p:nvPr/>
        </p:nvSpPr>
        <p:spPr>
          <a:xfrm>
            <a:off x="288000" y="4590000"/>
            <a:ext cx="8568000" cy="432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600" b="1" i="0">
                <a:solidFill>
                  <a:srgbClr val="212121"/>
                </a:solidFill>
              </a:rPr>
              <a:t>הכלל: ״רץ״ אינו ״נכון״. המודל כותב את ה־SQL, וה־DB רק מריץ אותו.</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איך מגבילים: הרשאה מינימלית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MCP Shape 5"/>
          <p:cNvSpPr/>
          <p:nvPr/>
        </p:nvSpPr>
        <p:spPr>
          <a:xfrm>
            <a:off x="6804000" y="1350000"/>
            <a:ext cx="1980000" cy="1476000"/>
          </a:xfrm>
          <a:prstGeom prst="roundRect">
            <a:avLst>
              <a:gd name="adj" fmla="val 8000"/>
            </a:avLst>
          </a:prstGeom>
          <a:solidFill>
            <a:srgbClr val="E3EEFF"/>
          </a:solidFill>
          <a:ln w="19050">
            <a:solidFill>
              <a:srgbClr val="4285F4"/>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6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חשבון DB לקריאה בלבד</a:t>
            </a:r>
          </a:p>
          <a:p>
            <a:pPr marL="0" indent="0" algn="ctr" rtl="1">
              <a:lnSpc>
                <a:spcPct val="105000"/>
              </a:lnSpc>
              <a:spcBef>
                <a:spcPts val="300"/>
              </a:spcBef>
              <a:spcAft>
                <a:spcPts val="0"/>
              </a:spcAft>
              <a:buNone/>
            </a:pPr>
            <a:r>
              <a:rPr lang="he-IL" sz="1300" b="0" i="0">
                <a:solidFill>
                  <a:srgbClr val="212121"/>
                </a:solidFill>
              </a:rPr>
              <a:t>SELECT בלבד, חשבון ייעודי</a:t>
            </a:r>
          </a:p>
        </p:txBody>
      </p:sp>
      <p:sp>
        <p:nvSpPr>
          <p:cNvPr id="6" name="MCP Shape 6"/>
          <p:cNvSpPr/>
          <p:nvPr/>
        </p:nvSpPr>
        <p:spPr>
          <a:xfrm>
            <a:off x="4662000" y="1350000"/>
            <a:ext cx="1980000" cy="1476000"/>
          </a:xfrm>
          <a:prstGeom prst="roundRect">
            <a:avLst>
              <a:gd name="adj" fmla="val 8000"/>
            </a:avLst>
          </a:prstGeom>
          <a:solidFill>
            <a:srgbClr val="E3EEFF"/>
          </a:solidFill>
          <a:ln w="19050">
            <a:solidFill>
              <a:srgbClr val="4285F4"/>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6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תצוגות מסוננות</a:t>
            </a:r>
          </a:p>
          <a:p>
            <a:pPr marL="0" indent="0" algn="ctr" rtl="1">
              <a:lnSpc>
                <a:spcPct val="105000"/>
              </a:lnSpc>
              <a:spcBef>
                <a:spcPts val="300"/>
              </a:spcBef>
              <a:spcAft>
                <a:spcPts val="0"/>
              </a:spcAft>
              <a:buNone/>
            </a:pPr>
            <a:r>
              <a:rPr lang="he-IL" sz="1300" b="0" i="0">
                <a:solidFill>
                  <a:srgbClr val="212121"/>
                </a:solidFill>
              </a:rPr>
              <a:t>בלי עמודות רגישות (views)</a:t>
            </a:r>
          </a:p>
        </p:txBody>
      </p:sp>
      <p:sp>
        <p:nvSpPr>
          <p:cNvPr id="7" name="MCP Shape 7"/>
          <p:cNvSpPr/>
          <p:nvPr/>
        </p:nvSpPr>
        <p:spPr>
          <a:xfrm>
            <a:off x="2520000" y="1350000"/>
            <a:ext cx="1980000" cy="1476000"/>
          </a:xfrm>
          <a:prstGeom prst="roundRect">
            <a:avLst>
              <a:gd name="adj" fmla="val 8000"/>
            </a:avLst>
          </a:prstGeom>
          <a:solidFill>
            <a:srgbClr val="E3EEFF"/>
          </a:solidFill>
          <a:ln w="19050">
            <a:solidFill>
              <a:srgbClr val="4285F4"/>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6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רשימת כלים מותרים</a:t>
            </a:r>
          </a:p>
          <a:p>
            <a:pPr marL="0" indent="0" algn="ctr" rtl="1">
              <a:lnSpc>
                <a:spcPct val="105000"/>
              </a:lnSpc>
              <a:spcBef>
                <a:spcPts val="300"/>
              </a:spcBef>
              <a:spcAft>
                <a:spcPts val="0"/>
              </a:spcAft>
              <a:buNone/>
            </a:pPr>
            <a:r>
              <a:rPr lang="he-IL" sz="1300" b="0" i="0">
                <a:solidFill>
                  <a:srgbClr val="212121"/>
                </a:solidFill>
              </a:rPr>
              <a:t>רק מה שצריך</a:t>
            </a:r>
          </a:p>
        </p:txBody>
      </p:sp>
      <p:sp>
        <p:nvSpPr>
          <p:cNvPr id="8" name="MCP Shape 8"/>
          <p:cNvSpPr/>
          <p:nvPr/>
        </p:nvSpPr>
        <p:spPr>
          <a:xfrm>
            <a:off x="378000" y="1350000"/>
            <a:ext cx="1980000" cy="1476000"/>
          </a:xfrm>
          <a:prstGeom prst="roundRect">
            <a:avLst>
              <a:gd name="adj" fmla="val 8000"/>
            </a:avLst>
          </a:prstGeom>
          <a:solidFill>
            <a:srgbClr val="E3EEFF"/>
          </a:solidFill>
          <a:ln w="19050">
            <a:solidFill>
              <a:srgbClr val="4285F4"/>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6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מגבלת שורות וזמן</a:t>
            </a:r>
          </a:p>
          <a:p>
            <a:pPr marL="0" indent="0" algn="ctr" rtl="1">
              <a:lnSpc>
                <a:spcPct val="105000"/>
              </a:lnSpc>
              <a:spcBef>
                <a:spcPts val="300"/>
              </a:spcBef>
              <a:spcAft>
                <a:spcPts val="0"/>
              </a:spcAft>
              <a:buNone/>
            </a:pPr>
            <a:r>
              <a:rPr lang="he-IL" sz="1300" b="0" i="0">
                <a:solidFill>
                  <a:srgbClr val="212121"/>
                </a:solidFill>
              </a:rPr>
              <a:t>תקרה לתוצאה ולהרצה</a:t>
            </a:r>
          </a:p>
        </p:txBody>
      </p:sp>
      <p:sp>
        <p:nvSpPr>
          <p:cNvPr id="9" name="MCP Shape 9"/>
          <p:cNvSpPr/>
          <p:nvPr/>
        </p:nvSpPr>
        <p:spPr>
          <a:xfrm>
            <a:off x="6804000" y="2934000"/>
            <a:ext cx="1980000" cy="1476000"/>
          </a:xfrm>
          <a:prstGeom prst="roundRect">
            <a:avLst>
              <a:gd name="adj" fmla="val 8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6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אישור אנושי לכתיבה</a:t>
            </a:r>
          </a:p>
          <a:p>
            <a:pPr marL="0" indent="0" algn="ctr" rtl="1">
              <a:lnSpc>
                <a:spcPct val="105000"/>
              </a:lnSpc>
              <a:spcBef>
                <a:spcPts val="300"/>
              </a:spcBef>
              <a:spcAft>
                <a:spcPts val="0"/>
              </a:spcAft>
              <a:buNone/>
            </a:pPr>
            <a:r>
              <a:rPr lang="he-IL" sz="1300" b="0" i="0">
                <a:solidFill>
                  <a:srgbClr val="212121"/>
                </a:solidFill>
              </a:rPr>
              <a:t>רמות אוטונומיה (מפגש 6)</a:t>
            </a:r>
          </a:p>
        </p:txBody>
      </p:sp>
      <p:sp>
        <p:nvSpPr>
          <p:cNvPr id="10" name="MCP Shape 10"/>
          <p:cNvSpPr/>
          <p:nvPr/>
        </p:nvSpPr>
        <p:spPr>
          <a:xfrm>
            <a:off x="4662000" y="2934000"/>
            <a:ext cx="1980000" cy="1476000"/>
          </a:xfrm>
          <a:prstGeom prst="roundRect">
            <a:avLst>
              <a:gd name="adj" fmla="val 8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6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הרצה מבודדת</a:t>
            </a:r>
          </a:p>
          <a:p>
            <a:pPr marL="0" indent="0" algn="ctr" rtl="1">
              <a:lnSpc>
                <a:spcPct val="105000"/>
              </a:lnSpc>
              <a:spcBef>
                <a:spcPts val="300"/>
              </a:spcBef>
              <a:spcAft>
                <a:spcPts val="0"/>
              </a:spcAft>
              <a:buNone/>
            </a:pPr>
            <a:r>
              <a:rPr lang="he-IL" sz="1300" b="0" i="0">
                <a:solidFill>
                  <a:srgbClr val="212121"/>
                </a:solidFill>
              </a:rPr>
              <a:t>קונטיינר; מקומי או מרוחק</a:t>
            </a:r>
          </a:p>
        </p:txBody>
      </p:sp>
      <p:sp>
        <p:nvSpPr>
          <p:cNvPr id="11" name="MCP Shape 11"/>
          <p:cNvSpPr/>
          <p:nvPr/>
        </p:nvSpPr>
        <p:spPr>
          <a:xfrm>
            <a:off x="2520000" y="2934000"/>
            <a:ext cx="1980000" cy="1476000"/>
          </a:xfrm>
          <a:prstGeom prst="roundRect">
            <a:avLst>
              <a:gd name="adj" fmla="val 8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6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אימות והרשאות</a:t>
            </a:r>
          </a:p>
          <a:p>
            <a:pPr marL="0" indent="0" algn="ctr" rtl="1">
              <a:lnSpc>
                <a:spcPct val="105000"/>
              </a:lnSpc>
              <a:spcBef>
                <a:spcPts val="300"/>
              </a:spcBef>
              <a:spcAft>
                <a:spcPts val="0"/>
              </a:spcAft>
              <a:buNone/>
            </a:pPr>
            <a:r>
              <a:rPr lang="he-IL" sz="1300" b="0" i="0">
                <a:solidFill>
                  <a:srgbClr val="212121"/>
                </a:solidFill>
              </a:rPr>
              <a:t>מרחוק: OAuth. מקומי: סביבה</a:t>
            </a:r>
          </a:p>
        </p:txBody>
      </p:sp>
      <p:sp>
        <p:nvSpPr>
          <p:cNvPr id="12" name="MCP Shape 12"/>
          <p:cNvSpPr/>
          <p:nvPr/>
        </p:nvSpPr>
        <p:spPr>
          <a:xfrm>
            <a:off x="378000" y="2934000"/>
            <a:ext cx="1980000" cy="1476000"/>
          </a:xfrm>
          <a:prstGeom prst="roundRect">
            <a:avLst>
              <a:gd name="adj" fmla="val 8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6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ניטור ויומן ביקורת</a:t>
            </a:r>
          </a:p>
          <a:p>
            <a:pPr marL="0" indent="0" algn="ctr" rtl="1">
              <a:lnSpc>
                <a:spcPct val="105000"/>
              </a:lnSpc>
              <a:spcBef>
                <a:spcPts val="300"/>
              </a:spcBef>
              <a:spcAft>
                <a:spcPts val="0"/>
              </a:spcAft>
              <a:buNone/>
            </a:pPr>
            <a:r>
              <a:rPr lang="he-IL" sz="1300" b="0" i="0">
                <a:solidFill>
                  <a:srgbClr val="212121"/>
                </a:solidFill>
              </a:rPr>
              <a:t>כל שאילתה נרשמת</a:t>
            </a:r>
          </a:p>
        </p:txBody>
      </p:sp>
      <p:sp>
        <p:nvSpPr>
          <p:cNvPr id="13" name="Footnote"/>
          <p:cNvSpPr txBox="1"/>
          <p:nvPr/>
        </p:nvSpPr>
        <p:spPr>
          <a:xfrm>
            <a:off x="360000" y="4500000"/>
            <a:ext cx="8424000" cy="540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300" b="0" i="0">
                <a:solidFill>
                  <a:srgbClr val="595959"/>
                </a:solidFill>
              </a:rPr>
              <a:t>כחול: מגבילים במסד ובכלי. כתום: שולטים במארח ובארגון. לפי המפרט: אדם בלולאה (המלצה), ו־OAuth רק בתעבורת HTTP.</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איפה כל הגנה חיה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Col1"/>
          <p:cNvSpPr txBox="1"/>
          <p:nvPr/>
        </p:nvSpPr>
        <p:spPr>
          <a:xfrm>
            <a:off x="6120000" y="1278000"/>
            <a:ext cx="2736000" cy="252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1" i="0">
                <a:solidFill>
                  <a:srgbClr val="595959"/>
                </a:solidFill>
              </a:rPr>
              <a:t>איפה ההגנה חיה</a:t>
            </a:r>
          </a:p>
        </p:txBody>
      </p:sp>
      <p:sp>
        <p:nvSpPr>
          <p:cNvPr id="6" name="Col2"/>
          <p:cNvSpPr txBox="1"/>
          <p:nvPr/>
        </p:nvSpPr>
        <p:spPr>
          <a:xfrm>
            <a:off x="2700000" y="1278000"/>
            <a:ext cx="3240000" cy="252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1" i="0">
                <a:solidFill>
                  <a:srgbClr val="595959"/>
                </a:solidFill>
              </a:rPr>
              <a:t>מה היא עושה</a:t>
            </a:r>
          </a:p>
        </p:txBody>
      </p:sp>
      <p:sp>
        <p:nvSpPr>
          <p:cNvPr id="7" name="Col3"/>
          <p:cNvSpPr txBox="1"/>
          <p:nvPr/>
        </p:nvSpPr>
        <p:spPr>
          <a:xfrm>
            <a:off x="288000" y="1278000"/>
            <a:ext cx="2232000" cy="252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1" i="0">
                <a:solidFill>
                  <a:srgbClr val="595959"/>
                </a:solidFill>
              </a:rPr>
              <a:t>עוצמה</a:t>
            </a:r>
          </a:p>
        </p:txBody>
      </p:sp>
      <p:sp>
        <p:nvSpPr>
          <p:cNvPr id="8" name="MCP Shape 8"/>
          <p:cNvSpPr/>
          <p:nvPr/>
        </p:nvSpPr>
        <p:spPr>
          <a:xfrm>
            <a:off x="6120000" y="1548000"/>
            <a:ext cx="2736000" cy="792000"/>
          </a:xfrm>
          <a:prstGeom prst="roundRect">
            <a:avLst>
              <a:gd name="adj" fmla="val 10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800" b="1" i="0">
                <a:solidFill>
                  <a:srgbClr val="212121"/>
                </a:solidFill>
              </a:rPr>
              <a:t>המארח (host)</a:t>
            </a:r>
          </a:p>
        </p:txBody>
      </p:sp>
      <p:sp>
        <p:nvSpPr>
          <p:cNvPr id="9" name="MCP Shape 9"/>
          <p:cNvSpPr/>
          <p:nvPr/>
        </p:nvSpPr>
        <p:spPr>
          <a:xfrm>
            <a:off x="2700000" y="1548000"/>
            <a:ext cx="3312000" cy="792000"/>
          </a:xfrm>
          <a:prstGeom prst="roundRect">
            <a:avLst>
              <a:gd name="adj" fmla="val 10000"/>
            </a:avLst>
          </a:prstGeom>
          <a:solidFill>
            <a:srgbClr val="FFFFFF"/>
          </a:solidFill>
          <a:ln w="19050">
            <a:solidFill>
              <a:srgbClr val="BDBDBD"/>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500" b="0" i="0">
                <a:solidFill>
                  <a:srgbClr val="212121"/>
                </a:solidFill>
              </a:rPr>
              <a:t>אישור אנושי, רשימת כלים ושרתים מאושרת</a:t>
            </a:r>
          </a:p>
        </p:txBody>
      </p:sp>
      <p:sp>
        <p:nvSpPr>
          <p:cNvPr id="10" name="Meter bg"/>
          <p:cNvSpPr/>
          <p:nvPr/>
        </p:nvSpPr>
        <p:spPr>
          <a:xfrm>
            <a:off x="288000" y="1548000"/>
            <a:ext cx="2304000" cy="792000"/>
          </a:xfrm>
          <a:prstGeom prst="roundRect">
            <a:avLst>
              <a:gd name="adj" fmla="val 10000"/>
            </a:avLst>
          </a:prstGeom>
          <a:solidFill>
            <a:srgbClr val="FFFFFF"/>
          </a:solidFill>
          <a:ln w="19050">
            <a:solidFill>
              <a:srgbClr val="BDBDBD"/>
            </a:solidFill>
          </a:ln>
        </p:spPr>
        <p:txBody>
          <a:bodyPr wrap="square" lIns="72000" tIns="72000" rIns="72000" bIns="72000" rtlCol="0" anchor="ctr">
            <a:noAutofit/>
          </a:bodyPr>
          <a:lstStyle/>
          <a:p>
            <a:pPr marL="0" indent="0" algn="ctr" rtl="1">
              <a:lnSpc>
                <a:spcPct val="105000"/>
              </a:lnSpc>
              <a:spcBef>
                <a:spcPts val="0"/>
              </a:spcBef>
              <a:spcAft>
                <a:spcPts val="0"/>
              </a:spcAft>
              <a:buNone/>
            </a:pPr>
            <a:endParaRPr/>
          </a:p>
        </p:txBody>
      </p:sp>
      <p:sp>
        <p:nvSpPr>
          <p:cNvPr id="11" name="Meter bar"/>
          <p:cNvSpPr/>
          <p:nvPr/>
        </p:nvSpPr>
        <p:spPr>
          <a:xfrm>
            <a:off x="360000" y="1674000"/>
            <a:ext cx="1188000" cy="216000"/>
          </a:xfrm>
          <a:prstGeom prst="roundRect">
            <a:avLst>
              <a:gd name="adj" fmla="val 30000"/>
            </a:avLst>
          </a:prstGeom>
          <a:solidFill>
            <a:srgbClr val="FFAB40"/>
          </a:solidFill>
          <a:ln>
            <a:noFill/>
          </a:ln>
        </p:spPr>
        <p:txBody>
          <a:bodyPr wrap="square" lIns="72000" tIns="72000" rIns="72000" bIns="72000" rtlCol="0" anchor="ctr">
            <a:noAutofit/>
          </a:bodyPr>
          <a:lstStyle/>
          <a:p>
            <a:pPr marL="0" indent="0" algn="ctr" rtl="1">
              <a:lnSpc>
                <a:spcPct val="105000"/>
              </a:lnSpc>
              <a:spcBef>
                <a:spcPts val="0"/>
              </a:spcBef>
              <a:spcAft>
                <a:spcPts val="0"/>
              </a:spcAft>
              <a:buNone/>
            </a:pPr>
            <a:endParaRPr/>
          </a:p>
        </p:txBody>
      </p:sp>
      <p:sp>
        <p:nvSpPr>
          <p:cNvPr id="12" name="MCP Shape 12"/>
          <p:cNvSpPr txBox="1"/>
          <p:nvPr/>
        </p:nvSpPr>
        <p:spPr>
          <a:xfrm>
            <a:off x="288000" y="1926000"/>
            <a:ext cx="2304000" cy="360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212121"/>
                </a:solidFill>
              </a:rPr>
              <a:t>תלוי בקשב האדם</a:t>
            </a:r>
          </a:p>
        </p:txBody>
      </p:sp>
      <p:sp>
        <p:nvSpPr>
          <p:cNvPr id="13" name="MCP Shape 13"/>
          <p:cNvSpPr/>
          <p:nvPr/>
        </p:nvSpPr>
        <p:spPr>
          <a:xfrm>
            <a:off x="6120000" y="2430000"/>
            <a:ext cx="2736000" cy="792000"/>
          </a:xfrm>
          <a:prstGeom prst="roundRect">
            <a:avLst>
              <a:gd name="adj" fmla="val 10000"/>
            </a:avLst>
          </a:prstGeom>
          <a:solidFill>
            <a:srgbClr val="FDE3E0"/>
          </a:solidFill>
          <a:ln w="19050">
            <a:solidFill>
              <a:srgbClr val="EA4335"/>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800" b="1" i="0">
                <a:solidFill>
                  <a:srgbClr val="212121"/>
                </a:solidFill>
              </a:rPr>
              <a:t>בתוך כלי השרת</a:t>
            </a:r>
          </a:p>
        </p:txBody>
      </p:sp>
      <p:sp>
        <p:nvSpPr>
          <p:cNvPr id="14" name="MCP Shape 14"/>
          <p:cNvSpPr/>
          <p:nvPr/>
        </p:nvSpPr>
        <p:spPr>
          <a:xfrm>
            <a:off x="2700000" y="2430000"/>
            <a:ext cx="3312000" cy="792000"/>
          </a:xfrm>
          <a:prstGeom prst="roundRect">
            <a:avLst>
              <a:gd name="adj" fmla="val 10000"/>
            </a:avLst>
          </a:prstGeom>
          <a:solidFill>
            <a:srgbClr val="FFFFFF"/>
          </a:solidFill>
          <a:ln w="19050">
            <a:solidFill>
              <a:srgbClr val="BDBDBD"/>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500" b="0" i="0">
                <a:solidFill>
                  <a:srgbClr val="212121"/>
                </a:solidFill>
              </a:rPr>
              <a:t>מסנן SELECT ורשימת טבלאות</a:t>
            </a:r>
          </a:p>
        </p:txBody>
      </p:sp>
      <p:sp>
        <p:nvSpPr>
          <p:cNvPr id="15" name="Meter bg"/>
          <p:cNvSpPr/>
          <p:nvPr/>
        </p:nvSpPr>
        <p:spPr>
          <a:xfrm>
            <a:off x="288000" y="2430000"/>
            <a:ext cx="2304000" cy="792000"/>
          </a:xfrm>
          <a:prstGeom prst="roundRect">
            <a:avLst>
              <a:gd name="adj" fmla="val 10000"/>
            </a:avLst>
          </a:prstGeom>
          <a:solidFill>
            <a:srgbClr val="FFFFFF"/>
          </a:solidFill>
          <a:ln w="19050">
            <a:solidFill>
              <a:srgbClr val="BDBDBD"/>
            </a:solidFill>
          </a:ln>
        </p:spPr>
        <p:txBody>
          <a:bodyPr wrap="square" lIns="72000" tIns="72000" rIns="72000" bIns="72000" rtlCol="0" anchor="ctr">
            <a:noAutofit/>
          </a:bodyPr>
          <a:lstStyle/>
          <a:p>
            <a:pPr marL="0" indent="0" algn="ctr" rtl="1">
              <a:lnSpc>
                <a:spcPct val="105000"/>
              </a:lnSpc>
              <a:spcBef>
                <a:spcPts val="0"/>
              </a:spcBef>
              <a:spcAft>
                <a:spcPts val="0"/>
              </a:spcAft>
              <a:buNone/>
            </a:pPr>
            <a:endParaRPr/>
          </a:p>
        </p:txBody>
      </p:sp>
      <p:sp>
        <p:nvSpPr>
          <p:cNvPr id="16" name="Meter bar"/>
          <p:cNvSpPr/>
          <p:nvPr/>
        </p:nvSpPr>
        <p:spPr>
          <a:xfrm>
            <a:off x="360000" y="2556000"/>
            <a:ext cx="540000" cy="216000"/>
          </a:xfrm>
          <a:prstGeom prst="roundRect">
            <a:avLst>
              <a:gd name="adj" fmla="val 30000"/>
            </a:avLst>
          </a:prstGeom>
          <a:solidFill>
            <a:srgbClr val="EA4335"/>
          </a:solidFill>
          <a:ln>
            <a:noFill/>
          </a:ln>
        </p:spPr>
        <p:txBody>
          <a:bodyPr wrap="square" lIns="72000" tIns="72000" rIns="72000" bIns="72000" rtlCol="0" anchor="ctr">
            <a:noAutofit/>
          </a:bodyPr>
          <a:lstStyle/>
          <a:p>
            <a:pPr marL="0" indent="0" algn="ctr" rtl="1">
              <a:lnSpc>
                <a:spcPct val="105000"/>
              </a:lnSpc>
              <a:spcBef>
                <a:spcPts val="0"/>
              </a:spcBef>
              <a:spcAft>
                <a:spcPts val="0"/>
              </a:spcAft>
              <a:buNone/>
            </a:pPr>
            <a:endParaRPr/>
          </a:p>
        </p:txBody>
      </p:sp>
      <p:sp>
        <p:nvSpPr>
          <p:cNvPr id="17" name="MCP Shape 17"/>
          <p:cNvSpPr txBox="1"/>
          <p:nvPr/>
        </p:nvSpPr>
        <p:spPr>
          <a:xfrm>
            <a:off x="288000" y="2808000"/>
            <a:ext cx="2304000" cy="360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212121"/>
                </a:solidFill>
              </a:rPr>
              <a:t>חלשה: נעקפת</a:t>
            </a:r>
          </a:p>
        </p:txBody>
      </p:sp>
      <p:sp>
        <p:nvSpPr>
          <p:cNvPr id="18" name="MCP Shape 18"/>
          <p:cNvSpPr/>
          <p:nvPr/>
        </p:nvSpPr>
        <p:spPr>
          <a:xfrm>
            <a:off x="6120000" y="3312000"/>
            <a:ext cx="2736000" cy="792000"/>
          </a:xfrm>
          <a:prstGeom prst="roundRect">
            <a:avLst>
              <a:gd name="adj" fmla="val 10000"/>
            </a:avLst>
          </a:prstGeom>
          <a:solidFill>
            <a:srgbClr val="E1F4E6"/>
          </a:solidFill>
          <a:ln w="19050">
            <a:solidFill>
              <a:srgbClr val="34A853"/>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800" b="1" i="0">
                <a:solidFill>
                  <a:srgbClr val="212121"/>
                </a:solidFill>
              </a:rPr>
              <a:t>במסד הנתונים עצמו</a:t>
            </a:r>
          </a:p>
        </p:txBody>
      </p:sp>
      <p:sp>
        <p:nvSpPr>
          <p:cNvPr id="19" name="MCP Shape 19"/>
          <p:cNvSpPr/>
          <p:nvPr/>
        </p:nvSpPr>
        <p:spPr>
          <a:xfrm>
            <a:off x="2700000" y="3312000"/>
            <a:ext cx="3312000" cy="792000"/>
          </a:xfrm>
          <a:prstGeom prst="roundRect">
            <a:avLst>
              <a:gd name="adj" fmla="val 10000"/>
            </a:avLst>
          </a:prstGeom>
          <a:solidFill>
            <a:srgbClr val="FFFFFF"/>
          </a:solidFill>
          <a:ln w="19050">
            <a:solidFill>
              <a:srgbClr val="BDBDBD"/>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500" b="0" i="0">
                <a:solidFill>
                  <a:srgbClr val="212121"/>
                </a:solidFill>
              </a:rPr>
              <a:t>חשבון לקריאה בלבד, תצוגות, authorizer</a:t>
            </a:r>
          </a:p>
        </p:txBody>
      </p:sp>
      <p:sp>
        <p:nvSpPr>
          <p:cNvPr id="20" name="Meter bg"/>
          <p:cNvSpPr/>
          <p:nvPr/>
        </p:nvSpPr>
        <p:spPr>
          <a:xfrm>
            <a:off x="288000" y="3312000"/>
            <a:ext cx="2304000" cy="792000"/>
          </a:xfrm>
          <a:prstGeom prst="roundRect">
            <a:avLst>
              <a:gd name="adj" fmla="val 10000"/>
            </a:avLst>
          </a:prstGeom>
          <a:solidFill>
            <a:srgbClr val="FFFFFF"/>
          </a:solidFill>
          <a:ln w="19050">
            <a:solidFill>
              <a:srgbClr val="BDBDBD"/>
            </a:solidFill>
          </a:ln>
        </p:spPr>
        <p:txBody>
          <a:bodyPr wrap="square" lIns="72000" tIns="72000" rIns="72000" bIns="72000" rtlCol="0" anchor="ctr">
            <a:noAutofit/>
          </a:bodyPr>
          <a:lstStyle/>
          <a:p>
            <a:pPr marL="0" indent="0" algn="ctr" rtl="1">
              <a:lnSpc>
                <a:spcPct val="105000"/>
              </a:lnSpc>
              <a:spcBef>
                <a:spcPts val="0"/>
              </a:spcBef>
              <a:spcAft>
                <a:spcPts val="0"/>
              </a:spcAft>
              <a:buNone/>
            </a:pPr>
            <a:endParaRPr/>
          </a:p>
        </p:txBody>
      </p:sp>
      <p:sp>
        <p:nvSpPr>
          <p:cNvPr id="21" name="Meter bar"/>
          <p:cNvSpPr/>
          <p:nvPr/>
        </p:nvSpPr>
        <p:spPr>
          <a:xfrm>
            <a:off x="360000" y="3438000"/>
            <a:ext cx="2052000" cy="216000"/>
          </a:xfrm>
          <a:prstGeom prst="roundRect">
            <a:avLst>
              <a:gd name="adj" fmla="val 30000"/>
            </a:avLst>
          </a:prstGeom>
          <a:solidFill>
            <a:srgbClr val="34A853"/>
          </a:solidFill>
          <a:ln>
            <a:noFill/>
          </a:ln>
        </p:spPr>
        <p:txBody>
          <a:bodyPr wrap="square" lIns="72000" tIns="72000" rIns="72000" bIns="72000" rtlCol="0" anchor="ctr">
            <a:noAutofit/>
          </a:bodyPr>
          <a:lstStyle/>
          <a:p>
            <a:pPr marL="0" indent="0" algn="ctr" rtl="1">
              <a:lnSpc>
                <a:spcPct val="105000"/>
              </a:lnSpc>
              <a:spcBef>
                <a:spcPts val="0"/>
              </a:spcBef>
              <a:spcAft>
                <a:spcPts val="0"/>
              </a:spcAft>
              <a:buNone/>
            </a:pPr>
            <a:endParaRPr/>
          </a:p>
        </p:txBody>
      </p:sp>
      <p:sp>
        <p:nvSpPr>
          <p:cNvPr id="22" name="MCP Shape 22"/>
          <p:cNvSpPr txBox="1"/>
          <p:nvPr/>
        </p:nvSpPr>
        <p:spPr>
          <a:xfrm>
            <a:off x="288000" y="3690000"/>
            <a:ext cx="2304000" cy="360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212121"/>
                </a:solidFill>
              </a:rPr>
              <a:t>חזקה: המנוע אוכף</a:t>
            </a:r>
          </a:p>
        </p:txBody>
      </p:sp>
      <p:sp>
        <p:nvSpPr>
          <p:cNvPr id="23" name="MCP Shape 23"/>
          <p:cNvSpPr/>
          <p:nvPr/>
        </p:nvSpPr>
        <p:spPr>
          <a:xfrm>
            <a:off x="288000" y="4194000"/>
            <a:ext cx="8568000" cy="360000"/>
          </a:xfrm>
          <a:prstGeom prst="roundRect">
            <a:avLst>
              <a:gd name="adj" fmla="val 20000"/>
            </a:avLst>
          </a:prstGeom>
          <a:solidFill>
            <a:srgbClr val="E3EEFF"/>
          </a:solidFill>
          <a:ln w="19050">
            <a:solidFill>
              <a:srgbClr val="4285F4"/>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1" i="0">
                <a:solidFill>
                  <a:srgbClr val="212121"/>
                </a:solidFill>
              </a:rPr>
              <a:t>יומן ביקורת בכל שכבה: מי שאל, מה הורץ, מה נחסם</a:t>
            </a:r>
          </a:p>
        </p:txBody>
      </p:sp>
      <p:sp>
        <p:nvSpPr>
          <p:cNvPr id="24" name="Footnote"/>
          <p:cNvSpPr txBox="1"/>
          <p:nvPr/>
        </p:nvSpPr>
        <p:spPr>
          <a:xfrm>
            <a:off x="288000" y="4608000"/>
            <a:ext cx="8568000" cy="468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300" b="0" i="0">
                <a:solidFill>
                  <a:srgbClr val="595959"/>
                </a:solidFill>
              </a:rPr>
              <a:t>במחברת: הסינון בקוד נעקף ב־JOIN עם customers, וההרשאה במסד חסמה. Datadog 2025: ״קריאה בלבד״ ברמת הקוד נעקפה בשרת Postgres של הרפרנס.</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מלמדים את הסוכן מראש</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MCP Shape 5"/>
          <p:cNvSpPr/>
          <p:nvPr/>
        </p:nvSpPr>
        <p:spPr>
          <a:xfrm>
            <a:off x="3240000" y="1332000"/>
            <a:ext cx="5616000" cy="684000"/>
          </a:xfrm>
          <a:prstGeom prst="roundRect">
            <a:avLst>
              <a:gd name="adj" fmla="val 10000"/>
            </a:avLst>
          </a:prstGeom>
          <a:solidFill>
            <a:srgbClr val="E3EEFF"/>
          </a:solidFill>
          <a:ln w="19050">
            <a:solidFill>
              <a:srgbClr val="4285F4"/>
            </a:solidFill>
          </a:ln>
        </p:spPr>
        <p:txBody>
          <a:bodyPr wrap="square" lIns="43200" tIns="43200" rIns="43200" bIns="43200" rtlCol="0" anchor="ctr">
            <a:noAutofit/>
          </a:bodyPr>
          <a:lstStyle/>
          <a:p>
            <a:pPr marL="0" indent="0" algn="ctr" rtl="1">
              <a:lnSpc>
                <a:spcPct val="105000"/>
              </a:lnSpc>
              <a:spcBef>
                <a:spcPts val="0"/>
              </a:spcBef>
              <a:spcAft>
                <a:spcPts val="0"/>
              </a:spcAft>
              <a:buNone/>
            </a:pPr>
            <a:r>
              <a:rPr lang="he-IL" sz="1600" b="1" i="0">
                <a:solidFill>
                  <a:srgbClr val="212121"/>
                </a:solidFill>
              </a:rPr>
              <a:t>תיאורי הכלים: name, description, inputSchema</a:t>
            </a:r>
          </a:p>
          <a:p>
            <a:pPr marL="0" indent="0" algn="ctr" rtl="1">
              <a:lnSpc>
                <a:spcPct val="105000"/>
              </a:lnSpc>
              <a:spcBef>
                <a:spcPts val="150"/>
              </a:spcBef>
              <a:spcAft>
                <a:spcPts val="0"/>
              </a:spcAft>
              <a:buNone/>
            </a:pPr>
            <a:r>
              <a:rPr lang="he-IL" sz="1400" b="0" i="0">
                <a:solidFill>
                  <a:srgbClr val="212121"/>
                </a:solidFill>
              </a:rPr>
              <a:t>הפרומפט של הכלי: ניסוח ברור, שאילתות טובות</a:t>
            </a:r>
          </a:p>
        </p:txBody>
      </p:sp>
      <p:sp>
        <p:nvSpPr>
          <p:cNvPr id="6" name="MCP Shape 6"/>
          <p:cNvSpPr/>
          <p:nvPr/>
        </p:nvSpPr>
        <p:spPr>
          <a:xfrm>
            <a:off x="8442000" y="1368000"/>
            <a:ext cx="342000" cy="3420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1</a:t>
            </a:r>
          </a:p>
        </p:txBody>
      </p:sp>
      <p:cxnSp>
        <p:nvCxnSpPr>
          <p:cNvPr id="7" name="MCP Line 7"/>
          <p:cNvCxnSpPr/>
          <p:nvPr/>
        </p:nvCxnSpPr>
        <p:spPr>
          <a:xfrm flipH="1">
            <a:off x="2556000" y="1674000"/>
            <a:ext cx="648000" cy="1170000"/>
          </a:xfrm>
          <a:prstGeom prst="line">
            <a:avLst/>
          </a:prstGeom>
          <a:ln w="25400">
            <a:solidFill>
              <a:srgbClr val="4285F4"/>
            </a:solidFill>
          </a:ln>
        </p:spPr>
      </p:cxnSp>
      <p:sp>
        <p:nvSpPr>
          <p:cNvPr id="8" name="MCP Shape 8"/>
          <p:cNvSpPr/>
          <p:nvPr/>
        </p:nvSpPr>
        <p:spPr>
          <a:xfrm>
            <a:off x="3240000" y="2088000"/>
            <a:ext cx="5616000" cy="684000"/>
          </a:xfrm>
          <a:prstGeom prst="roundRect">
            <a:avLst>
              <a:gd name="adj" fmla="val 10000"/>
            </a:avLst>
          </a:prstGeom>
          <a:solidFill>
            <a:srgbClr val="DDF2F5"/>
          </a:solidFill>
          <a:ln w="19050">
            <a:solidFill>
              <a:srgbClr val="0097A7"/>
            </a:solidFill>
          </a:ln>
        </p:spPr>
        <p:txBody>
          <a:bodyPr wrap="square" lIns="43200" tIns="43200" rIns="43200" bIns="43200" rtlCol="0" anchor="ctr">
            <a:noAutofit/>
          </a:bodyPr>
          <a:lstStyle/>
          <a:p>
            <a:pPr marL="0" indent="0" algn="ctr" rtl="1">
              <a:lnSpc>
                <a:spcPct val="105000"/>
              </a:lnSpc>
              <a:spcBef>
                <a:spcPts val="0"/>
              </a:spcBef>
              <a:spcAft>
                <a:spcPts val="0"/>
              </a:spcAft>
              <a:buNone/>
            </a:pPr>
            <a:r>
              <a:rPr lang="he-IL" sz="1600" b="1" i="0">
                <a:solidFill>
                  <a:srgbClr val="212121"/>
                </a:solidFill>
              </a:rPr>
              <a:t>הוראות השרת ומשאבים (resources)</a:t>
            </a:r>
          </a:p>
          <a:p>
            <a:pPr marL="0" indent="0" algn="ctr" rtl="1">
              <a:lnSpc>
                <a:spcPct val="105000"/>
              </a:lnSpc>
              <a:spcBef>
                <a:spcPts val="150"/>
              </a:spcBef>
              <a:spcAft>
                <a:spcPts val="0"/>
              </a:spcAft>
              <a:buNone/>
            </a:pPr>
            <a:r>
              <a:rPr lang="he-IL" sz="1400" b="0" i="0">
                <a:solidFill>
                  <a:srgbClr val="212121"/>
                </a:solidFill>
              </a:rPr>
              <a:t>תיעוד הסכמה והגדרות: הכנסה = כמות × מחיר</a:t>
            </a:r>
          </a:p>
        </p:txBody>
      </p:sp>
      <p:sp>
        <p:nvSpPr>
          <p:cNvPr id="9" name="MCP Shape 9"/>
          <p:cNvSpPr/>
          <p:nvPr/>
        </p:nvSpPr>
        <p:spPr>
          <a:xfrm>
            <a:off x="8442000" y="2124000"/>
            <a:ext cx="342000" cy="342000"/>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2</a:t>
            </a:r>
          </a:p>
        </p:txBody>
      </p:sp>
      <p:cxnSp>
        <p:nvCxnSpPr>
          <p:cNvPr id="10" name="MCP Line 10"/>
          <p:cNvCxnSpPr/>
          <p:nvPr/>
        </p:nvCxnSpPr>
        <p:spPr>
          <a:xfrm flipH="1">
            <a:off x="2556000" y="2430000"/>
            <a:ext cx="648000" cy="414000"/>
          </a:xfrm>
          <a:prstGeom prst="line">
            <a:avLst/>
          </a:prstGeom>
          <a:ln w="25400">
            <a:solidFill>
              <a:srgbClr val="0097A7"/>
            </a:solidFill>
          </a:ln>
        </p:spPr>
      </p:cxnSp>
      <p:sp>
        <p:nvSpPr>
          <p:cNvPr id="11" name="MCP Shape 11"/>
          <p:cNvSpPr/>
          <p:nvPr/>
        </p:nvSpPr>
        <p:spPr>
          <a:xfrm>
            <a:off x="3240000" y="2844000"/>
            <a:ext cx="5616000" cy="684000"/>
          </a:xfrm>
          <a:prstGeom prst="roundRect">
            <a:avLst>
              <a:gd name="adj" fmla="val 10000"/>
            </a:avLst>
          </a:prstGeom>
          <a:solidFill>
            <a:srgbClr val="FFF0D9"/>
          </a:solidFill>
          <a:ln w="19050">
            <a:solidFill>
              <a:srgbClr val="FFAB40"/>
            </a:solidFill>
          </a:ln>
        </p:spPr>
        <p:txBody>
          <a:bodyPr wrap="square" lIns="43200" tIns="43200" rIns="43200" bIns="43200" rtlCol="0" anchor="ctr">
            <a:noAutofit/>
          </a:bodyPr>
          <a:lstStyle/>
          <a:p>
            <a:pPr marL="0" indent="0" algn="ctr" rtl="1">
              <a:lnSpc>
                <a:spcPct val="105000"/>
              </a:lnSpc>
              <a:spcBef>
                <a:spcPts val="0"/>
              </a:spcBef>
              <a:spcAft>
                <a:spcPts val="0"/>
              </a:spcAft>
              <a:buNone/>
            </a:pPr>
            <a:r>
              <a:rPr lang="he-IL" sz="1600" b="1" i="0">
                <a:solidFill>
                  <a:srgbClr val="212121"/>
                </a:solidFill>
              </a:rPr>
              <a:t>תבניות מוכנות (prompts)</a:t>
            </a:r>
          </a:p>
          <a:p>
            <a:pPr marL="0" indent="0" algn="ctr" rtl="1">
              <a:lnSpc>
                <a:spcPct val="105000"/>
              </a:lnSpc>
              <a:spcBef>
                <a:spcPts val="150"/>
              </a:spcBef>
              <a:spcAft>
                <a:spcPts val="0"/>
              </a:spcAft>
              <a:buNone/>
            </a:pPr>
            <a:r>
              <a:rPr lang="he-IL" sz="1400" b="0" i="0">
                <a:solidFill>
                  <a:srgbClr val="212121"/>
                </a:solidFill>
              </a:rPr>
              <a:t>שאילתות נפוצות שהשרת מציע</a:t>
            </a:r>
          </a:p>
        </p:txBody>
      </p:sp>
      <p:sp>
        <p:nvSpPr>
          <p:cNvPr id="12" name="MCP Shape 12"/>
          <p:cNvSpPr/>
          <p:nvPr/>
        </p:nvSpPr>
        <p:spPr>
          <a:xfrm>
            <a:off x="8442000" y="2880000"/>
            <a:ext cx="342000" cy="342000"/>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3</a:t>
            </a:r>
          </a:p>
        </p:txBody>
      </p:sp>
      <p:cxnSp>
        <p:nvCxnSpPr>
          <p:cNvPr id="13" name="MCP Line 13"/>
          <p:cNvCxnSpPr/>
          <p:nvPr/>
        </p:nvCxnSpPr>
        <p:spPr>
          <a:xfrm flipH="1" flipV="1">
            <a:off x="2556000" y="2844000"/>
            <a:ext cx="648000" cy="342000"/>
          </a:xfrm>
          <a:prstGeom prst="line">
            <a:avLst/>
          </a:prstGeom>
          <a:ln w="25400">
            <a:solidFill>
              <a:srgbClr val="FFAB40"/>
            </a:solidFill>
          </a:ln>
        </p:spPr>
      </p:cxnSp>
      <p:sp>
        <p:nvSpPr>
          <p:cNvPr id="14" name="MCP Shape 14"/>
          <p:cNvSpPr/>
          <p:nvPr/>
        </p:nvSpPr>
        <p:spPr>
          <a:xfrm>
            <a:off x="3240000" y="3600000"/>
            <a:ext cx="5616000" cy="684000"/>
          </a:xfrm>
          <a:prstGeom prst="roundRect">
            <a:avLst>
              <a:gd name="adj" fmla="val 10000"/>
            </a:avLst>
          </a:prstGeom>
          <a:solidFill>
            <a:srgbClr val="E1F4E6"/>
          </a:solidFill>
          <a:ln w="19050">
            <a:solidFill>
              <a:srgbClr val="34A853"/>
            </a:solidFill>
          </a:ln>
        </p:spPr>
        <p:txBody>
          <a:bodyPr wrap="square" lIns="43200" tIns="43200" rIns="43200" bIns="43200" rtlCol="0" anchor="ctr">
            <a:noAutofit/>
          </a:bodyPr>
          <a:lstStyle/>
          <a:p>
            <a:pPr marL="0" indent="0" algn="ctr" rtl="1">
              <a:lnSpc>
                <a:spcPct val="105000"/>
              </a:lnSpc>
              <a:spcBef>
                <a:spcPts val="0"/>
              </a:spcBef>
              <a:spcAft>
                <a:spcPts val="0"/>
              </a:spcAft>
              <a:buNone/>
            </a:pPr>
            <a:r>
              <a:rPr lang="he-IL" sz="1600" b="1" i="0">
                <a:solidFill>
                  <a:srgbClr val="212121"/>
                </a:solidFill>
              </a:rPr>
              <a:t>קובץ הנחיה: AGENTS.md או CLAUDE.md</a:t>
            </a:r>
          </a:p>
          <a:p>
            <a:pPr marL="0" indent="0" algn="ctr" rtl="1">
              <a:lnSpc>
                <a:spcPct val="105000"/>
              </a:lnSpc>
              <a:spcBef>
                <a:spcPts val="150"/>
              </a:spcBef>
              <a:spcAft>
                <a:spcPts val="0"/>
              </a:spcAft>
              <a:buNone/>
            </a:pPr>
            <a:r>
              <a:rPr lang="he-IL" sz="1400" b="0" i="0">
                <a:solidFill>
                  <a:srgbClr val="212121"/>
                </a:solidFill>
              </a:rPr>
              <a:t>כללים ודוגמאות שאילתות (few-shot)</a:t>
            </a:r>
          </a:p>
        </p:txBody>
      </p:sp>
      <p:sp>
        <p:nvSpPr>
          <p:cNvPr id="15" name="MCP Shape 15"/>
          <p:cNvSpPr/>
          <p:nvPr/>
        </p:nvSpPr>
        <p:spPr>
          <a:xfrm>
            <a:off x="8442000" y="3636000"/>
            <a:ext cx="342000" cy="342000"/>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4</a:t>
            </a:r>
          </a:p>
        </p:txBody>
      </p:sp>
      <p:cxnSp>
        <p:nvCxnSpPr>
          <p:cNvPr id="16" name="MCP Line 16"/>
          <p:cNvCxnSpPr/>
          <p:nvPr/>
        </p:nvCxnSpPr>
        <p:spPr>
          <a:xfrm flipH="1" flipV="1">
            <a:off x="2556000" y="2844000"/>
            <a:ext cx="648000" cy="1098000"/>
          </a:xfrm>
          <a:prstGeom prst="line">
            <a:avLst/>
          </a:prstGeom>
          <a:ln w="25400">
            <a:solidFill>
              <a:srgbClr val="34A853"/>
            </a:solidFill>
          </a:ln>
        </p:spPr>
      </p:cxnSp>
      <p:sp>
        <p:nvSpPr>
          <p:cNvPr id="17" name="MCP Shape 17"/>
          <p:cNvSpPr/>
          <p:nvPr/>
        </p:nvSpPr>
        <p:spPr>
          <a:xfrm>
            <a:off x="3240000" y="4356000"/>
            <a:ext cx="5616000" cy="684000"/>
          </a:xfrm>
          <a:prstGeom prst="roundRect">
            <a:avLst>
              <a:gd name="adj" fmla="val 10000"/>
            </a:avLst>
          </a:prstGeom>
          <a:solidFill>
            <a:srgbClr val="FDE3E0"/>
          </a:solidFill>
          <a:ln w="19050">
            <a:solidFill>
              <a:srgbClr val="EA4335"/>
            </a:solidFill>
          </a:ln>
        </p:spPr>
        <p:txBody>
          <a:bodyPr wrap="square" lIns="43200" tIns="43200" rIns="43200" bIns="43200" rtlCol="0" anchor="ctr">
            <a:noAutofit/>
          </a:bodyPr>
          <a:lstStyle/>
          <a:p>
            <a:pPr marL="0" indent="0" algn="ctr" rtl="1">
              <a:lnSpc>
                <a:spcPct val="105000"/>
              </a:lnSpc>
              <a:spcBef>
                <a:spcPts val="0"/>
              </a:spcBef>
              <a:spcAft>
                <a:spcPts val="0"/>
              </a:spcAft>
              <a:buNone/>
            </a:pPr>
            <a:r>
              <a:rPr lang="he-IL" sz="1600" b="1" i="0">
                <a:solidFill>
                  <a:srgbClr val="212121"/>
                </a:solidFill>
              </a:rPr>
              <a:t>שכבה סמנטית ושאלות בדיקה</a:t>
            </a:r>
          </a:p>
          <a:p>
            <a:pPr marL="0" indent="0" algn="ctr" rtl="1">
              <a:lnSpc>
                <a:spcPct val="105000"/>
              </a:lnSpc>
              <a:spcBef>
                <a:spcPts val="150"/>
              </a:spcBef>
              <a:spcAft>
                <a:spcPts val="0"/>
              </a:spcAft>
              <a:buNone/>
            </a:pPr>
            <a:r>
              <a:rPr lang="he-IL" sz="1400" b="0" i="0">
                <a:solidFill>
                  <a:srgbClr val="212121"/>
                </a:solidFill>
              </a:rPr>
              <a:t>הגדרות מוסכמות ותשובות ידועות לאימות</a:t>
            </a:r>
          </a:p>
        </p:txBody>
      </p:sp>
      <p:sp>
        <p:nvSpPr>
          <p:cNvPr id="18" name="MCP Shape 18"/>
          <p:cNvSpPr/>
          <p:nvPr/>
        </p:nvSpPr>
        <p:spPr>
          <a:xfrm>
            <a:off x="8442000" y="4392000"/>
            <a:ext cx="342000" cy="342000"/>
          </a:xfrm>
          <a:prstGeom prst="ellipse">
            <a:avLst/>
          </a:prstGeom>
          <a:solidFill>
            <a:srgbClr val="EA4335"/>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5</a:t>
            </a:r>
          </a:p>
        </p:txBody>
      </p:sp>
      <p:cxnSp>
        <p:nvCxnSpPr>
          <p:cNvPr id="19" name="MCP Line 19"/>
          <p:cNvCxnSpPr/>
          <p:nvPr/>
        </p:nvCxnSpPr>
        <p:spPr>
          <a:xfrm flipH="1" flipV="1">
            <a:off x="2556000" y="2844000"/>
            <a:ext cx="648000" cy="1854000"/>
          </a:xfrm>
          <a:prstGeom prst="line">
            <a:avLst/>
          </a:prstGeom>
          <a:ln w="25400">
            <a:solidFill>
              <a:srgbClr val="EA4335"/>
            </a:solidFill>
          </a:ln>
        </p:spPr>
      </p:cxnSp>
      <p:sp>
        <p:nvSpPr>
          <p:cNvPr id="20" name="MCP Shape 20"/>
          <p:cNvSpPr/>
          <p:nvPr/>
        </p:nvSpPr>
        <p:spPr>
          <a:xfrm>
            <a:off x="288000" y="1944000"/>
            <a:ext cx="2268000" cy="1728000"/>
          </a:xfrm>
          <a:prstGeom prst="roundRect">
            <a:avLst>
              <a:gd name="adj" fmla="val 8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3000" b="0" i="0">
                <a:solidFill>
                  <a:srgbClr val="212121"/>
                </a:solidFill>
              </a:rPr>
              <a:t>🧠</a:t>
            </a:r>
          </a:p>
          <a:p>
            <a:pPr marL="0" indent="0" algn="ctr" rtl="1">
              <a:lnSpc>
                <a:spcPct val="105000"/>
              </a:lnSpc>
              <a:spcBef>
                <a:spcPts val="0"/>
              </a:spcBef>
              <a:spcAft>
                <a:spcPts val="0"/>
              </a:spcAft>
              <a:buNone/>
            </a:pPr>
            <a:r>
              <a:rPr lang="he-IL" sz="2000" b="1" i="0">
                <a:solidFill>
                  <a:srgbClr val="212121"/>
                </a:solidFill>
              </a:rPr>
              <a:t>חלון ההקשר</a:t>
            </a:r>
          </a:p>
          <a:p>
            <a:pPr marL="0" indent="0" algn="ctr" rtl="1">
              <a:lnSpc>
                <a:spcPct val="105000"/>
              </a:lnSpc>
              <a:spcBef>
                <a:spcPts val="300"/>
              </a:spcBef>
              <a:spcAft>
                <a:spcPts val="0"/>
              </a:spcAft>
              <a:buNone/>
            </a:pPr>
            <a:r>
              <a:rPr lang="he-IL" sz="1400" b="0" i="0">
                <a:solidFill>
                  <a:srgbClr val="212121"/>
                </a:solidFill>
              </a:rPr>
              <a:t>מה שהמודל יודע לפני שהוא כותב SQL</a:t>
            </a:r>
          </a:p>
        </p:txBody>
      </p:sp>
      <p:sp>
        <p:nvSpPr>
          <p:cNvPr id="21" name="Link"/>
          <p:cNvSpPr txBox="1"/>
          <p:nvPr/>
        </p:nvSpPr>
        <p:spPr>
          <a:xfrm>
            <a:off x="288000" y="3780000"/>
            <a:ext cx="2268000" cy="720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300" b="0" i="0">
                <a:solidFill>
                  <a:srgbClr val="595959"/>
                </a:solidFill>
              </a:rPr>
              <a:t>מפגש 4: קבצי הנחיה. מפגש 3: דוגמאות few-shot.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העשרה: איך מודדים סוכן קוד</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6172200" y="1463040"/>
            <a:ext cx="2697480" cy="32004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6" name="TextBox 5"/>
          <p:cNvSpPr txBox="1"/>
          <p:nvPr/>
        </p:nvSpPr>
        <p:spPr>
          <a:xfrm>
            <a:off x="617220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7" name="TextBox 6"/>
          <p:cNvSpPr txBox="1"/>
          <p:nvPr/>
        </p:nvSpPr>
        <p:spPr>
          <a:xfrm>
            <a:off x="626364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SWE-bench</a:t>
            </a:r>
          </a:p>
        </p:txBody>
      </p:sp>
      <p:sp>
        <p:nvSpPr>
          <p:cNvPr id="8" name="TextBox 7"/>
          <p:cNvSpPr txBox="1"/>
          <p:nvPr/>
        </p:nvSpPr>
        <p:spPr>
          <a:xfrm>
            <a:off x="6309360"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2,294 בעיות אמיתיות מ־12 מאגרי Python. בדיקות מוסתרות קובעות אם התיקון עבר.</a:t>
            </a:r>
          </a:p>
        </p:txBody>
      </p:sp>
      <p:sp>
        <p:nvSpPr>
          <p:cNvPr id="9" name="Rounded Rectangle 8"/>
          <p:cNvSpPr/>
          <p:nvPr/>
        </p:nvSpPr>
        <p:spPr>
          <a:xfrm>
            <a:off x="3246120" y="1463040"/>
            <a:ext cx="2697480" cy="32004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0" name="TextBox 9"/>
          <p:cNvSpPr txBox="1"/>
          <p:nvPr/>
        </p:nvSpPr>
        <p:spPr>
          <a:xfrm>
            <a:off x="324612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1" name="TextBox 10"/>
          <p:cNvSpPr txBox="1"/>
          <p:nvPr/>
        </p:nvSpPr>
        <p:spPr>
          <a:xfrm>
            <a:off x="333756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גבולות המדד</a:t>
            </a:r>
          </a:p>
        </p:txBody>
      </p:sp>
      <p:sp>
        <p:nvSpPr>
          <p:cNvPr id="12" name="TextBox 11"/>
          <p:cNvSpPr txBox="1"/>
          <p:nvPr/>
        </p:nvSpPr>
        <p:spPr>
          <a:xfrm>
            <a:off x="338327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בדיקות שדוחות פתרון נכון, ופתרונות שזלגו לאימון (OpenAI, 2026).</a:t>
            </a:r>
          </a:p>
        </p:txBody>
      </p:sp>
      <p:sp>
        <p:nvSpPr>
          <p:cNvPr id="13" name="Rounded Rectangle 12"/>
          <p:cNvSpPr/>
          <p:nvPr/>
        </p:nvSpPr>
        <p:spPr>
          <a:xfrm>
            <a:off x="320039" y="1463040"/>
            <a:ext cx="2697480" cy="32004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4" name="TextBox 13"/>
          <p:cNvSpPr txBox="1"/>
          <p:nvPr/>
        </p:nvSpPr>
        <p:spPr>
          <a:xfrm>
            <a:off x="320039"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5" name="TextBox 14"/>
          <p:cNvSpPr txBox="1"/>
          <p:nvPr/>
        </p:nvSpPr>
        <p:spPr>
          <a:xfrm>
            <a:off x="411479"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מעבר לבדיקות</a:t>
            </a:r>
          </a:p>
        </p:txBody>
      </p:sp>
      <p:sp>
        <p:nvSpPr>
          <p:cNvPr id="16" name="TextBox 15"/>
          <p:cNvSpPr txBox="1"/>
          <p:nvPr/>
        </p:nvSpPr>
        <p:spPr>
          <a:xfrm>
            <a:off x="45719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בדגימה של METR, כמחצית מהתיקונים שעברו לא היו מתקבלים במאגר.</a:t>
            </a:r>
          </a:p>
        </p:txBody>
      </p:sp>
      <p:sp>
        <p:nvSpPr>
          <p:cNvPr id="17" name="TextBox 16"/>
          <p:cNvSpPr txBox="1"/>
          <p:nvPr/>
        </p:nvSpPr>
        <p:spPr>
          <a:xfrm>
            <a:off x="365760" y="4709160"/>
            <a:ext cx="841248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300" b="0" i="0">
                <a:solidFill>
                  <a:srgbClr val="595959"/>
                </a:solidFill>
              </a:rPr>
              <a:t>בדיוק כמו המבחן שלכם: ״עבר״ אומר שלא נמצאה בעיה, לא שהכול נכון.</a:t>
            </a:r>
          </a:p>
        </p:txBody>
      </p:sp>
      <p:sp>
        <p:nvSpPr>
          <p:cNvPr id="18"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העשרה: כשסוכן טועה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6172200" y="1463040"/>
            <a:ext cx="2697480" cy="32004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6" name="TextBox 5"/>
          <p:cNvSpPr txBox="1"/>
          <p:nvPr/>
        </p:nvSpPr>
        <p:spPr>
          <a:xfrm>
            <a:off x="617220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7" name="TextBox 6"/>
          <p:cNvSpPr txBox="1"/>
          <p:nvPr/>
        </p:nvSpPr>
        <p:spPr>
          <a:xfrm>
            <a:off x="626364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Replit, 2025</a:t>
            </a:r>
          </a:p>
        </p:txBody>
      </p:sp>
      <p:sp>
        <p:nvSpPr>
          <p:cNvPr id="8" name="TextBox 7"/>
          <p:cNvSpPr txBox="1"/>
          <p:nvPr/>
        </p:nvSpPr>
        <p:spPr>
          <a:xfrm>
            <a:off x="6309360"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לפי דיווח המשתמש: סוכן מחק מסד נתונים בזמן הקפאת קוד.</a:t>
            </a:r>
          </a:p>
        </p:txBody>
      </p:sp>
      <p:sp>
        <p:nvSpPr>
          <p:cNvPr id="9" name="Rounded Rectangle 8"/>
          <p:cNvSpPr/>
          <p:nvPr/>
        </p:nvSpPr>
        <p:spPr>
          <a:xfrm>
            <a:off x="3246120" y="1463040"/>
            <a:ext cx="2697480" cy="32004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0" name="TextBox 9"/>
          <p:cNvSpPr txBox="1"/>
          <p:nvPr/>
        </p:nvSpPr>
        <p:spPr>
          <a:xfrm>
            <a:off x="3246120"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1" name="TextBox 10"/>
          <p:cNvSpPr txBox="1"/>
          <p:nvPr/>
        </p:nvSpPr>
        <p:spPr>
          <a:xfrm>
            <a:off x="3337560"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חבילות מומצאות</a:t>
            </a:r>
          </a:p>
        </p:txBody>
      </p:sp>
      <p:sp>
        <p:nvSpPr>
          <p:cNvPr id="12" name="TextBox 11"/>
          <p:cNvSpPr txBox="1"/>
          <p:nvPr/>
        </p:nvSpPr>
        <p:spPr>
          <a:xfrm>
            <a:off x="338327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מחקר על 16 מודלים: 5.2% (מסחריים) עד 21.7% (קוד פתוח) חבילות לא קיימות.</a:t>
            </a:r>
          </a:p>
        </p:txBody>
      </p:sp>
      <p:sp>
        <p:nvSpPr>
          <p:cNvPr id="13" name="Rounded Rectangle 12"/>
          <p:cNvSpPr/>
          <p:nvPr/>
        </p:nvSpPr>
        <p:spPr>
          <a:xfrm>
            <a:off x="320039" y="1463040"/>
            <a:ext cx="2697480" cy="32004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4" name="TextBox 13"/>
          <p:cNvSpPr txBox="1"/>
          <p:nvPr/>
        </p:nvSpPr>
        <p:spPr>
          <a:xfrm>
            <a:off x="320039" y="1554480"/>
            <a:ext cx="2697480" cy="8229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4000" b="0" i="0">
                <a:solidFill>
                  <a:srgbClr val="212121"/>
                </a:solidFill>
              </a:rPr>
              <a:t>✅</a:t>
            </a:r>
          </a:p>
        </p:txBody>
      </p:sp>
      <p:sp>
        <p:nvSpPr>
          <p:cNvPr id="15" name="TextBox 14"/>
          <p:cNvSpPr txBox="1"/>
          <p:nvPr/>
        </p:nvSpPr>
        <p:spPr>
          <a:xfrm>
            <a:off x="411479" y="2423160"/>
            <a:ext cx="2514600" cy="54864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000" b="1" i="0">
                <a:solidFill>
                  <a:srgbClr val="212121"/>
                </a:solidFill>
              </a:rPr>
              <a:t>מה עושים</a:t>
            </a:r>
          </a:p>
        </p:txBody>
      </p:sp>
      <p:sp>
        <p:nvSpPr>
          <p:cNvPr id="16" name="TextBox 15"/>
          <p:cNvSpPr txBox="1"/>
          <p:nvPr/>
        </p:nvSpPr>
        <p:spPr>
          <a:xfrm>
            <a:off x="457199" y="3017520"/>
            <a:ext cx="2423160" cy="15544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0" i="0">
                <a:solidFill>
                  <a:srgbClr val="212121"/>
                </a:solidFill>
              </a:rPr>
              <a:t>גיבוי לפני סוכן, אישור לכל התקנה, ובדיקת שם החבילה באתר הרשמי.</a:t>
            </a:r>
          </a:p>
        </p:txBody>
      </p:sp>
      <p:sp>
        <p:nvSpPr>
          <p:cNvPr id="17" name="TextBox 16"/>
          <p:cNvSpPr txBox="1"/>
          <p:nvPr/>
        </p:nvSpPr>
        <p:spPr>
          <a:xfrm>
            <a:off x="365760" y="4709160"/>
            <a:ext cx="8412480" cy="36576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300" b="0" i="0">
                <a:solidFill>
                  <a:srgbClr val="595959"/>
                </a:solidFill>
              </a:rPr>
              <a:t>שני מקרים, אותו עיקרון: הרשאות מצמצמות נזק, ובדיקה אנושית תופסת המצאות.</a:t>
            </a:r>
          </a:p>
        </p:txBody>
      </p:sp>
      <p:sp>
        <p:nvSpPr>
          <p:cNvPr id="18"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העשרה: פרטיות לפי שכבת שימוש</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400000"/>
          <a:ext cx="8400000" cy="281000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3500000">
                  <a:extLst>
                    <a:ext uri="{9D8B030D-6E8A-4147-A177-3AD203B41FA5}">
                      <a16:colId xmlns:a16="http://schemas.microsoft.com/office/drawing/2014/main" val="20001"/>
                    </a:ext>
                  </a:extLst>
                </a:gridCol>
                <a:gridCol w="3000000">
                  <a:extLst>
                    <a:ext uri="{9D8B030D-6E8A-4147-A177-3AD203B41FA5}">
                      <a16:colId xmlns:a16="http://schemas.microsoft.com/office/drawing/2014/main" val="20002"/>
                    </a:ext>
                  </a:extLst>
                </a:gridCol>
              </a:tblGrid>
              <a:tr h="450000">
                <a:tc>
                  <a:txBody>
                    <a:bodyPr/>
                    <a:lstStyle/>
                    <a:p>
                      <a:pPr marL="0" indent="0" algn="ctr" rtl="1">
                        <a:lnSpc>
                          <a:spcPct val="100000"/>
                        </a:lnSpc>
                        <a:spcBef>
                          <a:spcPts val="0"/>
                        </a:spcBef>
                        <a:spcAft>
                          <a:spcPts val="0"/>
                        </a:spcAft>
                        <a:buNone/>
                      </a:pPr>
                      <a:r>
                        <a:rPr lang="he-IL" sz="1600" b="1" i="0">
                          <a:solidFill>
                            <a:srgbClr val="212121"/>
                          </a:solidFill>
                        </a:rPr>
                        <a:t>מה בודקים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600" b="1" i="0">
                          <a:solidFill>
                            <a:srgbClr val="212121"/>
                          </a:solidFill>
                        </a:rPr>
                        <a:t>מה נפוץ</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600" b="1" i="0">
                          <a:solidFill>
                            <a:srgbClr val="212121"/>
                          </a:solidFill>
                        </a:rPr>
                        <a:t>שכבה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590000">
                <a:tc>
                  <a:txBody>
                    <a:bodyPr/>
                    <a:lstStyle/>
                    <a:p>
                      <a:pPr marL="0" indent="0" algn="r" rtl="1">
                        <a:lnSpc>
                          <a:spcPct val="100000"/>
                        </a:lnSpc>
                        <a:spcBef>
                          <a:spcPts val="0"/>
                        </a:spcBef>
                        <a:spcAft>
                          <a:spcPts val="0"/>
                        </a:spcAft>
                        <a:buNone/>
                      </a:pPr>
                      <a:r>
                        <a:rPr lang="he-IL" sz="1500" b="0" i="0">
                          <a:solidFill>
                            <a:srgbClr val="212121"/>
                          </a:solidFill>
                        </a:rPr>
                        <a:t>הגדרות אימון ושמירה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עשוי לשמש לשיפור המוצר, ולעיתים נקרא בידי אנשים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חינמי או אישי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590000">
                <a:tc>
                  <a:txBody>
                    <a:bodyPr/>
                    <a:lstStyle/>
                    <a:p>
                      <a:pPr marL="0" indent="0" algn="r" rtl="1">
                        <a:lnSpc>
                          <a:spcPct val="100000"/>
                        </a:lnSpc>
                        <a:spcBef>
                          <a:spcPts val="0"/>
                        </a:spcBef>
                        <a:spcAft>
                          <a:spcPts val="0"/>
                        </a:spcAft>
                        <a:buNone/>
                      </a:pPr>
                      <a:r>
                        <a:rPr lang="he-IL" sz="1500" b="0" i="0">
                          <a:solidFill>
                            <a:srgbClr val="212121"/>
                          </a:solidFill>
                        </a:rPr>
                        <a:t>מתג הביטול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ברירת המחדל לעיתים מאפשרת אימון, ויש מתג ביטול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מנוי אישי בתשלום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590000">
                <a:tc>
                  <a:txBody>
                    <a:bodyPr/>
                    <a:lstStyle/>
                    <a:p>
                      <a:pPr marL="0" indent="0" algn="r" rtl="1">
                        <a:lnSpc>
                          <a:spcPct val="100000"/>
                        </a:lnSpc>
                        <a:spcBef>
                          <a:spcPts val="0"/>
                        </a:spcBef>
                        <a:spcAft>
                          <a:spcPts val="0"/>
                        </a:spcAft>
                        <a:buNone/>
                      </a:pPr>
                      <a:r>
                        <a:rPr lang="he-IL" sz="1500" b="0" i="0">
                          <a:solidFill>
                            <a:srgbClr val="212121"/>
                          </a:solidFill>
                        </a:rPr>
                        <a:t>הסכם והגדרות מנהל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בדרך כלל חוזה שאוסר אימון על הנתונים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ארגוני (Business, Enterprise)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r h="590000">
                <a:tc>
                  <a:txBody>
                    <a:bodyPr/>
                    <a:lstStyle/>
                    <a:p>
                      <a:pPr marL="0" indent="0" algn="r" rtl="1">
                        <a:lnSpc>
                          <a:spcPct val="100000"/>
                        </a:lnSpc>
                        <a:spcBef>
                          <a:spcPts val="0"/>
                        </a:spcBef>
                        <a:spcAft>
                          <a:spcPts val="0"/>
                        </a:spcAft>
                        <a:buNone/>
                      </a:pPr>
                      <a:r>
                        <a:rPr lang="he-IL" sz="1500" b="0" i="0">
                          <a:solidFill>
                            <a:srgbClr val="212121"/>
                          </a:solidFill>
                        </a:rPr>
                        <a:t>תנאי הספק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בדרך כלל לא לאימון, ושמירה מוגבלת לאבטחה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API בתשלום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365760" y="4300000"/>
            <a:ext cx="8412480" cy="4200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400" b="0" i="0">
                <a:solidFill>
                  <a:srgbClr val="212121"/>
                </a:solidFill>
              </a:rPr>
              <a:t>המדיניות משתנה: ההכרעה היא בתנאי השימוש של הכלי בתאריך השימוש.</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ב׳ :</a:t>
            </a:r>
            <a:r>
              <a:rPr lang="he-IL" sz="3000" b="1" i="0">
                <a:solidFill>
                  <a:srgbClr val="212121"/>
                </a:solidFill>
              </a:rPr>
              <a:t>איך קוראים תמלול של סוכן</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3108960" y="1417320"/>
            <a:ext cx="5669280" cy="3291840"/>
          </a:xfrm>
          <a:prstGeom prst="roundRect">
            <a:avLst>
              <a:gd name="adj" fmla="val 3000"/>
            </a:avLst>
          </a:prstGeom>
          <a:solidFill>
            <a:srgbClr val="1E1E1E"/>
          </a:solidFill>
          <a:ln w="19050">
            <a:solidFill>
              <a:srgbClr val="1E1E1E"/>
            </a:solidFill>
          </a:ln>
        </p:spPr>
        <p:txBody>
          <a:bodyPr wrap="square" lIns="73152" tIns="73152" rIns="73152" bIns="73152" rtlCol="0" anchor="ctr">
            <a:noAutofit/>
          </a:bodyPr>
          <a:lstStyle/>
          <a:p>
            <a:pPr algn="ctr"/>
            <a:endParaRPr/>
          </a:p>
        </p:txBody>
      </p:sp>
      <p:sp>
        <p:nvSpPr>
          <p:cNvPr id="6" name="Rectangle 5"/>
          <p:cNvSpPr/>
          <p:nvPr/>
        </p:nvSpPr>
        <p:spPr>
          <a:xfrm>
            <a:off x="3108960" y="1417320"/>
            <a:ext cx="5669280" cy="347472"/>
          </a:xfrm>
          <a:prstGeom prst="rect">
            <a:avLst/>
          </a:prstGeom>
          <a:solidFill>
            <a:srgbClr val="333333"/>
          </a:solidFill>
          <a:ln w="19050">
            <a:solidFill>
              <a:srgbClr val="333333"/>
            </a:solidFill>
          </a:ln>
        </p:spPr>
        <p:txBody>
          <a:bodyPr wrap="square" lIns="73152" tIns="73152" rIns="73152" bIns="73152" rtlCol="0" anchor="ctr">
            <a:noAutofit/>
          </a:bodyPr>
          <a:lstStyle/>
          <a:p>
            <a:pPr marL="0" indent="0" algn="l" rtl="1">
              <a:lnSpc>
                <a:spcPct val="105000"/>
              </a:lnSpc>
              <a:spcBef>
                <a:spcPts val="0"/>
              </a:spcBef>
              <a:spcAft>
                <a:spcPts val="0"/>
              </a:spcAft>
              <a:buNone/>
            </a:pPr>
            <a:r>
              <a:rPr lang="he-IL" sz="1200" b="0" i="0">
                <a:solidFill>
                  <a:srgbClr val="BBBBBB"/>
                </a:solidFill>
              </a:rPr>
              <a:t>● ● ●   תמלול של ריצת סוכן</a:t>
            </a:r>
          </a:p>
        </p:txBody>
      </p:sp>
      <p:sp>
        <p:nvSpPr>
          <p:cNvPr id="7" name="TextBox 6"/>
          <p:cNvSpPr txBox="1"/>
          <p:nvPr/>
        </p:nvSpPr>
        <p:spPr>
          <a:xfrm>
            <a:off x="3246120" y="1874519"/>
            <a:ext cx="5394960" cy="2743200"/>
          </a:xfrm>
          <a:prstGeom prst="rect">
            <a:avLst/>
          </a:prstGeom>
          <a:noFill/>
        </p:spPr>
        <p:txBody>
          <a:bodyPr wrap="square" lIns="45720" tIns="45720" rIns="45720" bIns="45720" anchor="t">
            <a:noAutofit/>
          </a:bodyPr>
          <a:lstStyle/>
          <a:p>
            <a:pPr marL="0" indent="0" algn="l" rtl="0">
              <a:lnSpc>
                <a:spcPct val="120000"/>
              </a:lnSpc>
              <a:spcBef>
                <a:spcPts val="0"/>
              </a:spcBef>
              <a:spcAft>
                <a:spcPts val="0"/>
              </a:spcAft>
              <a:buNone/>
            </a:pPr>
            <a:r>
              <a:rPr lang="he-IL" sz="1400" b="0" i="0">
                <a:solidFill>
                  <a:srgbClr val="FFCA6B"/>
                </a:solidFill>
                <a:latin typeface="Courier New"/>
                <a:ea typeface="Courier New"/>
                <a:cs typeface="Courier New"/>
              </a:rPr>
              <a:t>&gt; read orders.csv</a:t>
            </a:r>
          </a:p>
          <a:p>
            <a:pPr marL="0" indent="0" algn="l" rtl="0">
              <a:lnSpc>
                <a:spcPct val="120000"/>
              </a:lnSpc>
              <a:spcBef>
                <a:spcPts val="0"/>
              </a:spcBef>
              <a:spcAft>
                <a:spcPts val="0"/>
              </a:spcAft>
              <a:buNone/>
            </a:pPr>
            <a:r>
              <a:rPr lang="he-IL" sz="1400" b="0" i="0">
                <a:solidFill>
                  <a:srgbClr val="FFCA6B"/>
                </a:solidFill>
                <a:latin typeface="Courier New"/>
                <a:ea typeface="Courier New"/>
                <a:cs typeface="Courier New"/>
              </a:rPr>
              <a:t>&gt; create analysis.py</a:t>
            </a:r>
          </a:p>
          <a:p>
            <a:pPr marL="0" indent="0" algn="l" rtl="0">
              <a:lnSpc>
                <a:spcPct val="120000"/>
              </a:lnSpc>
              <a:spcBef>
                <a:spcPts val="0"/>
              </a:spcBef>
              <a:spcAft>
                <a:spcPts val="0"/>
              </a:spcAft>
              <a:buNone/>
            </a:pPr>
            <a:r>
              <a:rPr lang="he-IL" sz="1400" b="0" i="0">
                <a:solidFill>
                  <a:srgbClr val="FFCA6B"/>
                </a:solidFill>
                <a:latin typeface="Courier New"/>
                <a:ea typeface="Courier New"/>
                <a:cs typeface="Courier New"/>
              </a:rPr>
              <a:t>&gt; run python analysis.py</a:t>
            </a:r>
          </a:p>
          <a:p>
            <a:pPr marL="0" indent="0" algn="l" rtl="0">
              <a:lnSpc>
                <a:spcPct val="120000"/>
              </a:lnSpc>
              <a:spcBef>
                <a:spcPts val="0"/>
              </a:spcBef>
              <a:spcAft>
                <a:spcPts val="0"/>
              </a:spcAft>
              <a:buNone/>
            </a:pPr>
            <a:r>
              <a:rPr lang="he-IL" sz="1400" b="0" i="0">
                <a:solidFill>
                  <a:srgbClr val="EEEEEE"/>
                </a:solidFill>
                <a:latin typeface="Courier New"/>
                <a:ea typeface="Courier New"/>
                <a:cs typeface="Courier New"/>
              </a:rPr>
              <a:t>! KeyError: 'revenue'</a:t>
            </a:r>
          </a:p>
          <a:p>
            <a:pPr marL="0" indent="0" algn="l" rtl="0">
              <a:lnSpc>
                <a:spcPct val="120000"/>
              </a:lnSpc>
              <a:spcBef>
                <a:spcPts val="0"/>
              </a:spcBef>
              <a:spcAft>
                <a:spcPts val="0"/>
              </a:spcAft>
              <a:buNone/>
            </a:pPr>
            <a:r>
              <a:rPr lang="he-IL" sz="1400" b="0" i="0">
                <a:solidFill>
                  <a:srgbClr val="FFCA6B"/>
                </a:solidFill>
                <a:latin typeface="Courier New"/>
                <a:ea typeface="Courier New"/>
                <a:cs typeface="Courier New"/>
              </a:rPr>
              <a:t>&gt; edit analysis.py</a:t>
            </a:r>
          </a:p>
          <a:p>
            <a:pPr marL="0" indent="0" algn="l" rtl="0">
              <a:lnSpc>
                <a:spcPct val="120000"/>
              </a:lnSpc>
              <a:spcBef>
                <a:spcPts val="0"/>
              </a:spcBef>
              <a:spcAft>
                <a:spcPts val="0"/>
              </a:spcAft>
              <a:buNone/>
            </a:pPr>
            <a:r>
              <a:rPr lang="he-IL" sz="1400" b="0" i="0">
                <a:solidFill>
                  <a:srgbClr val="FFCA6B"/>
                </a:solidFill>
                <a:latin typeface="Courier New"/>
                <a:ea typeface="Courier New"/>
                <a:cs typeface="Courier New"/>
              </a:rPr>
              <a:t>&gt; run python analysis.py</a:t>
            </a:r>
          </a:p>
          <a:p>
            <a:pPr marL="0" indent="0" algn="l" rtl="0">
              <a:lnSpc>
                <a:spcPct val="120000"/>
              </a:lnSpc>
              <a:spcBef>
                <a:spcPts val="0"/>
              </a:spcBef>
              <a:spcAft>
                <a:spcPts val="0"/>
              </a:spcAft>
              <a:buNone/>
            </a:pPr>
            <a:r>
              <a:rPr lang="he-IL" sz="1400" b="0" i="0">
                <a:solidFill>
                  <a:srgbClr val="FFCA6B"/>
                </a:solidFill>
                <a:latin typeface="Courier New"/>
                <a:ea typeface="Courier New"/>
                <a:cs typeface="Courier New"/>
              </a:rPr>
              <a:t>&gt; create top5.png</a:t>
            </a:r>
          </a:p>
          <a:p>
            <a:pPr marL="0" indent="0" algn="l" rtl="0">
              <a:lnSpc>
                <a:spcPct val="120000"/>
              </a:lnSpc>
              <a:spcBef>
                <a:spcPts val="0"/>
              </a:spcBef>
              <a:spcAft>
                <a:spcPts val="0"/>
              </a:spcAft>
              <a:buNone/>
            </a:pPr>
            <a:r>
              <a:rPr lang="he-IL" sz="1400" b="0" i="0">
                <a:solidFill>
                  <a:srgbClr val="FFCA6B"/>
                </a:solidFill>
                <a:latin typeface="Courier New"/>
                <a:ea typeface="Courier New"/>
                <a:cs typeface="Courier New"/>
              </a:rPr>
              <a:t>&gt; done</a:t>
            </a:r>
          </a:p>
        </p:txBody>
      </p:sp>
      <p:sp>
        <p:nvSpPr>
          <p:cNvPr id="8" name="TextBox 7"/>
          <p:cNvSpPr txBox="1"/>
          <p:nvPr/>
        </p:nvSpPr>
        <p:spPr>
          <a:xfrm>
            <a:off x="274320" y="1417320"/>
            <a:ext cx="2743200" cy="3383280"/>
          </a:xfrm>
          <a:prstGeom prst="rect">
            <a:avLst/>
          </a:prstGeom>
          <a:noFill/>
        </p:spPr>
        <p:txBody>
          <a:bodyPr wrap="square" lIns="73152" tIns="73152" rIns="73152" bIns="73152" anchor="t">
            <a:noAutofit/>
          </a:bodyPr>
          <a:lstStyle/>
          <a:p>
            <a:pPr marL="0" indent="0" algn="r" rtl="1">
              <a:lnSpc>
                <a:spcPct val="110000"/>
              </a:lnSpc>
              <a:spcBef>
                <a:spcPts val="0"/>
              </a:spcBef>
              <a:spcAft>
                <a:spcPts val="600"/>
              </a:spcAft>
              <a:buNone/>
            </a:pPr>
            <a:r>
              <a:rPr lang="he-IL" sz="2200" b="1" i="0">
                <a:solidFill>
                  <a:srgbClr val="FFAB40"/>
                </a:solidFill>
              </a:rPr>
              <a:t>תמלול הוא יומן פעולות</a:t>
            </a:r>
          </a:p>
          <a:p>
            <a:pPr marL="0" indent="0" algn="r" rtl="1">
              <a:lnSpc>
                <a:spcPct val="110000"/>
              </a:lnSpc>
              <a:spcBef>
                <a:spcPts val="0"/>
              </a:spcBef>
              <a:spcAft>
                <a:spcPts val="800"/>
              </a:spcAft>
              <a:buNone/>
            </a:pPr>
            <a:r>
              <a:rPr lang="he-IL" sz="1700" b="0" i="0">
                <a:solidFill>
                  <a:srgbClr val="212121"/>
                </a:solidFill>
              </a:rPr>
              <a:t>שלוש שאלות לכל תמלול: מה נקרא? מה נוצר או נערך? מה הורץ?</a:t>
            </a:r>
          </a:p>
          <a:p>
            <a:pPr marL="0" indent="0" algn="r" rtl="1">
              <a:lnSpc>
                <a:spcPct val="110000"/>
              </a:lnSpc>
              <a:spcBef>
                <a:spcPts val="0"/>
              </a:spcBef>
              <a:spcAft>
                <a:spcPts val="0"/>
              </a:spcAft>
              <a:buNone/>
            </a:pPr>
            <a:r>
              <a:rPr lang="he-IL" sz="1700" b="0" i="0">
                <a:solidFill>
                  <a:srgbClr val="212121"/>
                </a:solidFill>
              </a:rPr>
              <a:t>פעולה מסוכנת: התקנה, מחיקה, או קובץ שלא התבקש.</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ב׳ : הקובץ הנדרש</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212121"/>
                </a:solidFill>
              </a:rPr>
              <a:t>הקובץ לתרגול: HM_05.ipynb. חלק ב׳: תמלול סוכן.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8" name="Oval 7"/>
          <p:cNvSpPr/>
          <p:nvPr/>
        </p:nvSpPr>
        <p:spPr>
          <a:xfrm>
            <a:off x="7315200" y="182880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dirty="0">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HM_05.ipynb. חלק ב׳: תמלול סוכן</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2" name="Oval 11"/>
          <p:cNvSpPr/>
          <p:nvPr/>
        </p:nvSpPr>
        <p:spPr>
          <a:xfrm>
            <a:off x="4389120" y="1828800"/>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6" name="Oval 15"/>
          <p:cNvSpPr/>
          <p:nvPr/>
        </p:nvSpPr>
        <p:spPr>
          <a:xfrm>
            <a:off x="1463039" y="1828800"/>
            <a:ext cx="384048" cy="384048"/>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בסוף: ✓ בכל הבדיקות, שמירה ב־Drive והורדת הקובץ</a:t>
            </a:r>
          </a:p>
        </p:txBody>
      </p:sp>
      <p:sp>
        <p:nvSpPr>
          <p:cNvPr id="19" name="Rounded Rectangle 18"/>
          <p:cNvSpPr/>
          <p:nvPr/>
        </p:nvSpPr>
        <p:spPr>
          <a:xfrm>
            <a:off x="365760" y="4160520"/>
            <a:ext cx="6675120" cy="64008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0" i="0">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1" i="0">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200" b="0" i="0">
                <a:solidFill>
                  <a:srgbClr val="595959"/>
                </a:solidFill>
              </a:rPr>
              <a:t>קישור ל־HM_05.ipynb</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ב׳ : מה סוכן עושה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212121"/>
                </a:solidFill>
              </a:rPr>
              <a:t>למה: לשלוט בסוכן = לקרוא מה עשה (מפגש 1). מתרגלים על תמלול.</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8" name="Oval 7"/>
          <p:cNvSpPr/>
          <p:nvPr/>
        </p:nvSpPr>
        <p:spPr>
          <a:xfrm>
            <a:off x="7315200" y="182880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dirty="0">
                <a:solidFill>
                  <a:srgbClr val="212121"/>
                </a:solidFill>
              </a:rPr>
              <a:t>תמלול מסכמים</a:t>
            </a:r>
          </a:p>
        </p:txBody>
      </p:sp>
      <p:sp>
        <p:nvSpPr>
          <p:cNvPr id="10" name="TextBox 9"/>
          <p:cNvSpPr txBox="1"/>
          <p:nvPr/>
        </p:nvSpPr>
        <p:spPr>
          <a:xfrm>
            <a:off x="6309360"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summarize_transcript: מה נקרא, נוצר, נערך והורץ</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2" name="Oval 11"/>
          <p:cNvSpPr/>
          <p:nvPr/>
        </p:nvSpPr>
        <p:spPr>
          <a:xfrm>
            <a:off x="4389120" y="1828800"/>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סולם אוטונומיה</a:t>
            </a:r>
          </a:p>
        </p:txBody>
      </p:sp>
      <p:sp>
        <p:nvSpPr>
          <p:cNvPr id="14" name="TextBox 13"/>
          <p:cNvSpPr txBox="1"/>
          <p:nvPr/>
        </p:nvSpPr>
        <p:spPr>
          <a:xfrm>
            <a:off x="338327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count_approvals: כמה אישורים בכל אחת משלוש הרמות העליונות</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6" name="Oval 15"/>
          <p:cNvSpPr/>
          <p:nvPr/>
        </p:nvSpPr>
        <p:spPr>
          <a:xfrm>
            <a:off x="1463039" y="1828800"/>
            <a:ext cx="384048" cy="384048"/>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פעולות מסוכנות</a:t>
            </a:r>
          </a:p>
        </p:txBody>
      </p:sp>
      <p:sp>
        <p:nvSpPr>
          <p:cNvPr id="18" name="TextBox 17"/>
          <p:cNvSpPr txBox="1"/>
          <p:nvPr/>
        </p:nvSpPr>
        <p:spPr>
          <a:xfrm>
            <a:off x="45719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find_risky: התקנת חבילה (הזיה, מפגש 2), מחיקה, קובץ שלא התבקש</a:t>
            </a:r>
          </a:p>
        </p:txBody>
      </p:sp>
      <p:sp>
        <p:nvSpPr>
          <p:cNvPr id="19" name="Rounded Rectangle 18"/>
          <p:cNvSpPr/>
          <p:nvPr/>
        </p:nvSpPr>
        <p:spPr>
          <a:xfrm>
            <a:off x="365760" y="4160520"/>
            <a:ext cx="6675120" cy="64008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0" i="0">
                <a:solidFill>
                  <a:srgbClr val="212121"/>
                </a:solidFill>
              </a:rPr>
              <a:t>סוכן CLI לא רץ ב־Colab, ולכן קוראים תמלול של ריצה. את הסוכן עצמו תראו בהדגמה על המקרן.</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1" i="0">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200" b="0" i="0">
                <a:solidFill>
                  <a:srgbClr val="595959"/>
                </a:solidFill>
              </a:rPr>
              <a:t>קישור למחברת HM_05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ב׳ : מה אמור לצאת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8" name="Oval 7"/>
          <p:cNvSpPr/>
          <p:nvPr/>
        </p:nvSpPr>
        <p:spPr>
          <a:xfrm>
            <a:off x="7315200" y="182880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תמלול ראשון</a:t>
            </a:r>
          </a:p>
        </p:txBody>
      </p:sp>
      <p:sp>
        <p:nvSpPr>
          <p:cNvPr id="10" name="TextBox 9"/>
          <p:cNvSpPr txBox="1"/>
          <p:nvPr/>
        </p:nvSpPr>
        <p:spPr>
          <a:xfrm>
            <a:off x="6309360"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נקראו 2 קבצים, נוצרו 2, נערך 1, הורצו 2 פקודות, שגיאה אחת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2" name="Oval 11"/>
          <p:cNvSpPr/>
          <p:nvPr/>
        </p:nvSpPr>
        <p:spPr>
          <a:xfrm>
            <a:off x="4389120" y="1828800"/>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אישורים</a:t>
            </a:r>
          </a:p>
        </p:txBody>
      </p:sp>
      <p:sp>
        <p:nvSpPr>
          <p:cNvPr id="14" name="TextBox 13"/>
          <p:cNvSpPr txBox="1"/>
          <p:nvPr/>
        </p:nvSpPr>
        <p:spPr>
          <a:xfrm>
            <a:off x="338327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ask_all: 7, auto_edit: 2, full_auto: 0</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6" name="Oval 15"/>
          <p:cNvSpPr/>
          <p:nvPr/>
        </p:nvSpPr>
        <p:spPr>
          <a:xfrm>
            <a:off x="1463039" y="1828800"/>
            <a:ext cx="384048" cy="384048"/>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תמלול שני</a:t>
            </a:r>
          </a:p>
        </p:txBody>
      </p:sp>
      <p:sp>
        <p:nvSpPr>
          <p:cNvPr id="18" name="TextBox 17"/>
          <p:cNvSpPr txBox="1"/>
          <p:nvPr/>
        </p:nvSpPr>
        <p:spPr>
          <a:xfrm>
            <a:off x="45719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3 שורות מסוכנות: קובץ לא מותר, התקנה ומחיקה</a:t>
            </a:r>
          </a:p>
        </p:txBody>
      </p:sp>
      <p:sp>
        <p:nvSpPr>
          <p:cNvPr id="19" name="Rounded Rectangle 18"/>
          <p:cNvSpPr/>
          <p:nvPr/>
        </p:nvSpPr>
        <p:spPr>
          <a:xfrm>
            <a:off x="365760" y="4160520"/>
            <a:ext cx="6675120" cy="64008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0" i="0">
                <a:solidFill>
                  <a:srgbClr val="212121"/>
                </a:solidFill>
              </a:rPr>
              <a:t>הסוכן תיקן בעצמו את השגיאה בתמלול הראשון. זו יכולת שלצ׳אט אין.</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חמישה קריטריונים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7223760" y="1463040"/>
            <a:ext cx="1600200" cy="3291840"/>
          </a:xfrm>
          <a:prstGeom prst="roundRect">
            <a:avLst>
              <a:gd name="adj" fmla="val 8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6" name="Oval 5"/>
          <p:cNvSpPr/>
          <p:nvPr/>
        </p:nvSpPr>
        <p:spPr>
          <a:xfrm>
            <a:off x="7818120" y="1298448"/>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500" b="1" i="0">
                <a:solidFill>
                  <a:srgbClr val="FFFFFF"/>
                </a:solidFill>
              </a:rPr>
              <a:t>1</a:t>
            </a:r>
          </a:p>
        </p:txBody>
      </p:sp>
      <p:sp>
        <p:nvSpPr>
          <p:cNvPr id="7" name="TextBox 6"/>
          <p:cNvSpPr txBox="1"/>
          <p:nvPr/>
        </p:nvSpPr>
        <p:spPr>
          <a:xfrm>
            <a:off x="7223760" y="1783080"/>
            <a:ext cx="1600200" cy="6400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200" b="0" i="0">
                <a:solidFill>
                  <a:srgbClr val="212121"/>
                </a:solidFill>
              </a:rPr>
              <a:t>📏</a:t>
            </a:r>
          </a:p>
        </p:txBody>
      </p:sp>
      <p:sp>
        <p:nvSpPr>
          <p:cNvPr id="8" name="TextBox 7"/>
          <p:cNvSpPr txBox="1"/>
          <p:nvPr/>
        </p:nvSpPr>
        <p:spPr>
          <a:xfrm>
            <a:off x="7269480" y="2468880"/>
            <a:ext cx="1508760" cy="68580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1700" b="1" i="0">
                <a:solidFill>
                  <a:srgbClr val="212121"/>
                </a:solidFill>
              </a:rPr>
              <a:t>גודל המשימה</a:t>
            </a:r>
          </a:p>
        </p:txBody>
      </p:sp>
      <p:sp>
        <p:nvSpPr>
          <p:cNvPr id="9" name="TextBox 8"/>
          <p:cNvSpPr txBox="1"/>
          <p:nvPr/>
        </p:nvSpPr>
        <p:spPr>
          <a:xfrm>
            <a:off x="7296912" y="3200400"/>
            <a:ext cx="1463040" cy="14630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400" b="0" i="0">
                <a:solidFill>
                  <a:srgbClr val="212121"/>
                </a:solidFill>
              </a:rPr>
              <a:t>שורה אחת, או כמה קבצים?</a:t>
            </a:r>
          </a:p>
        </p:txBody>
      </p:sp>
      <p:sp>
        <p:nvSpPr>
          <p:cNvPr id="10" name="Rounded Rectangle 9"/>
          <p:cNvSpPr/>
          <p:nvPr/>
        </p:nvSpPr>
        <p:spPr>
          <a:xfrm>
            <a:off x="5486400" y="1463040"/>
            <a:ext cx="1600200" cy="3291840"/>
          </a:xfrm>
          <a:prstGeom prst="roundRect">
            <a:avLst>
              <a:gd name="adj" fmla="val 8000"/>
            </a:avLst>
          </a:prstGeom>
          <a:solidFill>
            <a:srgbClr val="DDF2F5"/>
          </a:solidFill>
          <a:ln w="31750">
            <a:solidFill>
              <a:srgbClr val="0097A7"/>
            </a:solidFill>
          </a:ln>
        </p:spPr>
        <p:txBody>
          <a:bodyPr wrap="square" lIns="73152" tIns="73152" rIns="73152" bIns="73152" rtlCol="0" anchor="ctr">
            <a:noAutofit/>
          </a:bodyPr>
          <a:lstStyle/>
          <a:p>
            <a:pPr algn="ctr"/>
            <a:endParaRPr/>
          </a:p>
        </p:txBody>
      </p:sp>
      <p:sp>
        <p:nvSpPr>
          <p:cNvPr id="11" name="Oval 10"/>
          <p:cNvSpPr/>
          <p:nvPr/>
        </p:nvSpPr>
        <p:spPr>
          <a:xfrm>
            <a:off x="6080760" y="1298448"/>
            <a:ext cx="384048" cy="384048"/>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500" b="1" i="0">
                <a:solidFill>
                  <a:srgbClr val="FFFFFF"/>
                </a:solidFill>
              </a:rPr>
              <a:t>2</a:t>
            </a:r>
          </a:p>
        </p:txBody>
      </p:sp>
      <p:sp>
        <p:nvSpPr>
          <p:cNvPr id="12" name="TextBox 11"/>
          <p:cNvSpPr txBox="1"/>
          <p:nvPr/>
        </p:nvSpPr>
        <p:spPr>
          <a:xfrm>
            <a:off x="5486400" y="1783080"/>
            <a:ext cx="1600200" cy="6400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200" b="0" i="0">
                <a:solidFill>
                  <a:srgbClr val="212121"/>
                </a:solidFill>
              </a:rPr>
              <a:t>👁️</a:t>
            </a:r>
          </a:p>
        </p:txBody>
      </p:sp>
      <p:sp>
        <p:nvSpPr>
          <p:cNvPr id="13" name="TextBox 12"/>
          <p:cNvSpPr txBox="1"/>
          <p:nvPr/>
        </p:nvSpPr>
        <p:spPr>
          <a:xfrm>
            <a:off x="5532120" y="2468880"/>
            <a:ext cx="1508760" cy="68580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1700" b="1" i="0">
                <a:solidFill>
                  <a:srgbClr val="212121"/>
                </a:solidFill>
              </a:rPr>
              <a:t>הקשר</a:t>
            </a:r>
          </a:p>
        </p:txBody>
      </p:sp>
      <p:sp>
        <p:nvSpPr>
          <p:cNvPr id="14" name="TextBox 13"/>
          <p:cNvSpPr txBox="1"/>
          <p:nvPr/>
        </p:nvSpPr>
        <p:spPr>
          <a:xfrm>
            <a:off x="5559552" y="3200400"/>
            <a:ext cx="1463040" cy="14630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400" b="0" i="0">
                <a:solidFill>
                  <a:srgbClr val="212121"/>
                </a:solidFill>
              </a:rPr>
              <a:t>מה הכלי צריך לראות? (חלון ההקשר, מפגש 2)</a:t>
            </a:r>
          </a:p>
        </p:txBody>
      </p:sp>
      <p:sp>
        <p:nvSpPr>
          <p:cNvPr id="15" name="Rounded Rectangle 14"/>
          <p:cNvSpPr/>
          <p:nvPr/>
        </p:nvSpPr>
        <p:spPr>
          <a:xfrm>
            <a:off x="3749040" y="1463040"/>
            <a:ext cx="1600200" cy="3291840"/>
          </a:xfrm>
          <a:prstGeom prst="roundRect">
            <a:avLst>
              <a:gd name="adj" fmla="val 8000"/>
            </a:avLst>
          </a:prstGeom>
          <a:solidFill>
            <a:srgbClr val="FDE3E0"/>
          </a:solidFill>
          <a:ln w="31750">
            <a:solidFill>
              <a:srgbClr val="EA4335"/>
            </a:solidFill>
          </a:ln>
        </p:spPr>
        <p:txBody>
          <a:bodyPr wrap="square" lIns="73152" tIns="73152" rIns="73152" bIns="73152" rtlCol="0" anchor="ctr">
            <a:noAutofit/>
          </a:bodyPr>
          <a:lstStyle/>
          <a:p>
            <a:pPr algn="ctr"/>
            <a:endParaRPr/>
          </a:p>
        </p:txBody>
      </p:sp>
      <p:sp>
        <p:nvSpPr>
          <p:cNvPr id="16" name="Oval 15"/>
          <p:cNvSpPr/>
          <p:nvPr/>
        </p:nvSpPr>
        <p:spPr>
          <a:xfrm>
            <a:off x="4343400" y="1298448"/>
            <a:ext cx="384048" cy="384048"/>
          </a:xfrm>
          <a:prstGeom prst="ellipse">
            <a:avLst/>
          </a:prstGeom>
          <a:solidFill>
            <a:srgbClr val="EA4335"/>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500" b="1" i="0">
                <a:solidFill>
                  <a:srgbClr val="FFFFFF"/>
                </a:solidFill>
              </a:rPr>
              <a:t>3</a:t>
            </a:r>
          </a:p>
        </p:txBody>
      </p:sp>
      <p:sp>
        <p:nvSpPr>
          <p:cNvPr id="17" name="TextBox 16"/>
          <p:cNvSpPr txBox="1"/>
          <p:nvPr/>
        </p:nvSpPr>
        <p:spPr>
          <a:xfrm>
            <a:off x="3749040" y="1783080"/>
            <a:ext cx="1600200" cy="6400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200" b="0" i="0">
                <a:solidFill>
                  <a:srgbClr val="212121"/>
                </a:solidFill>
              </a:rPr>
              <a:t>⚠️</a:t>
            </a:r>
          </a:p>
        </p:txBody>
      </p:sp>
      <p:sp>
        <p:nvSpPr>
          <p:cNvPr id="18" name="TextBox 17"/>
          <p:cNvSpPr txBox="1"/>
          <p:nvPr/>
        </p:nvSpPr>
        <p:spPr>
          <a:xfrm>
            <a:off x="3794760" y="2468880"/>
            <a:ext cx="1508760" cy="68580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1700" b="1" i="0">
                <a:solidFill>
                  <a:srgbClr val="212121"/>
                </a:solidFill>
              </a:rPr>
              <a:t>סיכון</a:t>
            </a:r>
          </a:p>
        </p:txBody>
      </p:sp>
      <p:sp>
        <p:nvSpPr>
          <p:cNvPr id="19" name="TextBox 18"/>
          <p:cNvSpPr txBox="1"/>
          <p:nvPr/>
        </p:nvSpPr>
        <p:spPr>
          <a:xfrm>
            <a:off x="3822192" y="3200400"/>
            <a:ext cx="1463040" cy="14630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400" b="0" i="0">
                <a:solidFill>
                  <a:srgbClr val="212121"/>
                </a:solidFill>
              </a:rPr>
              <a:t>מה יקרה אם הוא טועה?</a:t>
            </a:r>
          </a:p>
        </p:txBody>
      </p:sp>
      <p:sp>
        <p:nvSpPr>
          <p:cNvPr id="20" name="Rounded Rectangle 19"/>
          <p:cNvSpPr/>
          <p:nvPr/>
        </p:nvSpPr>
        <p:spPr>
          <a:xfrm>
            <a:off x="2011680" y="1463040"/>
            <a:ext cx="1600200" cy="3291840"/>
          </a:xfrm>
          <a:prstGeom prst="roundRect">
            <a:avLst>
              <a:gd name="adj" fmla="val 8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21" name="Oval 20"/>
          <p:cNvSpPr/>
          <p:nvPr/>
        </p:nvSpPr>
        <p:spPr>
          <a:xfrm>
            <a:off x="2606040" y="1298448"/>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500" b="1" i="0">
                <a:solidFill>
                  <a:srgbClr val="FFFFFF"/>
                </a:solidFill>
              </a:rPr>
              <a:t>4</a:t>
            </a:r>
          </a:p>
        </p:txBody>
      </p:sp>
      <p:sp>
        <p:nvSpPr>
          <p:cNvPr id="22" name="TextBox 21"/>
          <p:cNvSpPr txBox="1"/>
          <p:nvPr/>
        </p:nvSpPr>
        <p:spPr>
          <a:xfrm>
            <a:off x="2011680" y="1783080"/>
            <a:ext cx="1600200" cy="6400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200" b="0" i="0">
                <a:solidFill>
                  <a:srgbClr val="212121"/>
                </a:solidFill>
              </a:rPr>
              <a:t>🔒</a:t>
            </a:r>
          </a:p>
        </p:txBody>
      </p:sp>
      <p:sp>
        <p:nvSpPr>
          <p:cNvPr id="23" name="TextBox 22"/>
          <p:cNvSpPr txBox="1"/>
          <p:nvPr/>
        </p:nvSpPr>
        <p:spPr>
          <a:xfrm>
            <a:off x="2057400" y="2468880"/>
            <a:ext cx="1508760" cy="68580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1700" b="1" i="0">
                <a:solidFill>
                  <a:srgbClr val="212121"/>
                </a:solidFill>
              </a:rPr>
              <a:t>פרטיות ועלות</a:t>
            </a:r>
          </a:p>
        </p:txBody>
      </p:sp>
      <p:sp>
        <p:nvSpPr>
          <p:cNvPr id="24" name="TextBox 23"/>
          <p:cNvSpPr txBox="1"/>
          <p:nvPr/>
        </p:nvSpPr>
        <p:spPr>
          <a:xfrm>
            <a:off x="2084832" y="3200400"/>
            <a:ext cx="1463040" cy="14630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400" b="0" i="0">
                <a:solidFill>
                  <a:srgbClr val="212121"/>
                </a:solidFill>
              </a:rPr>
              <a:t>מה נשלח החוצה? כמה זה עולה?</a:t>
            </a:r>
          </a:p>
        </p:txBody>
      </p:sp>
      <p:sp>
        <p:nvSpPr>
          <p:cNvPr id="25" name="Rounded Rectangle 24"/>
          <p:cNvSpPr/>
          <p:nvPr/>
        </p:nvSpPr>
        <p:spPr>
          <a:xfrm>
            <a:off x="274320" y="1463040"/>
            <a:ext cx="1600200" cy="3291840"/>
          </a:xfrm>
          <a:prstGeom prst="roundRect">
            <a:avLst>
              <a:gd name="adj" fmla="val 8000"/>
            </a:avLst>
          </a:prstGeom>
          <a:solidFill>
            <a:srgbClr val="E1F4E6"/>
          </a:solidFill>
          <a:ln w="31750">
            <a:solidFill>
              <a:srgbClr val="34A853"/>
            </a:solidFill>
          </a:ln>
        </p:spPr>
        <p:txBody>
          <a:bodyPr wrap="square" lIns="73152" tIns="73152" rIns="73152" bIns="73152" rtlCol="0" anchor="ctr">
            <a:noAutofit/>
          </a:bodyPr>
          <a:lstStyle/>
          <a:p>
            <a:pPr algn="ctr"/>
            <a:endParaRPr/>
          </a:p>
        </p:txBody>
      </p:sp>
      <p:sp>
        <p:nvSpPr>
          <p:cNvPr id="26" name="Oval 25"/>
          <p:cNvSpPr/>
          <p:nvPr/>
        </p:nvSpPr>
        <p:spPr>
          <a:xfrm>
            <a:off x="868680" y="1298448"/>
            <a:ext cx="384048" cy="384048"/>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500" b="1" i="0">
                <a:solidFill>
                  <a:srgbClr val="FFFFFF"/>
                </a:solidFill>
              </a:rPr>
              <a:t>5</a:t>
            </a:r>
          </a:p>
        </p:txBody>
      </p:sp>
      <p:sp>
        <p:nvSpPr>
          <p:cNvPr id="27" name="TextBox 26"/>
          <p:cNvSpPr txBox="1"/>
          <p:nvPr/>
        </p:nvSpPr>
        <p:spPr>
          <a:xfrm>
            <a:off x="274320" y="1783080"/>
            <a:ext cx="1600200" cy="64008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200" b="0" i="0">
                <a:solidFill>
                  <a:srgbClr val="212121"/>
                </a:solidFill>
              </a:rPr>
              <a:t>🎛️</a:t>
            </a:r>
          </a:p>
        </p:txBody>
      </p:sp>
      <p:sp>
        <p:nvSpPr>
          <p:cNvPr id="28" name="TextBox 27"/>
          <p:cNvSpPr txBox="1"/>
          <p:nvPr/>
        </p:nvSpPr>
        <p:spPr>
          <a:xfrm>
            <a:off x="320040" y="2468880"/>
            <a:ext cx="1508760" cy="68580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1700" b="1" i="0">
                <a:solidFill>
                  <a:srgbClr val="212121"/>
                </a:solidFill>
              </a:rPr>
              <a:t>שליטה</a:t>
            </a:r>
          </a:p>
        </p:txBody>
      </p:sp>
      <p:sp>
        <p:nvSpPr>
          <p:cNvPr id="29" name="TextBox 28"/>
          <p:cNvSpPr txBox="1"/>
          <p:nvPr/>
        </p:nvSpPr>
        <p:spPr>
          <a:xfrm>
            <a:off x="347472" y="3200400"/>
            <a:ext cx="1463040" cy="14630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400" b="0" i="0">
                <a:solidFill>
                  <a:srgbClr val="212121"/>
                </a:solidFill>
              </a:rPr>
              <a:t>כמה אני רוצה לאשר?</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עץ החלטה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2560320" y="1371600"/>
            <a:ext cx="4023360" cy="77724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1" i="0">
                <a:solidFill>
                  <a:srgbClr val="212121"/>
                </a:solidFill>
              </a:rPr>
              <a:t>המשימה נוגעת בכמה קבצים, או דורשת הרצה?</a:t>
            </a:r>
          </a:p>
        </p:txBody>
      </p:sp>
      <p:sp>
        <p:nvSpPr>
          <p:cNvPr id="6" name="Rounded Rectangle 5"/>
          <p:cNvSpPr/>
          <p:nvPr/>
        </p:nvSpPr>
        <p:spPr>
          <a:xfrm>
            <a:off x="5212080" y="2697480"/>
            <a:ext cx="3566160" cy="73152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1" i="0">
                <a:solidFill>
                  <a:srgbClr val="212121"/>
                </a:solidFill>
              </a:rPr>
              <a:t>יש לי קובץ פתוח בעורך?</a:t>
            </a:r>
          </a:p>
        </p:txBody>
      </p:sp>
      <p:sp>
        <p:nvSpPr>
          <p:cNvPr id="7" name="Rounded Rectangle 6"/>
          <p:cNvSpPr/>
          <p:nvPr/>
        </p:nvSpPr>
        <p:spPr>
          <a:xfrm>
            <a:off x="365760" y="2697480"/>
            <a:ext cx="4023360" cy="73152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1" i="0">
                <a:solidFill>
                  <a:srgbClr val="212121"/>
                </a:solidFill>
              </a:rPr>
              <a:t>יש גיבוי ב־Git, והנתונים לא רגישים?</a:t>
            </a:r>
          </a:p>
        </p:txBody>
      </p:sp>
      <p:cxnSp>
        <p:nvCxnSpPr>
          <p:cNvPr id="8" name="Connector 7"/>
          <p:cNvCxnSpPr/>
          <p:nvPr/>
        </p:nvCxnSpPr>
        <p:spPr>
          <a:xfrm>
            <a:off x="5120640" y="2176272"/>
            <a:ext cx="1645920" cy="521208"/>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0" y="2148840"/>
            <a:ext cx="731520" cy="36576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600" b="1" i="0">
                <a:solidFill>
                  <a:srgbClr val="EA4335"/>
                </a:solidFill>
              </a:rPr>
              <a:t>לא</a:t>
            </a:r>
          </a:p>
        </p:txBody>
      </p:sp>
      <p:cxnSp>
        <p:nvCxnSpPr>
          <p:cNvPr id="10" name="Connector 9"/>
          <p:cNvCxnSpPr/>
          <p:nvPr/>
        </p:nvCxnSpPr>
        <p:spPr>
          <a:xfrm flipH="1">
            <a:off x="2377440" y="2176272"/>
            <a:ext cx="1645920" cy="521208"/>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834640" y="2148840"/>
            <a:ext cx="731520" cy="36576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600" b="1" i="0">
                <a:solidFill>
                  <a:srgbClr val="34A853"/>
                </a:solidFill>
              </a:rPr>
              <a:t>כן</a:t>
            </a:r>
          </a:p>
        </p:txBody>
      </p:sp>
      <p:sp>
        <p:nvSpPr>
          <p:cNvPr id="12" name="Rounded Rectangle 11"/>
          <p:cNvSpPr/>
          <p:nvPr/>
        </p:nvSpPr>
        <p:spPr>
          <a:xfrm>
            <a:off x="5029200" y="4069080"/>
            <a:ext cx="1783080" cy="731520"/>
          </a:xfrm>
          <a:prstGeom prst="roundRect">
            <a:avLst>
              <a:gd name="adj" fmla="val 12000"/>
            </a:avLst>
          </a:prstGeom>
          <a:solidFill>
            <a:srgbClr val="DDF2F5"/>
          </a:solidFill>
          <a:ln w="19050">
            <a:solidFill>
              <a:srgbClr val="0097A7"/>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1" i="0">
                <a:solidFill>
                  <a:srgbClr val="212121"/>
                </a:solidFill>
              </a:rPr>
              <a:t>✏️ עוזר בעורך</a:t>
            </a:r>
          </a:p>
        </p:txBody>
      </p:sp>
      <p:cxnSp>
        <p:nvCxnSpPr>
          <p:cNvPr id="13" name="Connector 12"/>
          <p:cNvCxnSpPr/>
          <p:nvPr/>
        </p:nvCxnSpPr>
        <p:spPr>
          <a:xfrm flipH="1">
            <a:off x="5916168" y="3456432"/>
            <a:ext cx="1078992" cy="612648"/>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937760" y="3520440"/>
            <a:ext cx="640080" cy="36576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500" b="1" i="0">
                <a:solidFill>
                  <a:srgbClr val="34A853"/>
                </a:solidFill>
              </a:rPr>
              <a:t>כן</a:t>
            </a:r>
          </a:p>
        </p:txBody>
      </p:sp>
      <p:sp>
        <p:nvSpPr>
          <p:cNvPr id="15" name="Rounded Rectangle 14"/>
          <p:cNvSpPr/>
          <p:nvPr/>
        </p:nvSpPr>
        <p:spPr>
          <a:xfrm>
            <a:off x="7086600" y="4069080"/>
            <a:ext cx="1783080" cy="73152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600" b="1" i="0">
                <a:solidFill>
                  <a:srgbClr val="212121"/>
                </a:solidFill>
              </a:rPr>
              <a:t>💬 צ׳אט</a:t>
            </a:r>
          </a:p>
        </p:txBody>
      </p:sp>
      <p:cxnSp>
        <p:nvCxnSpPr>
          <p:cNvPr id="16" name="Connector 15"/>
          <p:cNvCxnSpPr/>
          <p:nvPr/>
        </p:nvCxnSpPr>
        <p:spPr>
          <a:xfrm>
            <a:off x="6995160" y="3456432"/>
            <a:ext cx="978408" cy="612648"/>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75320" y="3520440"/>
            <a:ext cx="640080" cy="36576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500" b="1" i="0">
                <a:solidFill>
                  <a:srgbClr val="EA4335"/>
                </a:solidFill>
              </a:rPr>
              <a:t>לא</a:t>
            </a:r>
          </a:p>
        </p:txBody>
      </p:sp>
      <p:sp>
        <p:nvSpPr>
          <p:cNvPr id="18" name="Rounded Rectangle 17"/>
          <p:cNvSpPr/>
          <p:nvPr/>
        </p:nvSpPr>
        <p:spPr>
          <a:xfrm>
            <a:off x="2286000" y="4069080"/>
            <a:ext cx="2194560" cy="73152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סוכן באוטונומיה נמוכה</a:t>
            </a:r>
          </a:p>
        </p:txBody>
      </p:sp>
      <p:cxnSp>
        <p:nvCxnSpPr>
          <p:cNvPr id="19" name="Connector 18"/>
          <p:cNvCxnSpPr/>
          <p:nvPr/>
        </p:nvCxnSpPr>
        <p:spPr>
          <a:xfrm>
            <a:off x="3291840" y="3456432"/>
            <a:ext cx="91440" cy="612648"/>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429000" y="3520440"/>
            <a:ext cx="640080" cy="36576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500" b="1" i="0">
                <a:solidFill>
                  <a:srgbClr val="34A853"/>
                </a:solidFill>
              </a:rPr>
              <a:t>כן</a:t>
            </a:r>
          </a:p>
        </p:txBody>
      </p:sp>
      <p:sp>
        <p:nvSpPr>
          <p:cNvPr id="21" name="Rounded Rectangle 20"/>
          <p:cNvSpPr/>
          <p:nvPr/>
        </p:nvSpPr>
        <p:spPr>
          <a:xfrm>
            <a:off x="182880" y="4069080"/>
            <a:ext cx="1920240" cy="731520"/>
          </a:xfrm>
          <a:prstGeom prst="roundRect">
            <a:avLst>
              <a:gd name="adj" fmla="val 12000"/>
            </a:avLst>
          </a:prstGeom>
          <a:solidFill>
            <a:srgbClr val="FDE3E0"/>
          </a:solidFill>
          <a:ln w="19050">
            <a:solidFill>
              <a:srgbClr val="EA4335"/>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400" b="1" i="0">
                <a:solidFill>
                  <a:srgbClr val="212121"/>
                </a:solidFill>
              </a:rPr>
              <a:t>קודם גיבוי, או בלי סוכן</a:t>
            </a:r>
          </a:p>
        </p:txBody>
      </p:sp>
      <p:cxnSp>
        <p:nvCxnSpPr>
          <p:cNvPr id="22" name="Connector 21"/>
          <p:cNvCxnSpPr/>
          <p:nvPr/>
        </p:nvCxnSpPr>
        <p:spPr>
          <a:xfrm flipH="1">
            <a:off x="1188720" y="3456432"/>
            <a:ext cx="91440" cy="612648"/>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234440" y="3520440"/>
            <a:ext cx="640080" cy="36576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500" b="1" i="0">
                <a:solidFill>
                  <a:srgbClr val="EA4335"/>
                </a:solidFill>
              </a:rPr>
              <a:t>לא</a:t>
            </a:r>
          </a:p>
        </p:txBody>
      </p:sp>
      <p:sp>
        <p:nvSpPr>
          <p:cNvPr id="901" name="Rounded Rectangle 20"/>
          <p:cNvSpPr/>
          <p:nvPr/>
        </p:nvSpPr>
        <p:spPr>
          <a:xfrm>
            <a:off x="6700000" y="1380000"/>
            <a:ext cx="1950000" cy="840000"/>
          </a:xfrm>
          <a:prstGeom prst="roundRect">
            <a:avLst>
              <a:gd name="adj" fmla="val 12000"/>
            </a:avLst>
          </a:prstGeom>
          <a:solidFill>
            <a:srgbClr val="FDE3E0"/>
          </a:solidFill>
          <a:ln w="19050">
            <a:solidFill>
              <a:srgbClr val="EA4335"/>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400" b="1" i="0">
                <a:solidFill>
                  <a:srgbClr val="212121"/>
                </a:solidFill>
              </a:rPr>
              <a:t>קודם כול: נתונים רגישים? אין כלי חיצוני</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דוגמאות להחלטה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463040"/>
          <a:ext cx="8412479" cy="3657600"/>
        </p:xfrm>
        <a:graphic>
          <a:graphicData uri="http://schemas.openxmlformats.org/drawingml/2006/table">
            <a:tbl>
              <a:tblPr>
                <a:tableStyleId>{2D5ABB26-0587-4C30-8999-92F81FD0307C}</a:tableStyleId>
              </a:tblPr>
              <a:tblGrid>
                <a:gridCol w="29794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329939">
                  <a:extLst>
                    <a:ext uri="{9D8B030D-6E8A-4147-A177-3AD203B41FA5}">
                      <a16:colId xmlns:a16="http://schemas.microsoft.com/office/drawing/2014/main" val="20002"/>
                    </a:ext>
                  </a:extLst>
                </a:gridCol>
              </a:tblGrid>
              <a:tr h="731520">
                <a:tc>
                  <a:txBody>
                    <a:bodyPr/>
                    <a:lstStyle/>
                    <a:p>
                      <a:pPr marL="0" indent="0" algn="ctr" rtl="1">
                        <a:lnSpc>
                          <a:spcPct val="100000"/>
                        </a:lnSpc>
                        <a:spcBef>
                          <a:spcPts val="0"/>
                        </a:spcBef>
                        <a:spcAft>
                          <a:spcPts val="0"/>
                        </a:spcAft>
                        <a:buNone/>
                      </a:pPr>
                      <a:r>
                        <a:rPr lang="he-IL" sz="1700" b="1" i="0">
                          <a:solidFill>
                            <a:srgbClr val="212121"/>
                          </a:solidFill>
                        </a:rPr>
                        <a:t>למה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700" b="1" i="0">
                          <a:solidFill>
                            <a:srgbClr val="212121"/>
                          </a:solidFill>
                        </a:rPr>
                        <a:t>כלי מתאים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700" b="1" i="0">
                          <a:solidFill>
                            <a:srgbClr val="212121"/>
                          </a:solidFill>
                        </a:rPr>
                        <a:t>משימה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731520">
                <a:tc>
                  <a:txBody>
                    <a:bodyPr/>
                    <a:lstStyle/>
                    <a:p>
                      <a:pPr marL="0" indent="0" algn="r" rtl="1">
                        <a:lnSpc>
                          <a:spcPct val="100000"/>
                        </a:lnSpc>
                        <a:spcBef>
                          <a:spcPts val="0"/>
                        </a:spcBef>
                        <a:spcAft>
                          <a:spcPts val="0"/>
                        </a:spcAft>
                        <a:buNone/>
                      </a:pPr>
                      <a:r>
                        <a:rPr lang="he-IL" sz="1700" b="0" i="0">
                          <a:solidFill>
                            <a:srgbClr val="212121"/>
                          </a:solidFill>
                        </a:rPr>
                        <a:t>הקשר קטן, סיכון נמוך</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700" b="0" i="0">
                          <a:solidFill>
                            <a:srgbClr val="212121"/>
                          </a:solidFill>
                        </a:rPr>
                        <a:t>💬 צ׳אט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c>
                  <a:txBody>
                    <a:bodyPr/>
                    <a:lstStyle/>
                    <a:p>
                      <a:pPr marL="0" indent="0" algn="r" rtl="1">
                        <a:lnSpc>
                          <a:spcPct val="100000"/>
                        </a:lnSpc>
                        <a:spcBef>
                          <a:spcPts val="0"/>
                        </a:spcBef>
                        <a:spcAft>
                          <a:spcPts val="0"/>
                        </a:spcAft>
                        <a:buNone/>
                      </a:pPr>
                      <a:r>
                        <a:rPr lang="he-IL" sz="1700" b="0" i="0">
                          <a:solidFill>
                            <a:srgbClr val="212121"/>
                          </a:solidFill>
                        </a:rPr>
                        <a:t>להבין שגיאה מוזרה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731520">
                <a:tc>
                  <a:txBody>
                    <a:bodyPr/>
                    <a:lstStyle/>
                    <a:p>
                      <a:pPr marL="0" indent="0" algn="r" rtl="1">
                        <a:lnSpc>
                          <a:spcPct val="100000"/>
                        </a:lnSpc>
                        <a:spcBef>
                          <a:spcPts val="0"/>
                        </a:spcBef>
                        <a:spcAft>
                          <a:spcPts val="0"/>
                        </a:spcAft>
                        <a:buNone/>
                      </a:pPr>
                      <a:r>
                        <a:rPr lang="he-IL" sz="1700" b="0" i="0">
                          <a:solidFill>
                            <a:srgbClr val="212121"/>
                          </a:solidFill>
                        </a:rPr>
                        <a:t>הכלי רואה את הקובץ, ואתם מאשרים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700" b="0" i="0">
                          <a:solidFill>
                            <a:srgbClr val="212121"/>
                          </a:solidFill>
                        </a:rPr>
                        <a:t>✏️ עוזר בעורך</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DDF2F5"/>
                    </a:solidFill>
                  </a:tcPr>
                </a:tc>
                <a:tc>
                  <a:txBody>
                    <a:bodyPr/>
                    <a:lstStyle/>
                    <a:p>
                      <a:pPr marL="0" indent="0" algn="r" rtl="1">
                        <a:lnSpc>
                          <a:spcPct val="100000"/>
                        </a:lnSpc>
                        <a:spcBef>
                          <a:spcPts val="0"/>
                        </a:spcBef>
                        <a:spcAft>
                          <a:spcPts val="0"/>
                        </a:spcAft>
                        <a:buNone/>
                      </a:pPr>
                      <a:r>
                        <a:rPr lang="he-IL" sz="1700" b="0" i="0">
                          <a:solidFill>
                            <a:srgbClr val="212121"/>
                          </a:solidFill>
                        </a:rPr>
                        <a:t>להשלים פונקציה בקובץ פתוח</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731520">
                <a:tc>
                  <a:txBody>
                    <a:bodyPr/>
                    <a:lstStyle/>
                    <a:p>
                      <a:pPr marL="0" indent="0" algn="r" rtl="1">
                        <a:lnSpc>
                          <a:spcPct val="100000"/>
                        </a:lnSpc>
                        <a:spcBef>
                          <a:spcPts val="0"/>
                        </a:spcBef>
                        <a:spcAft>
                          <a:spcPts val="0"/>
                        </a:spcAft>
                        <a:buNone/>
                      </a:pPr>
                      <a:r>
                        <a:rPr lang="he-IL" sz="1700" b="0" i="0">
                          <a:solidFill>
                            <a:srgbClr val="212121"/>
                          </a:solidFill>
                        </a:rPr>
                        <a:t>צריך לקרוא, להריץ ולתקן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700" b="0" i="0">
                          <a:solidFill>
                            <a:srgbClr val="212121"/>
                          </a:solidFill>
                        </a:rPr>
                        <a:t>🤖 סוכן, עם גיבוי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a:lstStyle/>
                    <a:p>
                      <a:pPr marL="0" indent="0" algn="r" rtl="1">
                        <a:lnSpc>
                          <a:spcPct val="100000"/>
                        </a:lnSpc>
                        <a:spcBef>
                          <a:spcPts val="0"/>
                        </a:spcBef>
                        <a:spcAft>
                          <a:spcPts val="0"/>
                        </a:spcAft>
                        <a:buNone/>
                      </a:pPr>
                      <a:r>
                        <a:rPr lang="he-IL" sz="1700" b="0" i="0">
                          <a:solidFill>
                            <a:srgbClr val="212121"/>
                          </a:solidFill>
                        </a:rPr>
                        <a:t>פיצ׳ר שנוגע ב־5 קבצים ובבדיקות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r h="731520">
                <a:tc>
                  <a:txBody>
                    <a:bodyPr/>
                    <a:lstStyle/>
                    <a:p>
                      <a:pPr marL="0" indent="0" algn="r" rtl="1">
                        <a:lnSpc>
                          <a:spcPct val="100000"/>
                        </a:lnSpc>
                        <a:spcBef>
                          <a:spcPts val="0"/>
                        </a:spcBef>
                        <a:spcAft>
                          <a:spcPts val="0"/>
                        </a:spcAft>
                        <a:buNone/>
                      </a:pPr>
                      <a:r>
                        <a:rPr lang="he-IL" sz="1700" b="0" i="0">
                          <a:solidFill>
                            <a:srgbClr val="212121"/>
                          </a:solidFill>
                        </a:rPr>
                        <a:t>פרטיות (נרחיב במפגש 12)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700" b="0" i="0">
                          <a:solidFill>
                            <a:srgbClr val="212121"/>
                          </a:solidFill>
                        </a:rPr>
                        <a:t>🔒 לא כלי חיצוני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a:lstStyle/>
                    <a:p>
                      <a:pPr marL="0" indent="0" algn="r" rtl="1">
                        <a:lnSpc>
                          <a:spcPct val="100000"/>
                        </a:lnSpc>
                        <a:spcBef>
                          <a:spcPts val="0"/>
                        </a:spcBef>
                        <a:spcAft>
                          <a:spcPts val="0"/>
                        </a:spcAft>
                        <a:buNone/>
                      </a:pPr>
                      <a:r>
                        <a:rPr lang="he-IL" sz="1700" b="0" i="0">
                          <a:solidFill>
                            <a:srgbClr val="212121"/>
                          </a:solidFill>
                        </a:rPr>
                        <a:t>לנתח נתוני לקוחות אמיתיים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בייק־אוף של 10 דקות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6766560" y="1828800"/>
            <a:ext cx="2011680" cy="914400"/>
          </a:xfrm>
          <a:prstGeom prst="roundRect">
            <a:avLst>
              <a:gd name="adj" fmla="val 12000"/>
            </a:avLst>
          </a:prstGeom>
          <a:solidFill>
            <a:srgbClr val="4285F4"/>
          </a:solidFill>
          <a:ln>
            <a:no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600" b="1" i="0">
                <a:solidFill>
                  <a:srgbClr val="FFFFFF"/>
                </a:solidFill>
              </a:rPr>
              <a:t>2 דק׳</a:t>
            </a:r>
          </a:p>
        </p:txBody>
      </p:sp>
      <p:sp>
        <p:nvSpPr>
          <p:cNvPr id="6" name="TextBox 5"/>
          <p:cNvSpPr txBox="1"/>
          <p:nvPr/>
        </p:nvSpPr>
        <p:spPr>
          <a:xfrm>
            <a:off x="6766560" y="2834640"/>
            <a:ext cx="2011680" cy="118872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700" b="0" i="0">
                <a:solidFill>
                  <a:srgbClr val="212121"/>
                </a:solidFill>
              </a:rPr>
              <a:t>מגדירים משימה אחת קבועה</a:t>
            </a:r>
          </a:p>
        </p:txBody>
      </p:sp>
      <p:cxnSp>
        <p:nvCxnSpPr>
          <p:cNvPr id="7" name="Connector 6"/>
          <p:cNvCxnSpPr/>
          <p:nvPr/>
        </p:nvCxnSpPr>
        <p:spPr>
          <a:xfrm flipH="1">
            <a:off x="6629400" y="2286000"/>
            <a:ext cx="118872"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617720" y="1828800"/>
            <a:ext cx="2011680" cy="914400"/>
          </a:xfrm>
          <a:prstGeom prst="roundRect">
            <a:avLst>
              <a:gd name="adj" fmla="val 12000"/>
            </a:avLst>
          </a:prstGeom>
          <a:solidFill>
            <a:srgbClr val="FFAB40"/>
          </a:solidFill>
          <a:ln>
            <a:no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600" b="1" i="0">
                <a:solidFill>
                  <a:srgbClr val="FFFFFF"/>
                </a:solidFill>
              </a:rPr>
              <a:t>4 דק׳</a:t>
            </a:r>
          </a:p>
        </p:txBody>
      </p:sp>
      <p:sp>
        <p:nvSpPr>
          <p:cNvPr id="9" name="TextBox 8"/>
          <p:cNvSpPr txBox="1"/>
          <p:nvPr/>
        </p:nvSpPr>
        <p:spPr>
          <a:xfrm>
            <a:off x="4617720" y="2834640"/>
            <a:ext cx="2011680" cy="118872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700" b="0" i="0">
                <a:solidFill>
                  <a:srgbClr val="212121"/>
                </a:solidFill>
              </a:rPr>
              <a:t>מריצים אותה בשני כלים</a:t>
            </a:r>
          </a:p>
        </p:txBody>
      </p:sp>
      <p:cxnSp>
        <p:nvCxnSpPr>
          <p:cNvPr id="10" name="Connector 9"/>
          <p:cNvCxnSpPr/>
          <p:nvPr/>
        </p:nvCxnSpPr>
        <p:spPr>
          <a:xfrm flipH="1">
            <a:off x="4480560" y="2286000"/>
            <a:ext cx="118872"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468880" y="1828800"/>
            <a:ext cx="2011680" cy="914400"/>
          </a:xfrm>
          <a:prstGeom prst="roundRect">
            <a:avLst>
              <a:gd name="adj" fmla="val 12000"/>
            </a:avLst>
          </a:prstGeom>
          <a:solidFill>
            <a:srgbClr val="0097A7"/>
          </a:solidFill>
          <a:ln>
            <a:no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600" b="1" i="0">
                <a:solidFill>
                  <a:srgbClr val="FFFFFF"/>
                </a:solidFill>
              </a:rPr>
              <a:t>2 דק׳</a:t>
            </a:r>
          </a:p>
        </p:txBody>
      </p:sp>
      <p:sp>
        <p:nvSpPr>
          <p:cNvPr id="12" name="TextBox 11"/>
          <p:cNvSpPr txBox="1"/>
          <p:nvPr/>
        </p:nvSpPr>
        <p:spPr>
          <a:xfrm>
            <a:off x="2468880" y="2834640"/>
            <a:ext cx="2011680" cy="118872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700" b="0" i="0">
                <a:solidFill>
                  <a:srgbClr val="212121"/>
                </a:solidFill>
              </a:rPr>
              <a:t>ממלאים טבלה: מה עבד, מה לא</a:t>
            </a:r>
          </a:p>
        </p:txBody>
      </p:sp>
      <p:cxnSp>
        <p:nvCxnSpPr>
          <p:cNvPr id="13" name="Connector 12"/>
          <p:cNvCxnSpPr/>
          <p:nvPr/>
        </p:nvCxnSpPr>
        <p:spPr>
          <a:xfrm flipH="1">
            <a:off x="2331720" y="2286000"/>
            <a:ext cx="118872"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20039" y="1828800"/>
            <a:ext cx="2011680" cy="914400"/>
          </a:xfrm>
          <a:prstGeom prst="roundRect">
            <a:avLst>
              <a:gd name="adj" fmla="val 12000"/>
            </a:avLst>
          </a:prstGeom>
          <a:solidFill>
            <a:srgbClr val="34A853"/>
          </a:solidFill>
          <a:ln>
            <a:no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600" b="1" i="0">
                <a:solidFill>
                  <a:srgbClr val="FFFFFF"/>
                </a:solidFill>
              </a:rPr>
              <a:t>2 דק׳</a:t>
            </a:r>
          </a:p>
        </p:txBody>
      </p:sp>
      <p:sp>
        <p:nvSpPr>
          <p:cNvPr id="15" name="TextBox 14"/>
          <p:cNvSpPr txBox="1"/>
          <p:nvPr/>
        </p:nvSpPr>
        <p:spPr>
          <a:xfrm>
            <a:off x="320039" y="2834640"/>
            <a:ext cx="2011680" cy="118872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700" b="0" i="0">
                <a:solidFill>
                  <a:srgbClr val="212121"/>
                </a:solidFill>
              </a:rPr>
              <a:t>מחליטים ורושמים כלל</a:t>
            </a:r>
          </a:p>
        </p:txBody>
      </p:sp>
      <p:sp>
        <p:nvSpPr>
          <p:cNvPr id="16" name="TextBox 15"/>
          <p:cNvSpPr txBox="1"/>
          <p:nvPr/>
        </p:nvSpPr>
        <p:spPr>
          <a:xfrm>
            <a:off x="365760" y="4206240"/>
            <a:ext cx="8412480" cy="5486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800" b="1" i="0">
                <a:solidFill>
                  <a:srgbClr val="595959"/>
                </a:solidFill>
              </a:rPr>
              <a:t>אותה משימה, אותם קריטריונים, והחלטה כתובה.</a:t>
            </a:r>
          </a:p>
        </p:txBody>
      </p:sp>
      <p:sp>
        <p:nvSpPr>
          <p:cNvPr id="1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מלכודות בבחירת כלי</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FDE3E0"/>
          </a:solidFill>
          <a:ln w="25400">
            <a:solidFill>
              <a:srgbClr val="EA4335"/>
            </a:solidFill>
          </a:ln>
        </p:spPr>
        <p:txBody>
          <a:bodyPr wrap="square" lIns="73152" tIns="73152" rIns="73152" bIns="73152" rtlCol="0" anchor="ctr">
            <a:noAutofit/>
          </a:bodyPr>
          <a:lstStyle/>
          <a:p>
            <a:pPr algn="ctr"/>
            <a:endParaRPr/>
          </a:p>
        </p:txBody>
      </p:sp>
      <p:sp>
        <p:nvSpPr>
          <p:cNvPr id="6" name="TextBox 5"/>
          <p:cNvSpPr txBox="1"/>
          <p:nvPr/>
        </p:nvSpPr>
        <p:spPr>
          <a:xfrm>
            <a:off x="7772400" y="1645920"/>
            <a:ext cx="914400" cy="9144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600" b="0" i="0">
                <a:solidFill>
                  <a:srgbClr val="212121"/>
                </a:solidFill>
              </a:rPr>
              <a:t>🔥</a:t>
            </a:r>
          </a:p>
        </p:txBody>
      </p:sp>
      <p:sp>
        <p:nvSpPr>
          <p:cNvPr id="7" name="TextBox 6"/>
          <p:cNvSpPr txBox="1"/>
          <p:nvPr/>
        </p:nvSpPr>
        <p:spPr>
          <a:xfrm>
            <a:off x="4754879" y="164592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1" i="0">
                <a:solidFill>
                  <a:srgbClr val="212121"/>
                </a:solidFill>
              </a:rPr>
              <a:t>בוחרים לפי הרעש</a:t>
            </a:r>
          </a:p>
        </p:txBody>
      </p:sp>
      <p:sp>
        <p:nvSpPr>
          <p:cNvPr id="8" name="TextBox 7"/>
          <p:cNvSpPr txBox="1"/>
          <p:nvPr/>
        </p:nvSpPr>
        <p:spPr>
          <a:xfrm>
            <a:off x="4754879" y="224028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600" b="0" i="0">
                <a:solidFill>
                  <a:srgbClr val="595959"/>
                </a:solidFill>
              </a:rPr>
              <a:t>"כולם מדברים על זה"</a:t>
            </a:r>
          </a:p>
        </p:txBody>
      </p:sp>
      <p:sp>
        <p:nvSpPr>
          <p:cNvPr id="9" name="Rounded Rectangle 8"/>
          <p:cNvSpPr/>
          <p:nvPr/>
        </p:nvSpPr>
        <p:spPr>
          <a:xfrm>
            <a:off x="365760" y="1417320"/>
            <a:ext cx="4114800" cy="1463040"/>
          </a:xfrm>
          <a:prstGeom prst="roundRect">
            <a:avLst>
              <a:gd name="adj" fmla="val 6000"/>
            </a:avLst>
          </a:prstGeom>
          <a:solidFill>
            <a:srgbClr val="FDE3E0"/>
          </a:solidFill>
          <a:ln w="25400">
            <a:solidFill>
              <a:srgbClr val="EA4335"/>
            </a:solidFill>
          </a:ln>
        </p:spPr>
        <p:txBody>
          <a:bodyPr wrap="square" lIns="73152" tIns="73152" rIns="73152" bIns="73152" rtlCol="0" anchor="ctr">
            <a:noAutofit/>
          </a:bodyPr>
          <a:lstStyle/>
          <a:p>
            <a:pPr algn="ctr"/>
            <a:endParaRPr/>
          </a:p>
        </p:txBody>
      </p:sp>
      <p:sp>
        <p:nvSpPr>
          <p:cNvPr id="10" name="TextBox 9"/>
          <p:cNvSpPr txBox="1"/>
          <p:nvPr/>
        </p:nvSpPr>
        <p:spPr>
          <a:xfrm>
            <a:off x="3474720" y="1645920"/>
            <a:ext cx="914400" cy="9144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600" b="0" i="0">
                <a:solidFill>
                  <a:srgbClr val="212121"/>
                </a:solidFill>
              </a:rPr>
              <a:t>💰</a:t>
            </a:r>
          </a:p>
        </p:txBody>
      </p:sp>
      <p:sp>
        <p:nvSpPr>
          <p:cNvPr id="11" name="TextBox 10"/>
          <p:cNvSpPr txBox="1"/>
          <p:nvPr/>
        </p:nvSpPr>
        <p:spPr>
          <a:xfrm>
            <a:off x="457200" y="164592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1" i="0">
                <a:solidFill>
                  <a:srgbClr val="212121"/>
                </a:solidFill>
              </a:rPr>
              <a:t>בוחרים רק לפי מחיר</a:t>
            </a:r>
          </a:p>
        </p:txBody>
      </p:sp>
      <p:sp>
        <p:nvSpPr>
          <p:cNvPr id="12" name="TextBox 11"/>
          <p:cNvSpPr txBox="1"/>
          <p:nvPr/>
        </p:nvSpPr>
        <p:spPr>
          <a:xfrm>
            <a:off x="457200" y="224028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600" b="0" i="0">
                <a:solidFill>
                  <a:srgbClr val="595959"/>
                </a:solidFill>
              </a:rPr>
              <a:t>בלי לבדוק פרטיות ומכסה</a:t>
            </a:r>
          </a:p>
        </p:txBody>
      </p:sp>
      <p:sp>
        <p:nvSpPr>
          <p:cNvPr id="13" name="Rounded Rectangle 12"/>
          <p:cNvSpPr/>
          <p:nvPr/>
        </p:nvSpPr>
        <p:spPr>
          <a:xfrm>
            <a:off x="4663440" y="3063240"/>
            <a:ext cx="4114800" cy="1463040"/>
          </a:xfrm>
          <a:prstGeom prst="roundRect">
            <a:avLst>
              <a:gd name="adj" fmla="val 6000"/>
            </a:avLst>
          </a:prstGeom>
          <a:solidFill>
            <a:srgbClr val="FDE3E0"/>
          </a:solidFill>
          <a:ln w="25400">
            <a:solidFill>
              <a:srgbClr val="EA4335"/>
            </a:solidFill>
          </a:ln>
        </p:spPr>
        <p:txBody>
          <a:bodyPr wrap="square" lIns="73152" tIns="73152" rIns="73152" bIns="73152" rtlCol="0" anchor="ctr">
            <a:noAutofit/>
          </a:bodyPr>
          <a:lstStyle/>
          <a:p>
            <a:pPr algn="ctr"/>
            <a:endParaRPr/>
          </a:p>
        </p:txBody>
      </p:sp>
      <p:sp>
        <p:nvSpPr>
          <p:cNvPr id="14" name="TextBox 13"/>
          <p:cNvSpPr txBox="1"/>
          <p:nvPr/>
        </p:nvSpPr>
        <p:spPr>
          <a:xfrm>
            <a:off x="7772400" y="3291840"/>
            <a:ext cx="914400" cy="9144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600" b="0" i="0">
                <a:solidFill>
                  <a:srgbClr val="212121"/>
                </a:solidFill>
              </a:rPr>
              <a:t>🦸</a:t>
            </a:r>
          </a:p>
        </p:txBody>
      </p:sp>
      <p:sp>
        <p:nvSpPr>
          <p:cNvPr id="15" name="TextBox 14"/>
          <p:cNvSpPr txBox="1"/>
          <p:nvPr/>
        </p:nvSpPr>
        <p:spPr>
          <a:xfrm>
            <a:off x="4754879" y="329184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1" i="0">
                <a:solidFill>
                  <a:srgbClr val="212121"/>
                </a:solidFill>
              </a:rPr>
              <a:t>כלי אחד לכל דבר</a:t>
            </a:r>
          </a:p>
        </p:txBody>
      </p:sp>
      <p:sp>
        <p:nvSpPr>
          <p:cNvPr id="16" name="TextBox 15"/>
          <p:cNvSpPr txBox="1"/>
          <p:nvPr/>
        </p:nvSpPr>
        <p:spPr>
          <a:xfrm>
            <a:off x="4754879" y="388620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600" b="0" i="0">
                <a:solidFill>
                  <a:srgbClr val="595959"/>
                </a:solidFill>
              </a:rPr>
              <a:t>גם למשימה של שורה אחת</a:t>
            </a:r>
          </a:p>
        </p:txBody>
      </p:sp>
      <p:sp>
        <p:nvSpPr>
          <p:cNvPr id="17" name="Rounded Rectangle 16"/>
          <p:cNvSpPr/>
          <p:nvPr/>
        </p:nvSpPr>
        <p:spPr>
          <a:xfrm>
            <a:off x="365760" y="3063240"/>
            <a:ext cx="4114800" cy="1463040"/>
          </a:xfrm>
          <a:prstGeom prst="roundRect">
            <a:avLst>
              <a:gd name="adj" fmla="val 6000"/>
            </a:avLst>
          </a:prstGeom>
          <a:solidFill>
            <a:srgbClr val="FDE3E0"/>
          </a:solidFill>
          <a:ln w="25400">
            <a:solidFill>
              <a:srgbClr val="EA4335"/>
            </a:solidFill>
          </a:ln>
        </p:spPr>
        <p:txBody>
          <a:bodyPr wrap="square" lIns="73152" tIns="73152" rIns="73152" bIns="73152" rtlCol="0" anchor="ctr">
            <a:noAutofit/>
          </a:bodyPr>
          <a:lstStyle/>
          <a:p>
            <a:pPr algn="ctr"/>
            <a:endParaRPr/>
          </a:p>
        </p:txBody>
      </p:sp>
      <p:sp>
        <p:nvSpPr>
          <p:cNvPr id="18" name="TextBox 17"/>
          <p:cNvSpPr txBox="1"/>
          <p:nvPr/>
        </p:nvSpPr>
        <p:spPr>
          <a:xfrm>
            <a:off x="3474720" y="3291840"/>
            <a:ext cx="914400" cy="9144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3600" b="0" i="0">
                <a:solidFill>
                  <a:srgbClr val="212121"/>
                </a:solidFill>
              </a:rPr>
              <a:t>🔓</a:t>
            </a:r>
          </a:p>
        </p:txBody>
      </p:sp>
      <p:sp>
        <p:nvSpPr>
          <p:cNvPr id="19" name="TextBox 18"/>
          <p:cNvSpPr txBox="1"/>
          <p:nvPr/>
        </p:nvSpPr>
        <p:spPr>
          <a:xfrm>
            <a:off x="457200" y="329184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000" b="1" i="0">
                <a:solidFill>
                  <a:srgbClr val="212121"/>
                </a:solidFill>
              </a:rPr>
              <a:t>לא בודקים מה נשלח</a:t>
            </a:r>
          </a:p>
        </p:txBody>
      </p:sp>
      <p:sp>
        <p:nvSpPr>
          <p:cNvPr id="20" name="TextBox 19"/>
          <p:cNvSpPr txBox="1"/>
          <p:nvPr/>
        </p:nvSpPr>
        <p:spPr>
          <a:xfrm>
            <a:off x="457200" y="3886200"/>
            <a:ext cx="3063240" cy="54864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600" b="0" i="0">
                <a:solidFill>
                  <a:srgbClr val="595959"/>
                </a:solidFill>
              </a:rPr>
              <a:t>קבצים רגישים בדרך החוצה</a:t>
            </a:r>
          </a:p>
        </p:txBody>
      </p:sp>
      <p:sp>
        <p:nvSpPr>
          <p:cNvPr id="21"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הכלל של השיעור</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731520" y="1737360"/>
            <a:ext cx="7680960" cy="2194560"/>
          </a:xfrm>
          <a:prstGeom prst="roundRect">
            <a:avLst>
              <a:gd name="adj" fmla="val 6000"/>
            </a:avLst>
          </a:prstGeom>
          <a:solidFill>
            <a:srgbClr val="E1F4E6"/>
          </a:solidFill>
          <a:ln w="38100">
            <a:solidFill>
              <a:srgbClr val="34A853"/>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3200" b="1" i="0">
                <a:solidFill>
                  <a:srgbClr val="212121"/>
                </a:solidFill>
              </a:rPr>
              <a:t>בוחרים כלי לפי המשימה והסיכון,</a:t>
            </a:r>
          </a:p>
          <a:p>
            <a:pPr marL="0" indent="0" algn="ctr" rtl="1">
              <a:lnSpc>
                <a:spcPct val="105000"/>
              </a:lnSpc>
              <a:spcBef>
                <a:spcPts val="0"/>
              </a:spcBef>
              <a:spcAft>
                <a:spcPts val="0"/>
              </a:spcAft>
              <a:buNone/>
            </a:pPr>
            <a:r>
              <a:rPr lang="he-IL" sz="3200" b="1" i="0">
                <a:solidFill>
                  <a:srgbClr val="212121"/>
                </a:solidFill>
              </a:rPr>
              <a:t>לא לפי הרעש סביבו.</a:t>
            </a:r>
          </a:p>
        </p:txBody>
      </p:sp>
      <p:sp>
        <p:nvSpPr>
          <p:cNvPr id="6" name="TextBox 5"/>
          <p:cNvSpPr txBox="1"/>
          <p:nvPr/>
        </p:nvSpPr>
        <p:spPr>
          <a:xfrm>
            <a:off x="731520" y="4114800"/>
            <a:ext cx="7680960" cy="73152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0" i="0">
                <a:solidFill>
                  <a:srgbClr val="595959"/>
                </a:solidFill>
              </a:rPr>
              <a:t>ועדיין: קוראים, מבינים ובודקים. בכל כלי (הכלל ממפגש 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463040"/>
            <a:ext cx="8412480" cy="274320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400" b="0" i="0">
                <a:solidFill>
                  <a:srgbClr val="212121"/>
                </a:solidFill>
              </a:rPr>
              <a:t>צריך לשנות צבע של כפתור באתר, בקובץ אחד, ללא נתונים רגישים.</a:t>
            </a:r>
          </a:p>
          <a:p>
            <a:pPr marL="0" indent="0" algn="r" rtl="1">
              <a:lnSpc>
                <a:spcPct val="110000"/>
              </a:lnSpc>
              <a:spcBef>
                <a:spcPts val="1400"/>
              </a:spcBef>
              <a:spcAft>
                <a:spcPts val="0"/>
              </a:spcAft>
              <a:buNone/>
            </a:pPr>
            <a:r>
              <a:rPr lang="he-IL" sz="2800" b="1" i="0">
                <a:solidFill>
                  <a:srgbClr val="4285F4"/>
                </a:solidFill>
              </a:rPr>
              <a:t>איזה כלי סביר, ולמה?</a:t>
            </a:r>
          </a:p>
        </p:txBody>
      </p:sp>
      <p:sp>
        <p:nvSpPr>
          <p:cNvPr id="6"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417320"/>
            <a:ext cx="8412480" cy="91440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800" b="0" i="0">
                <a:solidFill>
                  <a:srgbClr val="595959"/>
                </a:solidFill>
              </a:rPr>
              <a:t>צריך לשנות צבע של כפתור באתר, בקובץ אחד, ללא נתונים רגישים. איזה כלי סביר?</a:t>
            </a:r>
          </a:p>
        </p:txBody>
      </p:sp>
      <p:sp>
        <p:nvSpPr>
          <p:cNvPr id="6" name="TextBox 5"/>
          <p:cNvSpPr txBox="1"/>
          <p:nvPr/>
        </p:nvSpPr>
        <p:spPr>
          <a:xfrm>
            <a:off x="365760" y="2468880"/>
            <a:ext cx="8412480" cy="25603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34A853"/>
                </a:solidFill>
              </a:rPr>
              <a:t>תשובה:</a:t>
            </a:r>
          </a:p>
          <a:p>
            <a:pPr marL="347472" indent="-292608" algn="r" rtl="1">
              <a:lnSpc>
                <a:spcPct val="110000"/>
              </a:lnSpc>
              <a:spcBef>
                <a:spcPts val="0"/>
              </a:spcBef>
              <a:spcAft>
                <a:spcPts val="600"/>
              </a:spcAft>
              <a:buClr>
                <a:srgbClr val="212121"/>
              </a:buClr>
              <a:buSzPts val="1680"/>
              <a:buChar char="●"/>
            </a:pPr>
            <a:r>
              <a:rPr lang="he-IL" sz="2100" b="0" i="0">
                <a:solidFill>
                  <a:srgbClr val="212121"/>
                </a:solidFill>
              </a:rPr>
              <a:t>עוזר בעורך או צ׳אט: משימה קטנה, הקשר קטן, סיכון נמוך.</a:t>
            </a:r>
          </a:p>
          <a:p>
            <a:pPr marL="347472" indent="-292608" algn="r" rtl="1">
              <a:lnSpc>
                <a:spcPct val="110000"/>
              </a:lnSpc>
              <a:spcBef>
                <a:spcPts val="0"/>
              </a:spcBef>
              <a:spcAft>
                <a:spcPts val="0"/>
              </a:spcAft>
              <a:buClr>
                <a:srgbClr val="212121"/>
              </a:buClr>
              <a:buSzPts val="1680"/>
              <a:buChar char="●"/>
            </a:pPr>
            <a:r>
              <a:rPr lang="he-IL" sz="2100" b="0" i="0">
                <a:solidFill>
                  <a:srgbClr val="212121"/>
                </a:solidFill>
              </a:rPr>
              <a:t>סוכן הוא יותר מדי: הרבה כוח למשימה של שורה אחת.</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העשרה: מה אומר המחקר</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400000"/>
          <a:ext cx="8400000" cy="281000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3400000">
                  <a:extLst>
                    <a:ext uri="{9D8B030D-6E8A-4147-A177-3AD203B41FA5}">
                      <a16:colId xmlns:a16="http://schemas.microsoft.com/office/drawing/2014/main" val="20001"/>
                    </a:ext>
                  </a:extLst>
                </a:gridCol>
                <a:gridCol w="2700000">
                  <a:extLst>
                    <a:ext uri="{9D8B030D-6E8A-4147-A177-3AD203B41FA5}">
                      <a16:colId xmlns:a16="http://schemas.microsoft.com/office/drawing/2014/main" val="20002"/>
                    </a:ext>
                  </a:extLst>
                </a:gridCol>
              </a:tblGrid>
              <a:tr h="450000">
                <a:tc>
                  <a:txBody>
                    <a:bodyPr/>
                    <a:lstStyle/>
                    <a:p>
                      <a:pPr marL="0" indent="0" algn="ctr" rtl="1">
                        <a:lnSpc>
                          <a:spcPct val="100000"/>
                        </a:lnSpc>
                        <a:spcBef>
                          <a:spcPts val="0"/>
                        </a:spcBef>
                        <a:spcAft>
                          <a:spcPts val="0"/>
                        </a:spcAft>
                        <a:buNone/>
                      </a:pPr>
                      <a:r>
                        <a:rPr lang="he-IL" sz="1600" b="1" i="0">
                          <a:solidFill>
                            <a:srgbClr val="212121"/>
                          </a:solidFill>
                        </a:rPr>
                        <a:t>תוצאה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600" b="1" i="0">
                          <a:solidFill>
                            <a:srgbClr val="212121"/>
                          </a:solidFill>
                        </a:rPr>
                        <a:t>ניסוי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600" b="1" i="0">
                          <a:solidFill>
                            <a:srgbClr val="212121"/>
                          </a:solidFill>
                        </a:rPr>
                        <a:t>מחקר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590000">
                <a:tc>
                  <a:txBody>
                    <a:bodyPr/>
                    <a:lstStyle/>
                    <a:p>
                      <a:pPr marL="0" indent="0" algn="r" rtl="1">
                        <a:lnSpc>
                          <a:spcPct val="100000"/>
                        </a:lnSpc>
                        <a:spcBef>
                          <a:spcPts val="0"/>
                        </a:spcBef>
                        <a:spcAft>
                          <a:spcPts val="0"/>
                        </a:spcAft>
                        <a:buNone/>
                      </a:pPr>
                      <a:r>
                        <a:rPr lang="he-IL" sz="1500" b="0" i="0">
                          <a:solidFill>
                            <a:srgbClr val="212121"/>
                          </a:solidFill>
                        </a:rPr>
                        <a:t>מהר יותר ב־55.8%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95 מתכנתים בונים שרת HTTP</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Peng et al. 2023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590000">
                <a:tc>
                  <a:txBody>
                    <a:bodyPr/>
                    <a:lstStyle/>
                    <a:p>
                      <a:pPr marL="0" indent="0" algn="r" rtl="1">
                        <a:lnSpc>
                          <a:spcPct val="100000"/>
                        </a:lnSpc>
                        <a:spcBef>
                          <a:spcPts val="0"/>
                        </a:spcBef>
                        <a:spcAft>
                          <a:spcPts val="0"/>
                        </a:spcAft>
                        <a:buNone/>
                      </a:pPr>
                      <a:r>
                        <a:rPr lang="he-IL" sz="1500" b="0" i="0">
                          <a:solidFill>
                            <a:srgbClr val="212121"/>
                          </a:solidFill>
                        </a:rPr>
                        <a:t>כ־26% יותר משימות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3 ניסויי שדה, כ־4,900 מפתחים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Cui et al. 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590000">
                <a:tc>
                  <a:txBody>
                    <a:bodyPr/>
                    <a:lstStyle/>
                    <a:p>
                      <a:pPr marL="0" indent="0" algn="r" rtl="1">
                        <a:lnSpc>
                          <a:spcPct val="100000"/>
                        </a:lnSpc>
                        <a:spcBef>
                          <a:spcPts val="0"/>
                        </a:spcBef>
                        <a:spcAft>
                          <a:spcPts val="0"/>
                        </a:spcAft>
                        <a:buNone/>
                      </a:pPr>
                      <a:r>
                        <a:rPr lang="he-IL" sz="1500" b="0" i="0">
                          <a:solidFill>
                            <a:srgbClr val="212121"/>
                          </a:solidFill>
                        </a:rPr>
                        <a:t>זמן ארוך ב־19% עם AI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16 ותיקים, 246 משימות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METR 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r h="590000">
                <a:tc>
                  <a:txBody>
                    <a:bodyPr/>
                    <a:lstStyle/>
                    <a:p>
                      <a:pPr marL="0" indent="0" algn="r" rtl="1">
                        <a:lnSpc>
                          <a:spcPct val="100000"/>
                        </a:lnSpc>
                        <a:spcBef>
                          <a:spcPts val="0"/>
                        </a:spcBef>
                        <a:spcAft>
                          <a:spcPts val="0"/>
                        </a:spcAft>
                        <a:buNone/>
                      </a:pPr>
                      <a:r>
                        <a:rPr lang="he-IL" sz="1500" b="0" i="0">
                          <a:solidFill>
                            <a:srgbClr val="212121"/>
                          </a:solidFill>
                        </a:rPr>
                        <a:t>ציון 50% מול 67%</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52 מפתחים, ספרייה חדשה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Anthropic 2026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365760" y="4300000"/>
            <a:ext cx="8412480" cy="4200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400" b="0" i="0">
                <a:solidFill>
                  <a:srgbClr val="212121"/>
                </a:solidFill>
              </a:rPr>
              <a:t>אין מספר אחד: התוצאה תלויה במשימה, בניסיון ובכלי.</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מקורות להעמקה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18"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אופציונלי</a:t>
            </a:r>
          </a:p>
        </p:txBody>
      </p:sp>
      <p:sp>
        <p:nvSpPr>
          <p:cNvPr id="19" name="Source 1"/>
          <p:cNvSpPr/>
          <p:nvPr/>
        </p:nvSpPr>
        <p:spPr>
          <a:xfrm>
            <a:off x="365760" y="1250000"/>
            <a:ext cx="8412480" cy="420000"/>
          </a:xfrm>
          <a:prstGeom prst="rect">
            <a:avLst/>
          </a:prstGeom>
          <a:solidFill>
            <a:srgbClr val="E3EEFF"/>
          </a:solidFill>
          <a:ln w="19050">
            <a:solidFill>
              <a:srgbClr val="EEEEEE"/>
            </a:solidFill>
          </a:ln>
        </p:spPr>
        <p:txBody>
          <a:bodyPr wrap="square" lIns="73152" tIns="18288" rIns="73152" bIns="18288" rtlCol="0" anchor="ctr">
            <a:noAutofit/>
          </a:bodyPr>
          <a:lstStyle/>
          <a:p>
            <a:pPr marL="0" indent="0" algn="l" rtl="0">
              <a:lnSpc>
                <a:spcPct val="100000"/>
              </a:lnSpc>
              <a:spcBef>
                <a:spcPts val="0"/>
              </a:spcBef>
              <a:spcAft>
                <a:spcPts val="0"/>
              </a:spcAft>
              <a:buNone/>
            </a:pPr>
            <a:r>
              <a:rPr lang="en-US" sz="1200" b="0" i="0">
                <a:solidFill>
                  <a:srgbClr val="212121"/>
                </a:solidFill>
              </a:rPr>
              <a:t>Becker, Rush, Barnes, Rein (METR, 2025). Measuring the Impact of Early-2025 AI on Experienced Open-Source Developer Productivity. arXiv:2507.09089</a:t>
            </a:r>
          </a:p>
        </p:txBody>
      </p:sp>
      <p:sp>
        <p:nvSpPr>
          <p:cNvPr id="20" name="Source 2"/>
          <p:cNvSpPr/>
          <p:nvPr/>
        </p:nvSpPr>
        <p:spPr>
          <a:xfrm>
            <a:off x="365760" y="1695000"/>
            <a:ext cx="8412480" cy="420000"/>
          </a:xfrm>
          <a:prstGeom prst="rect">
            <a:avLst/>
          </a:prstGeom>
          <a:solidFill>
            <a:srgbClr val="FFFFFF"/>
          </a:solidFill>
          <a:ln w="19050">
            <a:solidFill>
              <a:srgbClr val="EEEEEE"/>
            </a:solidFill>
          </a:ln>
        </p:spPr>
        <p:txBody>
          <a:bodyPr wrap="square" lIns="73152" tIns="18288" rIns="73152" bIns="18288" rtlCol="0" anchor="ctr">
            <a:noAutofit/>
          </a:bodyPr>
          <a:lstStyle/>
          <a:p>
            <a:pPr marL="0" indent="0" algn="l" rtl="0">
              <a:lnSpc>
                <a:spcPct val="100000"/>
              </a:lnSpc>
              <a:spcBef>
                <a:spcPts val="0"/>
              </a:spcBef>
              <a:spcAft>
                <a:spcPts val="0"/>
              </a:spcAft>
              <a:buNone/>
            </a:pPr>
            <a:r>
              <a:rPr lang="en-US" sz="1200" b="0" i="0">
                <a:solidFill>
                  <a:srgbClr val="212121"/>
                </a:solidFill>
              </a:rPr>
              <a:t>Peng, Kalliamvakou, Cihon, Demirer (2023). The Impact of AI on Developer Productivity: Evidence from GitHub Copilot. arXiv:2302.06590</a:t>
            </a:r>
          </a:p>
        </p:txBody>
      </p:sp>
      <p:sp>
        <p:nvSpPr>
          <p:cNvPr id="21" name="Source 3"/>
          <p:cNvSpPr/>
          <p:nvPr/>
        </p:nvSpPr>
        <p:spPr>
          <a:xfrm>
            <a:off x="365760" y="2140000"/>
            <a:ext cx="8412480" cy="420000"/>
          </a:xfrm>
          <a:prstGeom prst="rect">
            <a:avLst/>
          </a:prstGeom>
          <a:solidFill>
            <a:srgbClr val="E3EEFF"/>
          </a:solidFill>
          <a:ln w="19050">
            <a:solidFill>
              <a:srgbClr val="EEEEEE"/>
            </a:solidFill>
          </a:ln>
        </p:spPr>
        <p:txBody>
          <a:bodyPr wrap="square" lIns="73152" tIns="18288" rIns="73152" bIns="18288" rtlCol="0" anchor="ctr">
            <a:noAutofit/>
          </a:bodyPr>
          <a:lstStyle/>
          <a:p>
            <a:pPr marL="0" indent="0" algn="l" rtl="0">
              <a:lnSpc>
                <a:spcPct val="100000"/>
              </a:lnSpc>
              <a:spcBef>
                <a:spcPts val="0"/>
              </a:spcBef>
              <a:spcAft>
                <a:spcPts val="0"/>
              </a:spcAft>
              <a:buNone/>
            </a:pPr>
            <a:r>
              <a:rPr lang="en-US" sz="1200" b="0" i="0">
                <a:solidFill>
                  <a:srgbClr val="212121"/>
                </a:solidFill>
              </a:rPr>
              <a:t>Cui et al. (2025). The Effects of Generative AI on High-Skilled Work: Evidence from Three Field Experiments with Software Developers. Management Science; SSRN 4945566</a:t>
            </a:r>
          </a:p>
        </p:txBody>
      </p:sp>
      <p:sp>
        <p:nvSpPr>
          <p:cNvPr id="22" name="Source 4"/>
          <p:cNvSpPr/>
          <p:nvPr/>
        </p:nvSpPr>
        <p:spPr>
          <a:xfrm>
            <a:off x="365760" y="2585000"/>
            <a:ext cx="8412480" cy="420000"/>
          </a:xfrm>
          <a:prstGeom prst="rect">
            <a:avLst/>
          </a:prstGeom>
          <a:solidFill>
            <a:srgbClr val="FFFFFF"/>
          </a:solidFill>
          <a:ln w="19050">
            <a:solidFill>
              <a:srgbClr val="EEEEEE"/>
            </a:solidFill>
          </a:ln>
        </p:spPr>
        <p:txBody>
          <a:bodyPr wrap="square" lIns="73152" tIns="18288" rIns="73152" bIns="18288" rtlCol="0" anchor="ctr">
            <a:noAutofit/>
          </a:bodyPr>
          <a:lstStyle/>
          <a:p>
            <a:pPr marL="0" indent="0" algn="l" rtl="0">
              <a:lnSpc>
                <a:spcPct val="100000"/>
              </a:lnSpc>
              <a:spcBef>
                <a:spcPts val="0"/>
              </a:spcBef>
              <a:spcAft>
                <a:spcPts val="0"/>
              </a:spcAft>
              <a:buNone/>
            </a:pPr>
            <a:r>
              <a:rPr lang="en-US" sz="1200" b="0" i="0">
                <a:solidFill>
                  <a:srgbClr val="212121"/>
                </a:solidFill>
              </a:rPr>
              <a:t>Jimenez et al. (2024). SWE-bench: Can Language Models Resolve Real-World GitHub Issues? ICLR. arXiv:2310.06770</a:t>
            </a:r>
          </a:p>
        </p:txBody>
      </p:sp>
      <p:sp>
        <p:nvSpPr>
          <p:cNvPr id="23" name="Source 5"/>
          <p:cNvSpPr/>
          <p:nvPr/>
        </p:nvSpPr>
        <p:spPr>
          <a:xfrm>
            <a:off x="365760" y="3030000"/>
            <a:ext cx="8412480" cy="420000"/>
          </a:xfrm>
          <a:prstGeom prst="rect">
            <a:avLst/>
          </a:prstGeom>
          <a:solidFill>
            <a:srgbClr val="E3EEFF"/>
          </a:solidFill>
          <a:ln w="19050">
            <a:solidFill>
              <a:srgbClr val="EEEEEE"/>
            </a:solidFill>
          </a:ln>
        </p:spPr>
        <p:txBody>
          <a:bodyPr wrap="square" lIns="73152" tIns="18288" rIns="73152" bIns="18288" rtlCol="0" anchor="ctr">
            <a:noAutofit/>
          </a:bodyPr>
          <a:lstStyle/>
          <a:p>
            <a:pPr marL="0" indent="0" algn="l" rtl="0">
              <a:lnSpc>
                <a:spcPct val="100000"/>
              </a:lnSpc>
              <a:spcBef>
                <a:spcPts val="0"/>
              </a:spcBef>
              <a:spcAft>
                <a:spcPts val="0"/>
              </a:spcAft>
              <a:buNone/>
            </a:pPr>
            <a:r>
              <a:rPr lang="en-US" sz="1200" b="0" i="0">
                <a:solidFill>
                  <a:srgbClr val="212121"/>
                </a:solidFill>
              </a:rPr>
              <a:t>Yang et al. (2024). SWE-agent: Agent-Computer Interfaces Enable Automated Software Engineering. NeurIPS. arXiv:2405.15793</a:t>
            </a:r>
          </a:p>
        </p:txBody>
      </p:sp>
      <p:sp>
        <p:nvSpPr>
          <p:cNvPr id="24" name="Source 6"/>
          <p:cNvSpPr/>
          <p:nvPr/>
        </p:nvSpPr>
        <p:spPr>
          <a:xfrm>
            <a:off x="365760" y="3475000"/>
            <a:ext cx="8412480" cy="420000"/>
          </a:xfrm>
          <a:prstGeom prst="rect">
            <a:avLst/>
          </a:prstGeom>
          <a:solidFill>
            <a:srgbClr val="FFFFFF"/>
          </a:solidFill>
          <a:ln w="19050">
            <a:solidFill>
              <a:srgbClr val="EEEEEE"/>
            </a:solidFill>
          </a:ln>
        </p:spPr>
        <p:txBody>
          <a:bodyPr wrap="square" lIns="73152" tIns="18288" rIns="73152" bIns="18288" rtlCol="0" anchor="ctr">
            <a:noAutofit/>
          </a:bodyPr>
          <a:lstStyle/>
          <a:p>
            <a:pPr marL="0" indent="0" algn="l" rtl="0">
              <a:lnSpc>
                <a:spcPct val="100000"/>
              </a:lnSpc>
              <a:spcBef>
                <a:spcPts val="0"/>
              </a:spcBef>
              <a:spcAft>
                <a:spcPts val="0"/>
              </a:spcAft>
              <a:buNone/>
            </a:pPr>
            <a:r>
              <a:rPr lang="en-US" sz="1200" b="0" i="0">
                <a:solidFill>
                  <a:srgbClr val="212121"/>
                </a:solidFill>
              </a:rPr>
              <a:t>Spracklen et al. (2025). We Have a Package for You! A Comprehensive Analysis of Package Hallucinations by Code Generating LLMs. USENIX Security. arXiv:2406.10279</a:t>
            </a:r>
          </a:p>
        </p:txBody>
      </p:sp>
      <p:sp>
        <p:nvSpPr>
          <p:cNvPr id="25" name="Source 7"/>
          <p:cNvSpPr/>
          <p:nvPr/>
        </p:nvSpPr>
        <p:spPr>
          <a:xfrm>
            <a:off x="365760" y="3920000"/>
            <a:ext cx="8412480" cy="420000"/>
          </a:xfrm>
          <a:prstGeom prst="rect">
            <a:avLst/>
          </a:prstGeom>
          <a:solidFill>
            <a:srgbClr val="E3EEFF"/>
          </a:solidFill>
          <a:ln w="19050">
            <a:solidFill>
              <a:srgbClr val="EEEEEE"/>
            </a:solidFill>
          </a:ln>
        </p:spPr>
        <p:txBody>
          <a:bodyPr wrap="square" lIns="73152" tIns="18288" rIns="73152" bIns="18288" rtlCol="0" anchor="ctr">
            <a:noAutofit/>
          </a:bodyPr>
          <a:lstStyle/>
          <a:p>
            <a:pPr marL="0" indent="0" algn="l" rtl="0">
              <a:lnSpc>
                <a:spcPct val="100000"/>
              </a:lnSpc>
              <a:spcBef>
                <a:spcPts val="0"/>
              </a:spcBef>
              <a:spcAft>
                <a:spcPts val="0"/>
              </a:spcAft>
              <a:buNone/>
            </a:pPr>
            <a:r>
              <a:rPr lang="en-US" sz="1200" b="0" i="0">
                <a:solidFill>
                  <a:srgbClr val="212121"/>
                </a:solidFill>
              </a:rPr>
              <a:t>Anthropic Engineering (2024, 2025). Building effective agents; Effective context engineering for AI agents. anthropic.com/engineering</a:t>
            </a:r>
          </a:p>
        </p:txBody>
      </p:sp>
      <p:sp>
        <p:nvSpPr>
          <p:cNvPr id="26" name="Source 8"/>
          <p:cNvSpPr/>
          <p:nvPr/>
        </p:nvSpPr>
        <p:spPr>
          <a:xfrm>
            <a:off x="365760" y="4365000"/>
            <a:ext cx="8412480" cy="420000"/>
          </a:xfrm>
          <a:prstGeom prst="rect">
            <a:avLst/>
          </a:prstGeom>
          <a:solidFill>
            <a:srgbClr val="FFFFFF"/>
          </a:solidFill>
          <a:ln w="19050">
            <a:solidFill>
              <a:srgbClr val="EEEEEE"/>
            </a:solidFill>
          </a:ln>
        </p:spPr>
        <p:txBody>
          <a:bodyPr wrap="square" lIns="73152" tIns="18288" rIns="73152" bIns="18288" rtlCol="0" anchor="ctr">
            <a:noAutofit/>
          </a:bodyPr>
          <a:lstStyle/>
          <a:p>
            <a:pPr marL="0" indent="0" algn="l" rtl="0">
              <a:lnSpc>
                <a:spcPct val="100000"/>
              </a:lnSpc>
              <a:spcBef>
                <a:spcPts val="0"/>
              </a:spcBef>
              <a:spcAft>
                <a:spcPts val="0"/>
              </a:spcAft>
              <a:buNone/>
            </a:pPr>
            <a:r>
              <a:rPr lang="en-US" sz="1200" b="0" i="0">
                <a:solidFill>
                  <a:srgbClr val="212121"/>
                </a:solidFill>
              </a:rPr>
              <a:t>Model Context Protocol (2025-2026). Specification: architecture. modelcontextprotocol.io/specification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חלק ג׳ :</a:t>
            </a:r>
            <a:r>
              <a:rPr lang="he-IL" sz="3000" b="1" i="0">
                <a:solidFill>
                  <a:srgbClr val="212121"/>
                </a:solidFill>
              </a:rPr>
              <a:t>מהעץ לפונקציה</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400000"/>
          <a:ext cx="8400000" cy="2790000"/>
        </p:xfrm>
        <a:graphic>
          <a:graphicData uri="http://schemas.openxmlformats.org/drawingml/2006/table">
            <a:tbl>
              <a:tblPr>
                <a:tableStyleId>{2D5ABB26-0587-4C30-8999-92F81FD0307C}</a:tableStyleId>
              </a:tblPr>
              <a:tblGrid>
                <a:gridCol w="2800000">
                  <a:extLst>
                    <a:ext uri="{9D8B030D-6E8A-4147-A177-3AD203B41FA5}">
                      <a16:colId xmlns:a16="http://schemas.microsoft.com/office/drawing/2014/main" val="20000"/>
                    </a:ext>
                  </a:extLst>
                </a:gridCol>
                <a:gridCol w="2600000">
                  <a:extLst>
                    <a:ext uri="{9D8B030D-6E8A-4147-A177-3AD203B41FA5}">
                      <a16:colId xmlns:a16="http://schemas.microsoft.com/office/drawing/2014/main" val="20001"/>
                    </a:ext>
                  </a:extLst>
                </a:gridCol>
                <a:gridCol w="3000000">
                  <a:extLst>
                    <a:ext uri="{9D8B030D-6E8A-4147-A177-3AD203B41FA5}">
                      <a16:colId xmlns:a16="http://schemas.microsoft.com/office/drawing/2014/main" val="20002"/>
                    </a:ext>
                  </a:extLst>
                </a:gridCol>
              </a:tblGrid>
              <a:tr h="440000">
                <a:tc>
                  <a:txBody>
                    <a:bodyPr/>
                    <a:lstStyle/>
                    <a:p>
                      <a:pPr marL="0" indent="0" algn="ctr" rtl="1">
                        <a:lnSpc>
                          <a:spcPct val="100000"/>
                        </a:lnSpc>
                        <a:spcBef>
                          <a:spcPts val="0"/>
                        </a:spcBef>
                        <a:spcAft>
                          <a:spcPts val="0"/>
                        </a:spcAft>
                        <a:buNone/>
                      </a:pPr>
                      <a:r>
                        <a:rPr lang="he-IL" sz="1600" b="1" i="0">
                          <a:solidFill>
                            <a:srgbClr val="212121"/>
                          </a:solidFill>
                        </a:rPr>
                        <a:t>השאלה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600" b="1" i="0">
                          <a:solidFill>
                            <a:srgbClr val="212121"/>
                          </a:solidFill>
                        </a:rPr>
                        <a:t>שדה בפונקציה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600" b="1" i="0">
                          <a:solidFill>
                            <a:srgbClr val="212121"/>
                          </a:solidFill>
                        </a:rPr>
                        <a:t>קריטריון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470000">
                <a:tc>
                  <a:txBody>
                    <a:bodyPr/>
                    <a:lstStyle/>
                    <a:p>
                      <a:pPr marL="0" indent="0" algn="r" rtl="1">
                        <a:lnSpc>
                          <a:spcPct val="100000"/>
                        </a:lnSpc>
                        <a:spcBef>
                          <a:spcPts val="0"/>
                        </a:spcBef>
                        <a:spcAft>
                          <a:spcPts val="0"/>
                        </a:spcAft>
                        <a:buNone/>
                      </a:pPr>
                      <a:r>
                        <a:rPr lang="he-IL" sz="1500" b="0" i="0">
                          <a:solidFill>
                            <a:srgbClr val="212121"/>
                          </a:solidFill>
                        </a:rPr>
                        <a:t>כמה קבצים המשימה נוגעת בהם?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files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גודל המשימה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470000">
                <a:tc>
                  <a:txBody>
                    <a:bodyPr/>
                    <a:lstStyle/>
                    <a:p>
                      <a:pPr marL="0" indent="0" algn="r" rtl="1">
                        <a:lnSpc>
                          <a:spcPct val="100000"/>
                        </a:lnSpc>
                        <a:spcBef>
                          <a:spcPts val="0"/>
                        </a:spcBef>
                        <a:spcAft>
                          <a:spcPts val="0"/>
                        </a:spcAft>
                        <a:buNone/>
                      </a:pPr>
                      <a:r>
                        <a:rPr lang="he-IL" sz="1500" b="0" i="0">
                          <a:solidFill>
                            <a:srgbClr val="212121"/>
                          </a:solidFill>
                        </a:rPr>
                        <a:t>האם צריך להריץ קוד כדי לבדוק?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needs_run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הקשר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470000">
                <a:tc>
                  <a:txBody>
                    <a:bodyPr/>
                    <a:lstStyle/>
                    <a:p>
                      <a:pPr marL="0" indent="0" algn="r" rtl="1">
                        <a:lnSpc>
                          <a:spcPct val="100000"/>
                        </a:lnSpc>
                        <a:spcBef>
                          <a:spcPts val="0"/>
                        </a:spcBef>
                        <a:spcAft>
                          <a:spcPts val="0"/>
                        </a:spcAft>
                        <a:buNone/>
                      </a:pPr>
                      <a:r>
                        <a:rPr lang="he-IL" sz="1500" b="0" i="0">
                          <a:solidFill>
                            <a:srgbClr val="212121"/>
                          </a:solidFill>
                        </a:rPr>
                        <a:t>האם הקובץ פתוח בעורך?</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open_in_editor</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הקשר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r h="470000">
                <a:tc>
                  <a:txBody>
                    <a:bodyPr/>
                    <a:lstStyle/>
                    <a:p>
                      <a:pPr marL="0" indent="0" algn="r" rtl="1">
                        <a:lnSpc>
                          <a:spcPct val="100000"/>
                        </a:lnSpc>
                        <a:spcBef>
                          <a:spcPts val="0"/>
                        </a:spcBef>
                        <a:spcAft>
                          <a:spcPts val="0"/>
                        </a:spcAft>
                        <a:buNone/>
                      </a:pPr>
                      <a:r>
                        <a:rPr lang="he-IL" sz="1500" b="0" i="0">
                          <a:solidFill>
                            <a:srgbClr val="212121"/>
                          </a:solidFill>
                        </a:rPr>
                        <a:t>האם יש גיבוי ב־Git?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has_backup</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סיכון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4"/>
                  </a:ext>
                </a:extLst>
              </a:tr>
              <a:tr h="470000">
                <a:tc>
                  <a:txBody>
                    <a:bodyPr/>
                    <a:lstStyle/>
                    <a:p>
                      <a:pPr marL="0" indent="0" algn="r" rtl="1">
                        <a:lnSpc>
                          <a:spcPct val="100000"/>
                        </a:lnSpc>
                        <a:spcBef>
                          <a:spcPts val="0"/>
                        </a:spcBef>
                        <a:spcAft>
                          <a:spcPts val="0"/>
                        </a:spcAft>
                        <a:buNone/>
                      </a:pPr>
                      <a:r>
                        <a:rPr lang="he-IL" sz="1500" b="0" i="0">
                          <a:solidFill>
                            <a:srgbClr val="212121"/>
                          </a:solidFill>
                        </a:rPr>
                        <a:t>האם יש נתונים רגישים?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sensitive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1" i="0">
                          <a:solidFill>
                            <a:srgbClr val="212121"/>
                          </a:solidFill>
                        </a:rPr>
                        <a:t>פרטיות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365760" y="4280000"/>
            <a:ext cx="8412480" cy="4200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400" b="0" i="0">
                <a:solidFill>
                  <a:srgbClr val="212121"/>
                </a:solidFill>
              </a:rPr>
              <a:t>שליטה: התוצאה היא סוכן באוטונומיה נמוכה. הסדר חשוב: רגישות נבדקת ראשונה.</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ג׳ : הקובץ הנדרש</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212121"/>
                </a:solidFill>
              </a:rPr>
              <a:t>הקובץ לתרגול: HM_05.ipynb. חלקים ג׳-ד׳: בחירת כלי ויומן.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8" name="Oval 7"/>
          <p:cNvSpPr/>
          <p:nvPr/>
        </p:nvSpPr>
        <p:spPr>
          <a:xfrm>
            <a:off x="7315200" y="182880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HM_05.ipynb. חלקים ג׳-ד׳: בחירת כלי ויומן</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2" name="Oval 11"/>
          <p:cNvSpPr/>
          <p:nvPr/>
        </p:nvSpPr>
        <p:spPr>
          <a:xfrm>
            <a:off x="4389120" y="1828800"/>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E1F4E6"/>
          </a:solidFill>
          <a:ln w="31750">
            <a:solidFill>
              <a:srgbClr val="34A853"/>
            </a:solidFill>
          </a:ln>
        </p:spPr>
        <p:txBody>
          <a:bodyPr wrap="square" lIns="73152" tIns="73152" rIns="73152" bIns="73152" rtlCol="0" anchor="ctr">
            <a:noAutofit/>
          </a:bodyPr>
          <a:lstStyle/>
          <a:p>
            <a:pPr algn="ctr"/>
            <a:endParaRPr/>
          </a:p>
        </p:txBody>
      </p:sp>
      <p:sp>
        <p:nvSpPr>
          <p:cNvPr id="16" name="Oval 15"/>
          <p:cNvSpPr/>
          <p:nvPr/>
        </p:nvSpPr>
        <p:spPr>
          <a:xfrm>
            <a:off x="1463039" y="1828800"/>
            <a:ext cx="384048" cy="384048"/>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בסוף: ✓ בכל הבדיקות, שמירה ב־Drive והורדת הקובץ</a:t>
            </a:r>
          </a:p>
        </p:txBody>
      </p:sp>
      <p:sp>
        <p:nvSpPr>
          <p:cNvPr id="19" name="Rounded Rectangle 18"/>
          <p:cNvSpPr/>
          <p:nvPr/>
        </p:nvSpPr>
        <p:spPr>
          <a:xfrm>
            <a:off x="365760" y="4206240"/>
            <a:ext cx="841248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700" b="0" i="0">
                <a:solidFill>
                  <a:srgbClr val="212121"/>
                </a:solidFill>
              </a:rPr>
              <a:t>הנתונים כבר בתוך המחברת. קבצי פרויקט משלכם: דרך Drive או GitHub (במדריך, פרקים 4 ו־5).</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ג׳ : בוחרים כלי ומתעדים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212121"/>
                </a:solidFill>
              </a:rPr>
              <a:t>למה: חמשת הקריטריונים הופכים לכלל שאפשר לבדוק, כמו במעבדה א׳.</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8" name="Oval 7"/>
          <p:cNvSpPr/>
          <p:nvPr/>
        </p:nvSpPr>
        <p:spPr>
          <a:xfrm>
            <a:off x="7315200" y="182880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choose_tool</a:t>
            </a:r>
          </a:p>
        </p:txBody>
      </p:sp>
      <p:sp>
        <p:nvSpPr>
          <p:cNvPr id="10" name="TextBox 9"/>
          <p:cNvSpPr txBox="1"/>
          <p:nvPr/>
        </p:nvSpPr>
        <p:spPr>
          <a:xfrm>
            <a:off x="6309360"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העץ כפונקציה: חמישה שדות קלט, בדיקה על 6 תרחישים</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2" name="Oval 11"/>
          <p:cNvSpPr/>
          <p:nvPr/>
        </p:nvSpPr>
        <p:spPr>
          <a:xfrm>
            <a:off x="4389120" y="1828800"/>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פרטיות</a:t>
            </a:r>
          </a:p>
        </p:txBody>
      </p:sp>
      <p:sp>
        <p:nvSpPr>
          <p:cNvPr id="14" name="TextBox 13"/>
          <p:cNvSpPr txBox="1"/>
          <p:nvPr/>
        </p:nvSpPr>
        <p:spPr>
          <a:xfrm>
            <a:off x="338327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מסווגים 6 פריטים: אדום, צהוב או ירוק</a:t>
            </a:r>
          </a:p>
        </p:txBody>
      </p:sp>
      <p:sp>
        <p:nvSpPr>
          <p:cNvPr id="15" name="Rounded Rectangle 14"/>
          <p:cNvSpPr/>
          <p:nvPr/>
        </p:nvSpPr>
        <p:spPr>
          <a:xfrm>
            <a:off x="320039" y="2057400"/>
            <a:ext cx="2697480" cy="1828800"/>
          </a:xfrm>
          <a:prstGeom prst="roundRect">
            <a:avLst>
              <a:gd name="adj" fmla="val 6000"/>
            </a:avLst>
          </a:prstGeom>
          <a:solidFill>
            <a:srgbClr val="E1F4E6"/>
          </a:solidFill>
          <a:ln w="31750">
            <a:solidFill>
              <a:srgbClr val="34A853"/>
            </a:solidFill>
          </a:ln>
        </p:spPr>
        <p:txBody>
          <a:bodyPr wrap="square" lIns="73152" tIns="73152" rIns="73152" bIns="73152" rtlCol="0" anchor="ctr">
            <a:noAutofit/>
          </a:bodyPr>
          <a:lstStyle/>
          <a:p>
            <a:pPr algn="ctr"/>
            <a:endParaRPr/>
          </a:p>
        </p:txBody>
      </p:sp>
      <p:sp>
        <p:nvSpPr>
          <p:cNvPr id="16" name="Oval 15"/>
          <p:cNvSpPr/>
          <p:nvPr/>
        </p:nvSpPr>
        <p:spPr>
          <a:xfrm>
            <a:off x="1463039" y="1828800"/>
            <a:ext cx="384048" cy="384048"/>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יומן שימוש</a:t>
            </a:r>
          </a:p>
        </p:txBody>
      </p:sp>
      <p:sp>
        <p:nvSpPr>
          <p:cNvPr id="18" name="TextBox 17"/>
          <p:cNvSpPr txBox="1"/>
          <p:nvPr/>
        </p:nvSpPr>
        <p:spPr>
          <a:xfrm>
            <a:off x="45719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log_row, write_log: בונים את AI_LOG.md לפרויקט</a:t>
            </a:r>
          </a:p>
        </p:txBody>
      </p:sp>
      <p:sp>
        <p:nvSpPr>
          <p:cNvPr id="19" name="Rounded Rectangle 18"/>
          <p:cNvSpPr/>
          <p:nvPr/>
        </p:nvSpPr>
        <p:spPr>
          <a:xfrm>
            <a:off x="365760" y="4206240"/>
            <a:ext cx="841248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700" b="0" i="0">
                <a:solidFill>
                  <a:srgbClr val="212121"/>
                </a:solidFill>
              </a:rPr>
              <a:t>כוללים כלל החלטה אישי בן משפט אחד ושלושה תרחישים משלכם. שומרים: הם נכנסים לפרויקט הקבוצתי.</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ג׳ : מה אמור לצאת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2200" b="1" i="0">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wrap="square" lIns="73152" tIns="73152" rIns="73152" bIns="73152" rtlCol="0" anchor="ctr">
            <a:noAutofit/>
          </a:bodyPr>
          <a:lstStyle/>
          <a:p>
            <a:pPr algn="ctr"/>
            <a:endParaRPr/>
          </a:p>
        </p:txBody>
      </p:sp>
      <p:sp>
        <p:nvSpPr>
          <p:cNvPr id="8" name="Oval 7"/>
          <p:cNvSpPr/>
          <p:nvPr/>
        </p:nvSpPr>
        <p:spPr>
          <a:xfrm>
            <a:off x="7315200" y="1828800"/>
            <a:ext cx="384048" cy="384048"/>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6 תרחישים</a:t>
            </a:r>
          </a:p>
        </p:txBody>
      </p:sp>
      <p:sp>
        <p:nvSpPr>
          <p:cNvPr id="10" name="TextBox 9"/>
          <p:cNvSpPr txBox="1"/>
          <p:nvPr/>
        </p:nvSpPr>
        <p:spPr>
          <a:xfrm>
            <a:off x="6309360"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רגישות נבדקת ראשונה. ״אין גיבוי״ מחזיר backup_first</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wrap="square" lIns="73152" tIns="73152" rIns="73152" bIns="73152" rtlCol="0" anchor="ctr">
            <a:noAutofit/>
          </a:bodyPr>
          <a:lstStyle/>
          <a:p>
            <a:pPr algn="ctr"/>
            <a:endParaRPr/>
          </a:p>
        </p:txBody>
      </p:sp>
      <p:sp>
        <p:nvSpPr>
          <p:cNvPr id="12" name="Oval 11"/>
          <p:cNvSpPr/>
          <p:nvPr/>
        </p:nvSpPr>
        <p:spPr>
          <a:xfrm>
            <a:off x="4389120" y="1828800"/>
            <a:ext cx="384048" cy="384048"/>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פרטיות</a:t>
            </a:r>
          </a:p>
        </p:txBody>
      </p:sp>
      <p:sp>
        <p:nvSpPr>
          <p:cNvPr id="14" name="TextBox 13"/>
          <p:cNvSpPr txBox="1"/>
          <p:nvPr/>
        </p:nvSpPr>
        <p:spPr>
          <a:xfrm>
            <a:off x="338327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סיסמה, מפתח וקובץ לקוחות אמיתי: אדום. קוד הפרויקט: צהוב</a:t>
            </a:r>
          </a:p>
        </p:txBody>
      </p:sp>
      <p:sp>
        <p:nvSpPr>
          <p:cNvPr id="15" name="Rounded Rectangle 14"/>
          <p:cNvSpPr/>
          <p:nvPr/>
        </p:nvSpPr>
        <p:spPr>
          <a:xfrm>
            <a:off x="320039" y="2057400"/>
            <a:ext cx="2697480" cy="1828800"/>
          </a:xfrm>
          <a:prstGeom prst="roundRect">
            <a:avLst>
              <a:gd name="adj" fmla="val 6000"/>
            </a:avLst>
          </a:prstGeom>
          <a:solidFill>
            <a:srgbClr val="E1F4E6"/>
          </a:solidFill>
          <a:ln w="31750">
            <a:solidFill>
              <a:srgbClr val="34A853"/>
            </a:solidFill>
          </a:ln>
        </p:spPr>
        <p:txBody>
          <a:bodyPr wrap="square" lIns="73152" tIns="73152" rIns="73152" bIns="73152" rtlCol="0" anchor="ctr">
            <a:noAutofit/>
          </a:bodyPr>
          <a:lstStyle/>
          <a:p>
            <a:pPr algn="ctr"/>
            <a:endParaRPr/>
          </a:p>
        </p:txBody>
      </p:sp>
      <p:sp>
        <p:nvSpPr>
          <p:cNvPr id="16" name="Oval 15"/>
          <p:cNvSpPr/>
          <p:nvPr/>
        </p:nvSpPr>
        <p:spPr>
          <a:xfrm>
            <a:off x="1463039" y="1828800"/>
            <a:ext cx="384048" cy="384048"/>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2000" b="1" i="0">
                <a:solidFill>
                  <a:srgbClr val="212121"/>
                </a:solidFill>
              </a:rPr>
              <a:t>AI_LOG.md</a:t>
            </a:r>
          </a:p>
        </p:txBody>
      </p:sp>
      <p:sp>
        <p:nvSpPr>
          <p:cNvPr id="18" name="TextBox 17"/>
          <p:cNvSpPr txBox="1"/>
          <p:nvPr/>
        </p:nvSpPr>
        <p:spPr>
          <a:xfrm>
            <a:off x="457199" y="2834640"/>
            <a:ext cx="2423160" cy="100584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0" i="0">
                <a:solidFill>
                  <a:srgbClr val="212121"/>
                </a:solidFill>
              </a:rPr>
              <a:t>טבלה של 5 עמודות, כולל איך אימתתי והחלטה</a:t>
            </a:r>
          </a:p>
        </p:txBody>
      </p:sp>
      <p:sp>
        <p:nvSpPr>
          <p:cNvPr id="19" name="Rounded Rectangle 18"/>
          <p:cNvSpPr/>
          <p:nvPr/>
        </p:nvSpPr>
        <p:spPr>
          <a:xfrm>
            <a:off x="365760" y="4206240"/>
            <a:ext cx="8412480" cy="64008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700" b="0" i="0">
                <a:solidFill>
                  <a:srgbClr val="212121"/>
                </a:solidFill>
              </a:rPr>
              <a:t>אחרי המחברת: קבוצה ומאגר ב־GitHub (השקף הבא), ושמים את AI_LOG.md במאגר.</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מעבדה ג׳ : כלל ההחלטה שלכם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sp>
        <p:nvSpPr>
          <p:cNvPr id="6" name="Rounded Rectangle 5"/>
          <p:cNvSpPr/>
          <p:nvPr/>
        </p:nvSpPr>
        <p:spPr>
          <a:xfrm>
            <a:off x="365760" y="1417320"/>
            <a:ext cx="8412480" cy="1371600"/>
          </a:xfrm>
          <a:prstGeom prst="roundRect">
            <a:avLst>
              <a:gd name="adj" fmla="val 12000"/>
            </a:avLst>
          </a:prstGeom>
          <a:solidFill>
            <a:srgbClr val="FFF0D9"/>
          </a:solidFill>
          <a:ln w="317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400" b="1" i="0">
                <a:solidFill>
                  <a:srgbClr val="212121"/>
                </a:solidFill>
              </a:rPr>
              <a:t>כשהמשימה ___ וההקשר ___ והסיכון ___,</a:t>
            </a:r>
          </a:p>
          <a:p>
            <a:pPr marL="0" indent="0" algn="ctr" rtl="1">
              <a:lnSpc>
                <a:spcPct val="105000"/>
              </a:lnSpc>
              <a:spcBef>
                <a:spcPts val="0"/>
              </a:spcBef>
              <a:spcAft>
                <a:spcPts val="0"/>
              </a:spcAft>
              <a:buNone/>
            </a:pPr>
            <a:r>
              <a:rPr lang="he-IL" sz="2400" b="1" i="0">
                <a:solidFill>
                  <a:srgbClr val="212121"/>
                </a:solidFill>
              </a:rPr>
              <a:t>אבחר ב־___ כי ___.</a:t>
            </a:r>
          </a:p>
        </p:txBody>
      </p:sp>
      <p:sp>
        <p:nvSpPr>
          <p:cNvPr id="7" name="TextBox 6"/>
          <p:cNvSpPr txBox="1"/>
          <p:nvPr/>
        </p:nvSpPr>
        <p:spPr>
          <a:xfrm>
            <a:off x="365760" y="3017520"/>
            <a:ext cx="8412480" cy="457200"/>
          </a:xfrm>
          <a:prstGeom prst="rect">
            <a:avLst/>
          </a:prstGeom>
          <a:noFill/>
        </p:spPr>
        <p:txBody>
          <a:bodyPr wrap="square" lIns="73152" tIns="73152" rIns="73152" bIns="73152" anchor="t">
            <a:noAutofit/>
          </a:bodyPr>
          <a:lstStyle/>
          <a:p>
            <a:pPr marL="0" indent="0" algn="r" rtl="1">
              <a:lnSpc>
                <a:spcPct val="110000"/>
              </a:lnSpc>
              <a:spcBef>
                <a:spcPts val="0"/>
              </a:spcBef>
              <a:spcAft>
                <a:spcPts val="0"/>
              </a:spcAft>
              <a:buNone/>
            </a:pPr>
            <a:r>
              <a:rPr lang="he-IL" sz="1800" b="1" i="0">
                <a:solidFill>
                  <a:srgbClr val="34A853"/>
                </a:solidFill>
              </a:rPr>
              <a:t>דוגמה:</a:t>
            </a:r>
          </a:p>
        </p:txBody>
      </p:sp>
      <p:sp>
        <p:nvSpPr>
          <p:cNvPr id="8" name="Rounded Rectangle 7"/>
          <p:cNvSpPr/>
          <p:nvPr/>
        </p:nvSpPr>
        <p:spPr>
          <a:xfrm>
            <a:off x="365760" y="3474720"/>
            <a:ext cx="8412480" cy="1280160"/>
          </a:xfrm>
          <a:prstGeom prst="roundRect">
            <a:avLst>
              <a:gd name="adj" fmla="val 12000"/>
            </a:avLst>
          </a:prstGeom>
          <a:solidFill>
            <a:srgbClr val="E1F4E6"/>
          </a:solidFill>
          <a:ln w="19050">
            <a:solidFill>
              <a:srgbClr val="34A853"/>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0" i="0">
                <a:solidFill>
                  <a:srgbClr val="212121"/>
                </a:solidFill>
              </a:rPr>
              <a:t>כשהמשימה נוגעת בכמה קבצים וההקשר גדול והסיכון בינוני, אבחר בסוכן באוטונומיה נמוכה, אחרי גיבוי, כי הוא יכול לקרוא ולהריץ.</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a:t>
            </a:r>
            <a:r>
              <a:rPr lang="he-IL" sz="3000" b="1" i="0">
                <a:solidFill>
                  <a:srgbClr val="212121"/>
                </a:solidFill>
              </a:rPr>
              <a:t>מעבדה ג׳</a:t>
            </a:r>
            <a:r>
              <a:rPr lang="he-IL" sz="3000" b="0" i="0">
                <a:solidFill>
                  <a:srgbClr val="212121"/>
                </a:solidFill>
              </a:rPr>
              <a:t> : יומן שימוש ב־AI</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13 דקות</a:t>
            </a:r>
          </a:p>
        </p:txBody>
      </p:sp>
      <p:graphicFrame>
        <p:nvGraphicFramePr>
          <p:cNvPr id="6" name="Table 5"/>
          <p:cNvGraphicFramePr>
            <a:graphicFrameLocks noGrp="1"/>
          </p:cNvGraphicFramePr>
          <p:nvPr/>
        </p:nvGraphicFramePr>
        <p:xfrm>
          <a:off x="365760" y="1463040"/>
          <a:ext cx="8412476" cy="2926080"/>
        </p:xfrm>
        <a:graphic>
          <a:graphicData uri="http://schemas.openxmlformats.org/drawingml/2006/table">
            <a:tbl>
              <a:tblPr>
                <a:tableStyleId>{2D5ABB26-0587-4C30-8999-92F81FD0307C}</a:tableStyleId>
              </a:tblPr>
              <a:tblGrid>
                <a:gridCol w="1097279">
                  <a:extLst>
                    <a:ext uri="{9D8B030D-6E8A-4147-A177-3AD203B41FA5}">
                      <a16:colId xmlns:a16="http://schemas.microsoft.com/office/drawing/2014/main" val="20000"/>
                    </a:ext>
                  </a:extLst>
                </a:gridCol>
                <a:gridCol w="2926079">
                  <a:extLst>
                    <a:ext uri="{9D8B030D-6E8A-4147-A177-3AD203B41FA5}">
                      <a16:colId xmlns:a16="http://schemas.microsoft.com/office/drawing/2014/main" val="20001"/>
                    </a:ext>
                  </a:extLst>
                </a:gridCol>
                <a:gridCol w="2011679">
                  <a:extLst>
                    <a:ext uri="{9D8B030D-6E8A-4147-A177-3AD203B41FA5}">
                      <a16:colId xmlns:a16="http://schemas.microsoft.com/office/drawing/2014/main" val="20002"/>
                    </a:ext>
                  </a:extLst>
                </a:gridCol>
                <a:gridCol w="2377439">
                  <a:extLst>
                    <a:ext uri="{9D8B030D-6E8A-4147-A177-3AD203B41FA5}">
                      <a16:colId xmlns:a16="http://schemas.microsoft.com/office/drawing/2014/main" val="20003"/>
                    </a:ext>
                  </a:extLst>
                </a:gridCol>
              </a:tblGrid>
              <a:tr h="731520">
                <a:tc>
                  <a:txBody>
                    <a:bodyPr/>
                    <a:lstStyle/>
                    <a:p>
                      <a:pPr marL="0" indent="0" algn="ctr" rtl="1">
                        <a:lnSpc>
                          <a:spcPct val="100000"/>
                        </a:lnSpc>
                        <a:spcBef>
                          <a:spcPts val="0"/>
                        </a:spcBef>
                        <a:spcAft>
                          <a:spcPts val="0"/>
                        </a:spcAft>
                        <a:buNone/>
                      </a:pPr>
                      <a:r>
                        <a:rPr lang="he-IL" sz="1500" b="1" i="0">
                          <a:solidFill>
                            <a:srgbClr val="212121"/>
                          </a:solidFill>
                        </a:rPr>
                        <a:t>החלטה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500" b="1" i="0">
                          <a:solidFill>
                            <a:srgbClr val="212121"/>
                          </a:solidFill>
                        </a:rPr>
                        <a:t>איך אימתתי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500" b="1" i="0">
                          <a:solidFill>
                            <a:srgbClr val="212121"/>
                          </a:solidFill>
                        </a:rPr>
                        <a:t>מה קיבלתי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500" b="1" i="0">
                          <a:solidFill>
                            <a:srgbClr val="212121"/>
                          </a:solidFill>
                        </a:rPr>
                        <a:t>כלי ופרומפט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731520">
                <a:tc>
                  <a:txBody>
                    <a:bodyPr/>
                    <a:lstStyle/>
                    <a:p>
                      <a:pPr marL="0" indent="0" algn="r" rtl="1">
                        <a:lnSpc>
                          <a:spcPct val="100000"/>
                        </a:lnSpc>
                        <a:spcBef>
                          <a:spcPts val="0"/>
                        </a:spcBef>
                        <a:spcAft>
                          <a:spcPts val="0"/>
                        </a:spcAft>
                        <a:buNone/>
                      </a:pPr>
                      <a:r>
                        <a:rPr lang="he-IL" sz="1500" b="0" i="0">
                          <a:solidFill>
                            <a:srgbClr val="212121"/>
                          </a:solidFill>
                        </a:rPr>
                        <a:t>אימצתי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הרצתי, השוויתי ל־5 המוצרים הצפויים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קוד pandas וגרף</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500" b="0" i="0">
                          <a:solidFill>
                            <a:srgbClr val="212121"/>
                          </a:solidFill>
                        </a:rPr>
                        <a:t>צ׳אט: top 5 products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731520">
                <a:tc>
                  <a:txBody>
                    <a:bodyPr/>
                    <a:lstStyle/>
                    <a:p>
                      <a:pPr marL="0" indent="0" algn="r" rtl="1">
                        <a:lnSpc>
                          <a:spcPct val="100000"/>
                        </a:lnSpc>
                        <a:spcBef>
                          <a:spcPts val="0"/>
                        </a:spcBef>
                        <a:spcAft>
                          <a:spcPts val="0"/>
                        </a:spcAft>
                        <a:buNone/>
                      </a:pPr>
                      <a:endParaR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endParaR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endParaR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endParaR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731520">
                <a:tc>
                  <a:txBody>
                    <a:bodyPr/>
                    <a:lstStyle/>
                    <a:p>
                      <a:pPr marL="0" indent="0" algn="r" rtl="1">
                        <a:lnSpc>
                          <a:spcPct val="100000"/>
                        </a:lnSpc>
                        <a:spcBef>
                          <a:spcPts val="0"/>
                        </a:spcBef>
                        <a:spcAft>
                          <a:spcPts val="0"/>
                        </a:spcAft>
                        <a:buNone/>
                      </a:pPr>
                      <a:endParaR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endParaR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endParaR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endParaR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bl>
          </a:graphicData>
        </a:graphic>
      </p:graphicFrame>
      <p:sp>
        <p:nvSpPr>
          <p:cNvPr id="7" name="TextBox 6"/>
          <p:cNvSpPr txBox="1"/>
          <p:nvPr/>
        </p:nvSpPr>
        <p:spPr>
          <a:xfrm>
            <a:off x="365760" y="4572000"/>
            <a:ext cx="8412480" cy="457200"/>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600" b="1" i="0">
                <a:solidFill>
                  <a:srgbClr val="4285F4"/>
                </a:solidFill>
              </a:rPr>
              <a:t>כל שימוש משמעותי ב־AI נרשם: מה ביקשתי, מה קיבלתי, איך בדקתי.</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אחרי המחברת : קבוצה ומאגר</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 5 דקות</a:t>
            </a:r>
          </a:p>
        </p:txBody>
      </p:sp>
      <p:sp>
        <p:nvSpPr>
          <p:cNvPr id="6" name="Oval 5"/>
          <p:cNvSpPr/>
          <p:nvPr/>
        </p:nvSpPr>
        <p:spPr>
          <a:xfrm>
            <a:off x="8458200" y="1444752"/>
            <a:ext cx="411480" cy="41148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1</a:t>
            </a:r>
          </a:p>
        </p:txBody>
      </p:sp>
      <p:sp>
        <p:nvSpPr>
          <p:cNvPr id="7" name="Rounded Rectangle 6"/>
          <p:cNvSpPr/>
          <p:nvPr/>
        </p:nvSpPr>
        <p:spPr>
          <a:xfrm>
            <a:off x="2743200" y="1371600"/>
            <a:ext cx="5577840" cy="566928"/>
          </a:xfrm>
          <a:prstGeom prst="roundRect">
            <a:avLst>
              <a:gd name="adj" fmla="val 12000"/>
            </a:avLst>
          </a:prstGeom>
          <a:solidFill>
            <a:srgbClr val="FFFFFF"/>
          </a:solidFill>
          <a:ln w="25400">
            <a:solidFill>
              <a:srgbClr val="4285F4"/>
            </a:solidFill>
          </a:ln>
        </p:spPr>
        <p:txBody>
          <a:bodyPr wrap="square" lIns="73152" tIns="73152" rIns="73152" bIns="73152" rtlCol="0" anchor="ctr">
            <a:noAutofit/>
          </a:bodyPr>
          <a:lstStyle/>
          <a:p>
            <a:pPr marL="0" indent="0" algn="r" rtl="1">
              <a:lnSpc>
                <a:spcPct val="105000"/>
              </a:lnSpc>
              <a:spcBef>
                <a:spcPts val="0"/>
              </a:spcBef>
              <a:spcAft>
                <a:spcPts val="0"/>
              </a:spcAft>
              <a:buNone/>
            </a:pPr>
            <a:r>
              <a:rPr lang="he-IL" sz="1600" b="0" i="0">
                <a:solidFill>
                  <a:srgbClr val="212121"/>
                </a:solidFill>
              </a:rPr>
              <a:t>בהתאם לרשימה על המקרן, מתיישבים עם הקבוצה.</a:t>
            </a:r>
          </a:p>
        </p:txBody>
      </p:sp>
      <p:sp>
        <p:nvSpPr>
          <p:cNvPr id="8" name="Oval 7"/>
          <p:cNvSpPr/>
          <p:nvPr/>
        </p:nvSpPr>
        <p:spPr>
          <a:xfrm>
            <a:off x="8458200" y="2157984"/>
            <a:ext cx="411480" cy="411480"/>
          </a:xfrm>
          <a:prstGeom prst="ellipse">
            <a:avLst/>
          </a:prstGeom>
          <a:solidFill>
            <a:srgbClr val="FFAB40"/>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2</a:t>
            </a:r>
          </a:p>
        </p:txBody>
      </p:sp>
      <p:sp>
        <p:nvSpPr>
          <p:cNvPr id="9" name="Rounded Rectangle 8"/>
          <p:cNvSpPr/>
          <p:nvPr/>
        </p:nvSpPr>
        <p:spPr>
          <a:xfrm>
            <a:off x="2743200" y="2084832"/>
            <a:ext cx="5577840" cy="566928"/>
          </a:xfrm>
          <a:prstGeom prst="roundRect">
            <a:avLst>
              <a:gd name="adj" fmla="val 12000"/>
            </a:avLst>
          </a:prstGeom>
          <a:solidFill>
            <a:srgbClr val="FFFFFF"/>
          </a:solidFill>
          <a:ln w="25400">
            <a:solidFill>
              <a:srgbClr val="FFAB40"/>
            </a:solidFill>
          </a:ln>
        </p:spPr>
        <p:txBody>
          <a:bodyPr wrap="square" lIns="73152" tIns="73152" rIns="73152" bIns="73152" rtlCol="0" anchor="ctr">
            <a:noAutofit/>
          </a:bodyPr>
          <a:lstStyle/>
          <a:p>
            <a:pPr marL="0" indent="0" algn="r" rtl="1">
              <a:lnSpc>
                <a:spcPct val="105000"/>
              </a:lnSpc>
              <a:spcBef>
                <a:spcPts val="0"/>
              </a:spcBef>
              <a:spcAft>
                <a:spcPts val="0"/>
              </a:spcAft>
              <a:buNone/>
            </a:pPr>
            <a:r>
              <a:rPr lang="he-IL" sz="1600" b="0" i="0">
                <a:solidFill>
                  <a:srgbClr val="212121"/>
                </a:solidFill>
              </a:rPr>
              <a:t>אחד יוצר מאגר מהתבנית של הקורס (Use this template).</a:t>
            </a:r>
          </a:p>
        </p:txBody>
      </p:sp>
      <p:sp>
        <p:nvSpPr>
          <p:cNvPr id="10" name="Oval 9"/>
          <p:cNvSpPr/>
          <p:nvPr/>
        </p:nvSpPr>
        <p:spPr>
          <a:xfrm>
            <a:off x="8458200" y="2871216"/>
            <a:ext cx="411480" cy="411480"/>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3</a:t>
            </a:r>
          </a:p>
        </p:txBody>
      </p:sp>
      <p:sp>
        <p:nvSpPr>
          <p:cNvPr id="11" name="Rounded Rectangle 10"/>
          <p:cNvSpPr/>
          <p:nvPr/>
        </p:nvSpPr>
        <p:spPr>
          <a:xfrm>
            <a:off x="2743200" y="2798064"/>
            <a:ext cx="5577840" cy="566928"/>
          </a:xfrm>
          <a:prstGeom prst="roundRect">
            <a:avLst>
              <a:gd name="adj" fmla="val 12000"/>
            </a:avLst>
          </a:prstGeom>
          <a:solidFill>
            <a:srgbClr val="FFFFFF"/>
          </a:solidFill>
          <a:ln w="25400">
            <a:solidFill>
              <a:srgbClr val="0097A7"/>
            </a:solidFill>
          </a:ln>
        </p:spPr>
        <p:txBody>
          <a:bodyPr wrap="square" lIns="73152" tIns="73152" rIns="73152" bIns="73152" rtlCol="0" anchor="ctr">
            <a:noAutofit/>
          </a:bodyPr>
          <a:lstStyle/>
          <a:p>
            <a:pPr marL="0" indent="0" algn="r" rtl="1">
              <a:lnSpc>
                <a:spcPct val="105000"/>
              </a:lnSpc>
              <a:spcBef>
                <a:spcPts val="0"/>
              </a:spcBef>
              <a:spcAft>
                <a:spcPts val="0"/>
              </a:spcAft>
              <a:buNone/>
            </a:pPr>
            <a:r>
              <a:rPr lang="he-IL" sz="1600" b="0" i="0">
                <a:solidFill>
                  <a:srgbClr val="212121"/>
                </a:solidFill>
              </a:rPr>
              <a:t>מזמינים את כולם: Settings ← Collaborators.</a:t>
            </a:r>
          </a:p>
        </p:txBody>
      </p:sp>
      <p:sp>
        <p:nvSpPr>
          <p:cNvPr id="12" name="Oval 11"/>
          <p:cNvSpPr/>
          <p:nvPr/>
        </p:nvSpPr>
        <p:spPr>
          <a:xfrm>
            <a:off x="8458200" y="3584448"/>
            <a:ext cx="411480" cy="411480"/>
          </a:xfrm>
          <a:prstGeom prst="ellipse">
            <a:avLst/>
          </a:prstGeom>
          <a:solidFill>
            <a:srgbClr val="0097A7"/>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4</a:t>
            </a:r>
          </a:p>
        </p:txBody>
      </p:sp>
      <p:sp>
        <p:nvSpPr>
          <p:cNvPr id="13" name="Rounded Rectangle 12"/>
          <p:cNvSpPr/>
          <p:nvPr/>
        </p:nvSpPr>
        <p:spPr>
          <a:xfrm>
            <a:off x="2743200" y="3511296"/>
            <a:ext cx="5577840" cy="566928"/>
          </a:xfrm>
          <a:prstGeom prst="roundRect">
            <a:avLst>
              <a:gd name="adj" fmla="val 12000"/>
            </a:avLst>
          </a:prstGeom>
          <a:solidFill>
            <a:srgbClr val="FFFFFF"/>
          </a:solidFill>
          <a:ln w="25400">
            <a:solidFill>
              <a:srgbClr val="0097A7"/>
            </a:solidFill>
          </a:ln>
        </p:spPr>
        <p:txBody>
          <a:bodyPr wrap="square" lIns="73152" tIns="73152" rIns="73152" bIns="73152" rtlCol="0" anchor="ctr">
            <a:noAutofit/>
          </a:bodyPr>
          <a:lstStyle/>
          <a:p>
            <a:pPr marL="0" indent="0" algn="r" rtl="1">
              <a:lnSpc>
                <a:spcPct val="105000"/>
              </a:lnSpc>
              <a:spcBef>
                <a:spcPts val="0"/>
              </a:spcBef>
              <a:spcAft>
                <a:spcPts val="0"/>
              </a:spcAft>
              <a:buNone/>
            </a:pPr>
            <a:r>
              <a:rPr lang="he-IL" sz="1600" b="0" i="0">
                <a:solidFill>
                  <a:srgbClr val="212121"/>
                </a:solidFill>
              </a:rPr>
              <a:t>כולם מקבלים את ההזמנה ופותחים את המאגר.</a:t>
            </a:r>
          </a:p>
        </p:txBody>
      </p:sp>
      <p:sp>
        <p:nvSpPr>
          <p:cNvPr id="14" name="Oval 13"/>
          <p:cNvSpPr/>
          <p:nvPr/>
        </p:nvSpPr>
        <p:spPr>
          <a:xfrm>
            <a:off x="8458200" y="4297680"/>
            <a:ext cx="411480" cy="411480"/>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600" b="1" i="0">
                <a:solidFill>
                  <a:srgbClr val="FFFFFF"/>
                </a:solidFill>
              </a:rPr>
              <a:t>5</a:t>
            </a:r>
          </a:p>
        </p:txBody>
      </p:sp>
      <p:sp>
        <p:nvSpPr>
          <p:cNvPr id="15" name="Rounded Rectangle 14"/>
          <p:cNvSpPr/>
          <p:nvPr/>
        </p:nvSpPr>
        <p:spPr>
          <a:xfrm>
            <a:off x="2743200" y="4224528"/>
            <a:ext cx="5577840" cy="566928"/>
          </a:xfrm>
          <a:prstGeom prst="roundRect">
            <a:avLst>
              <a:gd name="adj" fmla="val 12000"/>
            </a:avLst>
          </a:prstGeom>
          <a:solidFill>
            <a:srgbClr val="FFFFFF"/>
          </a:solidFill>
          <a:ln w="25400">
            <a:solidFill>
              <a:srgbClr val="34A853"/>
            </a:solidFill>
          </a:ln>
        </p:spPr>
        <p:txBody>
          <a:bodyPr wrap="square" lIns="73152" tIns="73152" rIns="73152" bIns="73152" rtlCol="0" anchor="ctr">
            <a:noAutofit/>
          </a:bodyPr>
          <a:lstStyle/>
          <a:p>
            <a:pPr marL="0" indent="0" algn="r" rtl="1">
              <a:lnSpc>
                <a:spcPct val="105000"/>
              </a:lnSpc>
              <a:spcBef>
                <a:spcPts val="0"/>
              </a:spcBef>
              <a:spcAft>
                <a:spcPts val="0"/>
              </a:spcAft>
              <a:buNone/>
            </a:pPr>
            <a:r>
              <a:rPr lang="he-IL" sz="1600" b="0" i="0">
                <a:solidFill>
                  <a:srgbClr val="212121"/>
                </a:solidFill>
              </a:rPr>
              <a:t>מוסיפים קובץ AI_LOG.md (יומן שימוש) ועושים commit ראשון.</a:t>
            </a:r>
          </a:p>
        </p:txBody>
      </p:sp>
      <p:sp>
        <p:nvSpPr>
          <p:cNvPr id="16" name="Rectangle 15"/>
          <p:cNvSpPr/>
          <p:nvPr/>
        </p:nvSpPr>
        <p:spPr>
          <a:xfrm>
            <a:off x="1280160" y="1828800"/>
            <a:ext cx="1188720" cy="1188720"/>
          </a:xfrm>
          <a:prstGeom prst="rect">
            <a:avLst/>
          </a:prstGeom>
          <a:solidFill>
            <a:srgbClr val="FFFFFF"/>
          </a:solidFill>
          <a:ln w="19050">
            <a:solidFill>
              <a:srgbClr val="78909C"/>
            </a:solidFill>
            <a:prstDash val="dash"/>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800" b="1" i="0">
                <a:solidFill>
                  <a:srgbClr val="78909C"/>
                </a:solidFill>
              </a:rPr>
              <a:t>QR</a:t>
            </a:r>
          </a:p>
        </p:txBody>
      </p:sp>
      <p:sp>
        <p:nvSpPr>
          <p:cNvPr id="17" name="TextBox 16"/>
          <p:cNvSpPr txBox="1"/>
          <p:nvPr/>
        </p:nvSpPr>
        <p:spPr>
          <a:xfrm>
            <a:off x="731519" y="3017520"/>
            <a:ext cx="2286000" cy="256032"/>
          </a:xfrm>
          <a:prstGeom prst="rect">
            <a:avLst/>
          </a:prstGeom>
          <a:noFill/>
        </p:spPr>
        <p:txBody>
          <a:bodyPr wrap="square" lIns="73152" tIns="73152" rIns="73152" bIns="73152" anchor="t">
            <a:noAutofit/>
          </a:bodyPr>
          <a:lstStyle/>
          <a:p>
            <a:pPr marL="0" indent="0" algn="ctr" rtl="1">
              <a:lnSpc>
                <a:spcPct val="110000"/>
              </a:lnSpc>
              <a:spcBef>
                <a:spcPts val="0"/>
              </a:spcBef>
              <a:spcAft>
                <a:spcPts val="0"/>
              </a:spcAft>
              <a:buNone/>
            </a:pPr>
            <a:r>
              <a:rPr lang="he-IL" sz="1200" b="0" i="0">
                <a:solidFill>
                  <a:srgbClr val="595959"/>
                </a:solidFill>
              </a:rPr>
              <a:t>תבנית המאגר</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MCP: מפת הסכנות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
        <p:nvSpPr>
          <p:cNvPr id="6" name="MCP Shape 6"/>
          <p:cNvSpPr/>
          <p:nvPr/>
        </p:nvSpPr>
        <p:spPr>
          <a:xfrm>
            <a:off x="6120000" y="1332000"/>
            <a:ext cx="2592000" cy="1548000"/>
          </a:xfrm>
          <a:prstGeom prst="roundRect">
            <a:avLst>
              <a:gd name="adj" fmla="val 8000"/>
            </a:avLst>
          </a:prstGeom>
          <a:solidFill>
            <a:srgbClr val="FDE3E0"/>
          </a:solidFill>
          <a:ln w="19050">
            <a:solidFill>
              <a:srgbClr val="EA4335"/>
            </a:solidFill>
          </a:ln>
        </p:spPr>
        <p:txBody>
          <a:bodyPr wrap="square" lIns="54000" tIns="54000" rIns="54000" bIns="54000" rtlCol="0" anchor="ctr">
            <a:noAutofit/>
          </a:bodyPr>
          <a:lstStyle/>
          <a:p>
            <a:pPr marL="0" indent="0" algn="ctr" rtl="1">
              <a:lnSpc>
                <a:spcPct val="105000"/>
              </a:lnSpc>
              <a:spcBef>
                <a:spcPts val="0"/>
              </a:spcBef>
              <a:spcAft>
                <a:spcPts val="0"/>
              </a:spcAft>
              <a:buNone/>
            </a:pPr>
            <a:r>
              <a:rPr lang="he-IL" sz="24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הרעלת כלי</a:t>
            </a:r>
          </a:p>
          <a:p>
            <a:pPr marL="0" indent="0" algn="ctr" rtl="1">
              <a:lnSpc>
                <a:spcPct val="105000"/>
              </a:lnSpc>
              <a:spcBef>
                <a:spcPts val="200"/>
              </a:spcBef>
              <a:spcAft>
                <a:spcPts val="0"/>
              </a:spcAft>
              <a:buNone/>
            </a:pPr>
            <a:r>
              <a:rPr lang="he-IL" sz="1300" b="0" i="0">
                <a:solidFill>
                  <a:srgbClr val="212121"/>
                </a:solidFill>
              </a:rPr>
              <a:t>הוראות נסתרות בתיאור הכלי</a:t>
            </a:r>
          </a:p>
          <a:p>
            <a:pPr marL="0" indent="0" algn="ctr" rtl="0">
              <a:lnSpc>
                <a:spcPct val="105000"/>
              </a:lnSpc>
              <a:spcBef>
                <a:spcPts val="300"/>
              </a:spcBef>
              <a:spcAft>
                <a:spcPts val="0"/>
              </a:spcAft>
              <a:buNone/>
            </a:pPr>
            <a:r>
              <a:rPr lang="he-IL" sz="1200" b="0" i="0">
                <a:solidFill>
                  <a:srgbClr val="595959"/>
                </a:solidFill>
              </a:rPr>
              <a:t>Invariant Labs, 1.4.2025</a:t>
            </a:r>
          </a:p>
        </p:txBody>
      </p:sp>
      <p:sp>
        <p:nvSpPr>
          <p:cNvPr id="7" name="MCP Shape 7"/>
          <p:cNvSpPr/>
          <p:nvPr/>
        </p:nvSpPr>
        <p:spPr>
          <a:xfrm>
            <a:off x="3276000" y="1332000"/>
            <a:ext cx="2592000" cy="1548000"/>
          </a:xfrm>
          <a:prstGeom prst="roundRect">
            <a:avLst>
              <a:gd name="adj" fmla="val 8000"/>
            </a:avLst>
          </a:prstGeom>
          <a:solidFill>
            <a:srgbClr val="FDE3E0"/>
          </a:solidFill>
          <a:ln w="19050">
            <a:solidFill>
              <a:srgbClr val="EA4335"/>
            </a:solidFill>
          </a:ln>
        </p:spPr>
        <p:txBody>
          <a:bodyPr wrap="square" lIns="54000" tIns="54000" rIns="54000" bIns="54000" rtlCol="0" anchor="ctr">
            <a:noAutofit/>
          </a:bodyPr>
          <a:lstStyle/>
          <a:p>
            <a:pPr marL="0" indent="0" algn="ctr" rtl="1">
              <a:lnSpc>
                <a:spcPct val="105000"/>
              </a:lnSpc>
              <a:spcBef>
                <a:spcPts val="0"/>
              </a:spcBef>
              <a:spcAft>
                <a:spcPts val="0"/>
              </a:spcAft>
              <a:buNone/>
            </a:pPr>
            <a:r>
              <a:rPr lang="he-IL" sz="24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שינוי אחרי אישור</a:t>
            </a:r>
          </a:p>
          <a:p>
            <a:pPr marL="0" indent="0" algn="ctr" rtl="1">
              <a:lnSpc>
                <a:spcPct val="105000"/>
              </a:lnSpc>
              <a:spcBef>
                <a:spcPts val="200"/>
              </a:spcBef>
              <a:spcAft>
                <a:spcPts val="0"/>
              </a:spcAft>
              <a:buNone/>
            </a:pPr>
            <a:r>
              <a:rPr lang="he-IL" sz="1300" b="0" i="0">
                <a:solidFill>
                  <a:srgbClr val="212121"/>
                </a:solidFill>
              </a:rPr>
              <a:t>כלי שאושר משתנה, או משפיע על כלי אמין</a:t>
            </a:r>
          </a:p>
          <a:p>
            <a:pPr marL="0" indent="0" algn="ctr" rtl="0">
              <a:lnSpc>
                <a:spcPct val="105000"/>
              </a:lnSpc>
              <a:spcBef>
                <a:spcPts val="300"/>
              </a:spcBef>
              <a:spcAft>
                <a:spcPts val="0"/>
              </a:spcAft>
              <a:buNone/>
            </a:pPr>
            <a:r>
              <a:rPr lang="he-IL" sz="1200" b="0" i="0">
                <a:solidFill>
                  <a:srgbClr val="595959"/>
                </a:solidFill>
              </a:rPr>
              <a:t>Invariant Labs, 2025</a:t>
            </a:r>
          </a:p>
        </p:txBody>
      </p:sp>
      <p:sp>
        <p:nvSpPr>
          <p:cNvPr id="8" name="MCP Shape 8"/>
          <p:cNvSpPr/>
          <p:nvPr/>
        </p:nvSpPr>
        <p:spPr>
          <a:xfrm>
            <a:off x="432000" y="1332000"/>
            <a:ext cx="2592000" cy="1548000"/>
          </a:xfrm>
          <a:prstGeom prst="roundRect">
            <a:avLst>
              <a:gd name="adj" fmla="val 8000"/>
            </a:avLst>
          </a:prstGeom>
          <a:solidFill>
            <a:srgbClr val="FDE3E0"/>
          </a:solidFill>
          <a:ln w="19050">
            <a:solidFill>
              <a:srgbClr val="EA4335"/>
            </a:solidFill>
          </a:ln>
        </p:spPr>
        <p:txBody>
          <a:bodyPr wrap="square" lIns="54000" tIns="54000" rIns="54000" bIns="54000" rtlCol="0" anchor="ctr">
            <a:noAutofit/>
          </a:bodyPr>
          <a:lstStyle/>
          <a:p>
            <a:pPr marL="0" indent="0" algn="ctr" rtl="1">
              <a:lnSpc>
                <a:spcPct val="105000"/>
              </a:lnSpc>
              <a:spcBef>
                <a:spcPts val="0"/>
              </a:spcBef>
              <a:spcAft>
                <a:spcPts val="0"/>
              </a:spcAft>
              <a:buNone/>
            </a:pPr>
            <a:r>
              <a:rPr lang="he-IL" sz="24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הזרקת פרומפט עקיפה</a:t>
            </a:r>
          </a:p>
          <a:p>
            <a:pPr marL="0" indent="0" algn="ctr" rtl="1">
              <a:lnSpc>
                <a:spcPct val="105000"/>
              </a:lnSpc>
              <a:spcBef>
                <a:spcPts val="200"/>
              </a:spcBef>
              <a:spcAft>
                <a:spcPts val="0"/>
              </a:spcAft>
              <a:buNone/>
            </a:pPr>
            <a:r>
              <a:rPr lang="he-IL" sz="1300" b="0" i="0">
                <a:solidFill>
                  <a:srgbClr val="212121"/>
                </a:solidFill>
              </a:rPr>
              <a:t>נתון שהסוכן קורא מתחפש להוראה</a:t>
            </a:r>
          </a:p>
          <a:p>
            <a:pPr marL="0" indent="0" algn="ctr" rtl="0">
              <a:lnSpc>
                <a:spcPct val="105000"/>
              </a:lnSpc>
              <a:spcBef>
                <a:spcPts val="300"/>
              </a:spcBef>
              <a:spcAft>
                <a:spcPts val="0"/>
              </a:spcAft>
              <a:buNone/>
            </a:pPr>
            <a:r>
              <a:rPr lang="he-IL" sz="1200" b="0" i="0">
                <a:solidFill>
                  <a:srgbClr val="595959"/>
                </a:solidFill>
              </a:rPr>
              <a:t>Greshake 2023; OWASP LLM01</a:t>
            </a:r>
          </a:p>
        </p:txBody>
      </p:sp>
      <p:sp>
        <p:nvSpPr>
          <p:cNvPr id="9" name="MCP Shape 9"/>
          <p:cNvSpPr/>
          <p:nvPr/>
        </p:nvSpPr>
        <p:spPr>
          <a:xfrm>
            <a:off x="6120000" y="2970000"/>
            <a:ext cx="2592000" cy="1548000"/>
          </a:xfrm>
          <a:prstGeom prst="roundRect">
            <a:avLst>
              <a:gd name="adj" fmla="val 8000"/>
            </a:avLst>
          </a:prstGeom>
          <a:solidFill>
            <a:srgbClr val="FFF0D9"/>
          </a:solidFill>
          <a:ln w="19050">
            <a:solidFill>
              <a:srgbClr val="FFAB40"/>
            </a:solidFill>
          </a:ln>
        </p:spPr>
        <p:txBody>
          <a:bodyPr wrap="square" lIns="54000" tIns="54000" rIns="54000" bIns="54000" rtlCol="0" anchor="ctr">
            <a:noAutofit/>
          </a:bodyPr>
          <a:lstStyle/>
          <a:p>
            <a:pPr marL="0" indent="0" algn="ctr" rtl="1">
              <a:lnSpc>
                <a:spcPct val="105000"/>
              </a:lnSpc>
              <a:spcBef>
                <a:spcPts val="0"/>
              </a:spcBef>
              <a:spcAft>
                <a:spcPts val="0"/>
              </a:spcAft>
              <a:buNone/>
            </a:pPr>
            <a:r>
              <a:rPr lang="he-IL" sz="24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הרשאות עודפות</a:t>
            </a:r>
          </a:p>
          <a:p>
            <a:pPr marL="0" indent="0" algn="ctr" rtl="1">
              <a:lnSpc>
                <a:spcPct val="105000"/>
              </a:lnSpc>
              <a:spcBef>
                <a:spcPts val="200"/>
              </a:spcBef>
              <a:spcAft>
                <a:spcPts val="0"/>
              </a:spcAft>
              <a:buNone/>
            </a:pPr>
            <a:r>
              <a:rPr lang="he-IL" sz="1300" b="0" i="0">
                <a:solidFill>
                  <a:srgbClr val="212121"/>
                </a:solidFill>
              </a:rPr>
              <a:t>כלי רחב מדי או חשבון חזק מדי</a:t>
            </a:r>
          </a:p>
          <a:p>
            <a:pPr marL="0" indent="0" algn="ctr" rtl="0">
              <a:lnSpc>
                <a:spcPct val="105000"/>
              </a:lnSpc>
              <a:spcBef>
                <a:spcPts val="300"/>
              </a:spcBef>
              <a:spcAft>
                <a:spcPts val="0"/>
              </a:spcAft>
              <a:buNone/>
            </a:pPr>
            <a:r>
              <a:rPr lang="he-IL" sz="1200" b="0" i="0">
                <a:solidFill>
                  <a:srgbClr val="595959"/>
                </a:solidFill>
              </a:rPr>
              <a:t>OWASP LLM06:2025</a:t>
            </a:r>
          </a:p>
        </p:txBody>
      </p:sp>
      <p:sp>
        <p:nvSpPr>
          <p:cNvPr id="10" name="MCP Shape 10"/>
          <p:cNvSpPr/>
          <p:nvPr/>
        </p:nvSpPr>
        <p:spPr>
          <a:xfrm>
            <a:off x="3276000" y="2970000"/>
            <a:ext cx="2592000" cy="1548000"/>
          </a:xfrm>
          <a:prstGeom prst="roundRect">
            <a:avLst>
              <a:gd name="adj" fmla="val 8000"/>
            </a:avLst>
          </a:prstGeom>
          <a:solidFill>
            <a:srgbClr val="FFF0D9"/>
          </a:solidFill>
          <a:ln w="19050">
            <a:solidFill>
              <a:srgbClr val="FFAB40"/>
            </a:solidFill>
          </a:ln>
        </p:spPr>
        <p:txBody>
          <a:bodyPr wrap="square" lIns="54000" tIns="54000" rIns="54000" bIns="54000" rtlCol="0" anchor="ctr">
            <a:noAutofit/>
          </a:bodyPr>
          <a:lstStyle/>
          <a:p>
            <a:pPr marL="0" indent="0" algn="ctr" rtl="1">
              <a:lnSpc>
                <a:spcPct val="105000"/>
              </a:lnSpc>
              <a:spcBef>
                <a:spcPts val="0"/>
              </a:spcBef>
              <a:spcAft>
                <a:spcPts val="0"/>
              </a:spcAft>
              <a:buNone/>
            </a:pPr>
            <a:r>
              <a:rPr lang="he-IL" sz="24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שרשרת אספקה</a:t>
            </a:r>
          </a:p>
          <a:p>
            <a:pPr marL="0" indent="0" algn="ctr" rtl="1">
              <a:lnSpc>
                <a:spcPct val="105000"/>
              </a:lnSpc>
              <a:spcBef>
                <a:spcPts val="200"/>
              </a:spcBef>
              <a:spcAft>
                <a:spcPts val="0"/>
              </a:spcAft>
              <a:buNone/>
            </a:pPr>
            <a:r>
              <a:rPr lang="he-IL" sz="1300" b="0" i="0">
                <a:solidFill>
                  <a:srgbClr val="212121"/>
                </a:solidFill>
              </a:rPr>
              <a:t>חבילת שרת זדונית או עדכון מסוכן</a:t>
            </a:r>
          </a:p>
          <a:p>
            <a:pPr marL="0" indent="0" algn="ctr" rtl="0">
              <a:lnSpc>
                <a:spcPct val="105000"/>
              </a:lnSpc>
              <a:spcBef>
                <a:spcPts val="300"/>
              </a:spcBef>
              <a:spcAft>
                <a:spcPts val="0"/>
              </a:spcAft>
              <a:buNone/>
            </a:pPr>
            <a:r>
              <a:rPr lang="he-IL" sz="1200" b="0" i="0">
                <a:solidFill>
                  <a:srgbClr val="595959"/>
                </a:solidFill>
              </a:rPr>
              <a:t>postmark-mcp, 2025</a:t>
            </a:r>
          </a:p>
        </p:txBody>
      </p:sp>
      <p:sp>
        <p:nvSpPr>
          <p:cNvPr id="11" name="MCP Shape 11"/>
          <p:cNvSpPr/>
          <p:nvPr/>
        </p:nvSpPr>
        <p:spPr>
          <a:xfrm>
            <a:off x="432000" y="2970000"/>
            <a:ext cx="2592000" cy="1548000"/>
          </a:xfrm>
          <a:prstGeom prst="roundRect">
            <a:avLst>
              <a:gd name="adj" fmla="val 8000"/>
            </a:avLst>
          </a:prstGeom>
          <a:solidFill>
            <a:srgbClr val="FFF0D9"/>
          </a:solidFill>
          <a:ln w="19050">
            <a:solidFill>
              <a:srgbClr val="FFAB40"/>
            </a:solidFill>
          </a:ln>
        </p:spPr>
        <p:txBody>
          <a:bodyPr wrap="square" lIns="54000" tIns="54000" rIns="54000" bIns="54000" rtlCol="0" anchor="ctr">
            <a:noAutofit/>
          </a:bodyPr>
          <a:lstStyle/>
          <a:p>
            <a:pPr marL="0" indent="0" algn="ctr" rtl="1">
              <a:lnSpc>
                <a:spcPct val="105000"/>
              </a:lnSpc>
              <a:spcBef>
                <a:spcPts val="0"/>
              </a:spcBef>
              <a:spcAft>
                <a:spcPts val="0"/>
              </a:spcAft>
              <a:buNone/>
            </a:pPr>
            <a:r>
              <a:rPr lang="he-IL" sz="2400" b="0" i="0">
                <a:solidFill>
                  <a:srgbClr val="212121"/>
                </a:solidFill>
              </a:rPr>
              <a:t>🖥️</a:t>
            </a:r>
          </a:p>
          <a:p>
            <a:pPr marL="0" indent="0" algn="ctr" rtl="1">
              <a:lnSpc>
                <a:spcPct val="105000"/>
              </a:lnSpc>
              <a:spcBef>
                <a:spcPts val="0"/>
              </a:spcBef>
              <a:spcAft>
                <a:spcPts val="0"/>
              </a:spcAft>
              <a:buNone/>
            </a:pPr>
            <a:r>
              <a:rPr lang="he-IL" sz="1600" b="1" i="0">
                <a:solidFill>
                  <a:srgbClr val="212121"/>
                </a:solidFill>
              </a:rPr>
              <a:t>שרת מקומי הוא קוד על המחשב</a:t>
            </a:r>
          </a:p>
          <a:p>
            <a:pPr marL="0" indent="0" algn="ctr" rtl="1">
              <a:lnSpc>
                <a:spcPct val="105000"/>
              </a:lnSpc>
              <a:spcBef>
                <a:spcPts val="200"/>
              </a:spcBef>
              <a:spcAft>
                <a:spcPts val="0"/>
              </a:spcAft>
              <a:buNone/>
            </a:pPr>
            <a:r>
              <a:rPr lang="he-IL" sz="1300" b="0" i="0">
                <a:solidFill>
                  <a:srgbClr val="212121"/>
                </a:solidFill>
              </a:rPr>
              <a:t>השרת והכלים רצים בהרשאות שלכם</a:t>
            </a:r>
          </a:p>
          <a:p>
            <a:pPr marL="0" indent="0" algn="ctr" rtl="0">
              <a:lnSpc>
                <a:spcPct val="105000"/>
              </a:lnSpc>
              <a:spcBef>
                <a:spcPts val="300"/>
              </a:spcBef>
              <a:spcAft>
                <a:spcPts val="0"/>
              </a:spcAft>
              <a:buNone/>
            </a:pPr>
            <a:r>
              <a:rPr lang="he-IL" sz="1200" b="0" i="0">
                <a:solidFill>
                  <a:srgbClr val="595959"/>
                </a:solidFill>
              </a:rPr>
              <a:t>MCP: Security Best Practices</a:t>
            </a:r>
          </a:p>
        </p:txBody>
      </p:sp>
      <p:sp>
        <p:nvSpPr>
          <p:cNvPr id="12" name="Footnote"/>
          <p:cNvSpPr txBox="1"/>
          <p:nvPr/>
        </p:nvSpPr>
        <p:spPr>
          <a:xfrm>
            <a:off x="360000" y="4572000"/>
            <a:ext cx="8424000" cy="504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0" i="0">
                <a:solidFill>
                  <a:srgbClr val="595959"/>
                </a:solidFill>
              </a:rPr>
              <a:t>סקירות: Hou ועמיתים 2025; Radosevich ו־Halloran 2025.</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המשולש הקטלני ב־MCP</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
        <p:nvSpPr>
          <p:cNvPr id="6" name="MCP Shape 6"/>
          <p:cNvSpPr/>
          <p:nvPr/>
        </p:nvSpPr>
        <p:spPr>
          <a:xfrm>
            <a:off x="6264000" y="1332000"/>
            <a:ext cx="2376000" cy="972000"/>
          </a:xfrm>
          <a:prstGeom prst="roundRect">
            <a:avLst>
              <a:gd name="adj" fmla="val 10000"/>
            </a:avLst>
          </a:prstGeom>
          <a:solidFill>
            <a:srgbClr val="FDE3E0"/>
          </a:solidFill>
          <a:ln w="19050">
            <a:solidFill>
              <a:srgbClr val="EA4335"/>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800" b="1" i="0">
                <a:solidFill>
                  <a:srgbClr val="212121"/>
                </a:solidFill>
              </a:rPr>
              <a:t>🔐 מידע פרטי</a:t>
            </a:r>
          </a:p>
          <a:p>
            <a:pPr marL="0" indent="0" algn="ctr" rtl="1">
              <a:lnSpc>
                <a:spcPct val="105000"/>
              </a:lnSpc>
              <a:spcBef>
                <a:spcPts val="200"/>
              </a:spcBef>
              <a:spcAft>
                <a:spcPts val="0"/>
              </a:spcAft>
              <a:buNone/>
            </a:pPr>
            <a:r>
              <a:rPr lang="he-IL" sz="1400" b="0" i="0">
                <a:solidFill>
                  <a:srgbClr val="212121"/>
                </a:solidFill>
              </a:rPr>
              <a:t>טבלת לקוחות, מפתחות, קוד</a:t>
            </a:r>
          </a:p>
        </p:txBody>
      </p:sp>
      <p:cxnSp>
        <p:nvCxnSpPr>
          <p:cNvPr id="7" name="MCP Line 7"/>
          <p:cNvCxnSpPr/>
          <p:nvPr/>
        </p:nvCxnSpPr>
        <p:spPr>
          <a:xfrm flipH="1">
            <a:off x="4572000" y="2304000"/>
            <a:ext cx="2880000" cy="432000"/>
          </a:xfrm>
          <a:prstGeom prst="line">
            <a:avLst/>
          </a:prstGeom>
          <a:ln w="28575">
            <a:solidFill>
              <a:srgbClr val="EA4335"/>
            </a:solidFill>
            <a:tailEnd type="triangle"/>
          </a:ln>
        </p:spPr>
      </p:cxnSp>
      <p:sp>
        <p:nvSpPr>
          <p:cNvPr id="8" name="MCP Shape 8"/>
          <p:cNvSpPr/>
          <p:nvPr/>
        </p:nvSpPr>
        <p:spPr>
          <a:xfrm>
            <a:off x="3384000" y="1332000"/>
            <a:ext cx="2376000" cy="972000"/>
          </a:xfrm>
          <a:prstGeom prst="roundRect">
            <a:avLst>
              <a:gd name="adj" fmla="val 10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800" b="1" i="0">
                <a:solidFill>
                  <a:srgbClr val="212121"/>
                </a:solidFill>
              </a:rPr>
              <a:t>📨 תוכן לא מהימן</a:t>
            </a:r>
          </a:p>
          <a:p>
            <a:pPr marL="0" indent="0" algn="ctr" rtl="1">
              <a:lnSpc>
                <a:spcPct val="105000"/>
              </a:lnSpc>
              <a:spcBef>
                <a:spcPts val="200"/>
              </a:spcBef>
              <a:spcAft>
                <a:spcPts val="0"/>
              </a:spcAft>
              <a:buNone/>
            </a:pPr>
            <a:r>
              <a:rPr lang="he-IL" sz="1400" b="0" i="0">
                <a:solidFill>
                  <a:srgbClr val="212121"/>
                </a:solidFill>
              </a:rPr>
              <a:t>כרטיס תמיכה, מייל, issue, דף אינטרנט</a:t>
            </a:r>
          </a:p>
        </p:txBody>
      </p:sp>
      <p:cxnSp>
        <p:nvCxnSpPr>
          <p:cNvPr id="9" name="MCP Line 9"/>
          <p:cNvCxnSpPr/>
          <p:nvPr/>
        </p:nvCxnSpPr>
        <p:spPr>
          <a:xfrm>
            <a:off x="4572000" y="2304000"/>
            <a:ext cx="0" cy="432000"/>
          </a:xfrm>
          <a:prstGeom prst="line">
            <a:avLst/>
          </a:prstGeom>
          <a:ln w="28575">
            <a:solidFill>
              <a:srgbClr val="FFAB40"/>
            </a:solidFill>
            <a:tailEnd type="triangle"/>
          </a:ln>
        </p:spPr>
      </p:cxnSp>
      <p:sp>
        <p:nvSpPr>
          <p:cNvPr id="10" name="MCP Shape 10"/>
          <p:cNvSpPr/>
          <p:nvPr/>
        </p:nvSpPr>
        <p:spPr>
          <a:xfrm>
            <a:off x="504000" y="1332000"/>
            <a:ext cx="2376000" cy="972000"/>
          </a:xfrm>
          <a:prstGeom prst="roundRect">
            <a:avLst>
              <a:gd name="adj" fmla="val 10000"/>
            </a:avLst>
          </a:prstGeom>
          <a:solidFill>
            <a:srgbClr val="E3EEFF"/>
          </a:solidFill>
          <a:ln w="19050">
            <a:solidFill>
              <a:srgbClr val="4285F4"/>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1800" b="1" i="0">
                <a:solidFill>
                  <a:srgbClr val="212121"/>
                </a:solidFill>
              </a:rPr>
              <a:t>📤 יכולת החוצה</a:t>
            </a:r>
          </a:p>
          <a:p>
            <a:pPr marL="0" indent="0" algn="ctr" rtl="1">
              <a:lnSpc>
                <a:spcPct val="105000"/>
              </a:lnSpc>
              <a:spcBef>
                <a:spcPts val="200"/>
              </a:spcBef>
              <a:spcAft>
                <a:spcPts val="0"/>
              </a:spcAft>
              <a:buNone/>
            </a:pPr>
            <a:r>
              <a:rPr lang="he-IL" sz="1400" b="0" i="0">
                <a:solidFill>
                  <a:srgbClr val="212121"/>
                </a:solidFill>
              </a:rPr>
              <a:t>כתיבה, שליחת מייל, בקשת רשת</a:t>
            </a:r>
          </a:p>
        </p:txBody>
      </p:sp>
      <p:cxnSp>
        <p:nvCxnSpPr>
          <p:cNvPr id="11" name="MCP Line 11"/>
          <p:cNvCxnSpPr/>
          <p:nvPr/>
        </p:nvCxnSpPr>
        <p:spPr>
          <a:xfrm>
            <a:off x="1692000" y="2304000"/>
            <a:ext cx="2880000" cy="432000"/>
          </a:xfrm>
          <a:prstGeom prst="line">
            <a:avLst/>
          </a:prstGeom>
          <a:ln w="28575">
            <a:solidFill>
              <a:srgbClr val="4285F4"/>
            </a:solidFill>
            <a:tailEnd type="triangle"/>
          </a:ln>
        </p:spPr>
      </p:cxnSp>
      <p:sp>
        <p:nvSpPr>
          <p:cNvPr id="12" name="MCP Shape 12"/>
          <p:cNvSpPr/>
          <p:nvPr/>
        </p:nvSpPr>
        <p:spPr>
          <a:xfrm>
            <a:off x="2952000" y="2736000"/>
            <a:ext cx="3240000" cy="612000"/>
          </a:xfrm>
          <a:prstGeom prst="roundRect">
            <a:avLst>
              <a:gd name="adj" fmla="val 15000"/>
            </a:avLst>
          </a:prstGeom>
          <a:solidFill>
            <a:srgbClr val="FDE3E0"/>
          </a:solidFill>
          <a:ln w="19050">
            <a:solidFill>
              <a:srgbClr val="EA4335"/>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000" b="1" i="0">
                <a:solidFill>
                  <a:srgbClr val="212121"/>
                </a:solidFill>
              </a:rPr>
              <a:t>⚠️ סכנה: הסוכן יכול להדליף</a:t>
            </a:r>
          </a:p>
        </p:txBody>
      </p:sp>
      <p:sp>
        <p:nvSpPr>
          <p:cNvPr id="13" name="Fix caption"/>
          <p:cNvSpPr txBox="1"/>
          <p:nvPr/>
        </p:nvSpPr>
        <p:spPr>
          <a:xfrm>
            <a:off x="360000" y="3438000"/>
            <a:ext cx="8424000" cy="216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500" b="1" i="0">
                <a:solidFill>
                  <a:srgbClr val="595959"/>
                </a:solidFill>
              </a:rPr>
              <a:t>מורידים לפחות רכיב אחד:</a:t>
            </a:r>
          </a:p>
        </p:txBody>
      </p:sp>
      <p:sp>
        <p:nvSpPr>
          <p:cNvPr id="14" name="MCP Shape 14"/>
          <p:cNvSpPr/>
          <p:nvPr/>
        </p:nvSpPr>
        <p:spPr>
          <a:xfrm>
            <a:off x="6264000" y="3672000"/>
            <a:ext cx="2376000" cy="684000"/>
          </a:xfrm>
          <a:prstGeom prst="roundRect">
            <a:avLst>
              <a:gd name="adj" fmla="val 12000"/>
            </a:avLst>
          </a:prstGeom>
          <a:solidFill>
            <a:srgbClr val="E1F4E6"/>
          </a:solidFill>
          <a:ln w="19050">
            <a:solidFill>
              <a:srgbClr val="34A853"/>
            </a:solidFill>
          </a:ln>
        </p:spPr>
        <p:txBody>
          <a:bodyPr wrap="square" lIns="43200" tIns="43200" rIns="43200" bIns="43200" rtlCol="0" anchor="ctr">
            <a:noAutofit/>
          </a:bodyPr>
          <a:lstStyle/>
          <a:p>
            <a:pPr marL="0" indent="0" algn="ctr" rtl="1">
              <a:lnSpc>
                <a:spcPct val="105000"/>
              </a:lnSpc>
              <a:spcBef>
                <a:spcPts val="0"/>
              </a:spcBef>
              <a:spcAft>
                <a:spcPts val="0"/>
              </a:spcAft>
              <a:buNone/>
            </a:pPr>
            <a:r>
              <a:rPr lang="he-IL" sz="1500" b="1" i="0">
                <a:solidFill>
                  <a:srgbClr val="212121"/>
                </a:solidFill>
              </a:rPr>
              <a:t>מסד לקריאה בלבד: אין ערוץ החוצה</a:t>
            </a:r>
          </a:p>
        </p:txBody>
      </p:sp>
      <p:sp>
        <p:nvSpPr>
          <p:cNvPr id="15" name="MCP Shape 15"/>
          <p:cNvSpPr/>
          <p:nvPr/>
        </p:nvSpPr>
        <p:spPr>
          <a:xfrm>
            <a:off x="3384000" y="3672000"/>
            <a:ext cx="2376000" cy="684000"/>
          </a:xfrm>
          <a:prstGeom prst="roundRect">
            <a:avLst>
              <a:gd name="adj" fmla="val 12000"/>
            </a:avLst>
          </a:prstGeom>
          <a:solidFill>
            <a:srgbClr val="E1F4E6"/>
          </a:solidFill>
          <a:ln w="19050">
            <a:solidFill>
              <a:srgbClr val="34A853"/>
            </a:solidFill>
          </a:ln>
        </p:spPr>
        <p:txBody>
          <a:bodyPr wrap="square" lIns="43200" tIns="43200" rIns="43200" bIns="43200" rtlCol="0" anchor="ctr">
            <a:noAutofit/>
          </a:bodyPr>
          <a:lstStyle/>
          <a:p>
            <a:pPr marL="0" indent="0" algn="ctr" rtl="1">
              <a:lnSpc>
                <a:spcPct val="105000"/>
              </a:lnSpc>
              <a:spcBef>
                <a:spcPts val="0"/>
              </a:spcBef>
              <a:spcAft>
                <a:spcPts val="0"/>
              </a:spcAft>
              <a:buNone/>
            </a:pPr>
            <a:r>
              <a:rPr lang="he-IL" sz="1500" b="1" i="0">
                <a:solidFill>
                  <a:srgbClr val="212121"/>
                </a:solidFill>
              </a:rPr>
              <a:t>שרתים נפרדים: לא לערבב מקור חיצוני עם שרת הנתונים</a:t>
            </a:r>
          </a:p>
        </p:txBody>
      </p:sp>
      <p:sp>
        <p:nvSpPr>
          <p:cNvPr id="16" name="MCP Shape 16"/>
          <p:cNvSpPr/>
          <p:nvPr/>
        </p:nvSpPr>
        <p:spPr>
          <a:xfrm>
            <a:off x="504000" y="3672000"/>
            <a:ext cx="2376000" cy="684000"/>
          </a:xfrm>
          <a:prstGeom prst="roundRect">
            <a:avLst>
              <a:gd name="adj" fmla="val 12000"/>
            </a:avLst>
          </a:prstGeom>
          <a:solidFill>
            <a:srgbClr val="E1F4E6"/>
          </a:solidFill>
          <a:ln w="19050">
            <a:solidFill>
              <a:srgbClr val="34A853"/>
            </a:solidFill>
          </a:ln>
        </p:spPr>
        <p:txBody>
          <a:bodyPr wrap="square" lIns="43200" tIns="43200" rIns="43200" bIns="43200" rtlCol="0" anchor="ctr">
            <a:noAutofit/>
          </a:bodyPr>
          <a:lstStyle/>
          <a:p>
            <a:pPr marL="0" indent="0" algn="ctr" rtl="1">
              <a:lnSpc>
                <a:spcPct val="105000"/>
              </a:lnSpc>
              <a:spcBef>
                <a:spcPts val="0"/>
              </a:spcBef>
              <a:spcAft>
                <a:spcPts val="0"/>
              </a:spcAft>
              <a:buNone/>
            </a:pPr>
            <a:r>
              <a:rPr lang="he-IL" sz="1500" b="1" i="0">
                <a:solidFill>
                  <a:srgbClr val="212121"/>
                </a:solidFill>
              </a:rPr>
              <a:t>אדם מאשר כל שליחה החוצה</a:t>
            </a:r>
          </a:p>
        </p:txBody>
      </p:sp>
      <p:sp>
        <p:nvSpPr>
          <p:cNvPr id="17" name="Footnote"/>
          <p:cNvSpPr txBox="1"/>
          <p:nvPr/>
        </p:nvSpPr>
        <p:spPr>
          <a:xfrm>
            <a:off x="360000" y="4464000"/>
            <a:ext cx="8424000" cy="576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0" i="0">
                <a:solidFill>
                  <a:srgbClr val="595959"/>
                </a:solidFill>
              </a:rPr>
              <a:t>Simon Willison, 16.6.2025. כלל דומה: Agents Rule of Two של Meta, 31.10.2025 (נבדק במפגש 10).</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מקרים א׳: נתונים שהפכו להוראות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440000"/>
          <a:ext cx="8400000" cy="2350000"/>
        </p:xfrm>
        <a:graphic>
          <a:graphicData uri="http://schemas.openxmlformats.org/drawingml/2006/table">
            <a:tbl>
              <a:tblPr>
                <a:tableStyleId>{2D5ABB26-0587-4C30-8999-92F81FD0307C}</a:tableStyleId>
              </a:tblPr>
              <a:tblGrid>
                <a:gridCol w="2800000">
                  <a:extLst>
                    <a:ext uri="{9D8B030D-6E8A-4147-A177-3AD203B41FA5}">
                      <a16:colId xmlns:a16="http://schemas.microsoft.com/office/drawing/2014/main" val="20000"/>
                    </a:ext>
                  </a:extLst>
                </a:gridCol>
                <a:gridCol w="3700000">
                  <a:extLst>
                    <a:ext uri="{9D8B030D-6E8A-4147-A177-3AD203B41FA5}">
                      <a16:colId xmlns:a16="http://schemas.microsoft.com/office/drawing/2014/main" val="20001"/>
                    </a:ext>
                  </a:extLst>
                </a:gridCol>
                <a:gridCol w="1900000">
                  <a:extLst>
                    <a:ext uri="{9D8B030D-6E8A-4147-A177-3AD203B41FA5}">
                      <a16:colId xmlns:a16="http://schemas.microsoft.com/office/drawing/2014/main" val="20002"/>
                    </a:ext>
                  </a:extLst>
                </a:gridCol>
              </a:tblGrid>
              <a:tr h="450000">
                <a:tc>
                  <a:txBody>
                    <a:bodyPr/>
                    <a:lstStyle/>
                    <a:p>
                      <a:pPr marL="0" indent="0" algn="ctr" rtl="1">
                        <a:lnSpc>
                          <a:spcPct val="100000"/>
                        </a:lnSpc>
                        <a:spcBef>
                          <a:spcPts val="0"/>
                        </a:spcBef>
                        <a:spcAft>
                          <a:spcPts val="0"/>
                        </a:spcAft>
                        <a:buNone/>
                      </a:pPr>
                      <a:r>
                        <a:rPr lang="he-IL" sz="1500" b="1" i="0">
                          <a:solidFill>
                            <a:srgbClr val="212121"/>
                          </a:solidFill>
                        </a:rPr>
                        <a:t>איך צומצם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500" b="1" i="0">
                          <a:solidFill>
                            <a:srgbClr val="212121"/>
                          </a:solidFill>
                        </a:rPr>
                        <a:t>מה קרה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500" b="1" i="0">
                          <a:solidFill>
                            <a:srgbClr val="212121"/>
                          </a:solidFill>
                        </a:rPr>
                        <a:t>מקרה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950000">
                <a:tc>
                  <a:txBody>
                    <a:bodyPr/>
                    <a:lstStyle/>
                    <a:p>
                      <a:pPr marL="0" indent="0" algn="r" rtl="1">
                        <a:lnSpc>
                          <a:spcPct val="100000"/>
                        </a:lnSpc>
                        <a:spcBef>
                          <a:spcPts val="0"/>
                        </a:spcBef>
                        <a:spcAft>
                          <a:spcPts val="0"/>
                        </a:spcAft>
                        <a:buNone/>
                      </a:pPr>
                      <a:r>
                        <a:rPr lang="he-IL" sz="1400" b="0" i="0">
                          <a:solidFill>
                            <a:srgbClr val="212121"/>
                          </a:solidFill>
                        </a:rPr>
                        <a:t>הרשאות לריפו אחד בלבד וניטור רציף: הגנה ברמת המערכת.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0" i="0">
                          <a:solidFill>
                            <a:srgbClr val="212121"/>
                          </a:solidFill>
                        </a:rPr>
                        <a:t>issue זדוני בריפו ציבורי גרם לסוכן לחשוף נתוני ריפו פרטי ב־pull request.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1" i="0">
                          <a:solidFill>
                            <a:srgbClr val="212121"/>
                          </a:solidFill>
                        </a:rPr>
                        <a:t>GitHub MCP, Invariant Labs, 26.5.2025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950000">
                <a:tc>
                  <a:txBody>
                    <a:bodyPr/>
                    <a:lstStyle/>
                    <a:p>
                      <a:pPr marL="0" indent="0" algn="r" rtl="1">
                        <a:lnSpc>
                          <a:spcPct val="100000"/>
                        </a:lnSpc>
                        <a:spcBef>
                          <a:spcPts val="0"/>
                        </a:spcBef>
                        <a:spcAft>
                          <a:spcPts val="0"/>
                        </a:spcAft>
                        <a:buNone/>
                      </a:pPr>
                      <a:r>
                        <a:rPr lang="he-IL" sz="1400" b="0" i="0">
                          <a:solidFill>
                            <a:srgbClr val="212121"/>
                          </a:solidFill>
                        </a:rPr>
                        <a:t>קריאה בלבד, הרשאות פרויקט, אישור ידני, נתוני לא־ייצור (Supabase, 16.9.2025).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0" i="0">
                          <a:solidFill>
                            <a:srgbClr val="212121"/>
                          </a:solidFill>
                        </a:rPr>
                        <a:t>כרטיס תמיכה עם הוראה נסתרת: הסוכן (service_role) קרא טבלת טוקנים וכתב אותה לכרטיס.</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1" i="0">
                          <a:solidFill>
                            <a:srgbClr val="212121"/>
                          </a:solidFill>
                        </a:rPr>
                        <a:t>Supabase MCP, 6.7.2025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bl>
          </a:graphicData>
        </a:graphic>
      </p:graphicFrame>
      <p:sp>
        <p:nvSpPr>
          <p:cNvPr id="6" name="Rounded Rectangle 5"/>
          <p:cNvSpPr/>
          <p:nvPr/>
        </p:nvSpPr>
        <p:spPr>
          <a:xfrm>
            <a:off x="365760" y="3910000"/>
            <a:ext cx="8412480" cy="4320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400" b="0" i="0">
                <a:solidFill>
                  <a:srgbClr val="212121"/>
                </a:solidFill>
              </a:rPr>
              <a:t>שתי הדגמות של חוקרים, לא אירועי תקיפה מדווחים. הלקח: מה נחשף ובאילו הרשאות, לא רק איכות המודל.</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מקרים ב׳: חולשות בקוד ובכלים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400000"/>
          <a:ext cx="8400000" cy="2980000"/>
        </p:xfrm>
        <a:graphic>
          <a:graphicData uri="http://schemas.openxmlformats.org/drawingml/2006/table">
            <a:tbl>
              <a:tblPr>
                <a:tableStyleId>{2D5ABB26-0587-4C30-8999-92F81FD0307C}</a:tableStyleId>
              </a:tblPr>
              <a:tblGrid>
                <a:gridCol w="2800000">
                  <a:extLst>
                    <a:ext uri="{9D8B030D-6E8A-4147-A177-3AD203B41FA5}">
                      <a16:colId xmlns:a16="http://schemas.microsoft.com/office/drawing/2014/main" val="20000"/>
                    </a:ext>
                  </a:extLst>
                </a:gridCol>
                <a:gridCol w="3700000">
                  <a:extLst>
                    <a:ext uri="{9D8B030D-6E8A-4147-A177-3AD203B41FA5}">
                      <a16:colId xmlns:a16="http://schemas.microsoft.com/office/drawing/2014/main" val="20001"/>
                    </a:ext>
                  </a:extLst>
                </a:gridCol>
                <a:gridCol w="1900000">
                  <a:extLst>
                    <a:ext uri="{9D8B030D-6E8A-4147-A177-3AD203B41FA5}">
                      <a16:colId xmlns:a16="http://schemas.microsoft.com/office/drawing/2014/main" val="20002"/>
                    </a:ext>
                  </a:extLst>
                </a:gridCol>
              </a:tblGrid>
              <a:tr h="430000">
                <a:tc>
                  <a:txBody>
                    <a:bodyPr/>
                    <a:lstStyle/>
                    <a:p>
                      <a:pPr marL="0" indent="0" algn="ctr" rtl="1">
                        <a:lnSpc>
                          <a:spcPct val="100000"/>
                        </a:lnSpc>
                        <a:spcBef>
                          <a:spcPts val="0"/>
                        </a:spcBef>
                        <a:spcAft>
                          <a:spcPts val="0"/>
                        </a:spcAft>
                        <a:buNone/>
                      </a:pPr>
                      <a:r>
                        <a:rPr lang="he-IL" sz="1400" b="1" i="0">
                          <a:solidFill>
                            <a:srgbClr val="212121"/>
                          </a:solidFill>
                        </a:rPr>
                        <a:t>איך צומצם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400" b="1" i="0">
                          <a:solidFill>
                            <a:srgbClr val="212121"/>
                          </a:solidFill>
                        </a:rPr>
                        <a:t>מה קרה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400" b="1" i="0">
                          <a:solidFill>
                            <a:srgbClr val="212121"/>
                          </a:solidFill>
                        </a:rPr>
                        <a:t>מקרה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850000">
                <a:tc>
                  <a:txBody>
                    <a:bodyPr/>
                    <a:lstStyle/>
                    <a:p>
                      <a:pPr marL="0" indent="0" algn="r" rtl="1">
                        <a:lnSpc>
                          <a:spcPct val="100000"/>
                        </a:lnSpc>
                        <a:spcBef>
                          <a:spcPts val="0"/>
                        </a:spcBef>
                        <a:spcAft>
                          <a:spcPts val="0"/>
                        </a:spcAft>
                        <a:buNone/>
                      </a:pPr>
                      <a:r>
                        <a:rPr lang="he-IL" sz="1300" b="0" i="0">
                          <a:solidFill>
                            <a:srgbClr val="212121"/>
                          </a:solidFill>
                        </a:rPr>
                        <a:t>משתמש DB מוגבל. השרת הוצא משימוש.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0" i="0">
                          <a:solidFill>
                            <a:srgbClr val="212121"/>
                          </a:solidFill>
                        </a:rPr>
                        <a:t>״קריאה בלבד״ ברמת הקוד נעקפה: COMMIT ואחריו כתיבה.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1" i="0">
                          <a:solidFill>
                            <a:srgbClr val="212121"/>
                          </a:solidFill>
                        </a:rPr>
                        <a:t>Postgres MCP (רפרנס), Datadog, 21.8.2025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850000">
                <a:tc>
                  <a:txBody>
                    <a:bodyPr/>
                    <a:lstStyle/>
                    <a:p>
                      <a:pPr marL="0" indent="0" algn="r" rtl="1">
                        <a:lnSpc>
                          <a:spcPct val="100000"/>
                        </a:lnSpc>
                        <a:spcBef>
                          <a:spcPts val="0"/>
                        </a:spcBef>
                        <a:spcAft>
                          <a:spcPts val="0"/>
                        </a:spcAft>
                        <a:buNone/>
                      </a:pPr>
                      <a:r>
                        <a:rPr lang="he-IL" sz="1300" b="0" i="0">
                          <a:solidFill>
                            <a:srgbClr val="212121"/>
                          </a:solidFill>
                        </a:rPr>
                        <a:t>עדכון לגרסה 0.14.1 ומעלה.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0" i="0">
                          <a:solidFill>
                            <a:srgbClr val="212121"/>
                          </a:solidFill>
                        </a:rPr>
                        <a:t>חסר אימות בין לקוח הכלי ל־proxy: הרצת פקודות מרחוק.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1" i="0">
                          <a:solidFill>
                            <a:srgbClr val="212121"/>
                          </a:solidFill>
                        </a:rPr>
                        <a:t>MCP Inspector, CVE-2025‎-‎49596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850000">
                <a:tc>
                  <a:txBody>
                    <a:bodyPr/>
                    <a:lstStyle/>
                    <a:p>
                      <a:pPr marL="0" indent="0" algn="r" rtl="1">
                        <a:lnSpc>
                          <a:spcPct val="100000"/>
                        </a:lnSpc>
                        <a:spcBef>
                          <a:spcPts val="0"/>
                        </a:spcBef>
                        <a:spcAft>
                          <a:spcPts val="0"/>
                        </a:spcAft>
                        <a:buNone/>
                      </a:pPr>
                      <a:r>
                        <a:rPr lang="he-IL" sz="1300" b="0" i="0">
                          <a:solidFill>
                            <a:srgbClr val="212121"/>
                          </a:solidFill>
                        </a:rPr>
                        <a:t>עדכון ל־0.1.16. רק שרתים אמינים וב־HTTPS.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0" i="0">
                          <a:solidFill>
                            <a:srgbClr val="212121"/>
                          </a:solidFill>
                        </a:rPr>
                        <a:t>שרת זדוני מזריק פקודת מערכת דרך כתובת האימות.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1" i="0">
                          <a:solidFill>
                            <a:srgbClr val="212121"/>
                          </a:solidFill>
                        </a:rPr>
                        <a:t>mcp-remote, CVE-2025‎-‎6514, 9.7.2025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365760" y="4500000"/>
            <a:ext cx="8412480" cy="3240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400" b="0" i="0">
                <a:solidFill>
                  <a:srgbClr val="212121"/>
                </a:solidFill>
              </a:rPr>
              <a:t>הלקח: גם כלי החיבור הם תוכנה שצריך לעדכן ולהגביל.</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מקרים ג׳: חבילה זדונית ובידוד</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440000"/>
          <a:ext cx="8400000" cy="2350000"/>
        </p:xfrm>
        <a:graphic>
          <a:graphicData uri="http://schemas.openxmlformats.org/drawingml/2006/table">
            <a:tbl>
              <a:tblPr>
                <a:tableStyleId>{2D5ABB26-0587-4C30-8999-92F81FD0307C}</a:tableStyleId>
              </a:tblPr>
              <a:tblGrid>
                <a:gridCol w="2800000">
                  <a:extLst>
                    <a:ext uri="{9D8B030D-6E8A-4147-A177-3AD203B41FA5}">
                      <a16:colId xmlns:a16="http://schemas.microsoft.com/office/drawing/2014/main" val="20000"/>
                    </a:ext>
                  </a:extLst>
                </a:gridCol>
                <a:gridCol w="3700000">
                  <a:extLst>
                    <a:ext uri="{9D8B030D-6E8A-4147-A177-3AD203B41FA5}">
                      <a16:colId xmlns:a16="http://schemas.microsoft.com/office/drawing/2014/main" val="20001"/>
                    </a:ext>
                  </a:extLst>
                </a:gridCol>
                <a:gridCol w="1900000">
                  <a:extLst>
                    <a:ext uri="{9D8B030D-6E8A-4147-A177-3AD203B41FA5}">
                      <a16:colId xmlns:a16="http://schemas.microsoft.com/office/drawing/2014/main" val="20002"/>
                    </a:ext>
                  </a:extLst>
                </a:gridCol>
              </a:tblGrid>
              <a:tr h="450000">
                <a:tc>
                  <a:txBody>
                    <a:bodyPr/>
                    <a:lstStyle/>
                    <a:p>
                      <a:pPr marL="0" indent="0" algn="ctr" rtl="1">
                        <a:lnSpc>
                          <a:spcPct val="100000"/>
                        </a:lnSpc>
                        <a:spcBef>
                          <a:spcPts val="0"/>
                        </a:spcBef>
                        <a:spcAft>
                          <a:spcPts val="0"/>
                        </a:spcAft>
                        <a:buNone/>
                      </a:pPr>
                      <a:r>
                        <a:rPr lang="he-IL" sz="1500" b="1" i="0">
                          <a:solidFill>
                            <a:srgbClr val="212121"/>
                          </a:solidFill>
                        </a:rPr>
                        <a:t>איך צומצם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500" b="1" i="0">
                          <a:solidFill>
                            <a:srgbClr val="212121"/>
                          </a:solidFill>
                        </a:rPr>
                        <a:t>מה קרה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500" b="1" i="0">
                          <a:solidFill>
                            <a:srgbClr val="212121"/>
                          </a:solidFill>
                        </a:rPr>
                        <a:t>מקרה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950000">
                <a:tc>
                  <a:txBody>
                    <a:bodyPr/>
                    <a:lstStyle/>
                    <a:p>
                      <a:pPr marL="0" indent="0" algn="r" rtl="1">
                        <a:lnSpc>
                          <a:spcPct val="100000"/>
                        </a:lnSpc>
                        <a:spcBef>
                          <a:spcPts val="0"/>
                        </a:spcBef>
                        <a:spcAft>
                          <a:spcPts val="0"/>
                        </a:spcAft>
                        <a:buNone/>
                      </a:pPr>
                      <a:r>
                        <a:rPr lang="he-IL" sz="1400" b="0" i="0">
                          <a:solidFill>
                            <a:srgbClr val="212121"/>
                          </a:solidFill>
                        </a:rPr>
                        <a:t>הוסר מ־npm. להסיר גרסה, להחליף סיסמאות, לבדוק שרתים.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0" i="0">
                          <a:solidFill>
                            <a:srgbClr val="212121"/>
                          </a:solidFill>
                        </a:rPr>
                        <a:t>גרסה 1.0.16 הוסיפה העתק סמוי (BCC) של כל מייל לכתובת התוקף. כ־1,500 הורדות בשבוע.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1" i="0">
                          <a:solidFill>
                            <a:srgbClr val="212121"/>
                          </a:solidFill>
                        </a:rPr>
                        <a:t>postmark-mcp (npm), ספטמבר 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950000">
                <a:tc>
                  <a:txBody>
                    <a:bodyPr/>
                    <a:lstStyle/>
                    <a:p>
                      <a:pPr marL="0" indent="0" algn="r" rtl="1">
                        <a:lnSpc>
                          <a:spcPct val="100000"/>
                        </a:lnSpc>
                        <a:spcBef>
                          <a:spcPts val="0"/>
                        </a:spcBef>
                        <a:spcAft>
                          <a:spcPts val="0"/>
                        </a:spcAft>
                        <a:buNone/>
                      </a:pPr>
                      <a:r>
                        <a:rPr lang="he-IL" sz="1400" b="0" i="0">
                          <a:solidFill>
                            <a:srgbClr val="212121"/>
                          </a:solidFill>
                        </a:rPr>
                        <a:t>השבתה 5 עד 17.6, תיקון, איפוס חיבורים והודעה ללקוחות.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0" i="0">
                          <a:solidFill>
                            <a:srgbClr val="212121"/>
                          </a:solidFill>
                        </a:rPr>
                        <a:t>באג בידוד: משתמש MCP עלול היה לראות מידע של ארגון אחר. לא דווח ניצול בפועל.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1" i="0">
                          <a:solidFill>
                            <a:srgbClr val="212121"/>
                          </a:solidFill>
                        </a:rPr>
                        <a:t>Asana MCP, יוני 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bl>
          </a:graphicData>
        </a:graphic>
      </p:graphicFrame>
      <p:sp>
        <p:nvSpPr>
          <p:cNvPr id="6" name="Rounded Rectangle 5"/>
          <p:cNvSpPr/>
          <p:nvPr/>
        </p:nvSpPr>
        <p:spPr>
          <a:xfrm>
            <a:off x="365760" y="3910000"/>
            <a:ext cx="8412480" cy="5040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400" b="0" i="0">
                <a:solidFill>
                  <a:srgbClr val="212121"/>
                </a:solidFill>
              </a:rPr>
              <a:t>שני המקרים מדווחים במקורות משניים בלבד. מספר הלקוחות של Asana לא אומת מול החברה.</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איך מצמצמים סיכון</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400000"/>
          <a:ext cx="8400000" cy="3605000"/>
        </p:xfrm>
        <a:graphic>
          <a:graphicData uri="http://schemas.openxmlformats.org/drawingml/2006/table">
            <a:tbl>
              <a:tblPr>
                <a:tableStyleId>{2D5ABB26-0587-4C30-8999-92F81FD0307C}</a:tableStyleId>
              </a:tblPr>
              <a:tblGrid>
                <a:gridCol w="1600000">
                  <a:extLst>
                    <a:ext uri="{9D8B030D-6E8A-4147-A177-3AD203B41FA5}">
                      <a16:colId xmlns:a16="http://schemas.microsoft.com/office/drawing/2014/main" val="20000"/>
                    </a:ext>
                  </a:extLst>
                </a:gridCol>
                <a:gridCol w="2900000">
                  <a:extLst>
                    <a:ext uri="{9D8B030D-6E8A-4147-A177-3AD203B41FA5}">
                      <a16:colId xmlns:a16="http://schemas.microsoft.com/office/drawing/2014/main" val="20001"/>
                    </a:ext>
                  </a:extLst>
                </a:gridCol>
                <a:gridCol w="3900000">
                  <a:extLst>
                    <a:ext uri="{9D8B030D-6E8A-4147-A177-3AD203B41FA5}">
                      <a16:colId xmlns:a16="http://schemas.microsoft.com/office/drawing/2014/main" val="20002"/>
                    </a:ext>
                  </a:extLst>
                </a:gridCol>
              </a:tblGrid>
              <a:tr h="420000">
                <a:tc>
                  <a:txBody>
                    <a:bodyPr/>
                    <a:lstStyle/>
                    <a:p>
                      <a:pPr marL="0" indent="0" algn="ctr" rtl="1">
                        <a:lnSpc>
                          <a:spcPct val="100000"/>
                        </a:lnSpc>
                        <a:spcBef>
                          <a:spcPts val="0"/>
                        </a:spcBef>
                        <a:spcAft>
                          <a:spcPts val="0"/>
                        </a:spcAft>
                        <a:buNone/>
                      </a:pPr>
                      <a:r>
                        <a:rPr lang="he-IL" sz="1400" b="1" i="0">
                          <a:solidFill>
                            <a:srgbClr val="212121"/>
                          </a:solidFill>
                        </a:rPr>
                        <a:t>מקור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400" b="1" i="0">
                          <a:solidFill>
                            <a:srgbClr val="212121"/>
                          </a:solidFill>
                        </a:rPr>
                        <a:t>מה זה מונע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400" b="1" i="0">
                          <a:solidFill>
                            <a:srgbClr val="212121"/>
                          </a:solidFill>
                        </a:rPr>
                        <a:t>צעד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455000">
                <a:tc>
                  <a:txBody>
                    <a:bodyPr/>
                    <a:lstStyle/>
                    <a:p>
                      <a:pPr marL="0" indent="0" algn="r" rtl="1">
                        <a:lnSpc>
                          <a:spcPct val="100000"/>
                        </a:lnSpc>
                        <a:spcBef>
                          <a:spcPts val="0"/>
                        </a:spcBef>
                        <a:spcAft>
                          <a:spcPts val="0"/>
                        </a:spcAft>
                        <a:buNone/>
                      </a:pPr>
                      <a:r>
                        <a:rPr lang="he-IL" sz="1300" b="0" i="0">
                          <a:solidFill>
                            <a:srgbClr val="212121"/>
                          </a:solidFill>
                        </a:rPr>
                        <a:t>OWASP LLM06:2025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0" i="0">
                          <a:solidFill>
                            <a:srgbClr val="212121"/>
                          </a:solidFill>
                        </a:rPr>
                        <a:t>הדלפה וכתיבה לא רצויות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1" i="0">
                          <a:solidFill>
                            <a:srgbClr val="212121"/>
                          </a:solidFill>
                        </a:rPr>
                        <a:t>הרשאה מינימלית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455000">
                <a:tc>
                  <a:txBody>
                    <a:bodyPr/>
                    <a:lstStyle/>
                    <a:p>
                      <a:pPr marL="0" indent="0" algn="r" rtl="1">
                        <a:lnSpc>
                          <a:spcPct val="100000"/>
                        </a:lnSpc>
                        <a:spcBef>
                          <a:spcPts val="0"/>
                        </a:spcBef>
                        <a:spcAft>
                          <a:spcPts val="0"/>
                        </a:spcAft>
                        <a:buNone/>
                      </a:pPr>
                      <a:r>
                        <a:rPr lang="he-IL" sz="1300" b="0" i="0">
                          <a:solidFill>
                            <a:srgbClr val="212121"/>
                          </a:solidFill>
                        </a:rPr>
                        <a:t>Willison, 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0" i="0">
                          <a:solidFill>
                            <a:srgbClr val="212121"/>
                          </a:solidFill>
                        </a:rPr>
                        <a:t>הדלפה בהזרקת פרומפט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1" i="0">
                          <a:solidFill>
                            <a:srgbClr val="212121"/>
                          </a:solidFill>
                        </a:rPr>
                        <a:t>הפרדת המשולש הקטלני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455000">
                <a:tc>
                  <a:txBody>
                    <a:bodyPr/>
                    <a:lstStyle/>
                    <a:p>
                      <a:pPr marL="0" indent="0" algn="r" rtl="1">
                        <a:lnSpc>
                          <a:spcPct val="100000"/>
                        </a:lnSpc>
                        <a:spcBef>
                          <a:spcPts val="0"/>
                        </a:spcBef>
                        <a:spcAft>
                          <a:spcPts val="0"/>
                        </a:spcAft>
                        <a:buNone/>
                      </a:pPr>
                      <a:r>
                        <a:rPr lang="he-IL" sz="1300" b="0" i="0">
                          <a:solidFill>
                            <a:srgbClr val="212121"/>
                          </a:solidFill>
                        </a:rPr>
                        <a:t>MCP spec: tools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0" i="0">
                          <a:solidFill>
                            <a:srgbClr val="212121"/>
                          </a:solidFill>
                        </a:rPr>
                        <a:t>פעולה לא רצויה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1" i="0">
                          <a:solidFill>
                            <a:srgbClr val="212121"/>
                          </a:solidFill>
                        </a:rPr>
                        <a:t>אישור אנושי לפעולות רגישות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r h="455000">
                <a:tc>
                  <a:txBody>
                    <a:bodyPr/>
                    <a:lstStyle/>
                    <a:p>
                      <a:pPr marL="0" indent="0" algn="r" rtl="1">
                        <a:lnSpc>
                          <a:spcPct val="100000"/>
                        </a:lnSpc>
                        <a:spcBef>
                          <a:spcPts val="0"/>
                        </a:spcBef>
                        <a:spcAft>
                          <a:spcPts val="0"/>
                        </a:spcAft>
                        <a:buNone/>
                      </a:pPr>
                      <a:r>
                        <a:rPr lang="he-IL" sz="1300" b="0" i="0">
                          <a:solidFill>
                            <a:srgbClr val="212121"/>
                          </a:solidFill>
                        </a:rPr>
                        <a:t>Invariant Labs, 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0" i="0">
                          <a:solidFill>
                            <a:srgbClr val="212121"/>
                          </a:solidFill>
                        </a:rPr>
                        <a:t>שרשרת אספקה, rug pull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1" i="0">
                          <a:solidFill>
                            <a:srgbClr val="212121"/>
                          </a:solidFill>
                        </a:rPr>
                        <a:t>רשימת שרתים מאושרת, הצמדת גרסה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3737021023"/>
                  </a:ext>
                </a:extLst>
              </a:tr>
              <a:tr h="455000">
                <a:tc>
                  <a:txBody>
                    <a:bodyPr/>
                    <a:lstStyle/>
                    <a:p>
                      <a:pPr marL="0" indent="0" algn="r" rtl="1">
                        <a:lnSpc>
                          <a:spcPct val="100000"/>
                        </a:lnSpc>
                        <a:spcBef>
                          <a:spcPts val="0"/>
                        </a:spcBef>
                        <a:spcAft>
                          <a:spcPts val="0"/>
                        </a:spcAft>
                        <a:buNone/>
                      </a:pPr>
                      <a:r>
                        <a:rPr lang="he-IL" sz="1300" b="0" i="0">
                          <a:solidFill>
                            <a:srgbClr val="212121"/>
                          </a:solidFill>
                        </a:rPr>
                        <a:t>MCP: Security Best Practices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0" i="0">
                          <a:solidFill>
                            <a:srgbClr val="212121"/>
                          </a:solidFill>
                        </a:rPr>
                        <a:t>הרצת קוד של שרת מקומי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1" i="0">
                          <a:solidFill>
                            <a:srgbClr val="212121"/>
                          </a:solidFill>
                        </a:rPr>
                        <a:t>הרצה מבודדת (sandbox)</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289292504"/>
                  </a:ext>
                </a:extLst>
              </a:tr>
              <a:tr h="455000">
                <a:tc>
                  <a:txBody>
                    <a:bodyPr/>
                    <a:lstStyle/>
                    <a:p>
                      <a:pPr marL="0" indent="0" algn="r" rtl="1">
                        <a:lnSpc>
                          <a:spcPct val="100000"/>
                        </a:lnSpc>
                        <a:spcBef>
                          <a:spcPts val="0"/>
                        </a:spcBef>
                        <a:spcAft>
                          <a:spcPts val="0"/>
                        </a:spcAft>
                        <a:buNone/>
                      </a:pPr>
                      <a:r>
                        <a:rPr lang="he-IL" sz="1300" b="0" i="0">
                          <a:solidFill>
                            <a:srgbClr val="212121"/>
                          </a:solidFill>
                        </a:rPr>
                        <a:t>MCP: Authorization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0" i="0">
                          <a:solidFill>
                            <a:srgbClr val="212121"/>
                          </a:solidFill>
                        </a:rPr>
                        <a:t>גניבת טוקן ושימוש לרעה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1" i="0">
                          <a:solidFill>
                            <a:srgbClr val="212121"/>
                          </a:solidFill>
                        </a:rPr>
                        <a:t>סודות מחוץ להקשר, טוקן לכל שרת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501617664"/>
                  </a:ext>
                </a:extLst>
              </a:tr>
              <a:tr h="455000">
                <a:tc>
                  <a:txBody>
                    <a:bodyPr/>
                    <a:lstStyle/>
                    <a:p>
                      <a:pPr marL="0" indent="0" algn="r" rtl="1">
                        <a:lnSpc>
                          <a:spcPct val="100000"/>
                        </a:lnSpc>
                        <a:spcBef>
                          <a:spcPts val="0"/>
                        </a:spcBef>
                        <a:spcAft>
                          <a:spcPts val="0"/>
                        </a:spcAft>
                        <a:buNone/>
                      </a:pPr>
                      <a:r>
                        <a:rPr lang="he-IL" sz="1300" b="0" i="0">
                          <a:solidFill>
                            <a:srgbClr val="212121"/>
                          </a:solidFill>
                        </a:rPr>
                        <a:t>MCP spec: tools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0" i="0">
                          <a:solidFill>
                            <a:srgbClr val="212121"/>
                          </a:solidFill>
                        </a:rPr>
                        <a:t>גילוי מאוחר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300" b="1" i="0">
                          <a:solidFill>
                            <a:srgbClr val="212121"/>
                          </a:solidFill>
                        </a:rPr>
                        <a:t>ניטור ויומן ביקורת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4073175927"/>
                  </a:ext>
                </a:extLst>
              </a:tr>
            </a:tbl>
          </a:graphicData>
        </a:graphic>
      </p:graphicFrame>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מידע רגיש ומאגר מידע (ישראל)</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
        <p:nvSpPr>
          <p:cNvPr id="6" name="MCP Shape 6"/>
          <p:cNvSpPr/>
          <p:nvPr/>
        </p:nvSpPr>
        <p:spPr>
          <a:xfrm>
            <a:off x="4644000" y="1332000"/>
            <a:ext cx="4212000" cy="1440000"/>
          </a:xfrm>
          <a:prstGeom prst="roundRect">
            <a:avLst>
              <a:gd name="adj" fmla="val 8000"/>
            </a:avLst>
          </a:prstGeom>
          <a:solidFill>
            <a:srgbClr val="E3EEFF"/>
          </a:solidFill>
          <a:ln w="19050">
            <a:solidFill>
              <a:srgbClr val="4285F4"/>
            </a:solidFill>
          </a:ln>
        </p:spPr>
        <p:txBody>
          <a:bodyPr wrap="square" lIns="90000" tIns="90000" rIns="90000" bIns="90000" rtlCol="0" anchor="ctr">
            <a:noAutofit/>
          </a:bodyPr>
          <a:lstStyle/>
          <a:p>
            <a:pPr marL="0" indent="0" algn="ctr" rtl="1">
              <a:lnSpc>
                <a:spcPct val="105000"/>
              </a:lnSpc>
              <a:spcBef>
                <a:spcPts val="0"/>
              </a:spcBef>
              <a:spcAft>
                <a:spcPts val="0"/>
              </a:spcAft>
              <a:buNone/>
            </a:pPr>
            <a:r>
              <a:rPr lang="he-IL" sz="2000" b="1" i="0">
                <a:solidFill>
                  <a:srgbClr val="212121"/>
                </a:solidFill>
              </a:rPr>
              <a:t>🗂️ מאגר מידע</a:t>
            </a:r>
          </a:p>
          <a:p>
            <a:pPr marL="0" indent="0" algn="ctr" rtl="1">
              <a:lnSpc>
                <a:spcPct val="105000"/>
              </a:lnSpc>
              <a:spcBef>
                <a:spcPts val="400"/>
              </a:spcBef>
              <a:spcAft>
                <a:spcPts val="0"/>
              </a:spcAft>
              <a:buNone/>
            </a:pPr>
            <a:r>
              <a:rPr lang="he-IL" sz="1600" b="0" i="0">
                <a:solidFill>
                  <a:srgbClr val="212121"/>
                </a:solidFill>
              </a:rPr>
              <a:t>אוסף מידע אישי המעובד באמצעי דיגיטלי, למשל מסד SQL של ארגון.</a:t>
            </a:r>
          </a:p>
        </p:txBody>
      </p:sp>
      <p:sp>
        <p:nvSpPr>
          <p:cNvPr id="7" name="MCP Shape 7"/>
          <p:cNvSpPr/>
          <p:nvPr/>
        </p:nvSpPr>
        <p:spPr>
          <a:xfrm>
            <a:off x="288000" y="1332000"/>
            <a:ext cx="4212000" cy="1440000"/>
          </a:xfrm>
          <a:prstGeom prst="roundRect">
            <a:avLst>
              <a:gd name="adj" fmla="val 8000"/>
            </a:avLst>
          </a:prstGeom>
          <a:solidFill>
            <a:srgbClr val="FDE3E0"/>
          </a:solidFill>
          <a:ln w="19050">
            <a:solidFill>
              <a:srgbClr val="EA4335"/>
            </a:solidFill>
          </a:ln>
        </p:spPr>
        <p:txBody>
          <a:bodyPr wrap="square" lIns="90000" tIns="90000" rIns="90000" bIns="90000" rtlCol="0" anchor="ctr">
            <a:noAutofit/>
          </a:bodyPr>
          <a:lstStyle/>
          <a:p>
            <a:pPr marL="0" indent="0" algn="ctr" rtl="1">
              <a:lnSpc>
                <a:spcPct val="105000"/>
              </a:lnSpc>
              <a:spcBef>
                <a:spcPts val="0"/>
              </a:spcBef>
              <a:spcAft>
                <a:spcPts val="0"/>
              </a:spcAft>
              <a:buNone/>
            </a:pPr>
            <a:r>
              <a:rPr lang="he-IL" sz="2000" b="1" i="0">
                <a:solidFill>
                  <a:srgbClr val="212121"/>
                </a:solidFill>
              </a:rPr>
              <a:t>🔴 מידע בעל רגישות מיוחדת</a:t>
            </a:r>
          </a:p>
          <a:p>
            <a:pPr marL="0" indent="0" algn="ctr" rtl="1">
              <a:lnSpc>
                <a:spcPct val="105000"/>
              </a:lnSpc>
              <a:spcBef>
                <a:spcPts val="400"/>
              </a:spcBef>
              <a:spcAft>
                <a:spcPts val="0"/>
              </a:spcAft>
              <a:buNone/>
            </a:pPr>
            <a:r>
              <a:rPr lang="he-IL" sz="1600" b="0" i="0">
                <a:solidFill>
                  <a:srgbClr val="212121"/>
                </a:solidFill>
              </a:rPr>
              <a:t>בריאות, שכר ופעילות פיננסית, ביומטרי, פלילי, מוצא, דעות ועוד.</a:t>
            </a:r>
          </a:p>
        </p:txBody>
      </p:sp>
      <p:sp>
        <p:nvSpPr>
          <p:cNvPr id="8" name="MCP Shape 8"/>
          <p:cNvSpPr/>
          <p:nvPr/>
        </p:nvSpPr>
        <p:spPr>
          <a:xfrm>
            <a:off x="4644000" y="2880000"/>
            <a:ext cx="4212000" cy="1440000"/>
          </a:xfrm>
          <a:prstGeom prst="roundRect">
            <a:avLst>
              <a:gd name="adj" fmla="val 8000"/>
            </a:avLst>
          </a:prstGeom>
          <a:solidFill>
            <a:srgbClr val="FFF0D9"/>
          </a:solidFill>
          <a:ln w="19050">
            <a:solidFill>
              <a:srgbClr val="FFAB40"/>
            </a:solidFill>
          </a:ln>
        </p:spPr>
        <p:txBody>
          <a:bodyPr wrap="square" lIns="90000" tIns="90000" rIns="90000" bIns="90000" rtlCol="0" anchor="ctr">
            <a:noAutofit/>
          </a:bodyPr>
          <a:lstStyle/>
          <a:p>
            <a:pPr marL="0" indent="0" algn="ctr" rtl="1">
              <a:lnSpc>
                <a:spcPct val="105000"/>
              </a:lnSpc>
              <a:spcBef>
                <a:spcPts val="0"/>
              </a:spcBef>
              <a:spcAft>
                <a:spcPts val="0"/>
              </a:spcAft>
              <a:buNone/>
            </a:pPr>
            <a:r>
              <a:rPr lang="he-IL" sz="2000" b="1" i="0">
                <a:solidFill>
                  <a:srgbClr val="212121"/>
                </a:solidFill>
              </a:rPr>
              <a:t>🏢 בעל שליטה ומחזיק</a:t>
            </a:r>
          </a:p>
          <a:p>
            <a:pPr marL="0" indent="0" algn="ctr" rtl="1">
              <a:lnSpc>
                <a:spcPct val="105000"/>
              </a:lnSpc>
              <a:spcBef>
                <a:spcPts val="400"/>
              </a:spcBef>
              <a:spcAft>
                <a:spcPts val="0"/>
              </a:spcAft>
              <a:buNone/>
            </a:pPr>
            <a:r>
              <a:rPr lang="he-IL" sz="1600" b="0" i="0">
                <a:solidFill>
                  <a:srgbClr val="212121"/>
                </a:solidFill>
              </a:rPr>
              <a:t>הארגון הוא בעל השליטה. מי שמעבד עבורו הוא מחזיק: ספק AI או שרת MCP מרוחק עשויים להיות כאלה.</a:t>
            </a:r>
          </a:p>
        </p:txBody>
      </p:sp>
      <p:sp>
        <p:nvSpPr>
          <p:cNvPr id="9" name="MCP Shape 9"/>
          <p:cNvSpPr/>
          <p:nvPr/>
        </p:nvSpPr>
        <p:spPr>
          <a:xfrm>
            <a:off x="288000" y="2880000"/>
            <a:ext cx="4212000" cy="1440000"/>
          </a:xfrm>
          <a:prstGeom prst="roundRect">
            <a:avLst>
              <a:gd name="adj" fmla="val 8000"/>
            </a:avLst>
          </a:prstGeom>
          <a:solidFill>
            <a:srgbClr val="DDF2F5"/>
          </a:solidFill>
          <a:ln w="19050">
            <a:solidFill>
              <a:srgbClr val="0097A7"/>
            </a:solidFill>
          </a:ln>
        </p:spPr>
        <p:txBody>
          <a:bodyPr wrap="square" lIns="90000" tIns="90000" rIns="90000" bIns="90000" rtlCol="0" anchor="ctr">
            <a:noAutofit/>
          </a:bodyPr>
          <a:lstStyle/>
          <a:p>
            <a:pPr marL="0" indent="0" algn="ctr" rtl="1">
              <a:lnSpc>
                <a:spcPct val="105000"/>
              </a:lnSpc>
              <a:spcBef>
                <a:spcPts val="0"/>
              </a:spcBef>
              <a:spcAft>
                <a:spcPts val="0"/>
              </a:spcAft>
              <a:buNone/>
            </a:pPr>
            <a:r>
              <a:rPr lang="he-IL" sz="2000" b="1" i="0">
                <a:solidFill>
                  <a:srgbClr val="212121"/>
                </a:solidFill>
              </a:rPr>
              <a:t>🔍 עיבוד הוא כל פעולה</a:t>
            </a:r>
          </a:p>
          <a:p>
            <a:pPr marL="0" indent="0" algn="ctr" rtl="1">
              <a:lnSpc>
                <a:spcPct val="105000"/>
              </a:lnSpc>
              <a:spcBef>
                <a:spcPts val="400"/>
              </a:spcBef>
              <a:spcAft>
                <a:spcPts val="0"/>
              </a:spcAft>
              <a:buNone/>
            </a:pPr>
            <a:r>
              <a:rPr lang="he-IL" sz="1600" b="0" i="0">
                <a:solidFill>
                  <a:srgbClr val="212121"/>
                </a:solidFill>
              </a:rPr>
              <a:t>קבלה, עיון, העברה ומתן גישה: גם שאילתה של סוכן.</a:t>
            </a:r>
          </a:p>
        </p:txBody>
      </p:sp>
      <p:sp>
        <p:nvSpPr>
          <p:cNvPr id="10" name="Disclaimer"/>
          <p:cNvSpPr txBox="1"/>
          <p:nvPr/>
        </p:nvSpPr>
        <p:spPr>
          <a:xfrm>
            <a:off x="288000" y="4410000"/>
            <a:ext cx="8568000" cy="648000"/>
          </a:xfrm>
          <a:prstGeom prst="rect">
            <a:avLst/>
          </a:prstGeom>
          <a:solidFill>
            <a:srgbClr val="FFF0D9"/>
          </a:solidFill>
          <a:ln w="19050">
            <a:solidFill>
              <a:srgbClr val="FFAB40"/>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B26A00"/>
                </a:solidFill>
              </a:rPr>
              <a:t>תיקון 13 לחוק הגנת הפרטיות בתוקף מ־14.8.2025. לא ייעוץ משפטי. נכון ל־23.10.2026. הרחבה בשקפי מפגש 12.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חובות אבטחה והעברה לחו״ל</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graphicFrame>
        <p:nvGraphicFramePr>
          <p:cNvPr id="5" name="Table 4"/>
          <p:cNvGraphicFramePr>
            <a:graphicFrameLocks noGrp="1"/>
          </p:cNvGraphicFramePr>
          <p:nvPr/>
        </p:nvGraphicFramePr>
        <p:xfrm>
          <a:off x="365760" y="1400000"/>
          <a:ext cx="8400000" cy="3030000"/>
        </p:xfrm>
        <a:graphic>
          <a:graphicData uri="http://schemas.openxmlformats.org/drawingml/2006/table">
            <a:tbl>
              <a:tblPr>
                <a:tableStyleId>{2D5ABB26-0587-4C30-8999-92F81FD0307C}</a:tableStyleId>
              </a:tblPr>
              <a:tblGrid>
                <a:gridCol w="1000000">
                  <a:extLst>
                    <a:ext uri="{9D8B030D-6E8A-4147-A177-3AD203B41FA5}">
                      <a16:colId xmlns:a16="http://schemas.microsoft.com/office/drawing/2014/main" val="20000"/>
                    </a:ext>
                  </a:extLst>
                </a:gridCol>
                <a:gridCol w="3000000">
                  <a:extLst>
                    <a:ext uri="{9D8B030D-6E8A-4147-A177-3AD203B41FA5}">
                      <a16:colId xmlns:a16="http://schemas.microsoft.com/office/drawing/2014/main" val="20001"/>
                    </a:ext>
                  </a:extLst>
                </a:gridCol>
                <a:gridCol w="4400000">
                  <a:extLst>
                    <a:ext uri="{9D8B030D-6E8A-4147-A177-3AD203B41FA5}">
                      <a16:colId xmlns:a16="http://schemas.microsoft.com/office/drawing/2014/main" val="20002"/>
                    </a:ext>
                  </a:extLst>
                </a:gridCol>
              </a:tblGrid>
              <a:tr h="430000">
                <a:tc>
                  <a:txBody>
                    <a:bodyPr/>
                    <a:lstStyle/>
                    <a:p>
                      <a:pPr marL="0" indent="0" algn="ctr" rtl="1">
                        <a:lnSpc>
                          <a:spcPct val="100000"/>
                        </a:lnSpc>
                        <a:spcBef>
                          <a:spcPts val="0"/>
                        </a:spcBef>
                        <a:spcAft>
                          <a:spcPts val="0"/>
                        </a:spcAft>
                        <a:buNone/>
                      </a:pPr>
                      <a:r>
                        <a:rPr lang="he-IL" sz="1500" b="1" i="0">
                          <a:solidFill>
                            <a:srgbClr val="212121"/>
                          </a:solidFill>
                        </a:rPr>
                        <a:t>תקנה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500" b="1" i="0">
                          <a:solidFill>
                            <a:srgbClr val="212121"/>
                          </a:solidFill>
                        </a:rPr>
                        <a:t>מה זה אומר ל־MCP</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a:lstStyle/>
                    <a:p>
                      <a:pPr marL="0" indent="0" algn="ctr" rtl="1">
                        <a:lnSpc>
                          <a:spcPct val="100000"/>
                        </a:lnSpc>
                        <a:spcBef>
                          <a:spcPts val="0"/>
                        </a:spcBef>
                        <a:spcAft>
                          <a:spcPts val="0"/>
                        </a:spcAft>
                        <a:buNone/>
                      </a:pPr>
                      <a:r>
                        <a:rPr lang="he-IL" sz="1500" b="1" i="0">
                          <a:solidFill>
                            <a:srgbClr val="212121"/>
                          </a:solidFill>
                        </a:rPr>
                        <a:t>חובה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extLst>
                  <a:ext uri="{0D108BD9-81ED-4DB2-BD59-A6C34878D82A}">
                    <a16:rowId xmlns:a16="http://schemas.microsoft.com/office/drawing/2014/main" val="10000"/>
                  </a:ext>
                </a:extLst>
              </a:tr>
              <a:tr h="520000">
                <a:tc>
                  <a:txBody>
                    <a:bodyPr/>
                    <a:lstStyle/>
                    <a:p>
                      <a:pPr marL="0" indent="0" algn="r" rtl="1">
                        <a:lnSpc>
                          <a:spcPct val="100000"/>
                        </a:lnSpc>
                        <a:spcBef>
                          <a:spcPts val="0"/>
                        </a:spcBef>
                        <a:spcAft>
                          <a:spcPts val="0"/>
                        </a:spcAft>
                        <a:buNone/>
                      </a:pPr>
                      <a:r>
                        <a:rPr lang="he-IL" sz="1400" b="0" i="0">
                          <a:solidFill>
                            <a:srgbClr val="212121"/>
                          </a:solidFill>
                        </a:rPr>
                        <a:t>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0" i="0">
                          <a:solidFill>
                            <a:srgbClr val="212121"/>
                          </a:solidFill>
                        </a:rPr>
                        <a:t>חשבון DB ייעודי לסוכן, לקריאה בלבד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1" i="0">
                          <a:solidFill>
                            <a:srgbClr val="212121"/>
                          </a:solidFill>
                        </a:rPr>
                        <a:t>הרשאות לפי תפקיד, במידה הנדרשת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1"/>
                  </a:ext>
                </a:extLst>
              </a:tr>
              <a:tr h="520000">
                <a:tc>
                  <a:txBody>
                    <a:bodyPr/>
                    <a:lstStyle/>
                    <a:p>
                      <a:pPr marL="0" indent="0" algn="r" rtl="1">
                        <a:lnSpc>
                          <a:spcPct val="100000"/>
                        </a:lnSpc>
                        <a:spcBef>
                          <a:spcPts val="0"/>
                        </a:spcBef>
                        <a:spcAft>
                          <a:spcPts val="0"/>
                        </a:spcAft>
                        <a:buNone/>
                      </a:pPr>
                      <a:r>
                        <a:rPr lang="he-IL" sz="1400" b="0" i="0">
                          <a:solidFill>
                            <a:srgbClr val="212121"/>
                          </a:solidFill>
                        </a:rPr>
                        <a:t>10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0" i="0">
                          <a:solidFill>
                            <a:srgbClr val="212121"/>
                          </a:solidFill>
                        </a:rPr>
                        <a:t>יומן ביקורת של שאילתות הסוכן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1" i="0">
                          <a:solidFill>
                            <a:srgbClr val="212121"/>
                          </a:solidFill>
                        </a:rPr>
                        <a:t>יומן גישה, 24 חודשים (בינונית וגבוהה)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2"/>
                  </a:ext>
                </a:extLst>
              </a:tr>
              <a:tr h="520000">
                <a:tc>
                  <a:txBody>
                    <a:bodyPr/>
                    <a:lstStyle/>
                    <a:p>
                      <a:pPr marL="0" indent="0" algn="r" rtl="1">
                        <a:lnSpc>
                          <a:spcPct val="100000"/>
                        </a:lnSpc>
                        <a:spcBef>
                          <a:spcPts val="0"/>
                        </a:spcBef>
                        <a:spcAft>
                          <a:spcPts val="0"/>
                        </a:spcAft>
                        <a:buNone/>
                      </a:pPr>
                      <a:r>
                        <a:rPr lang="he-IL" sz="1400" b="0" i="0">
                          <a:solidFill>
                            <a:srgbClr val="212121"/>
                          </a:solidFill>
                        </a:rPr>
                        <a:t>15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0" i="0">
                          <a:solidFill>
                            <a:srgbClr val="212121"/>
                          </a:solidFill>
                        </a:rPr>
                        <a:t>ספק AI או שרת MCP מרוחק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1" i="0">
                          <a:solidFill>
                            <a:srgbClr val="212121"/>
                          </a:solidFill>
                        </a:rPr>
                        <a:t>ספק חיצוני: סקר סיכונים, הסכם, פיקוח</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0003"/>
                  </a:ext>
                </a:extLst>
              </a:tr>
              <a:tr h="520000">
                <a:tc>
                  <a:txBody>
                    <a:bodyPr/>
                    <a:lstStyle/>
                    <a:p>
                      <a:pPr marL="0" indent="0" algn="r" rtl="1">
                        <a:lnSpc>
                          <a:spcPct val="100000"/>
                        </a:lnSpc>
                        <a:spcBef>
                          <a:spcPts val="0"/>
                        </a:spcBef>
                        <a:spcAft>
                          <a:spcPts val="0"/>
                        </a:spcAft>
                        <a:buNone/>
                      </a:pPr>
                      <a:r>
                        <a:rPr lang="he-IL" sz="1400" b="0" i="0">
                          <a:solidFill>
                            <a:srgbClr val="212121"/>
                          </a:solidFill>
                        </a:rPr>
                        <a:t>11(ד)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0" i="0">
                          <a:solidFill>
                            <a:srgbClr val="212121"/>
                          </a:solidFill>
                        </a:rPr>
                        <a:t>דליפה דרך הסוכן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1" i="0">
                          <a:solidFill>
                            <a:srgbClr val="212121"/>
                          </a:solidFill>
                        </a:rPr>
                        <a:t>אירוע חמור: דיווח מיידי לרשות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1289072034"/>
                  </a:ext>
                </a:extLst>
              </a:tr>
              <a:tr h="520000">
                <a:tc>
                  <a:txBody>
                    <a:bodyPr/>
                    <a:lstStyle/>
                    <a:p>
                      <a:pPr marL="0" indent="0" algn="r" rtl="1">
                        <a:lnSpc>
                          <a:spcPct val="100000"/>
                        </a:lnSpc>
                        <a:spcBef>
                          <a:spcPts val="0"/>
                        </a:spcBef>
                        <a:spcAft>
                          <a:spcPts val="0"/>
                        </a:spcAft>
                        <a:buNone/>
                      </a:pPr>
                      <a:r>
                        <a:rPr lang="he-IL" sz="1400" b="0" i="0">
                          <a:solidFill>
                            <a:srgbClr val="212121"/>
                          </a:solidFill>
                        </a:rPr>
                        <a:t>תקנות 2001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0" i="0">
                          <a:solidFill>
                            <a:srgbClr val="212121"/>
                          </a:solidFill>
                        </a:rPr>
                        <a:t>שרת או ספק מחוץ לישראל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a:lstStyle/>
                    <a:p>
                      <a:pPr marL="0" indent="0" algn="r" rtl="1">
                        <a:lnSpc>
                          <a:spcPct val="100000"/>
                        </a:lnSpc>
                        <a:spcBef>
                          <a:spcPts val="0"/>
                        </a:spcBef>
                        <a:spcAft>
                          <a:spcPts val="0"/>
                        </a:spcAft>
                        <a:buNone/>
                      </a:pPr>
                      <a:r>
                        <a:rPr lang="he-IL" sz="1400" b="1" i="0">
                          <a:solidFill>
                            <a:srgbClr val="212121"/>
                          </a:solidFill>
                        </a:rPr>
                        <a:t>העברה לחו״ל: איסור, עם חריגים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extLst>
                  <a:ext uri="{0D108BD9-81ED-4DB2-BD59-A6C34878D82A}">
                    <a16:rowId xmlns:a16="http://schemas.microsoft.com/office/drawing/2014/main" val="2111864986"/>
                  </a:ext>
                </a:extLst>
              </a:tr>
            </a:tbl>
          </a:graphicData>
        </a:graphic>
      </p:graphicFrame>
      <p:sp>
        <p:nvSpPr>
          <p:cNvPr id="6" name="Rounded Rectangle 5"/>
          <p:cNvSpPr/>
          <p:nvPr/>
        </p:nvSpPr>
        <p:spPr>
          <a:xfrm>
            <a:off x="365760" y="4550000"/>
            <a:ext cx="8412480" cy="432000"/>
          </a:xfrm>
          <a:prstGeom prst="roundRect">
            <a:avLst>
              <a:gd name="adj" fmla="val 12000"/>
            </a:avLst>
          </a:prstGeom>
          <a:solidFill>
            <a:srgbClr val="FFF0D9"/>
          </a:solidFill>
          <a:ln w="19050">
            <a:solidFill>
              <a:srgbClr val="FFAB40"/>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400" b="0" i="0">
                <a:solidFill>
                  <a:srgbClr val="212121"/>
                </a:solidFill>
              </a:rPr>
              <a:t>תקנות הגנת הפרטיות (אבטחת מידע), התשע״ז־2017, ותקנות העברה לחו״ל, התשס״א־2001. נכון ל־23.10.2026. לא ייעוץ משפטי.</a:t>
            </a:r>
          </a:p>
        </p:txBody>
      </p:sp>
      <p:sp>
        <p:nvSpPr>
          <p:cNvPr id="7"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זליגת מידע: ההשלכות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
        <p:nvSpPr>
          <p:cNvPr id="6" name="MCP Shape 6"/>
          <p:cNvSpPr/>
          <p:nvPr/>
        </p:nvSpPr>
        <p:spPr>
          <a:xfrm>
            <a:off x="6804000" y="1332000"/>
            <a:ext cx="1980000" cy="2484000"/>
          </a:xfrm>
          <a:prstGeom prst="roundRect">
            <a:avLst>
              <a:gd name="adj" fmla="val 8000"/>
            </a:avLst>
          </a:prstGeom>
          <a:solidFill>
            <a:srgbClr val="FDE3E0"/>
          </a:solidFill>
          <a:ln w="19050">
            <a:solidFill>
              <a:srgbClr val="EA4335"/>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800" b="0" i="0">
                <a:solidFill>
                  <a:srgbClr val="212121"/>
                </a:solidFill>
              </a:rPr>
              <a:t>📣</a:t>
            </a:r>
          </a:p>
          <a:p>
            <a:pPr marL="0" indent="0" algn="ctr" rtl="1">
              <a:lnSpc>
                <a:spcPct val="105000"/>
              </a:lnSpc>
              <a:spcBef>
                <a:spcPts val="0"/>
              </a:spcBef>
              <a:spcAft>
                <a:spcPts val="0"/>
              </a:spcAft>
              <a:buNone/>
            </a:pPr>
            <a:r>
              <a:rPr lang="he-IL" sz="1800" b="1" i="0">
                <a:solidFill>
                  <a:srgbClr val="212121"/>
                </a:solidFill>
              </a:rPr>
              <a:t>דיווח</a:t>
            </a:r>
          </a:p>
          <a:p>
            <a:pPr marL="0" indent="0" algn="ctr" rtl="1">
              <a:lnSpc>
                <a:spcPct val="105000"/>
              </a:lnSpc>
              <a:spcBef>
                <a:spcPts val="400"/>
              </a:spcBef>
              <a:spcAft>
                <a:spcPts val="0"/>
              </a:spcAft>
              <a:buNone/>
            </a:pPr>
            <a:r>
              <a:rPr lang="he-IL" sz="1400" b="0" i="0">
                <a:solidFill>
                  <a:srgbClr val="212121"/>
                </a:solidFill>
              </a:rPr>
              <a:t>אירוע אבטחה חמור: דיווח מיידי לרשות.</a:t>
            </a:r>
          </a:p>
        </p:txBody>
      </p:sp>
      <p:sp>
        <p:nvSpPr>
          <p:cNvPr id="7" name="MCP Shape 7"/>
          <p:cNvSpPr/>
          <p:nvPr/>
        </p:nvSpPr>
        <p:spPr>
          <a:xfrm>
            <a:off x="4662000" y="1332000"/>
            <a:ext cx="1980000" cy="2484000"/>
          </a:xfrm>
          <a:prstGeom prst="roundRect">
            <a:avLst>
              <a:gd name="adj" fmla="val 8000"/>
            </a:avLst>
          </a:prstGeom>
          <a:solidFill>
            <a:srgbClr val="FDE3E0"/>
          </a:solidFill>
          <a:ln w="19050">
            <a:solidFill>
              <a:srgbClr val="EA4335"/>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800" b="0" i="0">
                <a:solidFill>
                  <a:srgbClr val="212121"/>
                </a:solidFill>
              </a:rPr>
              <a:t>💸</a:t>
            </a:r>
          </a:p>
          <a:p>
            <a:pPr marL="0" indent="0" algn="ctr" rtl="1">
              <a:lnSpc>
                <a:spcPct val="105000"/>
              </a:lnSpc>
              <a:spcBef>
                <a:spcPts val="0"/>
              </a:spcBef>
              <a:spcAft>
                <a:spcPts val="0"/>
              </a:spcAft>
              <a:buNone/>
            </a:pPr>
            <a:r>
              <a:rPr lang="he-IL" sz="1800" b="1" i="0">
                <a:solidFill>
                  <a:srgbClr val="212121"/>
                </a:solidFill>
              </a:rPr>
              <a:t>עיצומים כספיים</a:t>
            </a:r>
          </a:p>
          <a:p>
            <a:pPr marL="0" indent="0" algn="ctr" rtl="1">
              <a:lnSpc>
                <a:spcPct val="105000"/>
              </a:lnSpc>
              <a:spcBef>
                <a:spcPts val="400"/>
              </a:spcBef>
              <a:spcAft>
                <a:spcPts val="0"/>
              </a:spcAft>
              <a:buNone/>
            </a:pPr>
            <a:r>
              <a:rPr lang="he-IL" sz="1400" b="0" i="0">
                <a:solidFill>
                  <a:srgbClr val="212121"/>
                </a:solidFill>
              </a:rPr>
              <a:t>דוגמה מהמדריך: 200,000 איש ומידע רגיש, חריגה מהרשאה: 1,600,000 ש״ח.</a:t>
            </a:r>
          </a:p>
        </p:txBody>
      </p:sp>
      <p:sp>
        <p:nvSpPr>
          <p:cNvPr id="8" name="MCP Shape 8"/>
          <p:cNvSpPr/>
          <p:nvPr/>
        </p:nvSpPr>
        <p:spPr>
          <a:xfrm>
            <a:off x="2520000" y="1332000"/>
            <a:ext cx="1980000" cy="2484000"/>
          </a:xfrm>
          <a:prstGeom prst="roundRect">
            <a:avLst>
              <a:gd name="adj" fmla="val 8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800" b="0" i="0">
                <a:solidFill>
                  <a:srgbClr val="212121"/>
                </a:solidFill>
              </a:rPr>
              <a:t>⚖️</a:t>
            </a:r>
          </a:p>
          <a:p>
            <a:pPr marL="0" indent="0" algn="ctr" rtl="1">
              <a:lnSpc>
                <a:spcPct val="105000"/>
              </a:lnSpc>
              <a:spcBef>
                <a:spcPts val="0"/>
              </a:spcBef>
              <a:spcAft>
                <a:spcPts val="0"/>
              </a:spcAft>
              <a:buNone/>
            </a:pPr>
            <a:r>
              <a:rPr lang="he-IL" sz="1800" b="1" i="0">
                <a:solidFill>
                  <a:srgbClr val="212121"/>
                </a:solidFill>
              </a:rPr>
              <a:t>פיצוי ותביעות</a:t>
            </a:r>
          </a:p>
          <a:p>
            <a:pPr marL="0" indent="0" algn="ctr" rtl="1">
              <a:lnSpc>
                <a:spcPct val="105000"/>
              </a:lnSpc>
              <a:spcBef>
                <a:spcPts val="400"/>
              </a:spcBef>
              <a:spcAft>
                <a:spcPts val="0"/>
              </a:spcAft>
              <a:buNone/>
            </a:pPr>
            <a:r>
              <a:rPr lang="he-IL" sz="1400" b="0" i="0">
                <a:solidFill>
                  <a:srgbClr val="212121"/>
                </a:solidFill>
              </a:rPr>
              <a:t>עד 10,000 ש״ח ללא הוכחת נזק בעילות מסוימות. ייצוגית: לא אומת.</a:t>
            </a:r>
          </a:p>
        </p:txBody>
      </p:sp>
      <p:sp>
        <p:nvSpPr>
          <p:cNvPr id="9" name="MCP Shape 9"/>
          <p:cNvSpPr/>
          <p:nvPr/>
        </p:nvSpPr>
        <p:spPr>
          <a:xfrm>
            <a:off x="378000" y="1332000"/>
            <a:ext cx="1980000" cy="2484000"/>
          </a:xfrm>
          <a:prstGeom prst="roundRect">
            <a:avLst>
              <a:gd name="adj" fmla="val 8000"/>
            </a:avLst>
          </a:prstGeom>
          <a:solidFill>
            <a:srgbClr val="FFF0D9"/>
          </a:solidFill>
          <a:ln w="19050">
            <a:solidFill>
              <a:srgbClr val="FFAB40"/>
            </a:solidFill>
          </a:ln>
        </p:spPr>
        <p:txBody>
          <a:bodyPr wrap="square" lIns="72000" tIns="72000" rIns="72000" bIns="72000" rtlCol="0" anchor="ctr">
            <a:noAutofit/>
          </a:bodyPr>
          <a:lstStyle/>
          <a:p>
            <a:pPr marL="0" indent="0" algn="ctr" rtl="1">
              <a:lnSpc>
                <a:spcPct val="105000"/>
              </a:lnSpc>
              <a:spcBef>
                <a:spcPts val="0"/>
              </a:spcBef>
              <a:spcAft>
                <a:spcPts val="0"/>
              </a:spcAft>
              <a:buNone/>
            </a:pPr>
            <a:r>
              <a:rPr lang="he-IL" sz="2800" b="0" i="0">
                <a:solidFill>
                  <a:srgbClr val="212121"/>
                </a:solidFill>
              </a:rPr>
              <a:t>🏛️</a:t>
            </a:r>
          </a:p>
          <a:p>
            <a:pPr marL="0" indent="0" algn="ctr" rtl="1">
              <a:lnSpc>
                <a:spcPct val="105000"/>
              </a:lnSpc>
              <a:spcBef>
                <a:spcPts val="0"/>
              </a:spcBef>
              <a:spcAft>
                <a:spcPts val="0"/>
              </a:spcAft>
              <a:buNone/>
            </a:pPr>
            <a:r>
              <a:rPr lang="he-IL" sz="1800" b="1" i="0">
                <a:solidFill>
                  <a:srgbClr val="212121"/>
                </a:solidFill>
              </a:rPr>
              <a:t>אכיפה</a:t>
            </a:r>
          </a:p>
          <a:p>
            <a:pPr marL="0" indent="0" algn="ctr" rtl="1">
              <a:lnSpc>
                <a:spcPct val="105000"/>
              </a:lnSpc>
              <a:spcBef>
                <a:spcPts val="400"/>
              </a:spcBef>
              <a:spcAft>
                <a:spcPts val="0"/>
              </a:spcAft>
              <a:buNone/>
            </a:pPr>
            <a:r>
              <a:rPr lang="he-IL" sz="1400" b="0" i="0">
                <a:solidFill>
                  <a:srgbClr val="212121"/>
                </a:solidFill>
              </a:rPr>
              <a:t>צו להפסקת עיבוד או למחיקת מידע; עיבוד ללא הרשאה הוא עבירה.</a:t>
            </a:r>
          </a:p>
        </p:txBody>
      </p:sp>
      <p:sp>
        <p:nvSpPr>
          <p:cNvPr id="10" name="Footnote"/>
          <p:cNvSpPr txBox="1"/>
          <p:nvPr/>
        </p:nvSpPr>
        <p:spPr>
          <a:xfrm>
            <a:off x="288000" y="3942000"/>
            <a:ext cx="8568000" cy="360000"/>
          </a:xfrm>
          <a:prstGeom prst="rect">
            <a:avLst/>
          </a:prstGeom>
          <a:noFill/>
          <a:ln>
            <a:no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0" i="0">
                <a:solidFill>
                  <a:srgbClr val="595959"/>
                </a:solidFill>
              </a:rPr>
              <a:t>תקרה: 5% מהמחזור. האחריות על הארגון כבעל שליטה.</a:t>
            </a:r>
          </a:p>
        </p:txBody>
      </p:sp>
      <p:sp>
        <p:nvSpPr>
          <p:cNvPr id="11" name="Disclaimer"/>
          <p:cNvSpPr txBox="1"/>
          <p:nvPr/>
        </p:nvSpPr>
        <p:spPr>
          <a:xfrm>
            <a:off x="288000" y="4410000"/>
            <a:ext cx="8568000" cy="648000"/>
          </a:xfrm>
          <a:prstGeom prst="rect">
            <a:avLst/>
          </a:prstGeom>
          <a:solidFill>
            <a:srgbClr val="FFF0D9"/>
          </a:solidFill>
          <a:ln w="19050">
            <a:solidFill>
              <a:srgbClr val="FFAB40"/>
            </a:solidFill>
          </a:ln>
        </p:spPr>
        <p:txBody>
          <a:bodyPr wrap="square" lIns="36000" tIns="36000" rIns="36000" bIns="36000" rtlCol="0" anchor="ctr">
            <a:noAutofit/>
          </a:bodyPr>
          <a:lstStyle/>
          <a:p>
            <a:pPr marL="0" indent="0" algn="ctr" rtl="1">
              <a:lnSpc>
                <a:spcPct val="105000"/>
              </a:lnSpc>
              <a:spcBef>
                <a:spcPts val="0"/>
              </a:spcBef>
              <a:spcAft>
                <a:spcPts val="0"/>
              </a:spcAft>
              <a:buNone/>
            </a:pPr>
            <a:r>
              <a:rPr lang="he-IL" sz="1400" b="1" i="0">
                <a:solidFill>
                  <a:srgbClr val="B26A00"/>
                </a:solidFill>
              </a:rPr>
              <a:t>לא ייעוץ משפטי. נכון ל־23.10.2026. סכומים לפי מדריך הרשות (מאי 2025).</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מקורות: MCP וסוכנים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18"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
        <p:nvSpPr>
          <p:cNvPr id="19" name="Source 1"/>
          <p:cNvSpPr/>
          <p:nvPr/>
        </p:nvSpPr>
        <p:spPr>
          <a:xfrm>
            <a:off x="360000" y="1260000"/>
            <a:ext cx="8424000" cy="421200"/>
          </a:xfrm>
          <a:prstGeom prst="rect">
            <a:avLst/>
          </a:prstGeom>
          <a:solidFill>
            <a:srgbClr val="E3EE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Yao et al. (2023). ReAct: Synergizing Reasoning and Acting in Language Models. ICLR. arXiv:2210.03629 (opened)</a:t>
            </a:r>
          </a:p>
        </p:txBody>
      </p:sp>
      <p:sp>
        <p:nvSpPr>
          <p:cNvPr id="20" name="Source 2"/>
          <p:cNvSpPr/>
          <p:nvPr/>
        </p:nvSpPr>
        <p:spPr>
          <a:xfrm>
            <a:off x="360000" y="1692000"/>
            <a:ext cx="8424000" cy="421200"/>
          </a:xfrm>
          <a:prstGeom prst="rect">
            <a:avLst/>
          </a:prstGeom>
          <a:solidFill>
            <a:srgbClr val="FFFF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Anthropic (2024). Building effective agents; Anthropic (2025). Writing effective tools for agents. anthropic.com/engineering (opened)</a:t>
            </a:r>
          </a:p>
        </p:txBody>
      </p:sp>
      <p:sp>
        <p:nvSpPr>
          <p:cNvPr id="21" name="Source 3"/>
          <p:cNvSpPr/>
          <p:nvPr/>
        </p:nvSpPr>
        <p:spPr>
          <a:xfrm>
            <a:off x="360000" y="2124000"/>
            <a:ext cx="8424000" cy="421200"/>
          </a:xfrm>
          <a:prstGeom prst="rect">
            <a:avLst/>
          </a:prstGeom>
          <a:solidFill>
            <a:srgbClr val="E3EE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Anthropic (25.11.2024). Introducing the Model Context Protocol. anthropic.com/news; Linux Foundation (9.12.2025). Agentic AI Foundation (opened)</a:t>
            </a:r>
          </a:p>
        </p:txBody>
      </p:sp>
      <p:sp>
        <p:nvSpPr>
          <p:cNvPr id="22" name="Source 4"/>
          <p:cNvSpPr/>
          <p:nvPr/>
        </p:nvSpPr>
        <p:spPr>
          <a:xfrm>
            <a:off x="360000" y="2556000"/>
            <a:ext cx="8424000" cy="421200"/>
          </a:xfrm>
          <a:prstGeom prst="rect">
            <a:avLst/>
          </a:prstGeom>
          <a:solidFill>
            <a:srgbClr val="FFFF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Model Context Protocol. Specification 2026‎-‎07‎-‎28 (with changelog) and 2025‎-‎11‎-‎25. modelcontextprotocol.io/specification (opened)</a:t>
            </a:r>
          </a:p>
        </p:txBody>
      </p:sp>
      <p:sp>
        <p:nvSpPr>
          <p:cNvPr id="23" name="Source 5"/>
          <p:cNvSpPr/>
          <p:nvPr/>
        </p:nvSpPr>
        <p:spPr>
          <a:xfrm>
            <a:off x="360000" y="2988000"/>
            <a:ext cx="8424000" cy="421200"/>
          </a:xfrm>
          <a:prstGeom prst="rect">
            <a:avLst/>
          </a:prstGeom>
          <a:solidFill>
            <a:srgbClr val="E3EE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Model Context Protocol. Security Best Practices; Authorization. modelcontextprotocol.io (opened)</a:t>
            </a:r>
          </a:p>
        </p:txBody>
      </p:sp>
      <p:sp>
        <p:nvSpPr>
          <p:cNvPr id="24" name="Source 6"/>
          <p:cNvSpPr/>
          <p:nvPr/>
        </p:nvSpPr>
        <p:spPr>
          <a:xfrm>
            <a:off x="360000" y="3420000"/>
            <a:ext cx="8424000" cy="421200"/>
          </a:xfrm>
          <a:prstGeom prst="rect">
            <a:avLst/>
          </a:prstGeom>
          <a:solidFill>
            <a:srgbClr val="FFFF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Hou et al. (2025). MCP: Landscape, Security Threats, and Future Research Directions. arXiv:2503.23278; Radosevich &amp; Halloran (2025). MCP Safety Audit. arXiv:2504.03767 (abstracts opened)</a:t>
            </a:r>
          </a:p>
        </p:txBody>
      </p:sp>
      <p:sp>
        <p:nvSpPr>
          <p:cNvPr id="25" name="Source 7"/>
          <p:cNvSpPr/>
          <p:nvPr/>
        </p:nvSpPr>
        <p:spPr>
          <a:xfrm>
            <a:off x="360000" y="3852000"/>
            <a:ext cx="8424000" cy="421200"/>
          </a:xfrm>
          <a:prstGeom prst="rect">
            <a:avLst/>
          </a:prstGeom>
          <a:solidFill>
            <a:srgbClr val="E3EE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Invariant Labs (1.4.2025). MCP Security Notification: Tool Poisoning Attacks; Willison (16.6.2025). The lethal trifecta for AI agents (opened)</a:t>
            </a:r>
          </a:p>
        </p:txBody>
      </p:sp>
      <p:sp>
        <p:nvSpPr>
          <p:cNvPr id="26" name="Source 8"/>
          <p:cNvSpPr/>
          <p:nvPr/>
        </p:nvSpPr>
        <p:spPr>
          <a:xfrm>
            <a:off x="360000" y="4284000"/>
            <a:ext cx="8424000" cy="421200"/>
          </a:xfrm>
          <a:prstGeom prst="rect">
            <a:avLst/>
          </a:prstGeom>
          <a:solidFill>
            <a:srgbClr val="FFFF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OWASP GenAI (2025). LLM06:2025 Excessive Agency; Li et al. (2023). BIRD text-to-SQL benchmark. NeurIPS. arXiv:2305.03111 (abstract opened)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 העשרה :</a:t>
            </a:r>
            <a:r>
              <a:rPr lang="he-IL" sz="3000" b="1" i="0">
                <a:solidFill>
                  <a:srgbClr val="212121"/>
                </a:solidFill>
              </a:rPr>
              <a:t>מקורות: אבטחה ומשפט</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18" name="Tag Optional"/>
          <p:cNvSpPr/>
          <p:nvPr/>
        </p:nvSpPr>
        <p:spPr>
          <a:xfrm>
            <a:off x="109728" y="91440"/>
            <a:ext cx="1417320" cy="384048"/>
          </a:xfrm>
          <a:prstGeom prst="roundRect">
            <a:avLst>
              <a:gd name="adj" fmla="val 40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1500" b="1" i="0">
                <a:solidFill>
                  <a:srgbClr val="212121"/>
                </a:solidFill>
              </a:rPr>
              <a:t>העשרה</a:t>
            </a:r>
          </a:p>
        </p:txBody>
      </p:sp>
      <p:sp>
        <p:nvSpPr>
          <p:cNvPr id="19" name="Source 1"/>
          <p:cNvSpPr/>
          <p:nvPr/>
        </p:nvSpPr>
        <p:spPr>
          <a:xfrm>
            <a:off x="360000" y="1260000"/>
            <a:ext cx="8424000" cy="421200"/>
          </a:xfrm>
          <a:prstGeom prst="rect">
            <a:avLst/>
          </a:prstGeom>
          <a:solidFill>
            <a:srgbClr val="E3EE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Invariant Labs (26.5.2025). GitHub MCP Exploited. invariantlabs.ai/blog/mcp-github-vulnerability (opened)</a:t>
            </a:r>
          </a:p>
        </p:txBody>
      </p:sp>
      <p:sp>
        <p:nvSpPr>
          <p:cNvPr id="20" name="Source 2"/>
          <p:cNvSpPr/>
          <p:nvPr/>
        </p:nvSpPr>
        <p:spPr>
          <a:xfrm>
            <a:off x="360000" y="1692000"/>
            <a:ext cx="8424000" cy="421200"/>
          </a:xfrm>
          <a:prstGeom prst="rect">
            <a:avLst/>
          </a:prstGeom>
          <a:solidFill>
            <a:srgbClr val="FFFF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Willison (6.7.2025). Supabase MCP and the lethal trifecta (opened); Supabase (16.9.2025). Defense in Depth for MCP Servers (opened). General Analysis original: not opened</a:t>
            </a:r>
          </a:p>
        </p:txBody>
      </p:sp>
      <p:sp>
        <p:nvSpPr>
          <p:cNvPr id="21" name="Source 3"/>
          <p:cNvSpPr/>
          <p:nvPr/>
        </p:nvSpPr>
        <p:spPr>
          <a:xfrm>
            <a:off x="360000" y="2124000"/>
            <a:ext cx="8424000" cy="421200"/>
          </a:xfrm>
          <a:prstGeom prst="rect">
            <a:avLst/>
          </a:prstGeom>
          <a:solidFill>
            <a:srgbClr val="E3EE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Datadog Security Labs (21.8.2025). MCP vulnerability case study: SQL injection in the PostgreSQL MCP server (opened)</a:t>
            </a:r>
          </a:p>
        </p:txBody>
      </p:sp>
      <p:sp>
        <p:nvSpPr>
          <p:cNvPr id="22" name="Source 4"/>
          <p:cNvSpPr/>
          <p:nvPr/>
        </p:nvSpPr>
        <p:spPr>
          <a:xfrm>
            <a:off x="360000" y="2556000"/>
            <a:ext cx="8424000" cy="421200"/>
          </a:xfrm>
          <a:prstGeom prst="rect">
            <a:avLst/>
          </a:prstGeom>
          <a:solidFill>
            <a:srgbClr val="FFFF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NVD: CVE-2025‎-‎49596 (MCP Inspector) and CVE-2025‎-‎6514 (mcp-remote); JFrog (9.7.2025) (opened)</a:t>
            </a:r>
          </a:p>
        </p:txBody>
      </p:sp>
      <p:sp>
        <p:nvSpPr>
          <p:cNvPr id="23" name="Source 5"/>
          <p:cNvSpPr/>
          <p:nvPr/>
        </p:nvSpPr>
        <p:spPr>
          <a:xfrm>
            <a:off x="360000" y="2988000"/>
            <a:ext cx="8424000" cy="421200"/>
          </a:xfrm>
          <a:prstGeom prst="rect">
            <a:avLst/>
          </a:prstGeom>
          <a:solidFill>
            <a:srgbClr val="E3EEFF"/>
          </a:solidFill>
          <a:ln w="19050">
            <a:solidFill>
              <a:srgbClr val="EEEEEE"/>
            </a:solidFill>
          </a:ln>
        </p:spPr>
        <p:txBody>
          <a:bodyPr wrap="square" lIns="43200" tIns="43200" rIns="43200" bIns="43200" rtlCol="0" anchor="ctr">
            <a:noAutofit/>
          </a:bodyPr>
          <a:lstStyle/>
          <a:p>
            <a:pPr marL="0" indent="0" algn="l" rtl="0">
              <a:lnSpc>
                <a:spcPct val="100000"/>
              </a:lnSpc>
              <a:spcBef>
                <a:spcPts val="0"/>
              </a:spcBef>
              <a:spcAft>
                <a:spcPts val="0"/>
              </a:spcAft>
              <a:buNone/>
            </a:pPr>
            <a:r>
              <a:rPr lang="he-IL" sz="1200" b="0" i="0">
                <a:solidFill>
                  <a:srgbClr val="212121"/>
                </a:solidFill>
              </a:rPr>
              <a:t>CSO Online (26.9.2025). postmark-mcp (secondary; Koi Security original not reachable); BleepingComputer, The Register (18.6.2025). Asana MCP (secondary)</a:t>
            </a:r>
          </a:p>
        </p:txBody>
      </p:sp>
      <p:sp>
        <p:nvSpPr>
          <p:cNvPr id="24" name="Source 6"/>
          <p:cNvSpPr/>
          <p:nvPr/>
        </p:nvSpPr>
        <p:spPr>
          <a:xfrm>
            <a:off x="360000" y="3420000"/>
            <a:ext cx="8424000" cy="421200"/>
          </a:xfrm>
          <a:prstGeom prst="rect">
            <a:avLst/>
          </a:prstGeom>
          <a:solidFill>
            <a:srgbClr val="FFFFFF"/>
          </a:solidFill>
          <a:ln w="19050">
            <a:solidFill>
              <a:srgbClr val="EEEEEE"/>
            </a:solidFill>
          </a:ln>
        </p:spPr>
        <p:txBody>
          <a:bodyPr wrap="square" lIns="43200" tIns="43200" rIns="43200" bIns="43200" rtlCol="0" anchor="ctr">
            <a:noAutofit/>
          </a:bodyPr>
          <a:lstStyle/>
          <a:p>
            <a:pPr marL="0" indent="0" algn="r" rtl="1">
              <a:lnSpc>
                <a:spcPct val="100000"/>
              </a:lnSpc>
              <a:spcBef>
                <a:spcPts val="0"/>
              </a:spcBef>
              <a:spcAft>
                <a:spcPts val="0"/>
              </a:spcAft>
              <a:buNone/>
            </a:pPr>
            <a:r>
              <a:rPr lang="he-IL" sz="1200" b="0" i="0">
                <a:solidFill>
                  <a:srgbClr val="212121"/>
                </a:solidFill>
              </a:rPr>
              <a:t>הרשות להגנת הפרטיות (מאי 2025). מדריך תיקון מס׳ 13 לחוק הגנת הפרטיות. gov.il (ראשוני, נפתח)</a:t>
            </a:r>
          </a:p>
        </p:txBody>
      </p:sp>
      <p:sp>
        <p:nvSpPr>
          <p:cNvPr id="25" name="Source 7"/>
          <p:cNvSpPr/>
          <p:nvPr/>
        </p:nvSpPr>
        <p:spPr>
          <a:xfrm>
            <a:off x="360000" y="3852000"/>
            <a:ext cx="8424000" cy="421200"/>
          </a:xfrm>
          <a:prstGeom prst="rect">
            <a:avLst/>
          </a:prstGeom>
          <a:solidFill>
            <a:srgbClr val="E3EEFF"/>
          </a:solidFill>
          <a:ln w="19050">
            <a:solidFill>
              <a:srgbClr val="EEEEEE"/>
            </a:solidFill>
          </a:ln>
        </p:spPr>
        <p:txBody>
          <a:bodyPr wrap="square" lIns="43200" tIns="43200" rIns="43200" bIns="43200" rtlCol="0" anchor="ctr">
            <a:noAutofit/>
          </a:bodyPr>
          <a:lstStyle/>
          <a:p>
            <a:pPr marL="0" indent="0" algn="r" rtl="1">
              <a:lnSpc>
                <a:spcPct val="100000"/>
              </a:lnSpc>
              <a:spcBef>
                <a:spcPts val="0"/>
              </a:spcBef>
              <a:spcAft>
                <a:spcPts val="0"/>
              </a:spcAft>
              <a:buNone/>
            </a:pPr>
            <a:r>
              <a:rPr lang="he-IL" sz="1200" b="0" i="0">
                <a:solidFill>
                  <a:srgbClr val="212121"/>
                </a:solidFill>
              </a:rPr>
              <a:t>תקנות הגנת הפרטיות (אבטחת מידע), התשע״ז־2017, קובץ התקנות 7809: תרגום הרשות, אינו מחייב. gov.il (ראשוני, נפתח)</a:t>
            </a:r>
          </a:p>
        </p:txBody>
      </p:sp>
      <p:sp>
        <p:nvSpPr>
          <p:cNvPr id="26" name="Source 8"/>
          <p:cNvSpPr/>
          <p:nvPr/>
        </p:nvSpPr>
        <p:spPr>
          <a:xfrm>
            <a:off x="360000" y="4284000"/>
            <a:ext cx="8424000" cy="421200"/>
          </a:xfrm>
          <a:prstGeom prst="rect">
            <a:avLst/>
          </a:prstGeom>
          <a:solidFill>
            <a:srgbClr val="FFFFFF"/>
          </a:solidFill>
          <a:ln w="19050">
            <a:solidFill>
              <a:srgbClr val="EEEEEE"/>
            </a:solidFill>
          </a:ln>
        </p:spPr>
        <p:txBody>
          <a:bodyPr wrap="square" lIns="43200" tIns="43200" rIns="43200" bIns="43200" rtlCol="0" anchor="ctr">
            <a:noAutofit/>
          </a:bodyPr>
          <a:lstStyle/>
          <a:p>
            <a:pPr marL="0" indent="0" algn="r" rtl="1">
              <a:lnSpc>
                <a:spcPct val="100000"/>
              </a:lnSpc>
              <a:spcBef>
                <a:spcPts val="0"/>
              </a:spcBef>
              <a:spcAft>
                <a:spcPts val="0"/>
              </a:spcAft>
              <a:buNone/>
            </a:pPr>
            <a:r>
              <a:rPr lang="he-IL" sz="1200" b="0" i="0">
                <a:solidFill>
                  <a:srgbClr val="212121"/>
                </a:solidFill>
              </a:rPr>
              <a:t>הרשות להגנת הפרטיות. גילוי דעת: פרשנות תקנה 2(4) לתקנות העברת מידע אל מאגרי מידע שמחוץ לגבולות המדינה, התשס״א־2001. gov.il (ראשוני, נפתח; תאריך פרסום לא אומת)</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a:t>
            </a:r>
            <a:r>
              <a:rPr lang="he-IL" sz="3000" b="1" i="0">
                <a:solidFill>
                  <a:srgbClr val="212121"/>
                </a:solidFill>
              </a:rPr>
              <a:t>שאלות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Oval 4"/>
          <p:cNvSpPr/>
          <p:nvPr/>
        </p:nvSpPr>
        <p:spPr>
          <a:xfrm>
            <a:off x="8412480" y="1386000"/>
            <a:ext cx="457200" cy="4572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6" name="TextBox 5"/>
          <p:cNvSpPr txBox="1"/>
          <p:nvPr/>
        </p:nvSpPr>
        <p:spPr>
          <a:xfrm>
            <a:off x="365760" y="1278000"/>
            <a:ext cx="7909560"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2200" b="0" i="0">
                <a:solidFill>
                  <a:srgbClr val="212121"/>
                </a:solidFill>
              </a:rPr>
              <a:t>מה ההבדל המרכזי בין צ׳אט לסוכן CLI?</a:t>
            </a:r>
          </a:p>
        </p:txBody>
      </p:sp>
      <p:sp>
        <p:nvSpPr>
          <p:cNvPr id="7" name="Oval 6"/>
          <p:cNvSpPr/>
          <p:nvPr/>
        </p:nvSpPr>
        <p:spPr>
          <a:xfrm>
            <a:off x="8412480" y="2124000"/>
            <a:ext cx="457200" cy="4572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8" name="TextBox 7"/>
          <p:cNvSpPr txBox="1"/>
          <p:nvPr/>
        </p:nvSpPr>
        <p:spPr>
          <a:xfrm>
            <a:off x="365760" y="2016000"/>
            <a:ext cx="7909560"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2200" b="0" i="0">
                <a:solidFill>
                  <a:srgbClr val="212121"/>
                </a:solidFill>
              </a:rPr>
              <a:t>למה אותו מודל יכול לתת תוצאה שונה בשני כלים?</a:t>
            </a:r>
          </a:p>
        </p:txBody>
      </p:sp>
      <p:sp>
        <p:nvSpPr>
          <p:cNvPr id="9" name="Oval 8"/>
          <p:cNvSpPr/>
          <p:nvPr/>
        </p:nvSpPr>
        <p:spPr>
          <a:xfrm>
            <a:off x="8412480" y="2862000"/>
            <a:ext cx="457200" cy="4572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0" name="TextBox 9"/>
          <p:cNvSpPr txBox="1"/>
          <p:nvPr/>
        </p:nvSpPr>
        <p:spPr>
          <a:xfrm>
            <a:off x="365760" y="2754000"/>
            <a:ext cx="7909560"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2200" b="0" i="0">
                <a:solidFill>
                  <a:srgbClr val="212121"/>
                </a:solidFill>
              </a:rPr>
              <a:t>מתי עדיף צ׳אט על פני סוכן?</a:t>
            </a:r>
          </a:p>
        </p:txBody>
      </p:sp>
      <p:sp>
        <p:nvSpPr>
          <p:cNvPr id="11" name="Oval 10"/>
          <p:cNvSpPr/>
          <p:nvPr/>
        </p:nvSpPr>
        <p:spPr>
          <a:xfrm>
            <a:off x="8412480" y="3600000"/>
            <a:ext cx="457200" cy="4572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4</a:t>
            </a:r>
          </a:p>
        </p:txBody>
      </p:sp>
      <p:sp>
        <p:nvSpPr>
          <p:cNvPr id="12" name="TextBox 11"/>
          <p:cNvSpPr txBox="1"/>
          <p:nvPr/>
        </p:nvSpPr>
        <p:spPr>
          <a:xfrm>
            <a:off x="365760" y="3492000"/>
            <a:ext cx="7909560"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2200" b="0" i="0">
                <a:solidFill>
                  <a:srgbClr val="212121"/>
                </a:solidFill>
              </a:rPr>
              <a:t>מהם חמשת הקריטריונים לבחירת כלי?</a:t>
            </a:r>
          </a:p>
        </p:txBody>
      </p:sp>
      <p:sp>
        <p:nvSpPr>
          <p:cNvPr id="13" name="Oval 10 b"/>
          <p:cNvSpPr/>
          <p:nvPr/>
        </p:nvSpPr>
        <p:spPr>
          <a:xfrm>
            <a:off x="8412480" y="4338000"/>
            <a:ext cx="457200" cy="457200"/>
          </a:xfrm>
          <a:prstGeom prst="ellipse">
            <a:avLst/>
          </a:prstGeom>
          <a:solidFill>
            <a:srgbClr val="4285F4"/>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5</a:t>
            </a:r>
          </a:p>
        </p:txBody>
      </p:sp>
      <p:sp>
        <p:nvSpPr>
          <p:cNvPr id="14" name="TextBox 11 b"/>
          <p:cNvSpPr txBox="1"/>
          <p:nvPr/>
        </p:nvSpPr>
        <p:spPr>
          <a:xfrm>
            <a:off x="365760" y="4230000"/>
            <a:ext cx="7909560"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2200" b="0" i="0">
                <a:solidFill>
                  <a:srgbClr val="212121"/>
                </a:solidFill>
              </a:rPr>
              <a:t>למה סינון בקוד אינו מספיק כשמחברים סוכן למסד נתונים?</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a:t>
            </a:r>
            <a:r>
              <a:rPr lang="he-IL" sz="3000" b="1" i="0">
                <a:solidFill>
                  <a:srgbClr val="212121"/>
                </a:solidFill>
              </a:rPr>
              <a:t>תשובות</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Oval 4"/>
          <p:cNvSpPr/>
          <p:nvPr/>
        </p:nvSpPr>
        <p:spPr>
          <a:xfrm>
            <a:off x="8412480" y="1386000"/>
            <a:ext cx="457200" cy="457200"/>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1</a:t>
            </a:r>
          </a:p>
        </p:txBody>
      </p:sp>
      <p:sp>
        <p:nvSpPr>
          <p:cNvPr id="6" name="TextBox 5"/>
          <p:cNvSpPr txBox="1"/>
          <p:nvPr/>
        </p:nvSpPr>
        <p:spPr>
          <a:xfrm>
            <a:off x="365760" y="1278000"/>
            <a:ext cx="7909560"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900" b="0" i="0">
                <a:solidFill>
                  <a:srgbClr val="212121"/>
                </a:solidFill>
              </a:rPr>
              <a:t>צ׳אט רואה רק מה שהדבקתם ולא מריץ. סוכן קורא את הפרויקט, מריץ ועורך.</a:t>
            </a:r>
          </a:p>
        </p:txBody>
      </p:sp>
      <p:sp>
        <p:nvSpPr>
          <p:cNvPr id="7" name="Oval 6"/>
          <p:cNvSpPr/>
          <p:nvPr/>
        </p:nvSpPr>
        <p:spPr>
          <a:xfrm>
            <a:off x="8412480" y="2124000"/>
            <a:ext cx="457200" cy="457200"/>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2</a:t>
            </a:r>
          </a:p>
        </p:txBody>
      </p:sp>
      <p:sp>
        <p:nvSpPr>
          <p:cNvPr id="8" name="TextBox 7"/>
          <p:cNvSpPr txBox="1"/>
          <p:nvPr/>
        </p:nvSpPr>
        <p:spPr>
          <a:xfrm>
            <a:off x="365760" y="2016000"/>
            <a:ext cx="7909560"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900" b="0" i="0">
                <a:solidFill>
                  <a:srgbClr val="212121"/>
                </a:solidFill>
              </a:rPr>
              <a:t>המעטפת קובעת מה נכנס להקשר, אילו כלים זמינים ואילו הוראות פעילות.</a:t>
            </a:r>
          </a:p>
        </p:txBody>
      </p:sp>
      <p:sp>
        <p:nvSpPr>
          <p:cNvPr id="9" name="Oval 8"/>
          <p:cNvSpPr/>
          <p:nvPr/>
        </p:nvSpPr>
        <p:spPr>
          <a:xfrm>
            <a:off x="8412480" y="2862000"/>
            <a:ext cx="457200" cy="457200"/>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3</a:t>
            </a:r>
          </a:p>
        </p:txBody>
      </p:sp>
      <p:sp>
        <p:nvSpPr>
          <p:cNvPr id="10" name="TextBox 9"/>
          <p:cNvSpPr txBox="1"/>
          <p:nvPr/>
        </p:nvSpPr>
        <p:spPr>
          <a:xfrm>
            <a:off x="365760" y="2754000"/>
            <a:ext cx="7909560"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900" b="0" i="0">
                <a:solidFill>
                  <a:srgbClr val="212121"/>
                </a:solidFill>
              </a:rPr>
              <a:t>משימה קטנה, הסבר או רעיון, או קוד שלא רוצים לחשוף לכל הפרויקט.</a:t>
            </a:r>
          </a:p>
        </p:txBody>
      </p:sp>
      <p:sp>
        <p:nvSpPr>
          <p:cNvPr id="11" name="Oval 10"/>
          <p:cNvSpPr/>
          <p:nvPr/>
        </p:nvSpPr>
        <p:spPr>
          <a:xfrm>
            <a:off x="8412480" y="3600000"/>
            <a:ext cx="457200" cy="457200"/>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4</a:t>
            </a:r>
          </a:p>
        </p:txBody>
      </p:sp>
      <p:sp>
        <p:nvSpPr>
          <p:cNvPr id="12" name="TextBox 11"/>
          <p:cNvSpPr txBox="1"/>
          <p:nvPr/>
        </p:nvSpPr>
        <p:spPr>
          <a:xfrm>
            <a:off x="365760" y="3492000"/>
            <a:ext cx="7909560"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900" b="0" i="0">
                <a:solidFill>
                  <a:srgbClr val="212121"/>
                </a:solidFill>
              </a:rPr>
              <a:t>גודל, הקשר, סיכון, פרטיות ועלות, שליטה.</a:t>
            </a:r>
          </a:p>
        </p:txBody>
      </p:sp>
      <p:sp>
        <p:nvSpPr>
          <p:cNvPr id="13" name="Oval 10 b"/>
          <p:cNvSpPr/>
          <p:nvPr/>
        </p:nvSpPr>
        <p:spPr>
          <a:xfrm>
            <a:off x="8412480" y="4338000"/>
            <a:ext cx="457200" cy="457200"/>
          </a:xfrm>
          <a:prstGeom prst="ellipse">
            <a:avLst/>
          </a:prstGeom>
          <a:solidFill>
            <a:srgbClr val="34A853"/>
          </a:solidFill>
          <a:ln>
            <a:noFill/>
          </a:ln>
        </p:spPr>
        <p:txBody>
          <a:bodyPr wrap="square" lIns="0" tIns="0" rIns="0" bIns="0" rtlCol="0" anchor="ctr">
            <a:noAutofit/>
          </a:bodyPr>
          <a:lstStyle/>
          <a:p>
            <a:pPr marL="0" indent="0" algn="ctr" rtl="1">
              <a:lnSpc>
                <a:spcPct val="105000"/>
              </a:lnSpc>
              <a:spcBef>
                <a:spcPts val="0"/>
              </a:spcBef>
              <a:spcAft>
                <a:spcPts val="0"/>
              </a:spcAft>
              <a:buNone/>
            </a:pPr>
            <a:r>
              <a:rPr lang="he-IL" sz="1800" b="1" i="0">
                <a:solidFill>
                  <a:srgbClr val="FFFFFF"/>
                </a:solidFill>
              </a:rPr>
              <a:t>5</a:t>
            </a:r>
          </a:p>
        </p:txBody>
      </p:sp>
      <p:sp>
        <p:nvSpPr>
          <p:cNvPr id="14" name="TextBox 11 b"/>
          <p:cNvSpPr txBox="1"/>
          <p:nvPr/>
        </p:nvSpPr>
        <p:spPr>
          <a:xfrm>
            <a:off x="365760" y="4230000"/>
            <a:ext cx="7909560" cy="68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900" b="0" i="0">
                <a:solidFill>
                  <a:srgbClr val="212121"/>
                </a:solidFill>
              </a:rPr>
              <a:t>אפשר לעקוף אותו. ההגנה החזקה היא הרשאה במסד עצמו: חשבון לקריאה בלבד.</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a:t>
            </a:r>
            <a:r>
              <a:rPr lang="he-IL" sz="3000" b="1" i="0">
                <a:solidFill>
                  <a:srgbClr val="212121"/>
                </a:solidFill>
              </a:rPr>
              <a:t>סיכום</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TextBox 4"/>
          <p:cNvSpPr txBox="1"/>
          <p:nvPr/>
        </p:nvSpPr>
        <p:spPr>
          <a:xfrm>
            <a:off x="365760" y="1371600"/>
            <a:ext cx="8412480" cy="3657600"/>
          </a:xfrm>
          <a:prstGeom prst="rect">
            <a:avLst/>
          </a:prstGeom>
          <a:noFill/>
        </p:spPr>
        <p:txBody>
          <a:bodyPr wrap="square" lIns="73152" tIns="73152" rIns="73152" bIns="73152" anchor="t">
            <a:noAutofit/>
          </a:bodyPr>
          <a:lstStyle/>
          <a:p>
            <a:pPr marL="347472" indent="-292608" algn="r" rtl="1">
              <a:lnSpc>
                <a:spcPct val="114999"/>
              </a:lnSpc>
              <a:spcBef>
                <a:spcPts val="0"/>
              </a:spcBef>
              <a:spcAft>
                <a:spcPts val="800"/>
              </a:spcAft>
              <a:buClr>
                <a:srgbClr val="212121"/>
              </a:buClr>
              <a:buSzPts val="1680"/>
              <a:buChar char="●"/>
            </a:pPr>
            <a:r>
              <a:rPr lang="he-IL" sz="1800" b="0" i="0">
                <a:solidFill>
                  <a:srgbClr val="212121"/>
                </a:solidFill>
              </a:rPr>
              <a:t>שלוש משפחות כלים: צ׳אט, עוזר בעורך, סוכן CLI. כל אחת רואה ועושה דברים אחרים.</a:t>
            </a:r>
          </a:p>
          <a:p>
            <a:pPr marL="347472" indent="-292608" algn="r" rtl="1">
              <a:lnSpc>
                <a:spcPct val="114999"/>
              </a:lnSpc>
              <a:spcBef>
                <a:spcPts val="0"/>
              </a:spcBef>
              <a:spcAft>
                <a:spcPts val="800"/>
              </a:spcAft>
              <a:buClr>
                <a:srgbClr val="212121"/>
              </a:buClr>
              <a:buSzPts val="1680"/>
              <a:buChar char="●"/>
            </a:pPr>
            <a:r>
              <a:rPr lang="he-IL" sz="1800" b="0" i="0">
                <a:solidFill>
                  <a:srgbClr val="212121"/>
                </a:solidFill>
              </a:rPr>
              <a:t>כלי = מודל + מעטפת. ההבדלים בין כלים הם לעיתים במעטפת.</a:t>
            </a:r>
          </a:p>
          <a:p>
            <a:pPr marL="347472" indent="-292608" algn="r" rtl="1">
              <a:lnSpc>
                <a:spcPct val="114999"/>
              </a:lnSpc>
              <a:spcBef>
                <a:spcPts val="0"/>
              </a:spcBef>
              <a:spcAft>
                <a:spcPts val="800"/>
              </a:spcAft>
              <a:buClr>
                <a:srgbClr val="212121"/>
              </a:buClr>
              <a:buSzPts val="1680"/>
              <a:buChar char="●"/>
            </a:pPr>
            <a:r>
              <a:rPr lang="he-IL" sz="1800" b="0" i="0">
                <a:solidFill>
                  <a:srgbClr val="212121"/>
                </a:solidFill>
              </a:rPr>
              <a:t>יותר כוח לכלי = יותר אחריות לכם לבדוק. סוכן דורש גיבוי.</a:t>
            </a:r>
          </a:p>
          <a:p>
            <a:pPr marL="347472" indent="-292608" algn="r" rtl="1">
              <a:lnSpc>
                <a:spcPct val="114999"/>
              </a:lnSpc>
              <a:spcBef>
                <a:spcPts val="0"/>
              </a:spcBef>
              <a:spcAft>
                <a:spcPts val="800"/>
              </a:spcAft>
              <a:buClr>
                <a:srgbClr val="212121"/>
              </a:buClr>
              <a:buSzPts val="1680"/>
              <a:buChar char="●"/>
            </a:pPr>
            <a:r>
              <a:rPr lang="he-IL" sz="1800" b="0" i="0">
                <a:solidFill>
                  <a:srgbClr val="212121"/>
                </a:solidFill>
              </a:rPr>
              <a:t>בוחרים לפי חמישה קריטריונים: גודל, הקשר, סיכון, פרטיות ועלות, שליטה.</a:t>
            </a:r>
          </a:p>
          <a:p>
            <a:pPr marL="347472" indent="-292608" algn="r" rtl="1">
              <a:lnSpc>
                <a:spcPct val="114999"/>
              </a:lnSpc>
              <a:spcBef>
                <a:spcPts val="0"/>
              </a:spcBef>
              <a:spcAft>
                <a:spcPts val="800"/>
              </a:spcAft>
              <a:buClr>
                <a:srgbClr val="212121"/>
              </a:buClr>
              <a:buSzPts val="1680"/>
              <a:buChar char="●"/>
            </a:pPr>
            <a:r>
              <a:rPr lang="he-IL" sz="1800" b="0" i="0">
                <a:solidFill>
                  <a:srgbClr val="212121"/>
                </a:solidFill>
              </a:rPr>
              <a:t>MCP מחבר סוכן לנתונים חיים. ההגנה האמיתית היא הרשאה במסד, לא רק פרומפט.</a:t>
            </a:r>
          </a:p>
          <a:p>
            <a:pPr marL="347472" indent="-292608" algn="r" rtl="1">
              <a:lnSpc>
                <a:spcPct val="114999"/>
              </a:lnSpc>
              <a:spcBef>
                <a:spcPts val="0"/>
              </a:spcBef>
              <a:spcAft>
                <a:spcPts val="800"/>
              </a:spcAft>
              <a:buClr>
                <a:srgbClr val="212121"/>
              </a:buClr>
              <a:buSzPts val="1680"/>
              <a:buChar char="●"/>
            </a:pPr>
            <a:r>
              <a:rPr lang="he-IL" sz="1800" b="0" i="0">
                <a:solidFill>
                  <a:srgbClr val="212121"/>
                </a:solidFill>
              </a:rPr>
              <a:t>כלים מתחלפים. תהליך העבודה נשאר.</a:t>
            </a:r>
          </a:p>
          <a:p>
            <a:pPr marL="347472" indent="-292608" algn="r" rtl="1">
              <a:lnSpc>
                <a:spcPct val="114999"/>
              </a:lnSpc>
              <a:spcBef>
                <a:spcPts val="0"/>
              </a:spcBef>
              <a:spcAft>
                <a:spcPts val="800"/>
              </a:spcAft>
              <a:buClr>
                <a:srgbClr val="212121"/>
              </a:buClr>
              <a:buSzPts val="1680"/>
              <a:buChar char="●"/>
            </a:pPr>
            <a:r>
              <a:rPr lang="he-IL" sz="1800" b="0" i="0">
                <a:solidFill>
                  <a:srgbClr val="212121"/>
                </a:solidFill>
              </a:rPr>
              <a:t>הכלל של היום נוסף לשרשרת: בודקים (1), ההקשר מוגבל (2), ועכשיו גם בוחרים כלי לפי משימה וסיכון.</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896" y="128016"/>
            <a:ext cx="8522208" cy="594360"/>
          </a:xfrm>
        </p:spPr>
        <p:txBody>
          <a:bodyPr wrap="square" lIns="91440" tIns="91440" rIns="91440" bIns="91440" anchor="t">
            <a:noAutofit/>
          </a:bodyPr>
          <a:lstStyle/>
          <a:p>
            <a:pPr marL="0" indent="0" algn="ctr" rtl="0">
              <a:lnSpc>
                <a:spcPct val="100000"/>
              </a:lnSpc>
              <a:spcBef>
                <a:spcPts val="0"/>
              </a:spcBef>
              <a:spcAft>
                <a:spcPts val="0"/>
              </a:spcAft>
              <a:buNone/>
            </a:pPr>
            <a:r>
              <a:rPr lang="he-IL" sz="3000" b="0" i="0">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tIns="91440" rIns="91440" bIns="91440" anchor="t">
            <a:noAutofit/>
          </a:bodyPr>
          <a:lstStyle/>
          <a:p>
            <a:pPr marL="0" indent="0" algn="ctr" rtl="1">
              <a:lnSpc>
                <a:spcPct val="100000"/>
              </a:lnSpc>
              <a:spcBef>
                <a:spcPts val="0"/>
              </a:spcBef>
              <a:spcAft>
                <a:spcPts val="0"/>
              </a:spcAft>
              <a:buNone/>
            </a:pPr>
            <a:r>
              <a:rPr lang="he-IL" sz="3000" b="0" i="0">
                <a:solidFill>
                  <a:srgbClr val="212121"/>
                </a:solidFill>
              </a:rPr>
              <a:t> שיעור 5 :</a:t>
            </a:r>
            <a:r>
              <a:rPr lang="he-IL" sz="3000" b="1" i="0">
                <a:solidFill>
                  <a:srgbClr val="212121"/>
                </a:solidFill>
              </a:rPr>
              <a:t>הכנה למפגש הבא</a:t>
            </a:r>
          </a:p>
        </p:txBody>
      </p:sp>
      <p:sp>
        <p:nvSpPr>
          <p:cNvPr id="4" name="TextBox 3"/>
          <p:cNvSpPr txBox="1"/>
          <p:nvPr/>
        </p:nvSpPr>
        <p:spPr>
          <a:xfrm>
            <a:off x="6804000" y="36576"/>
            <a:ext cx="2304000" cy="365760"/>
          </a:xfrm>
          <a:prstGeom prst="rect">
            <a:avLst/>
          </a:prstGeom>
          <a:noFill/>
        </p:spPr>
        <p:txBody>
          <a:bodyPr wrap="square" lIns="36576" tIns="36576" rIns="36576" bIns="36576" anchor="t">
            <a:noAutofit/>
          </a:bodyPr>
          <a:lstStyle/>
          <a:p>
            <a:pPr marL="0" indent="0" algn="ctr" rtl="1">
              <a:lnSpc>
                <a:spcPct val="110000"/>
              </a:lnSpc>
              <a:spcBef>
                <a:spcPts val="0"/>
              </a:spcBef>
              <a:spcAft>
                <a:spcPts val="0"/>
              </a:spcAft>
              <a:buNone/>
            </a:pPr>
            <a:r>
              <a:rPr lang="he-IL" sz="1200" b="0" i="0">
                <a:solidFill>
                  <a:srgbClr val="212121"/>
                </a:solidFill>
              </a:rPr>
              <a:t>ד״ר ולד לנדא</a:t>
            </a:r>
          </a:p>
          <a:p>
            <a:pPr marL="0" indent="0" algn="ctr" rtl="1">
              <a:lnSpc>
                <a:spcPct val="110000"/>
              </a:lnSpc>
              <a:spcBef>
                <a:spcPts val="0"/>
              </a:spcBef>
              <a:spcAft>
                <a:spcPts val="0"/>
              </a:spcAft>
              <a:buNone/>
            </a:pPr>
            <a:r>
              <a:rPr lang="he-IL" sz="1200" b="0" i="0">
                <a:solidFill>
                  <a:srgbClr val="212121"/>
                </a:solidFill>
              </a:rPr>
              <a:t>וד״ר רן דובין</a:t>
            </a:r>
          </a:p>
        </p:txBody>
      </p:sp>
      <p:sp>
        <p:nvSpPr>
          <p:cNvPr id="5" name="Rounded Rectangle 4"/>
          <p:cNvSpPr/>
          <p:nvPr/>
        </p:nvSpPr>
        <p:spPr>
          <a:xfrm>
            <a:off x="365760" y="1417320"/>
            <a:ext cx="8412480" cy="1044000"/>
          </a:xfrm>
          <a:prstGeom prst="roundRect">
            <a:avLst>
              <a:gd name="adj" fmla="val 10000"/>
            </a:avLst>
          </a:prstGeom>
          <a:solidFill>
            <a:srgbClr val="E1F4E6"/>
          </a:solidFill>
          <a:ln w="19050">
            <a:solidFill>
              <a:srgbClr val="34A853"/>
            </a:solidFill>
          </a:ln>
        </p:spPr>
        <p:txBody>
          <a:bodyPr wrap="square" lIns="73152" tIns="73152" rIns="73152" bIns="73152" rtlCol="0" anchor="ctr">
            <a:noAutofit/>
          </a:bodyPr>
          <a:lstStyle/>
          <a:p>
            <a:pPr algn="ctr"/>
            <a:endParaRPr/>
          </a:p>
        </p:txBody>
      </p:sp>
      <p:sp>
        <p:nvSpPr>
          <p:cNvPr id="6" name="TextBox 5"/>
          <p:cNvSpPr txBox="1"/>
          <p:nvPr/>
        </p:nvSpPr>
        <p:spPr>
          <a:xfrm>
            <a:off x="7772400" y="1417320"/>
            <a:ext cx="914400" cy="104400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400" b="0" i="0">
                <a:solidFill>
                  <a:srgbClr val="212121"/>
                </a:solidFill>
              </a:rPr>
              <a:t>🎬</a:t>
            </a:r>
          </a:p>
        </p:txBody>
      </p:sp>
      <p:sp>
        <p:nvSpPr>
          <p:cNvPr id="7" name="TextBox 6"/>
          <p:cNvSpPr txBox="1"/>
          <p:nvPr/>
        </p:nvSpPr>
        <p:spPr>
          <a:xfrm>
            <a:off x="457200" y="1417320"/>
            <a:ext cx="7315200" cy="104400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600" b="1" i="0">
                <a:solidFill>
                  <a:srgbClr val="212121"/>
                </a:solidFill>
              </a:rPr>
              <a:t>לצפות בסרטון Git לפני המפגש הבא (בחרו אחד):</a:t>
            </a:r>
          </a:p>
          <a:p>
            <a:pPr marL="0" indent="0" algn="r" rtl="1">
              <a:lnSpc>
                <a:spcPct val="110000"/>
              </a:lnSpc>
              <a:spcBef>
                <a:spcPts val="0"/>
              </a:spcBef>
              <a:spcAft>
                <a:spcPts val="0"/>
              </a:spcAft>
              <a:buNone/>
            </a:pPr>
            <a:r>
              <a:rPr lang="he-IL" sz="1400" b="0" i="0">
                <a:solidFill>
                  <a:srgbClr val="212121"/>
                </a:solidFill>
              </a:rPr>
              <a:t>באנגלית, 9 דקות (GitHub): </a:t>
            </a:r>
            <a:r>
              <a:rPr lang="en-US" sz="1400" b="0">
                <a:hlinkClick r:id="rId3"/>
              </a:rPr>
              <a:t>youtu.be/r8jQ9hVA2qs</a:t>
            </a:r>
          </a:p>
          <a:p>
            <a:pPr marL="0" indent="0" algn="r" rtl="1">
              <a:lnSpc>
                <a:spcPct val="110000"/>
              </a:lnSpc>
              <a:spcBef>
                <a:spcPts val="0"/>
              </a:spcBef>
              <a:spcAft>
                <a:spcPts val="0"/>
              </a:spcAft>
              <a:buNone/>
            </a:pPr>
            <a:r>
              <a:rPr lang="he-IL" sz="1400" b="0" i="0">
                <a:solidFill>
                  <a:srgbClr val="212121"/>
                </a:solidFill>
              </a:rPr>
              <a:t>בעברית, 20 דקות (עידן והבינה): </a:t>
            </a:r>
            <a:r>
              <a:rPr lang="en-US" sz="1400" b="0">
                <a:hlinkClick r:id="rId4"/>
              </a:rPr>
              <a:t>youtu.be/7L9VP1E5CU4</a:t>
            </a:r>
          </a:p>
          <a:p>
            <a:pPr marL="0" indent="0" algn="r" rtl="1">
              <a:lnSpc>
                <a:spcPct val="110000"/>
              </a:lnSpc>
              <a:spcBef>
                <a:spcPts val="0"/>
              </a:spcBef>
              <a:spcAft>
                <a:spcPts val="0"/>
              </a:spcAft>
              <a:buNone/>
            </a:pPr>
            <a:r>
              <a:rPr lang="he-IL" sz="1400" b="0" i="0">
                <a:solidFill>
                  <a:srgbClr val="212121"/>
                </a:solidFill>
              </a:rPr>
              <a:t>להעמקה, 3 דקות (KodeKloud): Git worktrees: </a:t>
            </a:r>
            <a:r>
              <a:rPr lang="en-US" sz="1400" b="0">
                <a:hlinkClick r:id="rId5"/>
              </a:rPr>
              <a:t>youtu.be/efVKPUr9D1A</a:t>
            </a:r>
          </a:p>
        </p:txBody>
      </p:sp>
      <p:sp>
        <p:nvSpPr>
          <p:cNvPr id="8" name="Rounded Rectangle 7"/>
          <p:cNvSpPr/>
          <p:nvPr/>
        </p:nvSpPr>
        <p:spPr>
          <a:xfrm>
            <a:off x="365760" y="2590560"/>
            <a:ext cx="8412480" cy="640080"/>
          </a:xfrm>
          <a:prstGeom prst="roundRect">
            <a:avLst>
              <a:gd name="adj" fmla="val 10000"/>
            </a:avLst>
          </a:prstGeom>
          <a:solidFill>
            <a:srgbClr val="E1F4E6"/>
          </a:solidFill>
          <a:ln w="19050">
            <a:solidFill>
              <a:srgbClr val="34A853"/>
            </a:solidFill>
          </a:ln>
        </p:spPr>
        <p:txBody>
          <a:bodyPr wrap="square" lIns="73152" tIns="73152" rIns="73152" bIns="73152" rtlCol="0" anchor="ctr">
            <a:noAutofit/>
          </a:bodyPr>
          <a:lstStyle/>
          <a:p>
            <a:pPr algn="ctr"/>
            <a:endParaRPr/>
          </a:p>
        </p:txBody>
      </p:sp>
      <p:sp>
        <p:nvSpPr>
          <p:cNvPr id="9" name="TextBox 8"/>
          <p:cNvSpPr txBox="1"/>
          <p:nvPr/>
        </p:nvSpPr>
        <p:spPr>
          <a:xfrm>
            <a:off x="7772400" y="2590560"/>
            <a:ext cx="914400" cy="64008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400" b="0" i="0">
                <a:solidFill>
                  <a:srgbClr val="212121"/>
                </a:solidFill>
              </a:rPr>
              <a:t>🔑</a:t>
            </a:r>
          </a:p>
        </p:txBody>
      </p:sp>
      <p:sp>
        <p:nvSpPr>
          <p:cNvPr id="10" name="TextBox 9"/>
          <p:cNvSpPr txBox="1"/>
          <p:nvPr/>
        </p:nvSpPr>
        <p:spPr>
          <a:xfrm>
            <a:off x="457200" y="2590560"/>
            <a:ext cx="7315200" cy="64008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900" b="0" i="0">
                <a:solidFill>
                  <a:srgbClr val="212121"/>
                </a:solidFill>
              </a:rPr>
              <a:t>לוודא שחשבון GitHub פעיל ושהמאגר הקבוצתי קיים</a:t>
            </a:r>
          </a:p>
        </p:txBody>
      </p:sp>
      <p:sp>
        <p:nvSpPr>
          <p:cNvPr id="11" name="Rounded Rectangle 10"/>
          <p:cNvSpPr/>
          <p:nvPr/>
        </p:nvSpPr>
        <p:spPr>
          <a:xfrm>
            <a:off x="365760" y="3367800"/>
            <a:ext cx="8412480" cy="640080"/>
          </a:xfrm>
          <a:prstGeom prst="roundRect">
            <a:avLst>
              <a:gd name="adj" fmla="val 10000"/>
            </a:avLst>
          </a:prstGeom>
          <a:solidFill>
            <a:srgbClr val="E1F4E6"/>
          </a:solidFill>
          <a:ln w="19050">
            <a:solidFill>
              <a:srgbClr val="34A853"/>
            </a:solidFill>
          </a:ln>
        </p:spPr>
        <p:txBody>
          <a:bodyPr wrap="square" lIns="73152" tIns="73152" rIns="73152" bIns="73152" rtlCol="0" anchor="ctr">
            <a:noAutofit/>
          </a:bodyPr>
          <a:lstStyle/>
          <a:p>
            <a:pPr algn="ctr"/>
            <a:endParaRPr/>
          </a:p>
        </p:txBody>
      </p:sp>
      <p:sp>
        <p:nvSpPr>
          <p:cNvPr id="12" name="TextBox 11"/>
          <p:cNvSpPr txBox="1"/>
          <p:nvPr/>
        </p:nvSpPr>
        <p:spPr>
          <a:xfrm>
            <a:off x="7772400" y="3367800"/>
            <a:ext cx="914400" cy="640080"/>
          </a:xfrm>
          <a:prstGeom prst="rect">
            <a:avLst/>
          </a:prstGeom>
          <a:noFill/>
        </p:spPr>
        <p:txBody>
          <a:bodyPr wrap="square" lIns="73152" tIns="73152" rIns="73152" bIns="73152" anchor="ctr">
            <a:noAutofit/>
          </a:bodyPr>
          <a:lstStyle/>
          <a:p>
            <a:pPr marL="0" indent="0" algn="ctr" rtl="1">
              <a:lnSpc>
                <a:spcPct val="110000"/>
              </a:lnSpc>
              <a:spcBef>
                <a:spcPts val="0"/>
              </a:spcBef>
              <a:spcAft>
                <a:spcPts val="0"/>
              </a:spcAft>
              <a:buNone/>
            </a:pPr>
            <a:r>
              <a:rPr lang="he-IL" sz="2400" b="0" i="0">
                <a:solidFill>
                  <a:srgbClr val="212121"/>
                </a:solidFill>
              </a:rPr>
              <a:t>💻</a:t>
            </a:r>
          </a:p>
        </p:txBody>
      </p:sp>
      <p:sp>
        <p:nvSpPr>
          <p:cNvPr id="13" name="TextBox 12"/>
          <p:cNvSpPr txBox="1"/>
          <p:nvPr/>
        </p:nvSpPr>
        <p:spPr>
          <a:xfrm>
            <a:off x="457200" y="3367800"/>
            <a:ext cx="7315200" cy="640080"/>
          </a:xfrm>
          <a:prstGeom prst="rect">
            <a:avLst/>
          </a:prstGeom>
          <a:noFill/>
        </p:spPr>
        <p:txBody>
          <a:bodyPr wrap="square" lIns="73152" tIns="73152" rIns="73152" bIns="73152" anchor="ctr">
            <a:noAutofit/>
          </a:bodyPr>
          <a:lstStyle/>
          <a:p>
            <a:pPr marL="0" indent="0" algn="r" rtl="1">
              <a:lnSpc>
                <a:spcPct val="110000"/>
              </a:lnSpc>
              <a:spcBef>
                <a:spcPts val="0"/>
              </a:spcBef>
              <a:spcAft>
                <a:spcPts val="0"/>
              </a:spcAft>
              <a:buNone/>
            </a:pPr>
            <a:r>
              <a:rPr lang="he-IL" sz="1900" b="0" i="0">
                <a:solidFill>
                  <a:srgbClr val="212121"/>
                </a:solidFill>
              </a:rPr>
              <a:t>להגיע עם מחשב טעון, ועם חשבון Google שנכנס ל־Colab</a:t>
            </a:r>
          </a:p>
        </p:txBody>
      </p:sp>
      <p:sp>
        <p:nvSpPr>
          <p:cNvPr id="14" name="Rounded Rectangle 13"/>
          <p:cNvSpPr/>
          <p:nvPr/>
        </p:nvSpPr>
        <p:spPr>
          <a:xfrm>
            <a:off x="365760" y="4236480"/>
            <a:ext cx="8412480" cy="756000"/>
          </a:xfrm>
          <a:prstGeom prst="roundRect">
            <a:avLst>
              <a:gd name="adj" fmla="val 12000"/>
            </a:avLst>
          </a:prstGeom>
          <a:solidFill>
            <a:srgbClr val="E3EEFF"/>
          </a:solidFill>
          <a:ln w="19050">
            <a:solidFill>
              <a:srgbClr val="4285F4"/>
            </a:solidFill>
          </a:ln>
        </p:spPr>
        <p:txBody>
          <a:bodyPr wrap="square" lIns="73152" tIns="73152" rIns="73152" bIns="73152" rtlCol="0" anchor="ctr">
            <a:noAutofit/>
          </a:bodyPr>
          <a:lstStyle/>
          <a:p>
            <a:pPr marL="0" indent="0" algn="ctr" rtl="1">
              <a:lnSpc>
                <a:spcPct val="105000"/>
              </a:lnSpc>
              <a:spcBef>
                <a:spcPts val="0"/>
              </a:spcBef>
              <a:spcAft>
                <a:spcPts val="0"/>
              </a:spcAft>
              <a:buNone/>
            </a:pPr>
            <a:r>
              <a:rPr lang="he-IL" sz="2000" b="1" i="0">
                <a:solidFill>
                  <a:srgbClr val="212121"/>
                </a:solidFill>
              </a:rPr>
              <a:t>בשיעור הבא: בוחן אמצע (מפגשים 1‎–‎5), ואחריו תכנות אג׳נטי ו־Git.</a:t>
            </a:r>
          </a:p>
          <a:p>
            <a:pPr marL="0" indent="0" algn="ctr" rtl="1">
              <a:lnSpc>
                <a:spcPct val="105000"/>
              </a:lnSpc>
              <a:spcBef>
                <a:spcPts val="0"/>
              </a:spcBef>
              <a:spcAft>
                <a:spcPts val="0"/>
              </a:spcAft>
              <a:buNone/>
            </a:pPr>
            <a:r>
              <a:rPr lang="he-IL" sz="1600" b="0" i="0">
                <a:solidFill>
                  <a:srgbClr val="595959"/>
                </a:solidFill>
              </a:rPr>
              <a:t>הלולאה שמאחורי הסוכן, ושמירת גרסאות של הקוד.</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31523</Words>
  <Application>Microsoft Macintosh PowerPoint</Application>
  <PresentationFormat>On-screen Show (16:9)</PresentationFormat>
  <Paragraphs>3142</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Courier New</vt:lpstr>
      <vt:lpstr>Arial</vt:lpstr>
      <vt:lpstr>Simple Light</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lpstr>Vibe Coding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רן דובין/Ran Dubin</cp:lastModifiedBy>
  <cp:revision>3</cp:revision>
  <dcterms:modified xsi:type="dcterms:W3CDTF">2026-10-23T06:31:26Z</dcterms:modified>
</cp:coreProperties>
</file>