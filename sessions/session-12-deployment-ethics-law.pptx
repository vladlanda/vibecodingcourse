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11"/>
    <p:sldId id="257" r:id="rId12"/>
    <p:sldId id="258" r:id="rId13"/>
    <p:sldId id="322" r:id="rId74"/>
    <p:sldId id="323" r:id="rId75"/>
    <p:sldId id="259" r:id="rId14"/>
    <p:sldId id="260" r:id="rId15"/>
    <p:sldId id="261" r:id="rId16"/>
    <p:sldId id="262" r:id="rId17"/>
    <p:sldId id="263" r:id="rId18"/>
    <p:sldId id="264" r:id="rId19"/>
    <p:sldId id="265" r:id="rId20"/>
    <p:sldId id="266" r:id="rId21"/>
    <p:sldId id="267" r:id="rId22"/>
    <p:sldId id="324" r:id="rId76"/>
    <p:sldId id="268" r:id="rId23"/>
    <p:sldId id="309" r:id="rId64"/>
    <p:sldId id="310" r:id="rId65"/>
    <p:sldId id="269" r:id="rId24"/>
    <p:sldId id="270" r:id="rId25"/>
    <p:sldId id="271" r:id="rId26"/>
    <p:sldId id="272" r:id="rId27"/>
    <p:sldId id="274" r:id="rId29"/>
    <p:sldId id="275" r:id="rId30"/>
    <p:sldId id="276" r:id="rId31"/>
    <p:sldId id="277" r:id="rId32"/>
    <p:sldId id="278" r:id="rId33"/>
    <p:sldId id="279" r:id="rId34"/>
    <p:sldId id="280" r:id="rId35"/>
    <p:sldId id="325" r:id="rId77"/>
    <p:sldId id="281" r:id="rId36"/>
    <p:sldId id="311" r:id="rId66"/>
    <p:sldId id="282" r:id="rId37"/>
    <p:sldId id="314"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326" r:id="rId78"/>
    <p:sldId id="299" r:id="rId54"/>
    <p:sldId id="312" r:id="rId67"/>
    <p:sldId id="301" r:id="rId56"/>
    <p:sldId id="302" r:id="rId10"/>
    <p:sldId id="300" r:id="rId55"/>
    <p:sldId id="315" r:id="rId28"/>
    <p:sldId id="316" r:id="rId9"/>
    <p:sldId id="317" r:id="rId69"/>
    <p:sldId id="318" r:id="rId70"/>
    <p:sldId id="319" r:id="rId71"/>
    <p:sldId id="320" r:id="rId72"/>
    <p:sldId id="321" r:id="rId73"/>
    <p:sldId id="304" r:id="rId8"/>
    <p:sldId id="305" r:id="rId7"/>
    <p:sldId id="306" r:id="rId61"/>
    <p:sldId id="307" r:id="rId62"/>
    <p:sldId id="313" r:id="rId68"/>
    <p:sldId id="308" r:id="rId63"/>
  </p:sldIdLst>
  <p:sldSz cy="5143500" cx="9144000"/>
  <p:notesSz cx="6858000" cy="9144000"/>
  <p:embeddedFontLst>
    <p:embeddedFont>
      <p:font typeface="Roboto Mono"/>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DD8FB8-E6A7-485A-9FB0-3124AB043D13}">
  <a:tblStyle styleId="{E9DD8FB8-E6A7-485A-9FB0-3124AB043D1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64.xml"/><Relationship Id="rId8" Type="http://schemas.openxmlformats.org/officeDocument/2006/relationships/slide" Target="slides/slide63.xml"/><Relationship Id="rId9" Type="http://schemas.openxmlformats.org/officeDocument/2006/relationships/slide" Target="slides/slide57.xml"/><Relationship Id="rId10" Type="http://schemas.openxmlformats.org/officeDocument/2006/relationships/slide" Target="slides/slide54.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6.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56.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1.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1.xml"/><Relationship Id="rId55" Type="http://schemas.openxmlformats.org/officeDocument/2006/relationships/slide" Target="slides/slide55.xml"/><Relationship Id="rId56" Type="http://schemas.openxmlformats.org/officeDocument/2006/relationships/slide" Target="slides/slide53.xml"/><Relationship Id="rId57" Type="http://schemas.openxmlformats.org/officeDocument/2006/relationships/font" Target="fonts/RobotoMono-regular.fntdata"/><Relationship Id="rId58" Type="http://schemas.openxmlformats.org/officeDocument/2006/relationships/font" Target="fonts/RobotoMono-bold.fntdata"/><Relationship Id="rId59" Type="http://schemas.openxmlformats.org/officeDocument/2006/relationships/font" Target="fonts/RobotoMono-italic.fntdata"/><Relationship Id="rId60" Type="http://schemas.openxmlformats.org/officeDocument/2006/relationships/font" Target="fonts/RobotoMono-boldItalic.fntdata"/><Relationship Id="rId61" Type="http://schemas.openxmlformats.org/officeDocument/2006/relationships/slide" Target="slides/slide65.xml"/><Relationship Id="rId62" Type="http://schemas.openxmlformats.org/officeDocument/2006/relationships/slide" Target="slides/slide66.xml"/><Relationship Id="rId63" Type="http://schemas.openxmlformats.org/officeDocument/2006/relationships/slide" Target="slides/slide68.xml"/><Relationship Id="rId64" Type="http://schemas.openxmlformats.org/officeDocument/2006/relationships/slide" Target="slides/slide17.xml"/><Relationship Id="rId65" Type="http://schemas.openxmlformats.org/officeDocument/2006/relationships/slide" Target="slides/slide18.xml"/><Relationship Id="rId66" Type="http://schemas.openxmlformats.org/officeDocument/2006/relationships/slide" Target="slides/slide32.xml"/><Relationship Id="rId67" Type="http://schemas.openxmlformats.org/officeDocument/2006/relationships/slide" Target="slides/slide52.xml"/><Relationship Id="rId68" Type="http://schemas.openxmlformats.org/officeDocument/2006/relationships/slide" Target="slides/slide6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4.xml"/><Relationship Id="rId75" Type="http://schemas.openxmlformats.org/officeDocument/2006/relationships/slide" Target="slides/slide5.xml"/><Relationship Id="rId76" Type="http://schemas.openxmlformats.org/officeDocument/2006/relationships/slide" Target="slides/slide15.xml"/><Relationship Id="rId77" Type="http://schemas.openxmlformats.org/officeDocument/2006/relationships/slide" Target="slides/slide30.xml"/><Relationship Id="rId7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פתיחה (6 דקות בסך הכול, כולל מטרות, מפה ושני שקפי החיבור; שקף זה כ־2 דקות).</a:t>
            </a:r>
          </a:p>
          <a:p>
            <a:pPr rtl="1" algn="r" marL="0" indent="0">
              <a:buNone/>
            </a:pPr>
            <a:r>
              <a:rPr b="1" sz="1200" lang="he-IL"/>
              <a:t>מה אומרים</a:t>
            </a:r>
          </a:p>
          <a:p>
            <a:pPr rtl="1" algn="r" marL="0" indent="0">
              <a:buNone/>
            </a:pPr>
            <a:r>
              <a:rPr sz="1200" lang="he-IL"/>
              <a:t>•  נקודת המוצא: הפרויקט עובד אצלכם, ובעוד שבוע הוא יוצג וייפתח לאחרים.</a:t>
            </a:r>
          </a:p>
          <a:p>
            <a:pPr rtl="1" algn="r" marL="0" indent="0">
              <a:buNone/>
            </a:pPr>
            <a:r>
              <a:rPr sz="1200" lang="he-IL"/>
              <a:t>•  שני דברים משתנים כשמשחררים: צריך להפעיל אותו במקום אמיתי (פריסה), ואתם נושאים באחריות למה שהוא עושה לאנשים אחרים (משפט ואתיקה).</a:t>
            </a:r>
          </a:p>
          <a:p>
            <a:pPr rtl="1" algn="r" marL="0" indent="0">
              <a:buNone/>
            </a:pPr>
            <a:r>
              <a:rPr b="1" sz="1200" lang="he-IL"/>
              <a:t>שאלה לכיתה</a:t>
            </a:r>
          </a:p>
          <a:p>
            <a:pPr rtl="1" algn="r" marL="0" indent="0">
              <a:buNone/>
            </a:pPr>
            <a:r>
              <a:rPr sz="1200" lang="he-IL"/>
              <a:t>•  מה יכול להשתבש ברגע שמישהו אחר משתמש בפרויקט שלכם?</a:t>
            </a:r>
          </a:p>
          <a:p>
            <a:pPr rtl="1" algn="r" marL="0" indent="0">
              <a:buNone/>
            </a:pPr>
            <a:r>
              <a:rPr sz="1200" lang="he-IL"/>
              <a:t>•  אספו 3-4 תשובות על הלוח, וחזרו אליהן בסוף.</a:t>
            </a:r>
          </a:p>
          <a:p>
            <a:pPr rtl="1" algn="r" marL="0" indent="0">
              <a:buNone/>
            </a:pPr>
            <a:r>
              <a:rPr sz="1200" lang="he-IL"/>
              <a:t>•  המקרה של Air Canada הוא מקרה אמיתי ומתועד: ב־14 בפברואר 2024 בית דין מקוון בבריטיש קולומביה שבקנדה (Civil Resolution Tribunal, Moffatt נ' Air Canada, 2024 BCCRT 149) קבע שהחברה אחראית למידע שהצ'אטבוט באתר שלה נתן ללקוח, וחייב אותה בסכום כולל של 812.02 דולר קנדי.</a:t>
            </a:r>
          </a:p>
          <a:p>
            <a:pPr rtl="1" algn="r" marL="0" indent="0">
              <a:buNone/>
            </a:pPr>
            <a:r>
              <a:rPr sz="1200" lang="he-IL"/>
              <a:t>•  זה פסק של ערכאה קטנה, ולכן הוא ממחיש כיוון ואינו כלל משפטי כללי; הפרטים בחלק ג׳.</a:t>
            </a:r>
          </a:p>
          <a:p>
            <a:pPr rtl="1" algn="r" marL="0" indent="0">
              <a:buNone/>
            </a:pPr>
            <a:r>
              <a:rPr sz="1200" lang="he-IL"/>
              <a:t>•  חשוב לומר כבר עכשיו: חלקים ג׳ וד׳ עוסקים במשפט ואינם ייעוץ משפטי.</a:t>
            </a:r>
          </a:p>
          <a:p>
            <a:pPr rtl="1" algn="r" marL="0" indent="0">
              <a:buNone/>
            </a:pPr>
            <a:r>
              <a:rPr sz="1200" lang="he-IL"/>
              <a:t>•  כל עובדה משפטית בהם נבדקה מול מקור ומסומנת בתאריך הבדיקה: 22.10.2026.</a:t>
            </a:r>
          </a:p>
          <a:p>
            <a:pPr rtl="1" algn="r" marL="0" indent="0">
              <a:buNone/>
            </a:pPr>
            <a:r>
              <a:rPr sz="1200" lang="he-IL"/>
              <a:t>•  חיבור למפגשים הקודמים: שאלת הפתיחה נשענת על מה שבנינו עד כה.</a:t>
            </a:r>
          </a:p>
          <a:p>
            <a:pPr rtl="1" algn="r" marL="0" indent="0">
              <a:buNone/>
            </a:pPr>
            <a:r>
              <a:rPr sz="1200" lang="he-IL"/>
              <a:t>•  הפרויקט עובד, נבדק ומתועד (מפגשים 5 עד 11), ולכן השאלה היא מה חסר לפני שמישהו זר משתמש בו.</a:t>
            </a:r>
          </a:p>
          <a:p>
            <a:pPr rtl="1" algn="r" marL="0" indent="0">
              <a:buNone/>
            </a:pPr>
            <a:r>
              <a:rPr sz="1200" lang="he-IL"/>
              <a:t>•  את התשובות שעל הלוח נשווה בהמשך לשרשרת (שקף ״במפגשים הקודמים״) ובסוף לצ'קליסט ולמדיניות.</a:t>
            </a:r>
          </a:p>
          <a:p>
            <a:pPr rtl="1" algn="r" marL="0" indent="0">
              <a:buNone/>
            </a:pPr>
            <a:r>
              <a:rPr sz="1200" lang="he-IL"/>
              <a:t>•  אספו את התשובות מהר, כדי להשאיר זמן לשני שקפי החיבור.</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יעדי למידה.</a:t>
            </a:r>
          </a:p>
          <a:p>
            <a:pPr rtl="1" algn="r" marL="0" indent="0">
              <a:buNone/>
            </a:pPr>
            <a:r>
              <a:rPr b="1" sz="1200" lang="he-IL"/>
              <a:t>מה אומרים</a:t>
            </a:r>
          </a:p>
          <a:p>
            <a:pPr rtl="1" algn="r" marL="0" indent="0">
              <a:buNone/>
            </a:pPr>
            <a:r>
              <a:rPr sz="1200" lang="he-IL"/>
              <a:t>•  המפגש מחולק לשני חצאים: פריסה (חלקים א׳ וב׳) ומשפט ואתיקה (חלקים ג׳ וד׳), עם מעבדה אחרי כל חלק.</a:t>
            </a:r>
          </a:p>
          <a:p>
            <a:pPr rtl="1" algn="r" marL="0" indent="0">
              <a:buNone/>
            </a:pPr>
            <a:r>
              <a:rPr sz="1200" lang="he-IL"/>
              <a:t>•  הדגישו שהפרויקט הסופי כולל עמוד נחיתה, ולכן המעבדה הראשונה שימושית באופן ישיר.</a:t>
            </a:r>
          </a:p>
          <a:p>
            <a:pPr rtl="1" algn="r" marL="0" indent="0">
              <a:buNone/>
            </a:pPr>
            <a:r>
              <a:rPr sz="1200" lang="he-IL"/>
              <a:t>•  התבססו על סעיף 'מהקוד לעולם האמיתי' בסילבוס: פריסה, צ'קליסט, זכויות יוצרים ומדיניות ארגונית.</a:t>
            </a:r>
          </a:p>
          <a:p>
            <a:pPr rtl="1" algn="r" marL="0" indent="0">
              <a:buNone/>
            </a:pPr>
            <a:r>
              <a:rPr sz="1200" lang="he-IL"/>
              <a:t>•  יעדים 3 ו־4 נבחנים ברמת היכרות והבחנה ולא ברמת ייעוץ: הסטודנט יודע לנסח את השאלה (מי יוצר?</a:t>
            </a:r>
          </a:p>
          <a:p>
            <a:pPr rtl="1" algn="r" marL="0" indent="0">
              <a:buNone/>
            </a:pPr>
            <a:r>
              <a:rPr sz="1200" lang="he-IL"/>
              <a:t>•  האם הרישיון מתאים?</a:t>
            </a:r>
          </a:p>
          <a:p>
            <a:pPr rtl="1" algn="r" marL="0" indent="0">
              <a:buNone/>
            </a:pPr>
            <a:r>
              <a:rPr sz="1200" lang="he-IL"/>
              <a:t>•  איזה מידע אישי נשלח?) ולהבחין בין חוק, פסק דין, עמדת רשות ומדיניות ארגונית, בלי לתת תשובה משפטית.</a:t>
            </a:r>
          </a:p>
          <a:p>
            <a:pPr rtl="1" algn="r" marL="0" indent="0">
              <a:buNone/>
            </a:pPr>
            <a:r>
              <a:rPr sz="1200" lang="he-IL"/>
              <a:t>•  יעדי העשרה (אופציונלי, בשקפי ההעשרה אחרי מעבדה ג׳): להשוות בין ישראל, ארה״ב והאיחוד האירופי בשלושה נושאים (זכויות יוצרים, פרטיות, רגולציית AI)</a:t>
            </a:r>
          </a:p>
          <a:p>
            <a:pPr rtl="1" algn="r" marL="0" indent="0">
              <a:buNone/>
            </a:pPr>
            <a:r>
              <a:rPr sz="1200" lang="he-IL"/>
              <a:t>•  להכיר פסיקה עדכנית על אימון ועל קוד</a:t>
            </a:r>
          </a:p>
          <a:p>
            <a:pPr rtl="1" algn="r" marL="0" indent="0">
              <a:buNone/>
            </a:pPr>
            <a:r>
              <a:rPr sz="1200" lang="he-IL"/>
              <a:t>•  להבין איך ארגון בונה ממשל AI על בסיס מסגרות מקובלות (NIST AI RMF, ISO/IEC 42001).</a:t>
            </a:r>
          </a:p>
          <a:p>
            <a:pPr rtl="1" algn="r" marL="0" indent="0">
              <a:buNone/>
            </a:pPr>
            <a:r>
              <a:rPr sz="1200" lang="he-IL"/>
              <a:t>•  הזכירו שכל טענה משפטית בשקפים מסומנת בתאריך הבדיקה: 22.10.2026.</a:t>
            </a:r>
          </a:p>
          <a:p>
            <a:pPr rtl="1" algn="r" marL="0" indent="0">
              <a:buNone/>
            </a:pPr>
            <a:r>
              <a:rPr sz="1200" lang="he-IL"/>
              <a:t>•  חיבור למפגשים הקודמים: יעד 1 נשען על Docker (מפגש 7) ועל משתני סביבה וסודות (מפגש 10).</a:t>
            </a:r>
          </a:p>
          <a:p>
            <a:pPr rtl="1" algn="r" marL="0" indent="0">
              <a:buNone/>
            </a:pPr>
            <a:r>
              <a:rPr sz="1200" lang="he-IL"/>
              <a:t>•  יעד 2 נשען על הבדיקות ממפגש 8 ועל כרטיס האבטחה ממפגש 10, ועל README והעברה ממפגש 11.</a:t>
            </a:r>
          </a:p>
          <a:p>
            <a:pPr rtl="1" algn="r" marL="0" indent="0">
              <a:buNone/>
            </a:pPr>
            <a:r>
              <a:rPr sz="1200" lang="he-IL"/>
              <a:t>•  יעדים 3 ו־4 מרחיבים את רמזור הפרטיות ואת יומן ה־AI ממפגש 5.</a:t>
            </a:r>
          </a:p>
          <a:p>
            <a:pPr rtl="1" algn="r" marL="0" indent="0">
              <a:buNone/>
            </a:pPr>
            <a:r>
              <a:rPr sz="1200" lang="he-IL"/>
              <a:t>•  יעד 5 מרחיב את סיווג המידע (אדום, צהוב, ירוק) ממפגש 5 למדיניות ארגונית.</a:t>
            </a:r>
          </a:p>
          <a:p>
            <a:pPr rtl="1" algn="r" marL="0" indent="0">
              <a:buNone/>
            </a:pPr>
            <a:r>
              <a:rPr b="1" sz="1200" lang="he-IL"/>
              <a:t>שאלת היזכרות</a:t>
            </a:r>
          </a:p>
          <a:p>
            <a:pPr rtl="1" algn="r" marL="0" indent="0">
              <a:buNone/>
            </a:pPr>
            <a:r>
              <a:rPr sz="1200" lang="he-IL"/>
              <a:t>•  מי זוכר איזה קובץ התחלנו במפגש 5 וממלאים בכל מפגש?</a:t>
            </a:r>
          </a:p>
          <a:p>
            <a:pPr rtl="1" algn="r" marL="0" indent="0">
              <a:buNone/>
            </a:pPr>
            <a:r>
              <a:rPr b="1" sz="1200" lang="he-IL"/>
              <a:t>תשובה</a:t>
            </a:r>
          </a:p>
          <a:p>
            <a:pPr rtl="1" algn="r" marL="0" indent="0">
              <a:buNone/>
            </a:pPr>
            <a:r>
              <a:rPr sz="1200" lang="he-IL"/>
              <a:t>•  AI_LOG.md, יומן השימוש ב־AI.</a:t>
            </a:r>
          </a:p>
          <a:p>
            <a:pPr rtl="1" algn="r" marL="0" indent="0">
              <a:buNone/>
            </a:pPr>
            <a:r>
              <a:rPr b="1" sz="1200" lang="he-IL"/>
              <a:t>אם הכיתה לא זוכרת</a:t>
            </a:r>
          </a:p>
          <a:p>
            <a:pPr rtl="1" algn="r" marL="0" indent="0">
              <a:buNone/>
            </a:pPr>
            <a:r>
              <a:rPr sz="1200" lang="he-IL"/>
              <a:t>•  הזכירו שהוא הבסיס לאחריות האישית המתועדת בפרויקט הגמר.</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מפת המפגש (כחצי דקה).</a:t>
            </a:r>
          </a:p>
          <a:p>
            <a:pPr rtl="1" algn="r" marL="0" indent="0">
              <a:buNone/>
            </a:pPr>
            <a:r>
              <a:rPr b="1" sz="1200" lang="he-IL"/>
              <a:t>מה אומרים</a:t>
            </a:r>
          </a:p>
          <a:p>
            <a:pPr rtl="1" algn="r" marL="0" indent="0">
              <a:buNone/>
            </a:pPr>
            <a:r>
              <a:rPr sz="1200" lang="he-IL"/>
              <a:t>•  הצביעו על הסרגל מימין לשמאל: פתיחה, חלק א׳ על פריסה, מעבדה א׳ לבניית עמוד נחיתה ולבדיקתו בקוד, חלק ב׳ על תפעול ובטיחות שחרור, מעבדה ב׳ לצ'קליסט שנבדק בקוד, חלק ג׳ על משפט, חלק ד׳ על אתיקה ומדיניות, מעבדה ג׳ ואז סיכום.</a:t>
            </a:r>
          </a:p>
          <a:p>
            <a:pPr rtl="1" algn="r" marL="0" indent="0">
              <a:buNone/>
            </a:pPr>
            <a:r>
              <a:rPr sz="1200" lang="he-IL"/>
              <a:t>•  כחול הוא הסבר קצר וכתום הוא עבודה שלכם, ובסך הכול 90 דקות, כשכ־34 מהן מעבדה.</a:t>
            </a:r>
          </a:p>
          <a:p>
            <a:pPr rtl="1" algn="r" marL="0" indent="0">
              <a:buNone/>
            </a:pPr>
            <a:r>
              <a:rPr sz="1200" lang="he-IL"/>
              <a:t>•  תקציב הזמן של התיאוריה (הערכה לפי שקפים, בלי האופציונליים): חלק א׳ כ־13 דקות מתוך 13 (דקה אחת הועברה לפתיחה), חלק ב׳ כ־10, חלק ג׳ כ־13 (כולל שקף ההצהרה, חצי דקה), חלק ד׳ כ־8.</a:t>
            </a:r>
          </a:p>
          <a:p>
            <a:pPr rtl="1" algn="r" marL="0" indent="0">
              <a:buNone/>
            </a:pPr>
            <a:r>
              <a:rPr sz="1200" lang="he-IL"/>
              <a:t>•  שקפים אופציונליים, עם תג כחול בפינה, שנכללים רק אם יש זמן: ניטור (חלק ב׳, כדקה וחצי), בדיקת רישיונות של תלויות (כדקה וחצי) ותקנות ה־AI באירופה (כ־2 דקות); עם כולם המפגש מגיע לכ־95 דקות.</a:t>
            </a:r>
          </a:p>
          <a:p>
            <a:pPr rtl="1" algn="r" marL="0" indent="0">
              <a:buNone/>
            </a:pPr>
            <a:r>
              <a:rPr sz="1200" lang="he-IL"/>
              <a:t>•  שקפי העשרה, עם תג ״העשרה״, נמצאים אחרי מעבדה ג׳ וכל אחד לוקח כ־2 דקות: שני שקפי השוואה בין משפטים, פסיקה על אימון ופלט, קוד פתוח וקוד שנוצר ב־AI, ממשל AI בארגון, תיקון 13 לעומק, ושקף מקורות.</a:t>
            </a:r>
          </a:p>
          <a:p>
            <a:pPr rtl="1" algn="r" marL="0" indent="0">
              <a:buNone/>
            </a:pPr>
            <a:r>
              <a:rPr sz="1200" lang="he-IL"/>
              <a:t>•  עם חצי מההעשרה המפגש מגיע לכ־100 דקות, ולכן מדלגים עליהם בכיתה או מייעדים אותם לקריאה בבית.</a:t>
            </a:r>
          </a:p>
          <a:p>
            <a:pPr rtl="1" algn="r" marL="0" indent="0">
              <a:buNone/>
            </a:pPr>
            <a:r>
              <a:rPr sz="1200" lang="he-IL"/>
              <a:t>•  סדר הקיצוץ כשהזמן קצר: קודם ההעשרה, אחר כך הניטור, רישיונות התלויות ותקנות ה־AI באירופה, ולבסוף מקצרים את חלק ד׳ ומשאירים את מעבדה ג׳ כשיעורי בית.</a:t>
            </a:r>
          </a:p>
          <a:p>
            <a:pPr rtl="1" algn="r" marL="0" indent="0">
              <a:buNone/>
            </a:pPr>
            <a:r>
              <a:rPr sz="1200" lang="he-IL"/>
              <a:t>•  אמרו מראש: המעבדה הראשונה בונה את עמוד הנחיתה שמציגים במפגש 13, והפרסום עצמו נעשה בפרויקט הקבוצתי, ולכן כדאי להגיע אליה עם מאגר הקבוצה פתוח.</a:t>
            </a:r>
          </a:p>
          <a:p>
            <a:pPr rtl="1" algn="r" marL="0" indent="0">
              <a:buNone/>
            </a:pPr>
            <a:r>
              <a:rPr sz="1200" lang="he-IL"/>
              <a:t>•  עצת זמן: אל תתנו לדיון בחלק ג׳ לאכול את מעבדה ג׳.</a:t>
            </a:r>
          </a:p>
          <a:p>
            <a:pPr rtl="1" algn="r" marL="0" indent="0">
              <a:buNone/>
            </a:pPr>
            <a:r>
              <a:rPr sz="1200" lang="he-IL"/>
              <a:t>•  מחברת HM_12 אחת מלווה את שלוש המעבדות, בסדר שונה מסדר השקפים: חלק ב׳ במחברת הוא מעבדה א׳ (11 דקות), חלק א׳ הוא מעבדה ב׳ (9 דקות), וחלקים ג׳ ו־ד׳ הם מעבדה ג׳ (7 ו־5 דקות), ועוד 2 דקות של מסקנה: סך הכול 34 דקות, כמו במפה.</a:t>
            </a:r>
          </a:p>
          <a:p>
            <a:pPr rtl="1" algn="r" marL="0" indent="0">
              <a:buNone/>
            </a:pPr>
            <a:r>
              <a:rPr sz="1200" lang="he-IL"/>
              <a:t>•  בפועל חלקים ג׳ ו־ד׳ עשויים להישאר לבית.</a:t>
            </a:r>
          </a:p>
          <a:p>
            <a:pPr rtl="1" algn="r" marL="0" indent="0">
              <a:buNone/>
            </a:pPr>
            <a:r>
              <a:rPr sz="1200" lang="he-IL"/>
              <a:t>•  עדכון זמנים אחרי הוספת החיבור למפגשים הקודמים: הפתיחה גדלה מ־5 ל־6 דקות, בלי להאריך את המפגש.</a:t>
            </a:r>
          </a:p>
          <a:p>
            <a:pPr rtl="1" algn="r" marL="0" indent="0">
              <a:buNone/>
            </a:pPr>
            <a:r>
              <a:rPr sz="1200" lang="he-IL"/>
              <a:t>•  הפתיחה כוללת: שקף הפתיחה עם שאלת מה יכול להשתבש (כ־2 דקות), מטרות ומפה (כדקה בסך הכול), שקף ״במפגשים הקודמים״ (כ־2 דקות) ושקף ״השאלה של היום״ (כדקה).</a:t>
            </a:r>
          </a:p>
          <a:p>
            <a:pPr rtl="1" algn="r" marL="0" indent="0">
              <a:buNone/>
            </a:pPr>
            <a:r>
              <a:rPr sz="1200" lang="he-IL"/>
              <a:t>•  את הדקה הנוספת מימן חלק א׳ (13 במקום 14, כפי שהתקציב שלו כבר היה בפועל).</a:t>
            </a:r>
          </a:p>
          <a:p>
            <a:pPr rtl="1" algn="r" marL="0" indent="0">
              <a:buNone/>
            </a:pPr>
            <a:r>
              <a:rPr sz="1200" lang="he-IL"/>
              <a:t>•  זמני המעבדות ללא שינוי, ובסך הכול 90 דקות.</a:t>
            </a:r>
          </a:p>
          <a:p>
            <a:pPr rtl="1" algn="r" marL="0" indent="0">
              <a:buNone/>
            </a:pPr>
            <a:r>
              <a:rPr sz="1200" lang="he-IL"/>
              <a:t>•  אם חסר זמן בפתיחה: קצרו את שקף הפתיחה לדקה ואספו רק שתי תשובות.</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א׳ (13 דקות: שבעה שקפי תוכן, שאלת בדיקה עם תשובה, ועוד כדקה לדיון).</a:t>
            </a:r>
          </a:p>
          <a:p>
            <a:pPr rtl="1" algn="r" marL="0" indent="0">
              <a:buNone/>
            </a:pPr>
            <a:r>
              <a:rPr b="1" sz="1200" lang="he-IL"/>
              <a:t>מה אומרים</a:t>
            </a:r>
          </a:p>
          <a:p>
            <a:pPr rtl="1" algn="r" marL="0" indent="0">
              <a:buNone/>
            </a:pPr>
            <a:r>
              <a:rPr sz="1200" lang="he-IL"/>
              <a:t>•  שלוש סביבות: פיתוח (dev, המחשב שלכם), בדיקה (staging) וייצור (production).</a:t>
            </a:r>
          </a:p>
          <a:p>
            <a:pPr rtl="1" algn="r" marL="0" indent="0">
              <a:buNone/>
            </a:pPr>
            <a:r>
              <a:rPr sz="1200" lang="he-IL"/>
              <a:t>•  בקורס הסתפקנו בפיתוח.</a:t>
            </a:r>
          </a:p>
          <a:p>
            <a:pPr rtl="1" algn="r" marL="0" indent="0">
              <a:buNone/>
            </a:pPr>
            <a:r>
              <a:rPr sz="1200" lang="he-IL"/>
              <a:t>•  הרעיון המקצועי הוא שוויון בין סביבות (dev/prod parity): ככל שסביבת הבדיקה דומה יותר לייצור, כך תקלות נתפסות לפני שמשתמשים רואים אותן.</a:t>
            </a:r>
          </a:p>
          <a:p>
            <a:pPr rtl="1" algn="r" marL="0" indent="0">
              <a:buNone/>
            </a:pPr>
            <a:r>
              <a:rPr sz="1200" lang="he-IL"/>
              <a:t>•  בפרויקט הקבוצתי לא חייבים סביבת staging, אבל חייבים להבין למה היא קיימת, ולכל הפחות להפריד בין ״על המחשב שלי״ ל״באוויר״.</a:t>
            </a:r>
          </a:p>
          <a:p>
            <a:pPr rtl="1" algn="r" marL="0" indent="0">
              <a:buNone/>
            </a:pPr>
            <a:r>
              <a:rPr sz="1200" lang="he-IL"/>
              <a:t>•  אנלוגיה מהחנות: חנות שמנסה מבצע חדש קודם בקופה אחת אחרי שעות הפעילות, ולא ישר בכל הסניפים בשעת שיא.</a:t>
            </a:r>
          </a:p>
          <a:p>
            <a:pPr rtl="1" algn="r" marL="0" indent="0">
              <a:buNone/>
            </a:pPr>
            <a:r>
              <a:rPr b="1" sz="1200" lang="he-IL"/>
              <a:t>שאלה לכיתה</a:t>
            </a:r>
          </a:p>
          <a:p>
            <a:pPr rtl="1" algn="r" marL="0" indent="0">
              <a:buNone/>
            </a:pPr>
            <a:r>
              <a:rPr sz="1200" lang="he-IL"/>
              <a:t>•  מה יקרה אם תעלו תיקון ישר לייצור והוא שבור?</a:t>
            </a:r>
          </a:p>
          <a:p>
            <a:pPr rtl="1" algn="r" marL="0" indent="0">
              <a:buNone/>
            </a:pPr>
            <a:r>
              <a:rPr b="1" sz="1200" lang="he-IL"/>
              <a:t>טעות נפוצה</a:t>
            </a:r>
          </a:p>
          <a:p>
            <a:pPr rtl="1" algn="r" marL="0" indent="0">
              <a:buNone/>
            </a:pPr>
            <a:r>
              <a:rPr sz="1200" lang="he-IL"/>
              <a:t>•  לחשוב ש־staging הוא ״עוד שרת״.</a:t>
            </a:r>
          </a:p>
          <a:p>
            <a:pPr rtl="1" algn="r" marL="0" indent="0">
              <a:buNone/>
            </a:pPr>
            <a:r>
              <a:rPr sz="1200" lang="he-IL"/>
              <a:t>•  הערך שלו הוא בשחזור תנאי הייצור (הגדרות, גרסאות, נתוני בדיקה סינתטיים), ולא בעצם קיומו.</a:t>
            </a:r>
          </a:p>
          <a:p>
            <a:pPr rtl="1" algn="r" marL="0" indent="0">
              <a:buNone/>
            </a:pPr>
            <a:r>
              <a:rPr sz="1200" lang="he-IL"/>
              <a:t>•  חיבור למפגש 6: commit לפני שהסוכן פועל וענף לניסוי הם אותו רעיון שנראה היום ברמת המערכת. staging הוא המקום לנסות בו לפני שמשפיעים על אחרים.</a:t>
            </a:r>
          </a:p>
          <a:p>
            <a:pPr rtl="1" algn="r" marL="0" indent="0">
              <a:buNone/>
            </a:pPr>
            <a:r>
              <a:rPr b="1" sz="1200" lang="he-IL"/>
              <a:t>שאלת היזכרות</a:t>
            </a:r>
          </a:p>
          <a:p>
            <a:pPr rtl="1" algn="r" marL="0" indent="0">
              <a:buNone/>
            </a:pPr>
            <a:r>
              <a:rPr sz="1200" lang="he-IL"/>
              <a:t>•  מי זוכר איך מנסים שינוי של סוכן בלי לפגוע בקוד העובד?</a:t>
            </a:r>
          </a:p>
          <a:p>
            <a:pPr rtl="1" algn="r" marL="0" indent="0">
              <a:buNone/>
            </a:pPr>
            <a:r>
              <a:rPr b="1" sz="1200" lang="he-IL"/>
              <a:t>תשובה</a:t>
            </a:r>
          </a:p>
          <a:p>
            <a:pPr rtl="1" algn="r" marL="0" indent="0">
              <a:buNone/>
            </a:pPr>
            <a:r>
              <a:rPr sz="1200" lang="he-IL"/>
              <a:t>•  commit לפני, ענף לניסוי, ו־diff אחרי.</a:t>
            </a:r>
          </a:p>
          <a:p>
            <a:pPr rtl="1" algn="r" marL="0" indent="0">
              <a:buNone/>
            </a:pPr>
            <a:r>
              <a:rPr b="1" sz="1200" lang="he-IL"/>
              <a:t>אם הכיתה לא זוכרת</a:t>
            </a:r>
          </a:p>
          <a:p>
            <a:pPr rtl="1" algn="r" marL="0" indent="0">
              <a:buNone/>
            </a:pPr>
            <a:r>
              <a:rPr sz="1200" lang="he-IL"/>
              <a:t>•  אמרו את שלושת הצעדים במשפט והמשיכו.</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שישה דברים שעובדים על המחשב ונשברים בייצור.</a:t>
            </a:r>
          </a:p>
          <a:p>
            <a:pPr rtl="1" algn="r" marL="0" indent="0">
              <a:buNone/>
            </a:pPr>
            <a:r>
              <a:rPr b="1" sz="1200" lang="he-IL"/>
              <a:t>מה אומרים</a:t>
            </a:r>
          </a:p>
          <a:p>
            <a:pPr rtl="1" algn="r" marL="0" indent="0">
              <a:buNone/>
            </a:pPr>
            <a:r>
              <a:rPr sz="1200" lang="he-IL"/>
              <a:t>•  הגדרות וסודות: בייצור הם מגיעים ממשתני סביבה של הפלטפורמה ולא מקובץ.</a:t>
            </a:r>
          </a:p>
          <a:p>
            <a:pPr rtl="1" algn="r" marL="0" indent="0">
              <a:buNone/>
            </a:pPr>
            <a:r>
              <a:rPr sz="1200" lang="he-IL"/>
              <a:t>•  HTTPS: דפדפנים מזהירים על אתר בלי הצפנה.</a:t>
            </a:r>
          </a:p>
          <a:p>
            <a:pPr rtl="1" algn="r" marL="0" indent="0">
              <a:buNone/>
            </a:pPr>
            <a:r>
              <a:rPr sz="1200" lang="he-IL"/>
              <a:t>•  נתונים: הדיסק בפלטפורמות חינמיות רבות אינו קבוע, וקובץ SQLite עלול להימחק בפריסה חדשה.</a:t>
            </a:r>
          </a:p>
          <a:p>
            <a:pPr rtl="1" algn="r" marL="0" indent="0">
              <a:buNone/>
            </a:pPr>
            <a:r>
              <a:rPr sz="1200" lang="he-IL"/>
              <a:t>•  לוגים: אין לכם מסוף לצפות בו, צריך לוגים.</a:t>
            </a:r>
          </a:p>
          <a:p>
            <a:pPr rtl="1" algn="r" marL="0" indent="0">
              <a:buNone/>
            </a:pPr>
            <a:r>
              <a:rPr sz="1200" lang="he-IL"/>
              <a:t>•  בריאות: נקודה שאומרת האם השירות חי.</a:t>
            </a:r>
          </a:p>
          <a:p>
            <a:pPr rtl="1" algn="r" marL="0" indent="0">
              <a:buNone/>
            </a:pPr>
            <a:r>
              <a:rPr sz="1200" lang="he-IL"/>
              <a:t>•  אבטחה: כל מה שלמדנו במפגש 10.</a:t>
            </a:r>
          </a:p>
          <a:p>
            <a:pPr rtl="1" algn="r" marL="0" indent="0">
              <a:buNone/>
            </a:pPr>
            <a:r>
              <a:rPr sz="1200" lang="he-IL"/>
              <a:t>•  בקשו מהסטודנטים לסמן איזה מהשישה עלול להיות הבעיה בפרויקט שלהם.</a:t>
            </a:r>
          </a:p>
          <a:p>
            <a:pPr rtl="1" algn="r" marL="0" indent="0">
              <a:buNone/>
            </a:pPr>
            <a:r>
              <a:rPr sz="1200" lang="he-IL"/>
              <a:t>•  הגדרה: ייצור הוא סביבה שבה יש משתמשים אמיתיים, ולכן כל תקלה נחשבת לתקלה כלפי אנשים.</a:t>
            </a:r>
          </a:p>
          <a:p>
            <a:pPr rtl="1" algn="r" marL="0" indent="0">
              <a:buNone/>
            </a:pPr>
            <a:r>
              <a:rPr sz="1200" lang="he-IL"/>
              <a:t>•  דוגמה מהחנות: על המחשב שלכם הדמו רץ עם קובץ CSV קטן ובלי סיסמאות, ובייצור צריך גם מפתח API, כתובת מסד, ויומן של מי הזמין מה.</a:t>
            </a:r>
          </a:p>
          <a:p>
            <a:pPr rtl="1" algn="r" marL="0" indent="0">
              <a:buNone/>
            </a:pPr>
            <a:r>
              <a:rPr b="1" sz="1200" lang="he-IL"/>
              <a:t>טעות נפוצה</a:t>
            </a:r>
          </a:p>
          <a:p>
            <a:pPr rtl="1" algn="r" marL="0" indent="0">
              <a:buNone/>
            </a:pPr>
            <a:r>
              <a:rPr sz="1200" lang="he-IL"/>
              <a:t>•  להניח ש־HTTPS נוסף ״אוטומטית״ בכל פלטפורמה.</a:t>
            </a:r>
          </a:p>
          <a:p>
            <a:pPr rtl="1" algn="r" marL="0" indent="0">
              <a:buNone/>
            </a:pPr>
            <a:r>
              <a:rPr sz="1200" lang="he-IL"/>
              <a:t>•  בפלטפורמות מנוהלות הוא בדרך כלל מוגדר עבורכם, ובשרת עצמאי צריך להגדיר אישור בעצמכם.</a:t>
            </a:r>
          </a:p>
          <a:p>
            <a:pPr rtl="1" algn="r" marL="0" indent="0">
              <a:buNone/>
            </a:pPr>
            <a:r>
              <a:rPr b="1" sz="1200" lang="he-IL"/>
              <a:t>חיבור לשיעורים קודמים</a:t>
            </a:r>
          </a:p>
          <a:p>
            <a:pPr rtl="1" algn="r" marL="0" indent="0">
              <a:buNone/>
            </a:pPr>
            <a:r>
              <a:rPr sz="1200" lang="he-IL"/>
              <a:t>•  שלושה מהשישה כבר נלמדו.</a:t>
            </a:r>
          </a:p>
          <a:p>
            <a:pPr rtl="1" algn="r" marL="0" indent="0">
              <a:buNone/>
            </a:pPr>
            <a:r>
              <a:rPr sz="1200" lang="he-IL"/>
              <a:t>•  הגדרות וסודות ואבטחה הם מפגש 10 (כרטיס האבטחה, משתני סביבה ו־.gitignore), ונתונים קבועים נשענים על מה שראינו על Docker במפגש 7.</a:t>
            </a:r>
          </a:p>
          <a:p>
            <a:pPr rtl="1" algn="r" marL="0" indent="0">
              <a:buNone/>
            </a:pPr>
            <a:r>
              <a:rPr b="1" sz="1200" lang="he-IL"/>
              <a:t>שאלת היזכרות</a:t>
            </a:r>
          </a:p>
          <a:p>
            <a:pPr rtl="1" algn="r" marL="0" indent="0">
              <a:buNone/>
            </a:pPr>
            <a:r>
              <a:rPr sz="1200" lang="he-IL"/>
              <a:t>•  מי זוכר איפה שומרים מפתח API ומה עושים עם הקובץ?</a:t>
            </a:r>
          </a:p>
          <a:p>
            <a:pPr rtl="1" algn="r" marL="0" indent="0">
              <a:buNone/>
            </a:pPr>
            <a:r>
              <a:rPr b="1" sz="1200" lang="he-IL"/>
              <a:t>תשובה</a:t>
            </a:r>
          </a:p>
          <a:p>
            <a:pPr rtl="1" algn="r" marL="0" indent="0">
              <a:buNone/>
            </a:pPr>
            <a:r>
              <a:rPr sz="1200" lang="he-IL"/>
              <a:t>•  בקובץ .env או במשתנה סביבה, והקובץ נכנס ל־.gitignore ולא עולה ל־Git (מפגש 10).</a:t>
            </a:r>
          </a:p>
          <a:p>
            <a:pPr rtl="1" algn="r" marL="0" indent="0">
              <a:buNone/>
            </a:pPr>
            <a:r>
              <a:rPr b="1" sz="1200" lang="he-IL"/>
              <a:t>אם הכיתה לא זוכרת</a:t>
            </a:r>
          </a:p>
          <a:p>
            <a:pPr rtl="1" algn="r" marL="0" indent="0">
              <a:buNone/>
            </a:pPr>
            <a:r>
              <a:rPr sz="1200" lang="he-IL"/>
              <a:t>•  הראו את שקף ״הגדרות וסודות בייצור״ שבהמשך.</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ארבע קטגוריות הפעלה.</a:t>
            </a:r>
          </a:p>
          <a:p>
            <a:pPr rtl="1" algn="r" marL="0" indent="0">
              <a:buNone/>
            </a:pPr>
            <a:r>
              <a:rPr b="1" sz="1200" lang="he-IL"/>
              <a:t>מה אומרים</a:t>
            </a:r>
          </a:p>
          <a:p>
            <a:pPr rtl="1" algn="r" marL="0" indent="0">
              <a:buNone/>
            </a:pPr>
            <a:r>
              <a:rPr sz="1200" lang="he-IL"/>
              <a:t>•  אתר סטטי (למשל GitHub Pages) מתאים לעמוד הנחיתה.</a:t>
            </a:r>
          </a:p>
          <a:p>
            <a:pPr rtl="1" algn="r" marL="0" indent="0">
              <a:buNone/>
            </a:pPr>
            <a:r>
              <a:rPr sz="1200" lang="he-IL"/>
              <a:t>•  פלטפורמת אפליקציה (PaaS) כמו Streamlit Community Cloud או Render מקבלת קוד או קונטיינר ומפעילה.</a:t>
            </a:r>
          </a:p>
          <a:p>
            <a:pPr rtl="1" algn="r" marL="0" indent="0">
              <a:buNone/>
            </a:pPr>
            <a:r>
              <a:rPr sz="1200" lang="he-IL"/>
              <a:t>•  מכונה בענן או שרת: אתם מנהלים הכל.</a:t>
            </a:r>
          </a:p>
          <a:p>
            <a:pPr rtl="1" algn="r" marL="0" indent="0">
              <a:buNone/>
            </a:pPr>
            <a:r>
              <a:rPr sz="1200" lang="he-IL"/>
              <a:t>•  Kubernetes: לקנה מידה.</a:t>
            </a:r>
          </a:p>
          <a:p>
            <a:pPr rtl="1" algn="r" marL="0" indent="0">
              <a:buNone/>
            </a:pPr>
            <a:r>
              <a:rPr sz="1200" lang="he-IL"/>
              <a:t>•  תנאי השכבה החינמית משתנים לעיתים קרובות, ולכן המספרים שבשקף נבדקו מול התיעוד הרשמי ב־22.10.2026: ב־Render (עמוד free) שירות ווב חינמי נעצר אחרי 15 דקות בלי תעבורה נכנסת, חזרה לפעילות לוקחת כדקה, יש 750 שעות הפעלה בחודש לכל סביבת עבודה, והדיסק זמני (קבצים נמחקים בכל פריסה, הפעלה מחדש או הרדמה).</a:t>
            </a:r>
          </a:p>
          <a:p>
            <a:pPr rtl="1" algn="r" marL="0" indent="0">
              <a:buNone/>
            </a:pPr>
            <a:r>
              <a:rPr sz="1200" lang="he-IL"/>
              <a:t>•  ב־Streamlit Community Cloud (תיעוד manage your app) אפליקציה בלי תעבורה במשך 12 שעות נרדמת, וכל מי שיש לו גישה יכול להעיר אותה בלחיצה.</a:t>
            </a:r>
          </a:p>
          <a:p>
            <a:pPr rtl="1" algn="r" marL="0" indent="0">
              <a:buNone/>
            </a:pPr>
            <a:r>
              <a:rPr sz="1200" lang="he-IL"/>
              <a:t>•  ב־GitHub Pages: בחשבון GitHub Free המאגר חייב להיות ציבורי (תיעוד creating a GitHub Pages site).</a:t>
            </a:r>
          </a:p>
          <a:p>
            <a:pPr rtl="1" algn="r" marL="0" indent="0">
              <a:buNone/>
            </a:pPr>
            <a:r>
              <a:rPr b="1" sz="1200" lang="he-IL"/>
              <a:t>שאלה לכיתה</a:t>
            </a:r>
          </a:p>
          <a:p>
            <a:pPr rtl="1" algn="r" marL="0" indent="0">
              <a:buNone/>
            </a:pPr>
            <a:r>
              <a:rPr sz="1200" lang="he-IL"/>
              <a:t>•  מה זה אומר על הדגמה חיה במפגש 13?</a:t>
            </a:r>
          </a:p>
          <a:p>
            <a:pPr rtl="1" algn="r" marL="0" indent="0">
              <a:buNone/>
            </a:pPr>
            <a:r>
              <a:rPr b="1" sz="1200" lang="he-IL"/>
              <a:t>תשובה</a:t>
            </a:r>
          </a:p>
          <a:p>
            <a:pPr rtl="1" algn="r" marL="0" indent="0">
              <a:buNone/>
            </a:pPr>
            <a:r>
              <a:rPr sz="1200" lang="he-IL"/>
              <a:t>•  להפעיל את האתר מראש, ולהכין סרטון גיבוי.</a:t>
            </a:r>
          </a:p>
          <a:p>
            <a:pPr rtl="1" algn="r" marL="0" indent="0">
              <a:buNone/>
            </a:pPr>
            <a:r>
              <a:rPr sz="1200" lang="he-IL"/>
              <a:t>•  מהי הנקודה האקדמית?</a:t>
            </a:r>
          </a:p>
          <a:p>
            <a:pPr rtl="1" algn="r" marL="0" indent="0">
              <a:buNone/>
            </a:pPr>
            <a:r>
              <a:rPr sz="1200" lang="he-IL"/>
              <a:t>•  שכבה חינמית היא מודל עסקי (הספק מוכר ודאות), ולכן חינם משמעו פחות ודאות.</a:t>
            </a:r>
          </a:p>
          <a:p>
            <a:pPr rtl="1" algn="r" marL="0" indent="0">
              <a:buNone/>
            </a:pPr>
            <a:r>
              <a:rPr sz="1200" lang="he-IL"/>
              <a:t>•  אם מישהו שואל על Cloud Run או על ספקים אחרים: לא נבדקו לשקף הזה, ולכן אל תצטטו מספרים.</a:t>
            </a:r>
          </a:p>
          <a:p>
            <a:pPr rtl="1" algn="r" marL="0" indent="0">
              <a:buNone/>
            </a:pPr>
            <a:r>
              <a:rPr sz="1200" lang="he-IL"/>
              <a:t>•  חיבור למפגש 6: GitHub Pages ו־Render פורסים קוד שכבר נמצא במאגר ב־GitHub, כלומר במאגר הקבוצתי שפתחנו במפגש 5 ועבדנו בו במפגש 6.</a:t>
            </a:r>
          </a:p>
          <a:p>
            <a:pPr rtl="1" algn="r" marL="0" indent="0">
              <a:buNone/>
            </a:pPr>
            <a:r>
              <a:rPr sz="1200" lang="he-IL"/>
              <a:t>•  אם אין commit במאגר, אין מה לפרוס.</a:t>
            </a:r>
          </a:p>
          <a:p>
            <a:pPr rtl="1" algn="r" marL="0" indent="0">
              <a:buNone/>
            </a:pPr>
            <a:r>
              <a:rPr b="1" sz="1200" lang="he-IL"/>
              <a:t>שאלת היזכרות</a:t>
            </a:r>
          </a:p>
          <a:p>
            <a:pPr rtl="1" algn="r" marL="0" indent="0">
              <a:buNone/>
            </a:pPr>
            <a:r>
              <a:rPr sz="1200" lang="he-IL"/>
              <a:t>•  מה בודקים ב־diff לפני commit?</a:t>
            </a:r>
          </a:p>
          <a:p>
            <a:pPr rtl="1" algn="r" marL="0" indent="0">
              <a:buNone/>
            </a:pPr>
            <a:r>
              <a:rPr b="1" sz="1200" lang="he-IL"/>
              <a:t>תשובה</a:t>
            </a:r>
          </a:p>
          <a:p>
            <a:pPr rtl="1" algn="r" marL="0" indent="0">
              <a:buNone/>
            </a:pPr>
            <a:r>
              <a:rPr sz="1200" lang="he-IL"/>
              <a:t>•  מה השתנה, ושאין בו סוד או שינוי שלא התכוונתם אליו.</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החיבור למפגש 7.</a:t>
            </a:r>
          </a:p>
          <a:p>
            <a:pPr rtl="1" algn="r" marL="0" indent="0">
              <a:buNone/>
            </a:pPr>
            <a:r>
              <a:rPr b="1" sz="1200" lang="he-IL"/>
              <a:t>מה אומרים</a:t>
            </a:r>
          </a:p>
          <a:p>
            <a:pPr rtl="1" algn="r" marL="0" indent="0">
              <a:buNone/>
            </a:pPr>
            <a:r>
              <a:rPr sz="1200" lang="he-IL"/>
              <a:t>•  הקוד נארז לקונטיינר (Dockerfile), התמונה נדחפת למאגר, והפלטפורמה מושכת אותה ומריצה.</a:t>
            </a:r>
          </a:p>
          <a:p>
            <a:pPr rtl="1" algn="r" marL="0" indent="0">
              <a:buNone/>
            </a:pPr>
            <a:r>
              <a:rPr sz="1200" lang="he-IL"/>
              <a:t>•  הגדרות וסודות נכנסים בזמן ההרצה כמשתני סביבה.</a:t>
            </a:r>
          </a:p>
          <a:p>
            <a:pPr rtl="1" algn="r" marL="0" indent="0">
              <a:buNone/>
            </a:pPr>
            <a:r>
              <a:rPr sz="1200" lang="he-IL"/>
              <a:t>•  כך אותה תמונה עוברת מבדיקה לייצור בלי לשנות אותה.</a:t>
            </a:r>
          </a:p>
          <a:p>
            <a:pPr rtl="1" algn="r" marL="0" indent="0">
              <a:buNone/>
            </a:pPr>
            <a:r>
              <a:rPr sz="1200" lang="he-IL"/>
              <a:t>•  אם הפלטפורמה מקבלת קוד ישירות מ-GitHub, היא בונה את התמונה בעצמה.</a:t>
            </a:r>
          </a:p>
          <a:p>
            <a:pPr rtl="1" algn="r" marL="0" indent="0">
              <a:buNone/>
            </a:pPr>
            <a:r>
              <a:rPr sz="1200" lang="he-IL"/>
              <a:t>•  הדגישו: הקוד לא משתנה בין הסביבות, רק ההגדרות.</a:t>
            </a:r>
          </a:p>
          <a:p>
            <a:pPr rtl="1" algn="r" marL="0" indent="0">
              <a:buNone/>
            </a:pPr>
            <a:r>
              <a:rPr sz="1200" lang="he-IL"/>
              <a:t>•  מושגים: image הוא תבנית קבועה של התוכנה והתלויות שלה; container הוא מופע רץ של image; registry הוא מחסן של images.</a:t>
            </a:r>
          </a:p>
          <a:p>
            <a:pPr rtl="1" algn="r" marL="0" indent="0">
              <a:buNone/>
            </a:pPr>
            <a:r>
              <a:rPr sz="1200" lang="he-IL"/>
              <a:t>•  נקודת הלימוד: ״בנו פעם אחת, הריצו בכל מקום״, כלומר מה שנבדק ב־staging הוא אותו artifact שיעלה לייצור.</a:t>
            </a:r>
          </a:p>
          <a:p>
            <a:pPr rtl="1" algn="r" marL="0" indent="0">
              <a:buNone/>
            </a:pPr>
            <a:r>
              <a:rPr b="1" sz="1200" lang="he-IL"/>
              <a:t>שאלה לכיתה</a:t>
            </a:r>
          </a:p>
          <a:p>
            <a:pPr rtl="1" algn="r" marL="0" indent="0">
              <a:buNone/>
            </a:pPr>
            <a:r>
              <a:rPr sz="1200" lang="he-IL"/>
              <a:t>•  למה לא לבנות image נפרד לכל סביבה?</a:t>
            </a:r>
          </a:p>
          <a:p>
            <a:pPr rtl="1" algn="r" marL="0" indent="0">
              <a:buNone/>
            </a:pPr>
            <a:r>
              <a:rPr b="1" sz="1200" lang="he-IL"/>
              <a:t>תשובה</a:t>
            </a:r>
          </a:p>
          <a:p>
            <a:pPr rtl="1" algn="r" marL="0" indent="0">
              <a:buNone/>
            </a:pPr>
            <a:r>
              <a:rPr sz="1200" lang="he-IL"/>
              <a:t>•  כי אז מה שנבדק אינו מה שפורס.</a:t>
            </a:r>
          </a:p>
          <a:p>
            <a:pPr rtl="1" algn="r" marL="0" indent="0">
              <a:buNone/>
            </a:pPr>
            <a:r>
              <a:rPr b="1" sz="1200" lang="he-IL"/>
              <a:t>חיבור לשיעורים קודמים</a:t>
            </a:r>
          </a:p>
          <a:p>
            <a:pPr rtl="1" algn="r" marL="0" indent="0">
              <a:buNone/>
            </a:pPr>
            <a:r>
              <a:rPr sz="1200" lang="he-IL"/>
              <a:t>•  במפגש 7 Docker הוצג כאריזה אחת שרצה אותו דבר בכל מקום (קוד, ספריות, גרסת Python והגדרות ביחד), ובשירות הדוגמה של אותו מפגש מפתח ה־API נקרא מ־os.environ.</a:t>
            </a:r>
          </a:p>
          <a:p>
            <a:pPr rtl="1" algn="r" marL="0" indent="0">
              <a:buNone/>
            </a:pPr>
            <a:r>
              <a:rPr sz="1200" lang="he-IL"/>
              <a:t>•  היום מדייקים: מה שנארז בתמונה הוא הקוד והסביבה, והסודות נכנסים בזמן ההרצה.</a:t>
            </a:r>
          </a:p>
          <a:p>
            <a:pPr rtl="1" algn="r" marL="0" indent="0">
              <a:buNone/>
            </a:pPr>
            <a:r>
              <a:rPr b="1" sz="1200" lang="he-IL"/>
              <a:t>שאלת היזכרות</a:t>
            </a:r>
          </a:p>
          <a:p>
            <a:pPr rtl="1" algn="r" marL="0" indent="0">
              <a:buNone/>
            </a:pPr>
            <a:r>
              <a:rPr sz="1200" lang="he-IL"/>
              <a:t>•  מה ההבדל בין Dockerfile ל־image?</a:t>
            </a:r>
          </a:p>
          <a:p>
            <a:pPr rtl="1" algn="r" marL="0" indent="0">
              <a:buNone/>
            </a:pPr>
            <a:r>
              <a:rPr b="1" sz="1200" lang="he-IL"/>
              <a:t>תשובה</a:t>
            </a:r>
          </a:p>
          <a:p>
            <a:pPr rtl="1" algn="r" marL="0" indent="0">
              <a:buNone/>
            </a:pPr>
            <a:r>
              <a:rPr sz="1200" lang="he-IL"/>
              <a:t>•  Dockerfile הוא המתכון, image התבנית שנבנית ממנו.</a:t>
            </a:r>
          </a:p>
          <a:p>
            <a:pPr rtl="1" algn="r" marL="0" indent="0">
              <a:buNone/>
            </a:pPr>
            <a:r>
              <a:rPr b="1" sz="1200" lang="he-IL"/>
              <a:t>אם הכיתה לא זוכרת</a:t>
            </a:r>
          </a:p>
          <a:p>
            <a:pPr rtl="1" algn="r" marL="0" indent="0">
              <a:buNone/>
            </a:pPr>
            <a:r>
              <a:rPr sz="1200" lang="he-IL"/>
              <a:t>•  ציירו על הלוח מכולת משא, כמו שנעשה במפגש 7.</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הכלל מ-12-factor: הגדרות נשמרות בסביבה, לא בקוד.</a:t>
            </a:r>
          </a:p>
          <a:p>
            <a:pPr rtl="1" algn="r" marL="0" indent="0">
              <a:buNone/>
            </a:pPr>
            <a:r>
              <a:rPr b="1" sz="1200" lang="he-IL"/>
              <a:t>מה אומרים</a:t>
            </a:r>
          </a:p>
          <a:p>
            <a:pPr rtl="1" algn="r" marL="0" indent="0">
              <a:buNone/>
            </a:pPr>
            <a:r>
              <a:rPr sz="1200" lang="he-IL"/>
              <a:t>•  מקומית: קובץ .env שלא עולה ל-Git.</a:t>
            </a:r>
          </a:p>
          <a:p>
            <a:pPr rtl="1" algn="r" marL="0" indent="0">
              <a:buNone/>
            </a:pPr>
            <a:r>
              <a:rPr sz="1200" lang="he-IL"/>
              <a:t>•  בפלטפורמה: מסך של Secrets או Environment Variables.</a:t>
            </a:r>
          </a:p>
          <a:p>
            <a:pPr rtl="1" algn="r" marL="0" indent="0">
              <a:buNone/>
            </a:pPr>
            <a:r>
              <a:rPr sz="1200" lang="he-IL"/>
              <a:t>•  אם מפתח עלה בטעות לקוד, מבטלים אותו (מפגש 10).</a:t>
            </a:r>
          </a:p>
          <a:p>
            <a:pPr rtl="1" algn="r" marL="0" indent="0">
              <a:buNone/>
            </a:pPr>
            <a:r>
              <a:rPr b="1" sz="1200" lang="he-IL"/>
              <a:t>שאלה לכיתה</a:t>
            </a:r>
          </a:p>
          <a:p>
            <a:pPr rtl="1" algn="r" marL="0" indent="0">
              <a:buNone/>
            </a:pPr>
            <a:r>
              <a:rPr sz="1200" lang="he-IL"/>
              <a:t>•  איך אותו קוד מתחבר למסד אחר בבדיקה ובייצור?</a:t>
            </a:r>
          </a:p>
          <a:p>
            <a:pPr rtl="1" algn="r" marL="0" indent="0">
              <a:buNone/>
            </a:pPr>
            <a:r>
              <a:rPr b="1" sz="1200" lang="he-IL"/>
              <a:t>תשובה</a:t>
            </a:r>
          </a:p>
          <a:p>
            <a:pPr rtl="1" algn="r" marL="0" indent="0">
              <a:buNone/>
            </a:pPr>
            <a:r>
              <a:rPr sz="1200" lang="he-IL"/>
              <a:t>•  משתנה סביבה אחר.</a:t>
            </a:r>
          </a:p>
          <a:p>
            <a:pPr rtl="1" algn="r" marL="0" indent="0">
              <a:buNone/>
            </a:pPr>
            <a:r>
              <a:rPr sz="1200" lang="he-IL"/>
              <a:t>•  הגדרה ומבחן: לפי עקרונות ה־12-factor (12factor.net, גורם III, Config), הגדרות שמשתנות בין פריסות נשמרות מחוץ לקוד.</a:t>
            </a:r>
          </a:p>
          <a:p>
            <a:pPr rtl="1" algn="r" marL="0" indent="0">
              <a:buNone/>
            </a:pPr>
            <a:r>
              <a:rPr sz="1200" lang="he-IL"/>
              <a:t>•  המבחן שהמסמך מציע: האם אפשר לפרסם את הקוד כקוד פתוח בכל רגע בלי לחשוף אף סוד?</a:t>
            </a:r>
          </a:p>
          <a:p>
            <a:pPr rtl="1" algn="r" marL="0" indent="0">
              <a:buNone/>
            </a:pPr>
            <a:r>
              <a:rPr sz="1200" lang="he-IL"/>
              <a:t>•  אם כן, ההגדרות הופרדו כראוי.</a:t>
            </a:r>
          </a:p>
          <a:p>
            <a:pPr rtl="1" algn="r" marL="0" indent="0">
              <a:buNone/>
            </a:pPr>
            <a:r>
              <a:rPr sz="1200" lang="he-IL"/>
              <a:t>•  דוגמה מהחנות: כתובת המסד של הבדיקות שונה מזו של הייצור, והקוד זהה.</a:t>
            </a:r>
          </a:p>
          <a:p>
            <a:pPr rtl="1" algn="r" marL="0" indent="0">
              <a:buNone/>
            </a:pPr>
            <a:r>
              <a:rPr b="1" sz="1200" lang="he-IL"/>
              <a:t>טעות נפוצה</a:t>
            </a:r>
          </a:p>
          <a:p>
            <a:pPr rtl="1" algn="r" marL="0" indent="0">
              <a:buNone/>
            </a:pPr>
            <a:r>
              <a:rPr sz="1200" lang="he-IL"/>
              <a:t>•  לשים מפתח בקובץ ״config.py״ שעולה ל־Git.</a:t>
            </a:r>
          </a:p>
          <a:p>
            <a:pPr rtl="1" algn="r" marL="0" indent="0">
              <a:buNone/>
            </a:pPr>
            <a:r>
              <a:rPr sz="1200" lang="he-IL"/>
              <a:t>•  קישור לאתיקה: מפתח שדלף הוא גם אירוע אבטחה וגם סיכון עלות (שקף העלות בהמשך).</a:t>
            </a:r>
          </a:p>
          <a:p>
            <a:pPr rtl="1" algn="r" marL="0" indent="0">
              <a:buNone/>
            </a:pPr>
            <a:r>
              <a:rPr sz="1200" lang="he-IL"/>
              <a:t>•  חיבור למפגש 10: os.environ["LLM_KEY"] כבר הופיע בדוגמת השירות של מפגש 7 וב־.env עם .gitignore של מפגש 10.</a:t>
            </a:r>
          </a:p>
          <a:p>
            <a:pPr rtl="1" algn="r" marL="0" indent="0">
              <a:buNone/>
            </a:pPr>
            <a:r>
              <a:rPr sz="1200" lang="he-IL"/>
              <a:t>•  הכלל של מפגש 10: כל סוד נשאר מחוץ לקוד, וכשמשהו דלף, קודם מבטלים.</a:t>
            </a:r>
          </a:p>
          <a:p>
            <a:pPr rtl="1" algn="r" marL="0" indent="0">
              <a:buNone/>
            </a:pPr>
            <a:r>
              <a:rPr b="1" sz="1200" lang="he-IL"/>
              <a:t>שאלת היזכרות</a:t>
            </a:r>
          </a:p>
          <a:p>
            <a:pPr rtl="1" algn="r" marL="0" indent="0">
              <a:buNone/>
            </a:pPr>
            <a:r>
              <a:rPr sz="1200" lang="he-IL"/>
              <a:t>•  מפתח עלה בטעות ל־Git, מה הצעד הראשון?</a:t>
            </a:r>
          </a:p>
          <a:p>
            <a:pPr rtl="1" algn="r" marL="0" indent="0">
              <a:buNone/>
            </a:pPr>
            <a:r>
              <a:rPr b="1" sz="1200" lang="he-IL"/>
              <a:t>תשובה</a:t>
            </a:r>
          </a:p>
          <a:p>
            <a:pPr rtl="1" algn="r" marL="0" indent="0">
              <a:buNone/>
            </a:pPr>
            <a:r>
              <a:rPr sz="1200" lang="he-IL"/>
              <a:t>•  לבטל (revoke) אצל הספק ורק אחר כך להחליף במפתח חדש.</a:t>
            </a:r>
          </a:p>
          <a:p>
            <a:pPr rtl="1" algn="r" marL="0" indent="0">
              <a:buNone/>
            </a:pPr>
            <a:r>
              <a:rPr b="1" sz="1200" lang="he-IL"/>
              <a:t>אם הכיתה לא זוכרת</a:t>
            </a:r>
          </a:p>
          <a:p>
            <a:pPr rtl="1" algn="r" marL="0" indent="0">
              <a:buNone/>
            </a:pPr>
            <a:r>
              <a:rPr sz="1200" lang="he-IL"/>
              <a:t>•  הזכירו שמחיקה מה־commit האחרון לא מוחקת את המפתח מההיסטוריה (git log -p -S, מפגש 10).</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בפלטפורמות חינמיות רבות הדיסק זמני: כל פריסה חדשה או הרדמה עלולה למחוק קבצים.</a:t>
            </a:r>
          </a:p>
          <a:p>
            <a:pPr rtl="1" algn="r" marL="0" indent="0">
              <a:buNone/>
            </a:pPr>
            <a:r>
              <a:rPr b="1" sz="1200" lang="he-IL"/>
              <a:t>מה אומרים</a:t>
            </a:r>
          </a:p>
          <a:p>
            <a:pPr rtl="1" algn="r" marL="0" indent="0">
              <a:buNone/>
            </a:pPr>
            <a:r>
              <a:rPr sz="1200" lang="he-IL"/>
              <a:t>•  שירות הדוגמה שלנו שומר SQLite בקובץ, ולכן הוא היה מאבד נתונים.</a:t>
            </a:r>
          </a:p>
          <a:p>
            <a:pPr rtl="1" algn="r" marL="0" indent="0">
              <a:buNone/>
            </a:pPr>
            <a:r>
              <a:rPr sz="1200" lang="he-IL"/>
              <a:t>•  פתרונות: מסד מנוהל (PostgreSQL של הפלטפורמה), אחסון חיצוני, או לשמור רק נתוני דמו שנטענים מחדש מקובץ בהפעלה (כמו שעושה השירות שלנו עם ה-CSV).</a:t>
            </a:r>
          </a:p>
          <a:p>
            <a:pPr rtl="1" algn="r" marL="0" indent="0">
              <a:buNone/>
            </a:pPr>
            <a:r>
              <a:rPr sz="1200" lang="he-IL"/>
              <a:t>•  לפרויקט: דמו עם נתונים סינתטיים שנטענים בהפעלה הוא פתרון תקין.</a:t>
            </a:r>
          </a:p>
          <a:p>
            <a:pPr rtl="1" algn="r" marL="0" indent="0">
              <a:buNone/>
            </a:pPr>
            <a:r>
              <a:rPr sz="1200" lang="he-IL"/>
              <a:t>•  הערה מאומתת מול תיעוד Render (22.10.2026): בשכבה החינמית גם מסד Postgres חינמי אינו קבוע, הוא פג 30 יום אחרי היצירה (עם 14 ימי חסד לשדרוג), בנפח של 1GB ובלי גיבויים.</a:t>
            </a:r>
          </a:p>
          <a:p>
            <a:pPr rtl="1" algn="r" marL="0" indent="0">
              <a:buNone/>
            </a:pPr>
            <a:r>
              <a:rPr sz="1200" lang="he-IL"/>
              <a:t>•  כלומר ״מסד מנוהל״ אינו אומר אוטומטית ״נתונים לתמיד״.</a:t>
            </a:r>
          </a:p>
          <a:p>
            <a:pPr rtl="1" algn="r" marL="0" indent="0">
              <a:buNone/>
            </a:pPr>
            <a:r>
              <a:rPr sz="1200" lang="he-IL"/>
              <a:t>•  מסקנה: לנתוני משתמשים אמיתיים צריך תוכנית (תשלום, גיבוי, מדיניות פרטיות), ולנתוני דמו מספיק לטעון קובץ בכל הפעלה.</a:t>
            </a:r>
          </a:p>
          <a:p>
            <a:pPr rtl="1" algn="r" marL="0" indent="0">
              <a:buNone/>
            </a:pPr>
            <a:r>
              <a:rPr b="1" sz="1200" lang="he-IL"/>
              <a:t>חיבור לשיעורים קודמים</a:t>
            </a:r>
          </a:p>
          <a:p>
            <a:pPr rtl="1" algn="r" marL="0" indent="0">
              <a:buNone/>
            </a:pPr>
            <a:r>
              <a:rPr sz="1200" lang="he-IL"/>
              <a:t>•  SQLite ומסד SQL עם סכמה הם חומר מפגש 7, ונתוני הדמו הסינתטיים הם הצד הירוק של רמזור הפרטיות ממפגש 5 (נתונים סינתטיים, דוגמאות, קוד ציבורי).</a:t>
            </a:r>
          </a:p>
          <a:p>
            <a:pPr rtl="1" algn="r" marL="0" indent="0">
              <a:buNone/>
            </a:pPr>
            <a:r>
              <a:rPr b="1" sz="1200" lang="he-IL"/>
              <a:t>שאלת היזכרות</a:t>
            </a:r>
          </a:p>
          <a:p>
            <a:pPr rtl="1" algn="r" marL="0" indent="0">
              <a:buNone/>
            </a:pPr>
            <a:r>
              <a:rPr sz="1200" lang="he-IL"/>
              <a:t>•  למה הנתונים בפרויקט שלנו בטוחים להדבקה לכלי AI?</a:t>
            </a:r>
          </a:p>
          <a:p>
            <a:pPr rtl="1" algn="r" marL="0" indent="0">
              <a:buNone/>
            </a:pPr>
            <a:r>
              <a:rPr b="1" sz="1200" lang="he-IL"/>
              <a:t>תשובה</a:t>
            </a:r>
          </a:p>
          <a:p>
            <a:pPr rtl="1" algn="r" marL="0" indent="0">
              <a:buNone/>
            </a:pPr>
            <a:r>
              <a:rPr sz="1200" lang="he-IL"/>
              <a:t>•  הם סינתטיים, ולכן ירוקים ברמזור (מפגש 5).</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הסילבוס דורש עמוד נחיתה עם סרטון הדגמה, הסבר על תהליך העבודה, וקישור לדמו חי איפה שרלוונטי.</a:t>
            </a:r>
          </a:p>
          <a:p>
            <a:pPr rtl="1" algn="r" marL="0" indent="0">
              <a:buNone/>
            </a:pPr>
            <a:r>
              <a:rPr b="1" sz="1200" lang="he-IL"/>
              <a:t>מה אומרים</a:t>
            </a:r>
          </a:p>
          <a:p>
            <a:pPr rtl="1" algn="r" marL="0" indent="0">
              <a:buNone/>
            </a:pPr>
            <a:r>
              <a:rPr sz="1200" lang="he-IL"/>
              <a:t>•  זה גם מה שמציגים במפגש 13.</a:t>
            </a:r>
          </a:p>
          <a:p>
            <a:pPr rtl="1" algn="r" marL="0" indent="0">
              <a:buNone/>
            </a:pPr>
            <a:r>
              <a:rPr sz="1200" lang="he-IL"/>
              <a:t>•  הצגה: מה כל חלק בעמוד עושה.</a:t>
            </a:r>
          </a:p>
          <a:p>
            <a:pPr rtl="1" algn="r" marL="0" indent="0">
              <a:buNone/>
            </a:pPr>
            <a:r>
              <a:rPr sz="1200" lang="he-IL"/>
              <a:t>•  הסרטון: 1-3 דקות, מראה בעיה, הפעלה ותוצאה.</a:t>
            </a:r>
          </a:p>
          <a:p>
            <a:pPr rtl="1" algn="r" marL="0" indent="0">
              <a:buNone/>
            </a:pPr>
            <a:r>
              <a:rPr sz="1200" lang="he-IL"/>
              <a:t>•  תהליך העבודה: איך השתמשתם ב-AI, כולל יומן השימוש והיסטוריית ה-commits.</a:t>
            </a:r>
          </a:p>
          <a:p>
            <a:pPr rtl="1" algn="r" marL="0" indent="0">
              <a:buNone/>
            </a:pPr>
            <a:r>
              <a:rPr sz="1200" lang="he-IL"/>
              <a:t>•  אחריות ומגבלות: כנות לגבי מה לא נבדק.</a:t>
            </a:r>
          </a:p>
          <a:p>
            <a:pPr rtl="1" algn="r" marL="0" indent="0">
              <a:buNone/>
            </a:pPr>
            <a:r>
              <a:rPr sz="1200" lang="he-IL"/>
              <a:t>•  במעבדה הבאה: בונים עמוד נחיתה מתבנית ובודקים אותו בקוד.</a:t>
            </a:r>
          </a:p>
          <a:p>
            <a:pPr rtl="1" algn="r" marL="0" indent="0">
              <a:buNone/>
            </a:pPr>
            <a:r>
              <a:rPr sz="1200" lang="he-IL"/>
              <a:t>•  הפרסום עצמו ב־GitHub Pages נעשה בפרויקט הקבוצתי.</a:t>
            </a:r>
          </a:p>
          <a:p>
            <a:pPr rtl="1" algn="r" marL="0" indent="0">
              <a:buNone/>
            </a:pPr>
            <a:r>
              <a:rPr sz="1200" lang="he-IL"/>
              <a:t>•  קישור לחלק ג׳: עמוד ציבורי נחשב ״פרסום״, ולכן כל טענה בו היא טענה שהפרויקט אחראי לה.</a:t>
            </a:r>
          </a:p>
          <a:p>
            <a:pPr rtl="1" algn="r" marL="0" indent="0">
              <a:buNone/>
            </a:pPr>
            <a:r>
              <a:rPr sz="1200" lang="he-IL"/>
              <a:t>•  לכן שקף ״אחריות ומגבלות״ אינו קישוט, והצהרת ה־AI (id בשם ai-disclosure במחברת) היא חלק מהצ'קליסט.</a:t>
            </a:r>
          </a:p>
          <a:p>
            <a:pPr rtl="1" algn="r" marL="0" indent="0">
              <a:buNone/>
            </a:pPr>
            <a:r>
              <a:rPr sz="1200" lang="he-IL"/>
              <a:t>•  בעמוד ציבורי: בלי שמות מלאים, בלי מידע אישי, ובלי הבטחות שלא נבדקו.</a:t>
            </a:r>
          </a:p>
          <a:p>
            <a:pPr rtl="1" algn="r" marL="0" indent="0">
              <a:buNone/>
            </a:pPr>
            <a:r>
              <a:rPr b="1" sz="1200" lang="he-IL"/>
              <a:t>חיבור לשיעורים קודמים</a:t>
            </a:r>
          </a:p>
          <a:p>
            <a:pPr rtl="1" algn="r" marL="0" indent="0">
              <a:buNone/>
            </a:pPr>
            <a:r>
              <a:rPr sz="1200" lang="he-IL"/>
              <a:t>•  יומן השימוש ב־AI (AI_LOG.md) ממפגש 5 והיסטוריית ה־commits ממפגש 6 הם הראיה לתהליך העבודה שמופיע בעמוד.</a:t>
            </a:r>
          </a:p>
          <a:p>
            <a:pPr rtl="1" algn="r" marL="0" indent="0">
              <a:buNone/>
            </a:pPr>
            <a:r>
              <a:rPr sz="1200" lang="he-IL"/>
              <a:t>•  בדקו שהם קיימים במאגר לפני שמציגים את העמוד.</a:t>
            </a:r>
          </a:p>
          <a:p>
            <a:pPr rtl="1" algn="r" marL="0" indent="0">
              <a:buNone/>
            </a:pPr>
            <a:r>
              <a:rPr b="1" sz="1200" lang="he-IL"/>
              <a:t>שאלת היזכרות</a:t>
            </a:r>
          </a:p>
          <a:p>
            <a:pPr rtl="1" algn="r" marL="0" indent="0">
              <a:buNone/>
            </a:pPr>
            <a:r>
              <a:rPr sz="1200" lang="he-IL"/>
              <a:t>•  מה רושמים ביומן על כל שימוש משמעותי ב־AI?</a:t>
            </a:r>
          </a:p>
          <a:p>
            <a:pPr rtl="1" algn="r" marL="0" indent="0">
              <a:buNone/>
            </a:pPr>
            <a:r>
              <a:rPr b="1" sz="1200" lang="he-IL"/>
              <a:t>תשובה</a:t>
            </a:r>
          </a:p>
          <a:p>
            <a:pPr rtl="1" algn="r" marL="0" indent="0">
              <a:buNone/>
            </a:pPr>
            <a:r>
              <a:rPr sz="1200" lang="he-IL"/>
              <a:t>•  מה ביקשתי, מה קיבלתי, איך אימתתי והחלטה (מפגש 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לסוף חלק א׳ (כ-2 דקות).</a:t>
            </a:r>
          </a:p>
          <a:p>
            <a:pPr rtl="1" algn="r" marL="0" indent="0">
              <a:buNone/>
            </a:pPr>
            <a:r>
              <a:rPr b="1" sz="1200" lang="he-IL"/>
              <a:t>מה אומרים</a:t>
            </a:r>
          </a:p>
          <a:p>
            <a:pPr rtl="1" algn="r" marL="0" indent="0">
              <a:buNone/>
            </a:pPr>
            <a:r>
              <a:rPr sz="1200" lang="he-IL"/>
              <a:t>•  הקריאו את התרחיש בקול: שירות שומר נתונים בקובץ SQLite, נפרס בפלטפורמה חינמית, ואחרי פריסה חדשה הנתונים נעלמו.</a:t>
            </a:r>
          </a:p>
          <a:p>
            <a:pPr rtl="1" algn="r" marL="0" indent="0">
              <a:buNone/>
            </a:pPr>
            <a:r>
              <a:rPr sz="1200" lang="he-IL"/>
              <a:t>•  תנו לסטודנטים דקה לחשוב בזוגות, ואספו שתי תשובות לפני שעוברים לשקף התשובה.</a:t>
            </a:r>
          </a:p>
          <a:p>
            <a:pPr rtl="1" algn="r" marL="0" indent="0">
              <a:buNone/>
            </a:pPr>
            <a:r>
              <a:rPr sz="1200" lang="he-IL"/>
              <a:t>•  רמז אם נתקעים: איפה הקובץ נשמר בפועל, ומה קורה לדיסק כשהקונטיינר נוצר מחדש (מפגש 7)?</a:t>
            </a:r>
          </a:p>
          <a:p>
            <a:pPr rtl="1" algn="r" marL="0" indent="0">
              <a:buNone/>
            </a:pPr>
            <a:r>
              <a:rPr b="1" sz="1200" lang="he-IL"/>
              <a:t>טעות נפוצה</a:t>
            </a:r>
          </a:p>
          <a:p>
            <a:pPr rtl="1" algn="r" marL="0" indent="0">
              <a:buNone/>
            </a:pPr>
            <a:r>
              <a:rPr sz="1200" lang="he-IL"/>
              <a:t>•  לחשוב שיש באג בקוד, בזמן שהבעיה בסביבה.</a:t>
            </a:r>
          </a:p>
          <a:p>
            <a:pPr rtl="1" algn="r" marL="0" indent="0">
              <a:buNone/>
            </a:pPr>
            <a:r>
              <a:rPr sz="1200" lang="he-IL"/>
              <a:t>•  אל תחשפו את התשובה לפני שלפחות סטודנט אחד ניסה.</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תשובה (כ-2 דקות).</a:t>
            </a:r>
          </a:p>
          <a:p>
            <a:pPr rtl="1" algn="r" marL="0" indent="0">
              <a:buNone/>
            </a:pPr>
            <a:r>
              <a:rPr b="1" sz="1200" lang="he-IL"/>
              <a:t>מה אומרים</a:t>
            </a:r>
          </a:p>
          <a:p>
            <a:pPr rtl="1" algn="r" marL="0" indent="0">
              <a:buNone/>
            </a:pPr>
            <a:r>
              <a:rPr sz="1200" lang="he-IL"/>
              <a:t>•  הדיסק של הקונטיינר זמני: קבצים שנכתבו בזמן ריצה נמחקים כשנוצר קונטיינר חדש, בפריסה חדשה או אחרי הרדמה של השירות.</a:t>
            </a:r>
          </a:p>
          <a:p>
            <a:pPr rtl="1" algn="r" marL="0" indent="0">
              <a:buNone/>
            </a:pPr>
            <a:r>
              <a:rPr sz="1200" lang="he-IL"/>
              <a:t>•  לכן SQLite בקובץ מתאים לפיתוח אבל לא לשמירה לטווח ארוך בפלטפורמה חינמית.</a:t>
            </a:r>
          </a:p>
          <a:p>
            <a:pPr rtl="1" algn="r" marL="0" indent="0">
              <a:buNone/>
            </a:pPr>
            <a:r>
              <a:rPr sz="1200" lang="he-IL"/>
              <a:t>•  שני פתרונות: מסד נתונים מנוהל שנשאר בין פריסות, או נתוני דמו שנטענים מקובץ בכל הפעלה, וזה מספיק לפרויקט.</a:t>
            </a:r>
          </a:p>
          <a:p>
            <a:pPr rtl="1" algn="r" marL="0" indent="0">
              <a:buNone/>
            </a:pPr>
            <a:r>
              <a:rPr sz="1200" lang="he-IL"/>
              <a:t>•  שאלת המשך: ומה אם אלה נתוני משתמשים אמיתיים?</a:t>
            </a:r>
          </a:p>
          <a:p>
            <a:pPr rtl="1" algn="r" marL="0" indent="0">
              <a:buNone/>
            </a:pPr>
            <a:r>
              <a:rPr b="1" sz="1200" lang="he-IL"/>
              <a:t>תשובה</a:t>
            </a:r>
          </a:p>
          <a:p>
            <a:pPr rtl="1" algn="r" marL="0" indent="0">
              <a:buNone/>
            </a:pPr>
            <a:r>
              <a:rPr sz="1200" lang="he-IL"/>
              <a:t>•  צריך מסד שנשמר, גיבוי ומדיניות פרטיות (חלק ג׳).</a:t>
            </a:r>
          </a:p>
          <a:p>
            <a:pPr rtl="1" algn="r" marL="0" indent="0">
              <a:buNone/>
            </a:pPr>
            <a:r>
              <a:rPr sz="1200" lang="he-IL"/>
              <a:t>•  זו אחת התקלות הראשונות שסטודנטים נתקלים בהן בפריסה ראשונה, ולכן שווה לעצור עליה.</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א׳, 12 דקות, בזוגות, בתוך מחברת Colab אחת (HM_12) שמלווה את כל המעבדות של המפגש.</a:t>
            </a:r>
          </a:p>
          <a:p>
            <a:pPr rtl="1" algn="r" marL="0" indent="0">
              <a:buNone/>
            </a:pPr>
            <a:r>
              <a:rPr b="1" sz="1200" lang="he-IL"/>
              <a:t>מה אומרים</a:t>
            </a:r>
          </a:p>
          <a:p>
            <a:pPr rtl="1" algn="r" marL="0" indent="0">
              <a:buNone/>
            </a:pPr>
            <a:r>
              <a:rPr sz="1200" lang="he-IL"/>
              <a:t>•  סדר המחברת שונה מסדר השקפים: במחברת חלק א׳ הוא הצ'קליסט וחלק ב׳ הוא עמוד הנחיתה, ולכן במעבדה הזו הסטודנטים מריצים את שני תאי ההכנה בראש המחברת וקופצים לחלק ב׳ (11 דקות בתכנון).</a:t>
            </a:r>
          </a:p>
          <a:p>
            <a:pPr rtl="1" algn="r" marL="0" indent="0">
              <a:buNone/>
            </a:pPr>
            <a:r>
              <a:rPr sz="1200" lang="he-IL"/>
              <a:t>•  הם כותבים שלוש פונקציות: link_or_placeholder (קישור אמיתי, או טקסט ממלא מקום אחרי html.escape), build_landing (ממלאת את התבנית) ו־validate_html (בודקת את העמוד עם html.parser).</a:t>
            </a:r>
          </a:p>
          <a:p>
            <a:pPr rtl="1" algn="r" marL="0" indent="0">
              <a:buNone/>
            </a:pPr>
            <a:r>
              <a:rPr sz="1200" lang="he-IL"/>
              <a:t>•  בתא האחרון נכתב docs/index.html ומוצגת תצוגה מקדימה.</a:t>
            </a:r>
          </a:p>
          <a:p>
            <a:pPr rtl="1" algn="r" marL="0" indent="0">
              <a:buNone/>
            </a:pPr>
            <a:r>
              <a:rPr sz="1200" lang="he-IL"/>
              <a:t>•  חשוב לומר בקול: GitHub Pages לא רץ ב־Colab, והפרסום עצמו נעשה בפרויקט הקבוצתי, לפי השקפים שאחרי מה אמור לצאת.</a:t>
            </a:r>
          </a:p>
          <a:p>
            <a:pPr rtl="1" algn="r" marL="0" indent="0">
              <a:buNone/>
            </a:pPr>
            <a:r>
              <a:rPr b="1" sz="1200" lang="he-IL"/>
              <a:t>הכנה לפני השיעור</a:t>
            </a:r>
          </a:p>
          <a:p>
            <a:pPr rtl="1" algn="r" marL="0" indent="0">
              <a:buNone/>
            </a:pPr>
            <a:r>
              <a:rPr sz="1200" lang="he-IL"/>
              <a:t>•  להעלות את HM_12.ipynb ל־Colab או ל־Drive ולהחליף את ה־QR (מקום שמור) בקישור אמיתי; לפתוח את HM_12_SOLUTION ולהריץ Run all פעם אחת.</a:t>
            </a:r>
          </a:p>
          <a:p>
            <a:pPr rtl="1" algn="r" marL="0" indent="0">
              <a:buNone/>
            </a:pPr>
            <a:r>
              <a:rPr sz="1200" lang="he-IL"/>
              <a:t>•  הערות מפורטות בקובץ הערות_למרצה_HM_12.md.</a:t>
            </a:r>
          </a:p>
          <a:p>
            <a:pPr rtl="1" algn="r" marL="0" indent="0">
              <a:buNone/>
            </a:pPr>
            <a:r>
              <a:rPr sz="1200" lang="he-IL"/>
              <a:t>•  מי שלא סיים את חלק ב׳ ממשיך בבית.</a:t>
            </a:r>
          </a:p>
          <a:p>
            <a:pPr rtl="1" algn="r" marL="0" indent="0">
              <a:buNone/>
            </a:pPr>
            <a:r>
              <a:rPr sz="1200" lang="he-IL"/>
              <a:t>•  למה עושים את זה (הקשר לתיאוריה): בחלק א׳ ראיתם שעמוד נחיתה הוא הפנים הציבוריות של הפרויקט, ושכל טענה בו היא טענה שאתם אחראים לה (חלק ג׳).</a:t>
            </a:r>
          </a:p>
          <a:p>
            <a:pPr rtl="1" algn="r" marL="0" indent="0">
              <a:buNone/>
            </a:pPr>
            <a:r>
              <a:rPr sz="1200" lang="he-IL"/>
              <a:t>•  במעבדה הופכים את הרעיון הזה לקוד: link_or_placeholder מונעת המצאת קישורים, ו־validate_html בודקת שהעמוד כולל כותרת, תמונות עם alt והצהרת AI.</a:t>
            </a:r>
          </a:p>
          <a:p>
            <a:pPr rtl="1" algn="r" marL="0" indent="0">
              <a:buNone/>
            </a:pPr>
            <a:r>
              <a:rPr sz="1200" lang="he-IL"/>
              <a:t>•  בדיקה מבנית כזו אינה תחליף לבדיקה בדפדפן ובטלפון, וזה בדיוק מה שנעשה בפרויקט.</a:t>
            </a:r>
          </a:p>
          <a:p>
            <a:pPr rtl="1" algn="r" marL="0" indent="0">
              <a:buNone/>
            </a:pPr>
            <a:r>
              <a:rPr b="1" sz="1200" lang="he-IL"/>
              <a:t>חיבור לשיעורים קודמים</a:t>
            </a:r>
          </a:p>
          <a:p>
            <a:pPr rtl="1" algn="r" marL="0" indent="0">
              <a:buNone/>
            </a:pPr>
            <a:r>
              <a:rPr sz="1200" lang="he-IL"/>
              <a:t>•  validate_html היא אותו רעיון של בדיקת תוצאה מול ידוע שהכרתם במפגש 5 (validate_top5), עם הגבלה שלמדנו במפגש 8: בדיקה בודקת רק מה שכתבתם בה. link_or_placeholder עם html.escape נשענת על כלל מפגש 10: טקסט מבחוץ הוא נתונים ולא הוראות.</a:t>
            </a:r>
          </a:p>
          <a:p>
            <a:pPr rtl="1" algn="r" marL="0" indent="0">
              <a:buNone/>
            </a:pPr>
            <a:r>
              <a:rPr sz="1200" lang="he-IL"/>
              <a:t>•  הכתיבה לתיקיית docs ו־commit הם מפגש 6.</a:t>
            </a:r>
          </a:p>
          <a:p>
            <a:pPr rtl="1" algn="r" marL="0" indent="0">
              <a:buNone/>
            </a:pPr>
            <a:r>
              <a:rPr b="1" sz="1200" lang="he-IL"/>
              <a:t>שאלת היזכרות</a:t>
            </a:r>
          </a:p>
          <a:p>
            <a:pPr rtl="1" algn="r" marL="0" indent="0">
              <a:buNone/>
            </a:pPr>
            <a:r>
              <a:rPr sz="1200" lang="he-IL"/>
              <a:t>•  validate_html החזירה רשימה ריקה, מה זה עדיין לא מבטיח?</a:t>
            </a:r>
          </a:p>
          <a:p>
            <a:pPr rtl="1" algn="r" marL="0" indent="0">
              <a:buNone/>
            </a:pPr>
            <a:r>
              <a:rPr b="1" sz="1200" lang="he-IL"/>
              <a:t>תשובה</a:t>
            </a:r>
          </a:p>
          <a:p>
            <a:pPr rtl="1" algn="r" marL="0" indent="0">
              <a:buNone/>
            </a:pPr>
            <a:r>
              <a:rPr sz="1200" lang="he-IL"/>
              <a:t>•  שהכתובת נפתחת ושהעמוד נראה טוב (מפגש 8: ירוק מעיד על מה שנבדק בלבד).</a:t>
            </a:r>
          </a:p>
          <a:p>
            <a:pPr rtl="1" algn="r" marL="0" indent="0">
              <a:buNone/>
            </a:pPr>
            <a:r>
              <a:rPr b="1" sz="1200" lang="he-IL"/>
              <a:t>אם הכיתה לא זוכרת</a:t>
            </a:r>
          </a:p>
          <a:p>
            <a:pPr rtl="1" algn="r" marL="0" indent="0">
              <a:buNone/>
            </a:pPr>
            <a:r>
              <a:rPr sz="1200" lang="he-IL"/>
              <a:t>•  חזרו לבדיקת התוצאה מול ידוע במפגש 5.</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א׳ בפרויקט הקבוצתי, אחרי המחברת (כ־3 דקות).</a:t>
            </a:r>
          </a:p>
          <a:p>
            <a:pPr rtl="1" algn="r" marL="0" indent="0">
              <a:buNone/>
            </a:pPr>
            <a:r>
              <a:rPr b="1" sz="1200" lang="he-IL"/>
              <a:t>מה אומרים</a:t>
            </a:r>
          </a:p>
          <a:p>
            <a:pPr rtl="1" algn="r" marL="0" indent="0">
              <a:buNone/>
            </a:pPr>
            <a:r>
              <a:rPr sz="1200" lang="he-IL"/>
              <a:t>•  זו חלופה לבניית העמוד בקוד, והיא גם בונוס 2 במחברת: מדביקים ל־AI תיאור קצר של הפרויקט ומבקשים למלא את התבנית index.html שבחבילה (landing-page) בעברית, בלי לשנות מבנה ועיצוב.</a:t>
            </a:r>
          </a:p>
          <a:p>
            <a:pPr rtl="1" algn="r" marL="0" indent="0">
              <a:buNone/>
            </a:pPr>
            <a:r>
              <a:rPr sz="1200" lang="he-IL"/>
              <a:t>•  הדגישו את ההוראה אל תמציא תכונות: מודלים נוטים לייפות ולהוסיף יכולות שלא קיימות.</a:t>
            </a:r>
          </a:p>
          <a:p>
            <a:pPr rtl="1" algn="r" marL="0" indent="0">
              <a:buNone/>
            </a:pPr>
            <a:r>
              <a:rPr sz="1200" lang="he-IL"/>
              <a:t>•  מיד אחרי זה קוראים כל משפט ומוחקים כל טענה שהמערכת לא באמת מקיימת, כי עמוד נחיתה לא מבטיח יותר ממה שנבדק (קשר לאחריות בחלק ג׳).</a:t>
            </a:r>
          </a:p>
          <a:p>
            <a:pPr rtl="1" algn="r" marL="0" indent="0">
              <a:buNone/>
            </a:pPr>
            <a:r>
              <a:rPr sz="1200" lang="he-IL"/>
              <a:t>•  מי שבנה את העמוד עם build_landing יכול לדלג על השלב הזה, אבל גם הוא קורא כל משפט.</a:t>
            </a:r>
          </a:p>
          <a:p>
            <a:pPr rtl="1" algn="r" marL="0" indent="0">
              <a:buNone/>
            </a:pPr>
            <a:r>
              <a:rPr sz="1200" lang="he-IL"/>
              <a:t>•  מקום הסרטון והדמו נשארים ממלאי מקום ולא ממציאים קישור.</a:t>
            </a:r>
          </a:p>
          <a:p>
            <a:pPr rtl="1" algn="r" marL="0" indent="0">
              <a:buNone/>
            </a:pPr>
            <a:r>
              <a:rPr sz="1200" lang="he-IL"/>
              <a:t>•  העמוד ציבורי: בלי שמות מלאים ובלי פרטים אישיים.</a:t>
            </a:r>
          </a:p>
          <a:p>
            <a:pPr rtl="1" algn="r" marL="0" indent="0">
              <a:buNone/>
            </a:pPr>
            <a:r>
              <a:rPr sz="1200" lang="he-IL"/>
              <a:t>•  אם אין כלי AI זמין, ממלאים ידנית מתוך ה־README.</a:t>
            </a:r>
          </a:p>
          <a:p>
            <a:pPr rtl="1" algn="r" marL="0" indent="0">
              <a:buNone/>
            </a:pPr>
            <a:r>
              <a:rPr b="1" sz="1200" lang="he-IL"/>
              <a:t>חיבור לשיעורים קודמים</a:t>
            </a:r>
          </a:p>
          <a:p>
            <a:pPr rtl="1" algn="r" marL="0" indent="0">
              <a:buNone/>
            </a:pPr>
            <a:r>
              <a:rPr sz="1200" lang="he-IL"/>
              <a:t>•  הוראת ״אל תמציא תכונות״ עונה על מה שלמדנו במפגש 2: מודל ממציא בביטחון, והאימות הוא תפקידכם.</a:t>
            </a:r>
          </a:p>
          <a:p>
            <a:pPr rtl="1" algn="r" marL="0" indent="0">
              <a:buNone/>
            </a:pPr>
            <a:r>
              <a:rPr sz="1200" lang="he-IL"/>
              <a:t>•  גם הכלל ממפגש 1 חל: קוראים, מבינים ובודקים כל שורה לפני שמגישים.</a:t>
            </a:r>
          </a:p>
          <a:p>
            <a:pPr rtl="1" algn="r" marL="0" indent="0">
              <a:buNone/>
            </a:pPr>
            <a:r>
              <a:rPr sz="1200" lang="he-IL"/>
              <a:t>•  מבנה פרומפט עם הוראות ברורות ותבנית שאין לשנות שייך לנושא הנדסת פרומפטים (מפגש 3, לפי הנושא בסילבוס).</a:t>
            </a:r>
          </a:p>
          <a:p>
            <a:pPr rtl="1" algn="r" marL="0" indent="0">
              <a:buNone/>
            </a:pPr>
            <a:r>
              <a:rPr b="1" sz="1200" lang="he-IL"/>
              <a:t>שאלת היזכרות</a:t>
            </a:r>
          </a:p>
          <a:p>
            <a:pPr rtl="1" algn="r" marL="0" indent="0">
              <a:buNone/>
            </a:pPr>
            <a:r>
              <a:rPr sz="1200" lang="he-IL"/>
              <a:t>•  מהי הזיה?</a:t>
            </a:r>
          </a:p>
          <a:p>
            <a:pPr rtl="1" algn="r" marL="0" indent="0">
              <a:buNone/>
            </a:pPr>
            <a:r>
              <a:rPr b="1" sz="1200" lang="he-IL"/>
              <a:t>תשובה</a:t>
            </a:r>
          </a:p>
          <a:p>
            <a:pPr rtl="1" algn="r" marL="0" indent="0">
              <a:buNone/>
            </a:pPr>
            <a:r>
              <a:rPr sz="1200" lang="he-IL"/>
              <a:t>•  המודל ממציא דבר שלא קיים, בביטחון מלא (מפגש 2).</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א׳ בפרויקט הקבוצתי, העלאה ל־GitHub (כ־4 דקות).</a:t>
            </a:r>
          </a:p>
          <a:p>
            <a:pPr rtl="1" algn="r" marL="0" indent="0">
              <a:buNone/>
            </a:pPr>
            <a:r>
              <a:rPr b="1" sz="1200" lang="he-IL"/>
              <a:t>מה אומרים</a:t>
            </a:r>
          </a:p>
          <a:p>
            <a:pPr rtl="1" algn="r" marL="0" indent="0">
              <a:buNone/>
            </a:pPr>
            <a:r>
              <a:rPr sz="1200" lang="he-IL"/>
              <a:t>•  זה החלק שלא רץ ב־Colab.</a:t>
            </a:r>
          </a:p>
          <a:p>
            <a:pPr rtl="1" algn="r" marL="0" indent="0">
              <a:buNone/>
            </a:pPr>
            <a:r>
              <a:rPr sz="1200" lang="he-IL"/>
              <a:t>•  תלמיד אחד בכל קבוצה מוריד את index.html מחלונית הקבצים של המחברת (קליק ימני ← Download</a:t>
            </a:r>
          </a:p>
          <a:p>
            <a:pPr rtl="1" algn="r" marL="0" indent="0">
              <a:buNone/>
            </a:pPr>
            <a:r>
              <a:rPr sz="1200" lang="he-IL"/>
              <a:t>•  המחברת כותבת את docs/index.html עם ה־CSS בתוך הקובץ), או מעתיק את index.html ואת style.css מתבנית החבילה, ומעלה לתיקייה docs במאגר הקבוצתי (מפגש 6): commit עם ההודעה Add landing page, push, ובדיקה שהקבצים מופיעים ב־GitHub.</a:t>
            </a:r>
          </a:p>
          <a:p>
            <a:pPr rtl="1" algn="r" marL="0" indent="0">
              <a:buNone/>
            </a:pPr>
            <a:r>
              <a:rPr sz="1200" lang="he-IL"/>
              <a:t>•  מי שמתקשה עם שורת הפקודה יכול להעלות דרך ממשק האתר.</a:t>
            </a:r>
          </a:p>
          <a:p>
            <a:pPr rtl="1" algn="r" marL="0" indent="0">
              <a:buNone/>
            </a:pPr>
            <a:r>
              <a:rPr sz="1200" lang="he-IL"/>
              <a:t>•  הסעיף האחרון חשוב: לוודא שאין מפתח או מידע אישי, כי העמוד ציבורי, בדיוק כמו ב־find_secrets שבמחברת: קובץ env, קובץ pem או מפתח בתוך הקוד.</a:t>
            </a:r>
          </a:p>
          <a:p>
            <a:pPr rtl="1" algn="r" marL="0" indent="0">
              <a:buNone/>
            </a:pPr>
            <a:r>
              <a:rPr b="1" sz="1200" lang="he-IL"/>
              <a:t>טעות נפוצה</a:t>
            </a:r>
          </a:p>
          <a:p>
            <a:pPr rtl="1" algn="r" marL="0" indent="0">
              <a:buNone/>
            </a:pPr>
            <a:r>
              <a:rPr sz="1200" lang="he-IL"/>
              <a:t>•  הקבצים הועלו לשורש ולא ל־docs, או ש־style.css נמצא בתיקייה אחרת מ־index.html והעמוד נראה בלי עיצוב.</a:t>
            </a:r>
          </a:p>
          <a:p>
            <a:pPr rtl="1" algn="r" marL="0" indent="0">
              <a:buNone/>
            </a:pPr>
            <a:r>
              <a:rPr sz="1200" lang="he-IL"/>
              <a:t>•  הקישור לעמוד החי נאסף בפורום הקורס, כראיה שהפרסום הצליח.</a:t>
            </a:r>
          </a:p>
          <a:p>
            <a:pPr rtl="1" algn="r" marL="0" indent="0">
              <a:buNone/>
            </a:pPr>
            <a:r>
              <a:rPr b="1" sz="1200" lang="he-IL"/>
              <a:t>חיבור לשיעורים קודמים</a:t>
            </a:r>
          </a:p>
          <a:p>
            <a:pPr rtl="1" algn="r" marL="0" indent="0">
              <a:buNone/>
            </a:pPr>
            <a:r>
              <a:rPr sz="1200" lang="he-IL"/>
              <a:t>•  זה הרצף של מפגש 6: commit אחרי שינוי, push, ובדיקה ב־GitHub.</a:t>
            </a:r>
          </a:p>
          <a:p>
            <a:pPr rtl="1" algn="r" marL="0" indent="0">
              <a:buNone/>
            </a:pPr>
            <a:r>
              <a:rPr sz="1200" lang="he-IL"/>
              <a:t>•  הסעיף האחרון הוא כלל מפגש 10: כל סוד נשאר מחוץ לקוד, ואין מפתח או מידע אישי בקבצים.</a:t>
            </a:r>
          </a:p>
          <a:p>
            <a:pPr rtl="1" algn="r" marL="0" indent="0">
              <a:buNone/>
            </a:pPr>
            <a:r>
              <a:rPr b="1" sz="1200" lang="he-IL"/>
              <a:t>שאלת היזכרות</a:t>
            </a:r>
          </a:p>
          <a:p>
            <a:pPr rtl="1" algn="r" marL="0" indent="0">
              <a:buNone/>
            </a:pPr>
            <a:r>
              <a:rPr sz="1200" lang="he-IL"/>
              <a:t>•  מה בודקים ב־diff לפני commit?</a:t>
            </a:r>
          </a:p>
          <a:p>
            <a:pPr rtl="1" algn="r" marL="0" indent="0">
              <a:buNone/>
            </a:pPr>
            <a:r>
              <a:rPr b="1" sz="1200" lang="he-IL"/>
              <a:t>תשובה</a:t>
            </a:r>
          </a:p>
          <a:p>
            <a:pPr rtl="1" algn="r" marL="0" indent="0">
              <a:buNone/>
            </a:pPr>
            <a:r>
              <a:rPr sz="1200" lang="he-IL"/>
              <a:t>•  מה השתנה, ושאין בו סוד או שינוי שלא התכוונתם אליו.</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א׳ בפרויקט הקבוצתי, הפעלת Pages (כ־3 דקות).</a:t>
            </a:r>
          </a:p>
          <a:p>
            <a:pPr rtl="1" algn="r" marL="0" indent="0">
              <a:buNone/>
            </a:pPr>
            <a:r>
              <a:rPr b="1" sz="1200" lang="he-IL"/>
              <a:t>מה אומרים</a:t>
            </a:r>
          </a:p>
          <a:p>
            <a:pPr rtl="1" algn="r" marL="0" indent="0">
              <a:buNone/>
            </a:pPr>
            <a:r>
              <a:rPr sz="1200" lang="he-IL"/>
              <a:t>•  הפעולה הזו לא אפשרית ב־Colab, ולכן היא נעשית רק בפרויקט.</a:t>
            </a:r>
          </a:p>
          <a:p>
            <a:pPr rtl="1" algn="r" marL="0" indent="0">
              <a:buNone/>
            </a:pPr>
            <a:r>
              <a:rPr sz="1200" lang="he-IL"/>
              <a:t>•  ב־GitHub נכנסים להגדרות המאגר (Settings), לסעיף Pages, ובוחרים Deploy from a branch ואת הענף main והתיקייה docs.</a:t>
            </a:r>
          </a:p>
          <a:p>
            <a:pPr rtl="1" algn="r" marL="0" indent="0">
              <a:buNone/>
            </a:pPr>
            <a:r>
              <a:rPr sz="1200" lang="he-IL"/>
              <a:t>•  לפי תיעוד GitHub (נבדק 22.10.2026) יש שני מקורות פרסום: ענף (שורש המאגר או התיקייה docs בלבד) או GitHub Actions.</a:t>
            </a:r>
          </a:p>
          <a:p>
            <a:pPr rtl="1" algn="r" marL="0" indent="0">
              <a:buNone/>
            </a:pPr>
            <a:r>
              <a:rPr sz="1200" lang="he-IL"/>
              <a:t>•  הממשק משתנה לעיתים קרובות, ולכן השקף מתאר את הרעיון ולא צילום מסך.</a:t>
            </a:r>
          </a:p>
          <a:p>
            <a:pPr rtl="1" algn="r" marL="0" indent="0">
              <a:buNone/>
            </a:pPr>
            <a:r>
              <a:rPr sz="1200" lang="he-IL"/>
              <a:t>•  הכתובת הרגילה היא שם־משתמש.github.io/שם־מאגר.</a:t>
            </a:r>
          </a:p>
          <a:p>
            <a:pPr rtl="1" algn="r" marL="0" indent="0">
              <a:buNone/>
            </a:pPr>
            <a:r>
              <a:rPr sz="1200" lang="he-IL"/>
              <a:t>•  דרישה: בחשבון GitHub Free המאגר חייב להיות ציבורי, ולכן אם המאגר הקבוצתי פרטי יש להחליט אם לשנותו לציבורי או לפתוח מאגר ציבורי נפרד לעמוד.</a:t>
            </a:r>
          </a:p>
          <a:p>
            <a:pPr rtl="1" algn="r" marL="0" indent="0">
              <a:buNone/>
            </a:pPr>
            <a:r>
              <a:rPr sz="1200" lang="he-IL"/>
              <a:t>•  אזהרת פרטיות חשובה מהתיעוד: אתר Pages גלוי לכולם גם אם המאגר פרטי (בתוכניות שמאפשרות זאת), ולכן לא מעלים אליו שום דבר שלא מיועד לפרסום.</a:t>
            </a:r>
          </a:p>
          <a:p>
            <a:pPr rtl="1" algn="r" marL="0" indent="0">
              <a:buNone/>
            </a:pPr>
            <a:r>
              <a:rPr sz="1200" lang="he-IL"/>
              <a:t>•  מגבלות שימוש (מהתיעוד): אתר עד 1GB, רוחב פס רך של 100GB בחודש, ומגבלה רכה של 10 בניות בשעה.</a:t>
            </a:r>
          </a:p>
          <a:p>
            <a:pPr rtl="1" algn="r" marL="0" indent="0">
              <a:buNone/>
            </a:pPr>
            <a:r>
              <a:rPr sz="1200" lang="he-IL"/>
              <a:t>•  גיבוי: אם Pages לא עובד בזמן, מציגים את התצוגה המקדימה מהמחברת או פותחים את index.html מקומית, והפרסום נעשה בבית.</a:t>
            </a:r>
          </a:p>
          <a:p>
            <a:pPr rtl="1" algn="r" marL="0" indent="0">
              <a:buNone/>
            </a:pPr>
            <a:r>
              <a:rPr sz="1200" lang="he-IL"/>
              <a:t>•  המרצה עובר בין הקבוצות ובודק שהקישור נפתח.</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א׳, מה אמור לצאת בפרויקט (כדקה).</a:t>
            </a:r>
          </a:p>
          <a:p>
            <a:pPr rtl="1" algn="r" marL="0" indent="0">
              <a:buNone/>
            </a:pPr>
            <a:r>
              <a:rPr b="1" sz="1200" lang="he-IL"/>
              <a:t>מה אומרים</a:t>
            </a:r>
          </a:p>
          <a:p>
            <a:pPr rtl="1" algn="r" marL="0" indent="0">
              <a:buNone/>
            </a:pPr>
            <a:r>
              <a:rPr sz="1200" lang="he-IL"/>
              <a:t>•  זו התוצאה הצפויה של התבנית אחרי הפרסום, בצילום אמיתי של מחשב ושל טלפון.</a:t>
            </a:r>
          </a:p>
          <a:p>
            <a:pPr rtl="1" algn="r" marL="0" indent="0">
              <a:buNone/>
            </a:pPr>
            <a:r>
              <a:rPr sz="1200" lang="he-IL"/>
              <a:t>•  בקשו מהסטודנטים להשוות לעמוד אצלם ולבדוק שני דברים: שהעמוד נקרא נכון מימין לשמאל, ושהוא מתאים למסך הטלפון.</a:t>
            </a:r>
          </a:p>
          <a:p>
            <a:pPr rtl="1" algn="r" marL="0" indent="0">
              <a:buNone/>
            </a:pPr>
            <a:r>
              <a:rPr sz="1200" lang="he-IL"/>
              <a:t>•  המחברת לא בודקת את זה: validate_html בודקת מבנה בלבד, ולא מראה, לא כתובת שנפתחת ולא התאמה לטלפון, ולכן בדיקה בדפדפן ובטלפון היא חלק מהפרסום בפרויקט.</a:t>
            </a:r>
          </a:p>
          <a:p>
            <a:pPr rtl="1" algn="r" marL="0" indent="0">
              <a:buNone/>
            </a:pPr>
            <a:r>
              <a:rPr b="1" sz="1200" lang="he-IL"/>
              <a:t>שאלה לכיתה</a:t>
            </a:r>
          </a:p>
          <a:p>
            <a:pPr rtl="1" algn="r" marL="0" indent="0">
              <a:buNone/>
            </a:pPr>
            <a:r>
              <a:rPr sz="1200" lang="he-IL"/>
              <a:t>•  מה עוד צריך להופיע לפני שמציגים אותו במפגש 13?</a:t>
            </a:r>
          </a:p>
          <a:p>
            <a:pPr rtl="1" algn="r" marL="0" indent="0">
              <a:buNone/>
            </a:pPr>
            <a:r>
              <a:rPr b="1" sz="1200" lang="he-IL"/>
              <a:t>תשובה</a:t>
            </a:r>
          </a:p>
          <a:p>
            <a:pPr rtl="1" algn="r" marL="0" indent="0">
              <a:buNone/>
            </a:pPr>
            <a:r>
              <a:rPr sz="1200" lang="he-IL"/>
              <a:t>•  סרטון הדגמה אמיתי, קישור לדמו, ואחריות ומגבלות מנוסחות בכנות.</a:t>
            </a:r>
          </a:p>
          <a:p>
            <a:pPr rtl="1" algn="r" marL="0" indent="0">
              <a:buNone/>
            </a:pPr>
            <a:r>
              <a:rPr sz="1200" lang="he-IL"/>
              <a:t>•  אם עמוד בקבוצה נראה שבור, בדקו קודם את נתיב קובץ ה־CSS.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(כ־2 דקות; לדלג אם הזמן קצר).</a:t>
            </a:r>
          </a:p>
          <a:p>
            <a:pPr rtl="1" algn="r" marL="0" indent="0">
              <a:buNone/>
            </a:pPr>
            <a:r>
              <a:rPr b="1" sz="1200" lang="he-IL"/>
              <a:t>מה אומרים</a:t>
            </a:r>
          </a:p>
          <a:p>
            <a:pPr rtl="1" algn="r" marL="0" indent="0">
              <a:buNone/>
            </a:pPr>
            <a:r>
              <a:rPr sz="1200" lang="he-IL"/>
              <a:t>•  שורה ראשונה, פרטיות.</a:t>
            </a:r>
          </a:p>
          <a:p>
            <a:pPr rtl="1" algn="r" marL="0" indent="0">
              <a:buNone/>
            </a:pPr>
            <a:r>
              <a:rPr sz="1200" lang="he-IL"/>
              <a:t>•  ישראל: תיקון 13 לחוק הגנת הפרטיות, בתוקף מ־14.8.2025, עם עיצומים כספיים (למשל 150,000 ש״ח על אי־רישום או אי־הודעה על מאגר, ותקרה כוללת של 5% ממחזור העסקאות) לפי מדריך הרשות.</a:t>
            </a:r>
          </a:p>
          <a:p>
            <a:pPr rtl="1" algn="r" marL="0" indent="0">
              <a:buNone/>
            </a:pPr>
            <a:r>
              <a:rPr sz="1200" lang="he-IL"/>
              <a:t>•  לפי אותו מדריך, התיקון נועד גם להתאים את החוק הישראלי לדין האירופי, וישראל הוכרה כמדינה בעלת מעמד תאימות (Adequacy) על ידי האיחוד בינואר 2024.</a:t>
            </a:r>
          </a:p>
          <a:p>
            <a:pPr rtl="1" algn="r" marL="0" indent="0">
              <a:buNone/>
            </a:pPr>
            <a:r>
              <a:rPr sz="1200" lang="he-IL"/>
              <a:t>•  האיחוד: GDPR.</a:t>
            </a:r>
          </a:p>
          <a:p>
            <a:pPr rtl="1" algn="r" marL="0" indent="0">
              <a:buNone/>
            </a:pPr>
            <a:r>
              <a:rPr sz="1200" lang="he-IL"/>
              <a:t>•  סעיף 83(5) מאפשר קנס של עד 20 מיליון יורו או 4% מהמחזור העולמי, הגבוה מביניהם; סעיף 22 מעניק זכות שלא להיות נתונים להחלטה שמבוססת אך ורק על עיבוד אוטומטי כשיש לה השפעה משפטית או משמעותית.</a:t>
            </a:r>
          </a:p>
          <a:p>
            <a:pPr rtl="1" algn="r" marL="0" indent="0">
              <a:buNone/>
            </a:pPr>
            <a:r>
              <a:rPr sz="1200" lang="he-IL"/>
              <a:t>•  ארצות הברית: למיטב מה שנמצא אין חוק פרטיות פדרלי כולל, ויש חוקים ענפיים וחוקי מדינות; מספר חוקי המדינות משתנה בין מקורות, ולכן לא נקבו במספר (מקורות משניים בלבד, לאמת).</a:t>
            </a:r>
          </a:p>
          <a:p>
            <a:pPr rtl="1" algn="r" marL="0" indent="0">
              <a:buNone/>
            </a:pPr>
            <a:r>
              <a:rPr sz="1200" lang="he-IL"/>
              <a:t>•  שורה שנייה, רגולציית AI.</a:t>
            </a:r>
          </a:p>
          <a:p>
            <a:pPr rtl="1" algn="r" marL="0" indent="0">
              <a:buNone/>
            </a:pPr>
            <a:r>
              <a:rPr sz="1200" lang="he-IL"/>
              <a:t>•  ישראל: מדיניות ממשלתית מדצמבר 2023 (משרד החדשנות ומשרד המשפטים) מעדיפה רגולציה ענפית וכלים רכים; לא מצאנו חוק AI כללי.</a:t>
            </a:r>
          </a:p>
          <a:p>
            <a:pPr rtl="1" algn="r" marL="0" indent="0">
              <a:buNone/>
            </a:pPr>
            <a:r>
              <a:rPr sz="1200" lang="he-IL"/>
              <a:t>•  הרשות להגנת הפרטיות פרסמה ב־28.4.2025 טיוטת הנחיה על תחולת חוק הגנת הפרטיות על מערכות AI (לא מצאנו נוסח סופי).</a:t>
            </a:r>
          </a:p>
          <a:p>
            <a:pPr rtl="1" algn="r" marL="0" indent="0">
              <a:buNone/>
            </a:pPr>
            <a:r>
              <a:rPr sz="1200" lang="he-IL"/>
              <a:t>•  ישראל חתמה על אמנת המסגרת של מועצת אירופה בנושא AI (נחתמה ב־5.9.2024, טרם אושררה).</a:t>
            </a:r>
          </a:p>
          <a:p>
            <a:pPr rtl="1" algn="r" marL="0" indent="0">
              <a:buNone/>
            </a:pPr>
            <a:r>
              <a:rPr sz="1200" lang="he-IL"/>
              <a:t>•  האיחוד: חוק ה־AI, עם לוח זמנים מעודכן אחרי ה־Digital Omnibus.</a:t>
            </a:r>
          </a:p>
          <a:p>
            <a:pPr rtl="1" algn="r" marL="0" indent="0">
              <a:buNone/>
            </a:pPr>
            <a:r>
              <a:rPr sz="1200" lang="he-IL"/>
              <a:t>•  ארה״ב: אין חוק פדרלי כולל; יש חקיקה במדינות, ומאבק על קדימות פדרלית (צו נשיאותי מדצמבר 2025 וטיוטות חקיקה), לפי סיכומי משרדי עורכי דין בלבד, ולכן לאמת.</a:t>
            </a:r>
          </a:p>
          <a:p>
            <a:pPr rtl="1" algn="r" marL="0" indent="0">
              <a:buNone/>
            </a:pPr>
            <a:r>
              <a:rPr sz="1200" lang="he-IL"/>
              <a:t>•  הערת דיוק: אל תציגו טבלה זו כסיכום משפטי.</a:t>
            </a:r>
          </a:p>
          <a:p>
            <a:pPr rtl="1" algn="r" marL="0" indent="0">
              <a:buNone/>
            </a:pPr>
            <a:r>
              <a:rPr b="1" sz="1200" lang="he-IL"/>
              <a:t>להעמקה</a:t>
            </a:r>
          </a:p>
          <a:p>
            <a:pPr rtl="1" algn="r" marL="0" indent="0">
              <a:buNone/>
            </a:pPr>
            <a:r>
              <a:rPr sz="1200" lang="he-IL"/>
              <a:t>•  האם משרד ללא חוק AI כללי, כמו ישראל, מספק הגנה דומה דרך חוקי פרטיות, צרכנות ואפליה קיימים?</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ב׳ (10 דקות: CI, חזרה אחורה, עלות, צ'קליסט ושאלת בדיקה; שקף הניטור אופציונלי).</a:t>
            </a:r>
          </a:p>
          <a:p>
            <a:pPr rtl="1" algn="r" marL="0" indent="0">
              <a:buNone/>
            </a:pPr>
            <a:r>
              <a:rPr b="1" sz="1200" lang="he-IL"/>
              <a:t>מה אומרים</a:t>
            </a:r>
          </a:p>
          <a:p>
            <a:pPr rtl="1" algn="r" marL="0" indent="0">
              <a:buNone/>
            </a:pPr>
            <a:r>
              <a:rPr sz="1200" lang="he-IL"/>
              <a:t>•  CI (אינטגרציה רציפה) אומר: בכל push הבדיקות רצות אוטומטית, ואם נכשלות, השינוי לא נכנס.</a:t>
            </a:r>
          </a:p>
          <a:p>
            <a:pPr rtl="1" algn="r" marL="0" indent="0">
              <a:buNone/>
            </a:pPr>
            <a:r>
              <a:rPr sz="1200" lang="he-IL"/>
              <a:t>•  הקובץ בחבילה הוא workflow של GitHub Actions: מגדירים מתי להריץ (push ל־main או pull request), על איזו מכונה, ומה הצעדים.</a:t>
            </a:r>
          </a:p>
          <a:p>
            <a:pPr rtl="1" algn="r" marL="0" indent="0">
              <a:buNone/>
            </a:pPr>
            <a:r>
              <a:rPr sz="1200" lang="he-IL"/>
              <a:t>•  ארבע השורות המרכזיות ידועות לכל מי שהשתמש בפייתון.</a:t>
            </a:r>
          </a:p>
          <a:p>
            <a:pPr rtl="1" algn="r" marL="0" indent="0">
              <a:buNone/>
            </a:pPr>
            <a:r>
              <a:rPr sz="1200" lang="he-IL"/>
              <a:t>•  לא הרצנו את ה־workflow בפועל.</a:t>
            </a:r>
          </a:p>
          <a:p>
            <a:pPr rtl="1" algn="r" marL="0" indent="0">
              <a:buNone/>
            </a:pPr>
            <a:r>
              <a:rPr sz="1200" lang="he-IL"/>
              <a:t>•  עדכון גרסאות: הקובץ בחבילה משתמש ב־actions/checkout@v4 וב־actions/setup-python@v5.</a:t>
            </a:r>
          </a:p>
          <a:p>
            <a:pPr rtl="1" algn="r" marL="0" indent="0">
              <a:buNone/>
            </a:pPr>
            <a:r>
              <a:rPr sz="1200" lang="he-IL"/>
              <a:t>•  לפי ממשק ה־API של GitHub (נבדק 22.10.2026) הגרסאות העדכניות הן v7 (checkout v7.0.1, setup-python v7.1.0).</a:t>
            </a:r>
          </a:p>
          <a:p>
            <a:pPr rtl="1" algn="r" marL="0" indent="0">
              <a:buNone/>
            </a:pPr>
            <a:r>
              <a:rPr sz="1200" lang="he-IL"/>
              <a:t>•  גרסה ישנה נתמכת עד שהמפתחים מוציאים אותה משימוש, ולכן לפני שימוש אמיתי בודקים את הגרסה בעמוד הפעולה.</a:t>
            </a:r>
          </a:p>
          <a:p>
            <a:pPr rtl="1" algn="r" marL="0" indent="0">
              <a:buNone/>
            </a:pPr>
            <a:r>
              <a:rPr sz="1200" lang="he-IL"/>
              <a:t>•  CD (פריסה אוטומטית) הוא הצעד הבא: אחרי שהבדיקות עברו, הקוד נפרס.</a:t>
            </a:r>
          </a:p>
          <a:p>
            <a:pPr rtl="1" algn="r" marL="0" indent="0">
              <a:buNone/>
            </a:pPr>
            <a:r>
              <a:rPr sz="1200" lang="he-IL"/>
              <a:t>•  חיבור למפגש 8 (בדיקות, ושקף ה־Pull Request האופציונלי שלו) ולמפגש 6 (ענפים).</a:t>
            </a:r>
          </a:p>
          <a:p>
            <a:pPr rtl="1" algn="r" marL="0" indent="0">
              <a:buNone/>
            </a:pPr>
            <a:r>
              <a:rPr sz="1200" lang="he-IL"/>
              <a:t>•  ב־Colab אי אפשר להריץ GitHub Actions: בבונוס 1 של המחברת קוראים את tests.yml כנתונים עם yaml, בלי להריץ אותו.</a:t>
            </a:r>
          </a:p>
          <a:p>
            <a:pPr rtl="1" algn="r" marL="0" indent="0">
              <a:buNone/>
            </a:pPr>
            <a:r>
              <a:rPr b="1" sz="1200" lang="he-IL"/>
              <a:t>שאלה לכיתה</a:t>
            </a:r>
          </a:p>
          <a:p>
            <a:pPr rtl="1" algn="r" marL="0" indent="0">
              <a:buNone/>
            </a:pPr>
            <a:r>
              <a:rPr sz="1200" lang="he-IL"/>
              <a:t>•  ירוק אומר שהקוד נכון?</a:t>
            </a:r>
          </a:p>
          <a:p>
            <a:pPr rtl="1" algn="r" marL="0" indent="0">
              <a:buNone/>
            </a:pPr>
            <a:r>
              <a:rPr sz="1200" lang="he-IL"/>
              <a:t>•  תשובה בשקף הבדיקה.</a:t>
            </a:r>
          </a:p>
          <a:p>
            <a:pPr rtl="1" algn="r" marL="0" indent="0">
              <a:buNone/>
            </a:pPr>
            <a:r>
              <a:rPr b="1" sz="1200" lang="he-IL"/>
              <a:t>שאלת היזכרות</a:t>
            </a:r>
          </a:p>
          <a:p>
            <a:pPr rtl="1" algn="r" marL="0" indent="0">
              <a:buNone/>
            </a:pPr>
            <a:r>
              <a:rPr sz="1200" lang="he-IL"/>
              <a:t>•  מי זוכר מה אמר מפגש 8 על בדיקות שעוברות?</a:t>
            </a:r>
          </a:p>
          <a:p>
            <a:pPr rtl="1" algn="r" marL="0" indent="0">
              <a:buNone/>
            </a:pPr>
            <a:r>
              <a:rPr b="1" sz="1200" lang="he-IL"/>
              <a:t>תשובה</a:t>
            </a:r>
          </a:p>
          <a:p>
            <a:pPr rtl="1" algn="r" marL="0" indent="0">
              <a:buNone/>
            </a:pPr>
            <a:r>
              <a:rPr sz="1200" lang="he-IL"/>
              <a:t>•  בדיקות חלשות נותנות ביטחון מזויף (בדוגמה של אותו מפגש חמש בדיקות ירוקות תפסו רק 2 מתוך 6 מוטנטים).</a:t>
            </a:r>
          </a:p>
          <a:p>
            <a:pPr rtl="1" algn="r" marL="0" indent="0">
              <a:buNone/>
            </a:pPr>
            <a:r>
              <a:rPr sz="1200" lang="he-IL"/>
              <a:t>•  CI לא נלמד במפגש 8: היום הוא מפעיל אוטומטית את אותן בדיקות בכל push.</a:t>
            </a:r>
          </a:p>
          <a:p>
            <a:pPr rtl="1" algn="r" marL="0" indent="0">
              <a:buNone/>
            </a:pPr>
            <a:r>
              <a:rPr sz="1200" lang="he-IL"/>
              <a:t>•  אם לא זוכרים מוטנטים: שוברים את הקוד בכוונה ובודקים אם הבדיקות נכשלות.</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כל פריסה צריכה תוכנית חזרה.</a:t>
            </a:r>
          </a:p>
          <a:p>
            <a:pPr rtl="1" algn="r" marL="0" indent="0">
              <a:buNone/>
            </a:pPr>
            <a:r>
              <a:rPr b="1" sz="1200" lang="he-IL"/>
              <a:t>מה אומרים</a:t>
            </a:r>
          </a:p>
          <a:p>
            <a:pPr rtl="1" algn="r" marL="0" indent="0">
              <a:buNone/>
            </a:pPr>
            <a:r>
              <a:rPr sz="1200" lang="he-IL"/>
              <a:t>•  אם הגרסה החדשה שוברת, חוזרים לקודמת: בפלטפורמות רבות כפתור 'redeploy previous', או git revert (מפגש 6) ופריסה מחדש.</a:t>
            </a:r>
          </a:p>
          <a:p>
            <a:pPr rtl="1" algn="r" marL="0" indent="0">
              <a:buNone/>
            </a:pPr>
            <a:r>
              <a:rPr sz="1200" lang="he-IL"/>
              <a:t>•  כלל מקצועי: משחררים בשינויים קטנים, כדי שהסיבה לכשל תהיה ברורה.</a:t>
            </a:r>
          </a:p>
          <a:p>
            <a:pPr rtl="1" algn="r" marL="0" indent="0">
              <a:buNone/>
            </a:pPr>
            <a:r>
              <a:rPr b="1" sz="1200" lang="he-IL"/>
              <a:t>שאלה לכיתה</a:t>
            </a:r>
          </a:p>
          <a:p>
            <a:pPr rtl="1" algn="r" marL="0" indent="0">
              <a:buNone/>
            </a:pPr>
            <a:r>
              <a:rPr sz="1200" lang="he-IL"/>
              <a:t>•  איזה שינוי הכי סיכוני לפני הדגמה?</a:t>
            </a:r>
          </a:p>
          <a:p>
            <a:pPr rtl="1" algn="r" marL="0" indent="0">
              <a:buNone/>
            </a:pPr>
            <a:r>
              <a:rPr sz="1200" lang="he-IL"/>
              <a:t>•  תשובה טיפוסית: שינוי של הרגע האחרון בלי בדיקה.</a:t>
            </a:r>
          </a:p>
          <a:p>
            <a:pPr rtl="1" algn="r" marL="0" indent="0">
              <a:buNone/>
            </a:pPr>
            <a:r>
              <a:rPr sz="1200" lang="he-IL"/>
              <a:t>•  הגדרות: rollback הוא חזרה לגרסה קודמת (git revert ופריסה, או כפתור redeploy), ו־roll-forward הוא תיקון קדימה בגרסה חדשה.</a:t>
            </a:r>
          </a:p>
          <a:p>
            <a:pPr rtl="1" algn="r" marL="0" indent="0">
              <a:buNone/>
            </a:pPr>
            <a:r>
              <a:rPr sz="1200" lang="he-IL"/>
              <a:t>•  שינויים קטנים מקצרים את הזמן לאיתור הסיבה: אם שינוי אחד נכנס, ברור מה השתנה.</a:t>
            </a:r>
          </a:p>
          <a:p>
            <a:pPr rtl="1" algn="r" marL="0" indent="0">
              <a:buNone/>
            </a:pPr>
            <a:r>
              <a:rPr b="1" sz="1200" lang="he-IL"/>
              <a:t>טעות נפוצה</a:t>
            </a:r>
          </a:p>
          <a:p>
            <a:pPr rtl="1" algn="r" marL="0" indent="0">
              <a:buNone/>
            </a:pPr>
            <a:r>
              <a:rPr sz="1200" lang="he-IL"/>
              <a:t>•  לחשוב ש־git revert מחזיר גם נתונים שנכתבו בינתיים למסד.</a:t>
            </a:r>
          </a:p>
          <a:p>
            <a:pPr rtl="1" algn="r" marL="0" indent="0">
              <a:buNone/>
            </a:pPr>
            <a:r>
              <a:rPr sz="1200" lang="he-IL"/>
              <a:t>•  הוא מחזיר רק קוד, ולכן שינויי סכימה ונתונים דורשים תוכנית נפרדת.</a:t>
            </a:r>
          </a:p>
          <a:p>
            <a:pPr rtl="1" algn="r" marL="0" indent="0">
              <a:buNone/>
            </a:pPr>
            <a:r>
              <a:rPr sz="1200" lang="he-IL"/>
              <a:t>•  הערת דיוק על הקשר: git revert הוצג במפגש 6 בשקף ההעשרה על מדרגות הביטול, ובמעבדה של אותו מפגש השתמשו רק ב־restore.</a:t>
            </a:r>
          </a:p>
          <a:p>
            <a:pPr rtl="1" algn="r" marL="0" indent="0">
              <a:buNone/>
            </a:pPr>
            <a:r>
              <a:rPr sz="1200" lang="he-IL"/>
              <a:t>•  אם הכיתה לא ראתה אותו, הסבירו במשפט: revert יוצר commit חדש שמבטל commit ישן וההיסטוריה נשארת.</a:t>
            </a:r>
          </a:p>
          <a:p>
            <a:pPr rtl="1" algn="r" marL="0" indent="0">
              <a:buNone/>
            </a:pPr>
            <a:r>
              <a:rPr sz="1200" lang="he-IL"/>
              <a:t>•  שינוי קטן בענף (מפגש 6) ובדיקות ירוקות (מפגש 8) הם התנאי לפני פריסה.</a:t>
            </a:r>
          </a:p>
          <a:p>
            <a:pPr rtl="1" algn="r" marL="0" indent="0">
              <a:buNone/>
            </a:pPr>
            <a:r>
              <a:rPr b="1" sz="1200" lang="he-IL"/>
              <a:t>שאלת היזכרות</a:t>
            </a:r>
          </a:p>
          <a:p>
            <a:pPr rtl="1" algn="r" marL="0" indent="0">
              <a:buNone/>
            </a:pPr>
            <a:r>
              <a:rPr sz="1200" lang="he-IL"/>
              <a:t>•  מה ההבדל בין restore ל־revert?</a:t>
            </a:r>
          </a:p>
          <a:p>
            <a:pPr rtl="1" algn="r" marL="0" indent="0">
              <a:buNone/>
            </a:pPr>
            <a:r>
              <a:rPr b="1" sz="1200" lang="he-IL"/>
              <a:t>תשובה</a:t>
            </a:r>
          </a:p>
          <a:p>
            <a:pPr rtl="1" algn="r" marL="0" indent="0">
              <a:buNone/>
            </a:pPr>
            <a:r>
              <a:rPr sz="1200" lang="he-IL"/>
              <a:t>•  restore מחזיר קובץ למצב ב־commit האחרון ומוחק שינויים שלא נשמרו; revert מבטל commit ישן ביצירת commit חדש.</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ניטור פירושו לדעת שהמערכת עובדת לפני שמשתמש מתלונן.</a:t>
            </a:r>
          </a:p>
          <a:p>
            <a:pPr rtl="1" algn="r" marL="0" indent="0">
              <a:buNone/>
            </a:pPr>
            <a:r>
              <a:rPr b="1" sz="1200" lang="he-IL"/>
              <a:t>מה אומרים</a:t>
            </a:r>
          </a:p>
          <a:p>
            <a:pPr rtl="1" algn="r" marL="0" indent="0">
              <a:buNone/>
            </a:pPr>
            <a:r>
              <a:rPr sz="1200" lang="he-IL"/>
              <a:t>•  ארבעה מדדים: זמינות (האם חי, /health), שגיאות (אחוז 5xx), זמן תגובה, ואורך התור (במערכות עם worker).</a:t>
            </a:r>
          </a:p>
          <a:p>
            <a:pPr rtl="1" algn="r" marL="0" indent="0">
              <a:buNone/>
            </a:pPr>
            <a:r>
              <a:rPr sz="1200" lang="he-IL"/>
              <a:t>•  Flower ממפגש 7 הוא דוגמה לניטור תור.</a:t>
            </a:r>
          </a:p>
          <a:p>
            <a:pPr rtl="1" algn="r" marL="0" indent="0">
              <a:buNone/>
            </a:pPr>
            <a:r>
              <a:rPr sz="1200" lang="he-IL"/>
              <a:t>•  לוגים: מה שהשירות כותב.</a:t>
            </a:r>
          </a:p>
          <a:p>
            <a:pPr rtl="1" algn="r" marL="0" indent="0">
              <a:buNone/>
            </a:pPr>
            <a:r>
              <a:rPr sz="1200" lang="he-IL"/>
              <a:t>•  התראות: הודעה כשמדד חורג.</a:t>
            </a:r>
          </a:p>
          <a:p>
            <a:pPr rtl="1" algn="r" marL="0" indent="0">
              <a:buNone/>
            </a:pPr>
            <a:r>
              <a:rPr sz="1200" lang="he-IL"/>
              <a:t>•  בפרויקט: מספיק /health ולוגים נגישים.</a:t>
            </a:r>
          </a:p>
          <a:p>
            <a:pPr rtl="1" algn="r" marL="0" indent="0">
              <a:buNone/>
            </a:pPr>
            <a:r>
              <a:rPr sz="1200" lang="he-IL"/>
              <a:t>•  אופציונלי (כדקה וחצי): אפשר לדלג בלי לפגוע ברצף.</a:t>
            </a:r>
          </a:p>
          <a:p>
            <a:pPr rtl="1" algn="r" marL="0" indent="0">
              <a:buNone/>
            </a:pPr>
            <a:r>
              <a:rPr sz="1200" lang="he-IL"/>
              <a:t>•  ארבעת המדדים הם גרסה מקוצרת של ארבעת ה־golden signals מספר ה־SRE של Google (Beyer ועמיתים, 2016): latency (זמן תגובה), traffic (עומס), errors (שיעור כשלים) ו־saturation (כמה המשאבים מלאים).</a:t>
            </a:r>
          </a:p>
          <a:p>
            <a:pPr rtl="1" algn="r" marL="0" indent="0">
              <a:buNone/>
            </a:pPr>
            <a:r>
              <a:rPr sz="1200" lang="he-IL"/>
              <a:t>•  בשקף: זמינות, שגיאות, זמן תגובה ואורך תור.</a:t>
            </a:r>
          </a:p>
          <a:p>
            <a:pPr rtl="1" algn="r" marL="0" indent="0">
              <a:buNone/>
            </a:pPr>
            <a:r>
              <a:rPr sz="1200" lang="he-IL"/>
              <a:t>•  השוו: ללקוח בחנות לא אכפת מה ה־CPU, אלא האם הדף נפתח ובכמה זמן.</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אפליקציה שקוראת למודל דרך API נושאת עלות לכל בקשה.</a:t>
            </a:r>
          </a:p>
          <a:p>
            <a:pPr rtl="1" algn="r" marL="0" indent="0">
              <a:buNone/>
            </a:pPr>
            <a:r>
              <a:rPr b="1" sz="1200" lang="he-IL"/>
              <a:t>מה אומרים</a:t>
            </a:r>
          </a:p>
          <a:p>
            <a:pPr rtl="1" algn="r" marL="0" indent="0">
              <a:buNone/>
            </a:pPr>
            <a:r>
              <a:rPr sz="1200" lang="he-IL"/>
              <a:t>•  הנוסחה: מספר בקשות × טוקנים לבקשה × מחיר לטוקן.</a:t>
            </a:r>
          </a:p>
          <a:p>
            <a:pPr rtl="1" algn="r" marL="0" indent="0">
              <a:buNone/>
            </a:pPr>
            <a:r>
              <a:rPr sz="1200" lang="he-IL"/>
              <a:t>•  לא מציינים מחירים מדויקים כי הם משתנים.</a:t>
            </a:r>
          </a:p>
          <a:p>
            <a:pPr rtl="1" algn="r" marL="0" indent="0">
              <a:buNone/>
            </a:pPr>
            <a:r>
              <a:rPr sz="1200" lang="he-IL"/>
              <a:t>•  נקודות שליטה: תקרת הוצאה אצל הספק, הגבלת קצב (חוזר למפגש 7, 429), מטמון לתשובות חוזרות, מודל קטן יותר, הגבלת טוקנים, ו'מתג כיבוי'.</a:t>
            </a:r>
          </a:p>
          <a:p>
            <a:pPr rtl="1" algn="r" marL="0" indent="0">
              <a:buNone/>
            </a:pPr>
            <a:r>
              <a:rPr b="1" sz="1200" lang="he-IL"/>
              <a:t>שימו לב</a:t>
            </a:r>
          </a:p>
          <a:p>
            <a:pPr rtl="1" algn="r" marL="0" indent="0">
              <a:buNone/>
            </a:pPr>
            <a:r>
              <a:rPr sz="1200" lang="he-IL"/>
              <a:t>•  מפתח שדלף עלול לייצר חיוב גבוה.</a:t>
            </a:r>
          </a:p>
          <a:p>
            <a:pPr rtl="1" algn="r" marL="0" indent="0">
              <a:buNone/>
            </a:pPr>
            <a:r>
              <a:rPr sz="1200" lang="he-IL"/>
              <a:t>•  קישור למפגש 10.</a:t>
            </a:r>
          </a:p>
          <a:p>
            <a:pPr rtl="1" algn="r" marL="0" indent="0">
              <a:buNone/>
            </a:pPr>
            <a:r>
              <a:rPr sz="1200" lang="he-IL"/>
              <a:t>•  דוגמה מספרית לשימוש בנוסחה: אם מכפילים את אורך ההקשר (הטוקנים לבקשה) פי 2, העלות לבקשה גדלה בערך פי 2, ואם הבקשות גדלות פי 10 בגלל בוט שפונה לשירות, העלות פי 20 בערך.</a:t>
            </a:r>
          </a:p>
          <a:p>
            <a:pPr rtl="1" algn="r" marL="0" indent="0">
              <a:buNone/>
            </a:pPr>
            <a:r>
              <a:rPr sz="1200" lang="he-IL"/>
              <a:t>•  לכן שולטים בכל אחד מהמשתנים: הגבלת קצב מצמצמת בקשות, מטמון מצמצם בקשות חוזרות, מודל קטן ואורך פלט מוגבל מצמצמים טוקנים.</a:t>
            </a:r>
          </a:p>
          <a:p>
            <a:pPr rtl="1" algn="r" marL="0" indent="0">
              <a:buNone/>
            </a:pPr>
            <a:r>
              <a:rPr sz="1200" lang="he-IL"/>
              <a:t>•  שימו לב להבדל בין שכבה חינמית לתשלום: בתנאי Gemini API, למשל, בשירות ללא תשלום Google רשאית להשתמש בתוכן כדי לשפר את מוצריה, ובשירות בתשלום לא (תנאים נבדקו 22.10.2026): לכן עלות איננה השיקול היחיד, וגם פרטיות (חלק ג׳).</a:t>
            </a:r>
          </a:p>
          <a:p>
            <a:pPr rtl="1" algn="r" marL="0" indent="0">
              <a:buNone/>
            </a:pPr>
            <a:r>
              <a:rPr sz="1200" lang="he-IL"/>
              <a:t>•  חיבור למפגש 2: טוקן הוא יחידת התמחור, ולכן אורך ההקשר משפיע על העלות.</a:t>
            </a:r>
          </a:p>
          <a:p>
            <a:pPr rtl="1" algn="r" marL="0" indent="0">
              <a:buNone/>
            </a:pPr>
            <a:r>
              <a:rPr b="1" sz="1200" lang="he-IL"/>
              <a:t>שאלת היזכרות</a:t>
            </a:r>
          </a:p>
          <a:p>
            <a:pPr rtl="1" algn="r" marL="0" indent="0">
              <a:buNone/>
            </a:pPr>
            <a:r>
              <a:rPr sz="1200" lang="he-IL"/>
              <a:t>•  למה טקסט בעברית עולה יותר מאנגלית באותו מודל?</a:t>
            </a:r>
          </a:p>
          <a:p>
            <a:pPr rtl="1" algn="r" marL="0" indent="0">
              <a:buNone/>
            </a:pPr>
            <a:r>
              <a:rPr b="1" sz="1200" lang="he-IL"/>
              <a:t>תשובה</a:t>
            </a:r>
          </a:p>
          <a:p>
            <a:pPr rtl="1" algn="r" marL="0" indent="0">
              <a:buNone/>
            </a:pPr>
            <a:r>
              <a:rPr sz="1200" lang="he-IL"/>
              <a:t>•  הוא מתפרק ליותר טוקנים (מפגש 2).</a:t>
            </a:r>
          </a:p>
          <a:p>
            <a:pPr rtl="1" algn="r" marL="0" indent="0">
              <a:buNone/>
            </a:pPr>
            <a:r>
              <a:rPr b="1" sz="1200" lang="he-IL"/>
              <a:t>אם הכיתה לא זוכרת</a:t>
            </a:r>
          </a:p>
          <a:p>
            <a:pPr rtl="1" algn="r" marL="0" indent="0">
              <a:buNone/>
            </a:pPr>
            <a:r>
              <a:rPr sz="1200" lang="he-IL"/>
              <a:t>•  הזכירו שהמודל לא קורא מילים אלא טוקנים.</a:t>
            </a:r>
          </a:p>
          <a:p>
            <a:pPr rtl="1" algn="r" marL="0" indent="0">
              <a:buNone/>
            </a:pPr>
            <a:r>
              <a:rPr sz="1200" lang="he-IL"/>
              <a:t>•  הגבלת הקצב וקוד 429 הם חומר מפגש 7, ומפתח שדלף ויוצר חיוב הוא מפגש 10.</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הלב של חלק ב׳.</a:t>
            </a:r>
          </a:p>
          <a:p>
            <a:pPr rtl="1" algn="r" marL="0" indent="0">
              <a:buNone/>
            </a:pPr>
            <a:r>
              <a:rPr b="1" sz="1200" lang="he-IL"/>
              <a:t>מה אומרים</a:t>
            </a:r>
          </a:p>
          <a:p>
            <a:pPr rtl="1" algn="r" marL="0" indent="0">
              <a:buNone/>
            </a:pPr>
            <a:r>
              <a:rPr sz="1200" lang="he-IL"/>
              <a:t>•  ארבע קבוצות: איכות, אבטחה, תפעול, משפט ואתיקה.</a:t>
            </a:r>
          </a:p>
          <a:p>
            <a:pPr rtl="1" algn="r" marL="0" indent="0">
              <a:buNone/>
            </a:pPr>
            <a:r>
              <a:rPr sz="1200" lang="he-IL"/>
              <a:t>•  כל סעיף חייב ראיה: קובץ, קישור או פלט, ואחראי.</a:t>
            </a:r>
          </a:p>
          <a:p>
            <a:pPr rtl="1" algn="r" marL="0" indent="0">
              <a:buNone/>
            </a:pPr>
            <a:r>
              <a:rPr sz="1200" lang="he-IL"/>
              <a:t>•  הוא מחבר את כל הקורס: בדיקות (מפגש 8), יומן באגים (9), כרטיס אבטחה (10), README והעברה (11), חוזה (7), ושני הסעיפים של היום.</a:t>
            </a:r>
          </a:p>
          <a:p>
            <a:pPr rtl="1" algn="r" marL="0" indent="0">
              <a:buNone/>
            </a:pPr>
            <a:r>
              <a:rPr sz="1200" lang="he-IL"/>
              <a:t>•  הקובץ המלא בחבילה (prelaunch_checklist.md).</a:t>
            </a:r>
          </a:p>
          <a:p>
            <a:pPr rtl="1" algn="r" marL="0" indent="0">
              <a:buNone/>
            </a:pPr>
            <a:r>
              <a:rPr b="1" sz="1200" lang="he-IL"/>
              <a:t>שאלה לכיתה</a:t>
            </a:r>
          </a:p>
          <a:p>
            <a:pPr rtl="1" algn="r" marL="0" indent="0">
              <a:buNone/>
            </a:pPr>
            <a:r>
              <a:rPr sz="1200" lang="he-IL"/>
              <a:t>•  איזה סעיף בדרך כלל מדלגים עליו?</a:t>
            </a:r>
          </a:p>
          <a:p>
            <a:pPr rtl="1" algn="r" marL="0" indent="0">
              <a:buNone/>
            </a:pPr>
            <a:r>
              <a:rPr b="1" sz="1200" lang="he-IL"/>
              <a:t>תשובה</a:t>
            </a:r>
          </a:p>
          <a:p>
            <a:pPr rtl="1" algn="r" marL="0" indent="0">
              <a:buNone/>
            </a:pPr>
            <a:r>
              <a:rPr sz="1200" lang="he-IL"/>
              <a:t>•  אחריות ותיעוד.</a:t>
            </a:r>
          </a:p>
          <a:p>
            <a:pPr rtl="1" algn="r" marL="0" indent="0">
              <a:buNone/>
            </a:pPr>
            <a:r>
              <a:rPr sz="1200" lang="he-IL"/>
              <a:t>•  במעבדה ב׳ חלק מהסעיפים נבדק בקוד, מתוך קבצי הפרויקט: README, LICENSE, בדיקות, יומן AI, מפתח בקוד וקישורים שבורים.</a:t>
            </a:r>
          </a:p>
          <a:p>
            <a:pPr rtl="1" algn="r" marL="0" indent="0">
              <a:buNone/>
            </a:pPr>
            <a:r>
              <a:rPr sz="1200" lang="he-IL"/>
              <a:t>•  כל השאר, וגם הראיה והאחראי בשם, נשארים עבודה של אדם.</a:t>
            </a:r>
          </a:p>
          <a:p>
            <a:pPr rtl="1" algn="r" marL="0" indent="0">
              <a:buNone/>
            </a:pPr>
            <a:r>
              <a:rPr b="1" sz="1200" lang="he-IL"/>
              <a:t>חיבור לשיעורים קודמים</a:t>
            </a:r>
          </a:p>
          <a:p>
            <a:pPr rtl="1" algn="r" marL="0" indent="0">
              <a:buNone/>
            </a:pPr>
            <a:r>
              <a:rPr sz="1200" lang="he-IL"/>
              <a:t>•  בדיקת המוכנות לפרויקט שבסוף מפגש 11 (רשימת התוצרים של מפגשים 5 עד 11) היא הגרסה הראשונה של הצ'קליסט הזה.</a:t>
            </a:r>
          </a:p>
          <a:p>
            <a:pPr rtl="1" algn="r" marL="0" indent="0">
              <a:buNone/>
            </a:pPr>
            <a:r>
              <a:rPr sz="1200" lang="he-IL"/>
              <a:t>•  היום מוסיפים לה תפעול, ומשפט ואתיקה.</a:t>
            </a:r>
          </a:p>
          <a:p>
            <a:pPr rtl="1" algn="r" marL="0" indent="0">
              <a:buNone/>
            </a:pPr>
            <a:r>
              <a:rPr sz="1200" lang="he-IL"/>
              <a:t>•  אם הקבוצות מילאו אותה בשבוע שעבר, בקשו מהן לפתוח אותה ולהשוות.</a:t>
            </a:r>
          </a:p>
          <a:p>
            <a:pPr rtl="1" algn="r" marL="0" indent="0">
              <a:buNone/>
            </a:pPr>
            <a:r>
              <a:rPr b="1" sz="1200" lang="he-IL"/>
              <a:t>שאלת היזכרות</a:t>
            </a:r>
          </a:p>
          <a:p>
            <a:pPr rtl="1" algn="r" marL="0" indent="0">
              <a:buNone/>
            </a:pPr>
            <a:r>
              <a:rPr sz="1200" lang="he-IL"/>
              <a:t>•  איזה סעיף בצ'קליסט מגיע מכל מפגש?</a:t>
            </a:r>
          </a:p>
          <a:p>
            <a:pPr rtl="1" algn="r" marL="0" indent="0">
              <a:buNone/>
            </a:pPr>
            <a:r>
              <a:rPr b="1" sz="1200" lang="he-IL"/>
              <a:t>תשובה</a:t>
            </a:r>
          </a:p>
          <a:p>
            <a:pPr rtl="1" algn="r" marL="0" indent="0">
              <a:buNone/>
            </a:pPr>
            <a:r>
              <a:rPr sz="1200" lang="he-IL"/>
              <a:t>•  יומן AI (5), מאגר ו־commits (6), חוזה וקונטיינר (7), בדיקות (8), יומן באגים (9), כרטיס אבטחה (10), README והעברה (11).</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לסוף חלק ב׳ (כ-2 דקות).</a:t>
            </a:r>
          </a:p>
          <a:p>
            <a:pPr rtl="1" algn="r" marL="0" indent="0">
              <a:buNone/>
            </a:pPr>
            <a:r>
              <a:rPr b="1" sz="1200" lang="he-IL"/>
              <a:t>שאלה לכיתה</a:t>
            </a:r>
          </a:p>
          <a:p>
            <a:pPr rtl="1" algn="r" marL="0" indent="0">
              <a:buNone/>
            </a:pPr>
            <a:r>
              <a:rPr sz="1200" lang="he-IL"/>
              <a:t>•  מה היתרון של CI שמריץ בדיקות בכל push, ומה הוא לא יתפוס?</a:t>
            </a:r>
          </a:p>
          <a:p>
            <a:pPr rtl="1" algn="r" marL="0" indent="0">
              <a:buNone/>
            </a:pPr>
            <a:r>
              <a:rPr sz="1200" lang="he-IL"/>
              <a:t>•  תנו דקה לחשוב ובקשו תשובה מזוג אחד.</a:t>
            </a:r>
          </a:p>
          <a:p>
            <a:pPr rtl="1" algn="r" marL="0" indent="0">
              <a:buNone/>
            </a:pPr>
            <a:r>
              <a:rPr sz="1200" lang="he-IL"/>
              <a:t>•  רמז: האם 'ירוק' פירושו 'נכון'?</a:t>
            </a:r>
          </a:p>
          <a:p>
            <a:pPr rtl="1" algn="r" marL="0" indent="0">
              <a:buNone/>
            </a:pPr>
            <a:r>
              <a:rPr sz="1200" lang="he-IL"/>
              <a:t>•  זה חזרה על מפגש 8, שם ראינו שבדיקות חלשות או חסרות נותנות ביטחון מזויף.</a:t>
            </a:r>
          </a:p>
          <a:p>
            <a:pPr rtl="1" algn="r" marL="0" indent="0">
              <a:buNone/>
            </a:pPr>
            <a:r>
              <a:rPr sz="1200" lang="he-IL"/>
              <a:t>•  אל תחשפו את התשובה לפני שמישהו ענה על שני חלקי השאלה, היתרון והמגבלה.</a:t>
            </a:r>
          </a:p>
          <a:p>
            <a:pPr rtl="1" algn="r" marL="0" indent="0">
              <a:buNone/>
            </a:pPr>
            <a:r>
              <a:rPr sz="1200" lang="he-IL"/>
              <a:t>•  מושג מרכזי לדיון: ״ירוק״ הוא מדד לעמידה בבדיקות הקיימות, לא לנכונות.</a:t>
            </a:r>
          </a:p>
          <a:p>
            <a:pPr rtl="1" algn="r" marL="0" indent="0">
              <a:buNone/>
            </a:pPr>
            <a:r>
              <a:rPr sz="1200" lang="he-IL"/>
              <a:t>•  דוגמה מהחנות: בדיקה שבודקת שהפונקציה מחזירה רשימה ולא בודקת שהרשימה ממוינת תעבור גם כשהמיון שבור.</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תשובה (כ-2 דקות).</a:t>
            </a:r>
          </a:p>
          <a:p>
            <a:pPr rtl="1" algn="r" marL="0" indent="0">
              <a:buNone/>
            </a:pPr>
            <a:r>
              <a:rPr b="1" sz="1200" lang="he-IL"/>
              <a:t>מה אומרים</a:t>
            </a:r>
          </a:p>
          <a:p>
            <a:pPr rtl="1" algn="r" marL="0" indent="0">
              <a:buNone/>
            </a:pPr>
            <a:r>
              <a:rPr sz="1200" lang="he-IL"/>
              <a:t>•  היתרון: כל שינוי נבדק אוטומטית לפני מיזוג, וכך שינוי שמפיל בדיקות נעצר מוקדם, מה שמאפשר לשתף קוד בביטחון.</a:t>
            </a:r>
          </a:p>
          <a:p>
            <a:pPr rtl="1" algn="r" marL="0" indent="0">
              <a:buNone/>
            </a:pPr>
            <a:r>
              <a:rPr sz="1200" lang="he-IL"/>
              <a:t>•  כדי שזה יחסום בפועל, צריך להגדיר כלל על הענף (למשל בדיקות חובה לפני מיזוג, לאמת בהגדרות GitHub), אחרת זו רק אזהרה.</a:t>
            </a:r>
          </a:p>
          <a:p>
            <a:pPr rtl="1" algn="r" marL="0" indent="0">
              <a:buNone/>
            </a:pPr>
            <a:r>
              <a:rPr sz="1200" lang="he-IL"/>
              <a:t>•  המגבלה: CI מריץ רק את הבדיקות שכתבתם.</a:t>
            </a:r>
          </a:p>
          <a:p>
            <a:pPr rtl="1" algn="r" marL="0" indent="0">
              <a:buNone/>
            </a:pPr>
            <a:r>
              <a:rPr sz="1200" lang="he-IL"/>
              <a:t>•  הוא לא יתפוס בדיקות חסרות, דרישה שלא נכתבה, או בדיקה שמאשרת התנהגות שגויה.</a:t>
            </a:r>
          </a:p>
          <a:p>
            <a:pPr rtl="1" algn="r" marL="0" indent="0">
              <a:buNone/>
            </a:pPr>
            <a:r>
              <a:rPr sz="1200" lang="he-IL"/>
              <a:t>•  לכן ממשיכים לבדוק גם מספר בדיקות ו-diff (מפגש 8).</a:t>
            </a:r>
          </a:p>
          <a:p>
            <a:pPr rtl="1" algn="r" marL="0" indent="0">
              <a:buNone/>
            </a:pPr>
            <a:r>
              <a:rPr sz="1200" lang="he-IL"/>
              <a:t>•  משפט סיכום: ירוק מעיד על מה שנבדק בלבד.</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ב׳, 10 דקות, בזוגות.</a:t>
            </a:r>
          </a:p>
          <a:p>
            <a:pPr rtl="1" algn="r" marL="0" indent="0">
              <a:buNone/>
            </a:pPr>
            <a:r>
              <a:rPr b="1" sz="1200" lang="he-IL"/>
              <a:t>מה אומרים</a:t>
            </a:r>
          </a:p>
          <a:p>
            <a:pPr rtl="1" algn="r" marL="0" indent="0">
              <a:buNone/>
            </a:pPr>
            <a:r>
              <a:rPr sz="1200" lang="he-IL"/>
              <a:t>•  במחברת זה חלק א׳ (9 דקות בתכנון), ולכן קופצים אליו אחרי שסיימו את חלק ב׳ של המעבדה הקודמת.</a:t>
            </a:r>
          </a:p>
          <a:p>
            <a:pPr rtl="1" algn="r" marL="0" indent="0">
              <a:buNone/>
            </a:pPr>
            <a:r>
              <a:rPr b="1" sz="1200" lang="he-IL"/>
              <a:t>מסר מרכזי</a:t>
            </a:r>
          </a:p>
          <a:p>
            <a:pPr rtl="1" algn="r" marL="0" indent="0">
              <a:buNone/>
            </a:pPr>
            <a:r>
              <a:rPr sz="1200" lang="he-IL"/>
              <a:t>•  הצ'קליסט לפני חשיפה שראינו בהרצאה הופך לקוד שבודק ראיות בקבצים של פרויקט.</a:t>
            </a:r>
          </a:p>
          <a:p>
            <a:pPr rtl="1" algn="r" marL="0" indent="0">
              <a:buNone/>
            </a:pPr>
            <a:r>
              <a:rPr sz="1200" lang="he-IL"/>
              <a:t>•  הפרויקט מיוצג כמילון של שם קובץ ותוכן.</a:t>
            </a:r>
          </a:p>
          <a:p>
            <a:pPr rtl="1" algn="r" marL="0" indent="0">
              <a:buNone/>
            </a:pPr>
            <a:r>
              <a:rPr sz="1200" lang="he-IL"/>
              <a:t>•  חמש פונקציות: missing_basics (README, LICENSE, בדיקות, AI_LOG.md), find_secrets (קובץ env, קובץ pem, או מפתח בתוך התוכן), is_broken_link (קישור ריק, ממלא מקום, או קובץ שלא קיים), prelaunch_audit (מחברת את הכול) ו־ready_to_launch (חוסם מול אזהרה).</a:t>
            </a:r>
          </a:p>
          <a:p>
            <a:pPr rtl="1" algn="r" marL="0" indent="0">
              <a:buNone/>
            </a:pPr>
            <a:r>
              <a:rPr sz="1200" lang="he-IL"/>
              <a:t>•  חשוב לומר: הקוד בודק רק קיום ראיות.</a:t>
            </a:r>
          </a:p>
          <a:p>
            <a:pPr rtl="1" algn="r" marL="0" indent="0">
              <a:buNone/>
            </a:pPr>
            <a:r>
              <a:rPr sz="1200" lang="he-IL"/>
              <a:t>•  הוא לא מריץ את הבדיקות (זה תפקיד CI), לא בודק שכתובת עונה, ולא מחליף סימון ✔ או ✘ לפי ראיה עם אחראי בשם: את זה עושים על הפרויקט הקבוצתי, בשקף האחרון של המעבדה.</a:t>
            </a:r>
          </a:p>
          <a:p>
            <a:pPr rtl="1" algn="r" marL="0" indent="0">
              <a:buNone/>
            </a:pPr>
            <a:r>
              <a:rPr sz="1200" lang="he-IL"/>
              <a:t>•  אם הזמן קצר, מתחילים משלב 4 כשהפונקציה is_broken_link כבר כתובה.</a:t>
            </a:r>
          </a:p>
          <a:p>
            <a:pPr rtl="1" algn="r" marL="0" indent="0">
              <a:buNone/>
            </a:pPr>
            <a:r>
              <a:rPr b="1" sz="1200" lang="he-IL"/>
              <a:t>הכנה לפני השיעור</a:t>
            </a:r>
          </a:p>
          <a:p>
            <a:pPr rtl="1" algn="r" marL="0" indent="0">
              <a:buNone/>
            </a:pPr>
            <a:r>
              <a:rPr sz="1200" lang="he-IL"/>
              <a:t>•  להעלות את HM_12.ipynb ל־Colab ולהחליף את ה־QR (מקום שמור) בקישור אמיתי.</a:t>
            </a:r>
          </a:p>
          <a:p>
            <a:pPr rtl="1" algn="r" marL="0" indent="0">
              <a:buNone/>
            </a:pPr>
            <a:r>
              <a:rPr sz="1200" lang="he-IL"/>
              <a:t>•  למה עושים את זה (הקשר לתיאוריה): הצ'קליסט בחלק ב׳ הוא רשימה של סעיפים, ורשימה בלי ראיות היא תחושה.</a:t>
            </a:r>
          </a:p>
          <a:p>
            <a:pPr rtl="1" algn="r" marL="0" indent="0">
              <a:buNone/>
            </a:pPr>
            <a:r>
              <a:rPr sz="1200" lang="he-IL"/>
              <a:t>•  במעבדה הופכים חלק מהסעיפים לקוד שבודק קיום ראיות בקבצים: README, LICENSE, בדיקות, יומן AI, סוד בקוד וקישור שבור.</a:t>
            </a:r>
          </a:p>
          <a:p>
            <a:pPr rtl="1" algn="r" marL="0" indent="0">
              <a:buNone/>
            </a:pPr>
            <a:r>
              <a:rPr sz="1200" lang="he-IL"/>
              <a:t>•  המטרה אינה להחליף אדם, אלא להראות מה אפשר לבדוק אוטומטית ומה לא: store_hollow עובר את הבדיקה למרות ש־README ריק, ולכן ״ירוק מעיד על מה שנבדק בלבד״ (קישור לשקף ה־CI).</a:t>
            </a:r>
          </a:p>
          <a:p>
            <a:pPr rtl="1" algn="r" marL="0" indent="0">
              <a:buNone/>
            </a:pPr>
            <a:r>
              <a:rPr b="1" sz="1200" lang="he-IL"/>
              <a:t>חיבור לשיעורים קודמים</a:t>
            </a:r>
          </a:p>
          <a:p>
            <a:pPr rtl="1" algn="r" marL="0" indent="0">
              <a:buNone/>
            </a:pPr>
            <a:r>
              <a:rPr sz="1200" lang="he-IL"/>
              <a:t>•  find_secrets היא סורק סודות פשוט מהסוג שראינו במפגש 10 (push protection, gitleaks), והיא בודקת גם את שם הקובץ וגם את התוכן. missing_basics בודקת README, LICENSE ובדיקות (מפגש 8) ואת AI_LOG.md (מפגש 5). store_hollow חוזר על לקח מפגש 8: בדיקה חלשה נשארת ירוקה, ולכן ״ירוק״ מעיד על מה שנבדק בלבד.</a:t>
            </a:r>
          </a:p>
          <a:p>
            <a:pPr rtl="1" algn="r" marL="0" indent="0">
              <a:buNone/>
            </a:pPr>
            <a:r>
              <a:rPr b="1" sz="1200" lang="he-IL"/>
              <a:t>שאלת היזכרות</a:t>
            </a:r>
          </a:p>
          <a:p>
            <a:pPr rtl="1" algn="r" marL="0" indent="0">
              <a:buNone/>
            </a:pPr>
            <a:r>
              <a:rPr sz="1200" lang="he-IL"/>
              <a:t>•  מה עושים קודם כשמפתח כבר עלה ל־Git?</a:t>
            </a:r>
          </a:p>
          <a:p>
            <a:pPr rtl="1" algn="r" marL="0" indent="0">
              <a:buNone/>
            </a:pPr>
            <a:r>
              <a:rPr b="1" sz="1200" lang="he-IL"/>
              <a:t>תשובה</a:t>
            </a:r>
          </a:p>
          <a:p>
            <a:pPr rtl="1" algn="r" marL="0" indent="0">
              <a:buNone/>
            </a:pPr>
            <a:r>
              <a:rPr sz="1200" lang="he-IL"/>
              <a:t>•  מבטלים אותו (מפגש 10).</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ב׳, בפרויקט הקבוצתי אחרי המחברת (כ־2 דקות להסבר).</a:t>
            </a:r>
          </a:p>
          <a:p>
            <a:pPr rtl="1" algn="r" marL="0" indent="0">
              <a:buNone/>
            </a:pPr>
            <a:r>
              <a:rPr b="1" sz="1200" lang="he-IL"/>
              <a:t>מה אומרים</a:t>
            </a:r>
          </a:p>
          <a:p>
            <a:pPr rtl="1" algn="r" marL="0" indent="0">
              <a:buNone/>
            </a:pPr>
            <a:r>
              <a:rPr sz="1200" lang="he-IL"/>
              <a:t>•  הטבלה היא דוגמה למילוי של הצ'קליסט המלא: שלושה סעיפים עם סטטוס, ראיה ואחראי.</a:t>
            </a:r>
          </a:p>
          <a:p>
            <a:pPr rtl="1" algn="r" marL="0" indent="0">
              <a:buNone/>
            </a:pPr>
            <a:r>
              <a:rPr sz="1200" lang="he-IL"/>
              <a:t>•  המחברת בדקה קיום קבצים, והטבלה מזכירה מה עדיין דורש אדם: ✔ נשען על ראיה, למשל פלט pytest של שמונה בדיקות שעברו, ולא על תחושה.</a:t>
            </a:r>
          </a:p>
          <a:p>
            <a:pPr rtl="1" algn="r" marL="0" indent="0">
              <a:buNone/>
            </a:pPr>
            <a:r>
              <a:rPr sz="1200" lang="he-IL"/>
              <a:t>•  הסעיף אין סוד בהיסטוריה מסומן ✘ כי אין ראיה.</a:t>
            </a:r>
          </a:p>
          <a:p>
            <a:pPr rtl="1" algn="r" marL="0" indent="0">
              <a:buNone/>
            </a:pPr>
            <a:r>
              <a:rPr sz="1200" lang="he-IL"/>
              <a:t>•  אפשר לבדוק אותו בחיפוש בהיסטוריה של git (git log -p -S) או בכלי סריקה כמו gitleaks (מפגש 10).</a:t>
            </a:r>
          </a:p>
          <a:p>
            <a:pPr rtl="1" algn="r" marL="0" indent="0">
              <a:buNone/>
            </a:pPr>
            <a:r>
              <a:rPr sz="1200" lang="he-IL"/>
              <a:t>•  כל קבוצה עוברת על prelaunch_checklist.md, מסמנת ✔, ✘ או לא רלוונטי, ובוחרת שלושה פערים לסגור עד מפגש 13, בסדר עדיפות: אבטחה קודם, אחר כך בדיקות ותיעוד.</a:t>
            </a:r>
          </a:p>
          <a:p>
            <a:pPr rtl="1" algn="r" marL="0" indent="0">
              <a:buNone/>
            </a:pPr>
            <a:r>
              <a:rPr sz="1200" lang="he-IL"/>
              <a:t>•  פער הוא פעולה שאפשר לסמן כבוצעה, ולא לשפר את הקוד, ולכל פער יש אחראי בשם ותאריך.</a:t>
            </a:r>
          </a:p>
          <a:p>
            <a:pPr rtl="1" algn="r" marL="0" indent="0">
              <a:buNone/>
            </a:pPr>
            <a:r>
              <a:rPr sz="1200" lang="he-IL"/>
              <a:t>•  ודאו שבכל קבוצה יש לפחות סעיף אחד שסומן ✘: אם הכול ✔, כנראה לא בדקו באמת.</a:t>
            </a:r>
          </a:p>
          <a:p>
            <a:pPr rtl="1" algn="r" marL="0" indent="0">
              <a:buNone/>
            </a:pPr>
            <a:r>
              <a:rPr sz="1200" lang="he-IL"/>
              <a:t>•  את הפערים רושמים במסמך של הקבוצה.</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(כ־2 דקות; לדלג אם הזמן קצר).</a:t>
            </a:r>
          </a:p>
          <a:p>
            <a:pPr rtl="1" algn="r" marL="0" indent="0">
              <a:buNone/>
            </a:pPr>
            <a:r>
              <a:rPr b="1" sz="1200" lang="he-IL"/>
              <a:t>מטרה</a:t>
            </a:r>
          </a:p>
          <a:p>
            <a:pPr rtl="1" algn="r" marL="0" indent="0">
              <a:buNone/>
            </a:pPr>
            <a:r>
              <a:rPr sz="1200" lang="he-IL"/>
              <a:t>•  להראות שאותה שאלה מקבלת תשובות שונות בשלוש מערכות משפט, ושחלק מהתשובות עדיין פתוחות.</a:t>
            </a:r>
          </a:p>
          <a:p>
            <a:pPr rtl="1" algn="r" marL="0" indent="0">
              <a:buNone/>
            </a:pPr>
            <a:r>
              <a:rPr sz="1200" lang="he-IL"/>
              <a:t>•  שורה ראשונה, מי יוצר בפלט AI.</a:t>
            </a:r>
          </a:p>
          <a:p>
            <a:pPr rtl="1" algn="r" marL="0" indent="0">
              <a:buNone/>
            </a:pPr>
            <a:r>
              <a:rPr sz="1200" lang="he-IL"/>
              <a:t>•  ארצות הברית: דוח משרד זכויות היוצרים (Copyright and AI, חלק 2, 29.1.2025) קובע שפרומפטים לבדם אינם מספקים שליטה מספקת, ושההגנה אפשרית על ביטוי אנושי שנראה בפלט, על בחירה וסידור יצירתיים ועל שינויים יצירתיים, בכל מקרה לגופו.</a:t>
            </a:r>
          </a:p>
          <a:p>
            <a:pPr rtl="1" algn="r" marL="0" indent="0">
              <a:buNone/>
            </a:pPr>
            <a:r>
              <a:rPr sz="1200" lang="he-IL"/>
              <a:t>•  בפרשת Thaler נ' Perlmutter בית המשפט לערעורים של מחוז קולומביה פסק ב־18.3.2025 שיצירה שנוצרה על ידי מערכת AI בלי יוצר אנושי אינה מוגנת, ובקשת רשות הערעור (תיק 25-449, הוגשה 9.10.2025) נדחתה ב־2.3.2026 ללא נימוקים, כלומר ללא הכרעה לגופו של עניין.</a:t>
            </a:r>
          </a:p>
          <a:p>
            <a:pPr rtl="1" algn="r" marL="0" indent="0">
              <a:buNone/>
            </a:pPr>
            <a:r>
              <a:rPr sz="1200" lang="he-IL"/>
              <a:t>•  האיחוד האירופי: לפי סיכום שאלון של מועצת האיחוד (דצמבר 2024), המצוטט בדוח האמריקאי, רוב המדינות החברות סבורות שרק אדם יכול להיות יוצר, ושפלט מוגן אם הקלט האנושי משמעותי; אין כלל ייעודי חדש.</a:t>
            </a:r>
          </a:p>
          <a:p>
            <a:pPr rtl="1" algn="r" marL="0" indent="0">
              <a:buNone/>
            </a:pPr>
            <a:r>
              <a:rPr sz="1200" lang="he-IL"/>
              <a:t>•  בבריטניה, לעומת זאת, חוק ישן מגן על יצירות שנוצרו במחשב ללא יוצר אנושי, ומקצה את היוצרות לאדם שארגן את יצירתן, ושם בוחנים אם לבטל אותו (גם זה מהדוח האמריקאי).</a:t>
            </a:r>
          </a:p>
          <a:p>
            <a:pPr rtl="1" algn="r" marL="0" indent="0">
              <a:buNone/>
            </a:pPr>
            <a:r>
              <a:rPr sz="1200" lang="he-IL"/>
              <a:t>•  ישראל: לא מצאנו הכרעה שיפוטית על פלט; בפטנטים, בית המשפט המחוזי בתל אביב קבע ב־31.12.2025 (תיק 33353-05-23, Thaler נ' רשם הפטנטים) שמערכת AI אינה יכולה להיחשב ממציא, ושינוי כזה שייך למחוקק (לפי Herzog Fox Neeman); לא בדקנו אם הוגש ערעור.</a:t>
            </a:r>
          </a:p>
          <a:p>
            <a:pPr rtl="1" algn="r" marL="0" indent="0">
              <a:buNone/>
            </a:pPr>
            <a:r>
              <a:rPr sz="1200" lang="he-IL"/>
              <a:t>•  שורה שנייה, אימון.</a:t>
            </a:r>
          </a:p>
          <a:p>
            <a:pPr rtl="1" algn="r" marL="0" indent="0">
              <a:buNone/>
            </a:pPr>
            <a:r>
              <a:rPr sz="1200" lang="he-IL"/>
              <a:t>•  ישראל: חוות הדעת של משרד המשפטים (18.12.2022, אינה מחייבת) מסכמת שאימון מותר בדרך כלל.</a:t>
            </a:r>
          </a:p>
          <a:p>
            <a:pPr rtl="1" algn="r" marL="0" indent="0">
              <a:buNone/>
            </a:pPr>
            <a:r>
              <a:rPr sz="1200" lang="he-IL"/>
              <a:t>•  ארה״ב: שימוש הוגן לפי הנסיבות, ופסקי דין מחוזיים מ־2025 (שקף הבא).</a:t>
            </a:r>
          </a:p>
          <a:p>
            <a:pPr rtl="1" algn="r" marL="0" indent="0">
              <a:buNone/>
            </a:pPr>
            <a:r>
              <a:rPr sz="1200" lang="he-IL"/>
              <a:t>•  האיחוד: חריג כריית טקסט ונתונים (סעיף 4 לדירקטיבה 2019/790) עם סירוב, וחוק ה־AI מחייב ספקי מודלים להפעיל מדיניות זכויות יוצרים שמכבדת סירוב (סעיף 53(1)(ג), מ־2.8.2025).</a:t>
            </a:r>
          </a:p>
          <a:p>
            <a:pPr rtl="1" algn="r" marL="0" indent="0">
              <a:buNone/>
            </a:pPr>
            <a:r>
              <a:rPr b="1" sz="1200" lang="he-IL"/>
              <a:t>להעמקה</a:t>
            </a:r>
          </a:p>
          <a:p>
            <a:pPr rtl="1" algn="r" marL="0" indent="0">
              <a:buNone/>
            </a:pPr>
            <a:r>
              <a:rPr sz="1200" lang="he-IL"/>
              <a:t>•  כמה תרומה אנושית נדרשת כדי שקוד שנכתב בשיתוף סוכן יהיה מוגן, ואיך מוכיחים אותה?</a:t>
            </a:r>
          </a:p>
          <a:p>
            <a:pPr rtl="1" algn="r" marL="0" indent="0">
              <a:buNone/>
            </a:pPr>
            <a:r>
              <a:rPr sz="1200" lang="he-IL"/>
              <a:t>•  תשובה אפשרית: יומן שימוש והיסטוריית commits.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הערת מרצה: זה לא ייעוץ משפטי.</a:t>
            </a:r>
          </a:p>
          <a:p>
            <a:pPr rtl="1" algn="r" marL="0" indent="0">
              <a:buNone/>
            </a:pPr>
            <a:r>
              <a:rPr b="1" sz="1200" lang="he-IL"/>
              <a:t>מה אומרים</a:t>
            </a:r>
          </a:p>
          <a:p>
            <a:pPr rtl="1" algn="r" marL="0" indent="0">
              <a:buNone/>
            </a:pPr>
            <a:r>
              <a:rPr sz="1200" lang="he-IL"/>
              <a:t>•  חלק ג׳ (כ־13 דקות כולל הצהרה ושאלת בדיקה).</a:t>
            </a:r>
          </a:p>
          <a:p>
            <a:pPr rtl="1" algn="r" marL="0" indent="0">
              <a:buNone/>
            </a:pPr>
            <a:r>
              <a:rPr sz="1200" lang="he-IL"/>
              <a:t>•  השאלה הנפוצה ביותר בקרב סטודנטים: מי הבעלים של קוד שה־AI כתב?</a:t>
            </a:r>
          </a:p>
          <a:p>
            <a:pPr rtl="1" algn="r" marL="0" indent="0">
              <a:buNone/>
            </a:pPr>
            <a:r>
              <a:rPr sz="1200" lang="he-IL"/>
              <a:t>•  המצב שונה בין מדינות ועדיין מתפתח.</a:t>
            </a:r>
          </a:p>
          <a:p>
            <a:pPr rtl="1" algn="r" marL="0" indent="0">
              <a:buNone/>
            </a:pPr>
            <a:r>
              <a:rPr sz="1200" lang="he-IL"/>
              <a:t>•  ארצות הברית: דוח משרד זכויות היוצרים, חלק 2 (29.1.2025), קובע שבטכנולוגיה הזמינה כיום פרומפטים לבדם אינם מספקים שליטה מספקת כדי להפוך את המשתמש ליוצר, כי הם מעבירים רעיונות ולא ביטוי.</a:t>
            </a:r>
          </a:p>
          <a:p>
            <a:pPr rtl="1" algn="r" marL="0" indent="0">
              <a:buNone/>
            </a:pPr>
            <a:r>
              <a:rPr sz="1200" lang="he-IL"/>
              <a:t>•  הדוח מכיר בשלוש דרכים להגנה על תרומה אנושית: ביטוי אנושי שנראה בפלט, בחירה, תיאום וסידור יצירתיים, ושינויים יצירתיים בפלט; ובעבודה גדולה שכתב אדם, רכיבי AI שמשולבים בה אינם פוגעים בהגנה על השלם (אך הרכיבים עצמם אינם מוגנים).</a:t>
            </a:r>
          </a:p>
          <a:p>
            <a:pPr rtl="1" algn="r" marL="0" indent="0">
              <a:buNone/>
            </a:pPr>
            <a:r>
              <a:rPr sz="1200" lang="he-IL"/>
              <a:t>•  ההכרעה בכל מקרה לגופו.</a:t>
            </a:r>
          </a:p>
          <a:p>
            <a:pPr rtl="1" algn="r" marL="0" indent="0">
              <a:buNone/>
            </a:pPr>
            <a:r>
              <a:rPr sz="1200" lang="he-IL"/>
              <a:t>•  הסולם בשקף הוא דרך לחשוב איפה התרומה שלכם, לא תשובה משפטית: מה אתם תורמים לקוד שה־AI כותב?</a:t>
            </a:r>
          </a:p>
          <a:p>
            <a:pPr rtl="1" algn="r" marL="0" indent="0">
              <a:buNone/>
            </a:pPr>
            <a:r>
              <a:rPr sz="1200" lang="he-IL"/>
              <a:t>•  בחירה, ארכיטקטורה, שינוי, בדיקות.</a:t>
            </a:r>
          </a:p>
          <a:p>
            <a:pPr rtl="1" algn="r" marL="0" indent="0">
              <a:buNone/>
            </a:pPr>
            <a:r>
              <a:rPr sz="1200" lang="he-IL"/>
              <a:t>•  Thaler נ' Perlmutter: בית המשפט לערעורים של מחוז קולומביה פסק ב־18.3.2025 שחוק זכויות היוצרים דורש יוצר אנושי; בקשת רשות ערעור לבית המשפט העליון (תיק 25-449, הוגשה 9.10.2025) נדחתה ב־2.3.2026 ללא נימוקים.</a:t>
            </a:r>
          </a:p>
          <a:p>
            <a:pPr rtl="1" algn="r" marL="0" indent="0">
              <a:buNone/>
            </a:pPr>
            <a:r>
              <a:rPr sz="1200" lang="he-IL"/>
              <a:t>•  הדחייה אינה הכרעה לגופו של עניין, אך משאירה את הפסק בתוקף.</a:t>
            </a:r>
          </a:p>
          <a:p>
            <a:pPr rtl="1" algn="r" marL="0" indent="0">
              <a:buNone/>
            </a:pPr>
            <a:r>
              <a:rPr sz="1200" lang="he-IL"/>
              <a:t>•  שימו לב להבחנה: בתיק Thaler המערער טען שהמערכת היא היוצרת היחידה, ואילו הדוח עוסק גם באדם שמשתמש בכלי AI.</a:t>
            </a:r>
          </a:p>
          <a:p>
            <a:pPr rtl="1" algn="r" marL="0" indent="0">
              <a:buNone/>
            </a:pPr>
            <a:r>
              <a:rPr sz="1200" lang="he-IL"/>
              <a:t>•  ישראל: למיטב מה שמצאנו אין הכרעה שיפוטית בשאלת הפלט (חוות הדעת של משרד המשפטים עוסקת באימון, לא בפלט).</a:t>
            </a:r>
          </a:p>
          <a:p>
            <a:pPr rtl="1" algn="r" marL="0" indent="0">
              <a:buNone/>
            </a:pPr>
            <a:r>
              <a:rPr sz="1200" lang="he-IL"/>
              <a:t>•  תוספות לדיוק: (א) יוצרות ובעלות חוזית אינן אותו דבר: תנאי השימוש של ספקי כלים עשויים להקצות למשתמש את זכויותיו בפלט כלפי הספק, אך זה אינו יוצר הגנת יוצרים כלפי צד שלישי; יש לבדוק בתנאי הספק הספציפי.</a:t>
            </a:r>
          </a:p>
          <a:p>
            <a:pPr rtl="1" algn="r" marL="0" indent="0">
              <a:buNone/>
            </a:pPr>
            <a:r>
              <a:rPr sz="1200" lang="he-IL"/>
              <a:t>•  (ב) בישראל, לפי חוק זכות יוצרים תשס״ח־2007, ברירת המחדל היא שיצירה של עובד במהלך עבודתו בבעלות המעסיק, ויצירה בהזמנה בבעלות היוצר, אלא אם הוסכם אחרת (לאמת בנוסח המעודכן); בפרויקט הקבוצתי כדאי לשאול מה ההסכם.</a:t>
            </a:r>
          </a:p>
          <a:p>
            <a:pPr rtl="1" algn="r" marL="0" indent="0">
              <a:buNone/>
            </a:pPr>
            <a:r>
              <a:rPr sz="1200" lang="he-IL"/>
              <a:t>•  (ג) אל תציגו את הסולם כתשובה משפטית.</a:t>
            </a:r>
          </a:p>
          <a:p>
            <a:pPr rtl="1" algn="r" marL="0" indent="0">
              <a:buNone/>
            </a:pPr>
            <a:r>
              <a:rPr b="1" sz="1200" lang="he-IL"/>
              <a:t>חיבור לשיעורים קודמים</a:t>
            </a:r>
          </a:p>
          <a:p>
            <a:pPr rtl="1" algn="r" marL="0" indent="0">
              <a:buNone/>
            </a:pPr>
            <a:r>
              <a:rPr sz="1200" lang="he-IL"/>
              <a:t>•  יומן ה־AI (מפגש 5) וההיסטוריה ב־Git (מפגש 6) מתעדים מי כתב, מי בחר ומי שינה, ולכן הם ראיה מעשית לתרומה אנושית; זה תיעוד ולא הבטחה להגנה משפטית.</a:t>
            </a:r>
          </a:p>
          <a:p>
            <a:pPr rtl="1" algn="r" marL="0" indent="0">
              <a:buNone/>
            </a:pPr>
            <a:r>
              <a:rPr b="1" sz="1200" lang="he-IL"/>
              <a:t>שאלת היזכרות</a:t>
            </a:r>
          </a:p>
          <a:p>
            <a:pPr rtl="1" algn="r" marL="0" indent="0">
              <a:buNone/>
            </a:pPr>
            <a:r>
              <a:rPr sz="1200" lang="he-IL"/>
              <a:t>•  אילו עמודות יש ביומן ה־AI?</a:t>
            </a:r>
          </a:p>
          <a:p>
            <a:pPr rtl="1" algn="r" marL="0" indent="0">
              <a:buNone/>
            </a:pPr>
            <a:r>
              <a:rPr b="1" sz="1200" lang="he-IL"/>
              <a:t>תשובה</a:t>
            </a:r>
          </a:p>
          <a:p>
            <a:pPr rtl="1" algn="r" marL="0" indent="0">
              <a:buNone/>
            </a:pPr>
            <a:r>
              <a:rPr sz="1200" lang="he-IL"/>
              <a:t>•  כלי ופרומפט, מה קיבלתי, איך אימתתי, החלטה.</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הערת מרצה: זה לא ייעוץ משפטי.</a:t>
            </a:r>
          </a:p>
          <a:p>
            <a:pPr rtl="1" algn="r" marL="0" indent="0">
              <a:buNone/>
            </a:pPr>
            <a:r>
              <a:rPr b="1" sz="1200" lang="he-IL"/>
              <a:t>מה אומרים</a:t>
            </a:r>
          </a:p>
          <a:p>
            <a:pPr rtl="1" algn="r" marL="0" indent="0">
              <a:buNone/>
            </a:pPr>
            <a:r>
              <a:rPr sz="1200" lang="he-IL"/>
              <a:t>•  חשוב להפריד בין שתי שאלות: האם אימון המודל על יצירות מוגנות היה חוקי, והאם הפלט שאני מקבל מוגן או מפר.</a:t>
            </a:r>
          </a:p>
          <a:p>
            <a:pPr rtl="1" algn="r" marL="0" indent="0">
              <a:buNone/>
            </a:pPr>
            <a:r>
              <a:rPr sz="1200" lang="he-IL"/>
              <a:t>•  בישראל: חוות דעת של משרד המשפטים (ייעוץ וחקיקה, אזרחי) מ־18.12.2022, מסכמת שבאופן כללי, מלבד נסיבות חריגות, שימוש ביצירות מוגנות ללמידת מכונה מותר לפי הדין הקיים: בעיקר מכוח שימוש הוגן (סעיף 19 לחוק זכות יוצרים, 2007), ובמקרים מסוימים מכוח שימוש אגבי (סעיף 22) או שימוש זמני (סעיף 26).</a:t>
            </a:r>
          </a:p>
          <a:p>
            <a:pPr rtl="1" algn="r" marL="0" indent="0">
              <a:buNone/>
            </a:pPr>
            <a:r>
              <a:rPr sz="1200" lang="he-IL"/>
              <a:t>•  החוות דעת מוציאה מהיקפה בפירוש את הפלט: ייתכנו מקרים שבהם האימון מותר והפלט מפר.</a:t>
            </a:r>
          </a:p>
          <a:p>
            <a:pPr rtl="1" algn="r" marL="0" indent="0">
              <a:buNone/>
            </a:pPr>
            <a:r>
              <a:rPr sz="1200" lang="he-IL"/>
              <a:t>•  היא גם אינה חלה על מאגר שכולל אך ורק יצירות של יוצר אחד כדי להתחרות בו בשוק שלו.</a:t>
            </a:r>
          </a:p>
          <a:p>
            <a:pPr rtl="1" algn="r" marL="0" indent="0">
              <a:buNone/>
            </a:pPr>
            <a:r>
              <a:rPr sz="1200" lang="he-IL"/>
              <a:t>•  חשוב לציין שזו חוות דעת ולא פסק דין, והיא אינה מחייבת בתי משפט.</a:t>
            </a:r>
          </a:p>
          <a:p>
            <a:pPr rtl="1" algn="r" marL="0" indent="0">
              <a:buNone/>
            </a:pPr>
            <a:r>
              <a:rPr sz="1200" lang="he-IL"/>
              <a:t>•  בארצות הברית המצב נקבע בבתי משפט לפי שימוש הוגן (פסקי דין מ־2025 מובאים בשקף ההעשרה).</a:t>
            </a:r>
          </a:p>
          <a:p>
            <a:pPr rtl="1" algn="r" marL="0" indent="0">
              <a:buNone/>
            </a:pPr>
            <a:r>
              <a:rPr sz="1200" lang="he-IL"/>
              <a:t>•  באיחוד האירופי: חריג כריית טקסט ונתונים לפי סעיף 4 לדירקטיבה 2019/790 עם אפשרות סירוב של בעלי זכויות, ולפי חוק ה־AI (סעיף 53(1)(ג)) ספקי מודלים כלליים חייבים מדיניות זכויות יוצרים שמכבדת סירוב כזה (מ־2.8.2025).</a:t>
            </a:r>
          </a:p>
          <a:p>
            <a:pPr rtl="1" algn="r" marL="0" indent="0">
              <a:buNone/>
            </a:pPr>
            <a:r>
              <a:rPr sz="1200" lang="he-IL"/>
              <a:t>•  דוגמה לשיחה: אם שאלתם מודל לכתוב פונקציה והוא החזיר קטע זהה כמעט לגמרי לקוד קיים, העובדה שהאימון היה מותר אינה אומרת שהשימוש בקטע הזה מותר.</a:t>
            </a:r>
          </a:p>
          <a:p>
            <a:pPr rtl="1" algn="r" marL="0" indent="0">
              <a:buNone/>
            </a:pPr>
            <a:r>
              <a:rPr sz="1200" lang="he-IL"/>
              <a:t>•  נכון ל־22.10.2026.</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רישיון קובע מה מותר לעשות בקוד.</a:t>
            </a:r>
          </a:p>
          <a:p>
            <a:pPr rtl="1" algn="r" marL="0" indent="0">
              <a:buNone/>
            </a:pPr>
            <a:r>
              <a:rPr b="1" sz="1200" lang="he-IL"/>
              <a:t>מה אומרים</a:t>
            </a:r>
          </a:p>
          <a:p>
            <a:pPr rtl="1" algn="r" marL="0" indent="0">
              <a:buNone/>
            </a:pPr>
            <a:r>
              <a:rPr sz="1200" lang="he-IL"/>
              <a:t>•  מתירניים (MIT, Apache-2.0, BSD): אפשר להשתמש כמעט בכל צורה, עם שמירת הודעת זכויות היוצרים.</a:t>
            </a:r>
          </a:p>
          <a:p>
            <a:pPr rtl="1" algn="r" marL="0" indent="0">
              <a:buNone/>
            </a:pPr>
            <a:r>
              <a:rPr sz="1200" lang="he-IL"/>
              <a:t>•  קופילפט (GPL, AGPL): קוד נגזר עלול להידרש להיפתח באותו רישיון.</a:t>
            </a:r>
          </a:p>
          <a:p>
            <a:pPr rtl="1" algn="r" marL="0" indent="0">
              <a:buNone/>
            </a:pPr>
            <a:r>
              <a:rPr sz="1200" lang="he-IL"/>
              <a:t>•  הסיכון עם AI: מודל עלול לשחזר קטעים ממשיים מקוד ציבורי, כולל קוד עם רישיון קופילפט, בלי לציין זאת.</a:t>
            </a:r>
          </a:p>
          <a:p>
            <a:pPr rtl="1" algn="r" marL="0" indent="0">
              <a:buNone/>
            </a:pPr>
            <a:r>
              <a:rPr sz="1200" lang="he-IL"/>
              <a:t>•  כלים רבים מציעים מסנן שמזהה התאמה לקוד ציבורי.</a:t>
            </a:r>
          </a:p>
          <a:p>
            <a:pPr rtl="1" algn="r" marL="0" indent="0">
              <a:buNone/>
            </a:pPr>
            <a:r>
              <a:rPr sz="1200" lang="he-IL"/>
              <a:t>•  בפרויקט: להוסיף קובץ LICENSE, לבדוק רישיונות של תלויות, ולא להדביק קטעים ארוכים בלי לבדוק.</a:t>
            </a:r>
          </a:p>
          <a:p>
            <a:pPr rtl="1" algn="r" marL="0" indent="0">
              <a:buNone/>
            </a:pPr>
            <a:r>
              <a:rPr sz="1200" lang="he-IL"/>
              <a:t>•  הערות: גם ברישיון מתירני יש חובות, כמו שמירת הודעת זכויות וברישיון Apache גם NOTICE כשקיים.</a:t>
            </a:r>
          </a:p>
          <a:p>
            <a:pPr rtl="1" algn="r" marL="0" indent="0">
              <a:buNone/>
            </a:pPr>
            <a:r>
              <a:rPr sz="1200" lang="he-IL"/>
              <a:t>•  AGPL נועד לטפל בשימוש דרך רשת: שירות שנפרס באינטרנט עלול להיכלל בחובה לחשוף קוד, לכן בודקים אותו במיוחד אצל מי שפורס שירות (קשר לחלק א׳). 'ללא רישיון' אינו אומר 'חופשי': ברירת המחדל היא שכל הזכויות שמורות.</a:t>
            </a:r>
          </a:p>
          <a:p>
            <a:pPr rtl="1" algn="r" marL="0" indent="0">
              <a:buNone/>
            </a:pPr>
            <a:r>
              <a:rPr sz="1200" lang="he-IL"/>
              <a:t>•  מקורות לדיוק (נבדקו 22.10.2026): ברישיון AGPL, סעיף 13: מי ששינה תוכנה ומפעיל אותה כך שמשתמשים מתקשרים איתה ברשת חייב להציע להם בגלוי את קוד המקור.</a:t>
            </a:r>
          </a:p>
          <a:p>
            <a:pPr rtl="1" algn="r" marL="0" indent="0">
              <a:buNone/>
            </a:pPr>
            <a:r>
              <a:rPr sz="1200" lang="he-IL"/>
              <a:t>•  ״ללא רישיון״ אומר שחלה ברירת המחדל של זכויות יוצרים (choosealicense.com): כל הזכויות שמורות, ולכן אין רשות לשכפל או לשנות.</a:t>
            </a:r>
          </a:p>
          <a:p>
            <a:pPr rtl="1" algn="r" marL="0" indent="0">
              <a:buNone/>
            </a:pPr>
            <a:r>
              <a:rPr sz="1200" lang="he-IL"/>
              <a:t>•  ב־GitHub Copilot יש הגדרה ״Suggestions matching public code״ שחוסמת הצעות התואמות קוד ציבורי (בהשוואה של ההצעה וכ־150 תווים סביבה), או מאפשרת אותן ומציגה את המאגר המקורי; בחשבון ארגוני המדיניות נקבעת על ידי הארגון (תיעוד GitHub).</a:t>
            </a:r>
          </a:p>
          <a:p>
            <a:pPr rtl="1" algn="r" marL="0" indent="0">
              <a:buNone/>
            </a:pPr>
            <a:r>
              <a:rPr sz="1200" lang="he-IL"/>
              <a:t>•  מסקנה למדיניות ארגונית: להפעיל חסימה, ולא להסתמך על כך שהמסנן מושלם.</a:t>
            </a:r>
          </a:p>
          <a:p>
            <a:pPr rtl="1" algn="r" marL="0" indent="0">
              <a:buNone/>
            </a:pPr>
            <a:r>
              <a:rPr sz="1200" lang="he-IL"/>
              <a:t>•  חיבור למפגשים 1 ו־2: הזיה היא המצאה בביטחון, ושחזור קוד עם רישיון הוא סיכון מסוג אחר, שבו מודל משחזר ולא ממציא.</a:t>
            </a:r>
          </a:p>
          <a:p>
            <a:pPr rtl="1" algn="r" marL="0" indent="0">
              <a:buNone/>
            </a:pPr>
            <a:r>
              <a:rPr sz="1200" lang="he-IL"/>
              <a:t>•  בשני המקרים עובדים לפי הכלל ״סומכים אבל בודקים״ ולא מכניסים לפרודקשן בלי סקירה אנושית.</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הפלט אמיתי: הרצתי pip-licenses על התלויות של שירות הדוגמה.</a:t>
            </a:r>
          </a:p>
          <a:p>
            <a:pPr rtl="1" algn="r" marL="0" indent="0">
              <a:buNone/>
            </a:pPr>
            <a:r>
              <a:rPr b="1" sz="1200" lang="he-IL"/>
              <a:t>מה אומרים</a:t>
            </a:r>
          </a:p>
          <a:p>
            <a:pPr rtl="1" algn="r" marL="0" indent="0">
              <a:buNone/>
            </a:pPr>
            <a:r>
              <a:rPr sz="1200" lang="he-IL"/>
              <a:t>•  כלים כאלה מציגים את הרישיון של כל חבילה.</a:t>
            </a:r>
          </a:p>
          <a:p>
            <a:pPr rtl="1" algn="r" marL="0" indent="0">
              <a:buNone/>
            </a:pPr>
            <a:r>
              <a:rPr b="1" sz="1200" lang="he-IL"/>
              <a:t>שימו לב</a:t>
            </a:r>
          </a:p>
          <a:p>
            <a:pPr rtl="1" algn="r" marL="0" indent="0">
              <a:buNone/>
            </a:pPr>
            <a:r>
              <a:rPr sz="1200" lang="he-IL"/>
              <a:t>•  כל התלויות כאן מתירניות (MIT, BSD, Apache).</a:t>
            </a:r>
          </a:p>
          <a:p>
            <a:pPr rtl="1" algn="r" marL="0" indent="0">
              <a:buNone/>
            </a:pPr>
            <a:r>
              <a:rPr sz="1200" lang="he-IL"/>
              <a:t>•  בפרויקט אמיתי כדאי להריץ לפני שחרור, ולשמור את התוצאה.</a:t>
            </a:r>
          </a:p>
          <a:p>
            <a:pPr rtl="1" algn="r" marL="0" indent="0">
              <a:buNone/>
            </a:pPr>
            <a:r>
              <a:rPr sz="1200" lang="he-IL"/>
              <a:t>•  הכלי הוא pip-licenses, שמותקן ב-pip.</a:t>
            </a:r>
          </a:p>
          <a:p>
            <a:pPr rtl="1" algn="r" marL="0" indent="0">
              <a:buNone/>
            </a:pPr>
            <a:r>
              <a:rPr sz="1200" lang="he-IL"/>
              <a:t>•  חשוב: זה בודק רישיונות של חבילות, ולא של קטעי קוד שה-AI כתב.</a:t>
            </a:r>
          </a:p>
          <a:p>
            <a:pPr rtl="1" algn="r" marL="0" indent="0">
              <a:buNone/>
            </a:pPr>
            <a:r>
              <a:rPr sz="1200" lang="he-IL"/>
              <a:t>•  אופציונלי (כדקה וחצי).</a:t>
            </a:r>
          </a:p>
          <a:p>
            <a:pPr rtl="1" algn="r" marL="0" indent="0">
              <a:buNone/>
            </a:pPr>
            <a:r>
              <a:rPr sz="1200" lang="he-IL"/>
              <a:t>•  אימות שנעשה ב־22.10.2026: הגרסאות שמופיעות בפלט קיימות ב־PyPI, והרישיון שצוין לכל חבילה תואם למטא־דאטה שלה (celery BSD-3-Clause, fastapi MIT, flower BSD, pandas BSD-3-Clause, pydantic MIT, redis MIT, requests Apache-2.0, streamlit Apache-2.0).</a:t>
            </a:r>
          </a:p>
          <a:p>
            <a:pPr rtl="1" algn="r" marL="0" indent="0">
              <a:buNone/>
            </a:pPr>
            <a:r>
              <a:rPr sz="1200" lang="he-IL"/>
              <a:t>•  זה אינו הוכחה משפטית: מטא־דאטה יכולה להיות שגויה או חלקית, ורישיון של חבילה אינו רישיון של תלויות המשנה שלה.</a:t>
            </a:r>
          </a:p>
          <a:p>
            <a:pPr rtl="1" algn="r" marL="0" indent="0">
              <a:buNone/>
            </a:pPr>
            <a:r>
              <a:rPr sz="1200" lang="he-IL"/>
              <a:t>•  הכלי מקבל החלטה טכנית (רשימה לבדיקה), והאחריות על הפרשנות נשארת על אדם.</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הערת מרצה: זה לא ייעוץ משפטי.</a:t>
            </a:r>
          </a:p>
          <a:p>
            <a:pPr rtl="1" algn="r" marL="0" indent="0">
              <a:buNone/>
            </a:pPr>
            <a:r>
              <a:rPr b="1" sz="1200" lang="he-IL"/>
              <a:t>מה אומרים</a:t>
            </a:r>
          </a:p>
          <a:p>
            <a:pPr rtl="1" algn="r" marL="0" indent="0">
              <a:buNone/>
            </a:pPr>
            <a:r>
              <a:rPr sz="1200" lang="he-IL"/>
              <a:t>•  פרטיות היא תחום חוק מחייב.</a:t>
            </a:r>
          </a:p>
          <a:p>
            <a:pPr rtl="1" algn="r" marL="0" indent="0">
              <a:buNone/>
            </a:pPr>
            <a:r>
              <a:rPr sz="1200" lang="he-IL"/>
              <a:t>•  ישראל: הכנסת אישרה את תיקון 13 לחוק הגנת הפרטיות ב־5.8.2024, והוא נכנס לתוקף ב־14.8.2025 (מדריך הרשות להגנת הפרטיות, מאי 2025, עמ' 3-5).</a:t>
            </a:r>
          </a:p>
          <a:p>
            <a:pPr rtl="1" algn="r" marL="0" indent="0">
              <a:buNone/>
            </a:pPr>
            <a:r>
              <a:rPr sz="1200" lang="he-IL"/>
              <a:t>•  שינויים עיקריים לפי המדריך הרשמי: (1) ״מידע אישי״ מוגדר כ״כל נתון הנוגע לאדם מזוהה או לאדם הניתן לזיהוי״, כולל מזהה מקוון ונתוני מיקום</a:t>
            </a:r>
          </a:p>
          <a:p>
            <a:pPr rtl="1" algn="r" marL="0" indent="0">
              <a:buNone/>
            </a:pPr>
            <a:r>
              <a:rPr sz="1200" lang="he-IL"/>
              <a:t>•  (2) ״מידע רגיש״ הוחלף ב״מידע בעל רגישות מיוחדת״ (בריאות, גנטי, ביומטרי, פלילי, שכר ופעילות פיננסית, ועוד)</a:t>
            </a:r>
          </a:p>
          <a:p>
            <a:pPr rtl="1" algn="r" marL="0" indent="0">
              <a:buNone/>
            </a:pPr>
            <a:r>
              <a:rPr sz="1200" lang="he-IL"/>
              <a:t>•  (3) חובת רישום מאגרים צומצמה, ובמקומה חובת הודעה לרשות על מאגרים גדולים עם מידע רגיש</a:t>
            </a:r>
          </a:p>
          <a:p>
            <a:pPr rtl="1" algn="r" marL="0" indent="0">
              <a:buNone/>
            </a:pPr>
            <a:r>
              <a:rPr sz="1200" lang="he-IL"/>
              <a:t>•  (4) חובת מינוי ממונה הגנת פרטיות בגופים ציבוריים ובארגונים בסיכון גבוה</a:t>
            </a:r>
          </a:p>
          <a:p>
            <a:pPr rtl="1" algn="r" marL="0" indent="0">
              <a:buNone/>
            </a:pPr>
            <a:r>
              <a:rPr sz="1200" lang="he-IL"/>
              <a:t>•  (5) הרשות רשאית להטיל עיצומים כספיים.</a:t>
            </a:r>
          </a:p>
          <a:p>
            <a:pPr rtl="1" algn="r" marL="0" indent="0">
              <a:buNone/>
            </a:pPr>
            <a:r>
              <a:rPr sz="1200" lang="he-IL"/>
              <a:t>•  סכומים וחובות בשקף ההעשרה.</a:t>
            </a:r>
          </a:p>
          <a:p>
            <a:pPr rtl="1" algn="r" marL="0" indent="0">
              <a:buNone/>
            </a:pPr>
            <a:r>
              <a:rPr sz="1200" lang="he-IL"/>
              <a:t>•  האיחוד האירופי: ה־GDPR חל, לפי סעיף 3(2), על גוף שאינו מוקם באיחוד כאשר עיבוד המידע קשור להצעת מוצרים או שירותים לאנשים הנמצאים באיחוד, או לניטור התנהגותם שם; איננו חל על כל ארגון שמעבד מידע של תושבי האיחוד.</a:t>
            </a:r>
          </a:p>
          <a:p>
            <a:pPr rtl="1" algn="r" marL="0" indent="0">
              <a:buNone/>
            </a:pPr>
            <a:r>
              <a:rPr sz="1200" lang="he-IL"/>
              <a:t>•  המשמעות לכם: נתוני לקוחות אמיתיים לא נכנסים לכלי AI חיצוני בלי הצדקה חוקית ובדיקת תנאי הספק.</a:t>
            </a:r>
          </a:p>
          <a:p>
            <a:pPr rtl="1" algn="r" marL="0" indent="0">
              <a:buNone/>
            </a:pPr>
            <a:r>
              <a:rPr sz="1200" lang="he-IL"/>
              <a:t>•  בתנאי Gemini API (נבדק 22.10.2026), בשירות ללא תשלום Google רשאית להשתמש בתוכן ובפלט לשיפור מוצריה, וסוקרים אנושיים עשויים לקרוא אותם, והתנאים מורים לא להזין מידע רגיש, חסוי או אישי; בשירות בתשלום לא נעשה בהם שימוש כזה.</a:t>
            </a:r>
          </a:p>
          <a:p>
            <a:pPr rtl="1" algn="r" marL="0" indent="0">
              <a:buNone/>
            </a:pPr>
            <a:r>
              <a:rPr sz="1200" lang="he-IL"/>
              <a:t>•  בפרויקט משתמשים בנתונים סינתטיים.</a:t>
            </a:r>
          </a:p>
          <a:p>
            <a:pPr rtl="1" algn="r" marL="0" indent="0">
              <a:buNone/>
            </a:pPr>
            <a:r>
              <a:rPr sz="1200" lang="he-IL"/>
              <a:t>•  הבהרות: ״בסיס חוקי״ והסכם עיבוד הם מושגי GDPR; בישראל, לפי טיוטת ההנחיה של הרשות בנושא AI (28.4.2025, לא סופית), שימוש במידע אישי במערכות AI טעון בדרך כלל הסכמה מדעת או הסמכה בדין, וחלות חובות יידוע ואבטחה.</a:t>
            </a:r>
          </a:p>
          <a:p>
            <a:pPr rtl="1" algn="r" marL="0" indent="0">
              <a:buNone/>
            </a:pPr>
            <a:r>
              <a:rPr sz="1200" lang="he-IL"/>
              <a:t>•  הרחבה על פרטיות במפגשים 5 ו־10, והפרטים בשקף ההעשרה.</a:t>
            </a:r>
          </a:p>
          <a:p>
            <a:pPr rtl="1" algn="r" marL="0" indent="0">
              <a:buNone/>
            </a:pPr>
            <a:r>
              <a:rPr sz="1200" lang="he-IL"/>
              <a:t>•  חיבור למפגש 5: רמזור הפרטיות (אדום: נתוני לקוחות, מפתחות וסיסמאות, קוד סודי של ארגון; צהוב: קוד הפרויקט אחרי בדיקת תנאי השימוש; ירוק: נתונים סינתטיים וקוד ציבורי) חזר גם במפגש 10.</a:t>
            </a:r>
          </a:p>
          <a:p>
            <a:pPr rtl="1" algn="r" marL="0" indent="0">
              <a:buNone/>
            </a:pPr>
            <a:r>
              <a:rPr sz="1200" lang="he-IL"/>
              <a:t>•  היום מוסיפים שכבה: מה אומרים החוק והספק על המידע שבצד האדום.</a:t>
            </a:r>
          </a:p>
          <a:p>
            <a:pPr rtl="1" algn="r" marL="0" indent="0">
              <a:buNone/>
            </a:pPr>
            <a:r>
              <a:rPr b="1" sz="1200" lang="he-IL"/>
              <a:t>שאלת היזכרות</a:t>
            </a:r>
          </a:p>
          <a:p>
            <a:pPr rtl="1" algn="r" marL="0" indent="0">
              <a:buNone/>
            </a:pPr>
            <a:r>
              <a:rPr sz="1200" lang="he-IL"/>
              <a:t>•  מה נמצא בצד האדום של הרמזור?</a:t>
            </a:r>
          </a:p>
          <a:p>
            <a:pPr rtl="1" algn="r" marL="0" indent="0">
              <a:buNone/>
            </a:pPr>
            <a:r>
              <a:rPr b="1" sz="1200" lang="he-IL"/>
              <a:t>תשובה</a:t>
            </a:r>
          </a:p>
          <a:p>
            <a:pPr rtl="1" algn="r" marL="0" indent="0">
              <a:buNone/>
            </a:pPr>
            <a:r>
              <a:rPr sz="1200" lang="he-IL"/>
              <a:t>•  נתוני לקוחות, מפתחות וסיסמאות, וקוד סודי של ארגון.</a:t>
            </a:r>
          </a:p>
          <a:p>
            <a:pPr rtl="1" algn="r" marL="0" indent="0">
              <a:buNone/>
            </a:pPr>
            <a:r>
              <a:rPr b="1" sz="1200" lang="he-IL"/>
              <a:t>אם הכיתה לא זוכרת</a:t>
            </a:r>
          </a:p>
          <a:p>
            <a:pPr rtl="1" algn="r" marL="0" indent="0">
              <a:buNone/>
            </a:pPr>
            <a:r>
              <a:rPr sz="1200" lang="he-IL"/>
              <a:t>•  חזרו לשקף הפרטיות ממפגש 5.</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הערת מרצה: זה לא ייעוץ משפטי.</a:t>
            </a:r>
          </a:p>
          <a:p>
            <a:pPr rtl="1" algn="r" marL="0" indent="0">
              <a:buNone/>
            </a:pPr>
            <a:r>
              <a:rPr b="1" sz="1200" lang="he-IL"/>
              <a:t>מה אומרים</a:t>
            </a:r>
          </a:p>
          <a:p>
            <a:pPr rtl="1" algn="r" marL="0" indent="0">
              <a:buNone/>
            </a:pPr>
            <a:r>
              <a:rPr sz="1200" lang="he-IL"/>
              <a:t>•  שני מקרים ציבוריים.</a:t>
            </a:r>
          </a:p>
          <a:p>
            <a:pPr rtl="1" algn="r" marL="0" indent="0">
              <a:buNone/>
            </a:pPr>
            <a:r>
              <a:rPr sz="1200" lang="he-IL"/>
              <a:t>•  (1) Moffatt נ' Air Canada, 2024 BCCRT 149, 14.2.2024: בנובמבר 2022 לקוח שאל את הצ'אטבוט של חברת התעופה על מחיר הנחה לנסיעה בשל אבל, והצ'אטבוט אמר שאפשר לבקש את ההנחה בדיעבד, בניגוד למדיניות שהופיעה בעמוד שאליו קישר.</a:t>
            </a:r>
          </a:p>
          <a:p>
            <a:pPr rtl="1" algn="r" marL="0" indent="0">
              <a:buNone/>
            </a:pPr>
            <a:r>
              <a:rPr sz="1200" lang="he-IL"/>
              <a:t>•  החברה טענה בין היתר שהצ'אטבוט הוא ישות נפרדת שאחראית לעצמה.</a:t>
            </a:r>
          </a:p>
          <a:p>
            <a:pPr rtl="1" algn="r" marL="0" indent="0">
              <a:buNone/>
            </a:pPr>
            <a:r>
              <a:rPr sz="1200" lang="he-IL"/>
              <a:t>•  חבר בית הדין (Civil Resolution Tribunal של בריטיש קולומביה, בסמכות תביעות קטנות) דחה את הטענה כ״טענה יוצאת דופן״, קבע שהצ'אטבוט הוא חלק מהאתר, ושהחברה התרשלה בהצגה מטעה: חובת הזהירות חייבה אותה לוודא דיוק, והלקוח הסתמך באופן סביר.</a:t>
            </a:r>
          </a:p>
          <a:p>
            <a:pPr rtl="1" algn="r" marL="0" indent="0">
              <a:buNone/>
            </a:pPr>
            <a:r>
              <a:rPr sz="1200" lang="he-IL"/>
              <a:t>•  הפיצוי: 650.88 דולר קנדי נזק, 36.14 ריבית ו־125 אגרה, סך הכול 812.02.</a:t>
            </a:r>
          </a:p>
          <a:p>
            <a:pPr rtl="1" algn="r" marL="0" indent="0">
              <a:buNone/>
            </a:pPr>
            <a:r>
              <a:rPr sz="1200" lang="he-IL"/>
              <a:t>•  הפסק אינו תקדים מחייב רחב, ולא כלל כללי: הוא ממחיש כיוון.</a:t>
            </a:r>
          </a:p>
          <a:p>
            <a:pPr rtl="1" algn="r" marL="0" indent="0">
              <a:buNone/>
            </a:pPr>
            <a:r>
              <a:rPr sz="1200" lang="he-IL"/>
              <a:t>•  (2) Samsung: לפי דיווחי Bloomberg ועוד (מאי 2023), לאחר שמהנדסים הדביקו קוד פנימי ל־ChatGPT החברה הגבילה שימוש בכלי AI גנריים ברשתות ובמכשירים שלה.</a:t>
            </a:r>
          </a:p>
          <a:p>
            <a:pPr rtl="1" algn="r" marL="0" indent="0">
              <a:buNone/>
            </a:pPr>
            <a:r>
              <a:rPr sz="1200" lang="he-IL"/>
              <a:t>•  התיאור מבוסס על דיווחי תקשורת, לא על מסמך רשמי.</a:t>
            </a:r>
          </a:p>
          <a:p>
            <a:pPr rtl="1" algn="r" marL="0" indent="0">
              <a:buNone/>
            </a:pPr>
            <a:r>
              <a:rPr sz="1200" lang="he-IL"/>
              <a:t>•  הלקחים: האחריות נשארת על מי שפורס, ו״הצ׳אטבוט אמר״ אינו הגנה; מדיניות ארגונית וצ'קליסט מקטינים סיכון.</a:t>
            </a:r>
          </a:p>
          <a:p>
            <a:pPr rtl="1" algn="r" marL="0" indent="0">
              <a:buNone/>
            </a:pPr>
            <a:r>
              <a:rPr sz="1200" lang="he-IL"/>
              <a:t>•  נכון ל־22.10.2026.</a:t>
            </a:r>
          </a:p>
          <a:p>
            <a:pPr rtl="1" algn="r" marL="0" indent="0">
              <a:buNone/>
            </a:pPr>
            <a:r>
              <a:rPr sz="1200" lang="he-IL"/>
              <a:t>•  נבדק דרך סיכומי משרדי עורכי דין ועיתונות; את נוסח הפסק עצמו (אתר ה־CRT) לא הצלחנו לפתוח.</a:t>
            </a:r>
          </a:p>
          <a:p>
            <a:pPr rtl="1" algn="r" marL="0" indent="0">
              <a:buNone/>
            </a:pPr>
            <a:r>
              <a:rPr b="1" sz="1200" lang="he-IL"/>
              <a:t>חיבור לשיעורים קודמים</a:t>
            </a:r>
          </a:p>
          <a:p>
            <a:pPr rtl="1" algn="r" marL="0" indent="0">
              <a:buNone/>
            </a:pPr>
            <a:r>
              <a:rPr sz="1200" lang="he-IL"/>
              <a:t>•  מקרה Samsung, לפי הדיווחים, הוא הצד האדום של רמזור הפרטיות ממפגש 5 (קוד סודי של ארגון בכלי חיצוני).</a:t>
            </a:r>
          </a:p>
          <a:p>
            <a:pPr rtl="1" algn="r" marL="0" indent="0">
              <a:buNone/>
            </a:pPr>
            <a:r>
              <a:rPr sz="1200" lang="he-IL"/>
              <a:t>•  מקרה Air Canada מראה את מה שלמדנו במפגש 2 על הזיות: מידע שגוי שנאמר בביטחון, והפעם בצ'אטבוט שפונה ללקוחות.</a:t>
            </a:r>
          </a:p>
          <a:p>
            <a:pPr rtl="1" algn="r" marL="0" indent="0">
              <a:buNone/>
            </a:pPr>
            <a:r>
              <a:rPr b="1" sz="1200" lang="he-IL"/>
              <a:t>שאלת היזכרות</a:t>
            </a:r>
          </a:p>
          <a:p>
            <a:pPr rtl="1" algn="r" marL="0" indent="0">
              <a:buNone/>
            </a:pPr>
            <a:r>
              <a:rPr sz="1200" lang="he-IL"/>
              <a:t>•  איזה סוג שגיאה של מודל זה?</a:t>
            </a:r>
          </a:p>
          <a:p>
            <a:pPr rtl="1" algn="r" marL="0" indent="0">
              <a:buNone/>
            </a:pPr>
            <a:r>
              <a:rPr b="1" sz="1200" lang="he-IL"/>
              <a:t>תשובה</a:t>
            </a:r>
          </a:p>
          <a:p>
            <a:pPr rtl="1" algn="r" marL="0" indent="0">
              <a:buNone/>
            </a:pPr>
            <a:r>
              <a:rPr sz="1200" lang="he-IL"/>
              <a:t>•  הזיה, מידע שגוי בביטחון (מפגש 2).</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אופציונלי (כ־2 דקות; ניתן לדלג).</a:t>
            </a:r>
          </a:p>
          <a:p>
            <a:pPr rtl="1" algn="r" marL="0" indent="0">
              <a:buNone/>
            </a:pPr>
            <a:r>
              <a:rPr b="1" sz="1200" lang="he-IL"/>
              <a:t>מה אומרים</a:t>
            </a:r>
          </a:p>
          <a:p>
            <a:pPr rtl="1" algn="r" marL="0" indent="0">
              <a:buNone/>
            </a:pPr>
            <a:r>
              <a:rPr sz="1200" lang="he-IL"/>
              <a:t>•  הערת מרצה: זה לא ייעוץ משפטי.</a:t>
            </a:r>
          </a:p>
          <a:p>
            <a:pPr rtl="1" algn="r" marL="0" indent="0">
              <a:buNone/>
            </a:pPr>
            <a:r>
              <a:rPr sz="1200" lang="he-IL"/>
              <a:t>•  חוק ה־AI של האיחוד האירופי (Regulation 2024/1689) נכנס לתוקף ב־1.8.2024 ומיושם בהדרגה.</a:t>
            </a:r>
          </a:p>
          <a:p>
            <a:pPr rtl="1" algn="r" marL="0" indent="0">
              <a:buNone/>
            </a:pPr>
            <a:r>
              <a:rPr sz="1200" lang="he-IL"/>
              <a:t>•  לפי עמוד הנציבות האירופית (עודכן 19.10.2026): 2.2.2025 חלים האיסורים ודרישת אוריינות ה־AI; 2.8.2025 חלים כללי הממשל והחובות על ספקי מודלי שימוש כללי (GPAI); 2.8.2026 החוק חל באופן רחב, כולל חובות השקיפות לפי סעיף 50.</a:t>
            </a:r>
          </a:p>
          <a:p>
            <a:pPr rtl="1" algn="r" marL="0" indent="0">
              <a:buNone/>
            </a:pPr>
            <a:r>
              <a:rPr sz="1200" lang="he-IL"/>
              <a:t>•  תקנת ה־Digital Omnibus on AI (Regulation 2026/1744, פורסמה ב־24.7.2026, בתוקף מ־27.7.2026) דחתה את חובות הסיכון הגבוה: מערכות מנספח III (גיוס, חינוך, שירותים חיוניים כמו דירוג אשראי, ועוד) ל־2.12.2027, ומוצרים מנוהלים לפי נספח I ל־2.8.2028.</a:t>
            </a:r>
          </a:p>
          <a:p>
            <a:pPr rtl="1" algn="r" marL="0" indent="0">
              <a:buNone/>
            </a:pPr>
            <a:r>
              <a:rPr sz="1200" lang="he-IL"/>
              <a:t>•  עוד נקבע: סימון מכונה של פלט למערכות גנרטיביות שהושקו לפני 2.8.2026 נדחה ל־2.12.2026, ואיסור חדש על מערכות שמייצרות תוכן מיני או תוכן ילדים פוגעני ללא הסכמה חל מ־2.12.2026.</a:t>
            </a:r>
          </a:p>
          <a:p>
            <a:pPr rtl="1" algn="r" marL="0" indent="0">
              <a:buNone/>
            </a:pPr>
            <a:r>
              <a:rPr sz="1200" lang="he-IL"/>
              <a:t>•  סעיף 50: ספקי צ'אטבוטים חייבים לאפשר לאדם לדעת שהוא מתקשר עם AI, אלא אם זה ברור; מפעילי deepfake חייבים לגלות שהתוכן מלאכותי.</a:t>
            </a:r>
          </a:p>
          <a:p>
            <a:pPr rtl="1" algn="r" marL="0" indent="0">
              <a:buNone/>
            </a:pPr>
            <a:r>
              <a:rPr sz="1200" lang="he-IL"/>
              <a:t>•  סעיף 53(1): ספקי GPAI חייבים מדיניות שמכבדת סירוב זכויות יוצרים וסיכום ציבורי של תוכן האימון.</a:t>
            </a:r>
          </a:p>
          <a:p>
            <a:pPr rtl="1" algn="r" marL="0" indent="0">
              <a:buNone/>
            </a:pPr>
            <a:r>
              <a:rPr sz="1200" lang="he-IL"/>
              <a:t>•  הרלוונטיות לכם: אם המערכת משרתת משתמשים באיחוד או פועלת בתחום רגיש.</a:t>
            </a:r>
          </a:p>
          <a:p>
            <a:pPr rtl="1" algn="r" marL="0" indent="0">
              <a:buNone/>
            </a:pPr>
            <a:r>
              <a:rPr sz="1200" lang="he-IL"/>
              <a:t>•  הכלל המעשי: תמיד להודיע שמדובר ב־AI, ובמערכת שמחליטה על אנשים, אדם מאשר (ובדין האירופי סעיף 22 ל־GDPR גם מגביל החלטות אוטומטיות מלאות).</a:t>
            </a:r>
          </a:p>
          <a:p>
            <a:pPr rtl="1" algn="r" marL="0" indent="0">
              <a:buNone/>
            </a:pPr>
            <a:r>
              <a:rPr sz="1200" lang="he-IL"/>
              <a:t>•  אין צורך לשנן סיווגים: החובות עולות עם הסיכון.</a:t>
            </a:r>
          </a:p>
          <a:p>
            <a:pPr rtl="1" algn="r" marL="0" indent="0">
              <a:buNone/>
            </a:pPr>
            <a:r>
              <a:rPr b="1" sz="1200" lang="he-IL"/>
              <a:t>שימו לב</a:t>
            </a:r>
          </a:p>
          <a:p>
            <a:pPr rtl="1" algn="r" marL="0" indent="0">
              <a:buNone/>
            </a:pPr>
            <a:r>
              <a:rPr sz="1200" lang="he-IL"/>
              <a:t>•  לוח הזמנים השתנה פעם אחת לפחות, ולכן בודקים באתר הנציבות לפני שמצטטים.</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לסוף חלק ג׳ (כ-2 דקות).</a:t>
            </a:r>
          </a:p>
          <a:p>
            <a:pPr rtl="1" algn="r" marL="0" indent="0">
              <a:buNone/>
            </a:pPr>
            <a:r>
              <a:rPr b="1" sz="1200" lang="he-IL"/>
              <a:t>מה אומרים</a:t>
            </a:r>
          </a:p>
          <a:p>
            <a:pPr rtl="1" algn="r" marL="0" indent="0">
              <a:buNone/>
            </a:pPr>
            <a:r>
              <a:rPr sz="1200" lang="he-IL"/>
              <a:t>•  הקריאו את התרחיש: סוכן קוד כתב פונקציה שנראית כמעט זהה לקוד ציבורי ברישיון GPL, ושוקלים לשלב אותה במוצר מסחרי.</a:t>
            </a:r>
          </a:p>
          <a:p>
            <a:pPr rtl="1" algn="r" marL="0" indent="0">
              <a:buNone/>
            </a:pPr>
            <a:r>
              <a:rPr sz="1200" lang="he-IL"/>
              <a:t>•  שאלו מה עושים לפני השילוב.</a:t>
            </a:r>
          </a:p>
          <a:p>
            <a:pPr rtl="1" algn="r" marL="0" indent="0">
              <a:buNone/>
            </a:pPr>
            <a:r>
              <a:rPr sz="1200" lang="he-IL"/>
              <a:t>•  תנו דקה לחשוב, ואספו שתי תשובות.</a:t>
            </a:r>
          </a:p>
          <a:p>
            <a:pPr rtl="1" algn="r" marL="0" indent="0">
              <a:buNone/>
            </a:pPr>
            <a:r>
              <a:rPr sz="1200" lang="he-IL"/>
              <a:t>•  רמז: איזה סוג רישיון הוא GPL, ומה הוא עלול לחייב?</a:t>
            </a:r>
          </a:p>
          <a:p>
            <a:pPr rtl="1" algn="r" marL="0" indent="0">
              <a:buNone/>
            </a:pPr>
            <a:r>
              <a:rPr sz="1200" lang="he-IL"/>
              <a:t>•  זו שאלה מחשבתית ולא משפטית: אין צורך בתשובה חד-משמעית אם אפשר או אסור, אלא בזיהוי הצעדים הראויים.</a:t>
            </a:r>
          </a:p>
          <a:p>
            <a:pPr rtl="1" algn="r" marL="0" indent="0">
              <a:buNone/>
            </a:pPr>
            <a:r>
              <a:rPr sz="1200" lang="he-IL"/>
              <a:t>•  הזכירו את ההערה שזה אינו ייעוץ משפטי.</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תשובה (כ-2 דקות).</a:t>
            </a:r>
          </a:p>
          <a:p>
            <a:pPr rtl="1" algn="r" marL="0" indent="0">
              <a:buNone/>
            </a:pPr>
            <a:r>
              <a:rPr b="1" sz="1200" lang="he-IL"/>
              <a:t>מה אומרים</a:t>
            </a:r>
          </a:p>
          <a:p>
            <a:pPr rtl="1" algn="r" marL="0" indent="0">
              <a:buNone/>
            </a:pPr>
            <a:r>
              <a:rPr sz="1200" lang="he-IL"/>
              <a:t>•  GPL הוא רישיון קופילפט: שילוב קוד שלו במוצר עלול להתחייב לשחרר גם את הקוד הנגזר באותו רישיון, בתנאים שתלויים בצורת השימוש וההפצה.</a:t>
            </a:r>
          </a:p>
          <a:p>
            <a:pPr rtl="1" algn="r" marL="0" indent="0">
              <a:buNone/>
            </a:pPr>
            <a:r>
              <a:rPr sz="1200" lang="he-IL"/>
              <a:t>•  לכן קודם מבררים מה המקור והרישיון, באמצעות חיפוש הקטע ובדיקת מסנן ההתאמה לקוד ציבורי שכלי AI רבים מציעים.</a:t>
            </a:r>
          </a:p>
          <a:p>
            <a:pPr rtl="1" algn="r" marL="0" indent="0">
              <a:buNone/>
            </a:pPr>
            <a:r>
              <a:rPr sz="1200" lang="he-IL"/>
              <a:t>•  אם התנאים לא מתאימים למוצר, מחליפים את הקטע או כותבים אותו מחדש בלי להסתכל על המקור.</a:t>
            </a:r>
          </a:p>
          <a:p>
            <a:pPr rtl="1" algn="r" marL="0" indent="0">
              <a:buNone/>
            </a:pPr>
            <a:r>
              <a:rPr sz="1200" lang="he-IL"/>
              <a:t>•  בנוסף מוסיפים בדיקת רישיונות וסקירה אנושית לתהליך (חלק ד׳).</a:t>
            </a:r>
          </a:p>
          <a:p>
            <a:pPr rtl="1" algn="r" marL="0" indent="0">
              <a:buNone/>
            </a:pPr>
            <a:r>
              <a:rPr sz="1200" lang="he-IL"/>
              <a:t>•  אם המוצר מסחרי והחשש ממשי, פונים ליועץ משפטי.</a:t>
            </a:r>
          </a:p>
          <a:p>
            <a:pPr rtl="1" algn="r" marL="0" indent="0">
              <a:buNone/>
            </a:pPr>
            <a:r>
              <a:rPr b="1" sz="1200" lang="he-IL"/>
              <a:t>שימו לב</a:t>
            </a:r>
          </a:p>
          <a:p>
            <a:pPr rtl="1" algn="r" marL="0" indent="0">
              <a:buNone/>
            </a:pPr>
            <a:r>
              <a:rPr sz="1200" lang="he-IL"/>
              <a:t>•  דמיון בין שני קטעים קצרים אינו בהכרח הפרה, ולכן הבדיקה פרטנית.</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ד׳ (8 דקות).</a:t>
            </a:r>
          </a:p>
          <a:p>
            <a:pPr rtl="1" algn="r" marL="0" indent="0">
              <a:buNone/>
            </a:pPr>
            <a:r>
              <a:rPr b="1" sz="1200" lang="he-IL"/>
              <a:t>מה אומרים</a:t>
            </a:r>
          </a:p>
          <a:p>
            <a:pPr rtl="1" algn="r" marL="0" indent="0">
              <a:buNone/>
            </a:pPr>
            <a:r>
              <a:rPr sz="1200" lang="he-IL"/>
              <a:t>•  שישה עקרונות מקובלים במסגרות אתיקה של AI.</a:t>
            </a:r>
          </a:p>
          <a:p>
            <a:pPr rtl="1" algn="r" marL="0" indent="0">
              <a:buNone/>
            </a:pPr>
            <a:r>
              <a:rPr sz="1200" lang="he-IL"/>
              <a:t>•  לכל עיקרון: קשר לפרקטיקה שכבר למדנו בקורס.</a:t>
            </a:r>
          </a:p>
          <a:p>
            <a:pPr rtl="1" algn="r" marL="0" indent="0">
              <a:buNone/>
            </a:pPr>
            <a:r>
              <a:rPr sz="1200" lang="he-IL"/>
              <a:t>•  אחריות: סקירת diff.</a:t>
            </a:r>
          </a:p>
          <a:p>
            <a:pPr rtl="1" algn="r" marL="0" indent="0">
              <a:buNone/>
            </a:pPr>
            <a:r>
              <a:rPr sz="1200" lang="he-IL"/>
              <a:t>•  שקיפות: יומן ו-README.</a:t>
            </a:r>
          </a:p>
          <a:p>
            <a:pPr rtl="1" algn="r" marL="0" indent="0">
              <a:buNone/>
            </a:pPr>
            <a:r>
              <a:rPr sz="1200" lang="he-IL"/>
              <a:t>•  הוגנות: בדיקת הטיות בנתונים.</a:t>
            </a:r>
          </a:p>
          <a:p>
            <a:pPr rtl="1" algn="r" marL="0" indent="0">
              <a:buNone/>
            </a:pPr>
            <a:r>
              <a:rPr sz="1200" lang="he-IL"/>
              <a:t>•  פרטיות: נתונים סינתטיים.</a:t>
            </a:r>
          </a:p>
          <a:p>
            <a:pPr rtl="1" algn="r" marL="0" indent="0">
              <a:buNone/>
            </a:pPr>
            <a:r>
              <a:rPr sz="1200" lang="he-IL"/>
              <a:t>•  בטיחות: אבטחה ובדיקות.</a:t>
            </a:r>
          </a:p>
          <a:p>
            <a:pPr rtl="1" algn="r" marL="0" indent="0">
              <a:buNone/>
            </a:pPr>
            <a:r>
              <a:rPr sz="1200" lang="he-IL"/>
              <a:t>•  פיקוח אנושי: אישור לפעולות רגישות.</a:t>
            </a:r>
          </a:p>
          <a:p>
            <a:pPr rtl="1" algn="r" marL="0" indent="0">
              <a:buNone/>
            </a:pPr>
            <a:r>
              <a:rPr b="1" sz="1200" lang="he-IL"/>
              <a:t>שאלה לכיתה</a:t>
            </a:r>
          </a:p>
          <a:p>
            <a:pPr rtl="1" algn="r" marL="0" indent="0">
              <a:buNone/>
            </a:pPr>
            <a:r>
              <a:rPr sz="1200" lang="he-IL"/>
              <a:t>•  איזה עיקרון הכי מתנגש עם מהירות?</a:t>
            </a:r>
          </a:p>
          <a:p>
            <a:pPr rtl="1" algn="r" marL="0" indent="0">
              <a:buNone/>
            </a:pPr>
            <a:r>
              <a:rPr sz="1200" lang="he-IL"/>
              <a:t>•  תשובה אופיינית: פיקוח אנושי.</a:t>
            </a:r>
          </a:p>
          <a:p>
            <a:pPr rtl="1" algn="r" marL="0" indent="0">
              <a:buNone/>
            </a:pPr>
            <a:r>
              <a:rPr sz="1200" lang="he-IL"/>
              <a:t>•  הבהרה אקדמית: ששת העקרונות הם סינתזה של הקורס, בהשראת מסמכים מקובלים (עקרונות ה־OECD ל־AI מ־2019, שעודכנו במאי 2024</a:t>
            </a:r>
          </a:p>
          <a:p>
            <a:pPr rtl="1" algn="r" marL="0" indent="0">
              <a:buNone/>
            </a:pPr>
            <a:r>
              <a:rPr sz="1200" lang="he-IL"/>
              <a:t>•  הנחיות האתיקה של האיחוד האירופי ל־AI אמין, 2019</a:t>
            </a:r>
          </a:p>
          <a:p>
            <a:pPr rtl="1" algn="r" marL="0" indent="0">
              <a:buNone/>
            </a:pPr>
            <a:r>
              <a:rPr sz="1200" lang="he-IL"/>
              <a:t>•  ומסמך המדיניות הישראלי ״עקרונות מדיניות, רגולציה ואתיקה בתחום הבינה המלאכותית״ של משרד החדשנות ומשרד המשפטים, דצמבר 2023).</a:t>
            </a:r>
          </a:p>
          <a:p>
            <a:pPr rtl="1" algn="r" marL="0" indent="0">
              <a:buNone/>
            </a:pPr>
            <a:r>
              <a:rPr sz="1200" lang="he-IL"/>
              <a:t>•  אין רשימה רשמית אחת של שישה עקרונות.</a:t>
            </a:r>
          </a:p>
          <a:p>
            <a:pPr rtl="1" algn="r" marL="0" indent="0">
              <a:buNone/>
            </a:pPr>
            <a:r>
              <a:rPr sz="1200" lang="he-IL"/>
              <a:t>•  מה שחשוב הוא התרגום לפרקטיקה: כל עיקרון מקושר לכלי שכבר בניתם בקורס.</a:t>
            </a:r>
          </a:p>
          <a:p>
            <a:pPr rtl="1" algn="r" marL="0" indent="0">
              <a:buNone/>
            </a:pPr>
            <a:r>
              <a:rPr sz="1200" lang="he-IL"/>
              <a:t>•  הקשרים לפי מפגשים: אחריות ופיקוח אנושי (סקירת diff במפגשים 6 ו־8), שקיפות (יומן AI במפגש 5 ומסמך העברה במפגש 11), פרטיות (רמזור מפגש 5), בטיחות (בדיקות במפגש 8 ואבטחה במפגש 10).</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חמישה סיכונים שחוזרים.</a:t>
            </a:r>
          </a:p>
          <a:p>
            <a:pPr rtl="1" algn="r" marL="0" indent="0">
              <a:buNone/>
            </a:pPr>
            <a:r>
              <a:rPr b="1" sz="1200" lang="he-IL"/>
              <a:t>מה אומרים</a:t>
            </a:r>
          </a:p>
          <a:p>
            <a:pPr rtl="1" algn="r" marL="0" indent="0">
              <a:buNone/>
            </a:pPr>
            <a:r>
              <a:rPr sz="1200" lang="he-IL"/>
              <a:t>•  דליפת מידע (מפגשים 5 ו-10).</a:t>
            </a:r>
          </a:p>
          <a:p>
            <a:pPr rtl="1" algn="r" marL="0" indent="0">
              <a:buNone/>
            </a:pPr>
            <a:r>
              <a:rPr sz="1200" lang="he-IL"/>
              <a:t>•  הזיות (מפגש 2).</a:t>
            </a:r>
          </a:p>
          <a:p>
            <a:pPr rtl="1" algn="r" marL="0" indent="0">
              <a:buNone/>
            </a:pPr>
            <a:r>
              <a:rPr sz="1200" lang="he-IL"/>
              <a:t>•  הטיה: מערכת שמחליטה על אנשים (גיוס, אשראי) יכולה לשכפל הטיות מהנתונים.</a:t>
            </a:r>
          </a:p>
          <a:p>
            <a:pPr rtl="1" algn="r" marL="0" indent="0">
              <a:buNone/>
            </a:pPr>
            <a:r>
              <a:rPr sz="1200" lang="he-IL"/>
              <a:t>•  תלות יתר: אנשים מפסיקים לבדוק. 'דו-שימושיות': אותה טכנולוגיה לשימוש טוב וגם לרע, כפי שראינו בדוגמאות של סוכני סייבר.</a:t>
            </a:r>
          </a:p>
          <a:p>
            <a:pPr rtl="1" algn="r" marL="0" indent="0">
              <a:buNone/>
            </a:pPr>
            <a:r>
              <a:rPr sz="1200" lang="he-IL"/>
              <a:t>•  יש גם עלות סביבתית ואנרגטית, ולא נכנסים לפרטים.</a:t>
            </a:r>
          </a:p>
          <a:p>
            <a:pPr rtl="1" algn="r" marL="0" indent="0">
              <a:buNone/>
            </a:pPr>
            <a:r>
              <a:rPr sz="1200" lang="he-IL"/>
              <a:t>•  הדגישו: מדיניות ארגונית היא הדרך לנהל סיכונים אלה.</a:t>
            </a:r>
          </a:p>
          <a:p>
            <a:pPr rtl="1" algn="r" marL="0" indent="0">
              <a:buNone/>
            </a:pPr>
            <a:r>
              <a:rPr b="1" sz="1200" lang="he-IL"/>
              <a:t>חיבור לשיעורים קודמים</a:t>
            </a:r>
          </a:p>
          <a:p>
            <a:pPr rtl="1" algn="r" marL="0" indent="0">
              <a:buNone/>
            </a:pPr>
            <a:r>
              <a:rPr sz="1200" lang="he-IL"/>
              <a:t>•  דליפת מידע חוזרת מרמזור מפגש 5 וממפגש 10, הזיות ממפגש 2, ותלות יתר היא הכלל ממפגש 1: סומכים אבל בודקים.</a:t>
            </a:r>
          </a:p>
          <a:p>
            <a:pPr rtl="1" algn="r" marL="0" indent="0">
              <a:buNone/>
            </a:pPr>
            <a:r>
              <a:rPr b="1" sz="1200" lang="he-IL"/>
              <a:t>שאלת היזכרות</a:t>
            </a:r>
          </a:p>
          <a:p>
            <a:pPr rtl="1" algn="r" marL="0" indent="0">
              <a:buNone/>
            </a:pPr>
            <a:r>
              <a:rPr sz="1200" lang="he-IL"/>
              <a:t>•  איזה סיכון מבין הארבעה מתואר ב״ירוק מעיד על מה שנבדק בלבד״?</a:t>
            </a:r>
          </a:p>
          <a:p>
            <a:pPr rtl="1" algn="r" marL="0" indent="0">
              <a:buNone/>
            </a:pPr>
            <a:r>
              <a:rPr b="1" sz="1200" lang="he-IL"/>
              <a:t>תשובה</a:t>
            </a:r>
          </a:p>
          <a:p>
            <a:pPr rtl="1" algn="r" marL="0" indent="0">
              <a:buNone/>
            </a:pPr>
            <a:r>
              <a:rPr sz="1200" lang="he-IL"/>
              <a:t>•  תלות יתר, אנשים שמפסיקים לבדוק (מפגש 8).</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מדיניות היא מסמך קצר שמגדיר כללים.</a:t>
            </a:r>
          </a:p>
          <a:p>
            <a:pPr rtl="1" algn="r" marL="0" indent="0">
              <a:buNone/>
            </a:pPr>
            <a:r>
              <a:rPr b="1" sz="1200" lang="he-IL"/>
              <a:t>מה אומרים</a:t>
            </a:r>
          </a:p>
          <a:p>
            <a:pPr rtl="1" algn="r" marL="0" indent="0">
              <a:buNone/>
            </a:pPr>
            <a:r>
              <a:rPr sz="1200" lang="he-IL"/>
              <a:t>•  שמונה סעיפים: מטרה והיקף, כלים מאושרים, סיווג מידע, סקירה אנושית, אבטחה, קניין רוחני, שקיפות ותיעוד, ואירועים והכשרה.</a:t>
            </a:r>
          </a:p>
          <a:p>
            <a:pPr rtl="1" algn="r" marL="0" indent="0">
              <a:buNone/>
            </a:pPr>
            <a:r>
              <a:rPr sz="1200" lang="he-IL"/>
              <a:t>•  התבנית המלאה בחבילה (ai_policy_template.md).</a:t>
            </a:r>
          </a:p>
          <a:p>
            <a:pPr rtl="1" algn="r" marL="0" indent="0">
              <a:buNone/>
            </a:pPr>
            <a:r>
              <a:rPr sz="1200" lang="he-IL"/>
              <a:t>•  מדיניות טובה קצרה, ברורה, וניתנת לאכיפה.</a:t>
            </a:r>
          </a:p>
          <a:p>
            <a:pPr rtl="1" algn="r" marL="0" indent="0">
              <a:buNone/>
            </a:pPr>
            <a:r>
              <a:rPr b="1" sz="1200" lang="he-IL"/>
              <a:t>חיבור לשיעורים קודמים</a:t>
            </a:r>
          </a:p>
          <a:p>
            <a:pPr rtl="1" algn="r" marL="0" indent="0">
              <a:buNone/>
            </a:pPr>
            <a:r>
              <a:rPr sz="1200" lang="he-IL"/>
              <a:t>•  סיווג המידע הוא שלושת הצבעים ממפגש 5 (אדום, צהוב, ירוק).</a:t>
            </a:r>
          </a:p>
          <a:p>
            <a:pPr rtl="1" algn="r" marL="0" indent="0">
              <a:buNone/>
            </a:pPr>
            <a:r>
              <a:rPr sz="1200" lang="he-IL"/>
              <a:t>•  הבהרה: התבנית המלאה בחבילה (ai_policy_template.md) היא נקודת פתיחה ולא מסמך משפטי.</a:t>
            </a:r>
          </a:p>
          <a:p>
            <a:pPr rtl="1" algn="r" marL="0" indent="0">
              <a:buNone/>
            </a:pPr>
            <a:r>
              <a:rPr sz="1200" lang="he-IL"/>
              <a:t>•  מדיניות טובה נבחנת בשלושה מבחנים: האם היא קונקרטית (מי עושה מה), האם אפשר לאכוף אותה (כלים מאושרים, חסימות, הדרכה), והאם היא מתעדכנת (בעלים ותאריך סקירה).</a:t>
            </a:r>
          </a:p>
          <a:p>
            <a:pPr rtl="1" algn="r" marL="0" indent="0">
              <a:buNone/>
            </a:pPr>
            <a:r>
              <a:rPr b="1" sz="1200" lang="he-IL"/>
              <a:t>טעות נפוצה</a:t>
            </a:r>
          </a:p>
          <a:p>
            <a:pPr rtl="1" algn="r" marL="0" indent="0">
              <a:buNone/>
            </a:pPr>
            <a:r>
              <a:rPr sz="1200" lang="he-IL"/>
              <a:t>•  מדיניות ארוכה שאיש אינו קורא.</a:t>
            </a:r>
          </a:p>
          <a:p>
            <a:pPr rtl="1" algn="r" marL="0" indent="0">
              <a:buNone/>
            </a:pPr>
            <a:r>
              <a:rPr sz="1200" lang="he-IL"/>
              <a:t>•  ראו בשקף ההעשרה על ממשל AI איך מסגרות כמו NIST AI RMF ו־ISO/IEC 42001 בונות סביב המדיניות גם תהליכי ניהול סיכונים.</a:t>
            </a:r>
          </a:p>
          <a:p>
            <a:pPr rtl="1" algn="r" marL="0" indent="0">
              <a:buNone/>
            </a:pPr>
            <a:r>
              <a:rPr sz="1200" lang="he-IL"/>
              <a:t>•  חיבור לכללים קודמים: שקיפות ותיעוד הן יומן ה־AI (מפגש 5); סקירה אנושית היא ה־diff וה־PR (מפגשים 6 ו־8); אבטחה היא כרטיס האבטחה (מפגש 10); אירועים הם הכלל ״קודם מבטלים״ (מפגש 10).</a:t>
            </a:r>
          </a:p>
          <a:p>
            <a:pPr rtl="1" algn="r" marL="0" indent="0">
              <a:buNone/>
            </a:pPr>
            <a:r>
              <a:rPr b="1" sz="1200" lang="he-IL"/>
              <a:t>שאלת היזכרות</a:t>
            </a:r>
          </a:p>
          <a:p>
            <a:pPr rtl="1" algn="r" marL="0" indent="0">
              <a:buNone/>
            </a:pPr>
            <a:r>
              <a:rPr sz="1200" lang="he-IL"/>
              <a:t>•  איזה סעיף במדיניות בא ישירות מרמזור מפגש 5?</a:t>
            </a:r>
          </a:p>
          <a:p>
            <a:pPr rtl="1" algn="r" marL="0" indent="0">
              <a:buNone/>
            </a:pPr>
            <a:r>
              <a:rPr b="1" sz="1200" lang="he-IL"/>
              <a:t>תשובה</a:t>
            </a:r>
          </a:p>
          <a:p>
            <a:pPr rtl="1" algn="r" marL="0" indent="0">
              <a:buNone/>
            </a:pPr>
            <a:r>
              <a:rPr sz="1200" lang="he-IL"/>
              <a:t>•  סיווג מידע.</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שלושה סעיפים לדוגמה בניסוח מעשי.</a:t>
            </a:r>
          </a:p>
          <a:p>
            <a:pPr rtl="1" algn="r" marL="0" indent="0">
              <a:buNone/>
            </a:pPr>
            <a:r>
              <a:rPr b="1" sz="1200" lang="he-IL"/>
              <a:t>מה אומרים</a:t>
            </a:r>
          </a:p>
          <a:p>
            <a:pPr rtl="1" algn="r" marL="0" indent="0">
              <a:buNone/>
            </a:pPr>
            <a:r>
              <a:rPr sz="1200" lang="he-IL"/>
              <a:t>•  שימו לב לכך שהכללים קונקרטיים: מי מבצע, ומה עושים.</a:t>
            </a:r>
          </a:p>
          <a:p>
            <a:pPr rtl="1" algn="r" marL="0" indent="0">
              <a:buNone/>
            </a:pPr>
            <a:r>
              <a:rPr sz="1200" lang="he-IL"/>
              <a:t>•  סיווג מידע: אדום אסור לכלי חיצוני.</a:t>
            </a:r>
          </a:p>
          <a:p>
            <a:pPr rtl="1" algn="r" marL="0" indent="0">
              <a:buNone/>
            </a:pPr>
            <a:r>
              <a:rPr sz="1200" lang="he-IL"/>
              <a:t>•  סקירה אנושית: אף שינוי של סוכן לא נכנס בלי PR.</a:t>
            </a:r>
          </a:p>
          <a:p>
            <a:pPr rtl="1" algn="r" marL="0" indent="0">
              <a:buNone/>
            </a:pPr>
            <a:r>
              <a:rPr sz="1200" lang="he-IL"/>
              <a:t>•  שקיפות: מציינים שימוש ב-AI בקוד, וללקוחות.</a:t>
            </a:r>
          </a:p>
          <a:p>
            <a:pPr rtl="1" algn="r" marL="0" indent="0">
              <a:buNone/>
            </a:pPr>
            <a:r>
              <a:rPr sz="1200" lang="he-IL"/>
              <a:t>•  בקשו מהסטודנטים להצביע איזה סעיף הכי קשה לאכיפה.</a:t>
            </a:r>
          </a:p>
          <a:p>
            <a:pPr rtl="1" algn="r" marL="0" indent="0">
              <a:buNone/>
            </a:pPr>
            <a:r>
              <a:rPr sz="1200" lang="he-IL"/>
              <a:t>•  הערות: כל משפט בטבלה נבנה כך שאפשר לבדוק אם קוימה ההוראה: ״אדום אסור לכלי חיצוני״ ניתן לאכיפה בחסימה טכנית</a:t>
            </a:r>
          </a:p>
          <a:p>
            <a:pPr rtl="1" algn="r" marL="0" indent="0">
              <a:buNone/>
            </a:pPr>
            <a:r>
              <a:rPr sz="1200" lang="he-IL"/>
              <a:t>•  ״כל שינוי עובר Pull Request״ ניתן לאכיפה בכללי ענף (branch protection)</a:t>
            </a:r>
          </a:p>
          <a:p>
            <a:pPr rtl="1" algn="r" marL="0" indent="0">
              <a:buNone/>
            </a:pPr>
            <a:r>
              <a:rPr sz="1200" lang="he-IL"/>
              <a:t>•  ״צ'אטבוט ללקוחות מציין שהוא AI״ מתיישב עם חובת השקיפות באיחוד האירופי (חוק ה־AI, סעיף 50, מ־2.8.2026) וגם עם התנהלות נכונה בישראל, שבה אין חובה כזו בחוק AI כללי.</a:t>
            </a:r>
          </a:p>
          <a:p>
            <a:pPr rtl="1" algn="r" marL="0" indent="0">
              <a:buNone/>
            </a:pPr>
            <a:r>
              <a:rPr sz="1200" lang="he-IL"/>
              <a:t>•  ביקשו מסטודנט לנסח סעיף נוסף: מה הכלל ומי אוכף?</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לסוף חלק ד׳ (כ-2 דקות).</a:t>
            </a:r>
          </a:p>
          <a:p>
            <a:pPr rtl="1" algn="r" marL="0" indent="0">
              <a:buNone/>
            </a:pPr>
            <a:r>
              <a:rPr b="1" sz="1200" lang="he-IL"/>
              <a:t>מה אומרים</a:t>
            </a:r>
          </a:p>
          <a:p>
            <a:pPr rtl="1" algn="r" marL="0" indent="0">
              <a:buNone/>
            </a:pPr>
            <a:r>
              <a:rPr sz="1200" lang="he-IL"/>
              <a:t>•  שאלו למה מדיניות שימוש ב-AI בארגון צריכה לכלול סיווג מידע ולא רק משפט כמו 'אסור להדביק מידע רגיש'.</a:t>
            </a:r>
          </a:p>
          <a:p>
            <a:pPr rtl="1" algn="r" marL="0" indent="0">
              <a:buNone/>
            </a:pPr>
            <a:r>
              <a:rPr sz="1200" lang="he-IL"/>
              <a:t>•  תנו לסטודנטים להציע דוגמה: האם רשימת לקוחות עם שמות בלבד היא מידע רגיש?</a:t>
            </a:r>
          </a:p>
          <a:p>
            <a:pPr rtl="1" algn="r" marL="0" indent="0">
              <a:buNone/>
            </a:pPr>
            <a:r>
              <a:rPr sz="1200" lang="he-IL"/>
              <a:t>•  רמז: איך עובד מבין מה בדיוק אסור?</a:t>
            </a:r>
          </a:p>
          <a:p>
            <a:pPr rtl="1" algn="r" marL="0" indent="0">
              <a:buNone/>
            </a:pPr>
            <a:r>
              <a:rPr sz="1200" lang="he-IL"/>
              <a:t>•  אל תחשפו את התשובה לפני שיש לפחות ניסוח אחד של הכיוון הנכון.</a:t>
            </a:r>
          </a:p>
          <a:p>
            <a:pPr rtl="1" algn="r" marL="0" indent="0">
              <a:buNone/>
            </a:pPr>
            <a:r>
              <a:rPr sz="1200" lang="he-IL"/>
              <a:t>•  חיבור למפגש 5, שבו הוצג סיווג שלושת הצבעים (אדום, צהוב, ירוק).</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תשובה (כ-2 דקות). 'מידע רגיש' אינו מדיד, ועובדים שונים יפרשו אותו אחרת.</a:t>
            </a:r>
          </a:p>
          <a:p>
            <a:pPr rtl="1" algn="r" marL="0" indent="0">
              <a:buNone/>
            </a:pPr>
            <a:r>
              <a:rPr b="1" sz="1200" lang="he-IL"/>
              <a:t>מה אומרים</a:t>
            </a:r>
          </a:p>
          <a:p>
            <a:pPr rtl="1" algn="r" marL="0" indent="0">
              <a:buNone/>
            </a:pPr>
            <a:r>
              <a:rPr sz="1200" lang="he-IL"/>
              <a:t>•  סיווג עם דוגמאות (אדום: נתוני לקוחות וסודות, צהוב: באישור, ירוק: נתונים סינתטיים וקוד ציבורי) הופך את הכלל לברור, ניתן ללימוד וניתן לאכיפה, ומאפשר גם להוסיף בדיקות והדרכה.</a:t>
            </a:r>
          </a:p>
          <a:p>
            <a:pPr rtl="1" algn="r" marL="0" indent="0">
              <a:buNone/>
            </a:pPr>
            <a:r>
              <a:rPr sz="1200" lang="he-IL"/>
              <a:t>•  מדיניות טובה קצרה ומשתמשת בדוגמאות מתחום העבודה של הארגון.</a:t>
            </a:r>
          </a:p>
          <a:p>
            <a:pPr rtl="1" algn="r" marL="0" indent="0">
              <a:buNone/>
            </a:pPr>
            <a:r>
              <a:rPr sz="1200" lang="he-IL"/>
              <a:t>•  שאלת המשך: מי אוכף ואיך?</a:t>
            </a:r>
          </a:p>
          <a:p>
            <a:pPr rtl="1" algn="r" marL="0" indent="0">
              <a:buNone/>
            </a:pPr>
            <a:r>
              <a:rPr b="1" sz="1200" lang="he-IL"/>
              <a:t>תשובה</a:t>
            </a:r>
          </a:p>
          <a:p>
            <a:pPr rtl="1" algn="r" marL="0" indent="0">
              <a:buNone/>
            </a:pPr>
            <a:r>
              <a:rPr sz="1200" lang="he-IL"/>
              <a:t>•  כלים מאושרים עם חסימות טכניות, הדרכה, ונוהל לדיווח על אירוע.</a:t>
            </a:r>
          </a:p>
          <a:p>
            <a:pPr rtl="1" algn="r" marL="0" indent="0">
              <a:buNone/>
            </a:pPr>
            <a:r>
              <a:rPr sz="1200" lang="he-IL"/>
              <a:t>•  אל תבטיחו שמדיניות מונעת טעויות: היא מקטינה סיכון ומבהירה אחריות.</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ג׳, 12 דקות, בזוגות.</a:t>
            </a:r>
          </a:p>
          <a:p>
            <a:pPr rtl="1" algn="r" marL="0" indent="0">
              <a:buNone/>
            </a:pPr>
            <a:r>
              <a:rPr b="1" sz="1200" lang="he-IL"/>
              <a:t>מה אומרים</a:t>
            </a:r>
          </a:p>
          <a:p>
            <a:pPr rtl="1" algn="r" marL="0" indent="0">
              <a:buNone/>
            </a:pPr>
            <a:r>
              <a:rPr sz="1200" lang="he-IL"/>
              <a:t>•  במחברת אלה חלק ג׳ (7 דקות בתכנון: מקרים משפטיים ואתיים) וחלק ד׳ (5 דקות: מדיניות), ואחריהם חלק ה׳, מסקנה של 2 דקות.</a:t>
            </a:r>
          </a:p>
          <a:p>
            <a:pPr rtl="1" algn="r" marL="0" indent="0">
              <a:buNone/>
            </a:pPr>
            <a:r>
              <a:rPr sz="1200" lang="he-IL"/>
              <a:t>•  כנות לגבי הזמן: יש כאן חמש פונקציות, מילוי מילון וצעד עם כלי AI, ולכן סביר שחלק מהסטודנטים יסיימו את חלק ג׳ בכיתה ואת חלק ד׳ בבית.</a:t>
            </a:r>
          </a:p>
          <a:p>
            <a:pPr rtl="1" algn="r" marL="0" indent="0">
              <a:buNone/>
            </a:pPr>
            <a:r>
              <a:rPr sz="1200" lang="he-IL"/>
              <a:t>•  בחלק ג׳: סולם התרומה האנושית (מילוי מילון, בלי פונקציה), privacy_leak, license_action ו־decide שמחברת שישה כללים בסדר קבוע על עשרה מקרים.</a:t>
            </a:r>
          </a:p>
          <a:p>
            <a:pPr rtl="1" algn="r" marL="0" indent="0">
              <a:buNone/>
            </a:pPr>
            <a:r>
              <a:rPr sz="1200" lang="he-IL"/>
              <a:t>•  בחלק ד׳: check_policy ו־policy_extras בודקות מדיניות, ואז Gemini או כל כלי צ'אט מנסח מדיניות לחנות והסטודנטים מריצים עליה את הבודק ומתקנים.</a:t>
            </a:r>
          </a:p>
          <a:p>
            <a:pPr rtl="1" algn="r" marL="0" indent="0">
              <a:buNone/>
            </a:pPr>
            <a:r>
              <a:rPr sz="1200" lang="he-IL"/>
              <a:t>•  הדגישו שוב ושוב: זה לא ייעוץ משפטי, decide היא כלל עבודה פשוט ולא החוק, ומידע אישי בכלי מאושר תלוי בבסיס חוקי ובהסכם עיבוד (לבדיקת עורך דין).</a:t>
            </a:r>
          </a:p>
          <a:p>
            <a:pPr rtl="1" algn="r" marL="0" indent="0">
              <a:buNone/>
            </a:pPr>
            <a:r>
              <a:rPr sz="1200" lang="he-IL"/>
              <a:t>•  אם Gemini לא זמין, מותר כל כלי צ'אט חינמי, או לכתוב ידנית שלושה סעיפים.</a:t>
            </a:r>
          </a:p>
          <a:p>
            <a:pPr rtl="1" algn="r" marL="0" indent="0">
              <a:buNone/>
            </a:pPr>
            <a:r>
              <a:rPr b="1" sz="1200" lang="he-IL"/>
              <a:t>הכנה לפני השיעור</a:t>
            </a:r>
          </a:p>
          <a:p>
            <a:pPr rtl="1" algn="r" marL="0" indent="0">
              <a:buNone/>
            </a:pPr>
            <a:r>
              <a:rPr sz="1200" lang="he-IL"/>
              <a:t>•  להחליף את ה־QR (מקום שמור) בקישור למחברת, ולהריץ Run all על גרסת הפתרון.</a:t>
            </a:r>
          </a:p>
          <a:p>
            <a:pPr rtl="1" algn="r" marL="0" indent="0">
              <a:buNone/>
            </a:pPr>
            <a:r>
              <a:rPr sz="1200" lang="he-IL"/>
              <a:t>•  למה עושים את זה (הקשר לתיאוריה): חלקים ג׳ וד׳ הציגו שאלות משפטיות ואתיות בשפה חופשית.</a:t>
            </a:r>
          </a:p>
          <a:p>
            <a:pPr rtl="1" algn="r" marL="0" indent="0">
              <a:buNone/>
            </a:pPr>
            <a:r>
              <a:rPr sz="1200" lang="he-IL"/>
              <a:t>•  במעבדה מנסים לכתוב אותן ככללים מפורשים: מי מהסיכונים קודם (דליפה לפני רישיון ואחריות), איזו פעולה מתאימה לכל רישיון, ואילו סעיפים חייבת מדיניות לכלול.</a:t>
            </a:r>
          </a:p>
          <a:p>
            <a:pPr rtl="1" algn="r" marL="0" indent="0">
              <a:buNone/>
            </a:pPr>
            <a:r>
              <a:rPr sz="1200" lang="he-IL"/>
              <a:t>•  התרגיל חושף כמה החלטות משפטיות תלויות בסדר ובפרשנות, ולכן decide היא כלל עבודה פשוט ולא החוק.</a:t>
            </a:r>
          </a:p>
          <a:p>
            <a:pPr rtl="1" algn="r" marL="0" indent="0">
              <a:buNone/>
            </a:pPr>
            <a:r>
              <a:rPr sz="1200" lang="he-IL"/>
              <a:t>•  נכון ל־22.10.2026 אין בכלל החלטה שמחליפה עורך דין.</a:t>
            </a:r>
          </a:p>
          <a:p>
            <a:pPr rtl="1" algn="r" marL="0" indent="0">
              <a:buNone/>
            </a:pPr>
            <a:r>
              <a:rPr b="1" sz="1200" lang="he-IL"/>
              <a:t>חיבור לשיעורים קודמים</a:t>
            </a:r>
          </a:p>
          <a:p>
            <a:pPr rtl="1" algn="r" marL="0" indent="0">
              <a:buNone/>
            </a:pPr>
            <a:r>
              <a:rPr sz="1200" lang="he-IL"/>
              <a:t>•  decide מחברת כללים בסדר קבוע, בדיוק כמו choose_tool במפגש 5, שבה בדיקת נתונים רגישים באה לפני כל שאלה אחרת ולכן הדליפה קודמת לרישיון ולאחריות. privacy_leak משתמשת בצבעי הרמזור ממפגש 5 וב־״מפתח בכלי מאושר עדיין דליפה״ ממפגש 10. check_policy בודקת קיום ולא איכות, כמו בלקח מפגש 8: ירוק מעיד על מה שנבדק בלבד.</a:t>
            </a:r>
          </a:p>
          <a:p>
            <a:pPr rtl="1" algn="r" marL="0" indent="0">
              <a:buNone/>
            </a:pPr>
            <a:r>
              <a:rPr sz="1200" lang="he-IL"/>
              <a:t>•  הטיוטה של כלי ה־AI היא פלט שמוודאים לפני שמסתמכים עליו (מפגשים 1 ו־2).</a:t>
            </a:r>
          </a:p>
          <a:p>
            <a:pPr rtl="1" algn="r" marL="0" indent="0">
              <a:buNone/>
            </a:pPr>
            <a:r>
              <a:rPr b="1" sz="1200" lang="he-IL"/>
              <a:t>שאלת היזכרות</a:t>
            </a:r>
          </a:p>
          <a:p>
            <a:pPr rtl="1" algn="r" marL="0" indent="0">
              <a:buNone/>
            </a:pPr>
            <a:r>
              <a:rPr sz="1200" lang="he-IL"/>
              <a:t>•  מה בדק choose_tool לפני כל שאלה אחרת?</a:t>
            </a:r>
          </a:p>
          <a:p>
            <a:pPr rtl="1" algn="r" marL="0" indent="0">
              <a:buNone/>
            </a:pPr>
            <a:r>
              <a:rPr b="1" sz="1200" lang="he-IL"/>
              <a:t>תשובה</a:t>
            </a:r>
          </a:p>
          <a:p>
            <a:pPr rtl="1" algn="r" marL="0" indent="0">
              <a:buNone/>
            </a:pPr>
            <a:r>
              <a:rPr sz="1200" lang="he-IL"/>
              <a:t>•  האם הנתונים רגישים.</a:t>
            </a:r>
          </a:p>
          <a:p>
            <a:pPr rtl="1" algn="r" marL="0" indent="0">
              <a:buNone/>
            </a:pPr>
            <a:r>
              <a:rPr sz="1200" lang="he-IL"/>
              <a:t>•  אם כן, אין כלי חיצוני.</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ג׳, חלק ד׳ צעד 2 במחברת (כ־3 דקות).</a:t>
            </a:r>
          </a:p>
          <a:p>
            <a:pPr rtl="1" algn="r" marL="0" indent="0">
              <a:buNone/>
            </a:pPr>
            <a:r>
              <a:rPr b="1" sz="1200" lang="he-IL"/>
              <a:t>מה אומרים</a:t>
            </a:r>
          </a:p>
          <a:p>
            <a:pPr rtl="1" algn="r" marL="0" indent="0">
              <a:buNone/>
            </a:pPr>
            <a:r>
              <a:rPr sz="1200" lang="he-IL"/>
              <a:t>•  זה הצעד היחיד במחברת שבו משתמשים בכלי AI אמיתי: עוזר ה־Gemini של Colab, או כל כלי צ'אט חינמי.</a:t>
            </a:r>
          </a:p>
          <a:p>
            <a:pPr rtl="1" algn="r" marL="0" indent="0">
              <a:buNone/>
            </a:pPr>
            <a:r>
              <a:rPr sz="1200" lang="he-IL"/>
              <a:t>•  הפרומפט על השקף הוא גרסה באנגלית של הפרומפט שבמחברת (במחברת הצבעים והסימון כתובים בעברית): מדיניות של עמוד לחנות מקוונת עם מערכת מלאי וצ'אטבוט, שמונה כותרות מדויקות מהתבנית, סיווג מידע בשלושה צבעים, וסימון של כל נושא משפטי כדורש בדיקת עורך דין.</a:t>
            </a:r>
          </a:p>
          <a:p>
            <a:pPr rtl="1" algn="r" marL="0" indent="0">
              <a:buNone/>
            </a:pPr>
            <a:r>
              <a:rPr sz="1200" lang="he-IL"/>
              <a:t>•  הסטודנטים מדביקים את הטיוטה בתא my_policy, מריצים את check_policy ו־policy_extras, מתקנים בעצמם, ומתעדים ב־policy_log כמה סעיפים הכלי כתב וכמה בעיות נמצאו בטיוטה הראשונה.</a:t>
            </a:r>
          </a:p>
          <a:p>
            <a:pPr rtl="1" algn="r" marL="0" indent="0">
              <a:buNone/>
            </a:pPr>
            <a:r>
              <a:rPr sz="1200" lang="he-IL"/>
              <a:t>•  אם הכלי שינה כותרת, מתקנים אותה ידנית: זה חלק מהבדיקה, קראתם מה כתב הכלי?</a:t>
            </a:r>
          </a:p>
          <a:p>
            <a:pPr rtl="1" algn="r" marL="0" indent="0">
              <a:buNone/>
            </a:pPr>
            <a:r>
              <a:rPr sz="1200" lang="he-IL"/>
              <a:t>•  סימון נושא משפטי כדורש בדיקת עורך דין הוא התנהגות רצויה ולא חולשה.</a:t>
            </a:r>
          </a:p>
          <a:p>
            <a:pPr rtl="1" algn="r" marL="0" indent="0">
              <a:buNone/>
            </a:pPr>
            <a:r>
              <a:rPr sz="1200" lang="he-IL"/>
              <a:t>•  גיבוי אם אין כלי AI: כותבים ידנית שלושה סעיפים בלבד, והבודק יציג missing על השאר, וזה בסדר.</a:t>
            </a:r>
          </a:p>
          <a:p>
            <a:pPr rtl="1" algn="r" marL="0" indent="0">
              <a:buNone/>
            </a:pPr>
            <a:r>
              <a:rPr b="1" sz="1200" lang="he-IL"/>
              <a:t>חיבור לשיעורים קודמים</a:t>
            </a:r>
          </a:p>
          <a:p>
            <a:pPr rtl="1" algn="r" marL="0" indent="0">
              <a:buNone/>
            </a:pPr>
            <a:r>
              <a:rPr sz="1200" lang="he-IL"/>
              <a:t>•  זה הצעד היחיד שבו כלי AI כותב לכם, ולכן חוזרים לכלל ממפגש 1 (קוראים, מבינים ובודקים לפני שמגישים) ולמפגש 2 (הכלי עלול להמציא ולכן האימות הוא התפקיד שלכם).</a:t>
            </a:r>
          </a:p>
          <a:p>
            <a:pPr rtl="1" algn="r" marL="0" indent="0">
              <a:buNone/>
            </a:pPr>
            <a:r>
              <a:rPr sz="1200" lang="he-IL"/>
              <a:t>•  הבודק של check_policy הוא אותה גישה של בדיקת תוצאה מול כללים ידועים, כמו במפגש 5.</a:t>
            </a:r>
          </a:p>
          <a:p>
            <a:pPr rtl="1" algn="r" marL="0" indent="0">
              <a:buNone/>
            </a:pPr>
            <a:r>
              <a:rPr sz="1200" lang="he-IL"/>
              <a:t>•  התיעוד ב־policy_log הוא המשך של יומן ה־AI ממפגש 5.</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ג׳, שלושה תרחישים (כדקה וחצי, לפני שמריצים את decide).</a:t>
            </a:r>
          </a:p>
          <a:p>
            <a:pPr rtl="1" algn="r" marL="0" indent="0">
              <a:buNone/>
            </a:pPr>
            <a:r>
              <a:rPr b="1" sz="1200" lang="he-IL"/>
              <a:t>מה אומרים</a:t>
            </a:r>
          </a:p>
          <a:p>
            <a:pPr rtl="1" algn="r" marL="0" indent="0">
              <a:buNone/>
            </a:pPr>
            <a:r>
              <a:rPr sz="1200" lang="he-IL"/>
              <a:t>•  אלה שלושת המקרים הראשונים מתוך עשרה במחברת: דליפת רשימת לקוחות לצ'אט ציבורי, קטע קוד כמעט זהה לקוד GPL שנכנס למוצר מסחרי, וצ'אטבוט שהבטיח החזר שאינו במדיניות.</a:t>
            </a:r>
          </a:p>
          <a:p>
            <a:pPr rtl="1" algn="r" marL="0" indent="0">
              <a:buNone/>
            </a:pPr>
            <a:r>
              <a:rPr sz="1200" lang="he-IL"/>
              <a:t>•  לפני ההרצה כל זוג עונה לעצמו על שלוש שאלות: מה הסיכון, מה עושים עכשיו, ומה משנים במדיניות.</a:t>
            </a:r>
          </a:p>
          <a:p>
            <a:pPr rtl="1" algn="r" marL="0" indent="0">
              <a:buNone/>
            </a:pPr>
            <a:r>
              <a:rPr sz="1200" lang="he-IL"/>
              <a:t>•  אחר כך decide מחזירה: א privacy, ב copyright עם הפעולה check_source_and_replace, ג liability.</a:t>
            </a:r>
          </a:p>
          <a:p>
            <a:pPr rtl="1" algn="r" marL="0" indent="0">
              <a:buNone/>
            </a:pPr>
            <a:r>
              <a:rPr sz="1200" lang="he-IL"/>
              <a:t>•  עודדו להבחין בין פעולה מיידית לבין שינוי מערכתי.</a:t>
            </a:r>
          </a:p>
          <a:p>
            <a:pPr rtl="1" algn="r" marL="0" indent="0">
              <a:buNone/>
            </a:pPr>
            <a:r>
              <a:rPr sz="1200" lang="he-IL"/>
              <a:t>•  אל תחשפו את התשובות המוצעות בשקף הבא עד שהזוגות סיימו.</a:t>
            </a:r>
          </a:p>
          <a:p>
            <a:pPr rtl="1" algn="r" marL="0" indent="0">
              <a:buNone/>
            </a:pPr>
            <a:r>
              <a:rPr sz="1200" lang="he-IL"/>
              <a:t>•  מי שמסיים מוקדם משווה לזוג סמוך.</a:t>
            </a:r>
          </a:p>
          <a:p>
            <a:pPr rtl="1" algn="r" marL="0" indent="0">
              <a:buNone/>
            </a:pPr>
            <a:r>
              <a:rPr sz="1200" lang="he-IL"/>
              <a:t>•  זכרו: אלה כלי חשיבה ולא ייעוץ משפטי.</a:t>
            </a:r>
          </a:p>
          <a:p>
            <a:pPr rtl="1" algn="r" marL="0" indent="0">
              <a:buNone/>
            </a:pPr>
            <a:r>
              <a:rPr sz="1200" lang="he-IL"/>
              <a:t>•  מפתח תשובות מורחב בתיקיית instructor (cases_answers.md).</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ג׳, תשובות מוצעות (כדקה).</a:t>
            </a:r>
          </a:p>
          <a:p>
            <a:pPr rtl="1" algn="r" marL="0" indent="0">
              <a:buNone/>
            </a:pPr>
            <a:r>
              <a:rPr b="1" sz="1200" lang="he-IL"/>
              <a:t>מה אומרים</a:t>
            </a:r>
          </a:p>
          <a:p>
            <a:pPr rtl="1" algn="r" marL="0" indent="0">
              <a:buNone/>
            </a:pPr>
            <a:r>
              <a:rPr sz="1200" lang="he-IL"/>
              <a:t>•  התשובות הן לא יחידות, והן מתיישבות עם מה ש־decide מחזירה בשלושת המקרים הראשונים.</a:t>
            </a:r>
          </a:p>
          <a:p>
            <a:pPr rtl="1" algn="r" marL="0" indent="0">
              <a:buNone/>
            </a:pPr>
            <a:r>
              <a:rPr sz="1200" lang="he-IL"/>
              <a:t>•  א: פרטיות ודליפה: לדווח, להעריך אילו נתונים נחשפו ולפעול לפי נוהל אירוע, בהתייעצות משפטית.</a:t>
            </a:r>
          </a:p>
          <a:p>
            <a:pPr rtl="1" algn="r" marL="0" indent="0">
              <a:buNone/>
            </a:pPr>
            <a:r>
              <a:rPr sz="1200" lang="he-IL"/>
              <a:t>•  ב: זכויות יוצרים ורישיונות: לבדוק מקור ורישיון, להחליף או לכתוב מחדש, או לעמוד בתנאים.</a:t>
            </a:r>
          </a:p>
          <a:p>
            <a:pPr rtl="1" algn="r" marL="0" indent="0">
              <a:buNone/>
            </a:pPr>
            <a:r>
              <a:rPr sz="1200" lang="he-IL"/>
              <a:t>•  ג: אחריות: המקרה של Air Canada מראה שחברה אחראית לדברי הצ'אטבוט שלה, אבל זה מקרה אחד ולא כלל כללי.</a:t>
            </a:r>
          </a:p>
          <a:p>
            <a:pPr rtl="1" algn="r" marL="0" indent="0">
              <a:buNone/>
            </a:pPr>
            <a:r>
              <a:rPr sz="1200" lang="he-IL"/>
              <a:t>•  בקשו מהזוגות להשוות את מה שכתבו לטבלה, ולהסביר איפה הכלל הפשוט של decide אינו מספיק, למשל מידע אישי בכלי מאושר.</a:t>
            </a:r>
          </a:p>
          <a:p>
            <a:pPr rtl="1" algn="r" marL="0" indent="0">
              <a:buNone/>
            </a:pPr>
            <a:r>
              <a:rPr sz="1200" lang="he-IL"/>
              <a:t>•  אל תתיימרו לתת ייעוץ משפטי: הדגישו שזה כלי חשיבה.</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הצהרת אי־ייעוץ משפטי (כחצי דקה עד דקה, לפני חלק ג׳).</a:t>
            </a:r>
          </a:p>
          <a:p>
            <a:pPr rtl="1" algn="r" marL="0" indent="0">
              <a:buNone/>
            </a:pPr>
            <a:r>
              <a:rPr b="1" sz="1200" lang="he-IL"/>
              <a:t>מה אומרים</a:t>
            </a:r>
          </a:p>
          <a:p>
            <a:pPr rtl="1" algn="r" marL="0" indent="0">
              <a:buNone/>
            </a:pPr>
            <a:r>
              <a:rPr sz="1200" lang="he-IL"/>
              <a:t>•  אומרים בקול: אני לא עורך דין, והשקפים הבאים אינם ייעוץ משפטי ואינם תחליף לו.</a:t>
            </a:r>
          </a:p>
          <a:p>
            <a:pPr rtl="1" algn="r" marL="0" indent="0">
              <a:buNone/>
            </a:pPr>
            <a:r>
              <a:rPr sz="1200" lang="he-IL"/>
              <a:t>•  המטרה היא שתכירו את השאלות ותדעו מתי פונים ליועץ.</a:t>
            </a:r>
          </a:p>
          <a:p>
            <a:pPr rtl="1" algn="r" marL="0" indent="0">
              <a:buNone/>
            </a:pPr>
            <a:r>
              <a:rPr sz="1200" lang="he-IL"/>
              <a:t>•  הדבר החשוב ביותר בשקף הוא ארבע דרגות הוודאות, כי סטודנטים נוטים לערבב ביניהן.</a:t>
            </a:r>
          </a:p>
          <a:p>
            <a:pPr rtl="1" algn="r" marL="0" indent="0">
              <a:buNone/>
            </a:pPr>
            <a:r>
              <a:rPr sz="1200" lang="he-IL"/>
              <a:t>•  חוק או תקנה מחייבים (למשל תיקון 13 לחוק הגנת הפרטיות בישראל, או ה־GDPR ותקנת ה־AI Act באיחוד).</a:t>
            </a:r>
          </a:p>
          <a:p>
            <a:pPr rtl="1" algn="r" marL="0" indent="0">
              <a:buNone/>
            </a:pPr>
            <a:r>
              <a:rPr sz="1200" lang="he-IL"/>
              <a:t>•  פסק דין מחייב לפי הערכאה שנתנה אותו: פסק של בית דין קטן, כמו Moffatt נ' Air Canada, אינו תקדים רחב, ודחיית בקשת רשות ערעור בבית המשפט העליון האמריקאי (Thaler, מרץ 2026) אינה הכרעה לגופו של עניין.</a:t>
            </a:r>
          </a:p>
          <a:p>
            <a:pPr rtl="1" algn="r" marL="0" indent="0">
              <a:buNone/>
            </a:pPr>
            <a:r>
              <a:rPr sz="1200" lang="he-IL"/>
              <a:t>•  חוות דעת והנחיה של רשות הן עמדה מקצועית: חוות הדעת של משרד המשפטים מדצמבר 2022 על אימון מודלים אינה מחייבת בתי משפט, והנחיית הרשות להגנת הפרטיות בנושא AI עדיין בנוסח טיוטה.</a:t>
            </a:r>
          </a:p>
          <a:p>
            <a:pPr rtl="1" algn="r" marL="0" indent="0">
              <a:buNone/>
            </a:pPr>
            <a:r>
              <a:rPr sz="1200" lang="he-IL"/>
              <a:t>•  מדיניות ארגונית מחייבת רק את הארגון.</a:t>
            </a:r>
          </a:p>
          <a:p>
            <a:pPr rtl="1" algn="r" marL="0" indent="0">
              <a:buNone/>
            </a:pPr>
            <a:r>
              <a:rPr sz="1200" lang="he-IL"/>
              <a:t>•  ״נכון ל־22.10.2026״ מופיע בכל שקף שיש בו עובדה שיכולה להשתנות; אם סטודנט שואל על עדכון, ענו שהמצב נבדק בתאריך הזה ושצריך לבדוק שוב לפני הסתמכות.</a:t>
            </a:r>
          </a:p>
          <a:p>
            <a:pPr rtl="1" algn="r" marL="0" indent="0">
              <a:buNone/>
            </a:pPr>
            <a:r>
              <a:rPr sz="1200" lang="he-IL"/>
              <a:t>•  מדיניות העבודה שלי בשקפים: טענה שלא הצלחתי לאמת מול מקור רשמי או מול שני מקורות עצמאיים לא נכנסה.</a:t>
            </a:r>
          </a:p>
          <a:p>
            <a:pPr rtl="1" algn="r" marL="0" indent="0">
              <a:buNone/>
            </a:pPr>
            <a:r>
              <a:rPr sz="1200" lang="he-IL"/>
              <a:t>•  הבהרה על הסימון: בשקפי ההעשרה ובשקף המקורות מופיעים הפרטים המלאים.</a:t>
            </a:r>
          </a:p>
          <a:p>
            <a:pPr rtl="1" algn="r" marL="0" indent="0">
              <a:buNone/>
            </a:pPr>
            <a:r>
              <a:rPr b="1" sz="1200" lang="he-IL"/>
              <a:t>שאלה לכיתה</a:t>
            </a:r>
          </a:p>
          <a:p>
            <a:pPr rtl="1" algn="r" marL="0" indent="0">
              <a:buNone/>
            </a:pPr>
            <a:r>
              <a:rPr sz="1200" lang="he-IL"/>
              <a:t>•  מה ההבדל בין ״אסור״ ל״כנראה אסור״?</a:t>
            </a:r>
          </a:p>
          <a:p>
            <a:pPr rtl="1" algn="r" marL="0" indent="0">
              <a:buNone/>
            </a:pPr>
            <a:r>
              <a:rPr b="1" sz="1200" lang="he-IL"/>
              <a:t>תשובה</a:t>
            </a:r>
          </a:p>
          <a:p>
            <a:pPr rtl="1" algn="r" marL="0" indent="0">
              <a:buNone/>
            </a:pPr>
            <a:r>
              <a:rPr sz="1200" lang="he-IL"/>
              <a:t>•  ודאות משפטית היא סקאלה, ויש נושאים שבהם אין עדיין תשובה, וזה גם ממצא.</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הכלל של המפגש (כ-1 דקה).</a:t>
            </a:r>
          </a:p>
          <a:p>
            <a:pPr rtl="1" algn="r" marL="0" indent="0">
              <a:buNone/>
            </a:pPr>
            <a:r>
              <a:rPr b="1" sz="1200" lang="he-IL"/>
              <a:t>מה אומרים</a:t>
            </a:r>
          </a:p>
          <a:p>
            <a:pPr rtl="1" algn="r" marL="0" indent="0">
              <a:buNone/>
            </a:pPr>
            <a:r>
              <a:rPr sz="1200" lang="he-IL"/>
              <a:t>•  חזרו על שלושת הפעלים: בודקים (בדיקות וצ'קליסט, מפגשים 8 ו-9), מתעדים (יומן, README ומסמך העברה, מפגש 11), ומודיעים (הצהרת AI ומגבלות).</a:t>
            </a:r>
          </a:p>
          <a:p>
            <a:pPr rtl="1" algn="r" marL="0" indent="0">
              <a:buNone/>
            </a:pPr>
            <a:r>
              <a:rPr sz="1200" lang="he-IL"/>
              <a:t>•  השורה התחתונה: גם כש-AI כתב את הקוד, אתם אלה שמשחררים ושחתומים.</a:t>
            </a:r>
          </a:p>
          <a:p>
            <a:pPr rtl="1" algn="r" marL="0" indent="0">
              <a:buNone/>
            </a:pPr>
            <a:r>
              <a:rPr sz="1200" lang="he-IL"/>
              <a:t>•  חזרו לשאלה מהפתיחה, מה יכול להשתבש, והראו את התשובות שהכיתה כתבה על הלוח בתחילת השיעור ואיך כל אחת מהן מקבלת מענה בצ'קליסט או במדיניות.</a:t>
            </a:r>
          </a:p>
          <a:p>
            <a:pPr rtl="1" algn="r" marL="0" indent="0">
              <a:buNone/>
            </a:pPr>
            <a:r>
              <a:rPr sz="1200" lang="he-IL"/>
              <a:t>•  הכלל הוא עיקרון מקצועי ולא קביעה משפטית: פרטי האחריות המשפטית תלויים בנסיבות.</a:t>
            </a:r>
          </a:p>
          <a:p>
            <a:pPr rtl="1" algn="r" marL="0" indent="0">
              <a:buNone/>
            </a:pPr>
            <a:r>
              <a:rPr sz="1200" lang="he-IL"/>
              <a:t>•  אפשר לבקש מסטודנט אחד לנסח את הכלל במילים שלו.</a:t>
            </a:r>
          </a:p>
          <a:p>
            <a:pPr rtl="1" algn="r" marL="0" indent="0">
              <a:buNone/>
            </a:pPr>
            <a:r>
              <a:rPr sz="1200" lang="he-IL"/>
              <a:t>•  הכלל של היום נוסף לשרשרת הכללים של הקורס: מפגש 1: סומכים אבל בודקים.</a:t>
            </a:r>
          </a:p>
          <a:p>
            <a:pPr rtl="1" algn="r" marL="0" indent="0">
              <a:buNone/>
            </a:pPr>
            <a:r>
              <a:rPr sz="1200" lang="he-IL"/>
              <a:t>•  מפגש 8: קוד בלי בדיקה הוא השערה.</a:t>
            </a:r>
          </a:p>
          <a:p>
            <a:pPr rtl="1" algn="r" marL="0" indent="0">
              <a:buNone/>
            </a:pPr>
            <a:r>
              <a:rPr sz="1200" lang="he-IL"/>
              <a:t>•  מפגש 10: כל סוד נשאר מחוץ לקוד.</a:t>
            </a:r>
          </a:p>
          <a:p>
            <a:pPr rtl="1" algn="r" marL="0" indent="0">
              <a:buNone/>
            </a:pPr>
            <a:r>
              <a:rPr sz="1200" lang="he-IL"/>
              <a:t>•  מפגש 11: משנים מבנה רק כשהבדיקות ירוקות ובצעדים קטנים.</a:t>
            </a:r>
          </a:p>
          <a:p>
            <a:pPr rtl="1" algn="r" marL="0" indent="0">
              <a:buNone/>
            </a:pPr>
            <a:r>
              <a:rPr sz="1200" lang="he-IL"/>
              <a:t>•  מפגש 12: אחראים על מה שמשחררים, בודקים, מתעדים ומודיעים.</a:t>
            </a:r>
          </a:p>
          <a:p>
            <a:pPr rtl="1" algn="r" marL="0" indent="0">
              <a:buNone/>
            </a:pPr>
            <a:r>
              <a:rPr b="1" sz="1200" lang="he-IL"/>
              <a:t>שאלה לכיתה</a:t>
            </a:r>
          </a:p>
          <a:p>
            <a:pPr rtl="1" algn="r" marL="0" indent="0">
              <a:buNone/>
            </a:pPr>
            <a:r>
              <a:rPr sz="1200" lang="he-IL"/>
              <a:t>•  איזה כלל בשרשרת הכי שימושי בפרויקט שלכם?</a:t>
            </a:r>
          </a:p>
          <a:p>
            <a:pPr rtl="1" algn="r" marL="0" indent="0">
              <a:buNone/>
            </a:pPr>
            <a:r>
              <a:rPr sz="1200" lang="he-IL"/>
              <a:t>•  במפגש 13 הכללים נאספים לשרשרת אחת.</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חידון סיום (כ-3 דקות).</a:t>
            </a:r>
          </a:p>
          <a:p>
            <a:pPr rtl="1" algn="r" marL="0" indent="0">
              <a:buNone/>
            </a:pPr>
            <a:r>
              <a:rPr b="1" sz="1200" lang="he-IL"/>
              <a:t>מה אומרים</a:t>
            </a:r>
          </a:p>
          <a:p>
            <a:pPr rtl="1" algn="r" marL="0" indent="0">
              <a:buNone/>
            </a:pPr>
            <a:r>
              <a:rPr sz="1200" lang="he-IL"/>
              <a:t>•  ארבע שאלות על ליבת המפגש: מה משתנה בין סביבות, בעלות על קוד AI, סיכון GPL, ושלושת הפעלים של האחריות.</a:t>
            </a:r>
          </a:p>
          <a:p>
            <a:pPr rtl="1" algn="r" marL="0" indent="0">
              <a:buNone/>
            </a:pPr>
            <a:r>
              <a:rPr sz="1200" lang="he-IL"/>
              <a:t>•  הציגו שאלה אחת בכל פעם, תנו חצי דקה לחשוב וקראו לתשובה מהכיתה.</a:t>
            </a:r>
          </a:p>
          <a:p>
            <a:pPr rtl="1" algn="r" marL="0" indent="0">
              <a:buNone/>
            </a:pPr>
            <a:r>
              <a:rPr sz="1200" lang="he-IL"/>
              <a:t>•  אפשר לעבוד בזוגות או בהצבעה ידיים.</a:t>
            </a:r>
          </a:p>
          <a:p>
            <a:pPr rtl="1" algn="r" marL="0" indent="0">
              <a:buNone/>
            </a:pPr>
            <a:r>
              <a:rPr sz="1200" lang="he-IL"/>
              <a:t>•  אל תעברו לשקף התשובות לפני שיש לפחות ניסיון אחד לכל שאלה.</a:t>
            </a:r>
          </a:p>
          <a:p>
            <a:pPr rtl="1" algn="r" marL="0" indent="0">
              <a:buNone/>
            </a:pPr>
            <a:r>
              <a:rPr sz="1200" lang="he-IL"/>
              <a:t>•  השאלות מתאימות גם כבנק שאלות לבוחן, ותשובה טובה מבחינה בין מה שכבר הוכרע לבין מה שעדיין בלתי ודאי (בעלות על קוד AI).</a:t>
            </a:r>
          </a:p>
          <a:p>
            <a:pPr rtl="1" algn="r" marL="0" indent="0">
              <a:buNone/>
            </a:pPr>
            <a:r>
              <a:rPr sz="1200" lang="he-IL"/>
              <a:t>•  אם נשאר זמן, שאלת שרשרת (לא בחידון): איזה סעיף בצ'קליסט מגיע ממפגש 8 ואיזה ממפגש 10?</a:t>
            </a:r>
          </a:p>
          <a:p>
            <a:pPr rtl="1" algn="r" marL="0" indent="0">
              <a:buNone/>
            </a:pPr>
            <a:r>
              <a:rPr b="1" sz="1200" lang="he-IL"/>
              <a:t>תשובה</a:t>
            </a:r>
          </a:p>
          <a:p>
            <a:pPr rtl="1" algn="r" marL="0" indent="0">
              <a:buNone/>
            </a:pPr>
            <a:r>
              <a:rPr sz="1200" lang="he-IL"/>
              <a:t>•  בדיקות ירוקות (איכות) ואין סודות בקוד (אבטחה).</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תשובות לחידון (כ-2 דקות).</a:t>
            </a:r>
          </a:p>
          <a:p>
            <a:pPr rtl="1" algn="r" marL="0" indent="0">
              <a:buNone/>
            </a:pPr>
            <a:r>
              <a:rPr b="1" sz="1200" lang="he-IL"/>
              <a:t>מה אומרים</a:t>
            </a:r>
          </a:p>
          <a:p>
            <a:pPr rtl="1" algn="r" marL="0" indent="0">
              <a:buNone/>
            </a:pPr>
            <a:r>
              <a:rPr sz="1200" lang="he-IL"/>
              <a:t>•  1: אותה תמונת קונטיינר רצה בכל סביבה כדי שהקוד לא ישתנה בין בדיקה לייצור, ומה שמשתנה הוא ההגדרות והסודות שנכנסים כמשתני סביבה.</a:t>
            </a:r>
          </a:p>
          <a:p>
            <a:pPr rtl="1" algn="r" marL="0" indent="0">
              <a:buNone/>
            </a:pPr>
            <a:r>
              <a:rPr sz="1200" lang="he-IL"/>
              <a:t>•  2: אין תשובה מוחלטת, פרומפט בלבד כנראה אינו מקנה יוצרות לפי הנחיות משרד זכויות היוצרים בארה״ב מ-2025, ותרומה אנושית של בחירה, סידור ושינוי עשויה להיות מוגנת.</a:t>
            </a:r>
          </a:p>
          <a:p>
            <a:pPr rtl="1" algn="r" marL="0" indent="0">
              <a:buNone/>
            </a:pPr>
            <a:r>
              <a:rPr sz="1200" lang="he-IL"/>
              <a:t>•  3: מודל עלול לשחזר קטע ברישיון קופילפט, ושילובו במוצר עלול להתחייב בפתיחת הקוד.</a:t>
            </a:r>
          </a:p>
          <a:p>
            <a:pPr rtl="1" algn="r" marL="0" indent="0">
              <a:buNone/>
            </a:pPr>
            <a:r>
              <a:rPr sz="1200" lang="he-IL"/>
              <a:t>•  4: בודקים, מתעדים ומודיעים.</a:t>
            </a:r>
          </a:p>
          <a:p>
            <a:pPr rtl="1" algn="r" marL="0" indent="0">
              <a:buNone/>
            </a:pPr>
            <a:r>
              <a:rPr sz="1200" lang="he-IL"/>
              <a:t>•  אם הסטודנטים טעו בשאלה 2, חזרו על כך שאין כאן ייעוץ משפטי ושהמצב מתפתח.</a:t>
            </a:r>
          </a:p>
          <a:p>
            <a:pPr rtl="1" algn="r" marL="0" indent="0">
              <a:buNone/>
            </a:pPr>
            <a:r>
              <a:rPr sz="1200" lang="he-IL"/>
              <a:t>•  מקור לדיוק: דוח משרד זכויות היוצרים האמריקאי, חלק 2 (29.1.2025), ופרשת Thaler (בקשת רשות ערעור נדחתה ב־2.3.2026).</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סיכום (כ-3 דקות).</a:t>
            </a:r>
          </a:p>
          <a:p>
            <a:pPr rtl="1" algn="r" marL="0" indent="0">
              <a:buNone/>
            </a:pPr>
            <a:r>
              <a:rPr b="1" sz="1200" lang="he-IL"/>
              <a:t>מה אומרים</a:t>
            </a:r>
          </a:p>
          <a:p>
            <a:pPr rtl="1" algn="r" marL="0" indent="0">
              <a:buNone/>
            </a:pPr>
            <a:r>
              <a:rPr sz="1200" lang="he-IL"/>
              <a:t>•  חזרו על ארבע המסקנות בקצרה, ואז על שורת השרשרת: בדיקות (מפגש 8), סודות (10) והעברה (11) חוברים היום לצ'קליסט אחד לפני חשיפה.</a:t>
            </a:r>
          </a:p>
          <a:p>
            <a:pPr rtl="1" algn="r" marL="0" indent="0">
              <a:buNone/>
            </a:pPr>
            <a:r>
              <a:rPr sz="1200" lang="he-IL"/>
              <a:t>•  פריסה: אותה תמונה בכל סביבה, הגדרות וסודות בסביבה, נתונים שנשמרים, CI, ניטור, עלות וחזרה אחורה.</a:t>
            </a:r>
          </a:p>
          <a:p>
            <a:pPr rtl="1" algn="r" marL="0" indent="0">
              <a:buNone/>
            </a:pPr>
            <a:r>
              <a:rPr sz="1200" lang="he-IL"/>
              <a:t>•  עמוד נחיתה נפרס בקלות והצ'קליסט מחבר את כל הקורס.</a:t>
            </a:r>
          </a:p>
          <a:p>
            <a:pPr rtl="1" algn="r" marL="0" indent="0">
              <a:buNone/>
            </a:pPr>
            <a:r>
              <a:rPr sz="1200" lang="he-IL"/>
              <a:t>•  זכויות יוצרים: פרומפט בלבד כנראה אינו מקנה יוצרות, ורישיונות וקוד שנוצר ב-AI דורשים בדיקה.</a:t>
            </a:r>
          </a:p>
          <a:p>
            <a:pPr rtl="1" algn="r" marL="0" indent="0">
              <a:buNone/>
            </a:pPr>
            <a:r>
              <a:rPr sz="1200" lang="he-IL"/>
              <a:t>•  פרטיות ואחריות: מי שפורס נושא באחריות, ומדיניות, סיווג מידע ושקיפות מקטינים סיכון.</a:t>
            </a:r>
          </a:p>
          <a:p>
            <a:pPr rtl="1" algn="r" marL="0" indent="0">
              <a:buNone/>
            </a:pPr>
            <a:r>
              <a:rPr sz="1200" lang="he-IL"/>
              <a:t>•  חזרו לשאלה מהפתיחה, מה יכול להשתבש, והראו לכיתה שעכשיו יש לה תשובות.</a:t>
            </a:r>
          </a:p>
          <a:p>
            <a:pPr rtl="1" algn="r" marL="0" indent="0">
              <a:buNone/>
            </a:pPr>
            <a:r>
              <a:rPr sz="1200" lang="he-IL"/>
              <a:t>•  אזכרה אחרונה: זה לא ייעוץ משפטי ופונים ליועץ כשיש חשש ממשי.</a:t>
            </a:r>
          </a:p>
          <a:p>
            <a:pPr rtl="1" algn="r" marL="0" indent="0">
              <a:buNone/>
            </a:pPr>
            <a:r>
              <a:rPr sz="1200" lang="he-IL"/>
              <a:t>•  אם התקצבתם זמן להעשרה: שקפי ההעשרה (אחרי מעבדה ג׳) מרחיבים בהשוואה בין משפטים, בפסיקה, בקוד פתוח, בממשל AI ובתיקון 13, ושקף המקורות מפרט מה נבדק ומתי.</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הכנה למפגש 13 (כ-2 דקות).</a:t>
            </a:r>
          </a:p>
          <a:p>
            <a:pPr rtl="1" algn="r" marL="0" indent="0">
              <a:buNone/>
            </a:pPr>
            <a:r>
              <a:rPr b="1" sz="1200" lang="he-IL"/>
              <a:t>מה אומרים</a:t>
            </a:r>
          </a:p>
          <a:p>
            <a:pPr rtl="1" algn="r" marL="0" indent="0">
              <a:buNone/>
            </a:pPr>
            <a:r>
              <a:rPr sz="1200" lang="he-IL"/>
              <a:t>•  שלוש משימות לשבוע הבא: להשלים את שלושת הפערים מהצ'קליסט, לוודא שעמוד הנחיתה חי עם סרטון וקישור, ולהכין הצגה של 5 דקות.</a:t>
            </a:r>
          </a:p>
          <a:p>
            <a:pPr rtl="1" algn="r" marL="0" indent="0">
              <a:buNone/>
            </a:pPr>
            <a:r>
              <a:rPr sz="1200" lang="he-IL"/>
              <a:t>•  ההצגה כוללת בעיה, דמו חי או סרטון, תהליך העבודה עם AI, ואחריות אישית מתועדת.</a:t>
            </a:r>
          </a:p>
          <a:p>
            <a:pPr rtl="1" algn="r" marL="0" indent="0">
              <a:buNone/>
            </a:pPr>
            <a:r>
              <a:rPr sz="1200" lang="he-IL"/>
              <a:t>•  הדגישו שדמו חי עלול להיכשל, ולכן מכינים גם סרטון גיבוי, וזוכרים את הכלל: לא משנים כלום ב-30 הדקות האחרונות לפני ההצגה.</a:t>
            </a:r>
          </a:p>
          <a:p>
            <a:pPr rtl="1" algn="r" marL="0" indent="0">
              <a:buNone/>
            </a:pPr>
            <a:r>
              <a:rPr sz="1200" lang="he-IL"/>
              <a:t>•  הזכירו שעמוד הנחיתה הוא ההצגה הציבורית של הקבוצה, ולכן עוברים עליו שוב לפני המפגש.</a:t>
            </a:r>
          </a:p>
          <a:p>
            <a:pPr rtl="1" algn="r" marL="0" indent="0">
              <a:buNone/>
            </a:pPr>
            <a:r>
              <a:rPr sz="1200" lang="he-IL"/>
              <a:t>•  פרטים על מועד ופורמט ההצגה בפורום הקורס.</a:t>
            </a:r>
          </a:p>
          <a:p>
            <a:pPr rtl="1" algn="r" marL="0" indent="0">
              <a:buNone/>
            </a:pPr>
            <a:r>
              <a:rPr sz="1200" lang="he-IL"/>
              <a:t>•  הפרסום האמיתי של העמוד ב־GitHub Pages והסימון של הצ'קליסט המלא נעשים בפרויקט הקבוצתי, לא במחברת.</a:t>
            </a:r>
          </a:p>
          <a:p>
            <a:pPr rtl="1" algn="r" marL="0" indent="0">
              <a:buNone/>
            </a:pPr>
            <a:r>
              <a:rPr sz="1200" lang="he-IL"/>
              <a:t>•  מה שנשאר מהמחברת עצמה נמצא בשקף לבית שלפני זה.</a:t>
            </a:r>
          </a:p>
          <a:p>
            <a:pPr rtl="1" algn="r" marL="0" indent="0">
              <a:buNone/>
            </a:pPr>
            <a:r>
              <a:rPr b="1" sz="1200" lang="he-IL"/>
              <a:t>חיבור לשיעורים קודמים</a:t>
            </a:r>
          </a:p>
          <a:p>
            <a:pPr rtl="1" algn="r" marL="0" indent="0">
              <a:buNone/>
            </a:pPr>
            <a:r>
              <a:rPr sz="1200" lang="he-IL"/>
              <a:t>•  אחרי בדיקות (8), סודות (10) והעברה (11), היום נוסף ״אחראים על מה שמשחררים״.</a:t>
            </a:r>
          </a:p>
          <a:p>
            <a:pPr rtl="1" algn="r" marL="0" indent="0">
              <a:buNone/>
            </a:pPr>
            <a:r>
              <a:rPr sz="1200" lang="he-IL"/>
              <a:t>•  קדימה: במפגש 13 מסכמים את הקורס כולו (מהבנה לאחריות) ומציגים את הפרויקטים.</a:t>
            </a:r>
          </a:p>
          <a:p>
            <a:pPr rtl="1" algn="r" marL="0" indent="0">
              <a:buNone/>
            </a:pPr>
            <a:r>
              <a:rPr sz="1200" lang="he-IL"/>
              <a:t>•  יומן ה־AI שהתחלתם במפגש 5 הוא הבסיס לאחריות האישית המתועדת בהצגה, ולכן עוברים עליו שוב לפני המפגש.</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איך עובדים עם המחברת, כדקה וחצי.</a:t>
            </a:r>
          </a:p>
          <a:p>
            <a:pPr rtl="1" algn="r" marL="0" indent="0">
              <a:buNone/>
            </a:pPr>
            <a:r>
              <a:rPr b="1" sz="1200" lang="he-IL"/>
              <a:t>מה אומרים</a:t>
            </a:r>
          </a:p>
          <a:p>
            <a:pPr rtl="1" algn="r" marL="0" indent="0">
              <a:buNone/>
            </a:pPr>
            <a:r>
              <a:rPr sz="1200" lang="he-IL"/>
              <a:t>•  השקף הזה חוזר בגרסה דומה בכל מפגש, ולכן שווה להקדיש לו זמן כשמכירים את המחברת לראשונה.</a:t>
            </a:r>
          </a:p>
          <a:p>
            <a:pPr rtl="1" algn="r" marL="0" indent="0">
              <a:buNone/>
            </a:pPr>
            <a:r>
              <a:rPr sz="1200" lang="he-IL"/>
              <a:t>•  שלושה כללים.</a:t>
            </a:r>
          </a:p>
          <a:p>
            <a:pPr rtl="1" algn="r" marL="0" indent="0">
              <a:buNone/>
            </a:pPr>
            <a:r>
              <a:rPr sz="1200" lang="he-IL"/>
              <a:t>•  אחד: ממלאים בעצמכם את הפונקציות שמסומנות TODO, בלי כלי AI, כי המטרה היא להבין מה בודקים.</a:t>
            </a:r>
          </a:p>
          <a:p>
            <a:pPr rtl="1" algn="r" marL="0" indent="0">
              <a:buNone/>
            </a:pPr>
            <a:r>
              <a:rPr sz="1200" lang="he-IL"/>
              <a:t>•  החריג היחיד הוא חלק ד׳ צעד 2, שבו Gemini או כל כלי צ'אט מנסח מדיניות והסטודנטים בודקים אותו.</a:t>
            </a:r>
          </a:p>
          <a:p>
            <a:pPr rtl="1" algn="r" marL="0" indent="0">
              <a:buNone/>
            </a:pPr>
            <a:r>
              <a:rPr sz="1200" lang="he-IL"/>
              <a:t>•  שניים: אחרי כל פונקציה יש תא בדיקה שמדפיס ✓ או הודעה שמכוונת.</a:t>
            </a:r>
          </a:p>
          <a:p>
            <a:pPr rtl="1" algn="r" marL="0" indent="0">
              <a:buNone/>
            </a:pPr>
            <a:r>
              <a:rPr sz="1200" lang="he-IL"/>
              <a:t>•  שלושה: לפני כל הרצה שמודדת משהו כותבים תחזית, ובסוף כל חלק עונים על שאלות ניתוח.</a:t>
            </a:r>
          </a:p>
          <a:p>
            <a:pPr rtl="1" algn="r" marL="0" indent="0">
              <a:buNone/>
            </a:pPr>
            <a:r>
              <a:rPr sz="1200" lang="he-IL"/>
              <a:t>•  יש 13 פונקציות קצרות, וסביר שלא כולם יספיקו הכול: חלקים א׳ ו־ב׳ הם הליבה בכיתה, וחלקים ג׳ ו־ד׳ ושאלות הניתוח אפשר להשלים בבית.</a:t>
            </a:r>
          </a:p>
          <a:p>
            <a:pPr rtl="1" algn="r" marL="0" indent="0">
              <a:buNone/>
            </a:pPr>
            <a:r>
              <a:rPr sz="1200" lang="he-IL"/>
              <a:t>•  הגשה: Restart session and run all, בדיקה מסכמת עם ✓ בכל שורה, ואז Download .ipynb.</a:t>
            </a:r>
          </a:p>
          <a:p>
            <a:pPr rtl="1" algn="r" marL="0" indent="0">
              <a:buNone/>
            </a:pPr>
            <a:r>
              <a:rPr sz="1200" lang="he-IL"/>
              <a:t>•  אם יש סטודנטים שחוששים מקוד, הראו שבכל שלב יש הסבר, דוגמה ורמז.</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א׳, כדקה, לשימוש בזמן הסיור בין הזוגות.</a:t>
            </a:r>
          </a:p>
          <a:p>
            <a:pPr rtl="1" algn="r" marL="0" indent="0">
              <a:buNone/>
            </a:pPr>
            <a:r>
              <a:rPr b="1" sz="1200" lang="he-IL"/>
              <a:t>מה אומרים</a:t>
            </a:r>
          </a:p>
          <a:p>
            <a:pPr rtl="1" algn="r" marL="0" indent="0">
              <a:buNone/>
            </a:pPr>
            <a:r>
              <a:rPr sz="1200" lang="he-IL"/>
              <a:t>•  תא הבדיקה של כל שלב מדפיס ✓.</a:t>
            </a:r>
          </a:p>
          <a:p>
            <a:pPr rtl="1" algn="r" marL="0" indent="0">
              <a:buNone/>
            </a:pPr>
            <a:r>
              <a:rPr sz="1200" lang="he-IL"/>
              <a:t>•  בתא של שלב 3, על התבנית המקורית מהחבילה validate_html מחזירה רק no_ai_disclosure, כי אין בה אלמנט עם id של ai-disclosure.</a:t>
            </a:r>
          </a:p>
          <a:p>
            <a:pPr rtl="1" algn="r" marL="0" indent="0">
              <a:buNone/>
            </a:pPr>
            <a:r>
              <a:rPr sz="1200" lang="he-IL"/>
              <a:t>•  על העמוד השבור שבמחברת (תמונה בלי alt, קישור ריק, בלי title) היא מחזירה חמש בעיות: no_title, no_h1, img_no_alt, empty_link, no_ai_disclosure.</a:t>
            </a:r>
          </a:p>
          <a:p>
            <a:pPr rtl="1" algn="r" marL="0" indent="0">
              <a:buNone/>
            </a:pPr>
            <a:r>
              <a:rPr sz="1200" lang="he-IL"/>
              <a:t>•  בתא של שלב 4 הפלט הוא בעיות בעמוד: אין, נכתב docs/index.html ומוצגת תצוגה מקדימה.</a:t>
            </a:r>
          </a:p>
          <a:p>
            <a:pPr rtl="1" algn="r" marL="0" indent="0">
              <a:buNone/>
            </a:pPr>
            <a:r>
              <a:rPr sz="1200" lang="he-IL"/>
              <a:t>•  מקום הסרטון נשאר ריק בכוונה כי video_url ריק: לא ממציאים קישור.</a:t>
            </a:r>
          </a:p>
          <a:p>
            <a:pPr rtl="1" algn="r" marL="0" indent="0">
              <a:buNone/>
            </a:pPr>
            <a:r>
              <a:rPr sz="1200" lang="he-IL"/>
              <a:t>•  טעויות שכיחות: מפתח חסר במילון, ואז נשאר {{...}} בעמוד; שכחו html.escape; קישור ריק במקום טקסט ממלא מקום.</a:t>
            </a:r>
          </a:p>
          <a:p>
            <a:pPr rtl="1" algn="r" marL="0" indent="0">
              <a:buNone/>
            </a:pPr>
            <a:r>
              <a:rPr b="1" sz="1200" lang="he-IL"/>
              <a:t>שימו לב</a:t>
            </a:r>
          </a:p>
          <a:p>
            <a:pPr rtl="1" algn="r" marL="0" indent="0">
              <a:buNone/>
            </a:pPr>
            <a:r>
              <a:rPr sz="1200" lang="he-IL"/>
              <a:t>•  alt ריק נחשב חסר לפי ההגדרה של המעבדה, אף שבנגישות אמיתית alt ריק תקין לתמונה דקורטיבית.</a:t>
            </a:r>
          </a:p>
          <a:p>
            <a:pPr rtl="1" algn="r" marL="0" indent="0">
              <a:buNone/>
            </a:pPr>
            <a:r>
              <a:rPr b="1" sz="1200" lang="he-IL"/>
              <a:t>שאלה לכיתה</a:t>
            </a:r>
          </a:p>
          <a:p>
            <a:pPr rtl="1" algn="r" marL="0" indent="0">
              <a:buNone/>
            </a:pPr>
            <a:r>
              <a:rPr sz="1200" lang="he-IL"/>
              <a:t>•  validate_html החזירה רשימה ריקה, מה זה עדיין לא מבטיח?</a:t>
            </a:r>
          </a:p>
          <a:p>
            <a:pPr rtl="1" algn="r" marL="0" indent="0">
              <a:buNone/>
            </a:pPr>
            <a:r>
              <a:rPr b="1" sz="1200" lang="he-IL"/>
              <a:t>תשובה</a:t>
            </a:r>
          </a:p>
          <a:p>
            <a:pPr rtl="1" algn="r" marL="0" indent="0">
              <a:buNone/>
            </a:pPr>
            <a:r>
              <a:rPr sz="1200" lang="he-IL"/>
              <a:t>•  שהכתובת נפתחת, שהעיצוב נטען, שהעמוד נראה טוב בטלפון, ושהטענות בו נכונות.</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ב׳, כדקה.</a:t>
            </a:r>
          </a:p>
          <a:p>
            <a:pPr rtl="1" algn="r" marL="0" indent="0">
              <a:buNone/>
            </a:pPr>
            <a:r>
              <a:rPr b="1" sz="1200" lang="he-IL"/>
              <a:t>מה אומרים</a:t>
            </a:r>
          </a:p>
          <a:p>
            <a:pPr rtl="1" algn="r" marL="0" indent="0">
              <a:buNone/>
            </a:pPr>
            <a:r>
              <a:rPr sz="1200" lang="he-IL"/>
              <a:t>•  התא שמדפיס דוח על חמשת פרויקטי הדמה צריך להראות: store_good בלי ממצאים, מוכן לחשיפה. store_almost עם שתי אזהרות, no_ai_log ו־broken_link (ה־README מקשר ליומן שאין), ועדיין מוכן, כי אזהרות אינן חוסמות. store_leaky עם חוסם אחד, secret_committed, והקובץ החשוד הוא app.py: לא מוכן. store_messy עם ארבעה חוסמים (no_readme, no_license, no_tests, secret_committed) ושתי אזהרות (no_ai_log, broken_link): לא מוכן, והקובץ החשוד הוא env. store_hollow הוא המקרה המעניין: יש בו את כל הקבצים, אבל README הוא TODO ויש בדיקה שמאשרת הכול, ולכן הביקורת מחזירה רשימה ריקה והוא מוכן.</a:t>
            </a:r>
          </a:p>
          <a:p>
            <a:pPr rtl="1" algn="r" marL="0" indent="0">
              <a:buNone/>
            </a:pPr>
            <a:r>
              <a:rPr sz="1200" lang="he-IL"/>
              <a:t>•  זה בדיוק משפט הסיכום מהשיעור: ירוק מעיד על מה שנבדק בלבד.</a:t>
            </a:r>
          </a:p>
          <a:p>
            <a:pPr rtl="1" algn="r" marL="0" indent="0">
              <a:buNone/>
            </a:pPr>
            <a:r>
              <a:rPr b="1" sz="1200" lang="he-IL"/>
              <a:t>שאלה לכיתה</a:t>
            </a:r>
          </a:p>
          <a:p>
            <a:pPr rtl="1" algn="r" marL="0" indent="0">
              <a:buNone/>
            </a:pPr>
            <a:r>
              <a:rPr sz="1200" lang="he-IL"/>
              <a:t>•  מה עדיין דורש אדם?</a:t>
            </a:r>
          </a:p>
          <a:p>
            <a:pPr rtl="1" algn="r" marL="0" indent="0">
              <a:buNone/>
            </a:pPr>
            <a:r>
              <a:rPr b="1" sz="1200" lang="he-IL"/>
              <a:t>תשובה</a:t>
            </a:r>
          </a:p>
          <a:p>
            <a:pPr rtl="1" algn="r" marL="0" indent="0">
              <a:buNone/>
            </a:pPr>
            <a:r>
              <a:rPr sz="1200" lang="he-IL"/>
              <a:t>•  ראיה אמיתית ואחראי בשם.</a:t>
            </a:r>
          </a:p>
          <a:p>
            <a:pPr rtl="1" algn="r" marL="0" indent="0">
              <a:buNone/>
            </a:pPr>
            <a:r>
              <a:rPr sz="1200" lang="he-IL"/>
              <a:t>•  בצ'קליסט המלא יש 15 סעיפים, והקוד בודק רק חלק מהם.</a:t>
            </a:r>
          </a:p>
          <a:p>
            <a:pPr rtl="1" algn="r" marL="0" indent="0">
              <a:buNone/>
            </a:pPr>
            <a:r>
              <a:rPr sz="1200" lang="he-IL"/>
              <a:t>•  טעויות שכיחות: חיפוש test בתוך שם הקובץ (latest_report.py נתפס בטעות), סימון תבנית env.example כסוד, והחזרת broken_link פעם אחת לכל קישור.</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ג׳, כדקה.</a:t>
            </a:r>
          </a:p>
          <a:p>
            <a:pPr rtl="1" algn="r" marL="0" indent="0">
              <a:buNone/>
            </a:pPr>
            <a:r>
              <a:rPr b="1" sz="1200" lang="he-IL"/>
              <a:t>מה אומרים</a:t>
            </a:r>
          </a:p>
          <a:p>
            <a:pPr rtl="1" algn="r" marL="0" indent="0">
              <a:buNone/>
            </a:pPr>
            <a:r>
              <a:rPr sz="1200" lang="he-IL"/>
              <a:t>•  בסולם התרומה: חמישה תרחישים לפי הסדר ai_only, arrangement, human_contribution, human_contribution, ai_only.</a:t>
            </a:r>
          </a:p>
          <a:p>
            <a:pPr rtl="1" algn="r" marL="0" indent="0">
              <a:buNone/>
            </a:pPr>
            <a:r>
              <a:rPr sz="1200" lang="he-IL"/>
              <a:t>•  הדבקה כמו שהיא, וגם הרצה חוזרת של אותו פרומפט, הן ai_only: זו פרשנות לפי הסולם שבשקף, לא קביעה משפטית.</a:t>
            </a:r>
          </a:p>
          <a:p>
            <a:pPr rtl="1" algn="r" marL="0" indent="0">
              <a:buNone/>
            </a:pPr>
            <a:r>
              <a:rPr sz="1200" lang="he-IL"/>
              <a:t>•  בעשרת המקרים decide מחזירה: א, ט ו־י privacy; ב, ד ו־ה copyright (ב: check_source_and_replace, ד: keep_notice, ה: do_not_use_without_permission); ג liability; ו transparency; ז high_risk; ח none, כלומר אין ממצא.</a:t>
            </a:r>
          </a:p>
          <a:p>
            <a:pPr rtl="1" algn="r" marL="0" indent="0">
              <a:buNone/>
            </a:pPr>
            <a:r>
              <a:rPr sz="1200" lang="he-IL"/>
              <a:t>•  מקרה ט מראה למה הסדר חשוב: שני דברים קרו, והדליפה קודמת כי נזק שאי אפשר להחזיר עולה ראשון.</a:t>
            </a:r>
          </a:p>
          <a:p>
            <a:pPr rtl="1" algn="r" marL="0" indent="0">
              <a:buNone/>
            </a:pPr>
            <a:r>
              <a:rPr sz="1200" lang="he-IL"/>
              <a:t>•  מקרה י: מפתח בכלי מאושר עדיין נחשב דליפה, ואילו מידע אישי בכלי מאושר לא נחשב דליפה בכלל הפשוט שלנו (לבדיקת עורך דין).</a:t>
            </a:r>
          </a:p>
          <a:p>
            <a:pPr rtl="1" algn="r" marL="0" indent="0">
              <a:buNone/>
            </a:pPr>
            <a:r>
              <a:rPr sz="1200" lang="he-IL"/>
              <a:t>•  בחלק ד׳ הבודק מחזיר רשימה ריקה למדיניות עם שמונה סעיפים, שלושה צבעים והערת עורך דין.</a:t>
            </a:r>
          </a:p>
          <a:p>
            <a:pPr rtl="1" algn="r" marL="0" indent="0">
              <a:buNone/>
            </a:pPr>
            <a:r>
              <a:rPr sz="1200" lang="he-IL"/>
              <a:t>•  הטיוטה של הכלי תשתנה בין הרצות, ולכן תא התיעוד לא תלוי בתוכן: הוא מוודא מספרים ושם כלי.</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לבית: סיום המחברת (כדקה, בסוף השיעור).</a:t>
            </a:r>
          </a:p>
          <a:p>
            <a:pPr rtl="1" algn="r" marL="0" indent="0">
              <a:buNone/>
            </a:pPr>
            <a:r>
              <a:rPr b="1" sz="1200" lang="he-IL"/>
              <a:t>מה אומרים</a:t>
            </a:r>
          </a:p>
          <a:p>
            <a:pPr rtl="1" algn="r" marL="0" indent="0">
              <a:buNone/>
            </a:pPr>
            <a:r>
              <a:rPr sz="1200" lang="he-IL"/>
              <a:t>•  מה שלא נגמר בכיתה, בעיקר חלקים ג׳ ו־ד׳ ושאלות הניתוח, ממשיך בבית.</a:t>
            </a:r>
          </a:p>
          <a:p>
            <a:pPr rtl="1" algn="r" marL="0" indent="0">
              <a:buNone/>
            </a:pPr>
            <a:r>
              <a:rPr sz="1200" lang="he-IL"/>
              <a:t>•  חלק ה׳ במחברת הוא מסקנה של ארבעה משפטים, אחד לכל חלק: מה מימשתם ומדדתם, איזה עיקרון זה מראה, ומה עושים בעקבות זה בעבודה עם AI.</a:t>
            </a:r>
          </a:p>
          <a:p>
            <a:pPr rtl="1" algn="r" marL="0" indent="0">
              <a:buNone/>
            </a:pPr>
            <a:r>
              <a:rPr sz="1200" lang="he-IL"/>
              <a:t>•  לפני ההגשה: Runtime ← Restart session and run all, ולוודא שבבדיקה המסכמת בסוף המחברת כל 15 השורות מסומנות ✓, ואז File ← Download ← Download .ipynb.</a:t>
            </a:r>
          </a:p>
          <a:p>
            <a:pPr rtl="1" algn="r" marL="0" indent="0">
              <a:buNone/>
            </a:pPr>
            <a:r>
              <a:rPr sz="1200" lang="he-IL"/>
              <a:t>•  בונוס לסקרנים: בונוס 1 קורא את tests.yml כנתונים עם yaml, בונוס 2 בונה את עמוד הנחיתה של הקבוצה עם build_landing ו־validate_html (קוראים כל משפט ומוחקים כל טענה שהמערכת לא מקיימת, בלי שמות מלאים בעמוד ציבורי), ובונוס 3 מוסיף כלל שביעי לביקורת.</a:t>
            </a:r>
          </a:p>
          <a:p>
            <a:pPr rtl="1" algn="r" marL="0" indent="0">
              <a:buNone/>
            </a:pPr>
            <a:r>
              <a:rPr sz="1200" lang="he-IL"/>
              <a:t>•  חשוב לחדד שהפרסום האמיתי ב־GitHub Pages והסימון של הצ'קליסט המלא מול הפרויקט נעשים בפרויקט הקבוצתי ולא במחברת.</a:t>
            </a:r>
          </a:p>
          <a:p>
            <a:pPr rtl="1" algn="r" marL="0" indent="0">
              <a:buNone/>
            </a:pPr>
            <a:r>
              <a:rPr b="1" sz="1200" lang="he-IL"/>
              <a:t>חיבור לשיעורים קודמים</a:t>
            </a:r>
          </a:p>
          <a:p>
            <a:pPr rtl="1" algn="r" marL="0" indent="0">
              <a:buNone/>
            </a:pPr>
            <a:r>
              <a:rPr sz="1200" lang="he-IL"/>
              <a:t>•  זו אותה הגשה כמו בכל מחברת מאז מפגש 5: Restart session and run all, בדיקה מסכמת עם ✓ ואז הורדת הקובץ.</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(כ־2 דקות; לדלג אם הזמן קצר).</a:t>
            </a:r>
          </a:p>
          <a:p>
            <a:pPr rtl="1" algn="r" marL="0" indent="0">
              <a:buNone/>
            </a:pPr>
            <a:r>
              <a:rPr b="1" sz="1200" lang="he-IL"/>
              <a:t>מטרה</a:t>
            </a:r>
          </a:p>
          <a:p>
            <a:pPr rtl="1" algn="r" marL="0" indent="0">
              <a:buNone/>
            </a:pPr>
            <a:r>
              <a:rPr sz="1200" lang="he-IL"/>
              <a:t>•  להראות איך נראית ״פסיקה״ בפועל, ומה עוד פתוח.</a:t>
            </a:r>
          </a:p>
          <a:p>
            <a:pPr rtl="1" algn="r" marL="0" indent="0">
              <a:buNone/>
            </a:pPr>
            <a:r>
              <a:rPr sz="1200" lang="he-IL"/>
              <a:t>•  שלוש פרשות.</a:t>
            </a:r>
          </a:p>
          <a:p>
            <a:pPr rtl="1" algn="r" marL="0" indent="0">
              <a:buNone/>
            </a:pPr>
            <a:r>
              <a:rPr sz="1200" lang="he-IL"/>
              <a:t>•  (1) Bartz נ' Anthropic (בית משפט פדרלי בצפון קליפורניה): ביוני 2025 נקבע ששימוש בספרים שנרכשו כדין לאימון הוא שימוש הוגן, ואילו שמירת ספרייה מספרים פיראטיים אינה שימוש הוגן.</a:t>
            </a:r>
          </a:p>
          <a:p>
            <a:pPr rtl="1" algn="r" marL="0" indent="0">
              <a:buNone/>
            </a:pPr>
            <a:r>
              <a:rPr sz="1200" lang="he-IL"/>
              <a:t>•  בספטמבר 2025 הושגה פשרה, ובית המשפט אישר אותה סופית ב־20.7.2026 (1.5 מיליארד דולר, כ־3,000 דולר ליצירה; לפי אתר Authors Guild).</a:t>
            </a:r>
          </a:p>
          <a:p>
            <a:pPr rtl="1" algn="r" marL="0" indent="0">
              <a:buNone/>
            </a:pPr>
            <a:r>
              <a:rPr sz="1200" lang="he-IL"/>
              <a:t>•  הפשרה לא משחררת תביעות על פלט ולא תביעות עתידיות.</a:t>
            </a:r>
          </a:p>
          <a:p>
            <a:pPr rtl="1" algn="r" marL="0" indent="0">
              <a:buNone/>
            </a:pPr>
            <a:r>
              <a:rPr sz="1200" lang="he-IL"/>
              <a:t>•  בפרשת Kadrey נ' Meta (יוני 2025) השופט פסק לטובת Meta, אך הדגיש שהסיבה היא חוסר ראיות על נזק לשוק, ושבתיק עם ראיות כאלה התוצאה עשויה להיות שונה.</a:t>
            </a:r>
          </a:p>
          <a:p>
            <a:pPr rtl="1" algn="r" marL="0" indent="0">
              <a:buNone/>
            </a:pPr>
            <a:r>
              <a:rPr b="1" sz="1200" lang="he-IL"/>
              <a:t>שימו לב</a:t>
            </a:r>
          </a:p>
          <a:p>
            <a:pPr rtl="1" algn="r" marL="0" indent="0">
              <a:buNone/>
            </a:pPr>
            <a:r>
              <a:rPr sz="1200" lang="he-IL"/>
              <a:t>•  אלה פסקי דין של ערכאות מחוזיות, ולכן אינם מחייבים בתי משפט אחרים.</a:t>
            </a:r>
          </a:p>
          <a:p>
            <a:pPr rtl="1" algn="r" marL="0" indent="0">
              <a:buNone/>
            </a:pPr>
            <a:r>
              <a:rPr sz="1200" lang="he-IL"/>
              <a:t>•  (2) GEMA נ' OpenAI (בית המשפט המחוזי במינכן, 11.11.2025): שינון מילות שירים בתוך המודל וייצורן בתשובה נחשב שעתוק.</a:t>
            </a:r>
          </a:p>
          <a:p>
            <a:pPr rtl="1" algn="r" marL="0" indent="0">
              <a:buNone/>
            </a:pPr>
            <a:r>
              <a:rPr sz="1200" lang="he-IL"/>
              <a:t>•  אחריות המפעיל ולא המשתמש.</a:t>
            </a:r>
          </a:p>
          <a:p>
            <a:pPr rtl="1" algn="r" marL="0" indent="0">
              <a:buNone/>
            </a:pPr>
            <a:r>
              <a:rPr sz="1200" lang="he-IL"/>
              <a:t>•  לפי דיווחים OpenAI ערערה.</a:t>
            </a:r>
          </a:p>
          <a:p>
            <a:pPr rtl="1" algn="r" marL="0" indent="0">
              <a:buNone/>
            </a:pPr>
            <a:r>
              <a:rPr sz="1200" lang="he-IL"/>
              <a:t>•  (3) Doe נ' GitHub (ערכאת הערעור הפדרלית של המעגל התשיעי, 16.9.2026): נדחתה תביעה לפי סעיף 1202(b) לחוק DMCA, כי Copilot יוצר יצירות חדשות ואינו מסיר הודעות זכויות יוצרים מעותקים קיימים</a:t>
            </a:r>
          </a:p>
          <a:p>
            <a:pPr rtl="1" algn="r" marL="0" indent="0">
              <a:buNone/>
            </a:pPr>
            <a:r>
              <a:rPr sz="1200" lang="he-IL"/>
              <a:t>•  בית המשפט לא הכריע אם דמיון בפלט מקים הפרת זכויות יוצרים, ותביעות החוזה (הפרת תנאי רישיונות קוד פתוח) נותרו תלויות לפי המקורות שמצאנו.</a:t>
            </a:r>
          </a:p>
          <a:p>
            <a:pPr rtl="1" algn="r" marL="0" indent="0">
              <a:buNone/>
            </a:pPr>
            <a:r>
              <a:rPr sz="1200" lang="he-IL"/>
              <a:t>•  מה אומר זה לסטודנט שכותב קוד עם סוכן?</a:t>
            </a:r>
          </a:p>
          <a:p>
            <a:pPr rtl="1" algn="r" marL="0" indent="0">
              <a:buNone/>
            </a:pPr>
            <a:r>
              <a:rPr sz="1200" lang="he-IL"/>
              <a:t>•  שאלת ההפרה בפלט נשארת פתוחה, ולכן בודקים.</a:t>
            </a:r>
          </a:p>
          <a:p>
            <a:pPr rtl="1" algn="r" marL="0" indent="0">
              <a:buNone/>
            </a:pPr>
            <a:r>
              <a:rPr b="1" sz="1200" lang="he-IL"/>
              <a:t>להעמקה</a:t>
            </a:r>
          </a:p>
          <a:p>
            <a:pPr rtl="1" algn="r" marL="0" indent="0">
              <a:buNone/>
            </a:pPr>
            <a:r>
              <a:rPr sz="1200" lang="he-IL"/>
              <a:t>•  האם ״שימוש הוגן באימון״ ו״הפרה בפלט״ הן שתי שאלות נפרדות?</a:t>
            </a:r>
          </a:p>
          <a:p>
            <a:pPr rtl="1" algn="r" marL="0" indent="0">
              <a:buNone/>
            </a:pPr>
            <a:r>
              <a:rPr sz="1200" lang="he-IL"/>
              <a:t>•  (כן, כמו בשקף שתי שאלות שונות.) מקורות: Authors Guild (final approval), Authors Alliance (Doe), סיכומי משרדי עורכי דין (GEMA).</a:t>
            </a:r>
          </a:p>
          <a:p>
            <a:pPr rtl="1" algn="r" marL="0" indent="0">
              <a:buNone/>
            </a:pPr>
            <a:r>
              <a:rPr sz="1200" lang="he-IL"/>
              <a:t>•  לא בדקנו את נוסחי הפסקים עצמם.</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(כ־2 דקות; לדלג אם הזמן קצר).</a:t>
            </a:r>
          </a:p>
          <a:p>
            <a:pPr rtl="1" algn="r" marL="0" indent="0">
              <a:buNone/>
            </a:pPr>
            <a:r>
              <a:rPr b="1" sz="1200" lang="he-IL"/>
              <a:t>מטרה</a:t>
            </a:r>
          </a:p>
          <a:p>
            <a:pPr rtl="1" algn="r" marL="0" indent="0">
              <a:buNone/>
            </a:pPr>
            <a:r>
              <a:rPr sz="1200" lang="he-IL"/>
              <a:t>•  להראות איך קהילות ותשתיות קוד פתוח מתמודדות בפועל עם קוד שנכתב בסיוע AI.</a:t>
            </a:r>
          </a:p>
          <a:p>
            <a:pPr rtl="1" algn="r" marL="0" indent="0">
              <a:buNone/>
            </a:pPr>
            <a:r>
              <a:rPr sz="1200" lang="he-IL"/>
              <a:t>•  (1) הקרנל של Linux: תיעוד התהליך (Documentation/process/coding-assistants) קובע שסוכני AI אינם מוסיפים שורת Signed-off-by, כי רק אדם יכול להצהיר על ה־Developer Certificate of Origin</a:t>
            </a:r>
          </a:p>
          <a:p>
            <a:pPr rtl="1" algn="r" marL="0" indent="0">
              <a:buNone/>
            </a:pPr>
            <a:r>
              <a:rPr sz="1200" lang="he-IL"/>
              <a:t>•  האדם סוקר את הקוד, בודק תאימות רישיון (תרומות חייבות להיות תואמות GPL-2.0-only), מוסיף חתימה משלו ונושא באחריות מלאה.</a:t>
            </a:r>
          </a:p>
          <a:p>
            <a:pPr rtl="1" algn="r" marL="0" indent="0">
              <a:buNone/>
            </a:pPr>
            <a:r>
              <a:rPr sz="1200" lang="he-IL"/>
              <a:t>•  התיעוד שנבדק מציין גם תג Assisted-by לגילוי כלי הסיוע; דווח שבקהילה דנים בביטולו, ולכן בודקים את הנוסח העדכני.</a:t>
            </a:r>
          </a:p>
          <a:p>
            <a:pPr rtl="1" algn="r" marL="0" indent="0">
              <a:buNone/>
            </a:pPr>
            <a:r>
              <a:rPr sz="1200" lang="he-IL"/>
              <a:t>•  (2) GitHub Copilot: ההגדרה ״Suggestions matching public code״ חוסמת הצעות שתואמות קוד ציבורי (או מאפשרת ומציגה את המקור).</a:t>
            </a:r>
          </a:p>
          <a:p>
            <a:pPr rtl="1" algn="r" marL="0" indent="0">
              <a:buNone/>
            </a:pPr>
            <a:r>
              <a:rPr sz="1200" lang="he-IL"/>
              <a:t>•  זו הפחתת סיכון, לא ערובה.</a:t>
            </a:r>
          </a:p>
          <a:p>
            <a:pPr rtl="1" algn="r" marL="0" indent="0">
              <a:buNone/>
            </a:pPr>
            <a:r>
              <a:rPr sz="1200" lang="he-IL"/>
              <a:t>•  (3) רישיונות: AGPL, סעיף 13, מרחיב את חובת הצעת הקוד גם לשימוש דרך רשת; ״אין רישיון״ משמעו כל הזכויות שמורות (choosealicense.com).</a:t>
            </a:r>
          </a:p>
          <a:p>
            <a:pPr rtl="1" algn="r" marL="0" indent="0">
              <a:buNone/>
            </a:pPr>
            <a:r>
              <a:rPr b="1" sz="1200" lang="he-IL"/>
              <a:t>מסר מרכזי</a:t>
            </a:r>
          </a:p>
          <a:p>
            <a:pPr rtl="1" algn="r" marL="0" indent="0">
              <a:buNone/>
            </a:pPr>
            <a:r>
              <a:rPr sz="1200" lang="he-IL"/>
              <a:t>•  האחריות על רישיון הקוד שאתם משלבים נשארת עליכם גם כשסוכן כתב אותו.</a:t>
            </a:r>
          </a:p>
          <a:p>
            <a:pPr rtl="1" algn="r" marL="0" indent="0">
              <a:buNone/>
            </a:pPr>
            <a:r>
              <a:rPr sz="1200" lang="he-IL"/>
              <a:t>•  דוגמה מהפרויקט: הוסיפו LICENSE, הריצו בדיקת רישיונות של תלויות, ורשמו ביומן AI אילו חלקים נכתבו בעזרת סוכן.</a:t>
            </a:r>
          </a:p>
          <a:p>
            <a:pPr rtl="1" algn="r" marL="0" indent="0">
              <a:buNone/>
            </a:pPr>
            <a:r>
              <a:rPr b="1" sz="1200" lang="he-IL"/>
              <a:t>להעמקה</a:t>
            </a:r>
          </a:p>
          <a:p>
            <a:pPr rtl="1" algn="r" marL="0" indent="0">
              <a:buNone/>
            </a:pPr>
            <a:r>
              <a:rPr sz="1200" lang="he-IL"/>
              <a:t>•  האם גילוי חובה של שימוש ב־AI בתרומה (תג Assisted-by) מועיל או מזיק לקהילה?</a:t>
            </a:r>
          </a:p>
          <a:p>
            <a:pPr rtl="1" algn="r" marL="0" indent="0">
              <a:buNone/>
            </a:pPr>
            <a:r>
              <a:rPr sz="1200" lang="he-IL"/>
              <a:t>•  שמעו שני צדדים: שקיפות מול סטיגמה.</a:t>
            </a:r>
          </a:p>
          <a:p>
            <a:pPr rtl="1" algn="r" marL="0" indent="0">
              <a:buNone/>
            </a:pPr>
            <a:r>
              <a:rPr b="1" sz="1200" lang="he-IL"/>
              <a:t>מקורות</a:t>
            </a:r>
          </a:p>
          <a:p>
            <a:pPr rtl="1" algn="r" marL="0" indent="0">
              <a:buNone/>
            </a:pPr>
            <a:r>
              <a:rPr sz="1200" lang="he-IL"/>
              <a:t>•  kernel.org, תיעוד GitHub Copilot, GNU AGPL v3, choosealicense.com.</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(כ־2 דקות; לדלג אם הזמן קצר).</a:t>
            </a:r>
          </a:p>
          <a:p>
            <a:pPr rtl="1" algn="r" marL="0" indent="0">
              <a:buNone/>
            </a:pPr>
            <a:r>
              <a:rPr b="1" sz="1200" lang="he-IL"/>
              <a:t>מטרה</a:t>
            </a:r>
          </a:p>
          <a:p>
            <a:pPr rtl="1" algn="r" marL="0" indent="0">
              <a:buNone/>
            </a:pPr>
            <a:r>
              <a:rPr sz="1200" lang="he-IL"/>
              <a:t>•  להראות שמדיניות שימוש היא רק החלק הנראה של ממשל AI, ושיש מסגרות מקובלות לארגון שרוצה לנהל סיכונים באופן שיטתי.</a:t>
            </a:r>
          </a:p>
          <a:p>
            <a:pPr rtl="1" algn="r" marL="0" indent="0">
              <a:buNone/>
            </a:pPr>
            <a:r>
              <a:rPr sz="1200" lang="he-IL"/>
              <a:t>•  (1) NIST AI Risk Management Framework 1.0 (פורסם 26.1.2023): מסגרת וולונטרית, לא תקן להסמכה, עם ארבע פונקציות: Govern (תרבות, תפקידים ומדיניות), Map (הקשר ושימוש), Measure (מדידה והערכה) ו־Manage (טיפול בסיכונים).</a:t>
            </a:r>
          </a:p>
          <a:p>
            <a:pPr rtl="1" algn="r" marL="0" indent="0">
              <a:buNone/>
            </a:pPr>
            <a:r>
              <a:rPr sz="1200" lang="he-IL"/>
              <a:t>•  פרופיל ה־Generative AI (NIST AI 600-1) פורסם ב־26.7.2024.</a:t>
            </a:r>
          </a:p>
          <a:p>
            <a:pPr rtl="1" algn="r" marL="0" indent="0">
              <a:buNone/>
            </a:pPr>
            <a:r>
              <a:rPr sz="1200" lang="he-IL"/>
              <a:t>•  לפי עמוד NIST (נבדק 22.10.2026) המסגרת נמצאת בתהליך עדכון במסגרת תוכנית הפעולה של הממשל האמריקאי, ללא לוח זמנים.</a:t>
            </a:r>
          </a:p>
          <a:p>
            <a:pPr rtl="1" algn="r" marL="0" indent="0">
              <a:buNone/>
            </a:pPr>
            <a:r>
              <a:rPr sz="1200" lang="he-IL"/>
              <a:t>•  (2) ISO/IEC 42001:2023: תקן שמפרט דרישות למערכת ניהול של AI בארגון (מדיניות, הנהגה, תכנון, תמיכה, תפעול, הערכה ושיפור), בנוי כמו ISO 27001, וניתן להסמכה.</a:t>
            </a:r>
          </a:p>
          <a:p>
            <a:pPr rtl="1" algn="r" marL="0" indent="0">
              <a:buNone/>
            </a:pPr>
            <a:r>
              <a:rPr sz="1200" lang="he-IL"/>
              <a:t>•  לפי מקורות משניים בלבד (לא פתחנו את אתר ISO), הוא אינו תקן הרמוני לחוק ה־AI האירופי.</a:t>
            </a:r>
          </a:p>
          <a:p>
            <a:pPr rtl="1" algn="r" marL="0" indent="0">
              <a:buNone/>
            </a:pPr>
            <a:r>
              <a:rPr sz="1200" lang="he-IL"/>
              <a:t>•  (3) סעיף 4 לחוק ה־AI: ספקים ומפעילים צריכים לנקוט צעדים לקידום אוריינות AI של הצוות.</a:t>
            </a:r>
          </a:p>
          <a:p>
            <a:pPr rtl="1" algn="r" marL="0" indent="0">
              <a:buNone/>
            </a:pPr>
            <a:r>
              <a:rPr sz="1200" lang="he-IL"/>
              <a:t>•  תקנת ה־Omnibus (2026) ריככה את הנוסח: אין חובה להבטיח רמה מסוימת אצל כל אדם.</a:t>
            </a:r>
          </a:p>
          <a:p>
            <a:pPr rtl="1" algn="r" marL="0" indent="0">
              <a:buNone/>
            </a:pPr>
            <a:r>
              <a:rPr sz="1200" lang="he-IL"/>
              <a:t>•  (4) ישראל: מדיניות הממשלה מדצמבר 2023 מעדיפה רגולציה ענפית; ב־2025 הרשות להגנת הפרטיות פרסמה טיוטת הנחיה.</a:t>
            </a:r>
          </a:p>
          <a:p>
            <a:pPr rtl="1" algn="r" marL="0" indent="0">
              <a:buNone/>
            </a:pPr>
            <a:r>
              <a:rPr sz="1200" lang="he-IL"/>
              <a:t>•  תרגום מעשי לארגון קטן: מי הבעלים של כל כלי AI?</a:t>
            </a:r>
          </a:p>
          <a:p>
            <a:pPr rtl="1" algn="r" marL="0" indent="0">
              <a:buNone/>
            </a:pPr>
            <a:r>
              <a:rPr sz="1200" lang="he-IL"/>
              <a:t>•  יש רשימת מערכות?</a:t>
            </a:r>
          </a:p>
          <a:p>
            <a:pPr rtl="1" algn="r" marL="0" indent="0">
              <a:buNone/>
            </a:pPr>
            <a:r>
              <a:rPr sz="1200" lang="he-IL"/>
              <a:t>•  כיצד מסווגים סיכון?</a:t>
            </a:r>
          </a:p>
          <a:p>
            <a:pPr rtl="1" algn="r" marL="0" indent="0">
              <a:buNone/>
            </a:pPr>
            <a:r>
              <a:rPr sz="1200" lang="he-IL"/>
              <a:t>•  מי מאשר?</a:t>
            </a:r>
          </a:p>
          <a:p>
            <a:pPr rtl="1" algn="r" marL="0" indent="0">
              <a:buNone/>
            </a:pPr>
            <a:r>
              <a:rPr sz="1200" lang="he-IL"/>
              <a:t>•  איך מדווחים על אירוע?</a:t>
            </a:r>
          </a:p>
          <a:p>
            <a:pPr rtl="1" algn="r" marL="0" indent="0">
              <a:buNone/>
            </a:pPr>
            <a:r>
              <a:rPr sz="1200" lang="he-IL"/>
              <a:t>•  כמה הדרכה?</a:t>
            </a:r>
          </a:p>
          <a:p>
            <a:pPr rtl="1" algn="r" marL="0" indent="0">
              <a:buNone/>
            </a:pPr>
            <a:r>
              <a:rPr b="1" sz="1200" lang="he-IL"/>
              <a:t>להעמקה</a:t>
            </a:r>
          </a:p>
          <a:p>
            <a:pPr rtl="1" algn="r" marL="0" indent="0">
              <a:buNone/>
            </a:pPr>
            <a:r>
              <a:rPr sz="1200" lang="he-IL"/>
              <a:t>•  האם הסמכה לפי ISO 42001 משפרת בפועל בטיחות, או רק תיעוד?</a:t>
            </a:r>
          </a:p>
          <a:p>
            <a:pPr rtl="1" algn="r" marL="0" indent="0">
              <a:buNone/>
            </a:pPr>
            <a:r>
              <a:rPr sz="1200" lang="he-IL"/>
              <a:t>•  מדד אפשרי: מספר אירועים לפני ואחרי.</a:t>
            </a:r>
          </a:p>
          <a:p>
            <a:pPr rtl="1" algn="r" marL="0" indent="0">
              <a:buNone/>
            </a:pPr>
            <a:r>
              <a:rPr b="1" sz="1200" lang="he-IL"/>
              <a:t>שימו לב</a:t>
            </a:r>
          </a:p>
          <a:p>
            <a:pPr rtl="1" algn="r" marL="0" indent="0">
              <a:buNone/>
            </a:pPr>
            <a:r>
              <a:rPr sz="1200" lang="he-IL"/>
              <a:t>•  בשקפי המדיניות כבר ראיתם את ממשק היומיום; כאן המסגרת שמארגנת אותו.</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העשרה (כ־2 דקות; לדלג אם הזמן קצר).</a:t>
            </a:r>
          </a:p>
          <a:p>
            <a:pPr rtl="1" algn="r" marL="0" indent="0">
              <a:buNone/>
            </a:pPr>
            <a:r>
              <a:rPr b="1" sz="1200" lang="he-IL"/>
              <a:t>מקורות</a:t>
            </a:r>
          </a:p>
          <a:p>
            <a:pPr rtl="1" algn="r" marL="0" indent="0">
              <a:buNone/>
            </a:pPr>
            <a:r>
              <a:rPr sz="1200" lang="he-IL"/>
              <a:t>•  מדריך הרשות להגנת הפרטיות ״תיקון מס' 13 לחוק הגנת הפרטיות״ (מאי 2025), וטיוטת גילוי הדעת של הרשות על מינוי ממונה (פורסמה ב־23.7.2025; לא נמצא נוסח סופי).</a:t>
            </a:r>
          </a:p>
          <a:p>
            <a:pPr rtl="1" algn="r" marL="0" indent="0">
              <a:buNone/>
            </a:pPr>
            <a:r>
              <a:rPr sz="1200" lang="he-IL"/>
              <a:t>•  מה השתנה: (1) ״מידע אישי״ הוא כל נתון הנוגע לאדם מזוהה או שניתן לזיהוי במאמץ סביר, כולל מזהה מקוון ונתוני מיקום</a:t>
            </a:r>
          </a:p>
          <a:p>
            <a:pPr rtl="1" algn="r" marL="0" indent="0">
              <a:buNone/>
            </a:pPr>
            <a:r>
              <a:rPr sz="1200" lang="he-IL"/>
              <a:t>•  ״מידע בעל רגישות מיוחדת״ כולל בריאות, מידע גנטי, מזהה ביומטרי, עבר פלילי, שכר ופעילות פיננסית, דעות פוליטיות ואמונות דתיות, נטייה מינית, והערכת אישיות.</a:t>
            </a:r>
          </a:p>
          <a:p>
            <a:pPr rtl="1" algn="r" marL="0" indent="0">
              <a:buNone/>
            </a:pPr>
            <a:r>
              <a:rPr sz="1200" lang="he-IL"/>
              <a:t>•  (2) חובת רישום מאגרים נותרה רק לגופים ציבוריים ולמאגרי סחר במידע (10,000 איש ויותר); למאגרים עם מידע רגיש על יותר מ־100,000 איש יש חובת הודעה לרשות בתוך 30 יום.</a:t>
            </a:r>
          </a:p>
          <a:p>
            <a:pPr rtl="1" algn="r" marL="0" indent="0">
              <a:buNone/>
            </a:pPr>
            <a:r>
              <a:rPr sz="1200" lang="he-IL"/>
              <a:t>•  (3) חובת יידוע הורחבה: בפנייה לאדם לקבלת מידע על מטרה, למי יימסר, האם חובה למסור, ועל זכויות עיון ותיקון.</a:t>
            </a:r>
          </a:p>
          <a:p>
            <a:pPr rtl="1" algn="r" marL="0" indent="0">
              <a:buNone/>
            </a:pPr>
            <a:r>
              <a:rPr sz="1200" lang="he-IL"/>
              <a:t>•  (4) איסורים חדשים על עיבוד מידע שלא כדין, למשל מידע במאגר שנאסף בניגוד לחוק.</a:t>
            </a:r>
          </a:p>
          <a:p>
            <a:pPr rtl="1" algn="r" marL="0" indent="0">
              <a:buNone/>
            </a:pPr>
            <a:r>
              <a:rPr sz="1200" lang="he-IL"/>
              <a:t>•  ממונה: חובה על גופים ציבוריים, על מי שעיקר עיסוקו סחר במידע (מעל 10,000 איש), על מי שעיסוקו כולל ניטור שוטף ושיטתי של בני אדם בהיקף ניכר, ועל מי שמעבד מידע בעל רגישות מיוחדת בהיקף ניכר (בנקים, חברות ביטוח, בתי חולים וקופות חולים נקובים בשמם).</a:t>
            </a:r>
          </a:p>
          <a:p>
            <a:pPr rtl="1" algn="r" marL="0" indent="0">
              <a:buNone/>
            </a:pPr>
            <a:r>
              <a:rPr sz="1200" lang="he-IL"/>
              <a:t>•  אכיפה: עיצומים כספיים, למשל 150,000 ש״ח על אי־רישום או אי־הודעה (כפול במאגר של מעל מיליון איש), 50 ש״ח לאדם על פנייה בלי הודעה (100 ש״ח למידע רגיש, ולא פחות מ־30,000 ש״ח), הפחתה של עד 70% בנסיבות מסוימות, ותקרה כוללת של 5% ממחזור העסקאות השנתי</a:t>
            </a:r>
          </a:p>
          <a:p>
            <a:pPr rtl="1" algn="r" marL="0" indent="0">
              <a:buNone/>
            </a:pPr>
            <a:r>
              <a:rPr sz="1200" lang="he-IL"/>
              <a:t>•  וכן פיצוי ללא הוכחת נזק עד 10,000 ש״ח בהפרות מסוימות, וביטול ההתיישנות המקוצרת.</a:t>
            </a:r>
          </a:p>
          <a:p>
            <a:pPr rtl="1" algn="r" marL="0" indent="0">
              <a:buNone/>
            </a:pPr>
            <a:r>
              <a:rPr sz="1200" lang="he-IL"/>
              <a:t>•  בנושא AI: טיוטת ההנחיה מ־28.4.2025 קובעת שהחוק חל על מודל AI שמאחסן או מעבד בפועל מידע אישי בשלב הלימוד ובשלב היישום, ושמידע שנוצר בהיסק או בהערכה הוא מידע אישי; לא נמצא נוסח סופי.</a:t>
            </a:r>
          </a:p>
          <a:p>
            <a:pPr rtl="1" algn="r" marL="0" indent="0">
              <a:buNone/>
            </a:pPr>
            <a:r>
              <a:rPr sz="1200" lang="he-IL"/>
              <a:t>•  תמיד לאמת סכומים בנוסח הרשמי.</a:t>
            </a:r>
          </a:p>
          <a:p>
            <a:pPr rtl="1" algn="r" marL="0" indent="0">
              <a:buNone/>
            </a:pPr>
            <a:r>
              <a:rPr b="1" sz="1200" lang="he-IL"/>
              <a:t>להעמקה</a:t>
            </a:r>
          </a:p>
          <a:p>
            <a:pPr rtl="1" algn="r" marL="0" indent="0">
              <a:buNone/>
            </a:pPr>
            <a:r>
              <a:rPr sz="1200" lang="he-IL"/>
              <a:t>•  כיצד מקיימים זכות עיון ותיקון כשהמידע ״מוטמע״ בפרמטרים של מודל?</a:t>
            </a:r>
          </a:p>
          <a:p>
            <a:pPr rtl="1" algn="r" marL="0" indent="0">
              <a:buNone/>
            </a:pPr>
            <a:r>
              <a:rPr sz="1200" lang="he-IL"/>
              <a:t>•  אין עדיין תשובה מקובלת.</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מקורות להעמקה (לקריאה בבית, בלי הצגה בכיתה).</a:t>
            </a:r>
          </a:p>
          <a:p>
            <a:pPr rtl="1" algn="r" marL="0" indent="0">
              <a:buNone/>
            </a:pPr>
            <a:r>
              <a:rPr b="1" sz="1200" lang="he-IL"/>
              <a:t>מה אומרים</a:t>
            </a:r>
          </a:p>
          <a:p>
            <a:pPr rtl="1" algn="r" marL="0" indent="0">
              <a:buNone/>
            </a:pPr>
            <a:r>
              <a:rPr sz="1200" lang="he-IL"/>
              <a:t>•  כל מקור נפתח ונבדק ב־22.10.2026 והתוכן שלו משמש בשקפי המפגש.</a:t>
            </a:r>
          </a:p>
          <a:p>
            <a:pPr rtl="1" algn="r" marL="0" indent="0">
              <a:buNone/>
            </a:pPr>
            <a:r>
              <a:rPr sz="1200" lang="he-IL"/>
              <a:t>•  מקורות ראשוניים: דוח משרד זכויות היוצרים האמריקאי חלק 2 (קובץ PDF, 29.1.2025)</a:t>
            </a:r>
          </a:p>
          <a:p>
            <a:pPr rtl="1" algn="r" marL="0" indent="0">
              <a:buNone/>
            </a:pPr>
            <a:r>
              <a:rPr sz="1200" lang="he-IL"/>
              <a:t>•  חוות דעת משרד המשפטים על אימון (PDF באנגלית באתר gov.il, 18.12.2022, 40 עמודים)</a:t>
            </a:r>
          </a:p>
          <a:p>
            <a:pPr rtl="1" algn="r" marL="0" indent="0">
              <a:buNone/>
            </a:pPr>
            <a:r>
              <a:rPr sz="1200" lang="he-IL"/>
              <a:t>•  מדריך הרשות להגנת הפרטיות לתיקון 13 וטיוטת ההנחיה בנושא AI (שני קבצי PDF מאתר gov.il)</a:t>
            </a:r>
          </a:p>
          <a:p>
            <a:pPr rtl="1" algn="r" marL="0" indent="0">
              <a:buNone/>
            </a:pPr>
            <a:r>
              <a:rPr sz="1200" lang="he-IL"/>
              <a:t>•  עמוד הנציבות האירופית על חוק ה־AI (עודכן 19.10.2026)</a:t>
            </a:r>
          </a:p>
          <a:p>
            <a:pPr rtl="1" algn="r" marL="0" indent="0">
              <a:buNone/>
            </a:pPr>
            <a:r>
              <a:rPr sz="1200" lang="he-IL"/>
              <a:t>•  עמוד ה־AI RMF של NIST</a:t>
            </a:r>
          </a:p>
          <a:p>
            <a:pPr rtl="1" algn="r" marL="0" indent="0">
              <a:buNone/>
            </a:pPr>
            <a:r>
              <a:rPr sz="1200" lang="he-IL"/>
              <a:t>•  דף התיק ב־Supreme Court</a:t>
            </a:r>
          </a:p>
          <a:p>
            <a:pPr rtl="1" algn="r" marL="0" indent="0">
              <a:buNone/>
            </a:pPr>
            <a:r>
              <a:rPr sz="1200" lang="he-IL"/>
              <a:t>•  מסמך הקרנל.</a:t>
            </a:r>
          </a:p>
          <a:p>
            <a:pPr rtl="1" algn="r" marL="0" indent="0">
              <a:buNone/>
            </a:pPr>
            <a:r>
              <a:rPr sz="1200" lang="he-IL"/>
              <a:t>•  מקורות נוספים שנעשה בהם שימוש במפגש: תיעוד Render (render.com/docs/free), תיעוד Streamlit Community Cloud (manage your app), תיעוד GitHub Pages (creating a site, limits, publishing source), תיעוד GitHub Copilot (policies), ה־API של GitHub לגרסאות actions/checkout ו־setup-python, תנאי Gemini API (ai.google.dev/gemini-api/terms), The Twelve-Factor App (12factor.net), ספר ה־SRE של Google (פרק Monitoring), GNU AGPL v3 ו־choosealicense.com, תקנת GDPR (סעיפים 3, 22, 83, מ־gdpr-info.eu), וחוק ה־AI (סעיפים 50 ו־53 מאתר artificialintelligenceact.eu).</a:t>
            </a:r>
          </a:p>
          <a:p>
            <a:pPr rtl="1" algn="r" marL="0" indent="0">
              <a:buNone/>
            </a:pPr>
            <a:r>
              <a:rPr sz="1200" lang="he-IL"/>
              <a:t>•  מקורות משניים (סיכומי משרדי עורכי דין ועיתונות), שנעשה בהם שימוש כשלא נמצא מקור ראשוני נגיש: פסק Moffatt נ' Air Canada (נוסח ה־CRT חסם גישה</a:t>
            </a:r>
          </a:p>
          <a:p>
            <a:pPr rtl="1" algn="r" marL="0" indent="0">
              <a:buNone/>
            </a:pPr>
            <a:r>
              <a:rPr sz="1200" lang="he-IL"/>
              <a:t>•  הפרטים נבדקו בשני סיכומים עצמאיים), פסק המחוזי בתל אביב בפרשת Thaler (Herzog Fox Neeman), אישור הפשרה ב־Bartz נ' Anthropic (Authors Guild), פסק Doe נ' GitHub (Authors Alliance), GEMA נ' OpenAI (Bird &amp; Bird ועוד), Regulation 2026/1744 (artificialintelligenceact.eu, Orrick, ActuIA), דיווחי Samsung (Bloomberg ועיתונות).</a:t>
            </a:r>
          </a:p>
          <a:p>
            <a:pPr rtl="1" algn="r" marL="0" indent="0">
              <a:buNone/>
            </a:pPr>
            <a:r>
              <a:rPr sz="1200" lang="he-IL"/>
              <a:t>•  מה לא הצלחנו לאמת: נוסח ה־CRT עצמו; אתר ISO; מצב הערעור בישראל בפרשת Thaler; סטטוס סופי של טיוטת הנחיית הפרטיות ל־AI; מספר חוקי הפרטיות במדינות ארה״ב.</a:t>
            </a:r>
          </a:p>
          <a:p>
            <a:pPr rtl="1" algn="r" marL="0" indent="0">
              <a:buNone/>
            </a:pPr>
            <a:r>
              <a:rPr sz="1200" lang="he-IL"/>
              <a:t>•  מידע כזה אינו מופיע בשקפים.</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חיבור למפגשים הקודמים (כ־2 דקות).</a:t>
            </a:r>
          </a:p>
          <a:p>
            <a:pPr rtl="1" algn="r" marL="0" indent="0">
              <a:buNone/>
            </a:pPr>
            <a:r>
              <a:rPr b="1" sz="1200" lang="he-IL"/>
              <a:t>מטרה</a:t>
            </a:r>
          </a:p>
          <a:p>
            <a:pPr rtl="1" algn="r" marL="0" indent="0">
              <a:buNone/>
            </a:pPr>
            <a:r>
              <a:rPr sz="1200" lang="he-IL"/>
              <a:t>•  להראות שהמפגש של היום אינו נושא חדש אלא הצעד הבא בשרשרת שבנינו.</a:t>
            </a:r>
          </a:p>
          <a:p>
            <a:pPr rtl="1" algn="r" marL="0" indent="0">
              <a:buNone/>
            </a:pPr>
            <a:r>
              <a:rPr sz="1200" lang="he-IL"/>
              <a:t>•  קראו את הטבלה שורה אחר שורה, מימין לשמאל: מפגש, מה למדנו, ואיפה זה חוזר היום.</a:t>
            </a:r>
          </a:p>
          <a:p>
            <a:pPr rtl="1" algn="r" marL="0" indent="0">
              <a:buNone/>
            </a:pPr>
            <a:r>
              <a:rPr sz="1200" lang="he-IL"/>
              <a:t>•  השורה האחרונה, מפגש 11, היא המפגש הקודם: בדיקת המוכנות לפרויקט שם (רשימת התוצרים של מפגשים 5 עד 11) הופכת היום לצ'קליסט לפני חשיפה בחלק ב׳, ושני סעיפים חדשים נוספים לה: תפעול, ומשפט ואתיקה.</a:t>
            </a:r>
          </a:p>
          <a:p>
            <a:pPr rtl="1" algn="r" marL="0" indent="0">
              <a:buNone/>
            </a:pPr>
            <a:r>
              <a:rPr sz="1200" lang="he-IL"/>
              <a:t>•  שאלות היזכרות לכיתה, שאלה אחת בכל פעם: (1) מי זוכר מה כלל מפגש 10 אומר על מפתח שדלף?</a:t>
            </a:r>
          </a:p>
          <a:p>
            <a:pPr rtl="1" algn="r" marL="0" indent="0">
              <a:buNone/>
            </a:pPr>
            <a:r>
              <a:rPr b="1" sz="1200" lang="he-IL"/>
              <a:t>תשובה</a:t>
            </a:r>
          </a:p>
          <a:p>
            <a:pPr rtl="1" algn="r" marL="0" indent="0">
              <a:buNone/>
            </a:pPr>
            <a:r>
              <a:rPr sz="1200" lang="he-IL"/>
              <a:t>•  קודם מבטלים אצל הספק, ורק אחר כך מחליפים ומנקים.</a:t>
            </a:r>
          </a:p>
          <a:p>
            <a:pPr rtl="1" algn="r" marL="0" indent="0">
              <a:buNone/>
            </a:pPr>
            <a:r>
              <a:rPr sz="1200" lang="he-IL"/>
              <a:t>•  (2) מה למדנו במפגש 8 על בדיקה שעוברת?</a:t>
            </a:r>
          </a:p>
          <a:p>
            <a:pPr rtl="1" algn="r" marL="0" indent="0">
              <a:buNone/>
            </a:pPr>
            <a:r>
              <a:rPr sz="1200" lang="he-IL"/>
              <a:t>•  בדיקה שלא ראיתם נכשלת היא השערה, ובדיקות חלשות נשארות ירוקות גם על קוד שבור; היום רואים ש־CI מריץ את אותן בדיקות אוטומטית, אבל ״ירוק״ עדיין מעיד רק על מה שנבדק.</a:t>
            </a:r>
          </a:p>
          <a:p>
            <a:pPr rtl="1" algn="r" marL="0" indent="0">
              <a:buNone/>
            </a:pPr>
            <a:r>
              <a:rPr sz="1200" lang="he-IL"/>
              <a:t>•  (3) מה ארבעת הדברים שרשמנו ביומן ה־AI במפגש 5?</a:t>
            </a:r>
          </a:p>
          <a:p>
            <a:pPr rtl="1" algn="r" marL="0" indent="0">
              <a:buNone/>
            </a:pPr>
            <a:r>
              <a:rPr sz="1200" lang="he-IL"/>
              <a:t>•  כלי ופרומפט, מה קיבלתי, איך אימתתי, החלטה.</a:t>
            </a:r>
          </a:p>
          <a:p>
            <a:pPr rtl="1" algn="r" marL="0" indent="0">
              <a:buNone/>
            </a:pPr>
            <a:r>
              <a:rPr sz="1200" lang="he-IL"/>
              <a:t>•  היום היומן וההצהרה על שימוש ב־AI הופכים לסעיף בצ'קליסט.</a:t>
            </a:r>
          </a:p>
          <a:p>
            <a:pPr rtl="1" algn="r" marL="0" indent="0">
              <a:buNone/>
            </a:pPr>
            <a:r>
              <a:rPr b="1" sz="1200" lang="he-IL"/>
              <a:t>אם הכיתה לא זוכרת</a:t>
            </a:r>
          </a:p>
          <a:p>
            <a:pPr rtl="1" algn="r" marL="0" indent="0">
              <a:buNone/>
            </a:pPr>
            <a:r>
              <a:rPr sz="1200" lang="he-IL"/>
              <a:t>•  אל תחזרו על המפגש כולו.</a:t>
            </a:r>
          </a:p>
          <a:p>
            <a:pPr rtl="1" algn="r" marL="0" indent="0">
              <a:buNone/>
            </a:pPr>
            <a:r>
              <a:rPr sz="1200" lang="he-IL"/>
              <a:t>•  אמרו את הכלל במשפט אחד ועברו הלאה, כי כל שורה חוזרת בשקף משלה היום (שקפי הצ'קליסט, ה־CI, ההגדרות והסודות, המדיניות).</a:t>
            </a:r>
          </a:p>
          <a:p>
            <a:pPr rtl="1" algn="r" marL="0" indent="0">
              <a:buNone/>
            </a:pPr>
            <a:r>
              <a:rPr sz="1200" lang="he-IL"/>
              <a:t>•  מפגשים 3 ו־4 (לפי הנושא בסילבוס: הנדסת פרומפטים והנדסת הקשר) אינם בטבלה בכוונה: אפשר לציין שעמוד הנחיתה נבנה בעזרת פרומפט עם הוראות מפורשות, בלי לטעון תוכן מפורט מהם.</a:t>
            </a:r>
          </a:p>
          <a:p>
            <a:pPr rtl="1" algn="r" marL="0" indent="0">
              <a:buNone/>
            </a:pPr>
            <a:r>
              <a:rPr sz="1200" lang="he-IL"/>
              <a:t>•  זמן: אם חסר, דלגו על שאלה (3) ועברו מיד לשקף הבא.</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השאלה של היום (כדקה).</a:t>
            </a:r>
          </a:p>
          <a:p>
            <a:pPr rtl="1" algn="r" marL="0" indent="0">
              <a:buNone/>
            </a:pPr>
            <a:r>
              <a:rPr b="1" sz="1200" lang="he-IL"/>
              <a:t>מה אומרים</a:t>
            </a:r>
          </a:p>
          <a:p>
            <a:pPr rtl="1" algn="r" marL="0" indent="0">
              <a:buNone/>
            </a:pPr>
            <a:r>
              <a:rPr sz="1200" lang="he-IL"/>
              <a:t>•  הגשר למפגש הקודם: מפגש 11 נסגר בשאלה ״מה צריך כדי שמישהו אחר יריץ את הפרויקט שלכם על מחשב אחר?״, והתשובה הייתה הוראות הרצה, תלויות והגדרות, ולכן כתבנו README ומסמך העברה.</a:t>
            </a:r>
          </a:p>
          <a:p>
            <a:pPr rtl="1" algn="r" marL="0" indent="0">
              <a:buNone/>
            </a:pPr>
            <a:r>
              <a:rPr sz="1200" lang="he-IL"/>
              <a:t>•  היום עוברים לשאלה הבאה, שנולדת ממה שנשאר פתוח: הפרויקט כבר ניתן להרצה, אבל הוא עדיין רץ רק אצלכם, עם ההגדרות והנתונים שלכם, ובלי משתמשים אמיתיים.</a:t>
            </a:r>
          </a:p>
          <a:p>
            <a:pPr rtl="1" algn="r" marL="0" indent="0">
              <a:buNone/>
            </a:pPr>
            <a:r>
              <a:rPr sz="1200" lang="he-IL"/>
              <a:t>•  כשמשתמש אמיתי מגיע, שני דברים משתנים: צריך להפעיל את הפרויקט במקום אמיתי (חלקים א׳ וב׳), ואתם נושאים באחריות למה שהוא עושה לאנשים אחרים (חלקים ג׳ וד׳).</a:t>
            </a:r>
          </a:p>
          <a:p>
            <a:pPr rtl="1" algn="r" marL="0" indent="0">
              <a:buNone/>
            </a:pPr>
            <a:r>
              <a:rPr sz="1200" lang="he-IL"/>
              <a:t>•  קראו את שני הכרטיסים מימין לשמאל ואז את השאלה בתחתית.</a:t>
            </a:r>
          </a:p>
          <a:p>
            <a:pPr rtl="1" algn="r" marL="0" indent="0">
              <a:buNone/>
            </a:pPr>
            <a:r>
              <a:rPr sz="1200" lang="he-IL"/>
              <a:t>•  אל תענו עליה עכשיו: זו אותה שאלה שהצגנו בשקף הפתיחה (מה יכול להשתבש?), ובסוף השיעור נחזור אליה עם הצ'קליסט והמדיניות.</a:t>
            </a:r>
          </a:p>
          <a:p>
            <a:pPr rtl="1" algn="r" marL="0" indent="0">
              <a:buNone/>
            </a:pPr>
            <a:r>
              <a:rPr b="1" sz="1200" lang="he-IL"/>
              <a:t>שאלת היזכרות</a:t>
            </a:r>
          </a:p>
          <a:p>
            <a:pPr rtl="1" algn="r" marL="0" indent="0">
              <a:buNone/>
            </a:pPr>
            <a:r>
              <a:rPr sz="1200" lang="he-IL"/>
              <a:t>•  איזה מסמך כתבנו במפגש 11 כדי שמישהו אחר יוכל להמשיך את הפרויקט בלי לשאול אתכם?</a:t>
            </a:r>
          </a:p>
          <a:p>
            <a:pPr rtl="1" algn="r" marL="0" indent="0">
              <a:buNone/>
            </a:pPr>
            <a:r>
              <a:rPr b="1" sz="1200" lang="he-IL"/>
              <a:t>תשובה</a:t>
            </a:r>
          </a:p>
          <a:p>
            <a:pPr rtl="1" algn="r" marL="0" indent="0">
              <a:buNone/>
            </a:pPr>
            <a:r>
              <a:rPr sz="1200" lang="he-IL"/>
              <a:t>•  מסמך העברה (README ומסמך ההעברה, שישה חלקים: מה זה עושה, איך מריצים, מבנה, מה שבור או חסר, נקודות סיכון ושאלות פתוחות).</a:t>
            </a:r>
          </a:p>
          <a:p>
            <a:pPr rtl="1" algn="r" marL="0" indent="0">
              <a:buNone/>
            </a:pPr>
            <a:r>
              <a:rPr b="1" sz="1200" lang="he-IL"/>
              <a:t>אם הכיתה לא זוכרת</a:t>
            </a:r>
          </a:p>
          <a:p>
            <a:pPr rtl="1" algn="r" marL="0" indent="0">
              <a:buNone/>
            </a:pPr>
            <a:r>
              <a:rPr sz="1200" lang="he-IL"/>
              <a:t>•  הזכירו שהוא נכתב על קוד זר (legacy-repo), ושהכלל שם היה קודם מריצים ורק אחר כך קוראים.</a:t>
            </a:r>
          </a:p>
          <a:p>
            <a:pPr rtl="1" algn="r" marL="0" indent="0">
              <a:buNone/>
            </a:pPr>
            <a:r>
              <a:rPr sz="1200" lang="he-IL"/>
              <a:t>•  אם הם זוכרים היטב, שאלו מי יודע מה חסר ב־README שלו כדי שזר יפעיל אותו.</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12 דקות</a:t>
            </a:r>
          </a:p>
          <a:p>
            <a:pPr rtl="1" algn="r" marL="0" indent="0">
              <a:buNone/>
            </a:pPr>
            <a:r>
              <a:rPr lang="he-IL"/>
              <a:t>מה אומרים</a:t>
            </a:r>
          </a:p>
          <a:p>
            <a:pPr rtl="1" algn="r" marL="0" indent="0">
              <a:buNone/>
            </a:pPr>
            <a:r>
              <a:rPr lang="he-IL"/>
              <a:t>• הקובץ לתרגול הזה: HM_12.ipynb. חלק ב׳: עמוד נחיתה.</a:t>
            </a:r>
          </a:p>
          <a:p>
            <a:pPr rtl="1" algn="r" marL="0" indent="0">
              <a:buNone/>
            </a:pPr>
            <a:r>
              <a:rPr lang="he-IL"/>
              <a:t>• כל המעבדות של המפגש נעשות באותו קובץ. כל מעבדה היא חלק אחר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בתחילת העבודה שומרים עותק ב־Drive (File → Save a copy in Drive) וכותבים את השם בתא הפתיחה.</a:t>
            </a:r>
          </a:p>
          <a:p>
            <a:pPr rtl="1" algn="r" marL="0" indent="0">
              <a:buNone/>
            </a:pPr>
            <a:r>
              <a:rPr lang="he-IL"/>
              <a:t>הכנה לפני השיעור</a:t>
            </a:r>
          </a:p>
          <a:p>
            <a:pPr rtl="1" algn="r" marL="0" indent="0">
              <a:buNone/>
            </a:pPr>
            <a:r>
              <a:rPr lang="he-IL"/>
              <a:t>• להעלות את HM_12.ipynb ל־Colab או ל־Drive, ולהחליף את ה־QR (מקום שמור) בקישור אמיתי.</a:t>
            </a:r>
          </a:p>
          <a:p>
            <a:pPr rtl="1" algn="r" marL="0" indent="0">
              <a:buNone/>
            </a:pPr>
            <a:r>
              <a:rPr lang="he-IL"/>
              <a:t>• להריץ Run all על HM_12_SOLUTION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10 דקות</a:t>
            </a:r>
          </a:p>
          <a:p>
            <a:pPr rtl="1" algn="r" marL="0" indent="0">
              <a:buNone/>
            </a:pPr>
            <a:r>
              <a:rPr lang="he-IL"/>
              <a:t>מה אומרים</a:t>
            </a:r>
          </a:p>
          <a:p>
            <a:pPr rtl="1" algn="r" marL="0" indent="0">
              <a:buNone/>
            </a:pPr>
            <a:r>
              <a:rPr lang="he-IL"/>
              <a:t>• הקובץ לתרגול הזה: HM_12.ipynb. חלק א׳: צ׳קליסט.</a:t>
            </a:r>
          </a:p>
          <a:p>
            <a:pPr rtl="1" algn="r" marL="0" indent="0">
              <a:buNone/>
            </a:pPr>
            <a:r>
              <a:rPr lang="he-IL"/>
              <a:t>• זה אותו קובץ HM_12.ipynb שפתחתם במעבדה הקודמת. ממשיכים לחלק הבא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בסוף כל מעבדה שומרים את המחברת ב־Drive, כדי שלא תאבד כשהחיבור מתנתק.</a:t>
            </a:r>
          </a:p>
          <a:p>
            <a:pPr rtl="1" algn="r" marL="0" indent="0">
              <a:buNone/>
            </a:pPr>
            <a:r>
              <a:rPr lang="he-IL"/>
              <a:t>הכנה לפני השיעור</a:t>
            </a:r>
          </a:p>
          <a:p>
            <a:pPr rtl="1" algn="r" marL="0" indent="0">
              <a:buNone/>
            </a:pPr>
            <a:r>
              <a:rPr lang="he-IL"/>
              <a:t>• להעלות את HM_12.ipynb ל־Colab או ל־Drive, ולהחליף את ה־QR (מקום שמור) בקישור אמיתי.</a:t>
            </a:r>
          </a:p>
          <a:p>
            <a:pPr rtl="1" algn="r" marL="0" indent="0">
              <a:buNone/>
            </a:pPr>
            <a:r>
              <a:rPr lang="he-IL"/>
              <a:t>• להריץ Run all על HM_12_SOLUTION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12 דקות</a:t>
            </a:r>
          </a:p>
          <a:p>
            <a:pPr rtl="1" algn="r" marL="0" indent="0">
              <a:buNone/>
            </a:pPr>
            <a:r>
              <a:rPr lang="he-IL"/>
              <a:t>מה אומרים</a:t>
            </a:r>
          </a:p>
          <a:p>
            <a:pPr rtl="1" algn="r" marL="0" indent="0">
              <a:buNone/>
            </a:pPr>
            <a:r>
              <a:rPr lang="he-IL"/>
              <a:t>• הקובץ לתרגול הזה: HM_12.ipynb. חלקים ג׳-ד׳: מקרים ומדיניות.</a:t>
            </a:r>
          </a:p>
          <a:p>
            <a:pPr rtl="1" algn="r" marL="0" indent="0">
              <a:buNone/>
            </a:pPr>
            <a:r>
              <a:rPr lang="he-IL"/>
              <a:t>• זה אותו קובץ HM_12.ipynb שפתחתם במעבדה הקודמת. ממשיכים לחלק הבא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בסוף כל מעבדה שומרים את המחברת ב־Drive, כדי שלא תאבד כשהחיבור מתנתק.</a:t>
            </a:r>
          </a:p>
          <a:p>
            <a:pPr rtl="1" algn="r" marL="0" indent="0">
              <a:buNone/>
            </a:pPr>
            <a:r>
              <a:rPr lang="he-IL"/>
              <a:t>הכנה לפני השיעור</a:t>
            </a:r>
          </a:p>
          <a:p>
            <a:pPr rtl="1" algn="r" marL="0" indent="0">
              <a:buNone/>
            </a:pPr>
            <a:r>
              <a:rPr lang="he-IL"/>
              <a:t>• להעלות את HM_12.ipynb ל־Colab או ל־Drive, ולהחליף את ה־QR (מקום שמור) בקישור אמיתי.</a:t>
            </a:r>
          </a:p>
          <a:p>
            <a:pPr rtl="1" algn="r" marL="0" indent="0">
              <a:buNone/>
            </a:pPr>
            <a:r>
              <a:rPr lang="he-IL"/>
              <a:t>• להריץ Run all על HM_12_SOLUTION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שיעור 12</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28016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800" b="1" i="0" lang="he-IL">
                <a:solidFill>
                  <a:srgbClr val="4285F4"/>
                </a:solidFill>
              </a:rPr>
              <a:t>הפרויקט עובד. מה בינו לבין משתמש אמיתי?</a:t>
            </a:r>
          </a:p>
        </p:txBody>
      </p:sp>
      <p:sp>
        <p:nvSpPr>
          <p:cNvPr id="6" name="Rounded Rectangle 5"/>
          <p:cNvSpPr/>
          <p:nvPr/>
        </p:nvSpPr>
        <p:spPr>
          <a:xfrm>
            <a:off x="4663440" y="2194560"/>
            <a:ext cx="4114800" cy="228600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212121"/>
                </a:solidFill>
              </a:rPr>
              <a:t>🚀 לשחרר</a:t>
            </a:r>
          </a:p>
          <a:p>
            <a:pPr rtl="1" algn="ctr" marL="0" indent="0">
              <a:lnSpc>
                <a:spcPct val="105000"/>
              </a:lnSpc>
              <a:spcBef>
                <a:spcPts val="0"/>
              </a:spcBef>
              <a:spcAft>
                <a:spcPts val="0"/>
              </a:spcAft>
              <a:buNone/>
            </a:pPr>
            <a:r>
              <a:rPr sz="1600" b="0" i="0" lang="he-IL">
                <a:solidFill>
                  <a:srgbClr val="595959"/>
                </a:solidFill>
              </a:rPr>
              <a:t>פריסה למקום אמיתי
דפדפן, כתובת, HTTPS
ניטור, עלות, חזרה אחורה</a:t>
            </a:r>
          </a:p>
        </p:txBody>
      </p:sp>
      <p:sp>
        <p:nvSpPr>
          <p:cNvPr id="7" name="Rounded Rectangle 6"/>
          <p:cNvSpPr/>
          <p:nvPr/>
        </p:nvSpPr>
        <p:spPr>
          <a:xfrm>
            <a:off x="365760" y="2194560"/>
            <a:ext cx="4114800" cy="228600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212121"/>
                </a:solidFill>
              </a:rPr>
              <a:t>⚖️ לקחת אחריות</a:t>
            </a:r>
          </a:p>
          <a:p>
            <a:pPr rtl="1" algn="ctr" marL="0" indent="0">
              <a:lnSpc>
                <a:spcPct val="105000"/>
              </a:lnSpc>
              <a:spcBef>
                <a:spcPts val="0"/>
              </a:spcBef>
              <a:spcAft>
                <a:spcPts val="0"/>
              </a:spcAft>
              <a:buNone/>
            </a:pPr>
            <a:r>
              <a:rPr sz="1600" b="0" i="0" lang="he-IL">
                <a:solidFill>
                  <a:srgbClr val="595959"/>
                </a:solidFill>
              </a:rPr>
              <a:t>זכויות יוצרים ורישיונות
פרטיות ומדיניות ארגונית
מה קורה כשהמערכת טועה</a:t>
            </a:r>
          </a:p>
        </p:txBody>
      </p:sp>
      <p:sp>
        <p:nvSpPr>
          <p:cNvPr id="8" name="TextBox 7"/>
          <p:cNvSpPr txBox="1"/>
          <p:nvPr/>
        </p:nvSpPr>
        <p:spPr>
          <a:xfrm>
            <a:off x="365760" y="466344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800" b="1" i="0" lang="he-IL">
                <a:solidFill>
                  <a:srgbClr val="EA4335"/>
                </a:solidFill>
              </a:rPr>
              <a:t>"הסוכן אמר" אינו הגנה. מי שפרס, נושא באחריות.</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a:t>
            </a:r>
            <a:r>
              <a:rPr sz="3000" b="1" i="0" lang="he-IL">
                <a:solidFill>
                  <a:srgbClr val="212121"/>
                </a:solidFill>
              </a:rPr>
              <a:t>מטרות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229600" y="146304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6" name="TextBox 5"/>
          <p:cNvSpPr txBox="1"/>
          <p:nvPr/>
        </p:nvSpPr>
        <p:spPr>
          <a:xfrm>
            <a:off x="365760" y="137160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להסביר איך מעבירים פרויקט ממחשב אישי לסביבה חיה, ולבחור אפשרות הפעלה מתאימה.</a:t>
            </a:r>
          </a:p>
        </p:txBody>
      </p:sp>
      <p:sp>
        <p:nvSpPr>
          <p:cNvPr id="7" name="Oval 6"/>
          <p:cNvSpPr/>
          <p:nvPr/>
        </p:nvSpPr>
        <p:spPr>
          <a:xfrm>
            <a:off x="8229600" y="219456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8" name="TextBox 7"/>
          <p:cNvSpPr txBox="1"/>
          <p:nvPr/>
        </p:nvSpPr>
        <p:spPr>
          <a:xfrm>
            <a:off x="365760" y="210312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לפרסם עמוד נחיתה, ולהכין צ'קליסט לפני חשיפה לפרויקט הקבוצתי.</a:t>
            </a:r>
          </a:p>
        </p:txBody>
      </p:sp>
      <p:sp>
        <p:nvSpPr>
          <p:cNvPr id="9" name="Oval 8"/>
          <p:cNvSpPr/>
          <p:nvPr/>
        </p:nvSpPr>
        <p:spPr>
          <a:xfrm>
            <a:off x="8229600" y="292608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0" name="TextBox 9"/>
          <p:cNvSpPr txBox="1"/>
          <p:nvPr/>
        </p:nvSpPr>
        <p:spPr>
          <a:xfrm>
            <a:off x="365760" y="283464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להסביר בסיסית את סוגיית זכויות היוצרים וסוגיית הרישיונות בקוד שנוצר ב־AI.</a:t>
            </a:r>
          </a:p>
        </p:txBody>
      </p:sp>
      <p:sp>
        <p:nvSpPr>
          <p:cNvPr id="11" name="Oval 10"/>
          <p:cNvSpPr/>
          <p:nvPr/>
        </p:nvSpPr>
        <p:spPr>
          <a:xfrm>
            <a:off x="8229600" y="365760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4</a:t>
            </a:r>
          </a:p>
        </p:txBody>
      </p:sp>
      <p:sp>
        <p:nvSpPr>
          <p:cNvPr id="12" name="TextBox 11"/>
          <p:cNvSpPr txBox="1"/>
          <p:nvPr/>
        </p:nvSpPr>
        <p:spPr>
          <a:xfrm>
            <a:off x="365760" y="356616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להכיר עקרונות של פרטיות ואחריות משפטית, ולהבחין בין ישראל, ארה״ב והאיחוד האירופי.</a:t>
            </a:r>
          </a:p>
        </p:txBody>
      </p:sp>
      <p:sp>
        <p:nvSpPr>
          <p:cNvPr id="13" name="Oval 12"/>
          <p:cNvSpPr/>
          <p:nvPr/>
        </p:nvSpPr>
        <p:spPr>
          <a:xfrm>
            <a:off x="8229600" y="438912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5</a:t>
            </a:r>
          </a:p>
        </p:txBody>
      </p:sp>
      <p:sp>
        <p:nvSpPr>
          <p:cNvPr id="14" name="TextBox 13"/>
          <p:cNvSpPr txBox="1"/>
          <p:nvPr/>
        </p:nvSpPr>
        <p:spPr>
          <a:xfrm>
            <a:off x="365760" y="429768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לכתוב מדיניות שימוש ב־AI לארגון, ולנתח תרחישים אתיים.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a:t>
            </a:r>
            <a:r>
              <a:rPr sz="3000" b="1" i="0" lang="he-IL">
                <a:solidFill>
                  <a:srgbClr val="212121"/>
                </a:solidFill>
              </a:rPr>
              <a:t>מפת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8239167" y="2011680"/>
            <a:ext cx="520784"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פתיחה</a:t>
            </a:r>
          </a:p>
          <a:p>
            <a:pPr rtl="1" algn="ctr" marL="0" indent="0">
              <a:lnSpc>
                <a:spcPct val="105000"/>
              </a:lnSpc>
              <a:spcBef>
                <a:spcPts val="0"/>
              </a:spcBef>
              <a:spcAft>
                <a:spcPts val="0"/>
              </a:spcAft>
              <a:buNone/>
            </a:pPr>
            <a:r>
              <a:rPr sz="1300" b="0" i="0" lang="he-IL">
                <a:solidFill>
                  <a:srgbClr val="FFFFFF"/>
                </a:solidFill>
              </a:rPr>
              <a:t>6׳</a:t>
            </a:r>
          </a:p>
        </p:txBody>
      </p:sp>
      <p:sp>
        <p:nvSpPr>
          <p:cNvPr id="6" name="Rounded Rectangle 5"/>
          <p:cNvSpPr/>
          <p:nvPr/>
        </p:nvSpPr>
        <p:spPr>
          <a:xfrm>
            <a:off x="7020559" y="2011680"/>
            <a:ext cx="1182031"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FFFFFF"/>
                </a:solidFill>
              </a:rPr>
              <a:t>א׳</a:t>
            </a:r>
          </a:p>
          <a:p>
            <a:pPr rtl="1" algn="ctr" marL="0" indent="0">
              <a:lnSpc>
                <a:spcPct val="105000"/>
              </a:lnSpc>
              <a:spcBef>
                <a:spcPts val="0"/>
              </a:spcBef>
              <a:spcAft>
                <a:spcPts val="0"/>
              </a:spcAft>
              <a:buNone/>
            </a:pPr>
            <a:r>
              <a:rPr sz="1300" b="0" i="0" lang="he-IL">
                <a:solidFill>
                  <a:srgbClr val="FFFFFF"/>
                </a:solidFill>
              </a:rPr>
              <a:t>13׳</a:t>
            </a:r>
          </a:p>
        </p:txBody>
      </p:sp>
      <p:sp>
        <p:nvSpPr>
          <p:cNvPr id="7" name="Rounded Rectangle 6"/>
          <p:cNvSpPr/>
          <p:nvPr/>
        </p:nvSpPr>
        <p:spPr>
          <a:xfrm>
            <a:off x="5898895" y="2011680"/>
            <a:ext cx="1085087"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מעבדה א׳</a:t>
            </a:r>
          </a:p>
          <a:p>
            <a:pPr rtl="1" algn="ctr" marL="0" indent="0">
              <a:lnSpc>
                <a:spcPct val="105000"/>
              </a:lnSpc>
              <a:spcBef>
                <a:spcPts val="0"/>
              </a:spcBef>
              <a:spcAft>
                <a:spcPts val="0"/>
              </a:spcAft>
              <a:buNone/>
            </a:pPr>
            <a:r>
              <a:rPr sz="1300" b="0" i="0" lang="he-IL">
                <a:solidFill>
                  <a:srgbClr val="212121"/>
                </a:solidFill>
              </a:rPr>
              <a:t>12׳</a:t>
            </a:r>
          </a:p>
        </p:txBody>
      </p:sp>
      <p:sp>
        <p:nvSpPr>
          <p:cNvPr id="8" name="Rounded Rectangle 7"/>
          <p:cNvSpPr/>
          <p:nvPr/>
        </p:nvSpPr>
        <p:spPr>
          <a:xfrm>
            <a:off x="4964176" y="2011680"/>
            <a:ext cx="898143"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ב׳</a:t>
            </a:r>
          </a:p>
          <a:p>
            <a:pPr rtl="1" algn="ctr" marL="0" indent="0">
              <a:lnSpc>
                <a:spcPct val="105000"/>
              </a:lnSpc>
              <a:spcBef>
                <a:spcPts val="0"/>
              </a:spcBef>
              <a:spcAft>
                <a:spcPts val="0"/>
              </a:spcAft>
              <a:buNone/>
            </a:pPr>
            <a:r>
              <a:rPr sz="1300" b="0" i="0" lang="he-IL">
                <a:solidFill>
                  <a:srgbClr val="FFFFFF"/>
                </a:solidFill>
              </a:rPr>
              <a:t>10׳</a:t>
            </a:r>
          </a:p>
        </p:txBody>
      </p:sp>
      <p:sp>
        <p:nvSpPr>
          <p:cNvPr id="9" name="Rounded Rectangle 8"/>
          <p:cNvSpPr/>
          <p:nvPr/>
        </p:nvSpPr>
        <p:spPr>
          <a:xfrm>
            <a:off x="4029455" y="2011680"/>
            <a:ext cx="898143"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מעבדה ב׳</a:t>
            </a:r>
          </a:p>
          <a:p>
            <a:pPr rtl="1" algn="ctr" marL="0" indent="0">
              <a:lnSpc>
                <a:spcPct val="105000"/>
              </a:lnSpc>
              <a:spcBef>
                <a:spcPts val="0"/>
              </a:spcBef>
              <a:spcAft>
                <a:spcPts val="0"/>
              </a:spcAft>
              <a:buNone/>
            </a:pPr>
            <a:r>
              <a:rPr sz="1300" b="0" i="0" lang="he-IL">
                <a:solidFill>
                  <a:srgbClr val="212121"/>
                </a:solidFill>
              </a:rPr>
              <a:t>10׳</a:t>
            </a:r>
          </a:p>
        </p:txBody>
      </p:sp>
      <p:sp>
        <p:nvSpPr>
          <p:cNvPr id="10" name="Rounded Rectangle 9"/>
          <p:cNvSpPr/>
          <p:nvPr/>
        </p:nvSpPr>
        <p:spPr>
          <a:xfrm>
            <a:off x="2814320" y="2011680"/>
            <a:ext cx="1178559"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FFFFFF"/>
                </a:solidFill>
              </a:rPr>
              <a:t>ג׳</a:t>
            </a:r>
          </a:p>
          <a:p>
            <a:pPr rtl="1" algn="ctr" marL="0" indent="0">
              <a:lnSpc>
                <a:spcPct val="105000"/>
              </a:lnSpc>
              <a:spcBef>
                <a:spcPts val="0"/>
              </a:spcBef>
              <a:spcAft>
                <a:spcPts val="0"/>
              </a:spcAft>
              <a:buNone/>
            </a:pPr>
            <a:r>
              <a:rPr sz="1300" b="0" i="0" lang="he-IL">
                <a:solidFill>
                  <a:srgbClr val="FFFFFF"/>
                </a:solidFill>
              </a:rPr>
              <a:t>13׳</a:t>
            </a:r>
          </a:p>
        </p:txBody>
      </p:sp>
      <p:sp>
        <p:nvSpPr>
          <p:cNvPr id="11" name="Rounded Rectangle 10"/>
          <p:cNvSpPr/>
          <p:nvPr/>
        </p:nvSpPr>
        <p:spPr>
          <a:xfrm>
            <a:off x="2066544" y="2011680"/>
            <a:ext cx="711199"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ד׳</a:t>
            </a:r>
          </a:p>
          <a:p>
            <a:pPr rtl="1" algn="ctr" marL="0" indent="0">
              <a:lnSpc>
                <a:spcPct val="105000"/>
              </a:lnSpc>
              <a:spcBef>
                <a:spcPts val="0"/>
              </a:spcBef>
              <a:spcAft>
                <a:spcPts val="0"/>
              </a:spcAft>
              <a:buNone/>
            </a:pPr>
            <a:r>
              <a:rPr sz="1300" b="0" i="0" lang="he-IL">
                <a:solidFill>
                  <a:srgbClr val="FFFFFF"/>
                </a:solidFill>
              </a:rPr>
              <a:t>8׳</a:t>
            </a:r>
          </a:p>
        </p:txBody>
      </p:sp>
      <p:sp>
        <p:nvSpPr>
          <p:cNvPr id="12" name="Rounded Rectangle 11"/>
          <p:cNvSpPr/>
          <p:nvPr/>
        </p:nvSpPr>
        <p:spPr>
          <a:xfrm>
            <a:off x="944880" y="2011680"/>
            <a:ext cx="1085087"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מעבדה ג׳</a:t>
            </a:r>
          </a:p>
          <a:p>
            <a:pPr rtl="1" algn="ctr" marL="0" indent="0">
              <a:lnSpc>
                <a:spcPct val="105000"/>
              </a:lnSpc>
              <a:spcBef>
                <a:spcPts val="0"/>
              </a:spcBef>
              <a:spcAft>
                <a:spcPts val="0"/>
              </a:spcAft>
              <a:buNone/>
            </a:pPr>
            <a:r>
              <a:rPr sz="1300" b="0" i="0" lang="he-IL">
                <a:solidFill>
                  <a:srgbClr val="212121"/>
                </a:solidFill>
              </a:rPr>
              <a:t>12׳</a:t>
            </a:r>
          </a:p>
        </p:txBody>
      </p:sp>
      <p:sp>
        <p:nvSpPr>
          <p:cNvPr id="13" name="Rounded Rectangle 12"/>
          <p:cNvSpPr/>
          <p:nvPr/>
        </p:nvSpPr>
        <p:spPr>
          <a:xfrm>
            <a:off x="384048" y="2011680"/>
            <a:ext cx="524255"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סיכום</a:t>
            </a:r>
          </a:p>
          <a:p>
            <a:pPr rtl="1" algn="ctr" marL="0" indent="0">
              <a:lnSpc>
                <a:spcPct val="105000"/>
              </a:lnSpc>
              <a:spcBef>
                <a:spcPts val="0"/>
              </a:spcBef>
              <a:spcAft>
                <a:spcPts val="0"/>
              </a:spcAft>
              <a:buNone/>
            </a:pPr>
            <a:r>
              <a:rPr sz="1300" b="0" i="0" lang="he-IL">
                <a:solidFill>
                  <a:srgbClr val="FFFFFF"/>
                </a:solidFill>
              </a:rPr>
              <a:t>6׳</a:t>
            </a:r>
          </a:p>
        </p:txBody>
      </p:sp>
      <p:cxnSp>
        <p:nvCxnSpPr>
          <p:cNvPr id="14" name="Connector 13"/>
          <p:cNvCxnSpPr/>
          <p:nvPr/>
        </p:nvCxnSpPr>
        <p:spPr>
          <a:xfrm flipH="1">
            <a:off x="365760" y="3337560"/>
            <a:ext cx="8412480" cy="0"/>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65760" y="33832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595959"/>
                </a:solidFill>
              </a:rPr>
              <a:t>90 דקות</a:t>
            </a:r>
          </a:p>
        </p:txBody>
      </p:sp>
      <p:sp>
        <p:nvSpPr>
          <p:cNvPr id="16" name="Rectangle 15"/>
          <p:cNvSpPr/>
          <p:nvPr/>
        </p:nvSpPr>
        <p:spPr>
          <a:xfrm>
            <a:off x="6126480" y="4023360"/>
            <a:ext cx="320040" cy="274320"/>
          </a:xfrm>
          <a:prstGeom prst="rect">
            <a:avLst/>
          </a:prstGeom>
          <a:solidFill>
            <a:srgbClr val="4285F4"/>
          </a:solidFill>
          <a:ln>
            <a:noFill/>
          </a:ln>
        </p:spPr>
        <p:txBody>
          <a:bodyPr rtlCol="0" anchor="ctr" wrap="square" lIns="73152" rIns="73152" tIns="73152" bIns="73152">
            <a:noAutofit/>
          </a:bodyPr>
          <a:lstStyle/>
          <a:p>
            <a:pPr algn="ctr"/>
          </a:p>
        </p:txBody>
      </p:sp>
      <p:sp>
        <p:nvSpPr>
          <p:cNvPr id="17" name="TextBox 16"/>
          <p:cNvSpPr txBox="1"/>
          <p:nvPr/>
        </p:nvSpPr>
        <p:spPr>
          <a:xfrm>
            <a:off x="3931920" y="3950208"/>
            <a:ext cx="219456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הסבר קצר</a:t>
            </a:r>
          </a:p>
        </p:txBody>
      </p:sp>
      <p:sp>
        <p:nvSpPr>
          <p:cNvPr id="18" name="Rectangle 17"/>
          <p:cNvSpPr/>
          <p:nvPr/>
        </p:nvSpPr>
        <p:spPr>
          <a:xfrm>
            <a:off x="3566160" y="4023360"/>
            <a:ext cx="320040" cy="274320"/>
          </a:xfrm>
          <a:prstGeom prst="rect">
            <a:avLst/>
          </a:prstGeom>
          <a:solidFill>
            <a:srgbClr val="FFAB40"/>
          </a:solidFill>
          <a:ln>
            <a:noFill/>
          </a:ln>
        </p:spPr>
        <p:txBody>
          <a:bodyPr rtlCol="0" anchor="ctr" wrap="square" lIns="73152" rIns="73152" tIns="73152" bIns="73152">
            <a:noAutofit/>
          </a:bodyPr>
          <a:lstStyle/>
          <a:p>
            <a:pPr algn="ctr"/>
          </a:p>
        </p:txBody>
      </p:sp>
      <p:sp>
        <p:nvSpPr>
          <p:cNvPr id="19" name="TextBox 18"/>
          <p:cNvSpPr txBox="1"/>
          <p:nvPr/>
        </p:nvSpPr>
        <p:spPr>
          <a:xfrm>
            <a:off x="1463040" y="3950208"/>
            <a:ext cx="210312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עבודה שלכם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a:t>
            </a:r>
            <a:r>
              <a:rPr sz="3000" b="1" i="0" lang="he-IL">
                <a:solidFill>
                  <a:srgbClr val="212121"/>
                </a:solidFill>
              </a:rPr>
              <a:t>במפגשים הקודמים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25880"/>
          <a:ext cx="8424000" cy="3276000"/>
        </p:xfrm>
        <a:graphic>
          <a:graphicData uri="http://schemas.openxmlformats.org/drawingml/2006/table">
            <a:tbl>
              <a:tblPr firstRow="0" bandRow="0">
                <a:tableStyleId>{2D5ABB26-0587-4C30-8999-92F81FD0307C}</a:tableStyleId>
              </a:tblPr>
              <a:tblGrid>
                <a:gridCol w="3420000"/>
                <a:gridCol w="3780000"/>
                <a:gridCol w="1224000"/>
              </a:tblGrid>
              <a:tr h="396000">
                <a:tc>
                  <a:txBody>
                    <a:bodyPr wrap="square"/>
                    <a:lstStyle/>
                    <a:p>
                      <a:pPr rtl="1" algn="ctr" marL="0" indent="0">
                        <a:lnSpc>
                          <a:spcPct val="100000"/>
                        </a:lnSpc>
                        <a:spcBef>
                          <a:spcPts val="0"/>
                        </a:spcBef>
                        <a:spcAft>
                          <a:spcPts val="0"/>
                        </a:spcAft>
                        <a:buNone/>
                      </a:pPr>
                      <a:r>
                        <a:rPr sz="1400" b="1" i="0" lang="he-IL">
                          <a:solidFill>
                            <a:srgbClr val="212121"/>
                          </a:solidFill>
                        </a:rPr>
                        <a:t>איפה זה חוזר היום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מה למדנו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מפגש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480000">
                <a:tc>
                  <a:txBody>
                    <a:bodyPr wrap="square"/>
                    <a:lstStyle/>
                    <a:p>
                      <a:pPr rtl="1" algn="r" marL="0" indent="0">
                        <a:lnSpc>
                          <a:spcPct val="100000"/>
                        </a:lnSpc>
                        <a:spcBef>
                          <a:spcPts val="0"/>
                        </a:spcBef>
                        <a:spcAft>
                          <a:spcPts val="0"/>
                        </a:spcAft>
                        <a:buNone/>
                      </a:pPr>
                      <a:r>
                        <a:rPr sz="1300" b="0" i="0" lang="he-IL">
                          <a:solidFill>
                            <a:srgbClr val="212121"/>
                          </a:solidFill>
                        </a:rPr>
                        <a:t>ראיה ואחראי בשם בצ'קליסט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האימות הוא תפקידכם; פרודקשן רק אחרי סקירה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מפגשים 1 ו־2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solidFill>
                      <a:srgbClr val="E3EEFF"/>
                    </a:solidFill>
                  </a:tcPr>
                </a:tc>
              </a:tr>
              <a:tr h="480000">
                <a:tc>
                  <a:txBody>
                    <a:bodyPr wrap="square"/>
                    <a:lstStyle/>
                    <a:p>
                      <a:pPr rtl="1" algn="r" marL="0" indent="0">
                        <a:lnSpc>
                          <a:spcPct val="100000"/>
                        </a:lnSpc>
                        <a:spcBef>
                          <a:spcPts val="0"/>
                        </a:spcBef>
                        <a:spcAft>
                          <a:spcPts val="0"/>
                        </a:spcAft>
                        <a:buNone/>
                      </a:pPr>
                      <a:r>
                        <a:rPr sz="1300" b="0" i="0" lang="he-IL">
                          <a:solidFill>
                            <a:srgbClr val="212121"/>
                          </a:solidFill>
                        </a:rPr>
                        <a:t>יומן והצהרת AI; סיווג מידע במדיניות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יומן AI ורמזור פרטיות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מפגש 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solidFill>
                      <a:srgbClr val="E3EEFF"/>
                    </a:solidFill>
                  </a:tcPr>
                </a:tc>
              </a:tr>
              <a:tr h="480000">
                <a:tc>
                  <a:txBody>
                    <a:bodyPr wrap="square"/>
                    <a:lstStyle/>
                    <a:p>
                      <a:pPr rtl="1" algn="r" marL="0" indent="0">
                        <a:lnSpc>
                          <a:spcPct val="100000"/>
                        </a:lnSpc>
                        <a:spcBef>
                          <a:spcPts val="0"/>
                        </a:spcBef>
                        <a:spcAft>
                          <a:spcPts val="0"/>
                        </a:spcAft>
                        <a:buNone/>
                      </a:pPr>
                      <a:r>
                        <a:rPr sz="1300" b="0" i="0" lang="he-IL">
                          <a:solidFill>
                            <a:srgbClr val="212121"/>
                          </a:solidFill>
                        </a:rPr>
                        <a:t>זרימת פריסה עם קונטיינר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Docker: אריזה אחת, הרצה זהה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מפגש 7</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solidFill>
                      <a:srgbClr val="E3EEFF"/>
                    </a:solidFill>
                  </a:tcPr>
                </a:tc>
              </a:tr>
              <a:tr h="480000">
                <a:tc>
                  <a:txBody>
                    <a:bodyPr wrap="square"/>
                    <a:lstStyle/>
                    <a:p>
                      <a:pPr rtl="1" algn="r" marL="0" indent="0">
                        <a:lnSpc>
                          <a:spcPct val="100000"/>
                        </a:lnSpc>
                        <a:spcBef>
                          <a:spcPts val="0"/>
                        </a:spcBef>
                        <a:spcAft>
                          <a:spcPts val="0"/>
                        </a:spcAft>
                        <a:buNone/>
                      </a:pPr>
                      <a:r>
                        <a:rPr sz="1300" b="0" i="0" lang="he-IL">
                          <a:solidFill>
                            <a:srgbClr val="212121"/>
                          </a:solidFill>
                        </a:rPr>
                        <a:t>CI בכל push; ״ירוק״ אינו ״נכון״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קוד בלי בדיקה הוא השערה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מפגש 8</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solidFill>
                      <a:srgbClr val="E3EEFF"/>
                    </a:solidFill>
                  </a:tcPr>
                </a:tc>
              </a:tr>
              <a:tr h="480000">
                <a:tc>
                  <a:txBody>
                    <a:bodyPr wrap="square"/>
                    <a:lstStyle/>
                    <a:p>
                      <a:pPr rtl="1" algn="r" marL="0" indent="0">
                        <a:lnSpc>
                          <a:spcPct val="100000"/>
                        </a:lnSpc>
                        <a:spcBef>
                          <a:spcPts val="0"/>
                        </a:spcBef>
                        <a:spcAft>
                          <a:spcPts val="0"/>
                        </a:spcAft>
                        <a:buNone/>
                      </a:pPr>
                      <a:r>
                        <a:rPr sz="1300" b="0" i="0" lang="he-IL">
                          <a:solidFill>
                            <a:srgbClr val="212121"/>
                          </a:solidFill>
                        </a:rPr>
                        <a:t>משתני סביבה ו־find_secrets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סודות מחוץ לקוד; דלף? קודם מבטלים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מפגש 10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solidFill>
                      <a:srgbClr val="E3EEFF"/>
                    </a:solidFill>
                  </a:tcPr>
                </a:tc>
              </a:tr>
              <a:tr h="480000">
                <a:tc>
                  <a:txBody>
                    <a:bodyPr wrap="square"/>
                    <a:lstStyle/>
                    <a:p>
                      <a:pPr rtl="1" algn="r" marL="0" indent="0">
                        <a:lnSpc>
                          <a:spcPct val="100000"/>
                        </a:lnSpc>
                        <a:spcBef>
                          <a:spcPts val="0"/>
                        </a:spcBef>
                        <a:spcAft>
                          <a:spcPts val="0"/>
                        </a:spcAft>
                        <a:buNone/>
                      </a:pPr>
                      <a:r>
                        <a:rPr sz="1300" b="0" i="0" lang="he-IL">
                          <a:solidFill>
                            <a:srgbClr val="212121"/>
                          </a:solidFill>
                        </a:rPr>
                        <a:t>בדיקת המוכנות הופכת לצ'קליסט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README ומסמך העברה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מפגש 11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solidFill>
                      <a:srgbClr val="E3EEFF"/>
                    </a:solidFill>
                  </a:tcPr>
                </a:tc>
              </a:tr>
            </a:tbl>
          </a:graphicData>
        </a:graphic>
      </p:graphicFrame>
      <p:sp>
        <p:nvSpPr>
          <p:cNvPr id="6" name="TextBox 5"/>
          <p:cNvSpPr txBox="1"/>
          <p:nvPr/>
        </p:nvSpPr>
        <p:spPr>
          <a:xfrm>
            <a:off x="365760" y="465000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1" i="0" lang="he-IL">
                <a:solidFill>
                  <a:srgbClr val="212121"/>
                </a:solidFill>
              </a:rPr>
              <a:t>כל שורה כאן הופכת היום לסעיף בצ'קליסט לפני חשיפה או לכלל במדיניות.</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a:t>
            </a:r>
            <a:r>
              <a:rPr sz="3000" b="1" i="0" lang="he-IL">
                <a:solidFill>
                  <a:srgbClr val="212121"/>
                </a:solidFill>
              </a:rPr>
              <a:t>השאלה של היום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371600"/>
            <a:ext cx="4114800" cy="283464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4285F4"/>
                </a:solidFill>
              </a:rPr>
              <a:t>נשאר פתוח (מפגש 11)</a:t>
            </a:r>
          </a:p>
          <a:p>
            <a:pPr rtl="1" algn="ctr" marL="0" indent="0">
              <a:lnSpc>
                <a:spcPct val="105000"/>
              </a:lnSpc>
              <a:spcBef>
                <a:spcPts val="0"/>
              </a:spcBef>
              <a:spcAft>
                <a:spcPts val="0"/>
              </a:spcAft>
              <a:buNone/>
            </a:pPr>
            <a:r>
              <a:rPr sz="1700" b="0" i="0" lang="he-IL">
                <a:solidFill>
                  <a:srgbClr val="212121"/>
                </a:solidFill>
              </a:rPr>
              <a:t>מישהו אחר יכול להריץ את הפרויקט שלכם: יש README ומסמך העברה.</a:t>
            </a:r>
          </a:p>
          <a:p>
            <a:pPr rtl="1" algn="ctr" marL="0" indent="0">
              <a:lnSpc>
                <a:spcPct val="105000"/>
              </a:lnSpc>
              <a:spcBef>
                <a:spcPts val="0"/>
              </a:spcBef>
              <a:spcAft>
                <a:spcPts val="0"/>
              </a:spcAft>
              <a:buNone/>
            </a:pPr>
            <a:r>
              <a:rPr sz="1400" b="0" i="0" lang="he-IL">
                <a:solidFill>
                  <a:srgbClr val="595959"/>
                </a:solidFill>
              </a:rPr>
              <a:t>אבל הוא רץ רק אצלכם: ההגדרות שלכם, הנתונים שלכם, ואין משתמשים אמיתיים.</a:t>
            </a:r>
          </a:p>
        </p:txBody>
      </p:sp>
      <p:sp>
        <p:nvSpPr>
          <p:cNvPr id="6" name="Rounded Rectangle 5"/>
          <p:cNvSpPr/>
          <p:nvPr/>
        </p:nvSpPr>
        <p:spPr>
          <a:xfrm>
            <a:off x="365760" y="1371600"/>
            <a:ext cx="4114800" cy="283464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FFAB40"/>
                </a:solidFill>
              </a:rPr>
              <a:t>מה נעשה היום</a:t>
            </a:r>
          </a:p>
          <a:p>
            <a:pPr rtl="1" algn="ctr" marL="0" indent="0">
              <a:lnSpc>
                <a:spcPct val="105000"/>
              </a:lnSpc>
              <a:spcBef>
                <a:spcPts val="0"/>
              </a:spcBef>
              <a:spcAft>
                <a:spcPts val="0"/>
              </a:spcAft>
              <a:buNone/>
            </a:pPr>
            <a:r>
              <a:rPr sz="1700" b="0" i="0" lang="he-IL">
                <a:solidFill>
                  <a:srgbClr val="212121"/>
                </a:solidFill>
              </a:rPr>
              <a:t>פריסה: להפעיל אותו במקום אמיתי, עם בדיקות, ניטור וחזרה אחורה.</a:t>
            </a:r>
          </a:p>
          <a:p>
            <a:pPr rtl="1" algn="ctr" marL="0" indent="0">
              <a:lnSpc>
                <a:spcPct val="105000"/>
              </a:lnSpc>
              <a:spcBef>
                <a:spcPts val="0"/>
              </a:spcBef>
              <a:spcAft>
                <a:spcPts val="0"/>
              </a:spcAft>
              <a:buNone/>
            </a:pPr>
            <a:r>
              <a:rPr sz="1400" b="0" i="0" lang="he-IL">
                <a:solidFill>
                  <a:srgbClr val="595959"/>
                </a:solidFill>
              </a:rPr>
              <a:t>משפט ואתיקה: זכויות יוצרים, פרטיות ומדיניות, כי למשתמשים אמיתיים יש אחריות כלפיהם.</a:t>
            </a:r>
          </a:p>
        </p:txBody>
      </p:sp>
      <p:sp>
        <p:nvSpPr>
          <p:cNvPr id="7" name="TextBox 6"/>
          <p:cNvSpPr txBox="1"/>
          <p:nvPr/>
        </p:nvSpPr>
        <p:spPr>
          <a:xfrm>
            <a:off x="365760" y="448056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השאלה של היום: מה צריך להיות נכון לפני שזר משתמש בפרויקט שלכם?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א׳ :</a:t>
            </a:r>
            <a:r>
              <a:rPr sz="3000" b="1" i="0" lang="he-IL">
                <a:solidFill>
                  <a:srgbClr val="212121"/>
                </a:solidFill>
              </a:rPr>
              <a:t>ממחשב אישי לסביבה חיה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2560320"/>
            <a:ext cx="2697480" cy="2011680"/>
          </a:xfrm>
          <a:prstGeom prst="roundRect">
            <a:avLst>
              <a:gd name="adj" fmla="val 12000"/>
            </a:avLst>
          </a:prstGeom>
          <a:solidFill>
            <a:srgbClr val="E3EEFF"/>
          </a:solidFill>
          <a:ln w="31750">
            <a:solidFill>
              <a:srgbClr val="4285F4"/>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3000" b="0" i="0" lang="he-IL">
                <a:solidFill>
                  <a:srgbClr val="212121"/>
                </a:solidFill>
              </a:rPr>
              <a:t>💻</a:t>
            </a:r>
          </a:p>
          <a:p>
            <a:pPr rtl="1" algn="ctr" marL="0" indent="0">
              <a:lnSpc>
                <a:spcPct val="105000"/>
              </a:lnSpc>
              <a:spcBef>
                <a:spcPts val="0"/>
              </a:spcBef>
              <a:spcAft>
                <a:spcPts val="0"/>
              </a:spcAft>
              <a:buNone/>
            </a:pPr>
            <a:r>
              <a:rPr sz="1800" b="1" i="0" lang="he-IL">
                <a:solidFill>
                  <a:srgbClr val="212121"/>
                </a:solidFill>
              </a:rPr>
              <a:t>פיתוח (dev)</a:t>
            </a:r>
          </a:p>
          <a:p>
            <a:pPr rtl="1" algn="ctr" marL="0" indent="0">
              <a:lnSpc>
                <a:spcPct val="105000"/>
              </a:lnSpc>
              <a:spcBef>
                <a:spcPts val="0"/>
              </a:spcBef>
              <a:spcAft>
                <a:spcPts val="0"/>
              </a:spcAft>
              <a:buNone/>
            </a:pPr>
            <a:r>
              <a:rPr sz="1300" b="0" i="0" lang="he-IL">
                <a:solidFill>
                  <a:srgbClr val="595959"/>
                </a:solidFill>
              </a:rPr>
              <a:t>המחשב שלכם. מהר, שבור, בלי משתמשים.</a:t>
            </a:r>
          </a:p>
        </p:txBody>
      </p:sp>
      <p:sp>
        <p:nvSpPr>
          <p:cNvPr id="6" name="Rounded Rectangle 5"/>
          <p:cNvSpPr/>
          <p:nvPr/>
        </p:nvSpPr>
        <p:spPr>
          <a:xfrm>
            <a:off x="3246120" y="2011679"/>
            <a:ext cx="2697480" cy="2560320"/>
          </a:xfrm>
          <a:prstGeom prst="roundRect">
            <a:avLst>
              <a:gd name="adj" fmla="val 12000"/>
            </a:avLst>
          </a:prstGeom>
          <a:solidFill>
            <a:srgbClr val="FFF0D9"/>
          </a:solidFill>
          <a:ln w="31750">
            <a:solidFill>
              <a:srgbClr val="FFAB40"/>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3000" b="0" i="0" lang="he-IL">
                <a:solidFill>
                  <a:srgbClr val="212121"/>
                </a:solidFill>
              </a:rPr>
              <a:t>🧪</a:t>
            </a:r>
          </a:p>
          <a:p>
            <a:pPr rtl="1" algn="ctr" marL="0" indent="0">
              <a:lnSpc>
                <a:spcPct val="105000"/>
              </a:lnSpc>
              <a:spcBef>
                <a:spcPts val="0"/>
              </a:spcBef>
              <a:spcAft>
                <a:spcPts val="0"/>
              </a:spcAft>
              <a:buNone/>
            </a:pPr>
            <a:r>
              <a:rPr sz="1800" b="1" i="0" lang="he-IL">
                <a:solidFill>
                  <a:srgbClr val="212121"/>
                </a:solidFill>
              </a:rPr>
              <a:t>בדיקה (staging)</a:t>
            </a:r>
          </a:p>
          <a:p>
            <a:pPr rtl="1" algn="ctr" marL="0" indent="0">
              <a:lnSpc>
                <a:spcPct val="105000"/>
              </a:lnSpc>
              <a:spcBef>
                <a:spcPts val="0"/>
              </a:spcBef>
              <a:spcAft>
                <a:spcPts val="0"/>
              </a:spcAft>
              <a:buNone/>
            </a:pPr>
            <a:r>
              <a:rPr sz="1300" b="0" i="0" lang="he-IL">
                <a:solidFill>
                  <a:srgbClr val="595959"/>
                </a:solidFill>
              </a:rPr>
              <a:t>העתק של הייצור. מנסים שם לפני שחושפים.</a:t>
            </a:r>
          </a:p>
        </p:txBody>
      </p:sp>
      <p:sp>
        <p:nvSpPr>
          <p:cNvPr id="7" name="Rounded Rectangle 6"/>
          <p:cNvSpPr/>
          <p:nvPr/>
        </p:nvSpPr>
        <p:spPr>
          <a:xfrm>
            <a:off x="320039" y="1463039"/>
            <a:ext cx="2697480" cy="3108960"/>
          </a:xfrm>
          <a:prstGeom prst="roundRect">
            <a:avLst>
              <a:gd name="adj" fmla="val 12000"/>
            </a:avLst>
          </a:prstGeom>
          <a:solidFill>
            <a:srgbClr val="E1F4E6"/>
          </a:solidFill>
          <a:ln w="31750">
            <a:solidFill>
              <a:srgbClr val="34A853"/>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3000" b="0" i="0" lang="he-IL">
                <a:solidFill>
                  <a:srgbClr val="212121"/>
                </a:solidFill>
              </a:rPr>
              <a:t>🌐</a:t>
            </a:r>
          </a:p>
          <a:p>
            <a:pPr rtl="1" algn="ctr" marL="0" indent="0">
              <a:lnSpc>
                <a:spcPct val="105000"/>
              </a:lnSpc>
              <a:spcBef>
                <a:spcPts val="0"/>
              </a:spcBef>
              <a:spcAft>
                <a:spcPts val="0"/>
              </a:spcAft>
              <a:buNone/>
            </a:pPr>
            <a:r>
              <a:rPr sz="1800" b="1" i="0" lang="he-IL">
                <a:solidFill>
                  <a:srgbClr val="212121"/>
                </a:solidFill>
              </a:rPr>
              <a:t>ייצור (production)</a:t>
            </a:r>
          </a:p>
          <a:p>
            <a:pPr rtl="1" algn="ctr" marL="0" indent="0">
              <a:lnSpc>
                <a:spcPct val="105000"/>
              </a:lnSpc>
              <a:spcBef>
                <a:spcPts val="0"/>
              </a:spcBef>
              <a:spcAft>
                <a:spcPts val="0"/>
              </a:spcAft>
              <a:buNone/>
            </a:pPr>
            <a:r>
              <a:rPr sz="1300" b="0" i="0" lang="he-IL">
                <a:solidFill>
                  <a:srgbClr val="595959"/>
                </a:solidFill>
              </a:rPr>
              <a:t>מה שהמשתמשים רואים. צריך יציבות.</a:t>
            </a:r>
          </a:p>
        </p:txBody>
      </p:sp>
      <p:sp>
        <p:nvSpPr>
          <p:cNvPr id="8" name="TextBox 7"/>
          <p:cNvSpPr txBox="1"/>
          <p:nvPr/>
        </p:nvSpPr>
        <p:spPr>
          <a:xfrm>
            <a:off x="365760" y="4663440"/>
            <a:ext cx="8412480" cy="411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595959"/>
                </a:solidFill>
              </a:rPr>
              <a:t>בפרויקט שלכם: לפחות להפריד בין "על המחשב שלי" ל"באוויר".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א׳ :</a:t>
            </a:r>
            <a:r>
              <a:rPr sz="3000" b="1" i="0" lang="he-IL">
                <a:solidFill>
                  <a:srgbClr val="212121"/>
                </a:solidFill>
              </a:rPr>
              <a:t>מה משתנה בייצור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371600"/>
            <a:ext cx="4114800" cy="1051560"/>
          </a:xfrm>
          <a:prstGeom prst="roundRect">
            <a:avLst>
              <a:gd name="adj" fmla="val 8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863840" y="1463040"/>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7" name="TextBox 6"/>
          <p:cNvSpPr txBox="1"/>
          <p:nvPr/>
        </p:nvSpPr>
        <p:spPr>
          <a:xfrm>
            <a:off x="4754879" y="14630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הגדרות וסודות</a:t>
            </a:r>
          </a:p>
        </p:txBody>
      </p:sp>
      <p:sp>
        <p:nvSpPr>
          <p:cNvPr id="8" name="TextBox 7"/>
          <p:cNvSpPr txBox="1"/>
          <p:nvPr/>
        </p:nvSpPr>
        <p:spPr>
          <a:xfrm>
            <a:off x="4754879" y="19202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משתני סביבה, לא קובץ בקוד</a:t>
            </a:r>
          </a:p>
        </p:txBody>
      </p:sp>
      <p:sp>
        <p:nvSpPr>
          <p:cNvPr id="9" name="Rounded Rectangle 8"/>
          <p:cNvSpPr/>
          <p:nvPr/>
        </p:nvSpPr>
        <p:spPr>
          <a:xfrm>
            <a:off x="365760" y="1371600"/>
            <a:ext cx="4114800" cy="1051560"/>
          </a:xfrm>
          <a:prstGeom prst="roundRect">
            <a:avLst>
              <a:gd name="adj" fmla="val 8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0" name="TextBox 9"/>
          <p:cNvSpPr txBox="1"/>
          <p:nvPr/>
        </p:nvSpPr>
        <p:spPr>
          <a:xfrm>
            <a:off x="3566160" y="1463040"/>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1" name="TextBox 10"/>
          <p:cNvSpPr txBox="1"/>
          <p:nvPr/>
        </p:nvSpPr>
        <p:spPr>
          <a:xfrm>
            <a:off x="457200" y="14630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HTTPS</a:t>
            </a:r>
          </a:p>
        </p:txBody>
      </p:sp>
      <p:sp>
        <p:nvSpPr>
          <p:cNvPr id="12" name="TextBox 11"/>
          <p:cNvSpPr txBox="1"/>
          <p:nvPr/>
        </p:nvSpPr>
        <p:spPr>
          <a:xfrm>
            <a:off x="457200" y="19202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הצפנה: נעילה בדפדפן</a:t>
            </a:r>
          </a:p>
        </p:txBody>
      </p:sp>
      <p:sp>
        <p:nvSpPr>
          <p:cNvPr id="13" name="Rounded Rectangle 12"/>
          <p:cNvSpPr/>
          <p:nvPr/>
        </p:nvSpPr>
        <p:spPr>
          <a:xfrm>
            <a:off x="4663440" y="2560320"/>
            <a:ext cx="4114800" cy="1051560"/>
          </a:xfrm>
          <a:prstGeom prst="roundRect">
            <a:avLst>
              <a:gd name="adj" fmla="val 8000"/>
            </a:avLst>
          </a:prstGeom>
          <a:solidFill>
            <a:srgbClr val="FDE3E0"/>
          </a:solidFill>
          <a:ln w="2540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7863840" y="2651760"/>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5" name="TextBox 14"/>
          <p:cNvSpPr txBox="1"/>
          <p:nvPr/>
        </p:nvSpPr>
        <p:spPr>
          <a:xfrm>
            <a:off x="4754879" y="26517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נתונים קבועים</a:t>
            </a:r>
          </a:p>
        </p:txBody>
      </p:sp>
      <p:sp>
        <p:nvSpPr>
          <p:cNvPr id="16" name="TextBox 15"/>
          <p:cNvSpPr txBox="1"/>
          <p:nvPr/>
        </p:nvSpPr>
        <p:spPr>
          <a:xfrm>
            <a:off x="4754879" y="31089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דיסק זמני נמחק בפריסה חדשה</a:t>
            </a:r>
          </a:p>
        </p:txBody>
      </p:sp>
      <p:sp>
        <p:nvSpPr>
          <p:cNvPr id="17" name="Rounded Rectangle 16"/>
          <p:cNvSpPr/>
          <p:nvPr/>
        </p:nvSpPr>
        <p:spPr>
          <a:xfrm>
            <a:off x="365760" y="2560320"/>
            <a:ext cx="4114800" cy="1051560"/>
          </a:xfrm>
          <a:prstGeom prst="roundRect">
            <a:avLst>
              <a:gd name="adj" fmla="val 8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8" name="TextBox 17"/>
          <p:cNvSpPr txBox="1"/>
          <p:nvPr/>
        </p:nvSpPr>
        <p:spPr>
          <a:xfrm>
            <a:off x="3566160" y="2651760"/>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9" name="TextBox 18"/>
          <p:cNvSpPr txBox="1"/>
          <p:nvPr/>
        </p:nvSpPr>
        <p:spPr>
          <a:xfrm>
            <a:off x="457200" y="26517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לוגים</a:t>
            </a:r>
          </a:p>
        </p:txBody>
      </p:sp>
      <p:sp>
        <p:nvSpPr>
          <p:cNvPr id="20" name="TextBox 19"/>
          <p:cNvSpPr txBox="1"/>
          <p:nvPr/>
        </p:nvSpPr>
        <p:spPr>
          <a:xfrm>
            <a:off x="457200" y="31089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מה קרה, מתי ולמי</a:t>
            </a:r>
          </a:p>
        </p:txBody>
      </p:sp>
      <p:sp>
        <p:nvSpPr>
          <p:cNvPr id="21" name="Rounded Rectangle 20"/>
          <p:cNvSpPr/>
          <p:nvPr/>
        </p:nvSpPr>
        <p:spPr>
          <a:xfrm>
            <a:off x="4663440" y="3749039"/>
            <a:ext cx="4114800" cy="1051560"/>
          </a:xfrm>
          <a:prstGeom prst="roundRect">
            <a:avLst>
              <a:gd name="adj" fmla="val 8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22" name="TextBox 21"/>
          <p:cNvSpPr txBox="1"/>
          <p:nvPr/>
        </p:nvSpPr>
        <p:spPr>
          <a:xfrm>
            <a:off x="7863840" y="3840479"/>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23" name="TextBox 22"/>
          <p:cNvSpPr txBox="1"/>
          <p:nvPr/>
        </p:nvSpPr>
        <p:spPr>
          <a:xfrm>
            <a:off x="4754879" y="38404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נקודת בריאות</a:t>
            </a:r>
          </a:p>
        </p:txBody>
      </p:sp>
      <p:sp>
        <p:nvSpPr>
          <p:cNvPr id="24" name="TextBox 23"/>
          <p:cNvSpPr txBox="1"/>
          <p:nvPr/>
        </p:nvSpPr>
        <p:spPr>
          <a:xfrm>
            <a:off x="4754879" y="42976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/health אומרת שהשירות חי</a:t>
            </a:r>
          </a:p>
        </p:txBody>
      </p:sp>
      <p:sp>
        <p:nvSpPr>
          <p:cNvPr id="25" name="Rounded Rectangle 24"/>
          <p:cNvSpPr/>
          <p:nvPr/>
        </p:nvSpPr>
        <p:spPr>
          <a:xfrm>
            <a:off x="365760" y="3749039"/>
            <a:ext cx="4114800" cy="1051560"/>
          </a:xfrm>
          <a:prstGeom prst="roundRect">
            <a:avLst>
              <a:gd name="adj" fmla="val 8000"/>
            </a:avLst>
          </a:prstGeom>
          <a:solidFill>
            <a:srgbClr val="F2F2F2"/>
          </a:solidFill>
          <a:ln w="25400">
            <a:solidFill>
              <a:srgbClr val="78909C"/>
            </a:solidFill>
          </a:ln>
        </p:spPr>
        <p:txBody>
          <a:bodyPr rtlCol="0" anchor="ctr" wrap="square" lIns="73152" rIns="73152" tIns="73152" bIns="73152">
            <a:noAutofit/>
          </a:bodyPr>
          <a:lstStyle/>
          <a:p>
            <a:pPr algn="ctr"/>
          </a:p>
        </p:txBody>
      </p:sp>
      <p:sp>
        <p:nvSpPr>
          <p:cNvPr id="26" name="TextBox 25"/>
          <p:cNvSpPr txBox="1"/>
          <p:nvPr/>
        </p:nvSpPr>
        <p:spPr>
          <a:xfrm>
            <a:off x="3566160" y="3840479"/>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27" name="TextBox 26"/>
          <p:cNvSpPr txBox="1"/>
          <p:nvPr/>
        </p:nvSpPr>
        <p:spPr>
          <a:xfrm>
            <a:off x="457200" y="38404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אבטחה</a:t>
            </a:r>
          </a:p>
        </p:txBody>
      </p:sp>
      <p:sp>
        <p:nvSpPr>
          <p:cNvPr id="28" name="TextBox 27"/>
          <p:cNvSpPr txBox="1"/>
          <p:nvPr/>
        </p:nvSpPr>
        <p:spPr>
          <a:xfrm>
            <a:off x="457200" y="42976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כרטיס האבטחה ממפגש 10</a:t>
            </a:r>
          </a:p>
        </p:txBody>
      </p:sp>
      <p:sp>
        <p:nvSpPr>
          <p:cNvPr id="29" name="Tag חזרה"/>
          <p:cNvSpPr/>
          <p:nvPr/>
        </p:nvSpPr>
        <p:spPr>
          <a:xfrm>
            <a:off x="109728" y="91440"/>
            <a:ext cx="1728000" cy="384048"/>
          </a:xfrm>
          <a:prstGeom prst="roundRect">
            <a:avLst>
              <a:gd name="adj" fmla="val 40000"/>
            </a:avLst>
          </a:prstGeom>
          <a:solidFill>
            <a:srgbClr val="E6F4EA"/>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חזרה: מפגש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א׳ :</a:t>
            </a:r>
            <a:r>
              <a:rPr sz="3000" b="1" i="0" lang="he-IL">
                <a:solidFill>
                  <a:srgbClr val="212121"/>
                </a:solidFill>
              </a:rPr>
              <a:t>איפה אפשר להריץ</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25880"/>
          <a:ext cx="8412480" cy="3566160"/>
        </p:xfrm>
        <a:graphic>
          <a:graphicData uri="http://schemas.openxmlformats.org/drawingml/2006/table">
            <a:tbl>
              <a:tblPr firstRow="0" bandRow="0">
                <a:tableStyleId>{2D5ABB26-0587-4C30-8999-92F81FD0307C}</a:tableStyleId>
              </a:tblPr>
              <a:tblGrid>
                <a:gridCol w="2103120"/>
                <a:gridCol w="2011680"/>
                <a:gridCol w="2560320"/>
                <a:gridCol w="1737360"/>
              </a:tblGrid>
              <a:tr h="713232">
                <a:tc>
                  <a:txBody>
                    <a:bodyPr wrap="square"/>
                    <a:lstStyle/>
                    <a:p>
                      <a:pPr rtl="1" algn="ctr" marL="0" indent="0">
                        <a:lnSpc>
                          <a:spcPct val="100000"/>
                        </a:lnSpc>
                        <a:spcBef>
                          <a:spcPts val="0"/>
                        </a:spcBef>
                        <a:spcAft>
                          <a:spcPts val="0"/>
                        </a:spcAft>
                        <a:buNone/>
                      </a:pPr>
                      <a:r>
                        <a:rPr sz="1200" b="1" i="0" lang="he-IL">
                          <a:solidFill>
                            <a:srgbClr val="212121"/>
                          </a:solidFill>
                        </a:rPr>
                        <a:t>כדאי לדעת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200" b="1" i="0" lang="he-IL">
                          <a:solidFill>
                            <a:srgbClr val="212121"/>
                          </a:solidFill>
                        </a:rPr>
                        <a:t>מתאים 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200" b="1" i="0" lang="he-IL">
                          <a:solidFill>
                            <a:srgbClr val="212121"/>
                          </a:solidFill>
                        </a:rPr>
                        <a:t>דוגמאות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200" b="1" i="0" lang="he-IL">
                          <a:solidFill>
                            <a:srgbClr val="212121"/>
                          </a:solidFill>
                        </a:rPr>
                        <a:t>סוג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713232">
                <a:tc>
                  <a:txBody>
                    <a:bodyPr wrap="square"/>
                    <a:lstStyle/>
                    <a:p>
                      <a:pPr rtl="1" algn="r" marL="0" indent="0">
                        <a:lnSpc>
                          <a:spcPct val="100000"/>
                        </a:lnSpc>
                        <a:spcBef>
                          <a:spcPts val="0"/>
                        </a:spcBef>
                        <a:spcAft>
                          <a:spcPts val="0"/>
                        </a:spcAft>
                        <a:buNone/>
                      </a:pPr>
                      <a:r>
                        <a:rPr sz="1200" b="0" i="0" lang="he-IL">
                          <a:solidFill>
                            <a:srgbClr val="212121"/>
                          </a:solidFill>
                        </a:rPr>
                        <a:t>חינמי, בלי שרת. בחשבון GitHub Free: מאגר ציבורי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עמוד נחיתה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GitHub Pages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אתר סטטי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713232">
                <a:tc>
                  <a:txBody>
                    <a:bodyPr wrap="square"/>
                    <a:lstStyle/>
                    <a:p>
                      <a:pPr rtl="1" algn="r" marL="0" indent="0">
                        <a:lnSpc>
                          <a:spcPct val="100000"/>
                        </a:lnSpc>
                        <a:spcBef>
                          <a:spcPts val="0"/>
                        </a:spcBef>
                        <a:spcAft>
                          <a:spcPts val="0"/>
                        </a:spcAft>
                        <a:buNone/>
                      </a:pPr>
                      <a:r>
                        <a:rPr sz="1200" b="0" i="0" lang="he-IL">
                          <a:solidFill>
                            <a:srgbClr val="212121"/>
                          </a:solidFill>
                        </a:rPr>
                        <a:t>Render נרדם אחרי 15 דקות. Streamlit: אחרי 12 שעות. הדיסק זמני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הדגמה חיה של API או ממשק</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Streamlit Community Cloud, Render, Cloud Run</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פלטפורמת אפליקציה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713232">
                <a:tc>
                  <a:txBody>
                    <a:bodyPr wrap="square"/>
                    <a:lstStyle/>
                    <a:p>
                      <a:pPr rtl="1" algn="r" marL="0" indent="0">
                        <a:lnSpc>
                          <a:spcPct val="100000"/>
                        </a:lnSpc>
                        <a:spcBef>
                          <a:spcPts val="0"/>
                        </a:spcBef>
                        <a:spcAft>
                          <a:spcPts val="0"/>
                        </a:spcAft>
                        <a:buNone/>
                      </a:pPr>
                      <a:r>
                        <a:rPr sz="1200" b="0" i="0" lang="he-IL">
                          <a:solidFill>
                            <a:srgbClr val="212121"/>
                          </a:solidFill>
                        </a:rPr>
                        <a:t>אתם מתחזקים. בדרך כלל דורש כרטיס אשראי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שליטה מלאה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VM אצל ספק ענן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מכונה בענן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713232">
                <a:tc>
                  <a:txBody>
                    <a:bodyPr wrap="square"/>
                    <a:lstStyle/>
                    <a:p>
                      <a:pPr rtl="1" algn="r" marL="0" indent="0">
                        <a:lnSpc>
                          <a:spcPct val="100000"/>
                        </a:lnSpc>
                        <a:spcBef>
                          <a:spcPts val="0"/>
                        </a:spcBef>
                        <a:spcAft>
                          <a:spcPts val="0"/>
                        </a:spcAft>
                        <a:buNone/>
                      </a:pPr>
                      <a:r>
                        <a:rPr sz="1200" b="0" i="0" lang="he-IL">
                          <a:solidFill>
                            <a:srgbClr val="212121"/>
                          </a:solidFill>
                        </a:rPr>
                        <a:t>מורכב. לא לפרויקט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קנה מידה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שירות מנוהל בענן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Kubernetes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extBox 5"/>
          <p:cNvSpPr txBox="1"/>
          <p:nvPr/>
        </p:nvSpPr>
        <p:spPr>
          <a:xfrm>
            <a:off x="365760" y="484632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תנאי שכבות חינמיות משתנים. נבדק מול תיעוד רשמי ב־22.10.2026 (Render, Streamlit, GitHub): לאמת שוב לפני השימוש.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א׳ :</a:t>
            </a:r>
            <a:r>
              <a:rPr sz="3000" b="1" i="0" lang="he-IL">
                <a:solidFill>
                  <a:srgbClr val="212121"/>
                </a:solidFill>
              </a:rPr>
              <a:t>זרימת פריסה עם קונטיינר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858000" y="1554480"/>
            <a:ext cx="1920240" cy="12801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קוד</a:t>
            </a:r>
          </a:p>
          <a:p>
            <a:pPr rtl="1" algn="ctr" marL="0" indent="0">
              <a:lnSpc>
                <a:spcPct val="105000"/>
              </a:lnSpc>
              <a:spcBef>
                <a:spcPts val="0"/>
              </a:spcBef>
              <a:spcAft>
                <a:spcPts val="0"/>
              </a:spcAft>
              <a:buNone/>
            </a:pPr>
            <a:r>
              <a:rPr sz="1400" b="1" i="0" lang="he-IL">
                <a:solidFill>
                  <a:srgbClr val="212121"/>
                </a:solidFill>
              </a:rPr>
              <a:t>(GitHub)</a:t>
            </a:r>
          </a:p>
        </p:txBody>
      </p:sp>
      <p:cxnSp>
        <p:nvCxnSpPr>
          <p:cNvPr id="6" name="Connector 5"/>
          <p:cNvCxnSpPr/>
          <p:nvPr/>
        </p:nvCxnSpPr>
        <p:spPr>
          <a:xfrm flipH="1">
            <a:off x="6601968" y="2194560"/>
            <a:ext cx="23774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663440" y="1554480"/>
            <a:ext cx="1920240" cy="12801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בנייה</a:t>
            </a:r>
          </a:p>
          <a:p>
            <a:pPr rtl="1" algn="ctr" marL="0" indent="0">
              <a:lnSpc>
                <a:spcPct val="105000"/>
              </a:lnSpc>
              <a:spcBef>
                <a:spcPts val="0"/>
              </a:spcBef>
              <a:spcAft>
                <a:spcPts val="0"/>
              </a:spcAft>
              <a:buNone/>
            </a:pPr>
            <a:r>
              <a:rPr sz="1400" b="1" i="0" lang="he-IL">
                <a:solidFill>
                  <a:srgbClr val="212121"/>
                </a:solidFill>
              </a:rPr>
              <a:t>Dockerfile ← image</a:t>
            </a:r>
          </a:p>
        </p:txBody>
      </p:sp>
      <p:cxnSp>
        <p:nvCxnSpPr>
          <p:cNvPr id="8" name="Connector 7"/>
          <p:cNvCxnSpPr/>
          <p:nvPr/>
        </p:nvCxnSpPr>
        <p:spPr>
          <a:xfrm flipH="1">
            <a:off x="4407407" y="2194560"/>
            <a:ext cx="23774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8879" y="1554480"/>
            <a:ext cx="1920240" cy="1280160"/>
          </a:xfrm>
          <a:prstGeom prst="roundRect">
            <a:avLst>
              <a:gd name="adj" fmla="val 12000"/>
            </a:avLst>
          </a:prstGeom>
          <a:solidFill>
            <a:srgbClr val="DDF2F5"/>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מאגר תמונות</a:t>
            </a:r>
          </a:p>
          <a:p>
            <a:pPr rtl="1" algn="ctr" marL="0" indent="0">
              <a:lnSpc>
                <a:spcPct val="105000"/>
              </a:lnSpc>
              <a:spcBef>
                <a:spcPts val="0"/>
              </a:spcBef>
              <a:spcAft>
                <a:spcPts val="0"/>
              </a:spcAft>
              <a:buNone/>
            </a:pPr>
            <a:r>
              <a:rPr sz="1400" b="1" i="0" lang="he-IL">
                <a:solidFill>
                  <a:srgbClr val="212121"/>
                </a:solidFill>
              </a:rPr>
              <a:t>(registry)</a:t>
            </a:r>
          </a:p>
        </p:txBody>
      </p:sp>
      <p:cxnSp>
        <p:nvCxnSpPr>
          <p:cNvPr id="10" name="Connector 9"/>
          <p:cNvCxnSpPr/>
          <p:nvPr/>
        </p:nvCxnSpPr>
        <p:spPr>
          <a:xfrm flipH="1">
            <a:off x="2212848" y="2194560"/>
            <a:ext cx="237743"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74319" y="1554480"/>
            <a:ext cx="1920240" cy="128016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פלטפורמה</a:t>
            </a:r>
          </a:p>
          <a:p>
            <a:pPr rtl="1" algn="ctr" marL="0" indent="0">
              <a:lnSpc>
                <a:spcPct val="105000"/>
              </a:lnSpc>
              <a:spcBef>
                <a:spcPts val="0"/>
              </a:spcBef>
              <a:spcAft>
                <a:spcPts val="0"/>
              </a:spcAft>
              <a:buNone/>
            </a:pPr>
            <a:r>
              <a:rPr sz="1400" b="1" i="0" lang="he-IL">
                <a:solidFill>
                  <a:srgbClr val="212121"/>
                </a:solidFill>
              </a:rPr>
              <a:t>מריצה קונטיינר</a:t>
            </a:r>
          </a:p>
        </p:txBody>
      </p:sp>
      <p:sp>
        <p:nvSpPr>
          <p:cNvPr id="12" name="Rounded Rectangle 11"/>
          <p:cNvSpPr/>
          <p:nvPr/>
        </p:nvSpPr>
        <p:spPr>
          <a:xfrm>
            <a:off x="365760" y="3200400"/>
            <a:ext cx="8412480" cy="73152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משתני סביבה נכנסים בזמן ההרצה: מפתחות, כתובת מסד, מצב (staging או production).</a:t>
            </a:r>
          </a:p>
        </p:txBody>
      </p:sp>
      <p:sp>
        <p:nvSpPr>
          <p:cNvPr id="13" name="TextBox 12"/>
          <p:cNvSpPr txBox="1"/>
          <p:nvPr/>
        </p:nvSpPr>
        <p:spPr>
          <a:xfrm>
            <a:off x="365760" y="4206240"/>
            <a:ext cx="8412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212121"/>
                </a:solidFill>
              </a:rPr>
              <a:t>אותה תמונה בכל סביבה. מה שמשתנה הוא ההגדרות, לא הקוד.</a:t>
            </a:r>
          </a:p>
        </p:txBody>
      </p:sp>
      <p:sp>
        <p:nvSpPr>
          <p:cNvPr id="14" name="Tag חזרה"/>
          <p:cNvSpPr/>
          <p:nvPr/>
        </p:nvSpPr>
        <p:spPr>
          <a:xfrm>
            <a:off x="109728" y="91440"/>
            <a:ext cx="1620000" cy="384048"/>
          </a:xfrm>
          <a:prstGeom prst="roundRect">
            <a:avLst>
              <a:gd name="adj" fmla="val 40000"/>
            </a:avLst>
          </a:prstGeom>
          <a:solidFill>
            <a:srgbClr val="E6F4EA"/>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חזרה: מפגש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א׳ :</a:t>
            </a:r>
            <a:r>
              <a:rPr sz="3000" b="1" i="0" lang="he-IL">
                <a:solidFill>
                  <a:srgbClr val="212121"/>
                </a:solidFill>
              </a:rPr>
              <a:t>הגדרות וסודות בייצור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77" cy="2926080"/>
        </p:xfrm>
        <a:graphic>
          <a:graphicData uri="http://schemas.openxmlformats.org/drawingml/2006/table">
            <a:tbl>
              <a:tblPr firstRow="0" bandRow="0">
                <a:tableStyleId>{2D5ABB26-0587-4C30-8999-92F81FD0307C}</a:tableStyleId>
              </a:tblPr>
              <a:tblGrid>
                <a:gridCol w="3474719"/>
                <a:gridCol w="3291839"/>
                <a:gridCol w="1645919"/>
              </a:tblGrid>
              <a:tr h="731520">
                <a:tc>
                  <a:txBody>
                    <a:bodyPr wrap="square"/>
                    <a:lstStyle/>
                    <a:p>
                      <a:pPr rtl="1" algn="ctr" marL="0" indent="0">
                        <a:lnSpc>
                          <a:spcPct val="100000"/>
                        </a:lnSpc>
                        <a:spcBef>
                          <a:spcPts val="0"/>
                        </a:spcBef>
                        <a:spcAft>
                          <a:spcPts val="0"/>
                        </a:spcAft>
                        <a:buNone/>
                      </a:pPr>
                      <a:r>
                        <a:rPr sz="1500" b="1" i="0" lang="he-IL">
                          <a:solidFill>
                            <a:srgbClr val="212121"/>
                          </a:solidFill>
                        </a:rPr>
                        <a:t>בפלטפורמה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מקומי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731520">
                <a:tc>
                  <a:txBody>
                    <a:bodyPr wrap="square"/>
                    <a:lstStyle/>
                    <a:p>
                      <a:pPr rtl="1" algn="r" marL="0" indent="0">
                        <a:lnSpc>
                          <a:spcPct val="100000"/>
                        </a:lnSpc>
                        <a:spcBef>
                          <a:spcPts val="0"/>
                        </a:spcBef>
                        <a:spcAft>
                          <a:spcPts val="0"/>
                        </a:spcAft>
                        <a:buNone/>
                      </a:pPr>
                      <a:r>
                        <a:rPr sz="1500" b="0" i="0" lang="he-IL">
                          <a:solidFill>
                            <a:srgbClr val="212121"/>
                          </a:solidFill>
                        </a:rPr>
                        <a:t>מסך Secrets / Environment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קובץ .env (לא ב־Git)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איפה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731520">
                <a:tc>
                  <a:txBody>
                    <a:bodyPr wrap="square"/>
                    <a:lstStyle/>
                    <a:p>
                      <a:pPr rtl="1" algn="r" marL="0" indent="0">
                        <a:lnSpc>
                          <a:spcPct val="100000"/>
                        </a:lnSpc>
                        <a:spcBef>
                          <a:spcPts val="0"/>
                        </a:spcBef>
                        <a:spcAft>
                          <a:spcPts val="0"/>
                        </a:spcAft>
                        <a:buNone/>
                      </a:pPr>
                      <a:r>
                        <a:rPr sz="1500" b="0" i="0" lang="he-IL">
                          <a:solidFill>
                            <a:srgbClr val="212121"/>
                          </a:solidFill>
                        </a:rPr>
                        <a:t>אותו קוד, אותה שורה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os.environ["LLM_KEY"]</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איך הקוד קורא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731520">
                <a:tc>
                  <a:txBody>
                    <a:bodyPr wrap="square"/>
                    <a:lstStyle/>
                    <a:p>
                      <a:pPr rtl="1" algn="r" marL="0" indent="0">
                        <a:lnSpc>
                          <a:spcPct val="100000"/>
                        </a:lnSpc>
                        <a:spcBef>
                          <a:spcPts val="0"/>
                        </a:spcBef>
                        <a:spcAft>
                          <a:spcPts val="0"/>
                        </a:spcAft>
                        <a:buNone/>
                      </a:pPr>
                      <a:r>
                        <a:rPr sz="1500" b="0" i="0" lang="he-IL">
                          <a:solidFill>
                            <a:srgbClr val="212121"/>
                          </a:solidFill>
                        </a:rPr>
                        <a:t>מפתח נפרד לייצור, עם מכסה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מפתח אישי לפיתוח</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מה שונה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Rounded Rectangle 5"/>
          <p:cNvSpPr/>
          <p:nvPr/>
        </p:nvSpPr>
        <p:spPr>
          <a:xfrm>
            <a:off x="365760" y="4572000"/>
            <a:ext cx="8412480" cy="50292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מפתח נפרד לייצור, עם תקרת הוצאה: אם הוא דולף, הנזק מוגבל.</a:t>
            </a:r>
          </a:p>
        </p:txBody>
      </p:sp>
      <p:sp>
        <p:nvSpPr>
          <p:cNvPr id="7" name="Tag חזרה"/>
          <p:cNvSpPr/>
          <p:nvPr/>
        </p:nvSpPr>
        <p:spPr>
          <a:xfrm>
            <a:off x="109728" y="91440"/>
            <a:ext cx="1728000" cy="384048"/>
          </a:xfrm>
          <a:prstGeom prst="roundRect">
            <a:avLst>
              <a:gd name="adj" fmla="val 40000"/>
            </a:avLst>
          </a:prstGeom>
          <a:solidFill>
            <a:srgbClr val="E6F4EA"/>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חזרה: מפגש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א׳ :</a:t>
            </a:r>
            <a:r>
              <a:rPr sz="3000" b="1" i="0" lang="he-IL">
                <a:solidFill>
                  <a:srgbClr val="212121"/>
                </a:solidFill>
              </a:rPr>
              <a:t>נתונים שנשארים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463040"/>
            <a:ext cx="2697480" cy="237744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EA4335"/>
                </a:solidFill>
              </a:rPr>
              <a:t>דיסק זמני</a:t>
            </a:r>
          </a:p>
          <a:p>
            <a:pPr rtl="1" algn="ctr" marL="0" indent="0">
              <a:lnSpc>
                <a:spcPct val="105000"/>
              </a:lnSpc>
              <a:spcBef>
                <a:spcPts val="0"/>
              </a:spcBef>
              <a:spcAft>
                <a:spcPts val="0"/>
              </a:spcAft>
              <a:buNone/>
            </a:pPr>
            <a:r>
              <a:rPr sz="1400" b="0" i="0" lang="he-IL">
                <a:solidFill>
                  <a:srgbClr val="212121"/>
                </a:solidFill>
              </a:rPr>
              <a:t>SQLite בקובץ: נמחק בפריסה חדשה או בהרדמה</a:t>
            </a:r>
          </a:p>
        </p:txBody>
      </p:sp>
      <p:sp>
        <p:nvSpPr>
          <p:cNvPr id="6" name="Rounded Rectangle 5"/>
          <p:cNvSpPr/>
          <p:nvPr/>
        </p:nvSpPr>
        <p:spPr>
          <a:xfrm>
            <a:off x="3246120" y="1463040"/>
            <a:ext cx="2697480" cy="237744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34A853"/>
                </a:solidFill>
              </a:rPr>
              <a:t>מסד מנוהל</a:t>
            </a:r>
          </a:p>
          <a:p>
            <a:pPr rtl="1" algn="ctr" marL="0" indent="0">
              <a:lnSpc>
                <a:spcPct val="105000"/>
              </a:lnSpc>
              <a:spcBef>
                <a:spcPts val="0"/>
              </a:spcBef>
              <a:spcAft>
                <a:spcPts val="0"/>
              </a:spcAft>
              <a:buNone/>
            </a:pPr>
            <a:r>
              <a:rPr sz="1400" b="0" i="0" lang="he-IL">
                <a:solidFill>
                  <a:srgbClr val="212121"/>
                </a:solidFill>
              </a:rPr>
              <a:t>שירות מסד נפרד שנשאר בין פריסות. מסד חינמי עלול לפוג (ב־Render: 30 יום)</a:t>
            </a:r>
          </a:p>
        </p:txBody>
      </p:sp>
      <p:sp>
        <p:nvSpPr>
          <p:cNvPr id="7" name="Rounded Rectangle 6"/>
          <p:cNvSpPr/>
          <p:nvPr/>
        </p:nvSpPr>
        <p:spPr>
          <a:xfrm>
            <a:off x="320039" y="1463040"/>
            <a:ext cx="2697480" cy="237744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FFAB40"/>
                </a:solidFill>
              </a:rPr>
              <a:t>נטען בהפעלה</a:t>
            </a:r>
          </a:p>
          <a:p>
            <a:pPr rtl="1" algn="ctr" marL="0" indent="0">
              <a:lnSpc>
                <a:spcPct val="105000"/>
              </a:lnSpc>
              <a:spcBef>
                <a:spcPts val="0"/>
              </a:spcBef>
              <a:spcAft>
                <a:spcPts val="0"/>
              </a:spcAft>
              <a:buNone/>
            </a:pPr>
            <a:r>
              <a:rPr sz="1400" b="0" i="0" lang="he-IL">
                <a:solidFill>
                  <a:srgbClr val="212121"/>
                </a:solidFill>
              </a:rPr>
              <a:t>נתוני דמו נטענים מקובץ בכל הפעלה: מתאים לדמו</a:t>
            </a:r>
          </a:p>
        </p:txBody>
      </p:sp>
      <p:sp>
        <p:nvSpPr>
          <p:cNvPr id="8" name="TextBox 7"/>
          <p:cNvSpPr txBox="1"/>
          <p:nvPr/>
        </p:nvSpPr>
        <p:spPr>
          <a:xfrm>
            <a:off x="365760" y="4114800"/>
            <a:ext cx="841248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212121"/>
                </a:solidFill>
              </a:rPr>
              <a:t>בפרויקט שלכם: נתוני דמו סינתטיים שנטענים בכל הפעלה מספיקים.</a:t>
            </a:r>
          </a:p>
          <a:p>
            <a:pPr rtl="1" algn="ctr" marL="0" indent="0">
              <a:lnSpc>
                <a:spcPct val="110000"/>
              </a:lnSpc>
              <a:spcBef>
                <a:spcPts val="0"/>
              </a:spcBef>
              <a:spcAft>
                <a:spcPts val="0"/>
              </a:spcAft>
              <a:buNone/>
            </a:pPr>
            <a:r>
              <a:rPr sz="1500" b="0" i="0" lang="he-IL">
                <a:solidFill>
                  <a:srgbClr val="595959"/>
                </a:solidFill>
              </a:rPr>
              <a:t>מידע אמיתי של משתמשים דורש מסד נתונים שנשמר ומדיניות פרטיות.</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א׳ :</a:t>
            </a:r>
            <a:r>
              <a:rPr sz="3000" b="1" i="0" lang="he-IL">
                <a:solidFill>
                  <a:srgbClr val="212121"/>
                </a:solidFill>
              </a:rPr>
              <a:t>עמוד נחיתה לפרויקט</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pic>
        <p:nvPicPr>
          <p:cNvPr id="5" name="Picture 4" descr="landing_desktop.png"/>
          <p:cNvPicPr>
            <a:picLocks noChangeAspect="1"/>
          </p:cNvPicPr>
          <p:nvPr/>
        </p:nvPicPr>
        <p:blipFill>
          <a:blip r:embed="rId3"/>
          <a:stretch>
            <a:fillRect/>
          </a:stretch>
        </p:blipFill>
        <p:spPr>
          <a:xfrm>
            <a:off x="365760" y="1280160"/>
            <a:ext cx="3039608" cy="3794760"/>
          </a:xfrm>
          <a:prstGeom prst="rect">
            <a:avLst/>
          </a:prstGeom>
          <a:ln w="12700">
            <a:solidFill>
              <a:srgbClr val="78909C"/>
            </a:solidFill>
          </a:ln>
        </p:spPr>
      </p:pic>
      <p:sp>
        <p:nvSpPr>
          <p:cNvPr id="6" name="Rounded Rectangle 5"/>
          <p:cNvSpPr/>
          <p:nvPr/>
        </p:nvSpPr>
        <p:spPr>
          <a:xfrm>
            <a:off x="4297680" y="1325880"/>
            <a:ext cx="4480560" cy="640080"/>
          </a:xfrm>
          <a:prstGeom prst="roundRect">
            <a:avLst>
              <a:gd name="adj" fmla="val 12000"/>
            </a:avLst>
          </a:prstGeom>
          <a:solidFill>
            <a:srgbClr val="FFFFFF"/>
          </a:solidFill>
          <a:ln w="2540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400" b="1" i="0" lang="he-IL">
                <a:solidFill>
                  <a:srgbClr val="4285F4"/>
                </a:solidFill>
              </a:rPr>
              <a:t>כותרת ומשפט אחד</a:t>
            </a:r>
          </a:p>
          <a:p>
            <a:pPr rtl="1" algn="r" marL="0" indent="0">
              <a:lnSpc>
                <a:spcPct val="105000"/>
              </a:lnSpc>
              <a:spcBef>
                <a:spcPts val="0"/>
              </a:spcBef>
              <a:spcAft>
                <a:spcPts val="0"/>
              </a:spcAft>
              <a:buNone/>
            </a:pPr>
            <a:r>
              <a:rPr sz="1200" b="0" i="0" lang="he-IL">
                <a:solidFill>
                  <a:srgbClr val="595959"/>
                </a:solidFill>
              </a:rPr>
              <a:t>הבעיה והמשתמש</a:t>
            </a:r>
          </a:p>
        </p:txBody>
      </p:sp>
      <p:sp>
        <p:nvSpPr>
          <p:cNvPr id="7" name="Rounded Rectangle 6"/>
          <p:cNvSpPr/>
          <p:nvPr/>
        </p:nvSpPr>
        <p:spPr>
          <a:xfrm>
            <a:off x="4297680" y="2075688"/>
            <a:ext cx="4480560" cy="640080"/>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400" b="1" i="0" lang="he-IL">
                <a:solidFill>
                  <a:srgbClr val="FFAB40"/>
                </a:solidFill>
              </a:rPr>
              <a:t>סרטון הדגמה</a:t>
            </a:r>
          </a:p>
          <a:p>
            <a:pPr rtl="1" algn="r" marL="0" indent="0">
              <a:lnSpc>
                <a:spcPct val="105000"/>
              </a:lnSpc>
              <a:spcBef>
                <a:spcPts val="0"/>
              </a:spcBef>
              <a:spcAft>
                <a:spcPts val="0"/>
              </a:spcAft>
              <a:buNone/>
            </a:pPr>
            <a:r>
              <a:rPr sz="1200" b="0" i="0" lang="he-IL">
                <a:solidFill>
                  <a:srgbClr val="595959"/>
                </a:solidFill>
              </a:rPr>
              <a:t>1 עד 3 דקות</a:t>
            </a:r>
          </a:p>
        </p:txBody>
      </p:sp>
      <p:sp>
        <p:nvSpPr>
          <p:cNvPr id="8" name="Rounded Rectangle 7"/>
          <p:cNvSpPr/>
          <p:nvPr/>
        </p:nvSpPr>
        <p:spPr>
          <a:xfrm>
            <a:off x="4297680" y="2825496"/>
            <a:ext cx="4480560" cy="640080"/>
          </a:xfrm>
          <a:prstGeom prst="roundRect">
            <a:avLst>
              <a:gd name="adj" fmla="val 12000"/>
            </a:avLst>
          </a:prstGeom>
          <a:solidFill>
            <a:srgbClr val="FFFFFF"/>
          </a:solidFill>
          <a:ln w="25400">
            <a:solidFill>
              <a:srgbClr val="0097A7"/>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400" b="1" i="0" lang="he-IL">
                <a:solidFill>
                  <a:srgbClr val="0097A7"/>
                </a:solidFill>
              </a:rPr>
              <a:t>איך זה עובד + תהליך העבודה</a:t>
            </a:r>
          </a:p>
          <a:p>
            <a:pPr rtl="1" algn="r" marL="0" indent="0">
              <a:lnSpc>
                <a:spcPct val="105000"/>
              </a:lnSpc>
              <a:spcBef>
                <a:spcPts val="0"/>
              </a:spcBef>
              <a:spcAft>
                <a:spcPts val="0"/>
              </a:spcAft>
              <a:buNone/>
            </a:pPr>
            <a:r>
              <a:rPr sz="1200" b="0" i="0" lang="he-IL">
                <a:solidFill>
                  <a:srgbClr val="595959"/>
                </a:solidFill>
              </a:rPr>
              <a:t>קלט, סוכן, בדיקה, פלט</a:t>
            </a:r>
          </a:p>
        </p:txBody>
      </p:sp>
      <p:sp>
        <p:nvSpPr>
          <p:cNvPr id="9" name="Rounded Rectangle 8"/>
          <p:cNvSpPr/>
          <p:nvPr/>
        </p:nvSpPr>
        <p:spPr>
          <a:xfrm>
            <a:off x="4297680" y="3575304"/>
            <a:ext cx="4480560" cy="640080"/>
          </a:xfrm>
          <a:prstGeom prst="roundRect">
            <a:avLst>
              <a:gd name="adj" fmla="val 12000"/>
            </a:avLst>
          </a:prstGeom>
          <a:solidFill>
            <a:srgbClr val="FFFFFF"/>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400" b="1" i="0" lang="he-IL">
                <a:solidFill>
                  <a:srgbClr val="34A853"/>
                </a:solidFill>
              </a:rPr>
              <a:t>דמו חי</a:t>
            </a:r>
          </a:p>
          <a:p>
            <a:pPr rtl="1" algn="r" marL="0" indent="0">
              <a:lnSpc>
                <a:spcPct val="105000"/>
              </a:lnSpc>
              <a:spcBef>
                <a:spcPts val="0"/>
              </a:spcBef>
              <a:spcAft>
                <a:spcPts val="0"/>
              </a:spcAft>
              <a:buNone/>
            </a:pPr>
            <a:r>
              <a:rPr sz="1200" b="0" i="0" lang="he-IL">
                <a:solidFill>
                  <a:srgbClr val="595959"/>
                </a:solidFill>
              </a:rPr>
              <a:t>אם רלוונטי</a:t>
            </a:r>
          </a:p>
        </p:txBody>
      </p:sp>
      <p:sp>
        <p:nvSpPr>
          <p:cNvPr id="10" name="Rounded Rectangle 9"/>
          <p:cNvSpPr/>
          <p:nvPr/>
        </p:nvSpPr>
        <p:spPr>
          <a:xfrm>
            <a:off x="4297680" y="4325112"/>
            <a:ext cx="4480560" cy="640080"/>
          </a:xfrm>
          <a:prstGeom prst="roundRect">
            <a:avLst>
              <a:gd name="adj" fmla="val 12000"/>
            </a:avLst>
          </a:prstGeom>
          <a:solidFill>
            <a:srgbClr val="FFFFFF"/>
          </a:solidFill>
          <a:ln w="25400">
            <a:solidFill>
              <a:srgbClr val="EA4335"/>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400" b="1" i="0" lang="he-IL">
                <a:solidFill>
                  <a:srgbClr val="EA4335"/>
                </a:solidFill>
              </a:rPr>
              <a:t>אחריות ומגבלות</a:t>
            </a:r>
          </a:p>
          <a:p>
            <a:pPr rtl="1" algn="r" marL="0" indent="0">
              <a:lnSpc>
                <a:spcPct val="105000"/>
              </a:lnSpc>
              <a:spcBef>
                <a:spcPts val="0"/>
              </a:spcBef>
              <a:spcAft>
                <a:spcPts val="0"/>
              </a:spcAft>
              <a:buNone/>
            </a:pPr>
            <a:r>
              <a:rPr sz="1200" b="0" i="0" lang="he-IL">
                <a:solidFill>
                  <a:srgbClr val="595959"/>
                </a:solidFill>
              </a:rPr>
              <a:t>ומי עשה מה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א׳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השירות שלכם שומר נתונים בקובץ SQLite, ופרסתם אותו בפלטפורמה חינמית. אחרי פריסה חדשה הנתונים נעלמו. למה?</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א׳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השירות שלכם שומר נתונים בקובץ SQLite, ופרסתם אותו בפלטפורמה חינמית. אחרי פריסה חדשה הנתונים נעלמו. למה?</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הדיסק בפלטפורמה זמני, וקבצים שנכתבו בזמן ריצה נמחקים בפריסה חדשה או בהרדמה.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פותרים בעזרת מסד נתונים מנוהל או בטעינת נתוני דמו בהפעלה.</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מעבדה א׳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HM_12.ipynb. חלק ב׳: עמוד נחיתה.</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HM_12.ipynb. חלק ב׳: עמוד נחיתה</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ל־HM_12.ipynb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א׳</a:t>
            </a:r>
            <a:r>
              <a:rPr sz="3000" b="0" i="0" lang="he-IL">
                <a:solidFill>
                  <a:srgbClr val="212121"/>
                </a:solidFill>
              </a:rPr>
              <a:t> : בונים ובודקים עמוד נחיתה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לבנות עמוד נחיתה מתבנית, ולבדוק אותו בקוד לפני שמפרסמים.</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בונים</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link_or_placeholder, build_landing: ממלאים תבנית, בלי להמציא קישורים</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בודקים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validate_html: קורא את העמוד ומחזיר רשימת בעיות</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רואים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כותבים את העמוד לתיקייה docs ורואים תצוגה מקדימה בתוך Colab</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במחברת מדלגים לחלק ב׳, אחרי תאי ההכנה. הפרסום ב־GitHub Pages נעשה בפרויקט (השקפים הבאים).</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א׳</a:t>
            </a:r>
            <a:r>
              <a:rPr sz="3000" b="0" i="0" lang="he-IL">
                <a:solidFill>
                  <a:srgbClr val="212121"/>
                </a:solidFill>
              </a:rPr>
              <a:t> : איך עובדים עם המחברת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כל מחברת בקורס בנויה באותו אופן.</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ממלאים TODO</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כל פונקציה היא 2 עד 10 שורות. בלי כלי AI, חוץ מצעד אחד בחלק ד׳</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מריצים בדיקה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תא הבדיקה מדפיס ✓, או הודעה שמסבירה מה נכשל</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תחזית ושאלות</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כותבים תחזית לפני הרצה, ועונים על שאלות הניתוח (בבית אם אין זמן)</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בסוף: Runtime ← Restart session and run all. ודאו ✓ בכל שורה בבדיקה המסכמת, והורידו (Download .ipynb).</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א׳</a:t>
            </a:r>
            <a:r>
              <a:rPr sz="3000" b="0" i="0" lang="he-IL">
                <a:solidFill>
                  <a:srgbClr val="212121"/>
                </a:solidFill>
              </a:rPr>
              <a:t>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העמוד שלכם</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בעיות בעמוד: אין. העמוד נשמר ל־docs ומוצג בתצוגה מקדימה</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תבנית החבילה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הבודק מוצא רק no_ai_disclosure: אין בה הצהרת AI</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עמוד שבור</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חמש בעיות, למשל img_no_alt, empty_link</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מקום הסרטון נשאר ריק בכוונה: לא ממציאים קישור שלא קיים.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א׳</a:t>
            </a:r>
            <a:r>
              <a:rPr sz="3000" b="0" i="0" lang="he-IL">
                <a:solidFill>
                  <a:srgbClr val="212121"/>
                </a:solidFill>
              </a:rPr>
              <a:t> : בפרויקט, ממלאים עם 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בפרויקט</a:t>
            </a:r>
          </a:p>
        </p:txBody>
      </p:sp>
      <p:sp>
        <p:nvSpPr>
          <p:cNvPr id="6" name="TextBox 5"/>
          <p:cNvSpPr txBox="1"/>
          <p:nvPr/>
        </p:nvSpPr>
        <p:spPr>
          <a:xfrm>
            <a:off x="365760" y="1371600"/>
            <a:ext cx="8412480" cy="192024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Here is my project: [goal, how it works, tools, team, limits].</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Fill in landing-page/index.html in Hebrew. Keep the structure and</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the CSS. Do NOT invent features that are not in my description.</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The video link and demo link stay as placeholders.</a:t>
            </a:r>
          </a:p>
        </p:txBody>
      </p:sp>
      <p:sp>
        <p:nvSpPr>
          <p:cNvPr id="7" name="Rounded Rectangle 6"/>
          <p:cNvSpPr/>
          <p:nvPr/>
        </p:nvSpPr>
        <p:spPr>
          <a:xfrm>
            <a:off x="365760" y="3566160"/>
            <a:ext cx="8412480" cy="128016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אחרי שה־AI סיים: קראו כל משפט.</a:t>
            </a:r>
          </a:p>
          <a:p>
            <a:pPr rtl="1" algn="ctr" marL="0" indent="0">
              <a:lnSpc>
                <a:spcPct val="105000"/>
              </a:lnSpc>
              <a:spcBef>
                <a:spcPts val="0"/>
              </a:spcBef>
              <a:spcAft>
                <a:spcPts val="0"/>
              </a:spcAft>
              <a:buNone/>
            </a:pPr>
            <a:r>
              <a:rPr sz="1700" b="0" i="0" lang="he-IL">
                <a:solidFill>
                  <a:srgbClr val="595959"/>
                </a:solidFill>
              </a:rPr>
              <a:t>האם הוא נכון? האם המערכת באמת עושה את זה? מחקו מה שלא.</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א׳</a:t>
            </a:r>
            <a:r>
              <a:rPr sz="3000" b="0" i="0" lang="he-IL">
                <a:solidFill>
                  <a:srgbClr val="212121"/>
                </a:solidFill>
              </a:rPr>
              <a:t> : בפרויקט, מעלים ל־GitHub</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בפרויקט</a:t>
            </a:r>
          </a:p>
        </p:txBody>
      </p:sp>
      <p:sp>
        <p:nvSpPr>
          <p:cNvPr id="6" name="Oval 5"/>
          <p:cNvSpPr/>
          <p:nvPr/>
        </p:nvSpPr>
        <p:spPr>
          <a:xfrm>
            <a:off x="8458200" y="1417320"/>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7" name="TextBox 6"/>
          <p:cNvSpPr txBox="1"/>
          <p:nvPr/>
        </p:nvSpPr>
        <p:spPr>
          <a:xfrm>
            <a:off x="365760" y="1371600"/>
            <a:ext cx="8001000"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0" i="0" lang="he-IL">
                <a:solidFill>
                  <a:srgbClr val="212121"/>
                </a:solidFill>
              </a:rPr>
              <a:t>מורידים את index.html מהמחברת, ומעלים אותו לתיקייה docs במאגר הקבוצתי.</a:t>
            </a:r>
          </a:p>
        </p:txBody>
      </p:sp>
      <p:sp>
        <p:nvSpPr>
          <p:cNvPr id="8" name="Oval 7"/>
          <p:cNvSpPr/>
          <p:nvPr/>
        </p:nvSpPr>
        <p:spPr>
          <a:xfrm>
            <a:off x="8458200" y="2194560"/>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9" name="TextBox 8"/>
          <p:cNvSpPr txBox="1"/>
          <p:nvPr/>
        </p:nvSpPr>
        <p:spPr>
          <a:xfrm>
            <a:off x="365760" y="2148840"/>
            <a:ext cx="8001000"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0" i="0" lang="he-IL">
                <a:solidFill>
                  <a:srgbClr val="212121"/>
                </a:solidFill>
              </a:rPr>
              <a:t>commit עם הודעה: Add landing page.</a:t>
            </a:r>
          </a:p>
        </p:txBody>
      </p:sp>
      <p:sp>
        <p:nvSpPr>
          <p:cNvPr id="10" name="Oval 9"/>
          <p:cNvSpPr/>
          <p:nvPr/>
        </p:nvSpPr>
        <p:spPr>
          <a:xfrm>
            <a:off x="8458200" y="2971800"/>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1" name="TextBox 10"/>
          <p:cNvSpPr txBox="1"/>
          <p:nvPr/>
        </p:nvSpPr>
        <p:spPr>
          <a:xfrm>
            <a:off x="365760" y="2926080"/>
            <a:ext cx="8001000"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0" i="0" lang="he-IL">
                <a:solidFill>
                  <a:srgbClr val="212121"/>
                </a:solidFill>
              </a:rPr>
              <a:t>דוחפים (push) ל־GitHub, ובודקים שהקבצים מופיעים.</a:t>
            </a:r>
          </a:p>
        </p:txBody>
      </p:sp>
      <p:sp>
        <p:nvSpPr>
          <p:cNvPr id="12" name="Oval 11"/>
          <p:cNvSpPr/>
          <p:nvPr/>
        </p:nvSpPr>
        <p:spPr>
          <a:xfrm>
            <a:off x="8458200" y="3749039"/>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3" name="TextBox 12"/>
          <p:cNvSpPr txBox="1"/>
          <p:nvPr/>
        </p:nvSpPr>
        <p:spPr>
          <a:xfrm>
            <a:off x="365760" y="3703320"/>
            <a:ext cx="8001000"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0" i="0" lang="he-IL">
                <a:solidFill>
                  <a:srgbClr val="212121"/>
                </a:solidFill>
              </a:rPr>
              <a:t>מוודאים שאין שום מפתח או מידע אישי בקבצים.</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א׳</a:t>
            </a:r>
            <a:r>
              <a:rPr sz="3000" b="0" i="0" lang="he-IL">
                <a:solidFill>
                  <a:srgbClr val="212121"/>
                </a:solidFill>
              </a:rPr>
              <a:t> : בפרויקט, מפעילים Pages</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בפרויקט</a:t>
            </a:r>
          </a:p>
        </p:txBody>
      </p:sp>
      <p:sp>
        <p:nvSpPr>
          <p:cNvPr id="6" name="Rounded Rectangle 5"/>
          <p:cNvSpPr/>
          <p:nvPr/>
        </p:nvSpPr>
        <p:spPr>
          <a:xfrm>
            <a:off x="365760" y="1417320"/>
            <a:ext cx="8412480" cy="73152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900" b="1" i="0" lang="he-IL">
                <a:solidFill>
                  <a:srgbClr val="212121"/>
                </a:solidFill>
              </a:rPr>
              <a:t>Settings ← Pages</a:t>
            </a:r>
          </a:p>
        </p:txBody>
      </p:sp>
      <p:sp>
        <p:nvSpPr>
          <p:cNvPr id="7" name="Rounded Rectangle 6"/>
          <p:cNvSpPr/>
          <p:nvPr/>
        </p:nvSpPr>
        <p:spPr>
          <a:xfrm>
            <a:off x="365760" y="2286000"/>
            <a:ext cx="8412480" cy="73152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900" b="1" i="0" lang="he-IL">
                <a:solidFill>
                  <a:srgbClr val="212121"/>
                </a:solidFill>
              </a:rPr>
              <a:t>Source: Deploy from a branch ← main, תיקייה docs</a:t>
            </a:r>
          </a:p>
        </p:txBody>
      </p:sp>
      <p:sp>
        <p:nvSpPr>
          <p:cNvPr id="8" name="Rounded Rectangle 7"/>
          <p:cNvSpPr/>
          <p:nvPr/>
        </p:nvSpPr>
        <p:spPr>
          <a:xfrm>
            <a:off x="365760" y="3154680"/>
            <a:ext cx="8412480" cy="73152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900" b="1" i="0" lang="he-IL">
                <a:solidFill>
                  <a:srgbClr val="212121"/>
                </a:solidFill>
              </a:rPr>
              <a:t>ממתינים כדקה, ופותחים את הכתובת</a:t>
            </a:r>
          </a:p>
        </p:txBody>
      </p:sp>
      <p:sp>
        <p:nvSpPr>
          <p:cNvPr id="9" name="Rounded Rectangle 8"/>
          <p:cNvSpPr/>
          <p:nvPr/>
        </p:nvSpPr>
        <p:spPr>
          <a:xfrm>
            <a:off x="365760" y="4114800"/>
            <a:ext cx="8412480" cy="82296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700" b="1" i="0" lang="he-IL">
                <a:solidFill>
                  <a:srgbClr val="212121"/>
                </a:solidFill>
              </a:rPr>
              <a:t>הכתובת: https://שם־משתמש.github.io/שם־מאגר/</a:t>
            </a:r>
          </a:p>
          <a:p>
            <a:pPr rtl="1" algn="ctr" marL="0" indent="0">
              <a:lnSpc>
                <a:spcPct val="105000"/>
              </a:lnSpc>
              <a:spcBef>
                <a:spcPts val="0"/>
              </a:spcBef>
              <a:spcAft>
                <a:spcPts val="0"/>
              </a:spcAft>
              <a:buNone/>
            </a:pPr>
            <a:r>
              <a:rPr sz="1300" b="0" i="0" lang="he-IL">
                <a:solidFill>
                  <a:srgbClr val="595959"/>
                </a:solidFill>
              </a:rPr>
              <a:t>ממשק GitHub משתנה: בדקו בתיעוד. בחשבון GitHub Free, Pages דורש מאגר ציבורי (תיעוד GitHub, 22.10.2026).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א׳</a:t>
            </a:r>
            <a:r>
              <a:rPr sz="3000" b="0" i="0" lang="he-IL">
                <a:solidFill>
                  <a:srgbClr val="212121"/>
                </a:solidFill>
              </a:rPr>
              <a:t> : בפרויקט,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בפרויקט</a:t>
            </a:r>
          </a:p>
        </p:txBody>
      </p:sp>
      <p:pic>
        <p:nvPicPr>
          <p:cNvPr id="6" name="Picture 5" descr="landing_desktop.png"/>
          <p:cNvPicPr>
            <a:picLocks noChangeAspect="1"/>
          </p:cNvPicPr>
          <p:nvPr/>
        </p:nvPicPr>
        <p:blipFill>
          <a:blip r:embed="rId3"/>
          <a:stretch>
            <a:fillRect/>
          </a:stretch>
        </p:blipFill>
        <p:spPr>
          <a:xfrm>
            <a:off x="365760" y="1280160"/>
            <a:ext cx="2856499" cy="3566160"/>
          </a:xfrm>
          <a:prstGeom prst="rect">
            <a:avLst/>
          </a:prstGeom>
          <a:ln w="12700">
            <a:solidFill>
              <a:srgbClr val="78909C"/>
            </a:solidFill>
          </a:ln>
        </p:spPr>
      </p:pic>
      <p:pic>
        <p:nvPicPr>
          <p:cNvPr id="7" name="Picture 6" descr="landing_mobile.png"/>
          <p:cNvPicPr>
            <a:picLocks noChangeAspect="1"/>
          </p:cNvPicPr>
          <p:nvPr/>
        </p:nvPicPr>
        <p:blipFill>
          <a:blip r:embed="rId4"/>
          <a:stretch>
            <a:fillRect/>
          </a:stretch>
        </p:blipFill>
        <p:spPr>
          <a:xfrm>
            <a:off x="5669280" y="1280160"/>
            <a:ext cx="1647870" cy="3566160"/>
          </a:xfrm>
          <a:prstGeom prst="rect">
            <a:avLst/>
          </a:prstGeom>
          <a:ln w="12700">
            <a:solidFill>
              <a:srgbClr val="78909C"/>
            </a:solidFill>
          </a:ln>
        </p:spPr>
      </p:pic>
      <p:sp>
        <p:nvSpPr>
          <p:cNvPr id="8" name="Rounded Rectangle 7"/>
          <p:cNvSpPr/>
          <p:nvPr/>
        </p:nvSpPr>
        <p:spPr>
          <a:xfrm>
            <a:off x="365760" y="4572000"/>
            <a:ext cx="4937760" cy="50292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בדקו גם בטלפון: העמוד אמור להתאים לגודל המסך.</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ב׳ :</a:t>
            </a:r>
            <a:r>
              <a:rPr sz="3000" b="1" i="0" lang="he-IL">
                <a:solidFill>
                  <a:srgbClr val="212121"/>
                </a:solidFill>
              </a:rPr>
              <a:t>בדיקות אוטומטיות בכל שינוי (CI)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ectangle 4"/>
          <p:cNvSpPr/>
          <p:nvPr/>
        </p:nvSpPr>
        <p:spPr>
          <a:xfrm>
            <a:off x="365760" y="1325880"/>
            <a:ext cx="4846320" cy="3474720"/>
          </a:xfrm>
          <a:prstGeom prst="rect">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200" b="0" i="0" lang="he-IL">
                <a:solidFill>
                  <a:srgbClr val="212121"/>
                </a:solidFill>
              </a:rPr>
              <a:t>name: tests</a:t>
            </a:r>
          </a:p>
          <a:p>
            <a:pPr rtl="0" algn="l" marL="0" indent="0">
              <a:lnSpc>
                <a:spcPct val="105000"/>
              </a:lnSpc>
              <a:spcBef>
                <a:spcPts val="0"/>
              </a:spcBef>
              <a:spcAft>
                <a:spcPts val="0"/>
              </a:spcAft>
              <a:buNone/>
            </a:pPr>
            <a:r>
              <a:rPr sz="1200" b="0" i="0" lang="he-IL">
                <a:solidFill>
                  <a:srgbClr val="212121"/>
                </a:solidFill>
              </a:rPr>
              <a:t>on:</a:t>
            </a:r>
          </a:p>
          <a:p>
            <a:pPr rtl="0" algn="l" marL="0" indent="0">
              <a:lnSpc>
                <a:spcPct val="105000"/>
              </a:lnSpc>
              <a:spcBef>
                <a:spcPts val="0"/>
              </a:spcBef>
              <a:spcAft>
                <a:spcPts val="0"/>
              </a:spcAft>
              <a:buNone/>
            </a:pPr>
            <a:r>
              <a:rPr sz="1200" b="0" i="0" lang="he-IL">
                <a:solidFill>
                  <a:srgbClr val="212121"/>
                </a:solidFill>
              </a:rPr>
              <a:t>  push:</a:t>
            </a:r>
          </a:p>
          <a:p>
            <a:pPr rtl="0" algn="l" marL="0" indent="0">
              <a:lnSpc>
                <a:spcPct val="105000"/>
              </a:lnSpc>
              <a:spcBef>
                <a:spcPts val="0"/>
              </a:spcBef>
              <a:spcAft>
                <a:spcPts val="0"/>
              </a:spcAft>
              <a:buNone/>
            </a:pPr>
            <a:r>
              <a:rPr sz="1200" b="0" i="0" lang="he-IL">
                <a:solidFill>
                  <a:srgbClr val="212121"/>
                </a:solidFill>
              </a:rPr>
              <a:t>    branches: [main]</a:t>
            </a:r>
          </a:p>
          <a:p>
            <a:pPr rtl="0" algn="l" marL="0" indent="0">
              <a:lnSpc>
                <a:spcPct val="105000"/>
              </a:lnSpc>
              <a:spcBef>
                <a:spcPts val="0"/>
              </a:spcBef>
              <a:spcAft>
                <a:spcPts val="0"/>
              </a:spcAft>
              <a:buNone/>
            </a:pPr>
            <a:r>
              <a:rPr sz="1200" b="0" i="0" lang="he-IL">
                <a:solidFill>
                  <a:srgbClr val="212121"/>
                </a:solidFill>
              </a:rPr>
              <a:t>  pull_request:</a:t>
            </a:r>
          </a:p>
          <a:p>
            <a:pPr rtl="0" algn="l" marL="0" indent="0">
              <a:lnSpc>
                <a:spcPct val="105000"/>
              </a:lnSpc>
              <a:spcBef>
                <a:spcPts val="0"/>
              </a:spcBef>
              <a:spcAft>
                <a:spcPts val="0"/>
              </a:spcAft>
              <a:buNone/>
            </a:pPr>
            <a:r>
              <a:rPr sz="1200" b="0" i="0" lang="he-IL">
                <a:solidFill>
                  <a:srgbClr val="212121"/>
                </a:solidFill>
              </a:rPr>
              <a:t>jobs:</a:t>
            </a:r>
          </a:p>
          <a:p>
            <a:pPr rtl="0" algn="l" marL="0" indent="0">
              <a:lnSpc>
                <a:spcPct val="105000"/>
              </a:lnSpc>
              <a:spcBef>
                <a:spcPts val="0"/>
              </a:spcBef>
              <a:spcAft>
                <a:spcPts val="0"/>
              </a:spcAft>
              <a:buNone/>
            </a:pPr>
            <a:r>
              <a:rPr sz="1200" b="0" i="0" lang="he-IL">
                <a:solidFill>
                  <a:srgbClr val="212121"/>
                </a:solidFill>
              </a:rPr>
              <a:t>  test:</a:t>
            </a:r>
          </a:p>
          <a:p>
            <a:pPr rtl="0" algn="l" marL="0" indent="0">
              <a:lnSpc>
                <a:spcPct val="105000"/>
              </a:lnSpc>
              <a:spcBef>
                <a:spcPts val="0"/>
              </a:spcBef>
              <a:spcAft>
                <a:spcPts val="0"/>
              </a:spcAft>
              <a:buNone/>
            </a:pPr>
            <a:r>
              <a:rPr sz="1200" b="0" i="0" lang="he-IL">
                <a:solidFill>
                  <a:srgbClr val="212121"/>
                </a:solidFill>
              </a:rPr>
              <a:t>    runs-on: ubuntu-latest</a:t>
            </a:r>
          </a:p>
          <a:p>
            <a:pPr rtl="0" algn="l" marL="0" indent="0">
              <a:lnSpc>
                <a:spcPct val="105000"/>
              </a:lnSpc>
              <a:spcBef>
                <a:spcPts val="0"/>
              </a:spcBef>
              <a:spcAft>
                <a:spcPts val="0"/>
              </a:spcAft>
              <a:buNone/>
            </a:pPr>
            <a:r>
              <a:rPr sz="1200" b="0" i="0" lang="he-IL">
                <a:solidFill>
                  <a:srgbClr val="212121"/>
                </a:solidFill>
              </a:rPr>
              <a:t>    steps:</a:t>
            </a:r>
          </a:p>
          <a:p>
            <a:pPr rtl="0" algn="l" marL="0" indent="0">
              <a:lnSpc>
                <a:spcPct val="105000"/>
              </a:lnSpc>
              <a:spcBef>
                <a:spcPts val="0"/>
              </a:spcBef>
              <a:spcAft>
                <a:spcPts val="0"/>
              </a:spcAft>
              <a:buNone/>
            </a:pPr>
            <a:r>
              <a:rPr sz="1200" b="0" i="0" lang="he-IL">
                <a:solidFill>
                  <a:srgbClr val="212121"/>
                </a:solidFill>
              </a:rPr>
              <a:t>      - uses: actions/checkout@v4</a:t>
            </a:r>
          </a:p>
          <a:p>
            <a:pPr rtl="0" algn="l" marL="0" indent="0">
              <a:lnSpc>
                <a:spcPct val="105000"/>
              </a:lnSpc>
              <a:spcBef>
                <a:spcPts val="0"/>
              </a:spcBef>
              <a:spcAft>
                <a:spcPts val="0"/>
              </a:spcAft>
              <a:buNone/>
            </a:pPr>
            <a:r>
              <a:rPr sz="1200" b="0" i="0" lang="he-IL">
                <a:solidFill>
                  <a:srgbClr val="212121"/>
                </a:solidFill>
              </a:rPr>
              <a:t>      - uses: actions/setup-python@v5</a:t>
            </a:r>
          </a:p>
          <a:p>
            <a:pPr rtl="0" algn="l" marL="0" indent="0">
              <a:lnSpc>
                <a:spcPct val="105000"/>
              </a:lnSpc>
              <a:spcBef>
                <a:spcPts val="0"/>
              </a:spcBef>
              <a:spcAft>
                <a:spcPts val="0"/>
              </a:spcAft>
              <a:buNone/>
            </a:pPr>
            <a:r>
              <a:rPr sz="1200" b="0" i="0" lang="he-IL">
                <a:solidFill>
                  <a:srgbClr val="212121"/>
                </a:solidFill>
              </a:rPr>
              <a:t>        with:</a:t>
            </a:r>
          </a:p>
          <a:p>
            <a:pPr rtl="0" algn="l" marL="0" indent="0">
              <a:lnSpc>
                <a:spcPct val="105000"/>
              </a:lnSpc>
              <a:spcBef>
                <a:spcPts val="0"/>
              </a:spcBef>
              <a:spcAft>
                <a:spcPts val="0"/>
              </a:spcAft>
              <a:buNone/>
            </a:pPr>
            <a:r>
              <a:rPr sz="1200" b="0" i="0" lang="he-IL">
                <a:solidFill>
                  <a:srgbClr val="212121"/>
                </a:solidFill>
              </a:rPr>
              <a:t>          python-version: "3.11"</a:t>
            </a:r>
          </a:p>
          <a:p>
            <a:pPr rtl="0" algn="l" marL="0" indent="0">
              <a:lnSpc>
                <a:spcPct val="105000"/>
              </a:lnSpc>
              <a:spcBef>
                <a:spcPts val="0"/>
              </a:spcBef>
              <a:spcAft>
                <a:spcPts val="0"/>
              </a:spcAft>
              <a:buNone/>
            </a:pPr>
            <a:r>
              <a:rPr sz="1200" b="0" i="0" lang="he-IL">
                <a:solidFill>
                  <a:srgbClr val="212121"/>
                </a:solidFill>
              </a:rPr>
              <a:t>      - run: pip install -r requirements.txt</a:t>
            </a:r>
          </a:p>
          <a:p>
            <a:pPr rtl="0" algn="l" marL="0" indent="0">
              <a:lnSpc>
                <a:spcPct val="105000"/>
              </a:lnSpc>
              <a:spcBef>
                <a:spcPts val="0"/>
              </a:spcBef>
              <a:spcAft>
                <a:spcPts val="0"/>
              </a:spcAft>
              <a:buNone/>
            </a:pPr>
            <a:r>
              <a:rPr sz="1200" b="0" i="0" lang="he-IL">
                <a:solidFill>
                  <a:srgbClr val="212121"/>
                </a:solidFill>
              </a:rPr>
              <a:t>      - run: python -m pytest -q</a:t>
            </a:r>
          </a:p>
        </p:txBody>
      </p:sp>
      <p:sp>
        <p:nvSpPr>
          <p:cNvPr id="6" name="Rounded Rectangle 5"/>
          <p:cNvSpPr/>
          <p:nvPr/>
        </p:nvSpPr>
        <p:spPr>
          <a:xfrm>
            <a:off x="5394960" y="1371600"/>
            <a:ext cx="3383280" cy="749808"/>
          </a:xfrm>
          <a:prstGeom prst="roundRect">
            <a:avLst>
              <a:gd name="adj" fmla="val 12000"/>
            </a:avLst>
          </a:prstGeom>
          <a:solidFill>
            <a:srgbClr val="FFFFFF"/>
          </a:solidFill>
          <a:ln w="25400">
            <a:solidFill>
              <a:srgbClr val="4285F4"/>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4285F4"/>
                </a:solidFill>
              </a:rPr>
              <a:t>on</a:t>
            </a:r>
          </a:p>
          <a:p>
            <a:pPr rtl="1" algn="ctr" marL="0" indent="0">
              <a:lnSpc>
                <a:spcPct val="105000"/>
              </a:lnSpc>
              <a:spcBef>
                <a:spcPts val="0"/>
              </a:spcBef>
              <a:spcAft>
                <a:spcPts val="0"/>
              </a:spcAft>
              <a:buNone/>
            </a:pPr>
            <a:r>
              <a:rPr sz="1200" b="0" i="0" lang="he-IL">
                <a:solidFill>
                  <a:srgbClr val="212121"/>
                </a:solidFill>
              </a:rPr>
              <a:t>מתי: push או pull request</a:t>
            </a:r>
          </a:p>
        </p:txBody>
      </p:sp>
      <p:sp>
        <p:nvSpPr>
          <p:cNvPr id="7" name="Rounded Rectangle 6"/>
          <p:cNvSpPr/>
          <p:nvPr/>
        </p:nvSpPr>
        <p:spPr>
          <a:xfrm>
            <a:off x="5394960" y="2240280"/>
            <a:ext cx="3383280" cy="749808"/>
          </a:xfrm>
          <a:prstGeom prst="roundRect">
            <a:avLst>
              <a:gd name="adj" fmla="val 12000"/>
            </a:avLst>
          </a:prstGeom>
          <a:solidFill>
            <a:srgbClr val="FFFFFF"/>
          </a:solidFill>
          <a:ln w="25400">
            <a:solidFill>
              <a:srgbClr val="78909C"/>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78909C"/>
                </a:solidFill>
              </a:rPr>
              <a:t>runs-on</a:t>
            </a:r>
          </a:p>
          <a:p>
            <a:pPr rtl="1" algn="ctr" marL="0" indent="0">
              <a:lnSpc>
                <a:spcPct val="105000"/>
              </a:lnSpc>
              <a:spcBef>
                <a:spcPts val="0"/>
              </a:spcBef>
              <a:spcAft>
                <a:spcPts val="0"/>
              </a:spcAft>
              <a:buNone/>
            </a:pPr>
            <a:r>
              <a:rPr sz="1200" b="0" i="0" lang="he-IL">
                <a:solidFill>
                  <a:srgbClr val="212121"/>
                </a:solidFill>
              </a:rPr>
              <a:t>על איזו מכונה</a:t>
            </a:r>
          </a:p>
        </p:txBody>
      </p:sp>
      <p:sp>
        <p:nvSpPr>
          <p:cNvPr id="8" name="Rounded Rectangle 7"/>
          <p:cNvSpPr/>
          <p:nvPr/>
        </p:nvSpPr>
        <p:spPr>
          <a:xfrm>
            <a:off x="5394960" y="3108960"/>
            <a:ext cx="3383280" cy="749808"/>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FFAB40"/>
                </a:solidFill>
              </a:rPr>
              <a:t>steps</a:t>
            </a:r>
          </a:p>
          <a:p>
            <a:pPr rtl="1" algn="ctr" marL="0" indent="0">
              <a:lnSpc>
                <a:spcPct val="105000"/>
              </a:lnSpc>
              <a:spcBef>
                <a:spcPts val="0"/>
              </a:spcBef>
              <a:spcAft>
                <a:spcPts val="0"/>
              </a:spcAft>
              <a:buNone/>
            </a:pPr>
            <a:r>
              <a:rPr sz="1200" b="0" i="0" lang="he-IL">
                <a:solidFill>
                  <a:srgbClr val="212121"/>
                </a:solidFill>
              </a:rPr>
              <a:t>מה עושים: להוריד, להתקין, לבדוק</a:t>
            </a:r>
          </a:p>
        </p:txBody>
      </p:sp>
      <p:sp>
        <p:nvSpPr>
          <p:cNvPr id="9" name="Rounded Rectangle 8"/>
          <p:cNvSpPr/>
          <p:nvPr/>
        </p:nvSpPr>
        <p:spPr>
          <a:xfrm>
            <a:off x="5394960" y="3977639"/>
            <a:ext cx="3383280" cy="749808"/>
          </a:xfrm>
          <a:prstGeom prst="roundRect">
            <a:avLst>
              <a:gd name="adj" fmla="val 12000"/>
            </a:avLst>
          </a:prstGeom>
          <a:solidFill>
            <a:srgbClr val="FFFFFF"/>
          </a:solidFill>
          <a:ln w="25400">
            <a:solidFill>
              <a:srgbClr val="EA4335"/>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400" b="1" i="0" lang="he-IL">
                <a:solidFill>
                  <a:srgbClr val="EA4335"/>
                </a:solidFill>
              </a:rPr>
              <a:t>תוצאה</a:t>
            </a:r>
          </a:p>
          <a:p>
            <a:pPr rtl="1" algn="ctr" marL="0" indent="0">
              <a:lnSpc>
                <a:spcPct val="105000"/>
              </a:lnSpc>
              <a:spcBef>
                <a:spcPts val="0"/>
              </a:spcBef>
              <a:spcAft>
                <a:spcPts val="0"/>
              </a:spcAft>
              <a:buNone/>
            </a:pPr>
            <a:r>
              <a:rPr sz="1200" b="0" i="0" lang="he-IL">
                <a:solidFill>
                  <a:srgbClr val="212121"/>
                </a:solidFill>
              </a:rPr>
              <a:t>אדום: אסור למזג</a:t>
            </a:r>
          </a:p>
        </p:txBody>
      </p:sp>
      <p:sp>
        <p:nvSpPr>
          <p:cNvPr id="10" name="TextBox 9"/>
          <p:cNvSpPr txBox="1"/>
          <p:nvPr/>
        </p:nvSpPr>
        <p:spPr>
          <a:xfrm>
            <a:off x="365760" y="484632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הקובץ בחבילה: tests.yml (checkout@v4, setup-python@v5). נכון ל־22.10.2026 הגרסאות העדכניות: v7. תחביר נבדק, לא הורץ.</a:t>
            </a:r>
          </a:p>
        </p:txBody>
      </p:sp>
      <p:sp>
        <p:nvSpPr>
          <p:cNvPr id="11" name="Tag חזרה"/>
          <p:cNvSpPr/>
          <p:nvPr/>
        </p:nvSpPr>
        <p:spPr>
          <a:xfrm>
            <a:off x="109728" y="91440"/>
            <a:ext cx="1620000" cy="384048"/>
          </a:xfrm>
          <a:prstGeom prst="roundRect">
            <a:avLst>
              <a:gd name="adj" fmla="val 40000"/>
            </a:avLst>
          </a:prstGeom>
          <a:solidFill>
            <a:srgbClr val="E6F4EA"/>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חזרה: מפגש 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ב׳ :</a:t>
            </a:r>
            <a:r>
              <a:rPr sz="3000" b="1" i="0" lang="he-IL">
                <a:solidFill>
                  <a:srgbClr val="212121"/>
                </a:solidFill>
              </a:rPr>
              <a:t>משחררים ומתקנים: חזרה אחורה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858000" y="1463040"/>
            <a:ext cx="1920240" cy="11887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שינוי קטן</a:t>
            </a:r>
          </a:p>
          <a:p>
            <a:pPr rtl="1" algn="ctr" marL="0" indent="0">
              <a:lnSpc>
                <a:spcPct val="105000"/>
              </a:lnSpc>
              <a:spcBef>
                <a:spcPts val="0"/>
              </a:spcBef>
              <a:spcAft>
                <a:spcPts val="0"/>
              </a:spcAft>
              <a:buNone/>
            </a:pPr>
            <a:r>
              <a:rPr sz="1400" b="1" i="0" lang="he-IL">
                <a:solidFill>
                  <a:srgbClr val="212121"/>
                </a:solidFill>
              </a:rPr>
              <a:t>בענף</a:t>
            </a:r>
          </a:p>
        </p:txBody>
      </p:sp>
      <p:cxnSp>
        <p:nvCxnSpPr>
          <p:cNvPr id="6" name="Connector 5"/>
          <p:cNvCxnSpPr/>
          <p:nvPr/>
        </p:nvCxnSpPr>
        <p:spPr>
          <a:xfrm flipH="1">
            <a:off x="6601968" y="2057400"/>
            <a:ext cx="23774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663440" y="1463040"/>
            <a:ext cx="1920240" cy="118872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בדיקות</a:t>
            </a:r>
          </a:p>
          <a:p>
            <a:pPr rtl="1" algn="ctr" marL="0" indent="0">
              <a:lnSpc>
                <a:spcPct val="105000"/>
              </a:lnSpc>
              <a:spcBef>
                <a:spcPts val="0"/>
              </a:spcBef>
              <a:spcAft>
                <a:spcPts val="0"/>
              </a:spcAft>
              <a:buNone/>
            </a:pPr>
            <a:r>
              <a:rPr sz="1400" b="1" i="0" lang="he-IL">
                <a:solidFill>
                  <a:srgbClr val="212121"/>
                </a:solidFill>
              </a:rPr>
              <a:t>ירוקות?</a:t>
            </a:r>
          </a:p>
        </p:txBody>
      </p:sp>
      <p:cxnSp>
        <p:nvCxnSpPr>
          <p:cNvPr id="8" name="Connector 7"/>
          <p:cNvCxnSpPr/>
          <p:nvPr/>
        </p:nvCxnSpPr>
        <p:spPr>
          <a:xfrm flipH="1">
            <a:off x="4407407" y="2057400"/>
            <a:ext cx="23774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8879" y="1463040"/>
            <a:ext cx="1920240" cy="118872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פריסה</a:t>
            </a:r>
          </a:p>
          <a:p>
            <a:pPr rtl="1" algn="ctr" marL="0" indent="0">
              <a:lnSpc>
                <a:spcPct val="105000"/>
              </a:lnSpc>
              <a:spcBef>
                <a:spcPts val="0"/>
              </a:spcBef>
              <a:spcAft>
                <a:spcPts val="0"/>
              </a:spcAft>
              <a:buNone/>
            </a:pPr>
            <a:r>
              <a:rPr sz="1400" b="1" i="0" lang="he-IL">
                <a:solidFill>
                  <a:srgbClr val="212121"/>
                </a:solidFill>
              </a:rPr>
              <a:t>לבדיקה (staging)</a:t>
            </a:r>
          </a:p>
        </p:txBody>
      </p:sp>
      <p:cxnSp>
        <p:nvCxnSpPr>
          <p:cNvPr id="10" name="Connector 9"/>
          <p:cNvCxnSpPr/>
          <p:nvPr/>
        </p:nvCxnSpPr>
        <p:spPr>
          <a:xfrm flipH="1">
            <a:off x="2212848" y="2057400"/>
            <a:ext cx="237743"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74319" y="1463040"/>
            <a:ext cx="1920240" cy="1188720"/>
          </a:xfrm>
          <a:prstGeom prst="roundRect">
            <a:avLst>
              <a:gd name="adj" fmla="val 12000"/>
            </a:avLst>
          </a:prstGeom>
          <a:solidFill>
            <a:srgbClr val="DDF2F5"/>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פריסה</a:t>
            </a:r>
          </a:p>
          <a:p>
            <a:pPr rtl="1" algn="ctr" marL="0" indent="0">
              <a:lnSpc>
                <a:spcPct val="105000"/>
              </a:lnSpc>
              <a:spcBef>
                <a:spcPts val="0"/>
              </a:spcBef>
              <a:spcAft>
                <a:spcPts val="0"/>
              </a:spcAft>
              <a:buNone/>
            </a:pPr>
            <a:r>
              <a:rPr sz="1400" b="1" i="0" lang="he-IL">
                <a:solidFill>
                  <a:srgbClr val="212121"/>
                </a:solidFill>
              </a:rPr>
              <a:t>לייצור</a:t>
            </a:r>
          </a:p>
        </p:txBody>
      </p:sp>
      <p:sp>
        <p:nvSpPr>
          <p:cNvPr id="12" name="Rounded Rectangle 11"/>
          <p:cNvSpPr/>
          <p:nvPr/>
        </p:nvSpPr>
        <p:spPr>
          <a:xfrm>
            <a:off x="365760" y="3017520"/>
            <a:ext cx="8412480" cy="91440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משהו נשבר? חוזרים לגרסה הקודמת: git revert ופריסה, או redeploy של הגרסה הקודמת.</a:t>
            </a:r>
          </a:p>
        </p:txBody>
      </p:sp>
      <p:sp>
        <p:nvSpPr>
          <p:cNvPr id="13" name="TextBox 12"/>
          <p:cNvSpPr txBox="1"/>
          <p:nvPr/>
        </p:nvSpPr>
        <p:spPr>
          <a:xfrm>
            <a:off x="365760" y="4206240"/>
            <a:ext cx="8412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EA4335"/>
                </a:solidFill>
              </a:rPr>
              <a:t>כלל: בלי תוכנית חזרה, לא משחררים.</a:t>
            </a:r>
          </a:p>
          <a:p>
            <a:pPr rtl="1" algn="ctr" marL="0" indent="0">
              <a:lnSpc>
                <a:spcPct val="110000"/>
              </a:lnSpc>
              <a:spcBef>
                <a:spcPts val="0"/>
              </a:spcBef>
              <a:spcAft>
                <a:spcPts val="0"/>
              </a:spcAft>
              <a:buNone/>
            </a:pPr>
            <a:r>
              <a:rPr sz="1600" b="0" i="0" lang="he-IL">
                <a:solidFill>
                  <a:srgbClr val="595959"/>
                </a:solidFill>
              </a:rPr>
              <a:t>והדגמה חיה? לא משנים כלום ב־30 הדקות האחרונות.</a:t>
            </a:r>
          </a:p>
        </p:txBody>
      </p:sp>
      <p:sp>
        <p:nvSpPr>
          <p:cNvPr id="14" name="Tag חזרה"/>
          <p:cNvSpPr/>
          <p:nvPr/>
        </p:nvSpPr>
        <p:spPr>
          <a:xfrm>
            <a:off x="109728" y="91440"/>
            <a:ext cx="1620000" cy="384048"/>
          </a:xfrm>
          <a:prstGeom prst="roundRect">
            <a:avLst>
              <a:gd name="adj" fmla="val 40000"/>
            </a:avLst>
          </a:prstGeom>
          <a:solidFill>
            <a:srgbClr val="E6F4EA"/>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חזרה: מפגש 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ב׳ :ניטור אחרי שהשירות באוויר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זמינות</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/health: האם השירות חי?</a:t>
            </a:r>
          </a:p>
        </p:txBody>
      </p:sp>
      <p:sp>
        <p:nvSpPr>
          <p:cNvPr id="9" name="Rounded Rectangle 8"/>
          <p:cNvSpPr/>
          <p:nvPr/>
        </p:nvSpPr>
        <p:spPr>
          <a:xfrm>
            <a:off x="365760" y="1417320"/>
            <a:ext cx="4114800" cy="1463040"/>
          </a:xfrm>
          <a:prstGeom prst="roundRect">
            <a:avLst>
              <a:gd name="adj" fmla="val 6000"/>
            </a:avLst>
          </a:prstGeom>
          <a:solidFill>
            <a:srgbClr val="FDE3E0"/>
          </a:solidFill>
          <a:ln w="25400">
            <a:solidFill>
              <a:srgbClr val="EA4335"/>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שגיאות</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כמה בקשות נכשלו (5xx, 4xx)?</a:t>
            </a:r>
          </a:p>
        </p:txBody>
      </p:sp>
      <p:sp>
        <p:nvSpPr>
          <p:cNvPr id="13"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זמן תגובה</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כמה זמן משתמש מחכה?</a:t>
            </a:r>
          </a:p>
        </p:txBody>
      </p:sp>
      <p:sp>
        <p:nvSpPr>
          <p:cNvPr id="17" name="Rounded Rectangle 16"/>
          <p:cNvSpPr/>
          <p:nvPr/>
        </p:nvSpPr>
        <p:spPr>
          <a:xfrm>
            <a:off x="365760" y="306324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אורך התור</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כמה משימות ממתינות? (Flower)</a:t>
            </a:r>
          </a:p>
        </p:txBody>
      </p:sp>
      <p:sp>
        <p:nvSpPr>
          <p:cNvPr id="21" name="Tag אופציונלי"/>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ב׳ :</a:t>
            </a:r>
            <a:r>
              <a:rPr sz="3000" b="1" i="0" lang="he-IL">
                <a:solidFill>
                  <a:srgbClr val="212121"/>
                </a:solidFill>
              </a:rPr>
              <a:t>עלות ושליטה באפליקציות 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8412480" cy="8229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2000" b="1" i="0" lang="he-IL">
                <a:solidFill>
                  <a:srgbClr val="212121"/>
                </a:solidFill>
              </a:rPr>
              <a:t>עלות ≈ מספר בקשות × טוקנים לבקשה × מחיר לטוקן</a:t>
            </a:r>
          </a:p>
        </p:txBody>
      </p:sp>
      <p:sp>
        <p:nvSpPr>
          <p:cNvPr id="6" name="Rounded Rectangle 5"/>
          <p:cNvSpPr/>
          <p:nvPr/>
        </p:nvSpPr>
        <p:spPr>
          <a:xfrm>
            <a:off x="6766560" y="2514600"/>
            <a:ext cx="2011680" cy="2194560"/>
          </a:xfrm>
          <a:prstGeom prst="roundRect">
            <a:avLst>
              <a:gd name="adj" fmla="val 12000"/>
            </a:avLst>
          </a:prstGeom>
          <a:solidFill>
            <a:srgbClr val="FDE3E0"/>
          </a:solidFill>
          <a:ln w="31750">
            <a:solidFill>
              <a:srgbClr val="EA4335"/>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2800" b="0" i="0" lang="he-IL">
                <a:solidFill>
                  <a:srgbClr val="212121"/>
                </a:solidFill>
              </a:rPr>
              <a:t>🧢</a:t>
            </a:r>
          </a:p>
          <a:p>
            <a:pPr rtl="1" algn="ctr" marL="0" indent="0">
              <a:lnSpc>
                <a:spcPct val="105000"/>
              </a:lnSpc>
              <a:spcBef>
                <a:spcPts val="0"/>
              </a:spcBef>
              <a:spcAft>
                <a:spcPts val="0"/>
              </a:spcAft>
              <a:buNone/>
            </a:pPr>
            <a:r>
              <a:rPr sz="1600" b="1" i="0" lang="he-IL">
                <a:solidFill>
                  <a:srgbClr val="212121"/>
                </a:solidFill>
              </a:rPr>
              <a:t>תקרת הוצאה</a:t>
            </a:r>
          </a:p>
          <a:p>
            <a:pPr rtl="1" algn="ctr" marL="0" indent="0">
              <a:lnSpc>
                <a:spcPct val="105000"/>
              </a:lnSpc>
              <a:spcBef>
                <a:spcPts val="0"/>
              </a:spcBef>
              <a:spcAft>
                <a:spcPts val="0"/>
              </a:spcAft>
              <a:buNone/>
            </a:pPr>
            <a:r>
              <a:rPr sz="1200" b="0" i="0" lang="he-IL">
                <a:solidFill>
                  <a:srgbClr val="595959"/>
                </a:solidFill>
              </a:rPr>
              <a:t>אצל הספק</a:t>
            </a:r>
          </a:p>
        </p:txBody>
      </p:sp>
      <p:sp>
        <p:nvSpPr>
          <p:cNvPr id="7" name="Rounded Rectangle 6"/>
          <p:cNvSpPr/>
          <p:nvPr/>
        </p:nvSpPr>
        <p:spPr>
          <a:xfrm>
            <a:off x="4572000" y="2514600"/>
            <a:ext cx="2011680" cy="2194560"/>
          </a:xfrm>
          <a:prstGeom prst="roundRect">
            <a:avLst>
              <a:gd name="adj" fmla="val 12000"/>
            </a:avLst>
          </a:prstGeom>
          <a:solidFill>
            <a:srgbClr val="FFF0D9"/>
          </a:solidFill>
          <a:ln w="31750">
            <a:solidFill>
              <a:srgbClr val="FFAB40"/>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2800" b="0" i="0" lang="he-IL">
                <a:solidFill>
                  <a:srgbClr val="212121"/>
                </a:solidFill>
              </a:rPr>
              <a:t>🚦</a:t>
            </a:r>
          </a:p>
          <a:p>
            <a:pPr rtl="1" algn="ctr" marL="0" indent="0">
              <a:lnSpc>
                <a:spcPct val="105000"/>
              </a:lnSpc>
              <a:spcBef>
                <a:spcPts val="0"/>
              </a:spcBef>
              <a:spcAft>
                <a:spcPts val="0"/>
              </a:spcAft>
              <a:buNone/>
            </a:pPr>
            <a:r>
              <a:rPr sz="1600" b="1" i="0" lang="he-IL">
                <a:solidFill>
                  <a:srgbClr val="212121"/>
                </a:solidFill>
              </a:rPr>
              <a:t>הגבלת קצב</a:t>
            </a:r>
          </a:p>
          <a:p>
            <a:pPr rtl="1" algn="ctr" marL="0" indent="0">
              <a:lnSpc>
                <a:spcPct val="105000"/>
              </a:lnSpc>
              <a:spcBef>
                <a:spcPts val="0"/>
              </a:spcBef>
              <a:spcAft>
                <a:spcPts val="0"/>
              </a:spcAft>
              <a:buNone/>
            </a:pPr>
            <a:r>
              <a:rPr sz="1200" b="0" i="0" lang="he-IL">
                <a:solidFill>
                  <a:srgbClr val="595959"/>
                </a:solidFill>
              </a:rPr>
              <a:t>לכל משתמש</a:t>
            </a:r>
          </a:p>
        </p:txBody>
      </p:sp>
      <p:sp>
        <p:nvSpPr>
          <p:cNvPr id="8" name="Rounded Rectangle 7"/>
          <p:cNvSpPr/>
          <p:nvPr/>
        </p:nvSpPr>
        <p:spPr>
          <a:xfrm>
            <a:off x="2377440" y="2514600"/>
            <a:ext cx="2011680" cy="2194560"/>
          </a:xfrm>
          <a:prstGeom prst="roundRect">
            <a:avLst>
              <a:gd name="adj" fmla="val 12000"/>
            </a:avLst>
          </a:prstGeom>
          <a:solidFill>
            <a:srgbClr val="E1F4E6"/>
          </a:solidFill>
          <a:ln w="31750">
            <a:solidFill>
              <a:srgbClr val="34A853"/>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2800" b="0" i="0" lang="he-IL">
                <a:solidFill>
                  <a:srgbClr val="212121"/>
                </a:solidFill>
              </a:rPr>
              <a:t>🗃️</a:t>
            </a:r>
          </a:p>
          <a:p>
            <a:pPr rtl="1" algn="ctr" marL="0" indent="0">
              <a:lnSpc>
                <a:spcPct val="105000"/>
              </a:lnSpc>
              <a:spcBef>
                <a:spcPts val="0"/>
              </a:spcBef>
              <a:spcAft>
                <a:spcPts val="0"/>
              </a:spcAft>
              <a:buNone/>
            </a:pPr>
            <a:r>
              <a:rPr sz="1600" b="1" i="0" lang="he-IL">
                <a:solidFill>
                  <a:srgbClr val="212121"/>
                </a:solidFill>
              </a:rPr>
              <a:t>מטמון</a:t>
            </a:r>
          </a:p>
          <a:p>
            <a:pPr rtl="1" algn="ctr" marL="0" indent="0">
              <a:lnSpc>
                <a:spcPct val="105000"/>
              </a:lnSpc>
              <a:spcBef>
                <a:spcPts val="0"/>
              </a:spcBef>
              <a:spcAft>
                <a:spcPts val="0"/>
              </a:spcAft>
              <a:buNone/>
            </a:pPr>
            <a:r>
              <a:rPr sz="1200" b="0" i="0" lang="he-IL">
                <a:solidFill>
                  <a:srgbClr val="595959"/>
                </a:solidFill>
              </a:rPr>
              <a:t>תשובות חוזרות לא עולות שוב</a:t>
            </a:r>
          </a:p>
        </p:txBody>
      </p:sp>
      <p:sp>
        <p:nvSpPr>
          <p:cNvPr id="9" name="Rounded Rectangle 8"/>
          <p:cNvSpPr/>
          <p:nvPr/>
        </p:nvSpPr>
        <p:spPr>
          <a:xfrm>
            <a:off x="182880" y="2514600"/>
            <a:ext cx="2011680" cy="2194560"/>
          </a:xfrm>
          <a:prstGeom prst="roundRect">
            <a:avLst>
              <a:gd name="adj" fmla="val 12000"/>
            </a:avLst>
          </a:prstGeom>
          <a:solidFill>
            <a:srgbClr val="F2F2F2"/>
          </a:solidFill>
          <a:ln w="31750">
            <a:solidFill>
              <a:srgbClr val="78909C"/>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2800" b="0" i="0" lang="he-IL">
                <a:solidFill>
                  <a:srgbClr val="212121"/>
                </a:solidFill>
              </a:rPr>
              <a:t>🔌</a:t>
            </a:r>
          </a:p>
          <a:p>
            <a:pPr rtl="1" algn="ctr" marL="0" indent="0">
              <a:lnSpc>
                <a:spcPct val="105000"/>
              </a:lnSpc>
              <a:spcBef>
                <a:spcPts val="0"/>
              </a:spcBef>
              <a:spcAft>
                <a:spcPts val="0"/>
              </a:spcAft>
              <a:buNone/>
            </a:pPr>
            <a:r>
              <a:rPr sz="1600" b="1" i="0" lang="he-IL">
                <a:solidFill>
                  <a:srgbClr val="212121"/>
                </a:solidFill>
              </a:rPr>
              <a:t>מתג כיבוי</a:t>
            </a:r>
          </a:p>
          <a:p>
            <a:pPr rtl="1" algn="ctr" marL="0" indent="0">
              <a:lnSpc>
                <a:spcPct val="105000"/>
              </a:lnSpc>
              <a:spcBef>
                <a:spcPts val="0"/>
              </a:spcBef>
              <a:spcAft>
                <a:spcPts val="0"/>
              </a:spcAft>
              <a:buNone/>
            </a:pPr>
            <a:r>
              <a:rPr sz="1200" b="0" i="0" lang="he-IL">
                <a:solidFill>
                  <a:srgbClr val="595959"/>
                </a:solidFill>
              </a:rPr>
              <a:t>לעצור הכל מהר</a:t>
            </a:r>
          </a:p>
        </p:txBody>
      </p:sp>
      <p:sp>
        <p:nvSpPr>
          <p:cNvPr id="10" name="Tag חזרה"/>
          <p:cNvSpPr/>
          <p:nvPr/>
        </p:nvSpPr>
        <p:spPr>
          <a:xfrm>
            <a:off x="109728" y="91440"/>
            <a:ext cx="1620000" cy="384048"/>
          </a:xfrm>
          <a:prstGeom prst="roundRect">
            <a:avLst>
              <a:gd name="adj" fmla="val 40000"/>
            </a:avLst>
          </a:prstGeom>
          <a:solidFill>
            <a:srgbClr val="E6F4EA"/>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חזרה: מפגש 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ב׳ :</a:t>
            </a:r>
            <a:r>
              <a:rPr sz="3000" b="1" i="0" lang="he-IL">
                <a:solidFill>
                  <a:srgbClr val="212121"/>
                </a:solidFill>
              </a:rPr>
              <a:t>הצ'קליסט לפני חשיפה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8412480" cy="804672"/>
          </a:xfrm>
          <a:prstGeom prst="roundRect">
            <a:avLst>
              <a:gd name="adj" fmla="val 8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675120" y="1371600"/>
            <a:ext cx="20116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000" b="1" i="0" lang="he-IL">
                <a:solidFill>
                  <a:srgbClr val="212121"/>
                </a:solidFill>
              </a:rPr>
              <a:t>איכות</a:t>
            </a:r>
          </a:p>
        </p:txBody>
      </p:sp>
      <p:sp>
        <p:nvSpPr>
          <p:cNvPr id="7" name="TextBox 6"/>
          <p:cNvSpPr txBox="1"/>
          <p:nvPr/>
        </p:nvSpPr>
        <p:spPr>
          <a:xfrm>
            <a:off x="502920" y="1371600"/>
            <a:ext cx="61264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בדיקות ירוקות · README · מסמך העברה</a:t>
            </a:r>
          </a:p>
        </p:txBody>
      </p:sp>
      <p:sp>
        <p:nvSpPr>
          <p:cNvPr id="8" name="Rounded Rectangle 7"/>
          <p:cNvSpPr/>
          <p:nvPr/>
        </p:nvSpPr>
        <p:spPr>
          <a:xfrm>
            <a:off x="365760" y="2286000"/>
            <a:ext cx="8412480" cy="804672"/>
          </a:xfrm>
          <a:prstGeom prst="roundRect">
            <a:avLst>
              <a:gd name="adj" fmla="val 8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9" name="TextBox 8"/>
          <p:cNvSpPr txBox="1"/>
          <p:nvPr/>
        </p:nvSpPr>
        <p:spPr>
          <a:xfrm>
            <a:off x="6675120" y="2286000"/>
            <a:ext cx="20116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000" b="1" i="0" lang="he-IL">
                <a:solidFill>
                  <a:srgbClr val="212121"/>
                </a:solidFill>
              </a:rPr>
              <a:t>אבטחה</a:t>
            </a:r>
          </a:p>
        </p:txBody>
      </p:sp>
      <p:sp>
        <p:nvSpPr>
          <p:cNvPr id="10" name="TextBox 9"/>
          <p:cNvSpPr txBox="1"/>
          <p:nvPr/>
        </p:nvSpPr>
        <p:spPr>
          <a:xfrm>
            <a:off x="502920" y="2286000"/>
            <a:ext cx="61264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אין סודות · SQL עם פרמטרים · תלויות נבדקו · פלט מאומת</a:t>
            </a:r>
          </a:p>
        </p:txBody>
      </p:sp>
      <p:sp>
        <p:nvSpPr>
          <p:cNvPr id="11" name="Rounded Rectangle 10"/>
          <p:cNvSpPr/>
          <p:nvPr/>
        </p:nvSpPr>
        <p:spPr>
          <a:xfrm>
            <a:off x="365760" y="3200400"/>
            <a:ext cx="8412480" cy="804672"/>
          </a:xfrm>
          <a:prstGeom prst="roundRect">
            <a:avLst>
              <a:gd name="adj" fmla="val 8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TextBox 11"/>
          <p:cNvSpPr txBox="1"/>
          <p:nvPr/>
        </p:nvSpPr>
        <p:spPr>
          <a:xfrm>
            <a:off x="6675120" y="3200400"/>
            <a:ext cx="20116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000" b="1" i="0" lang="he-IL">
                <a:solidFill>
                  <a:srgbClr val="212121"/>
                </a:solidFill>
              </a:rPr>
              <a:t>תפעול</a:t>
            </a:r>
          </a:p>
        </p:txBody>
      </p:sp>
      <p:sp>
        <p:nvSpPr>
          <p:cNvPr id="13" name="TextBox 12"/>
          <p:cNvSpPr txBox="1"/>
          <p:nvPr/>
        </p:nvSpPr>
        <p:spPr>
          <a:xfrm>
            <a:off x="502920" y="3200400"/>
            <a:ext cx="61264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משתני סביבה · /health ולוגים · חזרה אחורה · תקרת עלות</a:t>
            </a:r>
          </a:p>
        </p:txBody>
      </p:sp>
      <p:sp>
        <p:nvSpPr>
          <p:cNvPr id="14" name="Rounded Rectangle 13"/>
          <p:cNvSpPr/>
          <p:nvPr/>
        </p:nvSpPr>
        <p:spPr>
          <a:xfrm>
            <a:off x="365760" y="4114800"/>
            <a:ext cx="8412480" cy="804672"/>
          </a:xfrm>
          <a:prstGeom prst="roundRect">
            <a:avLst>
              <a:gd name="adj" fmla="val 8000"/>
            </a:avLst>
          </a:prstGeom>
          <a:solidFill>
            <a:srgbClr val="E1F4E6"/>
          </a:solidFill>
          <a:ln w="31750">
            <a:solidFill>
              <a:srgbClr val="34A853"/>
            </a:solidFill>
          </a:ln>
        </p:spPr>
        <p:txBody>
          <a:bodyPr rtlCol="0" anchor="ctr" wrap="square" lIns="73152" rIns="73152" tIns="73152" bIns="73152">
            <a:noAutofit/>
          </a:bodyPr>
          <a:lstStyle/>
          <a:p>
            <a:pPr algn="ctr"/>
          </a:p>
        </p:txBody>
      </p:sp>
      <p:sp>
        <p:nvSpPr>
          <p:cNvPr id="15" name="TextBox 14"/>
          <p:cNvSpPr txBox="1"/>
          <p:nvPr/>
        </p:nvSpPr>
        <p:spPr>
          <a:xfrm>
            <a:off x="6675120" y="4114800"/>
            <a:ext cx="20116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000" b="1" i="0" lang="he-IL">
                <a:solidFill>
                  <a:srgbClr val="212121"/>
                </a:solidFill>
              </a:rPr>
              <a:t>משפט ואתיקה</a:t>
            </a:r>
          </a:p>
        </p:txBody>
      </p:sp>
      <p:sp>
        <p:nvSpPr>
          <p:cNvPr id="16" name="TextBox 15"/>
          <p:cNvSpPr txBox="1"/>
          <p:nvPr/>
        </p:nvSpPr>
        <p:spPr>
          <a:xfrm>
            <a:off x="502920" y="4114800"/>
            <a:ext cx="61264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נתונים סינתטיים · LICENSE · הצהרת AI · יומן ואחראי</a:t>
            </a:r>
          </a:p>
        </p:txBody>
      </p:sp>
      <p:sp>
        <p:nvSpPr>
          <p:cNvPr id="17" name="Tag חזרה"/>
          <p:cNvSpPr/>
          <p:nvPr/>
        </p:nvSpPr>
        <p:spPr>
          <a:xfrm>
            <a:off x="109728" y="91440"/>
            <a:ext cx="2484000" cy="384048"/>
          </a:xfrm>
          <a:prstGeom prst="roundRect">
            <a:avLst>
              <a:gd name="adj" fmla="val 40000"/>
            </a:avLst>
          </a:prstGeom>
          <a:solidFill>
            <a:srgbClr val="E6F4EA"/>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חזרה: מפגשים 5 עד 11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ב׳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מה היתרון של CI שמריץ בדיקות בכל push, ומה לא יתפוס?</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ב׳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מה היתרון של CI שמריץ בדיקות בכל push, ומה לא יתפוס?</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הוא מונע מיזוג של קוד שמפיל בדיקות, ומאפשר לשתף את הקוד בביטחון.</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הוא לא יתפוס מה שלא נבדק: בדיקות חסרות, או דרישות שלא נכתבו.</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מעבדה ב׳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10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HM_12.ipynb. חלק א׳: צ׳קליסט.</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HM_12.ipynb. חלק א׳: צ׳קליסט</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ל־HM_12.ipynb</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ב׳</a:t>
            </a:r>
            <a:r>
              <a:rPr sz="3000" b="0" i="0" lang="he-IL">
                <a:solidFill>
                  <a:srgbClr val="212121"/>
                </a:solidFill>
              </a:rPr>
              <a:t> : צ'קליסט שנבדק אוטומטית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10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לבדוק בקוד ראיות מתוך קבצי הפרויקט, לפני שחושפים אותו.</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קבצים ומפתחות</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missing_basics, find_secrets: קבצים בסיסיים ומפתח בקוד</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קישור שבור</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is_broken_link: ריק, ממלא מקום, או קובץ שלא קיים (מבנית בלבד)</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ביקורת והחלטה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prelaunch_audit, ready_to_launch: מה חוסם, ומה רק אזהרה</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חלק א׳ במחברת. הקוד בודק קיום ראיות בלבד: סעיף בלי ראיה נחשב ✘, והסימון בפרויקט נשאר שלכם.</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ב׳</a:t>
            </a:r>
            <a:r>
              <a:rPr sz="3000" b="0" i="0" lang="he-IL">
                <a:solidFill>
                  <a:srgbClr val="212121"/>
                </a:solidFill>
              </a:rPr>
              <a:t>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10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הפרויקט הנקי</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store_good: אין ממצאים, מוכן לחשיפה</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מפתח בקוד</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store_leaky: חוסם אחד, מפתח בקוד. לא מוכן</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הבלגן</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store_messy: ארבעה חוסמים ושתי אזהרות. לא מוכן</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store_hollow: אין ממצאים, אבל README הוא TODO: הביקורת בודקת קיום בלבד.</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ב׳</a:t>
            </a:r>
            <a:r>
              <a:rPr sz="3000" b="0" i="0" lang="he-IL">
                <a:solidFill>
                  <a:srgbClr val="212121"/>
                </a:solidFill>
              </a:rPr>
              <a:t> : בפרויקט, סימון לפי ראיה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בפרויקט</a:t>
            </a:r>
          </a:p>
        </p:txBody>
      </p:sp>
      <p:graphicFrame>
        <p:nvGraphicFramePr>
          <p:cNvPr id="6" name="Table 5"/>
          <p:cNvGraphicFramePr>
            <a:graphicFrameLocks noGrp="1"/>
          </p:cNvGraphicFramePr>
          <p:nvPr/>
        </p:nvGraphicFramePr>
        <p:xfrm>
          <a:off x="365760" y="1371600"/>
          <a:ext cx="8412476" cy="2560320"/>
        </p:xfrm>
        <a:graphic>
          <a:graphicData uri="http://schemas.openxmlformats.org/drawingml/2006/table">
            <a:tbl>
              <a:tblPr firstRow="0" bandRow="0">
                <a:tableStyleId>{2D5ABB26-0587-4C30-8999-92F81FD0307C}</a:tableStyleId>
              </a:tblPr>
              <a:tblGrid>
                <a:gridCol w="1463039"/>
                <a:gridCol w="2926079"/>
                <a:gridCol w="1097279"/>
                <a:gridCol w="2926079"/>
              </a:tblGrid>
              <a:tr h="640080">
                <a:tc>
                  <a:txBody>
                    <a:bodyPr wrap="square"/>
                    <a:lstStyle/>
                    <a:p>
                      <a:pPr rtl="1" algn="ctr" marL="0" indent="0">
                        <a:lnSpc>
                          <a:spcPct val="100000"/>
                        </a:lnSpc>
                        <a:spcBef>
                          <a:spcPts val="0"/>
                        </a:spcBef>
                        <a:spcAft>
                          <a:spcPts val="0"/>
                        </a:spcAft>
                        <a:buNone/>
                      </a:pPr>
                      <a:r>
                        <a:rPr sz="1500" b="1" i="0" lang="he-IL">
                          <a:solidFill>
                            <a:srgbClr val="212121"/>
                          </a:solidFill>
                        </a:rPr>
                        <a:t>אחראי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ראיה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סטטוס</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סעיף</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640080">
                <a:tc>
                  <a:txBody>
                    <a:bodyPr wrap="square"/>
                    <a:lstStyle/>
                    <a:p>
                      <a:pPr rtl="1" algn="r" marL="0" indent="0">
                        <a:lnSpc>
                          <a:spcPct val="100000"/>
                        </a:lnSpc>
                        <a:spcBef>
                          <a:spcPts val="0"/>
                        </a:spcBef>
                        <a:spcAft>
                          <a:spcPts val="0"/>
                        </a:spcAft>
                        <a:buNone/>
                      </a:pPr>
                      <a:r>
                        <a:rPr sz="1500" b="0" i="0" lang="he-IL">
                          <a:solidFill>
                            <a:srgbClr val="212121"/>
                          </a:solidFill>
                        </a:rPr>
                        <a:t>דנה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פלט pytest: 8 passed</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wrap="square"/>
                    <a:lstStyle/>
                    <a:p>
                      <a:pPr rtl="1" algn="r" marL="0" indent="0">
                        <a:lnSpc>
                          <a:spcPct val="100000"/>
                        </a:lnSpc>
                        <a:spcBef>
                          <a:spcPts val="0"/>
                        </a:spcBef>
                        <a:spcAft>
                          <a:spcPts val="0"/>
                        </a:spcAft>
                        <a:buNone/>
                      </a:pPr>
                      <a:r>
                        <a:rPr sz="1500" b="0" i="0" lang="he-IL">
                          <a:solidFill>
                            <a:srgbClr val="212121"/>
                          </a:solidFill>
                        </a:rPr>
                        <a:t>בדיקות ירוקות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40080">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c>
                  <a:txBody>
                    <a:bodyPr wrap="square"/>
                    <a:lstStyle/>
                    <a:p>
                      <a:pPr rtl="1" algn="r" marL="0" indent="0">
                        <a:lnSpc>
                          <a:spcPct val="100000"/>
                        </a:lnSpc>
                        <a:spcBef>
                          <a:spcPts val="0"/>
                        </a:spcBef>
                        <a:spcAft>
                          <a:spcPts val="0"/>
                        </a:spcAft>
                        <a:buNone/>
                      </a:pPr>
                      <a:r>
                        <a:rPr sz="1500" b="0" i="0" lang="he-IL">
                          <a:solidFill>
                            <a:srgbClr val="212121"/>
                          </a:solidFill>
                        </a:rPr>
                        <a:t>אין סוד בהיסטוריה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40080">
                <a:tc>
                  <a:txBody>
                    <a:bodyPr wrap="square"/>
                    <a:lstStyle/>
                    <a:p>
                      <a:pPr rtl="1" algn="r" marL="0" indent="0">
                        <a:lnSpc>
                          <a:spcPct val="100000"/>
                        </a:lnSpc>
                        <a:spcBef>
                          <a:spcPts val="0"/>
                        </a:spcBef>
                        <a:spcAft>
                          <a:spcPts val="0"/>
                        </a:spcAft>
                        <a:buNone/>
                      </a:pPr>
                      <a:r>
                        <a:rPr sz="1500" b="0" i="0" lang="he-IL">
                          <a:solidFill>
                            <a:srgbClr val="212121"/>
                          </a:solidFill>
                        </a:rPr>
                        <a:t>יוסי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README, סעיף נתונים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wrap="square"/>
                    <a:lstStyle/>
                    <a:p>
                      <a:pPr rtl="1" algn="r" marL="0" indent="0">
                        <a:lnSpc>
                          <a:spcPct val="100000"/>
                        </a:lnSpc>
                        <a:spcBef>
                          <a:spcPts val="0"/>
                        </a:spcBef>
                        <a:spcAft>
                          <a:spcPts val="0"/>
                        </a:spcAft>
                        <a:buNone/>
                      </a:pPr>
                      <a:r>
                        <a:rPr sz="1500" b="0" i="0" lang="he-IL">
                          <a:solidFill>
                            <a:srgbClr val="212121"/>
                          </a:solidFill>
                        </a:rPr>
                        <a:t>נתוני דמו סינתטיים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7" name="Rounded Rectangle 6"/>
          <p:cNvSpPr/>
          <p:nvPr/>
        </p:nvSpPr>
        <p:spPr>
          <a:xfrm>
            <a:off x="365760" y="4206240"/>
            <a:ext cx="8412480" cy="8229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212121"/>
                </a:solidFill>
              </a:rPr>
              <a:t>אחרי המחברת, על הפרויקט הקבוצתי: מסמנים לפי ראיה, ובוחרים שלושה פערים.</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ג׳ :הצהרת אי־ייעוץ משפטי</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371600"/>
            <a:ext cx="2697480" cy="32004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4630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7" name="TextBox 6"/>
          <p:cNvSpPr txBox="1"/>
          <p:nvPr/>
        </p:nvSpPr>
        <p:spPr>
          <a:xfrm>
            <a:off x="6263640" y="22860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מה כן</a:t>
            </a:r>
          </a:p>
        </p:txBody>
      </p:sp>
      <p:sp>
        <p:nvSpPr>
          <p:cNvPr id="8" name="TextBox 7"/>
          <p:cNvSpPr txBox="1"/>
          <p:nvPr/>
        </p:nvSpPr>
        <p:spPr>
          <a:xfrm>
            <a:off x="6309360" y="2971800"/>
            <a:ext cx="2423160" cy="1554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להכיר שאלות ומושגים, ולהבחין בין חוק, פסק דין, עמדת רשות ומדיניות ארגונית.</a:t>
            </a:r>
          </a:p>
        </p:txBody>
      </p:sp>
      <p:sp>
        <p:nvSpPr>
          <p:cNvPr id="9" name="Rounded Rectangle 8"/>
          <p:cNvSpPr/>
          <p:nvPr/>
        </p:nvSpPr>
        <p:spPr>
          <a:xfrm>
            <a:off x="3246120" y="1371600"/>
            <a:ext cx="2697480" cy="32004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4630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1" name="TextBox 10"/>
          <p:cNvSpPr txBox="1"/>
          <p:nvPr/>
        </p:nvSpPr>
        <p:spPr>
          <a:xfrm>
            <a:off x="3337560" y="22860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מה לא</a:t>
            </a:r>
          </a:p>
        </p:txBody>
      </p:sp>
      <p:sp>
        <p:nvSpPr>
          <p:cNvPr id="12" name="TextBox 11"/>
          <p:cNvSpPr txBox="1"/>
          <p:nvPr/>
        </p:nvSpPr>
        <p:spPr>
          <a:xfrm>
            <a:off x="3383279" y="2971800"/>
            <a:ext cx="2423160" cy="1554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זה לא ייעוץ משפטי ולא תשובה למקרה מסוים. בחשש ממשי פונים לעורך דין.</a:t>
            </a:r>
          </a:p>
        </p:txBody>
      </p:sp>
      <p:sp>
        <p:nvSpPr>
          <p:cNvPr id="13" name="Rounded Rectangle 12"/>
          <p:cNvSpPr/>
          <p:nvPr/>
        </p:nvSpPr>
        <p:spPr>
          <a:xfrm>
            <a:off x="320039" y="1371600"/>
            <a:ext cx="2697480" cy="320040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4630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5" name="TextBox 14"/>
          <p:cNvSpPr txBox="1"/>
          <p:nvPr/>
        </p:nvSpPr>
        <p:spPr>
          <a:xfrm>
            <a:off x="411479" y="22860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נכון ל־22.10.2026</a:t>
            </a:r>
          </a:p>
        </p:txBody>
      </p:sp>
      <p:sp>
        <p:nvSpPr>
          <p:cNvPr id="16" name="TextBox 15"/>
          <p:cNvSpPr txBox="1"/>
          <p:nvPr/>
        </p:nvSpPr>
        <p:spPr>
          <a:xfrm>
            <a:off x="457199" y="2971800"/>
            <a:ext cx="2423160" cy="1554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המצב משתנה. כל פסק דין ותאריך בשקפים נבדק מול מקור. מה שלא אומת הוצא.</a:t>
            </a:r>
          </a:p>
        </p:txBody>
      </p:sp>
      <p:sp>
        <p:nvSpPr>
          <p:cNvPr id="17" name="TextBox 16"/>
          <p:cNvSpPr txBox="1"/>
          <p:nvPr/>
        </p:nvSpPr>
        <p:spPr>
          <a:xfrm>
            <a:off x="365760" y="466344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דרגות ודאות: חוק מחייב · פסק דין (לפי הערכאה) · חוות דעת או הנחיה (לא תמיד מחייבת) · מדיניות הארגון שלכם.</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ג׳ :</a:t>
            </a:r>
            <a:r>
              <a:rPr sz="3000" b="1" i="0" lang="he-IL">
                <a:solidFill>
                  <a:srgbClr val="212121"/>
                </a:solidFill>
              </a:rPr>
              <a:t>מי הבעלים של קוד שנוצר ב־AI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2743200"/>
            <a:ext cx="2697480" cy="1737360"/>
          </a:xfrm>
          <a:prstGeom prst="roundRect">
            <a:avLst>
              <a:gd name="adj" fmla="val 12000"/>
            </a:avLst>
          </a:prstGeom>
          <a:solidFill>
            <a:srgbClr val="FDE3E0"/>
          </a:solidFill>
          <a:ln w="31750">
            <a:solidFill>
              <a:srgbClr val="EA4335"/>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1600" b="1" i="0" lang="he-IL">
                <a:solidFill>
                  <a:srgbClr val="EA4335"/>
                </a:solidFill>
              </a:rPr>
              <a:t>פלט AI בלבד</a:t>
            </a:r>
          </a:p>
          <a:p>
            <a:pPr rtl="1" algn="ctr" marL="0" indent="0">
              <a:lnSpc>
                <a:spcPct val="105000"/>
              </a:lnSpc>
              <a:spcBef>
                <a:spcPts val="0"/>
              </a:spcBef>
              <a:spcAft>
                <a:spcPts val="0"/>
              </a:spcAft>
              <a:buNone/>
            </a:pPr>
            <a:r>
              <a:rPr sz="1300" b="0" i="0" lang="he-IL">
                <a:solidFill>
                  <a:srgbClr val="212121"/>
                </a:solidFill>
              </a:rPr>
              <a:t>פרומפט, ללא שינוי. הגנה כנראה לא</a:t>
            </a:r>
          </a:p>
        </p:txBody>
      </p:sp>
      <p:sp>
        <p:nvSpPr>
          <p:cNvPr id="6" name="Rounded Rectangle 5"/>
          <p:cNvSpPr/>
          <p:nvPr/>
        </p:nvSpPr>
        <p:spPr>
          <a:xfrm>
            <a:off x="3246120" y="2103120"/>
            <a:ext cx="2697480" cy="2377439"/>
          </a:xfrm>
          <a:prstGeom prst="roundRect">
            <a:avLst>
              <a:gd name="adj" fmla="val 12000"/>
            </a:avLst>
          </a:prstGeom>
          <a:solidFill>
            <a:srgbClr val="FFF0D9"/>
          </a:solidFill>
          <a:ln w="31750">
            <a:solidFill>
              <a:srgbClr val="FFAB40"/>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1600" b="1" i="0" lang="he-IL">
                <a:solidFill>
                  <a:srgbClr val="FFAB40"/>
                </a:solidFill>
              </a:rPr>
              <a:t>פלט + בחירה וסידור</a:t>
            </a:r>
          </a:p>
          <a:p>
            <a:pPr rtl="1" algn="ctr" marL="0" indent="0">
              <a:lnSpc>
                <a:spcPct val="105000"/>
              </a:lnSpc>
              <a:spcBef>
                <a:spcPts val="0"/>
              </a:spcBef>
              <a:spcAft>
                <a:spcPts val="0"/>
              </a:spcAft>
              <a:buNone/>
            </a:pPr>
            <a:r>
              <a:rPr sz="1300" b="0" i="0" lang="he-IL">
                <a:solidFill>
                  <a:srgbClr val="212121"/>
                </a:solidFill>
              </a:rPr>
              <a:t>בחירה יצירתית של חלקים. הגנה אפשרית על הסידור</a:t>
            </a:r>
          </a:p>
        </p:txBody>
      </p:sp>
      <p:sp>
        <p:nvSpPr>
          <p:cNvPr id="7" name="Rounded Rectangle 6"/>
          <p:cNvSpPr/>
          <p:nvPr/>
        </p:nvSpPr>
        <p:spPr>
          <a:xfrm>
            <a:off x="320039" y="1463040"/>
            <a:ext cx="2697480" cy="3017520"/>
          </a:xfrm>
          <a:prstGeom prst="roundRect">
            <a:avLst>
              <a:gd name="adj" fmla="val 12000"/>
            </a:avLst>
          </a:prstGeom>
          <a:solidFill>
            <a:srgbClr val="E1F4E6"/>
          </a:solidFill>
          <a:ln w="31750">
            <a:solidFill>
              <a:srgbClr val="34A853"/>
            </a:solidFill>
          </a:ln>
        </p:spPr>
        <p:txBody>
          <a:bodyPr rtlCol="0" anchor="t" wrap="square" lIns="73152" rIns="73152" tIns="73152" bIns="73152">
            <a:noAutofit/>
          </a:bodyPr>
          <a:lstStyle/>
          <a:p>
            <a:pPr rtl="1" algn="ctr" marL="0" indent="0">
              <a:lnSpc>
                <a:spcPct val="105000"/>
              </a:lnSpc>
              <a:spcBef>
                <a:spcPts val="0"/>
              </a:spcBef>
              <a:spcAft>
                <a:spcPts val="0"/>
              </a:spcAft>
              <a:buNone/>
            </a:pPr>
            <a:r>
              <a:rPr sz="1600" b="1" i="0" lang="he-IL">
                <a:solidFill>
                  <a:srgbClr val="34A853"/>
                </a:solidFill>
              </a:rPr>
              <a:t>פלט + שינוי של ממש</a:t>
            </a:r>
          </a:p>
          <a:p>
            <a:pPr rtl="1" algn="ctr" marL="0" indent="0">
              <a:lnSpc>
                <a:spcPct val="105000"/>
              </a:lnSpc>
              <a:spcBef>
                <a:spcPts val="0"/>
              </a:spcBef>
              <a:spcAft>
                <a:spcPts val="0"/>
              </a:spcAft>
              <a:buNone/>
            </a:pPr>
            <a:r>
              <a:rPr sz="1300" b="0" i="0" lang="he-IL">
                <a:solidFill>
                  <a:srgbClr val="212121"/>
                </a:solidFill>
              </a:rPr>
              <a:t>אדם משנה, כותב ומשלב. הגנה על התרומה האנושית</a:t>
            </a:r>
          </a:p>
        </p:txBody>
      </p:sp>
      <p:sp>
        <p:nvSpPr>
          <p:cNvPr id="8" name="TextBox 7"/>
          <p:cNvSpPr txBox="1"/>
          <p:nvPr/>
        </p:nvSpPr>
        <p:spPr>
          <a:xfrm>
            <a:off x="4846320" y="1280160"/>
            <a:ext cx="3931920" cy="82296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4285F4"/>
                </a:solidFill>
              </a:rPr>
              <a:t>יותר תרומה אנושית, יותר הגנה אפשרית.</a:t>
            </a:r>
          </a:p>
        </p:txBody>
      </p:sp>
      <p:sp>
        <p:nvSpPr>
          <p:cNvPr id="9" name="TextBox 8"/>
          <p:cNvSpPr txBox="1"/>
          <p:nvPr/>
        </p:nvSpPr>
        <p:spPr>
          <a:xfrm>
            <a:off x="365760" y="4617720"/>
            <a:ext cx="8412480" cy="5029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US Copyright Office, חלק 2 (29.1.2025): פרומפטים לבדם אינם מספקים שליטה מספקת. נכון ל־22.10.2026. לא ייעוץ משפטי.</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ג׳ :</a:t>
            </a:r>
            <a:r>
              <a:rPr sz="3000" b="1" i="0" lang="he-IL">
                <a:solidFill>
                  <a:srgbClr val="212121"/>
                </a:solidFill>
              </a:rPr>
              <a:t>שתי שאלות שונות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371600"/>
            <a:ext cx="4114800" cy="283464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4285F4"/>
                </a:solidFill>
              </a:rPr>
              <a:t>1. האימון</a:t>
            </a:r>
          </a:p>
          <a:p>
            <a:pPr rtl="1" algn="ctr" marL="0" indent="0">
              <a:lnSpc>
                <a:spcPct val="105000"/>
              </a:lnSpc>
              <a:spcBef>
                <a:spcPts val="0"/>
              </a:spcBef>
              <a:spcAft>
                <a:spcPts val="0"/>
              </a:spcAft>
              <a:buNone/>
            </a:pPr>
            <a:r>
              <a:rPr sz="1500" b="0" i="0" lang="he-IL">
                <a:solidFill>
                  <a:srgbClr val="212121"/>
                </a:solidFill>
              </a:rPr>
              <a:t>האם המודל אומן על יצירות מוגנות בצורה חוקית?</a:t>
            </a:r>
          </a:p>
          <a:p>
            <a:pPr rtl="1" algn="ctr" marL="0" indent="0">
              <a:lnSpc>
                <a:spcPct val="105000"/>
              </a:lnSpc>
              <a:spcBef>
                <a:spcPts val="0"/>
              </a:spcBef>
              <a:spcAft>
                <a:spcPts val="0"/>
              </a:spcAft>
              <a:buNone/>
            </a:pPr>
            <a:r>
              <a:rPr sz="1300" b="0" i="0" lang="he-IL">
                <a:solidFill>
                  <a:srgbClr val="595959"/>
                </a:solidFill>
              </a:rPr>
              <a:t>משתנה בין מדינות. בישראל: חוות דעת משרד המשפטים (18.12.2022, לא מחייבת): בדרך כלל מותר. לפלט היא לא מתייחסת.</a:t>
            </a:r>
          </a:p>
        </p:txBody>
      </p:sp>
      <p:sp>
        <p:nvSpPr>
          <p:cNvPr id="6" name="Rounded Rectangle 5"/>
          <p:cNvSpPr/>
          <p:nvPr/>
        </p:nvSpPr>
        <p:spPr>
          <a:xfrm>
            <a:off x="365760" y="1371600"/>
            <a:ext cx="4114800" cy="283464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FFAB40"/>
                </a:solidFill>
              </a:rPr>
              <a:t>2. הפלט</a:t>
            </a:r>
          </a:p>
          <a:p>
            <a:pPr rtl="1" algn="ctr" marL="0" indent="0">
              <a:lnSpc>
                <a:spcPct val="105000"/>
              </a:lnSpc>
              <a:spcBef>
                <a:spcPts val="0"/>
              </a:spcBef>
              <a:spcAft>
                <a:spcPts val="0"/>
              </a:spcAft>
              <a:buNone/>
            </a:pPr>
            <a:r>
              <a:rPr sz="1500" b="0" i="0" lang="he-IL">
                <a:solidFill>
                  <a:srgbClr val="212121"/>
                </a:solidFill>
              </a:rPr>
              <a:t>האם מה שקיבלתי מוגן, או מפר זכויות של אחרים?</a:t>
            </a:r>
          </a:p>
          <a:p>
            <a:pPr rtl="1" algn="ctr" marL="0" indent="0">
              <a:lnSpc>
                <a:spcPct val="105000"/>
              </a:lnSpc>
              <a:spcBef>
                <a:spcPts val="0"/>
              </a:spcBef>
              <a:spcAft>
                <a:spcPts val="0"/>
              </a:spcAft>
              <a:buNone/>
            </a:pPr>
            <a:r>
              <a:rPr sz="1300" b="0" i="0" lang="he-IL">
                <a:solidFill>
                  <a:srgbClr val="595959"/>
                </a:solidFill>
              </a:rPr>
              <a:t>תלוי בפלט הספציפי: דמיון מהותי ליצירה קיימת הוא סיכון. צריך בדיקה פרטנית.</a:t>
            </a:r>
          </a:p>
        </p:txBody>
      </p:sp>
      <p:sp>
        <p:nvSpPr>
          <p:cNvPr id="7" name="TextBox 6"/>
          <p:cNvSpPr txBox="1"/>
          <p:nvPr/>
        </p:nvSpPr>
        <p:spPr>
          <a:xfrm>
            <a:off x="365760" y="448056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800" b="1" i="0" lang="he-IL">
                <a:solidFill>
                  <a:srgbClr val="212121"/>
                </a:solidFill>
              </a:rPr>
              <a:t>גם אם האימון חוקי, הפלט עלול להפר. את השאלה השנייה בודקים בכל פעם.</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ג׳ :</a:t>
            </a:r>
            <a:r>
              <a:rPr sz="3000" b="1" i="0" lang="he-IL">
                <a:solidFill>
                  <a:srgbClr val="212121"/>
                </a:solidFill>
              </a:rPr>
              <a:t>רישיונות קוד פתוח ו־AI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80" cy="3108960"/>
        </p:xfrm>
        <a:graphic>
          <a:graphicData uri="http://schemas.openxmlformats.org/drawingml/2006/table">
            <a:tbl>
              <a:tblPr firstRow="0" bandRow="0">
                <a:tableStyleId>{2D5ABB26-0587-4C30-8999-92F81FD0307C}</a:tableStyleId>
              </a:tblPr>
              <a:tblGrid>
                <a:gridCol w="4389120"/>
                <a:gridCol w="2194560"/>
                <a:gridCol w="1828800"/>
              </a:tblGrid>
              <a:tr h="777240">
                <a:tc>
                  <a:txBody>
                    <a:bodyPr wrap="square"/>
                    <a:lstStyle/>
                    <a:p>
                      <a:pPr rtl="1" algn="ctr" marL="0" indent="0">
                        <a:lnSpc>
                          <a:spcPct val="100000"/>
                        </a:lnSpc>
                        <a:spcBef>
                          <a:spcPts val="0"/>
                        </a:spcBef>
                        <a:spcAft>
                          <a:spcPts val="0"/>
                        </a:spcAft>
                        <a:buNone/>
                      </a:pPr>
                      <a:r>
                        <a:rPr sz="1400" b="1" i="0" lang="he-IL">
                          <a:solidFill>
                            <a:srgbClr val="212121"/>
                          </a:solidFill>
                        </a:rPr>
                        <a:t>מה אתם צריכים לעשות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דוגמאות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סוג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777240">
                <a:tc>
                  <a:txBody>
                    <a:bodyPr wrap="square"/>
                    <a:lstStyle/>
                    <a:p>
                      <a:pPr rtl="1" algn="r" marL="0" indent="0">
                        <a:lnSpc>
                          <a:spcPct val="100000"/>
                        </a:lnSpc>
                        <a:spcBef>
                          <a:spcPts val="0"/>
                        </a:spcBef>
                        <a:spcAft>
                          <a:spcPts val="0"/>
                        </a:spcAft>
                        <a:buNone/>
                      </a:pPr>
                      <a:r>
                        <a:rPr sz="1400" b="0" i="0" lang="he-IL">
                          <a:solidFill>
                            <a:srgbClr val="212121"/>
                          </a:solidFill>
                        </a:rPr>
                        <a:t>לשמור את הודעת הזכויות. מותר לשלב במוצר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MIT, Apache-2.0, BSD</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מתירני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r>
              <a:tr h="777240">
                <a:tc>
                  <a:txBody>
                    <a:bodyPr wrap="square"/>
                    <a:lstStyle/>
                    <a:p>
                      <a:pPr rtl="1" algn="r" marL="0" indent="0">
                        <a:lnSpc>
                          <a:spcPct val="100000"/>
                        </a:lnSpc>
                        <a:spcBef>
                          <a:spcPts val="0"/>
                        </a:spcBef>
                        <a:spcAft>
                          <a:spcPts val="0"/>
                        </a:spcAft>
                        <a:buNone/>
                      </a:pPr>
                      <a:r>
                        <a:rPr sz="1400" b="0" i="0" lang="he-IL">
                          <a:solidFill>
                            <a:srgbClr val="212121"/>
                          </a:solidFill>
                        </a:rPr>
                        <a:t>קוד נגזר עשוי להתחייב באותו רישיון: לבדוק לפני שילוב. AGPL חל גם על שירות ברשת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LGPL, GPL, AGPL</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קופילפט חלש/חזק</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r>
              <a:tr h="777240">
                <a:tc>
                  <a:txBody>
                    <a:bodyPr wrap="square"/>
                    <a:lstStyle/>
                    <a:p>
                      <a:pPr rtl="1" algn="r" marL="0" indent="0">
                        <a:lnSpc>
                          <a:spcPct val="100000"/>
                        </a:lnSpc>
                        <a:spcBef>
                          <a:spcPts val="0"/>
                        </a:spcBef>
                        <a:spcAft>
                          <a:spcPts val="0"/>
                        </a:spcAft>
                        <a:buNone/>
                      </a:pPr>
                      <a:r>
                        <a:rPr sz="1400" b="0" i="0" lang="he-IL">
                          <a:solidFill>
                            <a:srgbClr val="212121"/>
                          </a:solidFill>
                        </a:rPr>
                        <a:t>ברירת מחדל: כל הזכויות שמורות. לא להשתמש בלי אישור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קוד בלי LICENSE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ללא רישיון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r>
            </a:tbl>
          </a:graphicData>
        </a:graphic>
      </p:graphicFrame>
      <p:sp>
        <p:nvSpPr>
          <p:cNvPr id="6" name="Rounded Rectangle 5"/>
          <p:cNvSpPr/>
          <p:nvPr/>
        </p:nvSpPr>
        <p:spPr>
          <a:xfrm>
            <a:off x="365760" y="4572000"/>
            <a:ext cx="8412480" cy="54864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מודל יכול לשחזר קטע ציבורי עם רישיון. בודקים ולא סומכים.</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ג׳ :</a:t>
            </a:r>
            <a:r>
              <a:rPr sz="3000" b="1" i="0" lang="he-IL">
                <a:solidFill>
                  <a:srgbClr val="212121"/>
                </a:solidFill>
              </a:rPr>
              <a:t>בודקים רישיונות של תלויות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5486400" cy="3383280"/>
          </a:xfrm>
          <a:prstGeom prst="roundRect">
            <a:avLst>
              <a:gd name="adj" fmla="val 3000"/>
            </a:avLst>
          </a:prstGeom>
          <a:solidFill>
            <a:srgbClr val="1E1E1E"/>
          </a:solidFill>
          <a:ln w="19050">
            <a:solidFill>
              <a:srgbClr val="1E1E1E"/>
            </a:solidFill>
          </a:ln>
        </p:spPr>
        <p:txBody>
          <a:bodyPr rtlCol="0" anchor="ctr" wrap="square" lIns="73152" rIns="73152" tIns="73152" bIns="73152">
            <a:noAutofit/>
          </a:bodyPr>
          <a:lstStyle/>
          <a:p>
            <a:pPr algn="ctr"/>
          </a:p>
        </p:txBody>
      </p:sp>
      <p:sp>
        <p:nvSpPr>
          <p:cNvPr id="6" name="Rectangle 5"/>
          <p:cNvSpPr/>
          <p:nvPr/>
        </p:nvSpPr>
        <p:spPr>
          <a:xfrm>
            <a:off x="365760" y="1371600"/>
            <a:ext cx="5486400" cy="310896"/>
          </a:xfrm>
          <a:prstGeom prst="rect">
            <a:avLst/>
          </a:prstGeom>
          <a:solidFill>
            <a:srgbClr val="333333"/>
          </a:solidFill>
          <a:ln w="19050">
            <a:solidFill>
              <a:srgbClr val="333333"/>
            </a:solidFill>
          </a:ln>
        </p:spPr>
        <p:txBody>
          <a:bodyPr rtlCol="0" anchor="ctr" wrap="square" lIns="73152" rIns="73152" tIns="73152" bIns="73152">
            <a:noAutofit/>
          </a:bodyPr>
          <a:lstStyle/>
          <a:p>
            <a:pPr rtl="1" algn="l" marL="0" indent="0">
              <a:lnSpc>
                <a:spcPct val="105000"/>
              </a:lnSpc>
              <a:spcBef>
                <a:spcPts val="0"/>
              </a:spcBef>
              <a:spcAft>
                <a:spcPts val="0"/>
              </a:spcAft>
              <a:buNone/>
            </a:pPr>
            <a:r>
              <a:rPr sz="1200" b="0" i="0" lang="he-IL">
                <a:solidFill>
                  <a:srgbClr val="BBBBBB"/>
                </a:solidFill>
              </a:rPr>
              <a:t>● ● ●   מסוף (Terminal)</a:t>
            </a:r>
          </a:p>
        </p:txBody>
      </p:sp>
      <p:sp>
        <p:nvSpPr>
          <p:cNvPr id="7" name="TextBox 6"/>
          <p:cNvSpPr txBox="1"/>
          <p:nvPr/>
        </p:nvSpPr>
        <p:spPr>
          <a:xfrm>
            <a:off x="457200" y="1755648"/>
            <a:ext cx="5303520" cy="2926080"/>
          </a:xfrm>
          <a:prstGeom prst="rect">
            <a:avLst/>
          </a:prstGeom>
          <a:noFill/>
        </p:spPr>
        <p:txBody>
          <a:bodyPr wrap="square" lIns="36576" rIns="36576" tIns="36576" bIns="36576" anchor="t">
            <a:noAutofit/>
          </a:bodyPr>
          <a:lstStyle/>
          <a:p>
            <a:pPr rtl="0" algn="l" marL="0" indent="0">
              <a:lnSpc>
                <a:spcPct val="114999"/>
              </a:lnSpc>
              <a:spcBef>
                <a:spcPts val="0"/>
              </a:spcBef>
              <a:spcAft>
                <a:spcPts val="0"/>
              </a:spcAft>
              <a:buNone/>
            </a:pPr>
            <a:r>
              <a:rPr sz="1200" b="0" i="0" lang="he-IL">
                <a:solidFill>
                  <a:srgbClr val="7CFC8A"/>
                </a:solidFill>
                <a:latin typeface="Courier New"/>
                <a:ea typeface="Courier New"/>
                <a:cs typeface="Courier New"/>
              </a:rPr>
              <a:t>$ pip install pip-licenses</a:t>
            </a:r>
          </a:p>
          <a:p>
            <a:pPr rtl="0" algn="l" marL="0" indent="0">
              <a:lnSpc>
                <a:spcPct val="114999"/>
              </a:lnSpc>
              <a:spcBef>
                <a:spcPts val="0"/>
              </a:spcBef>
              <a:spcAft>
                <a:spcPts val="0"/>
              </a:spcAft>
              <a:buNone/>
            </a:pPr>
            <a:r>
              <a:rPr sz="1200" b="0" i="0" lang="he-IL">
                <a:solidFill>
                  <a:srgbClr val="7CFC8A"/>
                </a:solidFill>
                <a:latin typeface="Courier New"/>
                <a:ea typeface="Courier New"/>
                <a:cs typeface="Courier New"/>
              </a:rPr>
              <a:t>$ pip-licenses --packages fastapi pandas celery ...</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celery     5.6.3    BSD-3-Clause</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fastapi    0.143.3  MIT</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flower     2.2.0    BSD License</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pandas     2.3.3    BSD License</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pydantic   2.14.1   MIT</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redis      8.1.0    MIT</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requests   2.34.2   Apache Software License</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streamlit  1.65.0   Apache-2.0</a:t>
            </a:r>
          </a:p>
        </p:txBody>
      </p:sp>
      <p:sp>
        <p:nvSpPr>
          <p:cNvPr id="8" name="Rounded Rectangle 7"/>
          <p:cNvSpPr/>
          <p:nvPr/>
        </p:nvSpPr>
        <p:spPr>
          <a:xfrm>
            <a:off x="6035040" y="1417320"/>
            <a:ext cx="2743200" cy="96012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34A853"/>
                </a:solidFill>
              </a:rPr>
              <a:t>MIT / BSD / Apache</a:t>
            </a:r>
          </a:p>
          <a:p>
            <a:pPr rtl="1" algn="ctr" marL="0" indent="0">
              <a:lnSpc>
                <a:spcPct val="105000"/>
              </a:lnSpc>
              <a:spcBef>
                <a:spcPts val="0"/>
              </a:spcBef>
              <a:spcAft>
                <a:spcPts val="0"/>
              </a:spcAft>
              <a:buNone/>
            </a:pPr>
            <a:r>
              <a:rPr sz="1200" b="0" i="0" lang="he-IL">
                <a:solidFill>
                  <a:srgbClr val="212121"/>
                </a:solidFill>
              </a:rPr>
              <a:t>מתירניים: מתאים לפרויקט</a:t>
            </a:r>
          </a:p>
        </p:txBody>
      </p:sp>
      <p:sp>
        <p:nvSpPr>
          <p:cNvPr id="9" name="Rounded Rectangle 8"/>
          <p:cNvSpPr/>
          <p:nvPr/>
        </p:nvSpPr>
        <p:spPr>
          <a:xfrm>
            <a:off x="6035040" y="2514600"/>
            <a:ext cx="2743200" cy="960120"/>
          </a:xfrm>
          <a:prstGeom prst="roundRect">
            <a:avLst>
              <a:gd name="adj" fmla="val 12000"/>
            </a:avLst>
          </a:prstGeom>
          <a:solidFill>
            <a:srgbClr val="FFFFFF"/>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FFAB40"/>
                </a:solidFill>
              </a:rPr>
              <a:t>GPL / AGPL</a:t>
            </a:r>
          </a:p>
          <a:p>
            <a:pPr rtl="1" algn="ctr" marL="0" indent="0">
              <a:lnSpc>
                <a:spcPct val="105000"/>
              </a:lnSpc>
              <a:spcBef>
                <a:spcPts val="0"/>
              </a:spcBef>
              <a:spcAft>
                <a:spcPts val="0"/>
              </a:spcAft>
              <a:buNone/>
            </a:pPr>
            <a:r>
              <a:rPr sz="1200" b="0" i="0" lang="he-IL">
                <a:solidFill>
                  <a:srgbClr val="212121"/>
                </a:solidFill>
              </a:rPr>
              <a:t>דורש בדיקה לפני שילוב</a:t>
            </a:r>
          </a:p>
        </p:txBody>
      </p:sp>
      <p:sp>
        <p:nvSpPr>
          <p:cNvPr id="10" name="Rounded Rectangle 9"/>
          <p:cNvSpPr/>
          <p:nvPr/>
        </p:nvSpPr>
        <p:spPr>
          <a:xfrm>
            <a:off x="6035040" y="3611880"/>
            <a:ext cx="2743200" cy="960120"/>
          </a:xfrm>
          <a:prstGeom prst="roundRect">
            <a:avLst>
              <a:gd name="adj" fmla="val 12000"/>
            </a:avLst>
          </a:prstGeom>
          <a:solidFill>
            <a:srgbClr val="FFFFFF"/>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EA4335"/>
                </a:solidFill>
              </a:rPr>
              <a:t>לא ידוע</a:t>
            </a:r>
          </a:p>
          <a:p>
            <a:pPr rtl="1" algn="ctr" marL="0" indent="0">
              <a:lnSpc>
                <a:spcPct val="105000"/>
              </a:lnSpc>
              <a:spcBef>
                <a:spcPts val="0"/>
              </a:spcBef>
              <a:spcAft>
                <a:spcPts val="0"/>
              </a:spcAft>
              <a:buNone/>
            </a:pPr>
            <a:r>
              <a:rPr sz="1200" b="0" i="0" lang="he-IL">
                <a:solidFill>
                  <a:srgbClr val="212121"/>
                </a:solidFill>
              </a:rPr>
              <a:t>לבדוק ידנית את המאגר</a:t>
            </a:r>
          </a:p>
        </p:txBody>
      </p:sp>
      <p:sp>
        <p:nvSpPr>
          <p:cNvPr id="11" name="Tag אופציונלי"/>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ג׳ :</a:t>
            </a:r>
            <a:r>
              <a:rPr sz="3000" b="1" i="0" lang="he-IL">
                <a:solidFill>
                  <a:srgbClr val="212121"/>
                </a:solidFill>
              </a:rPr>
              <a:t>פרטיות: מה אסור להעביר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371600"/>
            <a:ext cx="2697480" cy="32004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4630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7" name="TextBox 6"/>
          <p:cNvSpPr txBox="1"/>
          <p:nvPr/>
        </p:nvSpPr>
        <p:spPr>
          <a:xfrm>
            <a:off x="6263640" y="22860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ישראל</a:t>
            </a:r>
          </a:p>
        </p:txBody>
      </p:sp>
      <p:sp>
        <p:nvSpPr>
          <p:cNvPr id="8" name="TextBox 7"/>
          <p:cNvSpPr txBox="1"/>
          <p:nvPr/>
        </p:nvSpPr>
        <p:spPr>
          <a:xfrm>
            <a:off x="6309360" y="2971800"/>
            <a:ext cx="2423160" cy="1554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תיקון 13 (בתוקף 14.8.2025): ״מידע אישי״ הוא כל נתון על אדם מזוהה או ניתן לזיהוי. עיצומים כספיים. ממונה בארגונים מסוימים.</a:t>
            </a:r>
          </a:p>
        </p:txBody>
      </p:sp>
      <p:sp>
        <p:nvSpPr>
          <p:cNvPr id="9" name="Rounded Rectangle 8"/>
          <p:cNvSpPr/>
          <p:nvPr/>
        </p:nvSpPr>
        <p:spPr>
          <a:xfrm>
            <a:off x="3246120" y="1371600"/>
            <a:ext cx="2697480" cy="32004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4630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1" name="TextBox 10"/>
          <p:cNvSpPr txBox="1"/>
          <p:nvPr/>
        </p:nvSpPr>
        <p:spPr>
          <a:xfrm>
            <a:off x="3337560" y="22860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אירופה (GDPR)</a:t>
            </a:r>
          </a:p>
        </p:txBody>
      </p:sp>
      <p:sp>
        <p:nvSpPr>
          <p:cNvPr id="12" name="TextBox 11"/>
          <p:cNvSpPr txBox="1"/>
          <p:nvPr/>
        </p:nvSpPr>
        <p:spPr>
          <a:xfrm>
            <a:off x="3383279" y="2971800"/>
            <a:ext cx="2423160" cy="1554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חל גם על ארגון מחוץ לאיחוד שמציע שירות לאנשים באיחוד, או עוקב אחריהם.</a:t>
            </a:r>
          </a:p>
        </p:txBody>
      </p:sp>
      <p:sp>
        <p:nvSpPr>
          <p:cNvPr id="13" name="Rounded Rectangle 12"/>
          <p:cNvSpPr/>
          <p:nvPr/>
        </p:nvSpPr>
        <p:spPr>
          <a:xfrm>
            <a:off x="320039" y="1371600"/>
            <a:ext cx="2697480" cy="320040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4630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5" name="TextBox 14"/>
          <p:cNvSpPr txBox="1"/>
          <p:nvPr/>
        </p:nvSpPr>
        <p:spPr>
          <a:xfrm>
            <a:off x="411479" y="22860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מה זה אומר לכם</a:t>
            </a:r>
          </a:p>
        </p:txBody>
      </p:sp>
      <p:sp>
        <p:nvSpPr>
          <p:cNvPr id="16" name="TextBox 15"/>
          <p:cNvSpPr txBox="1"/>
          <p:nvPr/>
        </p:nvSpPr>
        <p:spPr>
          <a:xfrm>
            <a:off x="457199" y="2971800"/>
            <a:ext cx="2423160" cy="1554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מידע אישי אמיתי לא נכנס לכלי AI חיצוני בלי הצדקה חוקית ובדיקת תנאי הספק. בשכבה חינמית התוכן עשוי לשמש לשיפור המוצר.</a:t>
            </a:r>
          </a:p>
        </p:txBody>
      </p:sp>
      <p:sp>
        <p:nvSpPr>
          <p:cNvPr id="17" name="TextBox 16"/>
          <p:cNvSpPr txBox="1"/>
          <p:nvPr/>
        </p:nvSpPr>
        <p:spPr>
          <a:xfrm>
            <a:off x="365760" y="466344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מקורות: מדריך תיקון 13 של הרשות להגנת הפרטיות (2025), GDPR סעיף 3(2), תנאי Gemini API. נכון ל־22.10.2026. לא ייעוץ משפטי.</a:t>
            </a:r>
          </a:p>
        </p:txBody>
      </p:sp>
      <p:sp>
        <p:nvSpPr>
          <p:cNvPr id="18" name="Tag חזרה"/>
          <p:cNvSpPr/>
          <p:nvPr/>
        </p:nvSpPr>
        <p:spPr>
          <a:xfrm>
            <a:off x="109728" y="91440"/>
            <a:ext cx="1620000" cy="384048"/>
          </a:xfrm>
          <a:prstGeom prst="roundRect">
            <a:avLst>
              <a:gd name="adj" fmla="val 40000"/>
            </a:avLst>
          </a:prstGeom>
          <a:solidFill>
            <a:srgbClr val="E6F4EA"/>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חזרה: מפגש 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ג׳ :</a:t>
            </a:r>
            <a:r>
              <a:rPr sz="3000" b="1" i="0" lang="he-IL">
                <a:solidFill>
                  <a:srgbClr val="212121"/>
                </a:solidFill>
              </a:rPr>
              <a:t>מי אחראי כשה־AI טועה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371600"/>
            <a:ext cx="4114800" cy="310896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4285F4"/>
                </a:solidFill>
              </a:rPr>
              <a:t>✈️ Air Canada, 2024</a:t>
            </a:r>
          </a:p>
          <a:p>
            <a:pPr rtl="1" algn="ctr" marL="0" indent="0">
              <a:lnSpc>
                <a:spcPct val="105000"/>
              </a:lnSpc>
              <a:spcBef>
                <a:spcPts val="0"/>
              </a:spcBef>
              <a:spcAft>
                <a:spcPts val="0"/>
              </a:spcAft>
              <a:buNone/>
            </a:pPr>
            <a:r>
              <a:rPr sz="1400" b="0" i="0" lang="he-IL">
                <a:solidFill>
                  <a:srgbClr val="212121"/>
                </a:solidFill>
              </a:rPr>
              <a:t>צ׳אטבוט הציג מדיניות החזר שגויה. בית דין מקוון בקנדה (14.2.2024) קבע שהחברה אחראית, וחייב אותה בכ־812 דולר קנדי.</a:t>
            </a:r>
          </a:p>
          <a:p>
            <a:pPr rtl="1" algn="ctr" marL="0" indent="0">
              <a:lnSpc>
                <a:spcPct val="105000"/>
              </a:lnSpc>
              <a:spcBef>
                <a:spcPts val="0"/>
              </a:spcBef>
              <a:spcAft>
                <a:spcPts val="0"/>
              </a:spcAft>
              <a:buNone/>
            </a:pPr>
            <a:r>
              <a:rPr sz="1200" b="0" i="0" lang="he-IL">
                <a:solidFill>
                  <a:srgbClr val="595959"/>
                </a:solidFill>
              </a:rPr>
              <a:t>(Moffatt נ' Air Canada, 2024 BCCRT 149; ערכאה קטנה)</a:t>
            </a:r>
          </a:p>
        </p:txBody>
      </p:sp>
      <p:sp>
        <p:nvSpPr>
          <p:cNvPr id="6" name="Rounded Rectangle 5"/>
          <p:cNvSpPr/>
          <p:nvPr/>
        </p:nvSpPr>
        <p:spPr>
          <a:xfrm>
            <a:off x="365760" y="1371600"/>
            <a:ext cx="4114800" cy="310896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FFAB40"/>
                </a:solidFill>
              </a:rPr>
              <a:t>💻 Samsung, 2023</a:t>
            </a:r>
          </a:p>
          <a:p>
            <a:pPr rtl="1" algn="ctr" marL="0" indent="0">
              <a:lnSpc>
                <a:spcPct val="105000"/>
              </a:lnSpc>
              <a:spcBef>
                <a:spcPts val="0"/>
              </a:spcBef>
              <a:spcAft>
                <a:spcPts val="0"/>
              </a:spcAft>
              <a:buNone/>
            </a:pPr>
            <a:r>
              <a:rPr sz="1400" b="0" i="0" lang="he-IL">
                <a:solidFill>
                  <a:srgbClr val="212121"/>
                </a:solidFill>
              </a:rPr>
              <a:t>לפי דיווחים, באפריל 2023 מהנדסים הדביקו קוד פנימי ל־ChatGPT, ובמאי החברה הגבילה שימוש בכלים כאלה.</a:t>
            </a:r>
          </a:p>
          <a:p>
            <a:pPr rtl="1" algn="ctr" marL="0" indent="0">
              <a:lnSpc>
                <a:spcPct val="105000"/>
              </a:lnSpc>
              <a:spcBef>
                <a:spcPts val="0"/>
              </a:spcBef>
              <a:spcAft>
                <a:spcPts val="0"/>
              </a:spcAft>
              <a:buNone/>
            </a:pPr>
            <a:r>
              <a:rPr sz="1200" b="0" i="0" lang="he-IL">
                <a:solidFill>
                  <a:srgbClr val="595959"/>
                </a:solidFill>
              </a:rPr>
              <a:t>(דיווחי תקשורת, לא מסמך רשמי)</a:t>
            </a:r>
          </a:p>
        </p:txBody>
      </p:sp>
      <p:sp>
        <p:nvSpPr>
          <p:cNvPr id="7" name="TextBox 6"/>
          <p:cNvSpPr txBox="1"/>
          <p:nvPr/>
        </p:nvSpPr>
        <p:spPr>
          <a:xfrm>
            <a:off x="365760" y="4617720"/>
            <a:ext cx="8412480" cy="5029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212121"/>
                </a:solidFill>
              </a:rPr>
              <a:t>מי שמפעיל מערכת צפוי לשאת באחריות למה שהיא אומרת.</a:t>
            </a:r>
          </a:p>
        </p:txBody>
      </p:sp>
      <p:sp>
        <p:nvSpPr>
          <p:cNvPr id="8" name="Tag חזרה"/>
          <p:cNvSpPr/>
          <p:nvPr/>
        </p:nvSpPr>
        <p:spPr>
          <a:xfrm>
            <a:off x="109728" y="91440"/>
            <a:ext cx="1620000" cy="384048"/>
          </a:xfrm>
          <a:prstGeom prst="roundRect">
            <a:avLst>
              <a:gd name="adj" fmla="val 40000"/>
            </a:avLst>
          </a:prstGeom>
          <a:solidFill>
            <a:srgbClr val="E6F4EA"/>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חזרה: מפגש 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ג׳ :</a:t>
            </a:r>
            <a:r>
              <a:rPr sz="3000" b="1" i="0" lang="he-IL">
                <a:solidFill>
                  <a:srgbClr val="212121"/>
                </a:solidFill>
              </a:rPr>
              <a:t>תקנות AI באירופה: עקרון הסיכון</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8412480" cy="749808"/>
          </a:xfrm>
          <a:prstGeom prst="roundRect">
            <a:avLst>
              <a:gd name="adj" fmla="val 12000"/>
            </a:avLst>
          </a:prstGeom>
          <a:solidFill>
            <a:srgbClr val="FDE3E0"/>
          </a:solidFill>
          <a:ln w="2540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EA4335"/>
                </a:solidFill>
              </a:rPr>
              <a:t>אסור</a:t>
            </a:r>
          </a:p>
          <a:p>
            <a:pPr rtl="1" algn="ctr" marL="0" indent="0">
              <a:lnSpc>
                <a:spcPct val="105000"/>
              </a:lnSpc>
              <a:spcBef>
                <a:spcPts val="0"/>
              </a:spcBef>
              <a:spcAft>
                <a:spcPts val="0"/>
              </a:spcAft>
              <a:buNone/>
            </a:pPr>
            <a:r>
              <a:rPr sz="1200" b="0" i="0" lang="he-IL">
                <a:solidFill>
                  <a:srgbClr val="212121"/>
                </a:solidFill>
              </a:rPr>
              <a:t>שימושים בלתי מתקבלים. חל מ־2.2.2025</a:t>
            </a:r>
          </a:p>
        </p:txBody>
      </p:sp>
      <p:sp>
        <p:nvSpPr>
          <p:cNvPr id="6" name="Rounded Rectangle 5"/>
          <p:cNvSpPr/>
          <p:nvPr/>
        </p:nvSpPr>
        <p:spPr>
          <a:xfrm>
            <a:off x="960119" y="2240280"/>
            <a:ext cx="7223759" cy="749808"/>
          </a:xfrm>
          <a:prstGeom prst="roundRect">
            <a:avLst>
              <a:gd name="adj" fmla="val 12000"/>
            </a:avLst>
          </a:prstGeom>
          <a:solidFill>
            <a:srgbClr val="FFF0D9"/>
          </a:solidFill>
          <a:ln w="2540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FFAB40"/>
                </a:solidFill>
              </a:rPr>
              <a:t>סיכון גבוה</a:t>
            </a:r>
          </a:p>
          <a:p>
            <a:pPr rtl="1" algn="ctr" marL="0" indent="0">
              <a:lnSpc>
                <a:spcPct val="105000"/>
              </a:lnSpc>
              <a:spcBef>
                <a:spcPts val="0"/>
              </a:spcBef>
              <a:spcAft>
                <a:spcPts val="0"/>
              </a:spcAft>
              <a:buNone/>
            </a:pPr>
            <a:r>
              <a:rPr sz="1200" b="0" i="0" lang="he-IL">
                <a:solidFill>
                  <a:srgbClr val="212121"/>
                </a:solidFill>
              </a:rPr>
              <a:t>גיוס, אשראי, חינוך. חל מ־2.12.2027 (מוצרים: 2.8.2028)</a:t>
            </a:r>
          </a:p>
        </p:txBody>
      </p:sp>
      <p:sp>
        <p:nvSpPr>
          <p:cNvPr id="7" name="Rounded Rectangle 6"/>
          <p:cNvSpPr/>
          <p:nvPr/>
        </p:nvSpPr>
        <p:spPr>
          <a:xfrm>
            <a:off x="1554479" y="3108960"/>
            <a:ext cx="6035040" cy="749808"/>
          </a:xfrm>
          <a:prstGeom prst="roundRect">
            <a:avLst>
              <a:gd name="adj" fmla="val 12000"/>
            </a:avLst>
          </a:prstGeom>
          <a:solidFill>
            <a:srgbClr val="E3EEFF"/>
          </a:solidFill>
          <a:ln w="2540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4285F4"/>
                </a:solidFill>
              </a:rPr>
              <a:t>חובת שקיפות</a:t>
            </a:r>
          </a:p>
          <a:p>
            <a:pPr rtl="1" algn="ctr" marL="0" indent="0">
              <a:lnSpc>
                <a:spcPct val="105000"/>
              </a:lnSpc>
              <a:spcBef>
                <a:spcPts val="0"/>
              </a:spcBef>
              <a:spcAft>
                <a:spcPts val="0"/>
              </a:spcAft>
              <a:buNone/>
            </a:pPr>
            <a:r>
              <a:rPr sz="1200" b="0" i="0" lang="he-IL">
                <a:solidFill>
                  <a:srgbClr val="212121"/>
                </a:solidFill>
              </a:rPr>
              <a:t>צ׳אטבוט, תוכן שנוצר ב־AI. חל מ־2.8.2026</a:t>
            </a:r>
          </a:p>
        </p:txBody>
      </p:sp>
      <p:sp>
        <p:nvSpPr>
          <p:cNvPr id="8" name="Rounded Rectangle 7"/>
          <p:cNvSpPr/>
          <p:nvPr/>
        </p:nvSpPr>
        <p:spPr>
          <a:xfrm>
            <a:off x="2148840" y="3977639"/>
            <a:ext cx="4846319" cy="749808"/>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34A853"/>
                </a:solidFill>
              </a:rPr>
              <a:t>סיכון מינימלי</a:t>
            </a:r>
          </a:p>
          <a:p>
            <a:pPr rtl="1" algn="ctr" marL="0" indent="0">
              <a:lnSpc>
                <a:spcPct val="105000"/>
              </a:lnSpc>
              <a:spcBef>
                <a:spcPts val="0"/>
              </a:spcBef>
              <a:spcAft>
                <a:spcPts val="0"/>
              </a:spcAft>
              <a:buNone/>
            </a:pPr>
            <a:r>
              <a:rPr sz="1200" b="0" i="0" lang="he-IL">
                <a:solidFill>
                  <a:srgbClr val="212121"/>
                </a:solidFill>
              </a:rPr>
              <a:t>רוב היישומים: אין חובות מיוחדות</a:t>
            </a:r>
          </a:p>
        </p:txBody>
      </p:sp>
      <p:sp>
        <p:nvSpPr>
          <p:cNvPr id="9" name="TextBox 8"/>
          <p:cNvSpPr txBox="1"/>
          <p:nvPr/>
        </p:nvSpPr>
        <p:spPr>
          <a:xfrm>
            <a:off x="365760" y="4846320"/>
            <a:ext cx="8412480" cy="3200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נכון ל־22.10.2026, אחרי ה־Digital Omnibus. ספקי מודלי GPAI: חובות מ־2.8.2025. הסבר כללי, לא ייעוץ משפטי.</a:t>
            </a:r>
          </a:p>
        </p:txBody>
      </p:sp>
      <p:sp>
        <p:nvSpPr>
          <p:cNvPr id="10" name="Tag אופציונלי"/>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ג׳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סוכן קוד כתב לכם פונקציה שנראית כמעט זהה לקוד ציבורי עם רישיון GPL. מה עושים לפני שמשלבים אותה במוצר מסחרי?</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ג׳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סוכן קוד כתב לכם פונקציה שנראית כמעט זהה לקוד ציבורי עם רישיון GPL. מה עושים לפני שמשלבים אותה במוצר מסחרי?</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בודקים מהו המקור והרישיון, ומחליפים או כותבים מחדש אם הרישיון לא מתאים.</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מוסיפים בדיקת רישיונות וסקירה אנושית לתהליך.</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ד׳ :</a:t>
            </a:r>
            <a:r>
              <a:rPr sz="3000" b="1" i="0" lang="he-IL">
                <a:solidFill>
                  <a:srgbClr val="212121"/>
                </a:solidFill>
              </a:rPr>
              <a:t>שישה עקרונות אתיים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371600"/>
            <a:ext cx="4114800" cy="1051560"/>
          </a:xfrm>
          <a:prstGeom prst="roundRect">
            <a:avLst>
              <a:gd name="adj" fmla="val 8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863840" y="1463040"/>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7" name="TextBox 6"/>
          <p:cNvSpPr txBox="1"/>
          <p:nvPr/>
        </p:nvSpPr>
        <p:spPr>
          <a:xfrm>
            <a:off x="4754879" y="14630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אחריות</a:t>
            </a:r>
          </a:p>
        </p:txBody>
      </p:sp>
      <p:sp>
        <p:nvSpPr>
          <p:cNvPr id="8" name="TextBox 7"/>
          <p:cNvSpPr txBox="1"/>
          <p:nvPr/>
        </p:nvSpPr>
        <p:spPr>
          <a:xfrm>
            <a:off x="4754879" y="19202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אדם מאשר ואחראי (סקירת diff)</a:t>
            </a:r>
          </a:p>
        </p:txBody>
      </p:sp>
      <p:sp>
        <p:nvSpPr>
          <p:cNvPr id="9" name="Rounded Rectangle 8"/>
          <p:cNvSpPr/>
          <p:nvPr/>
        </p:nvSpPr>
        <p:spPr>
          <a:xfrm>
            <a:off x="365760" y="1371600"/>
            <a:ext cx="4114800" cy="1051560"/>
          </a:xfrm>
          <a:prstGeom prst="roundRect">
            <a:avLst>
              <a:gd name="adj" fmla="val 8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0" name="TextBox 9"/>
          <p:cNvSpPr txBox="1"/>
          <p:nvPr/>
        </p:nvSpPr>
        <p:spPr>
          <a:xfrm>
            <a:off x="3566160" y="1463040"/>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1" name="TextBox 10"/>
          <p:cNvSpPr txBox="1"/>
          <p:nvPr/>
        </p:nvSpPr>
        <p:spPr>
          <a:xfrm>
            <a:off x="457200" y="14630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שקיפות</a:t>
            </a:r>
          </a:p>
        </p:txBody>
      </p:sp>
      <p:sp>
        <p:nvSpPr>
          <p:cNvPr id="12" name="TextBox 11"/>
          <p:cNvSpPr txBox="1"/>
          <p:nvPr/>
        </p:nvSpPr>
        <p:spPr>
          <a:xfrm>
            <a:off x="457200" y="192024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מציינים שימוש ב־AI ושומרים יומן</a:t>
            </a:r>
          </a:p>
        </p:txBody>
      </p:sp>
      <p:sp>
        <p:nvSpPr>
          <p:cNvPr id="13" name="Rounded Rectangle 12"/>
          <p:cNvSpPr/>
          <p:nvPr/>
        </p:nvSpPr>
        <p:spPr>
          <a:xfrm>
            <a:off x="4663440" y="2560320"/>
            <a:ext cx="4114800" cy="1051560"/>
          </a:xfrm>
          <a:prstGeom prst="roundRect">
            <a:avLst>
              <a:gd name="adj" fmla="val 8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863840" y="2651760"/>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5" name="TextBox 14"/>
          <p:cNvSpPr txBox="1"/>
          <p:nvPr/>
        </p:nvSpPr>
        <p:spPr>
          <a:xfrm>
            <a:off x="4754879" y="26517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הוגנות</a:t>
            </a:r>
          </a:p>
        </p:txBody>
      </p:sp>
      <p:sp>
        <p:nvSpPr>
          <p:cNvPr id="16" name="TextBox 15"/>
          <p:cNvSpPr txBox="1"/>
          <p:nvPr/>
        </p:nvSpPr>
        <p:spPr>
          <a:xfrm>
            <a:off x="4754879" y="31089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בודקים הטיה בנתונים ובתוצאות</a:t>
            </a:r>
          </a:p>
        </p:txBody>
      </p:sp>
      <p:sp>
        <p:nvSpPr>
          <p:cNvPr id="17" name="Rounded Rectangle 16"/>
          <p:cNvSpPr/>
          <p:nvPr/>
        </p:nvSpPr>
        <p:spPr>
          <a:xfrm>
            <a:off x="365760" y="2560320"/>
            <a:ext cx="4114800" cy="1051560"/>
          </a:xfrm>
          <a:prstGeom prst="roundRect">
            <a:avLst>
              <a:gd name="adj" fmla="val 8000"/>
            </a:avLst>
          </a:prstGeom>
          <a:solidFill>
            <a:srgbClr val="FDE3E0"/>
          </a:solidFill>
          <a:ln w="25400">
            <a:solidFill>
              <a:srgbClr val="EA4335"/>
            </a:solidFill>
          </a:ln>
        </p:spPr>
        <p:txBody>
          <a:bodyPr rtlCol="0" anchor="ctr" wrap="square" lIns="73152" rIns="73152" tIns="73152" bIns="73152">
            <a:noAutofit/>
          </a:bodyPr>
          <a:lstStyle/>
          <a:p>
            <a:pPr algn="ctr"/>
          </a:p>
        </p:txBody>
      </p:sp>
      <p:sp>
        <p:nvSpPr>
          <p:cNvPr id="18" name="TextBox 17"/>
          <p:cNvSpPr txBox="1"/>
          <p:nvPr/>
        </p:nvSpPr>
        <p:spPr>
          <a:xfrm>
            <a:off x="3566160" y="2651760"/>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9" name="TextBox 18"/>
          <p:cNvSpPr txBox="1"/>
          <p:nvPr/>
        </p:nvSpPr>
        <p:spPr>
          <a:xfrm>
            <a:off x="457200" y="26517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פרטיות</a:t>
            </a:r>
          </a:p>
        </p:txBody>
      </p:sp>
      <p:sp>
        <p:nvSpPr>
          <p:cNvPr id="20" name="TextBox 19"/>
          <p:cNvSpPr txBox="1"/>
          <p:nvPr/>
        </p:nvSpPr>
        <p:spPr>
          <a:xfrm>
            <a:off x="457200" y="3108960"/>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מצמצמים מידע אישי</a:t>
            </a:r>
          </a:p>
        </p:txBody>
      </p:sp>
      <p:sp>
        <p:nvSpPr>
          <p:cNvPr id="21" name="Rounded Rectangle 20"/>
          <p:cNvSpPr/>
          <p:nvPr/>
        </p:nvSpPr>
        <p:spPr>
          <a:xfrm>
            <a:off x="4663440" y="3749039"/>
            <a:ext cx="4114800" cy="1051560"/>
          </a:xfrm>
          <a:prstGeom prst="roundRect">
            <a:avLst>
              <a:gd name="adj" fmla="val 8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22" name="TextBox 21"/>
          <p:cNvSpPr txBox="1"/>
          <p:nvPr/>
        </p:nvSpPr>
        <p:spPr>
          <a:xfrm>
            <a:off x="7863840" y="3840479"/>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23" name="TextBox 22"/>
          <p:cNvSpPr txBox="1"/>
          <p:nvPr/>
        </p:nvSpPr>
        <p:spPr>
          <a:xfrm>
            <a:off x="4754879" y="38404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בטיחות</a:t>
            </a:r>
          </a:p>
        </p:txBody>
      </p:sp>
      <p:sp>
        <p:nvSpPr>
          <p:cNvPr id="24" name="TextBox 23"/>
          <p:cNvSpPr txBox="1"/>
          <p:nvPr/>
        </p:nvSpPr>
        <p:spPr>
          <a:xfrm>
            <a:off x="4754879" y="42976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בדיקות ואבטחה</a:t>
            </a:r>
          </a:p>
        </p:txBody>
      </p:sp>
      <p:sp>
        <p:nvSpPr>
          <p:cNvPr id="25" name="Rounded Rectangle 24"/>
          <p:cNvSpPr/>
          <p:nvPr/>
        </p:nvSpPr>
        <p:spPr>
          <a:xfrm>
            <a:off x="365760" y="3749039"/>
            <a:ext cx="4114800" cy="1051560"/>
          </a:xfrm>
          <a:prstGeom prst="roundRect">
            <a:avLst>
              <a:gd name="adj" fmla="val 8000"/>
            </a:avLst>
          </a:prstGeom>
          <a:solidFill>
            <a:srgbClr val="F2F2F2"/>
          </a:solidFill>
          <a:ln w="25400">
            <a:solidFill>
              <a:srgbClr val="78909C"/>
            </a:solidFill>
          </a:ln>
        </p:spPr>
        <p:txBody>
          <a:bodyPr rtlCol="0" anchor="ctr" wrap="square" lIns="73152" rIns="73152" tIns="73152" bIns="73152">
            <a:noAutofit/>
          </a:bodyPr>
          <a:lstStyle/>
          <a:p>
            <a:pPr algn="ctr"/>
          </a:p>
        </p:txBody>
      </p:sp>
      <p:sp>
        <p:nvSpPr>
          <p:cNvPr id="26" name="TextBox 25"/>
          <p:cNvSpPr txBox="1"/>
          <p:nvPr/>
        </p:nvSpPr>
        <p:spPr>
          <a:xfrm>
            <a:off x="3566160" y="3840479"/>
            <a:ext cx="868680" cy="8686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27" name="TextBox 26"/>
          <p:cNvSpPr txBox="1"/>
          <p:nvPr/>
        </p:nvSpPr>
        <p:spPr>
          <a:xfrm>
            <a:off x="457200" y="38404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פיקוח אנושי</a:t>
            </a:r>
          </a:p>
        </p:txBody>
      </p:sp>
      <p:sp>
        <p:nvSpPr>
          <p:cNvPr id="28" name="TextBox 27"/>
          <p:cNvSpPr txBox="1"/>
          <p:nvPr/>
        </p:nvSpPr>
        <p:spPr>
          <a:xfrm>
            <a:off x="457200" y="4297679"/>
            <a:ext cx="310896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300" b="0" i="0" lang="he-IL">
                <a:solidFill>
                  <a:srgbClr val="595959"/>
                </a:solidFill>
              </a:rPr>
              <a:t>אישור לפעולות רגישות</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ד׳ :</a:t>
            </a:r>
            <a:r>
              <a:rPr sz="3000" b="1" i="0" lang="he-IL">
                <a:solidFill>
                  <a:srgbClr val="212121"/>
                </a:solidFill>
              </a:rPr>
              <a:t>סיכונים של AI בארגון</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FDE3E0"/>
          </a:solidFill>
          <a:ln w="25400">
            <a:solidFill>
              <a:srgbClr val="EA4335"/>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דליפת מידע</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מידע רגיש בפרומפטים</a:t>
            </a:r>
          </a:p>
        </p:txBody>
      </p:sp>
      <p:sp>
        <p:nvSpPr>
          <p:cNvPr id="9" name="Rounded Rectangle 8"/>
          <p:cNvSpPr/>
          <p:nvPr/>
        </p:nvSpPr>
        <p:spPr>
          <a:xfrm>
            <a:off x="365760" y="141732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הזיות</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מידע שגוי בביטחון</a:t>
            </a:r>
          </a:p>
        </p:txBody>
      </p:sp>
      <p:sp>
        <p:nvSpPr>
          <p:cNvPr id="13" name="Rounded Rectangle 12"/>
          <p:cNvSpPr/>
          <p:nvPr/>
        </p:nvSpPr>
        <p:spPr>
          <a:xfrm>
            <a:off x="4663440" y="306324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הטיה</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החלטות לא הוגנות על אנשים</a:t>
            </a:r>
          </a:p>
        </p:txBody>
      </p:sp>
      <p:sp>
        <p:nvSpPr>
          <p:cNvPr id="17" name="Rounded Rectangle 16"/>
          <p:cNvSpPr/>
          <p:nvPr/>
        </p:nvSpPr>
        <p:spPr>
          <a:xfrm>
            <a:off x="365760" y="306324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תלות יתר</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מפסיקים לבדוק ולהבין</a:t>
            </a:r>
          </a:p>
        </p:txBody>
      </p:sp>
      <p:sp>
        <p:nvSpPr>
          <p:cNvPr id="21" name="Tag חזרה"/>
          <p:cNvSpPr/>
          <p:nvPr/>
        </p:nvSpPr>
        <p:spPr>
          <a:xfrm>
            <a:off x="109728" y="91440"/>
            <a:ext cx="2592000" cy="384048"/>
          </a:xfrm>
          <a:prstGeom prst="roundRect">
            <a:avLst>
              <a:gd name="adj" fmla="val 40000"/>
            </a:avLst>
          </a:prstGeom>
          <a:solidFill>
            <a:srgbClr val="E6F4EA"/>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חזרה: מפגשים 2, 5, 10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ד׳ :</a:t>
            </a:r>
            <a:r>
              <a:rPr sz="3000" b="1" i="0" lang="he-IL">
                <a:solidFill>
                  <a:srgbClr val="212121"/>
                </a:solidFill>
              </a:rPr>
              <a:t>מדיניות שימוש ב־AI בארגון</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366759" y="1536192"/>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1</a:t>
            </a:r>
          </a:p>
        </p:txBody>
      </p:sp>
      <p:sp>
        <p:nvSpPr>
          <p:cNvPr id="6" name="Rounded Rectangle 5"/>
          <p:cNvSpPr/>
          <p:nvPr/>
        </p:nvSpPr>
        <p:spPr>
          <a:xfrm>
            <a:off x="4663440" y="1371600"/>
            <a:ext cx="3611880" cy="7315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1" i="0" lang="he-IL">
                <a:solidFill>
                  <a:srgbClr val="212121"/>
                </a:solidFill>
              </a:rPr>
              <a:t>מטרה והיקף</a:t>
            </a:r>
          </a:p>
        </p:txBody>
      </p:sp>
      <p:sp>
        <p:nvSpPr>
          <p:cNvPr id="7" name="Oval 6"/>
          <p:cNvSpPr/>
          <p:nvPr/>
        </p:nvSpPr>
        <p:spPr>
          <a:xfrm>
            <a:off x="4069080" y="1536192"/>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2</a:t>
            </a:r>
          </a:p>
        </p:txBody>
      </p:sp>
      <p:sp>
        <p:nvSpPr>
          <p:cNvPr id="8" name="Rounded Rectangle 7"/>
          <p:cNvSpPr/>
          <p:nvPr/>
        </p:nvSpPr>
        <p:spPr>
          <a:xfrm>
            <a:off x="365760" y="1371600"/>
            <a:ext cx="3611880" cy="7315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1" i="0" lang="he-IL">
                <a:solidFill>
                  <a:srgbClr val="212121"/>
                </a:solidFill>
              </a:rPr>
              <a:t>כלים מאושרים</a:t>
            </a:r>
          </a:p>
        </p:txBody>
      </p:sp>
      <p:sp>
        <p:nvSpPr>
          <p:cNvPr id="9" name="Oval 8"/>
          <p:cNvSpPr/>
          <p:nvPr/>
        </p:nvSpPr>
        <p:spPr>
          <a:xfrm>
            <a:off x="8366759" y="2404872"/>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3</a:t>
            </a:r>
          </a:p>
        </p:txBody>
      </p:sp>
      <p:sp>
        <p:nvSpPr>
          <p:cNvPr id="10" name="Rounded Rectangle 9"/>
          <p:cNvSpPr/>
          <p:nvPr/>
        </p:nvSpPr>
        <p:spPr>
          <a:xfrm>
            <a:off x="4663440" y="2240280"/>
            <a:ext cx="3611880" cy="7315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1" i="0" lang="he-IL">
                <a:solidFill>
                  <a:srgbClr val="212121"/>
                </a:solidFill>
              </a:rPr>
              <a:t>סיווג מידע</a:t>
            </a:r>
          </a:p>
        </p:txBody>
      </p:sp>
      <p:sp>
        <p:nvSpPr>
          <p:cNvPr id="11" name="Oval 10"/>
          <p:cNvSpPr/>
          <p:nvPr/>
        </p:nvSpPr>
        <p:spPr>
          <a:xfrm>
            <a:off x="4069080" y="2404872"/>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4</a:t>
            </a:r>
          </a:p>
        </p:txBody>
      </p:sp>
      <p:sp>
        <p:nvSpPr>
          <p:cNvPr id="12" name="Rounded Rectangle 11"/>
          <p:cNvSpPr/>
          <p:nvPr/>
        </p:nvSpPr>
        <p:spPr>
          <a:xfrm>
            <a:off x="365760" y="2240280"/>
            <a:ext cx="3611880" cy="7315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1" i="0" lang="he-IL">
                <a:solidFill>
                  <a:srgbClr val="212121"/>
                </a:solidFill>
              </a:rPr>
              <a:t>סקירה אנושית</a:t>
            </a:r>
          </a:p>
        </p:txBody>
      </p:sp>
      <p:sp>
        <p:nvSpPr>
          <p:cNvPr id="13" name="Oval 12"/>
          <p:cNvSpPr/>
          <p:nvPr/>
        </p:nvSpPr>
        <p:spPr>
          <a:xfrm>
            <a:off x="8366759" y="3273552"/>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5</a:t>
            </a:r>
          </a:p>
        </p:txBody>
      </p:sp>
      <p:sp>
        <p:nvSpPr>
          <p:cNvPr id="14" name="Rounded Rectangle 13"/>
          <p:cNvSpPr/>
          <p:nvPr/>
        </p:nvSpPr>
        <p:spPr>
          <a:xfrm>
            <a:off x="4663440" y="3108960"/>
            <a:ext cx="3611880" cy="7315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1" i="0" lang="he-IL">
                <a:solidFill>
                  <a:srgbClr val="212121"/>
                </a:solidFill>
              </a:rPr>
              <a:t>אבטחה</a:t>
            </a:r>
          </a:p>
        </p:txBody>
      </p:sp>
      <p:sp>
        <p:nvSpPr>
          <p:cNvPr id="15" name="Oval 14"/>
          <p:cNvSpPr/>
          <p:nvPr/>
        </p:nvSpPr>
        <p:spPr>
          <a:xfrm>
            <a:off x="4069080" y="3273552"/>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6</a:t>
            </a:r>
          </a:p>
        </p:txBody>
      </p:sp>
      <p:sp>
        <p:nvSpPr>
          <p:cNvPr id="16" name="Rounded Rectangle 15"/>
          <p:cNvSpPr/>
          <p:nvPr/>
        </p:nvSpPr>
        <p:spPr>
          <a:xfrm>
            <a:off x="365760" y="3108960"/>
            <a:ext cx="3611880" cy="7315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1" i="0" lang="he-IL">
                <a:solidFill>
                  <a:srgbClr val="212121"/>
                </a:solidFill>
              </a:rPr>
              <a:t>קניין רוחני ורישיונות</a:t>
            </a:r>
          </a:p>
        </p:txBody>
      </p:sp>
      <p:sp>
        <p:nvSpPr>
          <p:cNvPr id="17" name="Oval 16"/>
          <p:cNvSpPr/>
          <p:nvPr/>
        </p:nvSpPr>
        <p:spPr>
          <a:xfrm>
            <a:off x="8366759" y="4142231"/>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7</a:t>
            </a:r>
          </a:p>
        </p:txBody>
      </p:sp>
      <p:sp>
        <p:nvSpPr>
          <p:cNvPr id="18" name="Rounded Rectangle 17"/>
          <p:cNvSpPr/>
          <p:nvPr/>
        </p:nvSpPr>
        <p:spPr>
          <a:xfrm>
            <a:off x="4663440" y="3977639"/>
            <a:ext cx="3611880" cy="7315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1" i="0" lang="he-IL">
                <a:solidFill>
                  <a:srgbClr val="212121"/>
                </a:solidFill>
              </a:rPr>
              <a:t>שקיפות ותיעוד</a:t>
            </a:r>
          </a:p>
        </p:txBody>
      </p:sp>
      <p:sp>
        <p:nvSpPr>
          <p:cNvPr id="19" name="Oval 18"/>
          <p:cNvSpPr/>
          <p:nvPr/>
        </p:nvSpPr>
        <p:spPr>
          <a:xfrm>
            <a:off x="4069080" y="4142231"/>
            <a:ext cx="411480" cy="41148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500" b="1" i="0" lang="he-IL">
                <a:solidFill>
                  <a:srgbClr val="FFFFFF"/>
                </a:solidFill>
              </a:rPr>
              <a:t>8</a:t>
            </a:r>
          </a:p>
        </p:txBody>
      </p:sp>
      <p:sp>
        <p:nvSpPr>
          <p:cNvPr id="20" name="Rounded Rectangle 19"/>
          <p:cNvSpPr/>
          <p:nvPr/>
        </p:nvSpPr>
        <p:spPr>
          <a:xfrm>
            <a:off x="365760" y="3977639"/>
            <a:ext cx="3611880" cy="7315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700" b="1" i="0" lang="he-IL">
                <a:solidFill>
                  <a:srgbClr val="212121"/>
                </a:solidFill>
              </a:rPr>
              <a:t>אירועים והכשרה</a:t>
            </a:r>
          </a:p>
        </p:txBody>
      </p:sp>
      <p:sp>
        <p:nvSpPr>
          <p:cNvPr id="21" name="Tag חזרה"/>
          <p:cNvSpPr/>
          <p:nvPr/>
        </p:nvSpPr>
        <p:spPr>
          <a:xfrm>
            <a:off x="109728" y="91440"/>
            <a:ext cx="1620000" cy="384048"/>
          </a:xfrm>
          <a:prstGeom prst="roundRect">
            <a:avLst>
              <a:gd name="adj" fmla="val 40000"/>
            </a:avLst>
          </a:prstGeom>
          <a:solidFill>
            <a:srgbClr val="E6F4EA"/>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חזרה: מפגש 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ד׳ :</a:t>
            </a:r>
            <a:r>
              <a:rPr sz="3000" b="1" i="0" lang="he-IL">
                <a:solidFill>
                  <a:srgbClr val="212121"/>
                </a:solidFill>
              </a:rPr>
              <a:t>דוגמה: קטעים ממדיניות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78" cy="3657600"/>
        </p:xfrm>
        <a:graphic>
          <a:graphicData uri="http://schemas.openxmlformats.org/drawingml/2006/table">
            <a:tbl>
              <a:tblPr firstRow="0" bandRow="0">
                <a:tableStyleId>{2D5ABB26-0587-4C30-8999-92F81FD0307C}</a:tableStyleId>
              </a:tblPr>
              <a:tblGrid>
                <a:gridCol w="6766559"/>
                <a:gridCol w="1645919"/>
              </a:tblGrid>
              <a:tr h="914400">
                <a:tc>
                  <a:txBody>
                    <a:bodyPr wrap="square"/>
                    <a:lstStyle/>
                    <a:p>
                      <a:pPr rtl="1" algn="ctr" marL="0" indent="0">
                        <a:lnSpc>
                          <a:spcPct val="100000"/>
                        </a:lnSpc>
                        <a:spcBef>
                          <a:spcPts val="0"/>
                        </a:spcBef>
                        <a:spcAft>
                          <a:spcPts val="0"/>
                        </a:spcAft>
                        <a:buNone/>
                      </a:pPr>
                      <a:r>
                        <a:rPr sz="1400" b="1" i="0" lang="he-IL">
                          <a:solidFill>
                            <a:srgbClr val="212121"/>
                          </a:solidFill>
                        </a:rPr>
                        <a:t>ניסוח לדוגמה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סעיף</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914400">
                <a:tc>
                  <a:txBody>
                    <a:bodyPr wrap="square"/>
                    <a:lstStyle/>
                    <a:p>
                      <a:pPr rtl="1" algn="r" marL="0" indent="0">
                        <a:lnSpc>
                          <a:spcPct val="100000"/>
                        </a:lnSpc>
                        <a:spcBef>
                          <a:spcPts val="0"/>
                        </a:spcBef>
                        <a:spcAft>
                          <a:spcPts val="0"/>
                        </a:spcAft>
                        <a:buNone/>
                      </a:pPr>
                      <a:r>
                        <a:rPr sz="1400" b="0" i="0" lang="he-IL">
                          <a:solidFill>
                            <a:srgbClr val="212121"/>
                          </a:solidFill>
                        </a:rPr>
                        <a:t>אדום: נתוני לקוחות, סודות וקוד סודי לא נכנסים לכלי חיצוני. צהוב: באישור. ירוק: נתונים סינתטיים וקוד ציבורי.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סיווג מידע</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r>
              <a:tr h="914400">
                <a:tc>
                  <a:txBody>
                    <a:bodyPr wrap="square"/>
                    <a:lstStyle/>
                    <a:p>
                      <a:pPr rtl="1" algn="r" marL="0" indent="0">
                        <a:lnSpc>
                          <a:spcPct val="100000"/>
                        </a:lnSpc>
                        <a:spcBef>
                          <a:spcPts val="0"/>
                        </a:spcBef>
                        <a:spcAft>
                          <a:spcPts val="0"/>
                        </a:spcAft>
                        <a:buNone/>
                      </a:pPr>
                      <a:r>
                        <a:rPr sz="1400" b="0" i="0" lang="he-IL">
                          <a:solidFill>
                            <a:srgbClr val="212121"/>
                          </a:solidFill>
                        </a:rPr>
                        <a:t>כל שינוי שנוצר ב־AI עובר Pull Request וסקירה של אדם אחר, כולל הרצת בדיקות.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סקירה אנושית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3EEFF"/>
                    </a:solidFill>
                  </a:tcPr>
                </a:tc>
              </a:tr>
              <a:tr h="914400">
                <a:tc>
                  <a:txBody>
                    <a:bodyPr wrap="square"/>
                    <a:lstStyle/>
                    <a:p>
                      <a:pPr rtl="1" algn="r" marL="0" indent="0">
                        <a:lnSpc>
                          <a:spcPct val="100000"/>
                        </a:lnSpc>
                        <a:spcBef>
                          <a:spcPts val="0"/>
                        </a:spcBef>
                        <a:spcAft>
                          <a:spcPts val="0"/>
                        </a:spcAft>
                        <a:buNone/>
                      </a:pPr>
                      <a:r>
                        <a:rPr sz="1400" b="0" i="0" lang="he-IL">
                          <a:solidFill>
                            <a:srgbClr val="212121"/>
                          </a:solidFill>
                        </a:rPr>
                        <a:t>שימוש משמעותי ב־AI מתועד ביומן, וצ׳אטבוט ללקוחות מציין שהוא AI.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שקיפות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ד׳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למה מדיניות שימוש ב־AI בארגון צריכה לכלול סיווג מידע ולא רק "אסור להדביק מידע רגיש"?</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חלק ד׳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למה מדיניות שימוש ב־AI בארגון צריכה לכלול סיווג מידע ולא רק "אסור להדביק מידע רגיש"?</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כי "רגיש" אינו ברור: סיווג (אדום, צהוב, ירוק) מגדיר בדיוק מה מותר, ואפשר לאכוף אותו.</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הוא גם מאפשר ביצוע בדיקות והדרכה.</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מעבדה ג׳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HM_12.ipynb. חלקים ג׳-ד׳: מקרים ומדיניות.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HM_12.ipynb. חלקים ג׳-ד׳: מקרים ומדיניות</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ל־HM_12.ipynb</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ג׳</a:t>
            </a:r>
            <a:r>
              <a:rPr sz="3000" b="0" i="0" lang="he-IL">
                <a:solidFill>
                  <a:srgbClr val="212121"/>
                </a:solidFill>
              </a:rPr>
              <a:t> : מקרים ומדיניות כקוד</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להפוך מקרים משפטיים ומדיניות AI לכללים מפורשים שאפשר לבדוק.</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כללי הכרעה</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privacy_leak, license_action, decide: שישה כללים, עשרה מקרים</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בודק מדיניות</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check_policy, policy_extras: שמונה סעיפים, צבעים, הערת עורך דין</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ניסוח עם AI</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הכלי כותב מדיניות לחנות, הבודק מוצא פערים, ואתם מתקנים</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זה לא ייעוץ משפטי: כללי עבודה פשוטים. מה שלא נגמר בכיתה (בעיקר חלק ד׳ ושאלות הניתוח) ממשיך בבית.</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ג׳</a:t>
            </a:r>
            <a:r>
              <a:rPr sz="3000" b="0" i="0" lang="he-IL">
                <a:solidFill>
                  <a:srgbClr val="212121"/>
                </a:solidFill>
              </a:rPr>
              <a:t>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עשרת המקרים</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decide: ✓ על כל 10 המקרים. דליפה קודמת לרישיון ולאחריות</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סולם התרומה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ai_only: הדבקה כמו שהיא, וגם הרצה חוזרת של אותו פרומפט</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בודק המדיניות</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רשימה ריקה כשיש 8 סעיפים, שלושה צבעים והערת עורך דין</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הטיוטה של הכלי משתנה בכל הרצה: הבדיקה מוודאת תיעוד ובעיות, ולא את תוכן המדיניות.</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ג׳</a:t>
            </a:r>
            <a:r>
              <a:rPr sz="3000" b="0" i="0" lang="he-IL">
                <a:solidFill>
                  <a:srgbClr val="212121"/>
                </a:solidFill>
              </a:rPr>
              <a:t> : שלושה מתוך עשרת המקרים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Rounded Rectangle 5"/>
          <p:cNvSpPr/>
          <p:nvPr/>
        </p:nvSpPr>
        <p:spPr>
          <a:xfrm>
            <a:off x="365760" y="1371600"/>
            <a:ext cx="8412480" cy="914400"/>
          </a:xfrm>
          <a:prstGeom prst="roundRect">
            <a:avLst>
              <a:gd name="adj" fmla="val 12000"/>
            </a:avLst>
          </a:prstGeom>
          <a:solidFill>
            <a:srgbClr val="FDE3E0"/>
          </a:solidFill>
          <a:ln w="19050">
            <a:solidFill>
              <a:srgbClr val="78909C"/>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600" b="0" i="0" lang="he-IL">
                <a:solidFill>
                  <a:srgbClr val="212121"/>
                </a:solidFill>
              </a:rPr>
              <a:t>א. עובד הדביק רשימת לקוחות עם טלפונים לצ׳אט ציבורי כדי "לנקות" אותה.</a:t>
            </a:r>
          </a:p>
        </p:txBody>
      </p:sp>
      <p:sp>
        <p:nvSpPr>
          <p:cNvPr id="7" name="Rounded Rectangle 6"/>
          <p:cNvSpPr/>
          <p:nvPr/>
        </p:nvSpPr>
        <p:spPr>
          <a:xfrm>
            <a:off x="365760" y="2423160"/>
            <a:ext cx="8412480" cy="914400"/>
          </a:xfrm>
          <a:prstGeom prst="roundRect">
            <a:avLst>
              <a:gd name="adj" fmla="val 12000"/>
            </a:avLst>
          </a:prstGeom>
          <a:solidFill>
            <a:srgbClr val="FFF0D9"/>
          </a:solidFill>
          <a:ln w="19050">
            <a:solidFill>
              <a:srgbClr val="78909C"/>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600" b="0" i="0" lang="he-IL">
                <a:solidFill>
                  <a:srgbClr val="212121"/>
                </a:solidFill>
              </a:rPr>
              <a:t>ב. סוכן קוד יצר פונקציה כמעט זהה לקוד GPL, והיא נכנסה למוצר מסחרי.</a:t>
            </a:r>
          </a:p>
        </p:txBody>
      </p:sp>
      <p:sp>
        <p:nvSpPr>
          <p:cNvPr id="8" name="Rounded Rectangle 7"/>
          <p:cNvSpPr/>
          <p:nvPr/>
        </p:nvSpPr>
        <p:spPr>
          <a:xfrm>
            <a:off x="365760" y="3474720"/>
            <a:ext cx="8412480" cy="914400"/>
          </a:xfrm>
          <a:prstGeom prst="roundRect">
            <a:avLst>
              <a:gd name="adj" fmla="val 12000"/>
            </a:avLst>
          </a:prstGeom>
          <a:solidFill>
            <a:srgbClr val="E3EEFF"/>
          </a:solidFill>
          <a:ln w="19050">
            <a:solidFill>
              <a:srgbClr val="78909C"/>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600" b="0" i="0" lang="he-IL">
                <a:solidFill>
                  <a:srgbClr val="212121"/>
                </a:solidFill>
              </a:rPr>
              <a:t>ג. צ׳אטבוט החנות הבטיח החזר כספי מלא שאינו במדיניות. הלקוח דורש אותו.</a:t>
            </a:r>
          </a:p>
        </p:txBody>
      </p:sp>
      <p:sp>
        <p:nvSpPr>
          <p:cNvPr id="9" name="Rounded Rectangle 8"/>
          <p:cNvSpPr/>
          <p:nvPr/>
        </p:nvSpPr>
        <p:spPr>
          <a:xfrm>
            <a:off x="365760" y="4572000"/>
            <a:ext cx="8412480" cy="502920"/>
          </a:xfrm>
          <a:prstGeom prst="roundRect">
            <a:avLst>
              <a:gd name="adj" fmla="val 12000"/>
            </a:avLst>
          </a:prstGeom>
          <a:solidFill>
            <a:srgbClr val="FFFF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לכל תרחיש: מה הסיכון, מה עושים עכשיו, ומה משנים במדיניות.</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ג׳</a:t>
            </a:r>
            <a:r>
              <a:rPr sz="3000" b="0" i="0" lang="he-IL">
                <a:solidFill>
                  <a:srgbClr val="212121"/>
                </a:solidFill>
              </a:rPr>
              <a:t> : תשובות מוצעות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graphicFrame>
        <p:nvGraphicFramePr>
          <p:cNvPr id="6" name="Table 5"/>
          <p:cNvGraphicFramePr>
            <a:graphicFrameLocks noGrp="1"/>
          </p:cNvGraphicFramePr>
          <p:nvPr/>
        </p:nvGraphicFramePr>
        <p:xfrm>
          <a:off x="365760" y="1371600"/>
          <a:ext cx="8412476" cy="3474720"/>
        </p:xfrm>
        <a:graphic>
          <a:graphicData uri="http://schemas.openxmlformats.org/drawingml/2006/table">
            <a:tbl>
              <a:tblPr firstRow="0" bandRow="0">
                <a:tableStyleId>{2D5ABB26-0587-4C30-8999-92F81FD0307C}</a:tableStyleId>
              </a:tblPr>
              <a:tblGrid>
                <a:gridCol w="2743199"/>
                <a:gridCol w="3108959"/>
                <a:gridCol w="1737359"/>
                <a:gridCol w="822959"/>
              </a:tblGrid>
              <a:tr h="868680">
                <a:tc>
                  <a:txBody>
                    <a:bodyPr wrap="square"/>
                    <a:lstStyle/>
                    <a:p>
                      <a:pPr rtl="1" algn="ctr" marL="0" indent="0">
                        <a:lnSpc>
                          <a:spcPct val="100000"/>
                        </a:lnSpc>
                        <a:spcBef>
                          <a:spcPts val="0"/>
                        </a:spcBef>
                        <a:spcAft>
                          <a:spcPts val="0"/>
                        </a:spcAft>
                        <a:buNone/>
                      </a:pPr>
                      <a:r>
                        <a:rPr sz="1300" b="1" i="0" lang="he-IL">
                          <a:solidFill>
                            <a:srgbClr val="212121"/>
                          </a:solidFill>
                        </a:rPr>
                        <a:t>מה משנים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מה עושים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סיכון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300" b="1" i="0" lang="he-IL">
                          <a:solidFill>
                            <a:srgbClr val="212121"/>
                          </a:solidFill>
                        </a:rPr>
                        <a:t>תרחיש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868680">
                <a:tc>
                  <a:txBody>
                    <a:bodyPr wrap="square"/>
                    <a:lstStyle/>
                    <a:p>
                      <a:pPr rtl="1" algn="r" marL="0" indent="0">
                        <a:lnSpc>
                          <a:spcPct val="100000"/>
                        </a:lnSpc>
                        <a:spcBef>
                          <a:spcPts val="0"/>
                        </a:spcBef>
                        <a:spcAft>
                          <a:spcPts val="0"/>
                        </a:spcAft>
                        <a:buNone/>
                      </a:pPr>
                      <a:r>
                        <a:rPr sz="1300" b="0" i="0" lang="he-IL">
                          <a:solidFill>
                            <a:srgbClr val="212121"/>
                          </a:solidFill>
                        </a:rPr>
                        <a:t>נתוני לקוחות אדומים, כלים מאושרים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לדווח, להעריך חשיפה, ולפעול לפי נוהל אירוע</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פרטיות, דליפה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868680">
                <a:tc>
                  <a:txBody>
                    <a:bodyPr wrap="square"/>
                    <a:lstStyle/>
                    <a:p>
                      <a:pPr rtl="1" algn="r" marL="0" indent="0">
                        <a:lnSpc>
                          <a:spcPct val="100000"/>
                        </a:lnSpc>
                        <a:spcBef>
                          <a:spcPts val="0"/>
                        </a:spcBef>
                        <a:spcAft>
                          <a:spcPts val="0"/>
                        </a:spcAft>
                        <a:buNone/>
                      </a:pPr>
                      <a:r>
                        <a:rPr sz="1300" b="0" i="0" lang="he-IL">
                          <a:solidFill>
                            <a:srgbClr val="212121"/>
                          </a:solidFill>
                        </a:rPr>
                        <a:t>בדיקת רישיונות וסקירה אנושית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לבדוק מקור. להחליף או לעמוד בתנאי הרישיון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רישיון (קופילפט)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868680">
                <a:tc>
                  <a:txBody>
                    <a:bodyPr wrap="square"/>
                    <a:lstStyle/>
                    <a:p>
                      <a:pPr rtl="1" algn="r" marL="0" indent="0">
                        <a:lnSpc>
                          <a:spcPct val="100000"/>
                        </a:lnSpc>
                        <a:spcBef>
                          <a:spcPts val="0"/>
                        </a:spcBef>
                        <a:spcAft>
                          <a:spcPts val="0"/>
                        </a:spcAft>
                        <a:buNone/>
                      </a:pPr>
                      <a:r>
                        <a:rPr sz="1300" b="0" i="0" lang="he-IL">
                          <a:solidFill>
                            <a:srgbClr val="212121"/>
                          </a:solidFill>
                        </a:rPr>
                        <a:t>הגבלת תשובות, הצהרת AI, אישור אנושי להתחייבות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לבדוק מה נאמר, להתייעץ משפטית, לא להניח שהחברה פטורה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0" i="0" lang="he-IL">
                          <a:solidFill>
                            <a:srgbClr val="212121"/>
                          </a:solidFill>
                        </a:rPr>
                        <a:t>אחריות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300" b="1" i="0" lang="he-IL">
                          <a:solidFill>
                            <a:srgbClr val="212121"/>
                          </a:solidFill>
                        </a:rPr>
                        <a:t>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a:t>
            </a:r>
            <a:r>
              <a:rPr sz="3000" b="1" i="0" lang="he-IL">
                <a:solidFill>
                  <a:srgbClr val="212121"/>
                </a:solidFill>
              </a:rPr>
              <a:t>מעבדה ג׳</a:t>
            </a:r>
            <a:r>
              <a:rPr sz="3000" b="0" i="0" lang="he-IL">
                <a:solidFill>
                  <a:srgbClr val="212121"/>
                </a:solidFill>
              </a:rPr>
              <a:t> : כלי AI מנסח, אתם בודקים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12 דקות</a:t>
            </a:r>
          </a:p>
        </p:txBody>
      </p:sp>
      <p:sp>
        <p:nvSpPr>
          <p:cNvPr id="6" name="TextBox 5"/>
          <p:cNvSpPr txBox="1"/>
          <p:nvPr/>
        </p:nvSpPr>
        <p:spPr>
          <a:xfrm>
            <a:off x="365760" y="1371600"/>
            <a:ext cx="8412480" cy="182880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Write a one-page AI usage policy, in Hebrew, for an online store</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with an inventory system and a customer-service chatbot.</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Use exactly these 8 section headings, numbered 1‎-‎8:</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[paste them from the template].</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Be concrete: who does what, with one example in each section.</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In the information-classification section use three levels: red, yellow, green.</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Mark anything legal as "needs review by a lawyer".</a:t>
            </a:r>
          </a:p>
        </p:txBody>
      </p:sp>
      <p:sp>
        <p:nvSpPr>
          <p:cNvPr id="7" name="Rounded Rectangle 6"/>
          <p:cNvSpPr/>
          <p:nvPr/>
        </p:nvSpPr>
        <p:spPr>
          <a:xfrm>
            <a:off x="365760" y="3474720"/>
            <a:ext cx="8412480" cy="13716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אחרי שהכלי כתב: הדביקו את הטיוטה במחברת, והריצו את הבודק.</a:t>
            </a:r>
          </a:p>
          <a:p>
            <a:pPr rtl="1" algn="ctr" marL="0" indent="0">
              <a:lnSpc>
                <a:spcPct val="105000"/>
              </a:lnSpc>
              <a:spcBef>
                <a:spcPts val="0"/>
              </a:spcBef>
              <a:spcAft>
                <a:spcPts val="0"/>
              </a:spcAft>
              <a:buNone/>
            </a:pPr>
            <a:r>
              <a:rPr sz="1600" b="0" i="0" lang="he-IL">
                <a:solidFill>
                  <a:srgbClr val="595959"/>
                </a:solidFill>
              </a:rPr>
              <a:t>תקנו מה שנמצא, הוסיפו דוגמה בכל סעיף, ובדקו: איך אוכפים כל סעיף?</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העשרה :השוואת משפטים: זכויות יוצרים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25880"/>
          <a:ext cx="8424000" cy="2844000"/>
        </p:xfrm>
        <a:graphic>
          <a:graphicData uri="http://schemas.openxmlformats.org/drawingml/2006/table">
            <a:tbl>
              <a:tblPr firstRow="0" bandRow="0">
                <a:tableStyleId>{2D5ABB26-0587-4C30-8999-92F81FD0307C}</a:tableStyleId>
              </a:tblPr>
              <a:tblGrid>
                <a:gridCol w="2448000"/>
                <a:gridCol w="2340000"/>
                <a:gridCol w="2412000"/>
                <a:gridCol w="1224000"/>
              </a:tblGrid>
              <a:tr h="396000">
                <a:tc>
                  <a:txBody>
                    <a:bodyPr wrap="square"/>
                    <a:lstStyle/>
                    <a:p>
                      <a:pPr rtl="1" algn="ctr" marL="0" indent="0">
                        <a:lnSpc>
                          <a:spcPct val="100000"/>
                        </a:lnSpc>
                        <a:spcBef>
                          <a:spcPts val="0"/>
                        </a:spcBef>
                        <a:spcAft>
                          <a:spcPts val="0"/>
                        </a:spcAft>
                        <a:buNone/>
                      </a:pPr>
                      <a:r>
                        <a:rPr sz="1400" b="1" i="0" lang="he-IL">
                          <a:solidFill>
                            <a:srgbClr val="212121"/>
                          </a:solidFill>
                        </a:rPr>
                        <a:t>האיחוד האירופי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ארה״ב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ישראל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נושא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1224000">
                <a:tc>
                  <a:txBody>
                    <a:bodyPr wrap="square"/>
                    <a:lstStyle/>
                    <a:p>
                      <a:pPr rtl="1" algn="r" marL="0" indent="0">
                        <a:lnSpc>
                          <a:spcPct val="100000"/>
                        </a:lnSpc>
                        <a:spcBef>
                          <a:spcPts val="0"/>
                        </a:spcBef>
                        <a:spcAft>
                          <a:spcPts val="0"/>
                        </a:spcAft>
                        <a:buNone/>
                      </a:pPr>
                      <a:r>
                        <a:rPr sz="1400" b="0" i="0" lang="he-IL">
                          <a:solidFill>
                            <a:srgbClr val="212121"/>
                          </a:solidFill>
                        </a:rPr>
                        <a:t>רוב המדינות החברות (שאלון המועצה, 12.2024): רק אדם יוצר. פלט מוגן אם התרומה האנושית משמעותית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נדרש אדם. Thaler: בקשת רשות ערעור (cert) נדחתה ב־2.3.2026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אין הכרעה שמצאנו בפלט. פטנטים: AI אינו ממציא (מחוזי, 31.12.2025)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מי יוצר? פלט AI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solidFill>
                      <a:srgbClr val="E3EEFF"/>
                    </a:solidFill>
                  </a:tcPr>
                </a:tc>
              </a:tr>
              <a:tr h="1224000">
                <a:tc>
                  <a:txBody>
                    <a:bodyPr wrap="square"/>
                    <a:lstStyle/>
                    <a:p>
                      <a:pPr rtl="1" algn="r" marL="0" indent="0">
                        <a:lnSpc>
                          <a:spcPct val="100000"/>
                        </a:lnSpc>
                        <a:spcBef>
                          <a:spcPts val="0"/>
                        </a:spcBef>
                        <a:spcAft>
                          <a:spcPts val="0"/>
                        </a:spcAft>
                        <a:buNone/>
                      </a:pPr>
                      <a:r>
                        <a:rPr sz="1400" b="0" i="0" lang="he-IL">
                          <a:solidFill>
                            <a:srgbClr val="212121"/>
                          </a:solidFill>
                        </a:rPr>
                        <a:t>חריג כריית נתונים עם סירוב. ספקי מודלים: מדיניות זכויות יוצרים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שימוש הוגן לפי מקרה. אין הכרעה עליונה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חוות דעת 18.12.2022 (לא מחייבת): בדרך כלל מותר, שימוש הוגן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אימון על יצירות מוגנות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solidFill>
                      <a:srgbClr val="E3EEFF"/>
                    </a:solidFill>
                  </a:tcPr>
                </a:tc>
              </a:tr>
            </a:tbl>
          </a:graphicData>
        </a:graphic>
      </p:graphicFrame>
      <p:sp>
        <p:nvSpPr>
          <p:cNvPr id="6" name="TextBox 5"/>
          <p:cNvSpPr txBox="1"/>
          <p:nvPr/>
        </p:nvSpPr>
        <p:spPr>
          <a:xfrm>
            <a:off x="365760" y="484632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נכון ל־22.10.2026. לא ייעוץ משפטי. המקורות בשקף המקורות ובהערות.</a:t>
            </a:r>
          </a:p>
        </p:txBody>
      </p:sp>
      <p:sp>
        <p:nvSpPr>
          <p:cNvPr id="7" name="Tag העשרה"/>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העשרה :השוואת משפטים: פרטיות ו־AI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25880"/>
          <a:ext cx="8424000" cy="2844000"/>
        </p:xfrm>
        <a:graphic>
          <a:graphicData uri="http://schemas.openxmlformats.org/drawingml/2006/table">
            <a:tbl>
              <a:tblPr firstRow="0" bandRow="0">
                <a:tableStyleId>{2D5ABB26-0587-4C30-8999-92F81FD0307C}</a:tableStyleId>
              </a:tblPr>
              <a:tblGrid>
                <a:gridCol w="2448000"/>
                <a:gridCol w="2340000"/>
                <a:gridCol w="2412000"/>
                <a:gridCol w="1224000"/>
              </a:tblGrid>
              <a:tr h="396000">
                <a:tc>
                  <a:txBody>
                    <a:bodyPr wrap="square"/>
                    <a:lstStyle/>
                    <a:p>
                      <a:pPr rtl="1" algn="ctr" marL="0" indent="0">
                        <a:lnSpc>
                          <a:spcPct val="100000"/>
                        </a:lnSpc>
                        <a:spcBef>
                          <a:spcPts val="0"/>
                        </a:spcBef>
                        <a:spcAft>
                          <a:spcPts val="0"/>
                        </a:spcAft>
                        <a:buNone/>
                      </a:pPr>
                      <a:r>
                        <a:rPr sz="1400" b="1" i="0" lang="he-IL">
                          <a:solidFill>
                            <a:srgbClr val="212121"/>
                          </a:solidFill>
                        </a:rPr>
                        <a:t>האיחוד האירופי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ארה״ב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ישראל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נושא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1224000">
                <a:tc>
                  <a:txBody>
                    <a:bodyPr wrap="square"/>
                    <a:lstStyle/>
                    <a:p>
                      <a:pPr rtl="1" algn="r" marL="0" indent="0">
                        <a:lnSpc>
                          <a:spcPct val="100000"/>
                        </a:lnSpc>
                        <a:spcBef>
                          <a:spcPts val="0"/>
                        </a:spcBef>
                        <a:spcAft>
                          <a:spcPts val="0"/>
                        </a:spcAft>
                        <a:buNone/>
                      </a:pPr>
                      <a:r>
                        <a:rPr sz="1400" b="0" i="0" lang="he-IL">
                          <a:solidFill>
                            <a:srgbClr val="212121"/>
                          </a:solidFill>
                        </a:rPr>
                        <a:t>GDPR: קנס עד 20 מיליון יורו או 4% מהמחזור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אין חוק פדרלי כולל. חוקי מדינות וחוקים ענפיים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תיקון 13 (14.8.2025): מידע אישי רחב, עיצומים כספיים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פרטיות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solidFill>
                      <a:srgbClr val="E3EEFF"/>
                    </a:solidFill>
                  </a:tcPr>
                </a:tc>
              </a:tr>
              <a:tr h="1224000">
                <a:tc>
                  <a:txBody>
                    <a:bodyPr wrap="square"/>
                    <a:lstStyle/>
                    <a:p>
                      <a:pPr rtl="1" algn="r" marL="0" indent="0">
                        <a:lnSpc>
                          <a:spcPct val="100000"/>
                        </a:lnSpc>
                        <a:spcBef>
                          <a:spcPts val="0"/>
                        </a:spcBef>
                        <a:spcAft>
                          <a:spcPts val="0"/>
                        </a:spcAft>
                        <a:buNone/>
                      </a:pPr>
                      <a:r>
                        <a:rPr sz="1400" b="0" i="0" lang="he-IL">
                          <a:solidFill>
                            <a:srgbClr val="212121"/>
                          </a:solidFill>
                        </a:rPr>
                        <a:t>AI Act: חובות לפי סיכון, בשלבים, לרוב עד 2.8.2028</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אין חוק פדרלי כולל. חקיקה במדינות ומחלוקת על קדימות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אין חוק AI כללי. מדיניות 12.2023: רגולציה ענפית והנחיות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רגולציית AI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solidFill>
                      <a:srgbClr val="E3EEFF"/>
                    </a:solidFill>
                  </a:tcPr>
                </a:tc>
              </a:tr>
            </a:tbl>
          </a:graphicData>
        </a:graphic>
      </p:graphicFrame>
      <p:sp>
        <p:nvSpPr>
          <p:cNvPr id="6" name="TextBox 5"/>
          <p:cNvSpPr txBox="1"/>
          <p:nvPr/>
        </p:nvSpPr>
        <p:spPr>
          <a:xfrm>
            <a:off x="365760" y="484632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נכון ל־22.10.2026. לא ייעוץ משפטי. שורת ארה״ב: על סמך מקורות משניים בלבד.</a:t>
            </a:r>
          </a:p>
        </p:txBody>
      </p:sp>
      <p:sp>
        <p:nvSpPr>
          <p:cNvPr id="7" name="Tag העשרה"/>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העשרה :פסיקה על אימון ופלט</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25880"/>
          <a:ext cx="8424000" cy="3527999"/>
        </p:xfrm>
        <a:graphic>
          <a:graphicData uri="http://schemas.openxmlformats.org/drawingml/2006/table">
            <a:tbl>
              <a:tblPr firstRow="0" bandRow="0">
                <a:tableStyleId>{2D5ABB26-0587-4C30-8999-92F81FD0307C}</a:tableStyleId>
              </a:tblPr>
              <a:tblGrid>
                <a:gridCol w="3096000"/>
                <a:gridCol w="3311999"/>
                <a:gridCol w="2015999"/>
              </a:tblGrid>
              <a:tr h="396000">
                <a:tc>
                  <a:txBody>
                    <a:bodyPr wrap="square"/>
                    <a:lstStyle/>
                    <a:p>
                      <a:pPr rtl="1" algn="ctr" marL="0" indent="0">
                        <a:lnSpc>
                          <a:spcPct val="100000"/>
                        </a:lnSpc>
                        <a:spcBef>
                          <a:spcPts val="0"/>
                        </a:spcBef>
                        <a:spcAft>
                          <a:spcPts val="0"/>
                        </a:spcAft>
                        <a:buNone/>
                      </a:pPr>
                      <a:r>
                        <a:rPr sz="1400" b="1" i="0" lang="he-IL">
                          <a:solidFill>
                            <a:srgbClr val="212121"/>
                          </a:solidFill>
                        </a:rPr>
                        <a:t>מה נשאר פתוח</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מה הוכרע</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פסק דין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1044000">
                <a:tc>
                  <a:txBody>
                    <a:bodyPr wrap="square"/>
                    <a:lstStyle/>
                    <a:p>
                      <a:pPr rtl="1" algn="r" marL="0" indent="0">
                        <a:lnSpc>
                          <a:spcPct val="100000"/>
                        </a:lnSpc>
                        <a:spcBef>
                          <a:spcPts val="0"/>
                        </a:spcBef>
                        <a:spcAft>
                          <a:spcPts val="0"/>
                        </a:spcAft>
                        <a:buNone/>
                      </a:pPr>
                      <a:r>
                        <a:rPr sz="1400" b="0" i="0" lang="he-IL">
                          <a:solidFill>
                            <a:srgbClr val="212121"/>
                          </a:solidFill>
                        </a:rPr>
                        <a:t>פשרה של 1.5 מיליארד דולר אושרה ב־20.7.2026. אין הכרעה עליונה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אימון על עותקים שנרכשו כדין: שימוש הוגן. ספרייה פיראטית: לא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Bartz נ' Anthropic (ארה״ב, 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solidFill>
                      <a:srgbClr val="E3EEFF"/>
                    </a:solidFill>
                  </a:tcPr>
                </a:tc>
              </a:tr>
              <a:tr h="1044000">
                <a:tc>
                  <a:txBody>
                    <a:bodyPr wrap="square"/>
                    <a:lstStyle/>
                    <a:p>
                      <a:pPr rtl="1" algn="r" marL="0" indent="0">
                        <a:lnSpc>
                          <a:spcPct val="100000"/>
                        </a:lnSpc>
                        <a:spcBef>
                          <a:spcPts val="0"/>
                        </a:spcBef>
                        <a:spcAft>
                          <a:spcPts val="0"/>
                        </a:spcAft>
                        <a:buNone/>
                      </a:pPr>
                      <a:r>
                        <a:rPr sz="1400" b="0" i="0" lang="he-IL">
                          <a:solidFill>
                            <a:srgbClr val="212121"/>
                          </a:solidFill>
                        </a:rPr>
                        <a:t>ערעור, לפי דיווחים. מתייחס לשני מודלים בלבד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שינון מילות שירים במודל נחשב שעתוק</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GEMA נ' OpenAI (מינכן, 11.11.2025)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solidFill>
                      <a:srgbClr val="E3EEFF"/>
                    </a:solidFill>
                  </a:tcPr>
                </a:tc>
              </a:tr>
              <a:tr h="1044000">
                <a:tc>
                  <a:txBody>
                    <a:bodyPr wrap="square"/>
                    <a:lstStyle/>
                    <a:p>
                      <a:pPr rtl="1" algn="r" marL="0" indent="0">
                        <a:lnSpc>
                          <a:spcPct val="100000"/>
                        </a:lnSpc>
                        <a:spcBef>
                          <a:spcPts val="0"/>
                        </a:spcBef>
                        <a:spcAft>
                          <a:spcPts val="0"/>
                        </a:spcAft>
                        <a:buNone/>
                      </a:pPr>
                      <a:r>
                        <a:rPr sz="1400" b="0" i="0" lang="he-IL">
                          <a:solidFill>
                            <a:srgbClr val="212121"/>
                          </a:solidFill>
                        </a:rPr>
                        <a:t>הפרת יוצרים בפלט לא הוכרעה. תביעות חוזה נותרו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תביעת DMCA על Copilot נדחתה: פלט חדש אינו עותק שהוסרו ממנו הודעות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Doe נ' GitHub (ערכאת ערעור פדרלית, 16.9.2026)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solidFill>
                      <a:srgbClr val="E3EEFF"/>
                    </a:solidFill>
                  </a:tcPr>
                </a:tc>
              </a:tr>
            </a:tbl>
          </a:graphicData>
        </a:graphic>
      </p:graphicFrame>
      <p:sp>
        <p:nvSpPr>
          <p:cNvPr id="6" name="TextBox 5"/>
          <p:cNvSpPr txBox="1"/>
          <p:nvPr/>
        </p:nvSpPr>
        <p:spPr>
          <a:xfrm>
            <a:off x="365760" y="484632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נכון ל־22.10.2026. ערכאות ראשונות וערעור אחד: אין כאן תקדים עליון. לא ייעוץ משפטי.</a:t>
            </a:r>
          </a:p>
        </p:txBody>
      </p:sp>
      <p:sp>
        <p:nvSpPr>
          <p:cNvPr id="7" name="Tag העשרה"/>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העשרה :קוד פתוח וקוד שנוצר ב־AI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371600"/>
            <a:ext cx="2697480" cy="32004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4630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7" name="TextBox 6"/>
          <p:cNvSpPr txBox="1"/>
          <p:nvPr/>
        </p:nvSpPr>
        <p:spPr>
          <a:xfrm>
            <a:off x="6263640" y="22860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הקרנל של Linux</a:t>
            </a:r>
          </a:p>
        </p:txBody>
      </p:sp>
      <p:sp>
        <p:nvSpPr>
          <p:cNvPr id="8" name="TextBox 7"/>
          <p:cNvSpPr txBox="1"/>
          <p:nvPr/>
        </p:nvSpPr>
        <p:spPr>
          <a:xfrm>
            <a:off x="6309360" y="2971800"/>
            <a:ext cx="2423160" cy="1554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סוכן לא חותם Signed-off-by. אדם בודק רישיון, חותם ואחראי לתרומה.</a:t>
            </a:r>
          </a:p>
        </p:txBody>
      </p:sp>
      <p:sp>
        <p:nvSpPr>
          <p:cNvPr id="9" name="Rounded Rectangle 8"/>
          <p:cNvSpPr/>
          <p:nvPr/>
        </p:nvSpPr>
        <p:spPr>
          <a:xfrm>
            <a:off x="3246120" y="1371600"/>
            <a:ext cx="2697480" cy="32004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4630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1" name="TextBox 10"/>
          <p:cNvSpPr txBox="1"/>
          <p:nvPr/>
        </p:nvSpPr>
        <p:spPr>
          <a:xfrm>
            <a:off x="3337560" y="22860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Copilot</a:t>
            </a:r>
          </a:p>
        </p:txBody>
      </p:sp>
      <p:sp>
        <p:nvSpPr>
          <p:cNvPr id="12" name="TextBox 11"/>
          <p:cNvSpPr txBox="1"/>
          <p:nvPr/>
        </p:nvSpPr>
        <p:spPr>
          <a:xfrm>
            <a:off x="3383279" y="2971800"/>
            <a:ext cx="2423160" cy="1554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אפשר לחסום הצעות שתואמות קוד ציבורי, או לאפשר ולראות מאיפה הן.</a:t>
            </a:r>
          </a:p>
        </p:txBody>
      </p:sp>
      <p:sp>
        <p:nvSpPr>
          <p:cNvPr id="13" name="Rounded Rectangle 12"/>
          <p:cNvSpPr/>
          <p:nvPr/>
        </p:nvSpPr>
        <p:spPr>
          <a:xfrm>
            <a:off x="320039" y="1371600"/>
            <a:ext cx="2697480" cy="320040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4630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5" name="TextBox 14"/>
          <p:cNvSpPr txBox="1"/>
          <p:nvPr/>
        </p:nvSpPr>
        <p:spPr>
          <a:xfrm>
            <a:off x="411479" y="22860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AGPL ושירותי רשת</a:t>
            </a:r>
          </a:p>
        </p:txBody>
      </p:sp>
      <p:sp>
        <p:nvSpPr>
          <p:cNvPr id="16" name="TextBox 15"/>
          <p:cNvSpPr txBox="1"/>
          <p:nvPr/>
        </p:nvSpPr>
        <p:spPr>
          <a:xfrm>
            <a:off x="457199" y="2971800"/>
            <a:ext cx="2423160" cy="1554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מי ששינה תוכנה ב־AGPL ומפעיל אותה ברשת חייב להציע למשתמשים את הקוד.</a:t>
            </a:r>
          </a:p>
        </p:txBody>
      </p:sp>
      <p:sp>
        <p:nvSpPr>
          <p:cNvPr id="17" name="TextBox 16"/>
          <p:cNvSpPr txBox="1"/>
          <p:nvPr/>
        </p:nvSpPr>
        <p:spPr>
          <a:xfrm>
            <a:off x="365760" y="466344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בלי LICENSE: כל הזכויות שמורות. בפרויקט: LICENSE, בדיקת תלויות ויומן AI. נכון ל־22.10.2026. לא ייעוץ משפטי.</a:t>
            </a:r>
          </a:p>
        </p:txBody>
      </p:sp>
      <p:sp>
        <p:nvSpPr>
          <p:cNvPr id="18" name="Tag העשרה"/>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העשרה :ממשל AI בארגון: מסגרות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8412480" cy="804672"/>
          </a:xfrm>
          <a:prstGeom prst="roundRect">
            <a:avLst>
              <a:gd name="adj" fmla="val 8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675120" y="1371600"/>
            <a:ext cx="20116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000" b="1" i="0" lang="he-IL">
                <a:solidFill>
                  <a:srgbClr val="212121"/>
                </a:solidFill>
              </a:rPr>
              <a:t>NIST AI RMF</a:t>
            </a:r>
          </a:p>
        </p:txBody>
      </p:sp>
      <p:sp>
        <p:nvSpPr>
          <p:cNvPr id="7" name="TextBox 6"/>
          <p:cNvSpPr txBox="1"/>
          <p:nvPr/>
        </p:nvSpPr>
        <p:spPr>
          <a:xfrm>
            <a:off x="502920" y="1371600"/>
            <a:ext cx="61264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ינואר 2023. ארבע פונקציות: Govern, Map, Measure, Manage. וולונטרי</a:t>
            </a:r>
          </a:p>
        </p:txBody>
      </p:sp>
      <p:sp>
        <p:nvSpPr>
          <p:cNvPr id="8" name="Rounded Rectangle 7"/>
          <p:cNvSpPr/>
          <p:nvPr/>
        </p:nvSpPr>
        <p:spPr>
          <a:xfrm>
            <a:off x="365760" y="2286000"/>
            <a:ext cx="8412480" cy="804672"/>
          </a:xfrm>
          <a:prstGeom prst="roundRect">
            <a:avLst>
              <a:gd name="adj" fmla="val 8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9" name="TextBox 8"/>
          <p:cNvSpPr txBox="1"/>
          <p:nvPr/>
        </p:nvSpPr>
        <p:spPr>
          <a:xfrm>
            <a:off x="6675120" y="2286000"/>
            <a:ext cx="20116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000" b="1" i="0" lang="he-IL">
                <a:solidFill>
                  <a:srgbClr val="212121"/>
                </a:solidFill>
              </a:rPr>
              <a:t>ISO/IEC 42001</a:t>
            </a:r>
          </a:p>
        </p:txBody>
      </p:sp>
      <p:sp>
        <p:nvSpPr>
          <p:cNvPr id="10" name="TextBox 9"/>
          <p:cNvSpPr txBox="1"/>
          <p:nvPr/>
        </p:nvSpPr>
        <p:spPr>
          <a:xfrm>
            <a:off x="502920" y="2286000"/>
            <a:ext cx="61264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תקן לניהול מערכות AI בארגון (2023). ניתן להסמכה חיצונית</a:t>
            </a:r>
          </a:p>
        </p:txBody>
      </p:sp>
      <p:sp>
        <p:nvSpPr>
          <p:cNvPr id="11" name="Rounded Rectangle 10"/>
          <p:cNvSpPr/>
          <p:nvPr/>
        </p:nvSpPr>
        <p:spPr>
          <a:xfrm>
            <a:off x="365760" y="3200400"/>
            <a:ext cx="8412480" cy="804672"/>
          </a:xfrm>
          <a:prstGeom prst="roundRect">
            <a:avLst>
              <a:gd name="adj" fmla="val 8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TextBox 11"/>
          <p:cNvSpPr txBox="1"/>
          <p:nvPr/>
        </p:nvSpPr>
        <p:spPr>
          <a:xfrm>
            <a:off x="6675120" y="3200400"/>
            <a:ext cx="20116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000" b="1" i="0" lang="he-IL">
                <a:solidFill>
                  <a:srgbClr val="212121"/>
                </a:solidFill>
              </a:rPr>
              <a:t>אוריינות AI</a:t>
            </a:r>
          </a:p>
        </p:txBody>
      </p:sp>
      <p:sp>
        <p:nvSpPr>
          <p:cNvPr id="13" name="TextBox 12"/>
          <p:cNvSpPr txBox="1"/>
          <p:nvPr/>
        </p:nvSpPr>
        <p:spPr>
          <a:xfrm>
            <a:off x="502920" y="3200400"/>
            <a:ext cx="61264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חוק ה־AI האירופי, סעיף 4: ארגון פועל לפתח אוריינות AI בצוות (מ־2.2.2025)</a:t>
            </a:r>
          </a:p>
        </p:txBody>
      </p:sp>
      <p:sp>
        <p:nvSpPr>
          <p:cNvPr id="14" name="Rounded Rectangle 13"/>
          <p:cNvSpPr/>
          <p:nvPr/>
        </p:nvSpPr>
        <p:spPr>
          <a:xfrm>
            <a:off x="365760" y="4114800"/>
            <a:ext cx="8412480" cy="804672"/>
          </a:xfrm>
          <a:prstGeom prst="roundRect">
            <a:avLst>
              <a:gd name="adj" fmla="val 8000"/>
            </a:avLst>
          </a:prstGeom>
          <a:solidFill>
            <a:srgbClr val="E1F4E6"/>
          </a:solidFill>
          <a:ln w="31750">
            <a:solidFill>
              <a:srgbClr val="34A853"/>
            </a:solidFill>
          </a:ln>
        </p:spPr>
        <p:txBody>
          <a:bodyPr rtlCol="0" anchor="ctr" wrap="square" lIns="73152" rIns="73152" tIns="73152" bIns="73152">
            <a:noAutofit/>
          </a:bodyPr>
          <a:lstStyle/>
          <a:p>
            <a:pPr algn="ctr"/>
          </a:p>
        </p:txBody>
      </p:sp>
      <p:sp>
        <p:nvSpPr>
          <p:cNvPr id="15" name="TextBox 14"/>
          <p:cNvSpPr txBox="1"/>
          <p:nvPr/>
        </p:nvSpPr>
        <p:spPr>
          <a:xfrm>
            <a:off x="6675120" y="4114800"/>
            <a:ext cx="20116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000" b="1" i="0" lang="he-IL">
                <a:solidFill>
                  <a:srgbClr val="212121"/>
                </a:solidFill>
              </a:rPr>
              <a:t>ישראל</a:t>
            </a:r>
          </a:p>
        </p:txBody>
      </p:sp>
      <p:sp>
        <p:nvSpPr>
          <p:cNvPr id="16" name="TextBox 15"/>
          <p:cNvSpPr txBox="1"/>
          <p:nvPr/>
        </p:nvSpPr>
        <p:spPr>
          <a:xfrm>
            <a:off x="502920" y="4114800"/>
            <a:ext cx="612648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מדיניות ממשלתית (12.2023): רגולציה ענפית. הנחיות הרשות לפרטיות</a:t>
            </a:r>
          </a:p>
        </p:txBody>
      </p:sp>
      <p:sp>
        <p:nvSpPr>
          <p:cNvPr id="17" name="Tag העשרה"/>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העשרה :תיקון 13 לעומק</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371600"/>
            <a:ext cx="2697480" cy="32004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4630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7" name="TextBox 6"/>
          <p:cNvSpPr txBox="1"/>
          <p:nvPr/>
        </p:nvSpPr>
        <p:spPr>
          <a:xfrm>
            <a:off x="6263640" y="22860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מה השתנה</a:t>
            </a:r>
          </a:p>
        </p:txBody>
      </p:sp>
      <p:sp>
        <p:nvSpPr>
          <p:cNvPr id="8" name="TextBox 7"/>
          <p:cNvSpPr txBox="1"/>
          <p:nvPr/>
        </p:nvSpPr>
        <p:spPr>
          <a:xfrm>
            <a:off x="6309360" y="2971800"/>
            <a:ext cx="2423160" cy="1554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הגדרה רחבה של מידע אישי, ״מידע בעל רגישות מיוחדת״, רישום מאגרים מצומצם, והודעה לרשות.</a:t>
            </a:r>
          </a:p>
        </p:txBody>
      </p:sp>
      <p:sp>
        <p:nvSpPr>
          <p:cNvPr id="9" name="Rounded Rectangle 8"/>
          <p:cNvSpPr/>
          <p:nvPr/>
        </p:nvSpPr>
        <p:spPr>
          <a:xfrm>
            <a:off x="3246120" y="1371600"/>
            <a:ext cx="2697480" cy="32004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3246120" y="14630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1" name="TextBox 10"/>
          <p:cNvSpPr txBox="1"/>
          <p:nvPr/>
        </p:nvSpPr>
        <p:spPr>
          <a:xfrm>
            <a:off x="3337560" y="22860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ממונה פרטיות</a:t>
            </a:r>
          </a:p>
        </p:txBody>
      </p:sp>
      <p:sp>
        <p:nvSpPr>
          <p:cNvPr id="12" name="TextBox 11"/>
          <p:cNvSpPr txBox="1"/>
          <p:nvPr/>
        </p:nvSpPr>
        <p:spPr>
          <a:xfrm>
            <a:off x="3383279" y="2971800"/>
            <a:ext cx="2423160" cy="1554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חובה בגופים ציבוריים ובארגונים בסיכון גבוה: סחר במידע, ניטור שיטתי, מידע רגיש בהיקף ניכר.</a:t>
            </a:r>
          </a:p>
        </p:txBody>
      </p:sp>
      <p:sp>
        <p:nvSpPr>
          <p:cNvPr id="13" name="Rounded Rectangle 12"/>
          <p:cNvSpPr/>
          <p:nvPr/>
        </p:nvSpPr>
        <p:spPr>
          <a:xfrm>
            <a:off x="320039" y="1371600"/>
            <a:ext cx="2697480" cy="320040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320039" y="14630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5" name="TextBox 14"/>
          <p:cNvSpPr txBox="1"/>
          <p:nvPr/>
        </p:nvSpPr>
        <p:spPr>
          <a:xfrm>
            <a:off x="411479" y="22860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אכיפה</a:t>
            </a:r>
          </a:p>
        </p:txBody>
      </p:sp>
      <p:sp>
        <p:nvSpPr>
          <p:cNvPr id="16" name="TextBox 15"/>
          <p:cNvSpPr txBox="1"/>
          <p:nvPr/>
        </p:nvSpPr>
        <p:spPr>
          <a:xfrm>
            <a:off x="457199" y="2971800"/>
            <a:ext cx="2423160" cy="15544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עיצומים כספיים, תקרה 5% ממחזור. פיצוי ללא הוכחת נזק, עד 10,000 ש״ח בהפרות מסוימות.</a:t>
            </a:r>
          </a:p>
        </p:txBody>
      </p:sp>
      <p:sp>
        <p:nvSpPr>
          <p:cNvPr id="17" name="TextBox 16"/>
          <p:cNvSpPr txBox="1"/>
          <p:nvPr/>
        </p:nvSpPr>
        <p:spPr>
          <a:xfrm>
            <a:off x="365760" y="466344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טיוטת הנחיית הרשות ל־AI (28.4.2025): החוק חל על מודל שמעבד מידע אישי. טיוטה, לא סופית. נכון ל־22.10.2026.</a:t>
            </a:r>
          </a:p>
        </p:txBody>
      </p:sp>
      <p:sp>
        <p:nvSpPr>
          <p:cNvPr id="18" name="Tag העשרה"/>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 העשרה :מקורות להעמקה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25880"/>
          <a:ext cx="8424000" cy="3384000"/>
        </p:xfrm>
        <a:graphic>
          <a:graphicData uri="http://schemas.openxmlformats.org/drawingml/2006/table">
            <a:tbl>
              <a:tblPr firstRow="0" bandRow="0">
                <a:tableStyleId>{2D5ABB26-0587-4C30-8999-92F81FD0307C}</a:tableStyleId>
              </a:tblPr>
              <a:tblGrid>
                <a:gridCol w="2592000"/>
                <a:gridCol w="3528000"/>
                <a:gridCol w="2304000"/>
              </a:tblGrid>
              <a:tr h="360000">
                <a:tc>
                  <a:txBody>
                    <a:bodyPr wrap="square"/>
                    <a:lstStyle/>
                    <a:p>
                      <a:pPr rtl="1" algn="ctr" marL="0" indent="0">
                        <a:lnSpc>
                          <a:spcPct val="100000"/>
                        </a:lnSpc>
                        <a:spcBef>
                          <a:spcPts val="0"/>
                        </a:spcBef>
                        <a:spcAft>
                          <a:spcPts val="0"/>
                        </a:spcAft>
                        <a:buNone/>
                      </a:pPr>
                      <a:r>
                        <a:rPr sz="1200" b="1" i="0" lang="he-IL">
                          <a:solidFill>
                            <a:srgbClr val="212121"/>
                          </a:solidFill>
                        </a:rPr>
                        <a:t>אתר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200" b="1" i="0" lang="he-IL">
                          <a:solidFill>
                            <a:srgbClr val="212121"/>
                          </a:solidFill>
                        </a:rPr>
                        <a:t>שם המקור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200" b="1" i="0" lang="he-IL">
                          <a:solidFill>
                            <a:srgbClr val="212121"/>
                          </a:solidFill>
                        </a:rPr>
                        <a:t>גוף ושנה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378000">
                <a:tc>
                  <a:txBody>
                    <a:bodyPr wrap="square"/>
                    <a:lstStyle/>
                    <a:p>
                      <a:pPr rtl="1" algn="r" marL="0" indent="0">
                        <a:lnSpc>
                          <a:spcPct val="100000"/>
                        </a:lnSpc>
                        <a:spcBef>
                          <a:spcPts val="0"/>
                        </a:spcBef>
                        <a:spcAft>
                          <a:spcPts val="0"/>
                        </a:spcAft>
                        <a:buNone/>
                      </a:pPr>
                      <a:r>
                        <a:rPr sz="1200" b="0" i="0" lang="he-IL">
                          <a:solidFill>
                            <a:srgbClr val="212121"/>
                          </a:solidFill>
                        </a:rPr>
                        <a:t>copyright.gov/ai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Copyright and AI, Part 2: Copyrightability</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US Copyright Office, 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78000">
                <a:tc>
                  <a:txBody>
                    <a:bodyPr wrap="square"/>
                    <a:lstStyle/>
                    <a:p>
                      <a:pPr rtl="1" algn="r" marL="0" indent="0">
                        <a:lnSpc>
                          <a:spcPct val="100000"/>
                        </a:lnSpc>
                        <a:spcBef>
                          <a:spcPts val="0"/>
                        </a:spcBef>
                        <a:spcAft>
                          <a:spcPts val="0"/>
                        </a:spcAft>
                        <a:buNone/>
                      </a:pPr>
                      <a:r>
                        <a:rPr sz="1200" b="0" i="0" lang="he-IL">
                          <a:solidFill>
                            <a:srgbClr val="212121"/>
                          </a:solidFill>
                        </a:rPr>
                        <a:t>gov.il (machine-learning)</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חוות דעת: שימוש ביצירות מוגנות ללמידת מכונה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משרד המשפטים, 18.12.2022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78000">
                <a:tc>
                  <a:txBody>
                    <a:bodyPr wrap="square"/>
                    <a:lstStyle/>
                    <a:p>
                      <a:pPr rtl="1" algn="r" marL="0" indent="0">
                        <a:lnSpc>
                          <a:spcPct val="100000"/>
                        </a:lnSpc>
                        <a:spcBef>
                          <a:spcPts val="0"/>
                        </a:spcBef>
                        <a:spcAft>
                          <a:spcPts val="0"/>
                        </a:spcAft>
                        <a:buNone/>
                      </a:pPr>
                      <a:r>
                        <a:rPr sz="1200" b="0" i="0" lang="he-IL">
                          <a:solidFill>
                            <a:srgbClr val="212121"/>
                          </a:solidFill>
                        </a:rPr>
                        <a:t>gov.il (guide_tikon13)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מדריך תיקון מס' 13 לחוק הגנת הפרטיות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הרשות להגנת הפרטיות, 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78000">
                <a:tc>
                  <a:txBody>
                    <a:bodyPr wrap="square"/>
                    <a:lstStyle/>
                    <a:p>
                      <a:pPr rtl="1" algn="r" marL="0" indent="0">
                        <a:lnSpc>
                          <a:spcPct val="100000"/>
                        </a:lnSpc>
                        <a:spcBef>
                          <a:spcPts val="0"/>
                        </a:spcBef>
                        <a:spcAft>
                          <a:spcPts val="0"/>
                        </a:spcAft>
                        <a:buNone/>
                      </a:pPr>
                      <a:r>
                        <a:rPr sz="1200" b="0" i="0" lang="he-IL">
                          <a:solidFill>
                            <a:srgbClr val="212121"/>
                          </a:solidFill>
                        </a:rPr>
                        <a:t>gov.il (ai_reg)</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טיוטת הנחיה: חוק הפרטיות ומערכות AI</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הרשות להגנת הפרטיות, 28.4.2025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78000">
                <a:tc>
                  <a:txBody>
                    <a:bodyPr wrap="square"/>
                    <a:lstStyle/>
                    <a:p>
                      <a:pPr rtl="1" algn="r" marL="0" indent="0">
                        <a:lnSpc>
                          <a:spcPct val="100000"/>
                        </a:lnSpc>
                        <a:spcBef>
                          <a:spcPts val="0"/>
                        </a:spcBef>
                        <a:spcAft>
                          <a:spcPts val="0"/>
                        </a:spcAft>
                        <a:buNone/>
                      </a:pPr>
                      <a:r>
                        <a:rPr sz="1200" b="0" i="0" lang="he-IL">
                          <a:solidFill>
                            <a:srgbClr val="212121"/>
                          </a:solidFill>
                        </a:rPr>
                        <a:t>digital-strategy.ec.europa.eu</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AI Act: מסגרת רגולטורית ולוח זמנים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הנציבות האירופית, 19.10.2026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78000">
                <a:tc>
                  <a:txBody>
                    <a:bodyPr wrap="square"/>
                    <a:lstStyle/>
                    <a:p>
                      <a:pPr rtl="1" algn="r" marL="0" indent="0">
                        <a:lnSpc>
                          <a:spcPct val="100000"/>
                        </a:lnSpc>
                        <a:spcBef>
                          <a:spcPts val="0"/>
                        </a:spcBef>
                        <a:spcAft>
                          <a:spcPts val="0"/>
                        </a:spcAft>
                        <a:buNone/>
                      </a:pPr>
                      <a:r>
                        <a:rPr sz="1200" b="0" i="0" lang="he-IL">
                          <a:solidFill>
                            <a:srgbClr val="212121"/>
                          </a:solidFill>
                        </a:rPr>
                        <a:t>nist.gov (AI RMF)</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AI Risk Management Framework 1.0</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NIST, 2023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78000">
                <a:tc>
                  <a:txBody>
                    <a:bodyPr wrap="square"/>
                    <a:lstStyle/>
                    <a:p>
                      <a:pPr rtl="1" algn="r" marL="0" indent="0">
                        <a:lnSpc>
                          <a:spcPct val="100000"/>
                        </a:lnSpc>
                        <a:spcBef>
                          <a:spcPts val="0"/>
                        </a:spcBef>
                        <a:spcAft>
                          <a:spcPts val="0"/>
                        </a:spcAft>
                        <a:buNone/>
                      </a:pPr>
                      <a:r>
                        <a:rPr sz="1200" b="0" i="0" lang="he-IL">
                          <a:solidFill>
                            <a:srgbClr val="212121"/>
                          </a:solidFill>
                        </a:rPr>
                        <a:t>supremecourt.gov (25‎-‎449)</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Thaler v. Perlmutter, 25‎-‎449 (נדחה 2.3.2026)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US Supreme Court, 2026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378000">
                <a:tc>
                  <a:txBody>
                    <a:bodyPr wrap="square"/>
                    <a:lstStyle/>
                    <a:p>
                      <a:pPr rtl="1" algn="r" marL="0" indent="0">
                        <a:lnSpc>
                          <a:spcPct val="100000"/>
                        </a:lnSpc>
                        <a:spcBef>
                          <a:spcPts val="0"/>
                        </a:spcBef>
                        <a:spcAft>
                          <a:spcPts val="0"/>
                        </a:spcAft>
                        <a:buNone/>
                      </a:pPr>
                      <a:r>
                        <a:rPr sz="1200" b="0" i="0" lang="he-IL">
                          <a:solidFill>
                            <a:srgbClr val="212121"/>
                          </a:solidFill>
                        </a:rPr>
                        <a:t>docs.kernel.org</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0" i="0" lang="he-IL">
                          <a:solidFill>
                            <a:srgbClr val="212121"/>
                          </a:solidFill>
                        </a:rPr>
                        <a:t>AI Coding Assistants (תיעוד התהליך)</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200" b="1" i="0" lang="he-IL">
                          <a:solidFill>
                            <a:srgbClr val="212121"/>
                          </a:solidFill>
                        </a:rPr>
                        <a:t>Linux kernel, 2025‎-‎2026</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6" name="TextBox 5"/>
          <p:cNvSpPr txBox="1"/>
          <p:nvPr/>
        </p:nvSpPr>
        <p:spPr>
          <a:xfrm>
            <a:off x="365760" y="484632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כל המקורות נפתחו ונבדקו ב־22.10.2026. מקורות נוספים בהערות הדובר.</a:t>
            </a:r>
          </a:p>
        </p:txBody>
      </p:sp>
      <p:sp>
        <p:nvSpPr>
          <p:cNvPr id="7" name="Tag העשרה"/>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a:t>
            </a:r>
            <a:r>
              <a:rPr sz="3000" b="1" i="0" lang="he-IL">
                <a:solidFill>
                  <a:srgbClr val="212121"/>
                </a:solidFill>
              </a:rPr>
              <a:t>הכלל של השיעור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31520" y="1645920"/>
            <a:ext cx="7680960" cy="2286000"/>
          </a:xfrm>
          <a:prstGeom prst="roundRect">
            <a:avLst>
              <a:gd name="adj" fmla="val 6000"/>
            </a:avLst>
          </a:prstGeom>
          <a:solidFill>
            <a:srgbClr val="E1F4E6"/>
          </a:solidFill>
          <a:ln w="3810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3000" b="1" i="0" lang="he-IL">
                <a:solidFill>
                  <a:srgbClr val="212121"/>
                </a:solidFill>
              </a:rPr>
              <a:t>אחראים על מה שמשחררים:</a:t>
            </a:r>
          </a:p>
          <a:p>
            <a:pPr rtl="1" algn="ctr" marL="0" indent="0">
              <a:lnSpc>
                <a:spcPct val="105000"/>
              </a:lnSpc>
              <a:spcBef>
                <a:spcPts val="0"/>
              </a:spcBef>
              <a:spcAft>
                <a:spcPts val="0"/>
              </a:spcAft>
              <a:buNone/>
            </a:pPr>
            <a:r>
              <a:rPr sz="3000" b="1" i="0" lang="he-IL">
                <a:solidFill>
                  <a:srgbClr val="212121"/>
                </a:solidFill>
              </a:rPr>
              <a:t>בודקים, מתעדים, ומודיעים.</a:t>
            </a:r>
          </a:p>
        </p:txBody>
      </p:sp>
      <p:sp>
        <p:nvSpPr>
          <p:cNvPr id="6" name="TextBox 5"/>
          <p:cNvSpPr txBox="1"/>
          <p:nvPr/>
        </p:nvSpPr>
        <p:spPr>
          <a:xfrm>
            <a:off x="731520" y="4114800"/>
            <a:ext cx="768096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0" i="0" lang="he-IL">
                <a:solidFill>
                  <a:srgbClr val="595959"/>
                </a:solidFill>
              </a:rPr>
              <a:t>וכש־AI כתב: עדיין אתם חתומים.</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a:t>
            </a:r>
            <a:r>
              <a:rPr sz="3000" b="1" i="0" lang="he-IL">
                <a:solidFill>
                  <a:srgbClr val="212121"/>
                </a:solidFill>
              </a:rPr>
              <a:t>שאלות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527048"/>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למה אותה תמונת קונטיינר צריכה לרוץ בכל סביבה, ומה משתנה?</a:t>
            </a:r>
          </a:p>
        </p:txBody>
      </p:sp>
      <p:sp>
        <p:nvSpPr>
          <p:cNvPr id="7" name="Oval 6"/>
          <p:cNvSpPr/>
          <p:nvPr/>
        </p:nvSpPr>
        <p:spPr>
          <a:xfrm>
            <a:off x="8412480" y="2368296"/>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212848"/>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מי הבעלים של קוד שנוצר ב־AI, בקצרה?</a:t>
            </a:r>
          </a:p>
        </p:txBody>
      </p:sp>
      <p:sp>
        <p:nvSpPr>
          <p:cNvPr id="9" name="Oval 8"/>
          <p:cNvSpPr/>
          <p:nvPr/>
        </p:nvSpPr>
        <p:spPr>
          <a:xfrm>
            <a:off x="8412480" y="320954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3054096"/>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למה רישיון GPL הוא סיכון בקוד שנוצר ב־AI?</a:t>
            </a:r>
          </a:p>
        </p:txBody>
      </p:sp>
      <p:sp>
        <p:nvSpPr>
          <p:cNvPr id="11" name="Oval 10"/>
          <p:cNvSpPr/>
          <p:nvPr/>
        </p:nvSpPr>
        <p:spPr>
          <a:xfrm>
            <a:off x="8412480" y="4050791"/>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2" name="TextBox 11"/>
          <p:cNvSpPr txBox="1"/>
          <p:nvPr/>
        </p:nvSpPr>
        <p:spPr>
          <a:xfrm>
            <a:off x="365760" y="3895344"/>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מהם שלושת הפעלים של האחריות לפני חשיפה?</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a:t>
            </a:r>
            <a:r>
              <a:rPr sz="3000" b="1" i="0" lang="he-IL">
                <a:solidFill>
                  <a:srgbClr val="212121"/>
                </a:solidFill>
              </a:rPr>
              <a:t>תשובות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545336"/>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כדי שהקוד לא ישתנה בין סביבות. משתנות רק ההגדרות והסודות (משתני סביבה).</a:t>
            </a:r>
          </a:p>
        </p:txBody>
      </p:sp>
      <p:sp>
        <p:nvSpPr>
          <p:cNvPr id="7" name="Oval 6"/>
          <p:cNvSpPr/>
          <p:nvPr/>
        </p:nvSpPr>
        <p:spPr>
          <a:xfrm>
            <a:off x="8412480" y="2386584"/>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212848"/>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אין תשובה מוחלטת. פרומפט בלבד כנראה אינו מקנה יוצרות (ארה״ב, 2025; נכון ל־22.10.2026), ותרומה אנושית של בחירה, סידור ושינוי עשויה להיות מוגנת.</a:t>
            </a:r>
          </a:p>
        </p:txBody>
      </p:sp>
      <p:sp>
        <p:nvSpPr>
          <p:cNvPr id="9" name="Oval 8"/>
          <p:cNvSpPr/>
          <p:nvPr/>
        </p:nvSpPr>
        <p:spPr>
          <a:xfrm>
            <a:off x="8412480" y="322783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3054096"/>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מודל עלול לשחזר קטע עם רישיון קופילפט, ושילובו במוצר עלול להתחייב לפתוח את הקוד.</a:t>
            </a:r>
          </a:p>
        </p:txBody>
      </p:sp>
      <p:sp>
        <p:nvSpPr>
          <p:cNvPr id="11" name="Oval 10"/>
          <p:cNvSpPr/>
          <p:nvPr/>
        </p:nvSpPr>
        <p:spPr>
          <a:xfrm>
            <a:off x="8412480" y="4069080"/>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2" name="TextBox 11"/>
          <p:cNvSpPr txBox="1"/>
          <p:nvPr/>
        </p:nvSpPr>
        <p:spPr>
          <a:xfrm>
            <a:off x="365760" y="3895344"/>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בודקים (בדיקות וצ׳קליסט), מתעדים (יומן ו־README), ומודיעים (הצהרת AI ומגבלות).</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a:t>
            </a:r>
            <a:r>
              <a:rPr sz="3000" b="1" i="0" lang="he-IL">
                <a:solidFill>
                  <a:srgbClr val="212121"/>
                </a:solidFill>
              </a:rPr>
              <a:t>סיכום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3657600"/>
          </a:xfrm>
          <a:prstGeom prst="rect">
            <a:avLst/>
          </a:prstGeom>
          <a:noFill/>
        </p:spPr>
        <p:txBody>
          <a:bodyPr wrap="square" lIns="73152" rIns="73152" tIns="73152" bIns="73152" anchor="t">
            <a:noAutofit/>
          </a:bodyPr>
          <a:lstStyle/>
          <a:p>
            <a:pPr rtl="1" algn="r" marL="347472" indent="-292608">
              <a:lnSpc>
                <a:spcPct val="114999"/>
              </a:lnSpc>
              <a:spcBef>
                <a:spcPts val="0"/>
              </a:spcBef>
              <a:spcAft>
                <a:spcPts val="800"/>
              </a:spcAft>
              <a:buClr>
                <a:srgbClr val="212121"/>
              </a:buClr>
              <a:buSzPts val="1680"/>
              <a:buChar char="●"/>
            </a:pPr>
            <a:r>
              <a:rPr sz="1900" b="0" i="0" lang="he-IL">
                <a:solidFill>
                  <a:srgbClr val="212121"/>
                </a:solidFill>
              </a:rPr>
              <a:t>פריסה: אותה תמונה בכל סביבה, הגדרות וסודות בסביבה, נתונים שנשמרים, בדיקות ו־CI, ניטור, עלות וחזרה אחורה.</a:t>
            </a:r>
          </a:p>
          <a:p>
            <a:pPr rtl="1" algn="r" marL="347472" indent="-292608">
              <a:lnSpc>
                <a:spcPct val="114999"/>
              </a:lnSpc>
              <a:spcBef>
                <a:spcPts val="0"/>
              </a:spcBef>
              <a:spcAft>
                <a:spcPts val="800"/>
              </a:spcAft>
              <a:buClr>
                <a:srgbClr val="212121"/>
              </a:buClr>
              <a:buSzPts val="1680"/>
              <a:buChar char="●"/>
            </a:pPr>
            <a:r>
              <a:rPr sz="1900" b="0" i="0" lang="he-IL">
                <a:solidFill>
                  <a:srgbClr val="212121"/>
                </a:solidFill>
              </a:rPr>
              <a:t>עמוד נחיתה נפרס בקלות (GitHub Pages), והצ'קליסט מחבר את כל הקורס.</a:t>
            </a:r>
          </a:p>
          <a:p>
            <a:pPr rtl="1" algn="r" marL="347472" indent="-292608">
              <a:lnSpc>
                <a:spcPct val="114999"/>
              </a:lnSpc>
              <a:spcBef>
                <a:spcPts val="0"/>
              </a:spcBef>
              <a:spcAft>
                <a:spcPts val="800"/>
              </a:spcAft>
              <a:buClr>
                <a:srgbClr val="212121"/>
              </a:buClr>
              <a:buSzPts val="1680"/>
              <a:buChar char="●"/>
            </a:pPr>
            <a:r>
              <a:rPr sz="1900" b="0" i="0" lang="he-IL">
                <a:solidFill>
                  <a:srgbClr val="212121"/>
                </a:solidFill>
              </a:rPr>
              <a:t>זכויות יוצרים: פרומפט בלבד כנראה אינו מקנה יוצרות. רישיונות וקוד AI דורשים בדיקה.</a:t>
            </a:r>
          </a:p>
          <a:p>
            <a:pPr rtl="1" algn="r" marL="347472" indent="-292608">
              <a:lnSpc>
                <a:spcPct val="114999"/>
              </a:lnSpc>
              <a:spcBef>
                <a:spcPts val="0"/>
              </a:spcBef>
              <a:spcAft>
                <a:spcPts val="800"/>
              </a:spcAft>
              <a:buClr>
                <a:srgbClr val="212121"/>
              </a:buClr>
              <a:buSzPts val="1680"/>
              <a:buChar char="●"/>
            </a:pPr>
            <a:r>
              <a:rPr sz="1900" b="0" i="0" lang="he-IL">
                <a:solidFill>
                  <a:srgbClr val="212121"/>
                </a:solidFill>
              </a:rPr>
              <a:t>פרטיות ואחריות: מי שפורס אחראי. מדיניות, סיווג מידע ושקיפות מקטינים סיכון.</a:t>
            </a:r>
          </a:p>
          <a:p>
            <a:pPr rtl="1" algn="r" marL="347472" indent="-292608">
              <a:lnSpc>
                <a:spcPct val="114999"/>
              </a:lnSpc>
              <a:spcBef>
                <a:spcPts val="0"/>
              </a:spcBef>
              <a:spcAft>
                <a:spcPts val="800"/>
              </a:spcAft>
              <a:buClr>
                <a:srgbClr val="212121"/>
              </a:buClr>
              <a:buSzPts val="1680"/>
              <a:buChar char="●"/>
            </a:pPr>
            <a:r>
              <a:rPr sz="1900" b="0" i="0" lang="he-IL">
                <a:solidFill>
                  <a:srgbClr val="212121"/>
                </a:solidFill>
              </a:rPr>
              <a:t>בשרשרת הקורס: בדיקות (8), סודות (10) והעברה (11) חוברים היום לצ'קליסט אחד.</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a:t>
            </a:r>
            <a:r>
              <a:rPr sz="3000" b="1" i="0" lang="he-IL">
                <a:solidFill>
                  <a:srgbClr val="212121"/>
                </a:solidFill>
              </a:rPr>
              <a:t>לבית: סיום המחברת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41732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6" name="TextBox 5"/>
          <p:cNvSpPr txBox="1"/>
          <p:nvPr/>
        </p:nvSpPr>
        <p:spPr>
          <a:xfrm>
            <a:off x="7772400" y="141732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7" name="TextBox 6"/>
          <p:cNvSpPr txBox="1"/>
          <p:nvPr/>
        </p:nvSpPr>
        <p:spPr>
          <a:xfrm>
            <a:off x="457200" y="141732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להשלים חלקים ג׳ ו־ד׳ ומסקנה (חלק ה׳) במחברת</a:t>
            </a:r>
          </a:p>
        </p:txBody>
      </p:sp>
      <p:sp>
        <p:nvSpPr>
          <p:cNvPr id="8" name="Rounded Rectangle 7"/>
          <p:cNvSpPr/>
          <p:nvPr/>
        </p:nvSpPr>
        <p:spPr>
          <a:xfrm>
            <a:off x="365760" y="219456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9" name="TextBox 8"/>
          <p:cNvSpPr txBox="1"/>
          <p:nvPr/>
        </p:nvSpPr>
        <p:spPr>
          <a:xfrm>
            <a:off x="7772400" y="219456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0" name="TextBox 9"/>
          <p:cNvSpPr txBox="1"/>
          <p:nvPr/>
        </p:nvSpPr>
        <p:spPr>
          <a:xfrm>
            <a:off x="457200" y="219456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להריץ הכול מחדש: כל הבדיקות ✓, ואז להוריד את הקובץ</a:t>
            </a:r>
          </a:p>
        </p:txBody>
      </p:sp>
      <p:sp>
        <p:nvSpPr>
          <p:cNvPr id="11" name="Rounded Rectangle 10"/>
          <p:cNvSpPr/>
          <p:nvPr/>
        </p:nvSpPr>
        <p:spPr>
          <a:xfrm>
            <a:off x="365760" y="297180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12" name="TextBox 11"/>
          <p:cNvSpPr txBox="1"/>
          <p:nvPr/>
        </p:nvSpPr>
        <p:spPr>
          <a:xfrm>
            <a:off x="7772400" y="297180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3" name="TextBox 12"/>
          <p:cNvSpPr txBox="1"/>
          <p:nvPr/>
        </p:nvSpPr>
        <p:spPr>
          <a:xfrm>
            <a:off x="457200" y="297180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בונוס: עמוד הנחיתה של הקבוצה, בקוד של חלק ב׳</a:t>
            </a:r>
          </a:p>
        </p:txBody>
      </p:sp>
      <p:sp>
        <p:nvSpPr>
          <p:cNvPr id="14" name="Rounded Rectangle 13"/>
          <p:cNvSpPr/>
          <p:nvPr/>
        </p:nvSpPr>
        <p:spPr>
          <a:xfrm>
            <a:off x="365760" y="3840480"/>
            <a:ext cx="8412480" cy="10972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אחרי המחברת: הפרסום והסימון בפרויקט</a:t>
            </a:r>
          </a:p>
          <a:p>
            <a:pPr rtl="1" algn="ctr" marL="0" indent="0">
              <a:lnSpc>
                <a:spcPct val="105000"/>
              </a:lnSpc>
              <a:spcBef>
                <a:spcPts val="0"/>
              </a:spcBef>
              <a:spcAft>
                <a:spcPts val="0"/>
              </a:spcAft>
              <a:buNone/>
            </a:pPr>
            <a:r>
              <a:rPr sz="1600" b="0" i="0" lang="he-IL">
                <a:solidFill>
                  <a:srgbClr val="595959"/>
                </a:solidFill>
              </a:rPr>
              <a:t>GitHub Pages והצ'קליסט המלא נעשים בפרויקט הקבוצתי, לא ב־Colab.</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12 :</a:t>
            </a:r>
            <a:r>
              <a:rPr sz="3000" b="1" i="0" lang="he-IL">
                <a:solidFill>
                  <a:srgbClr val="212121"/>
                </a:solidFill>
              </a:rPr>
              <a:t>הכנה למפגש הבא</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41732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6" name="TextBox 5"/>
          <p:cNvSpPr txBox="1"/>
          <p:nvPr/>
        </p:nvSpPr>
        <p:spPr>
          <a:xfrm>
            <a:off x="7772400" y="141732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7" name="TextBox 6"/>
          <p:cNvSpPr txBox="1"/>
          <p:nvPr/>
        </p:nvSpPr>
        <p:spPr>
          <a:xfrm>
            <a:off x="457200" y="141732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להשלים את שלושת הפערים מהצ'קליסט</a:t>
            </a:r>
          </a:p>
        </p:txBody>
      </p:sp>
      <p:sp>
        <p:nvSpPr>
          <p:cNvPr id="8" name="Rounded Rectangle 7"/>
          <p:cNvSpPr/>
          <p:nvPr/>
        </p:nvSpPr>
        <p:spPr>
          <a:xfrm>
            <a:off x="365760" y="219456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9" name="TextBox 8"/>
          <p:cNvSpPr txBox="1"/>
          <p:nvPr/>
        </p:nvSpPr>
        <p:spPr>
          <a:xfrm>
            <a:off x="7772400" y="219456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0" name="TextBox 9"/>
          <p:cNvSpPr txBox="1"/>
          <p:nvPr/>
        </p:nvSpPr>
        <p:spPr>
          <a:xfrm>
            <a:off x="457200" y="219456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לוודא שעמוד הנחיתה חי, עם סרטון וקישור</a:t>
            </a:r>
          </a:p>
        </p:txBody>
      </p:sp>
      <p:sp>
        <p:nvSpPr>
          <p:cNvPr id="11" name="Rounded Rectangle 10"/>
          <p:cNvSpPr/>
          <p:nvPr/>
        </p:nvSpPr>
        <p:spPr>
          <a:xfrm>
            <a:off x="365760" y="297180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12" name="TextBox 11"/>
          <p:cNvSpPr txBox="1"/>
          <p:nvPr/>
        </p:nvSpPr>
        <p:spPr>
          <a:xfrm>
            <a:off x="7772400" y="297180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3" name="TextBox 12"/>
          <p:cNvSpPr txBox="1"/>
          <p:nvPr/>
        </p:nvSpPr>
        <p:spPr>
          <a:xfrm>
            <a:off x="457200" y="297180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להכין הצגה של 5 דקות: בעיה, דמו, תהליך ואחריות</a:t>
            </a:r>
          </a:p>
        </p:txBody>
      </p:sp>
      <p:sp>
        <p:nvSpPr>
          <p:cNvPr id="14" name="Rounded Rectangle 13"/>
          <p:cNvSpPr/>
          <p:nvPr/>
        </p:nvSpPr>
        <p:spPr>
          <a:xfrm>
            <a:off x="365760" y="3840480"/>
            <a:ext cx="8412480" cy="10972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בשיעור הבא: סיכום והצגת פרויקטים</a:t>
            </a:r>
          </a:p>
          <a:p>
            <a:pPr rtl="1" algn="ctr" marL="0" indent="0">
              <a:lnSpc>
                <a:spcPct val="105000"/>
              </a:lnSpc>
              <a:spcBef>
                <a:spcPts val="0"/>
              </a:spcBef>
              <a:spcAft>
                <a:spcPts val="0"/>
              </a:spcAft>
              <a:buNone/>
            </a:pPr>
            <a:r>
              <a:rPr sz="1600" b="0" i="0" lang="he-IL">
                <a:solidFill>
                  <a:srgbClr val="595959"/>
                </a:solidFill>
              </a:rPr>
              <a:t>מהלמידה ליישום: Best Practices ו־Showcase.</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