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i="1" dirty="0">
                <a:solidFill>
                  <a:srgbClr val="00A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– AI-Native Software Development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8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שיעור 1: מבוא ל-Vibe Coding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Vibe Coding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286000" y="2743200"/>
            <a:ext cx="7616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בסוף השיעור תדעו לענות על: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286000" y="3200400"/>
            <a:ext cx="76169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מהו Vibe Coding, ובמה הוא שונה מ״להקליד פרומפט״?</a:t>
            </a:r>
            <a:endParaRPr lang="en-US" sz="1700" dirty="0"/>
          </a:p>
          <a:p>
            <a:pPr rtl="1" algn="r"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היתרונות, החסרונות והמגבלות — עם נתונים אמיתיים?</a:t>
            </a:r>
            <a:endParaRPr lang="en-US" sz="1700" dirty="0"/>
          </a:p>
          <a:p>
            <a:pPr rtl="1" algn="r"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מהו ה-Workflow בן 10 השלבים שנלמד לאורך כל הקורס?</a:t>
            </a:r>
            <a:endParaRPr lang="en-US" sz="1700" dirty="0"/>
          </a:p>
          <a:p>
            <a:pPr rtl="1" algn="r"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למה הקורס מלמד ״תהליך״, ולא ״כלי״?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2286000" y="5166360"/>
            <a:ext cx="7616952" cy="1097280"/>
          </a:xfrm>
          <a:prstGeom prst="roundRect">
            <a:avLst>
              <a:gd name="adj" fmla="val 5000"/>
            </a:avLst>
          </a:prstGeom>
          <a:solidFill>
            <a:srgbClr val="1B1F3B"/>
          </a:solidFill>
          <a:ln w="6350">
            <a:solidFill>
              <a:srgbClr val="B8B8C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414016" y="5241341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9" name="Shape 7"/>
          <p:cNvSpPr/>
          <p:nvPr/>
        </p:nvSpPr>
        <p:spPr>
          <a:xfrm>
            <a:off x="2615184" y="5241341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8"/>
          <p:cNvSpPr/>
          <p:nvPr/>
        </p:nvSpPr>
        <p:spPr>
          <a:xfrm>
            <a:off x="2816352" y="5241341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1" name="Text 9"/>
          <p:cNvSpPr/>
          <p:nvPr/>
        </p:nvSpPr>
        <p:spPr>
          <a:xfrm>
            <a:off x="2286000" y="5166360"/>
            <a:ext cx="7616952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vibe-agent — zsh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468880" y="5480914"/>
            <a:ext cx="7251192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vibe-agent run "add dark mode toggle"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468880" y="5667451"/>
            <a:ext cx="7251192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000" dirty="0">
                <a:solidFill>
                  <a:srgbClr val="8A8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קורא את src/App.tsx...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468880" y="5853989"/>
            <a:ext cx="7251192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000" dirty="0">
                <a:solidFill>
                  <a:srgbClr val="5FD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כותב קומפוננטה חדשה...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468880" y="6040526"/>
            <a:ext cx="7251192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000" dirty="0">
                <a:solidFill>
                  <a:srgbClr val="27C9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בוצע — 2 קבצים השתנו ▍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Course · Lesson 1 of 13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לפני שמתחילים: מה זה בכלל LLM?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השאלה: למה בכלל צריך להבין את זה כדי ללמוד Vibe Coding?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916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(Large Language Model)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תוכנה שאומנה (למדה מדוגמאות) על כמויות עצומות של טקסט וקוד</a:t>
            </a:r>
            <a:endParaRPr lang="en-US" sz="19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כותבים בקשה בשפה טבעית (למשל: "תכתוב לי פונקציה שממיינת רשימה") — הטקסט הזה נקרא 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(פרומפט)</a:t>
            </a:r>
            <a:endParaRPr lang="en-US" sz="19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המודל לא "מבין" את הפרומפט כמו בן אדם — מנבא 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(יחידת טקסט קטנה: מילה או חלק ממילה) אחר Token מה סביר לבוא בהמשך</a:t>
            </a:r>
            <a:endParaRPr lang="en-US" sz="19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ו-Claude = מודלים כאלה, מוכרים לכם כצ'אטבוטים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48640" y="3931920"/>
            <a:ext cx="11091672" cy="0"/>
          </a:xfrm>
          <a:prstGeom prst="line">
            <a:avLst/>
          </a:prstGeom>
          <a:noFill/>
          <a:ln w="9525">
            <a:solidFill>
              <a:srgbClr val="B8B8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0233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00A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מה עושים בפועל: Vibe Coding = אותה טכנולוגיה בדיוק, רק מחוברת ישירות לקבצי הקוד שלכם במקום לחלון צ'אט.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095488" y="4846320"/>
            <a:ext cx="3544824" cy="502920"/>
          </a:xfrm>
          <a:prstGeom prst="roundRect">
            <a:avLst>
              <a:gd name="adj" fmla="val 10909"/>
            </a:avLst>
          </a:prstGeom>
          <a:solidFill>
            <a:srgbClr val="F6F6F8"/>
          </a:solidFill>
          <a:ln w="15875">
            <a:solidFill>
              <a:srgbClr val="B8B8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95488" y="4846320"/>
            <a:ext cx="3544824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קלט: טקסט טבעי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885176" y="5097780"/>
            <a:ext cx="192024" cy="0"/>
          </a:xfrm>
          <a:prstGeom prst="line">
            <a:avLst/>
          </a:prstGeom>
          <a:noFill/>
          <a:ln w="19050">
            <a:solidFill>
              <a:srgbClr val="B8B8C8"/>
            </a:solidFill>
            <a:prstDash val="solid"/>
            <a:headEnd type="triangle"/>
          </a:ln>
        </p:spPr>
      </p:sp>
      <p:sp>
        <p:nvSpPr>
          <p:cNvPr id="10" name="Shape 8"/>
          <p:cNvSpPr/>
          <p:nvPr/>
        </p:nvSpPr>
        <p:spPr>
          <a:xfrm>
            <a:off x="4322064" y="4846320"/>
            <a:ext cx="3544824" cy="502920"/>
          </a:xfrm>
          <a:prstGeom prst="roundRect">
            <a:avLst>
              <a:gd name="adj" fmla="val 10909"/>
            </a:avLst>
          </a:prstGeom>
          <a:solidFill>
            <a:srgbClr val="00A88A"/>
          </a:solidFill>
          <a:ln w="15875">
            <a:solidFill>
              <a:srgbClr val="00A8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22064" y="4846320"/>
            <a:ext cx="3544824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מודל שפה (LLM)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1752" y="5097780"/>
            <a:ext cx="192024" cy="0"/>
          </a:xfrm>
          <a:prstGeom prst="line">
            <a:avLst/>
          </a:prstGeom>
          <a:noFill/>
          <a:ln w="19050">
            <a:solidFill>
              <a:srgbClr val="B8B8C8"/>
            </a:solidFill>
            <a:prstDash val="solid"/>
            <a:headEnd type="triangle"/>
          </a:ln>
        </p:spPr>
      </p:sp>
      <p:sp>
        <p:nvSpPr>
          <p:cNvPr id="13" name="Shape 11"/>
          <p:cNvSpPr/>
          <p:nvPr/>
        </p:nvSpPr>
        <p:spPr>
          <a:xfrm>
            <a:off x="548640" y="4846320"/>
            <a:ext cx="3544824" cy="502920"/>
          </a:xfrm>
          <a:prstGeom prst="roundRect">
            <a:avLst>
              <a:gd name="adj" fmla="val 10909"/>
            </a:avLst>
          </a:prstGeom>
          <a:solidFill>
            <a:srgbClr val="F6F6F8"/>
          </a:solidFill>
          <a:ln w="15875">
            <a:solidFill>
              <a:srgbClr val="B8B8C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846320"/>
            <a:ext cx="3544824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פלט: טקסט/קוד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5650992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חיזוי Token אחר Token: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452360" y="5669280"/>
            <a:ext cx="62179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52360" y="5669280"/>
            <a:ext cx="62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165592" y="5669280"/>
            <a:ext cx="62179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65592" y="5669280"/>
            <a:ext cx="62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878824" y="5669280"/>
            <a:ext cx="62179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878824" y="5669280"/>
            <a:ext cx="62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592056" y="5669280"/>
            <a:ext cx="62179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8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592056" y="5669280"/>
            <a:ext cx="62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0305288" y="5669280"/>
            <a:ext cx="62179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305288" y="5669280"/>
            <a:ext cx="62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1018520" y="5669280"/>
            <a:ext cx="621792" cy="292608"/>
          </a:xfrm>
          <a:prstGeom prst="rect">
            <a:avLst/>
          </a:prstGeom>
          <a:solidFill>
            <a:srgbClr val="00A88A"/>
          </a:solidFill>
          <a:ln w="12700">
            <a:solidFill>
              <a:srgbClr val="00A88A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11018520" y="5669280"/>
            <a:ext cx="62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___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8640" y="608076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איור: זרימת LLM: קלט טקסט → מודל שפה → פלט. למטה: דוגמה לחיזוי Token אחר Token (המודל מנחש את המילה הבאה ברצף לפי מה שסביר).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A6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· שיעור 1 · שקף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מהו Vibe Coding?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השאלה: במה זה שונה מסתם "לבקש מ-ChatGPT קוד"?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916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השם "Vibe" מרמז על תחושת זרימה: מתארים במילים מה רוצים, וה-AI הופך את זה לקוד עובד — לרוב תוך דקות ולא שעות</a:t>
            </a:r>
            <a:endParaRPr lang="en-US" sz="19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מנחים AI לכתוב/לבדוק/לתקן קוד — לא כותבים כל שורה לבד, ושומרים שליטה על כיוון, איכות והחלטות ארכיטקטוניות</a:t>
            </a:r>
            <a:endParaRPr lang="en-US" sz="19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לא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"מקלידים פרומפט ומקווים לטוב" · 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כן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תכנון, בדיקה, הבנה, ואחריות מלאה על הקוד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48640" y="3931920"/>
            <a:ext cx="11091672" cy="0"/>
          </a:xfrm>
          <a:prstGeom prst="line">
            <a:avLst/>
          </a:prstGeom>
          <a:noFill/>
          <a:ln w="9525">
            <a:solidFill>
              <a:srgbClr val="B8B8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0233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00A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מה עושים בפועל: לפני שמאשרים כל שינוי שה-AI מציע — קוראים אותו, מבינים למה הוא נכון, ורק אז ממשיכים.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095488" y="4846320"/>
            <a:ext cx="3544824" cy="548640"/>
          </a:xfrm>
          <a:prstGeom prst="roundRect">
            <a:avLst>
              <a:gd name="adj" fmla="val 10000"/>
            </a:avLst>
          </a:prstGeom>
          <a:solidFill>
            <a:srgbClr val="F6F6F8"/>
          </a:solidFill>
          <a:ln w="15875">
            <a:solidFill>
              <a:srgbClr val="B8B8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95488" y="4846320"/>
            <a:ext cx="3544824" cy="5486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rtl="1" algn="ctr"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מנחים בשפה טבעית מה רוצים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885176" y="5120640"/>
            <a:ext cx="192024" cy="0"/>
          </a:xfrm>
          <a:prstGeom prst="line">
            <a:avLst/>
          </a:prstGeom>
          <a:noFill/>
          <a:ln w="19050">
            <a:solidFill>
              <a:srgbClr val="B8B8C8"/>
            </a:solidFill>
            <a:prstDash val="solid"/>
            <a:headEnd type="triangle"/>
          </a:ln>
        </p:spPr>
      </p:sp>
      <p:sp>
        <p:nvSpPr>
          <p:cNvPr id="10" name="Shape 8"/>
          <p:cNvSpPr/>
          <p:nvPr/>
        </p:nvSpPr>
        <p:spPr>
          <a:xfrm>
            <a:off x="4322064" y="4846320"/>
            <a:ext cx="3544824" cy="548640"/>
          </a:xfrm>
          <a:prstGeom prst="roundRect">
            <a:avLst>
              <a:gd name="adj" fmla="val 10000"/>
            </a:avLst>
          </a:prstGeom>
          <a:solidFill>
            <a:srgbClr val="F6F6F8"/>
          </a:solidFill>
          <a:ln w="15875">
            <a:solidFill>
              <a:srgbClr val="B8B8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22064" y="4846320"/>
            <a:ext cx="3544824" cy="5486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rtl="1" algn="ctr"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הסוכן פועל ישירות על קבצי הקוד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111752" y="5120640"/>
            <a:ext cx="192024" cy="0"/>
          </a:xfrm>
          <a:prstGeom prst="line">
            <a:avLst/>
          </a:prstGeom>
          <a:noFill/>
          <a:ln w="19050">
            <a:solidFill>
              <a:srgbClr val="B8B8C8"/>
            </a:solidFill>
            <a:prstDash val="solid"/>
            <a:headEnd type="triangle"/>
          </a:ln>
        </p:spPr>
      </p:sp>
      <p:sp>
        <p:nvSpPr>
          <p:cNvPr id="13" name="Shape 11"/>
          <p:cNvSpPr/>
          <p:nvPr/>
        </p:nvSpPr>
        <p:spPr>
          <a:xfrm>
            <a:off x="548640" y="4846320"/>
            <a:ext cx="3544824" cy="548640"/>
          </a:xfrm>
          <a:prstGeom prst="roundRect">
            <a:avLst>
              <a:gd name="adj" fmla="val 10000"/>
            </a:avLst>
          </a:prstGeom>
          <a:solidFill>
            <a:srgbClr val="00A88A"/>
          </a:solidFill>
          <a:ln w="15875">
            <a:solidFill>
              <a:srgbClr val="00A8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846320"/>
            <a:ext cx="3544824" cy="5486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rtl="1"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בודקים, מבינים, ומאשרים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5468112"/>
            <a:ext cx="11091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 חוזרים על זה בכל שינוי חדש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608076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איור: מעגל העבודה של Vibe Coding: מנחים בשפה טבעית → הסוכן פועל על הקבצים → בודקים ומאשרים — וחוזר חלילה בכל שינוי.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A6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· שיעור 1 · שקף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AI-Native Software Engineering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השאלה: האם AI הוא רק "עוד כלי עזר", או משהו אחר לגמרי?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916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AI-Native (הגישה של הקורס):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AI כשותף עבודה מרכזי, מעורב מהבנת הדרישה ועד פריסה בענן</a:t>
            </a:r>
            <a:endParaRPr lang="en-US" sz="19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הגישה הישנה: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AI ככלי עזר צדדי, בעיקר להשלמת קוד בסיסית (Autocomplete)</a:t>
            </a:r>
            <a:endParaRPr lang="en-US" sz="19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ההבדל אינו כמותי אלא מהותי — זה לא תוספת לתהליך הקיים, זהו תהליך חדש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48640" y="3931920"/>
            <a:ext cx="11091672" cy="0"/>
          </a:xfrm>
          <a:prstGeom prst="line">
            <a:avLst/>
          </a:prstGeom>
          <a:noFill/>
          <a:ln w="9525">
            <a:solidFill>
              <a:srgbClr val="B8B8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0233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00A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מה עושים בפועל: בכל שלב בפרויקט (לא רק בזמן הקלדה) שואלים "איך AI יכול לעזור כאן" — בתכנון, בבדיקה, בתיעוד.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040112" y="4846320"/>
            <a:ext cx="1600200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הגישה הישנה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646670" y="4846320"/>
            <a:ext cx="2256282" cy="380390"/>
          </a:xfrm>
          <a:prstGeom prst="rect">
            <a:avLst/>
          </a:prstGeom>
          <a:solidFill>
            <a:srgbClr val="F6F6F8"/>
          </a:solidFill>
          <a:ln w="12700">
            <a:solidFill>
              <a:srgbClr val="B8B8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46670" y="4846320"/>
            <a:ext cx="2256282" cy="380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הבנת דרישה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536942" y="5036515"/>
            <a:ext cx="109728" cy="0"/>
          </a:xfrm>
          <a:prstGeom prst="line">
            <a:avLst/>
          </a:prstGeom>
          <a:noFill/>
          <a:ln w="12700">
            <a:solidFill>
              <a:srgbClr val="B8B8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280660" y="4846320"/>
            <a:ext cx="2256282" cy="380390"/>
          </a:xfrm>
          <a:prstGeom prst="rect">
            <a:avLst/>
          </a:prstGeom>
          <a:solidFill>
            <a:srgbClr val="F6F6F8"/>
          </a:solidFill>
          <a:ln w="12700">
            <a:solidFill>
              <a:srgbClr val="B8B8C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80660" y="4846320"/>
            <a:ext cx="2256282" cy="380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תכנון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170932" y="5036515"/>
            <a:ext cx="109728" cy="0"/>
          </a:xfrm>
          <a:prstGeom prst="line">
            <a:avLst/>
          </a:prstGeom>
          <a:noFill/>
          <a:ln w="12700">
            <a:solidFill>
              <a:srgbClr val="B8B8C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14650" y="4846320"/>
            <a:ext cx="2256282" cy="380390"/>
          </a:xfrm>
          <a:prstGeom prst="rect">
            <a:avLst/>
          </a:prstGeom>
          <a:solidFill>
            <a:srgbClr val="F6F6F8"/>
          </a:solidFill>
          <a:ln w="12700">
            <a:solidFill>
              <a:srgbClr val="B8B8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14650" y="4846320"/>
            <a:ext cx="2256282" cy="380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כתיבת קוד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923919" y="4691786"/>
            <a:ext cx="237744" cy="237744"/>
          </a:xfrm>
          <a:prstGeom prst="ellipse">
            <a:avLst/>
          </a:prstGeom>
          <a:solidFill>
            <a:srgbClr val="6B728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23919" y="469178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2804922" y="5036515"/>
            <a:ext cx="109728" cy="0"/>
          </a:xfrm>
          <a:prstGeom prst="line">
            <a:avLst/>
          </a:prstGeom>
          <a:noFill/>
          <a:ln w="12700">
            <a:solidFill>
              <a:srgbClr val="B8B8C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4846320"/>
            <a:ext cx="2256282" cy="380390"/>
          </a:xfrm>
          <a:prstGeom prst="rect">
            <a:avLst/>
          </a:prstGeom>
          <a:solidFill>
            <a:srgbClr val="F6F6F8"/>
          </a:solidFill>
          <a:ln w="12700">
            <a:solidFill>
              <a:srgbClr val="B8B8C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846320"/>
            <a:ext cx="2256282" cy="380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בדיקה ופריסה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040112" y="5563210"/>
            <a:ext cx="1600200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AI-Native (הקורס)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646670" y="5563210"/>
            <a:ext cx="2256282" cy="380390"/>
          </a:xfrm>
          <a:prstGeom prst="rect">
            <a:avLst/>
          </a:prstGeom>
          <a:solidFill>
            <a:srgbClr val="F6F6F8"/>
          </a:solidFill>
          <a:ln w="12700">
            <a:solidFill>
              <a:srgbClr val="B8B8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46670" y="5563210"/>
            <a:ext cx="2256282" cy="380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הבנת דרישה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655939" y="5408676"/>
            <a:ext cx="237744" cy="237744"/>
          </a:xfrm>
          <a:prstGeom prst="ellipse">
            <a:avLst/>
          </a:prstGeom>
          <a:solidFill>
            <a:srgbClr val="00A88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55939" y="540867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7536942" y="5753405"/>
            <a:ext cx="109728" cy="0"/>
          </a:xfrm>
          <a:prstGeom prst="line">
            <a:avLst/>
          </a:prstGeom>
          <a:noFill/>
          <a:ln w="12700">
            <a:solidFill>
              <a:srgbClr val="B8B8C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280660" y="5563210"/>
            <a:ext cx="2256282" cy="380390"/>
          </a:xfrm>
          <a:prstGeom prst="rect">
            <a:avLst/>
          </a:prstGeom>
          <a:solidFill>
            <a:srgbClr val="F6F6F8"/>
          </a:solidFill>
          <a:ln w="12700">
            <a:solidFill>
              <a:srgbClr val="B8B8C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80660" y="5563210"/>
            <a:ext cx="2256282" cy="380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תכנון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289929" y="5408676"/>
            <a:ext cx="237744" cy="237744"/>
          </a:xfrm>
          <a:prstGeom prst="ellipse">
            <a:avLst/>
          </a:prstGeom>
          <a:solidFill>
            <a:srgbClr val="00A88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89929" y="540867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5170932" y="5753405"/>
            <a:ext cx="109728" cy="0"/>
          </a:xfrm>
          <a:prstGeom prst="line">
            <a:avLst/>
          </a:prstGeom>
          <a:noFill/>
          <a:ln w="12700">
            <a:solidFill>
              <a:srgbClr val="B8B8C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914650" y="5563210"/>
            <a:ext cx="2256282" cy="380390"/>
          </a:xfrm>
          <a:prstGeom prst="rect">
            <a:avLst/>
          </a:prstGeom>
          <a:solidFill>
            <a:srgbClr val="F6F6F8"/>
          </a:solidFill>
          <a:ln w="12700">
            <a:solidFill>
              <a:srgbClr val="B8B8C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914650" y="5563210"/>
            <a:ext cx="2256282" cy="380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כתיבת קוד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923919" y="5408676"/>
            <a:ext cx="237744" cy="237744"/>
          </a:xfrm>
          <a:prstGeom prst="ellipse">
            <a:avLst/>
          </a:prstGeom>
          <a:solidFill>
            <a:srgbClr val="00A88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923919" y="540867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2804922" y="5753405"/>
            <a:ext cx="109728" cy="0"/>
          </a:xfrm>
          <a:prstGeom prst="line">
            <a:avLst/>
          </a:prstGeom>
          <a:noFill/>
          <a:ln w="12700">
            <a:solidFill>
              <a:srgbClr val="B8B8C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48640" y="5563210"/>
            <a:ext cx="2256282" cy="380390"/>
          </a:xfrm>
          <a:prstGeom prst="rect">
            <a:avLst/>
          </a:prstGeom>
          <a:solidFill>
            <a:srgbClr val="F6F6F8"/>
          </a:solidFill>
          <a:ln w="12700">
            <a:solidFill>
              <a:srgbClr val="B8B8C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5563210"/>
            <a:ext cx="2256282" cy="380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בדיקה ופריסה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1557909" y="5408676"/>
            <a:ext cx="237744" cy="237744"/>
          </a:xfrm>
          <a:prstGeom prst="ellipse">
            <a:avLst/>
          </a:prstGeom>
          <a:solidFill>
            <a:srgbClr val="00A88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557909" y="540867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548640" y="608076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איור: אותם 4 שלבי פיתוח בשתי גישות: בגישה הישנה AI מעורב רק בשלב כתיבת הקוד; בגישת AI-Native (הקורס) AI מעורב בכל שלב.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A6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· שיעור 1 · שקף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המספרים מאחורי המהפכה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10916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92.6%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מהמפתחים משתמשים בכלי AI לפחות פעם בחודש</a:t>
            </a:r>
            <a:endParaRPr lang="en-US" sz="19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26.9%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מקוד הפרודקשן בתעשייה נכתב היום על ידי AI</a:t>
            </a:r>
            <a:endParaRPr lang="en-US" sz="19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1,000+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בקשות שילוב קוד (Pull Requests, מכונות בקיצור 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בשבוע — דרך "Minions", מערכת AI פנימית שבנתה 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(חברת תשלומים דיגיטליים עולמית) כדי לבצע חלק ניכר מעבודת הפיתוח שלה אוטומטית</a:t>
            </a:r>
            <a:endParaRPr lang="en-US" sz="19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מהאפליקציות הארגוניות — סוכני AI אוטונומיים עד סוף 2026 (מ-5% ב-2025, לפי 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Deloitte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חברת ייעוץ עסקי בינלאומית גדולה)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48640" y="3657600"/>
            <a:ext cx="11091672" cy="0"/>
          </a:xfrm>
          <a:prstGeom prst="line">
            <a:avLst/>
          </a:prstGeom>
          <a:noFill/>
          <a:ln w="9525">
            <a:solidFill>
              <a:srgbClr val="B8B8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74904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00A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מה עושים בפועל: זו כבר לא "טכנולוגיה חדשה שכדאי להכיר" — זו התשתית שרוב התעשייה כבר עובדת איתה.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61722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מקור: index.dev Developer Productivity Statistics 2026, Forbes 2026, Deloitte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A6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· שיעור 1 · שקף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Evolution of Software Development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השאלה: למה בכלל ללמוד היסטוריה של כלים בשיעור על AI?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916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התשובה: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כי ההיסטוריה מראה שהקצב שבו כלים מתחלפים הולך ומואץ — וזו בדיוק הסיבה שהקורס מלמד תהליך עבודה (Workflow), לא כלי ספציפי אחד</a:t>
            </a:r>
            <a:endParaRPr lang="en-US" sz="19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קוד מכונה → שפות עיליות (כמו Python) → 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(תוכנה אחת לכתיבה, הרצה ובדיקה של קוד) ו-Autocomplete (השלמה אוטומטית של קוד) → 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(מערכת לשמירת היסטוריית שינויים בקוד) → 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Agentic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(AI שפועל עצמאית על משימה שלמה, לא רק עונה לשאלה)</a:t>
            </a:r>
            <a:endParaRPr lang="en-US" sz="19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 קפיצה שינתה מה נחשב "עבודה של מפתח" — ולא נעצרה (נעמיק בכל כלי לאורך הקורס)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48640" y="3931920"/>
            <a:ext cx="11091672" cy="0"/>
          </a:xfrm>
          <a:prstGeom prst="line">
            <a:avLst/>
          </a:prstGeom>
          <a:noFill/>
          <a:ln w="9525">
            <a:solidFill>
              <a:srgbClr val="B8B8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0233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00A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מה עושים בפועל: לומדים את התהליך, לא רק את הכלי הנוכחי — כי הקפיצה הבאה כבר בדרך. בשקף הבא נראה את הקצב הזה עם תאריכים מדויקים.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9038844" y="4846320"/>
            <a:ext cx="2601468" cy="502920"/>
          </a:xfrm>
          <a:prstGeom prst="roundRect">
            <a:avLst>
              <a:gd name="adj" fmla="val 10909"/>
            </a:avLst>
          </a:prstGeom>
          <a:solidFill>
            <a:srgbClr val="F6F6F8"/>
          </a:solidFill>
          <a:ln w="15875">
            <a:solidFill>
              <a:srgbClr val="B8B8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038844" y="4846320"/>
            <a:ext cx="2601468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קוד מכונה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828532" y="5097780"/>
            <a:ext cx="192024" cy="0"/>
          </a:xfrm>
          <a:prstGeom prst="line">
            <a:avLst/>
          </a:prstGeom>
          <a:noFill/>
          <a:ln w="19050">
            <a:solidFill>
              <a:srgbClr val="B8B8C8"/>
            </a:solidFill>
            <a:prstDash val="solid"/>
            <a:headEnd type="triangle"/>
          </a:ln>
        </p:spPr>
      </p:sp>
      <p:sp>
        <p:nvSpPr>
          <p:cNvPr id="10" name="Shape 8"/>
          <p:cNvSpPr/>
          <p:nvPr/>
        </p:nvSpPr>
        <p:spPr>
          <a:xfrm>
            <a:off x="6208776" y="4846320"/>
            <a:ext cx="2601468" cy="502920"/>
          </a:xfrm>
          <a:prstGeom prst="roundRect">
            <a:avLst>
              <a:gd name="adj" fmla="val 10909"/>
            </a:avLst>
          </a:prstGeom>
          <a:solidFill>
            <a:srgbClr val="F6F6F8"/>
          </a:solidFill>
          <a:ln w="15875">
            <a:solidFill>
              <a:srgbClr val="B8B8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08776" y="4846320"/>
            <a:ext cx="2601468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שפות עיליות + IDE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98464" y="5097780"/>
            <a:ext cx="192024" cy="0"/>
          </a:xfrm>
          <a:prstGeom prst="line">
            <a:avLst/>
          </a:prstGeom>
          <a:noFill/>
          <a:ln w="19050">
            <a:solidFill>
              <a:srgbClr val="B8B8C8"/>
            </a:solidFill>
            <a:prstDash val="solid"/>
            <a:headEnd type="triangle"/>
          </a:ln>
        </p:spPr>
      </p:sp>
      <p:sp>
        <p:nvSpPr>
          <p:cNvPr id="13" name="Shape 11"/>
          <p:cNvSpPr/>
          <p:nvPr/>
        </p:nvSpPr>
        <p:spPr>
          <a:xfrm>
            <a:off x="3378708" y="4846320"/>
            <a:ext cx="2601468" cy="502920"/>
          </a:xfrm>
          <a:prstGeom prst="roundRect">
            <a:avLst>
              <a:gd name="adj" fmla="val 10909"/>
            </a:avLst>
          </a:prstGeom>
          <a:solidFill>
            <a:srgbClr val="F6F6F8"/>
          </a:solidFill>
          <a:ln w="15875">
            <a:solidFill>
              <a:srgbClr val="B8B8C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78708" y="4846320"/>
            <a:ext cx="2601468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168396" y="5097780"/>
            <a:ext cx="192024" cy="0"/>
          </a:xfrm>
          <a:prstGeom prst="line">
            <a:avLst/>
          </a:prstGeom>
          <a:noFill/>
          <a:ln w="19050">
            <a:solidFill>
              <a:srgbClr val="B8B8C8"/>
            </a:solidFill>
            <a:prstDash val="solid"/>
            <a:headEnd type="triangle"/>
          </a:ln>
        </p:spPr>
      </p:sp>
      <p:sp>
        <p:nvSpPr>
          <p:cNvPr id="16" name="Shape 14"/>
          <p:cNvSpPr/>
          <p:nvPr/>
        </p:nvSpPr>
        <p:spPr>
          <a:xfrm>
            <a:off x="548640" y="4846320"/>
            <a:ext cx="2601468" cy="502920"/>
          </a:xfrm>
          <a:prstGeom prst="roundRect">
            <a:avLst>
              <a:gd name="adj" fmla="val 10909"/>
            </a:avLst>
          </a:prstGeom>
          <a:solidFill>
            <a:srgbClr val="00A88A"/>
          </a:solidFill>
          <a:ln w="15875">
            <a:solidFill>
              <a:srgbClr val="00A8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846320"/>
            <a:ext cx="2601468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Agentic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5422392"/>
            <a:ext cx="11091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הקצב בין קפיצה לקפיצה הולך ומתקצר (ראו שקף הבא)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608076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איור: 4 עידנים בהתפתחות הכלים: קוד מכונה → שפות עיליות + IDE → Git → AI Agentic (העידן הנוכחי, מודגש).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A6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· שיעור 1 · שקף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ציר זמן מדויק — והקצב מואץ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10916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(סביבת פיתוח לכתיבת קוד — ראינו בשקף הקודם) ראשונים: 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שנות ה-70</a:t>
            </a:r>
            <a:endParaRPr lang="en-US" sz="19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(ניהול גרסאות קוד): 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2005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GitHub (פלטפורמה לאחסון ושיתוף קוד, מבוססת Git): 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2008</a:t>
            </a:r>
            <a:endParaRPr lang="en-US" sz="19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(עוזר AI לכתיבת קוד) בגרסת Preview (תצוגה מקדימה): 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יוני 2021</a:t>
            </a:r>
            <a:endParaRPr lang="en-US" sz="19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ChatGPT: 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נובמבר 2022</a:t>
            </a:r>
            <a:endParaRPr lang="en-US" sz="19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כלים אג'נטיים אמיתיים (AI שפועל עצמאית על משימה שלמה): 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2024-2026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48640" y="3657600"/>
            <a:ext cx="11091672" cy="0"/>
          </a:xfrm>
          <a:prstGeom prst="line">
            <a:avLst/>
          </a:prstGeom>
          <a:noFill/>
          <a:ln w="9525">
            <a:solidFill>
              <a:srgbClr val="B8B8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74904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00A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מה עושים בפועל: מ-IDE ל-Git: ~30 שנה. מ-Git ל-Copilot: ~16 שנה. מ-Copilot לאג'נטי: ~3 שנים בלבד.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61722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מקור: Wikipedia (GitHub Copilot) · Chronological History of Version Control Systems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A6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· שיעור 1 · שקף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יתרונות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השאלה: אז למה בכלל להשתמש בזה?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916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מהירות: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משימות שלקחו ימים — עכשיו לוקחות דקות</a:t>
            </a:r>
            <a:endParaRPr lang="en-US" sz="19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נגישות: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אפשר להתחיל בלי רקע תכנותי עמוק</a:t>
            </a:r>
            <a:endParaRPr lang="en-US" sz="19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שחרור מבוילרפלייט: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פחות זמן על קוד חוזר וסטנדרטי, יותר על החלטות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48640" y="3931920"/>
            <a:ext cx="11091672" cy="0"/>
          </a:xfrm>
          <a:prstGeom prst="line">
            <a:avLst/>
          </a:prstGeom>
          <a:noFill/>
          <a:ln w="9525">
            <a:solidFill>
              <a:srgbClr val="B8B8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0233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00A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מה עושים בפועל: משתמשים ביתרון הזה במקום הנכון — קוד סטנדרטי זה מקום מצוין ל-AI; החלטות ארכיטקטורה נשארות אצלכם.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451592" y="5004816"/>
            <a:ext cx="11887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לפני: ימים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371966" y="5004816"/>
            <a:ext cx="8942466" cy="356616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9" name="Text 7"/>
          <p:cNvSpPr/>
          <p:nvPr/>
        </p:nvSpPr>
        <p:spPr>
          <a:xfrm>
            <a:off x="10451592" y="5519928"/>
            <a:ext cx="11887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היום: דקות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8023" y="5519928"/>
            <a:ext cx="1166409" cy="356616"/>
          </a:xfrm>
          <a:prstGeom prst="rect">
            <a:avLst/>
          </a:prstGeom>
          <a:solidFill>
            <a:srgbClr val="00A88A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608076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איור: השוואת אורך יחסי: זמן פיתוח שהצטמצם מ״ימים״ (פס ארוך) ל״דקות״ (פס קצר) עבור אותה משימה.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A6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· שיעור 1 · שקף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חסרונות ומגבלות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השאלה: אם AI כל כך טוב, למה לא סתם לתת לו לעבוד לבד?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916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שוכח הקשר בלי 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(המידע שה-AI 'זוכר' על הפרויקט) מנוהל (נעמיק בשיעור 3)</a:t>
            </a:r>
            <a:endParaRPr lang="en-US" sz="19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קוד שרץ ≠ קוד נכון — "עובד" ו"נכון" הם שני דברים שונים</a:t>
            </a:r>
            <a:endParaRPr lang="en-US" sz="19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תלות בכלי שמשתנה מהר (נדבר על זה בעוד כמה שקפים)</a:t>
            </a:r>
            <a:endParaRPr lang="en-US" sz="19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והבעיה המרכזית שבה נתמקד עכשיו: 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48640" y="3931920"/>
            <a:ext cx="11091672" cy="0"/>
          </a:xfrm>
          <a:prstGeom prst="line">
            <a:avLst/>
          </a:prstGeom>
          <a:noFill/>
          <a:ln w="9525">
            <a:solidFill>
              <a:srgbClr val="B8B8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0233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00A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מה עושים בפועל: כל אחת מהמגבלות האלה היא סיבה לשלב Review (בדיקה) אנושי בתהליך — לא סיבה לוותר על AI לגמרי.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0025253" y="4846320"/>
            <a:ext cx="457200" cy="45720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10025253" y="4846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913114" y="5376672"/>
            <a:ext cx="26814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נשכח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252335" y="4846320"/>
            <a:ext cx="457200" cy="45720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1" name="Text 9"/>
          <p:cNvSpPr/>
          <p:nvPr/>
        </p:nvSpPr>
        <p:spPr>
          <a:xfrm>
            <a:off x="7252335" y="4846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140196" y="5376672"/>
            <a:ext cx="26814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עובד ≠ נכון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479417" y="4846320"/>
            <a:ext cx="457200" cy="45720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4" name="Text 12"/>
          <p:cNvSpPr/>
          <p:nvPr/>
        </p:nvSpPr>
        <p:spPr>
          <a:xfrm>
            <a:off x="4479417" y="4846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367278" y="5376672"/>
            <a:ext cx="26814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תלות בכלי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706499" y="4846320"/>
            <a:ext cx="457200" cy="45720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7" name="Text 15"/>
          <p:cNvSpPr/>
          <p:nvPr/>
        </p:nvSpPr>
        <p:spPr>
          <a:xfrm>
            <a:off x="1706499" y="4846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94360" y="5376672"/>
            <a:ext cx="26814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608076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איור: תמצות ויזואלי של 4 המגבלות שלמעלה: Context נשכח, עובד≠נכון, תלות בכלי, Hallucination.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A6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· שיעור 1 · שקף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Hallucination — הבעיה המרכזית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השאלה: מה קורה כש-AI "לא יודע" משהו?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916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בניגוד לבן אדם, מודל שפה כמעט אף פעם לא אומר "אני לא יודע"</a:t>
            </a:r>
            <a:endParaRPr lang="en-US" sz="19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הוא ממשיך "לנחש" את הטקסט הכי סביר — גם אם זה אומר להמציא פונקציה, ספרייה, או 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(ממשק שדרכו תוכנות מדברות זו עם זו) שלא קיימים</a:t>
            </a:r>
            <a:endParaRPr lang="en-US" sz="19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זה קורה 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בביטחון מלא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אין שום סימן חזותי שההמצאה שונה מעובדה</a:t>
            </a:r>
            <a:endParaRPr lang="en-US" sz="19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למסלול AI: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זו אותה תופעה שמכירים מכל הקשר אחר של מודלי שפה, לא רק קוד — ההבדל כאן הוא שהפלט השגוי הופך לבאג אמיתי שרץ במערכת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48640" y="3931920"/>
            <a:ext cx="11091672" cy="0"/>
          </a:xfrm>
          <a:prstGeom prst="line">
            <a:avLst/>
          </a:prstGeom>
          <a:noFill/>
          <a:ln w="9525">
            <a:solidFill>
              <a:srgbClr val="B8B8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0233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00A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מה עושים בפועל: לא מכירים פונקציה/ספרייה שה-AI השתמש בה? בודקים בתיעוד הרשמי לפני שממשיכים. ככלל אצבע: קוד שנראה מוכר מדי בקלות — זה בדיוק הזמן לעצור ולבדוק.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4846320"/>
            <a:ext cx="11091672" cy="1188720"/>
          </a:xfrm>
          <a:prstGeom prst="roundRect">
            <a:avLst>
              <a:gd name="adj" fmla="val 4615"/>
            </a:avLst>
          </a:prstGeom>
          <a:solidFill>
            <a:srgbClr val="1B1F3B"/>
          </a:solidFill>
          <a:ln w="6350">
            <a:solidFill>
              <a:srgbClr val="B8B8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4846320"/>
            <a:ext cx="100858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smartSort } from "utils";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0981944" y="5248656"/>
            <a:ext cx="384048" cy="384048"/>
          </a:xfrm>
          <a:prstGeom prst="ellipse">
            <a:avLst/>
          </a:prstGeom>
          <a:solidFill>
            <a:srgbClr val="E05A4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81944" y="5248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608076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איור: דוגמה: import של פונקציה בשם smartSort שנראית לגיטימית לגמרי — אך לא קיימת בפועל בספרייה. ה-AI "המציא" אותה בביטחון מלא.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A6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· שיעור 1 · שקף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האמון עדיין נמוך, ובצדק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10916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84%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משתמשים/מתכננים להשתמש בכלי AI</a:t>
            </a:r>
            <a:endParaRPr lang="en-US" sz="19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אבל רק 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29%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סומכים על הפלט</a:t>
            </a:r>
            <a:endParaRPr lang="en-US" sz="19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61%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מסכימים: "קוד AI נראה נכון אבל לא אמין"</a:t>
            </a:r>
            <a:endParaRPr lang="en-US" sz="19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בפרויקטים שהסתמכו הרבה על AI (AI-heavy), לעומת פרויקטים שהסתמכו עליו פחות: 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41%+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יותר באגים, 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ירידה של 7.2%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ביציבות המערכת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48640" y="3657600"/>
            <a:ext cx="11091672" cy="0"/>
          </a:xfrm>
          <a:prstGeom prst="line">
            <a:avLst/>
          </a:prstGeom>
          <a:noFill/>
          <a:ln w="9525">
            <a:solidFill>
              <a:srgbClr val="B8B8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74904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00A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מה עושים בפועל: זה בדיוק הפער שראינו בשקף הקודם עם Hallucination — עכשיו במספרים אמיתיים.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61722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מקור: Second Talent Developer Survey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A6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· שיעור 1 · שקף 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המחקר המטריד: METR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השאלה: אם מפתחים מרגישים ש-AI מאיץ אותם — זה נכון?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916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(ארגון מחקר עצמאי שבוחן ביצועים אמיתיים של כלי AI) השווה מפתחים מנוסים שעבדו עם כלי AI על משימות אמיתיות, מול אותם מפתחים על משימות דומות בלי AI</a:t>
            </a:r>
            <a:endParaRPr lang="en-US" sz="19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בפועל: 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איטיים ב-19%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(לעומת עבודה בלי כלי AI)</a:t>
            </a:r>
            <a:endParaRPr lang="en-US" sz="19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אבל האמינו: 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מהירים ב-20%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48640" y="3931920"/>
            <a:ext cx="11091672" cy="0"/>
          </a:xfrm>
          <a:prstGeom prst="line">
            <a:avLst/>
          </a:prstGeom>
          <a:noFill/>
          <a:ln w="9525">
            <a:solidFill>
              <a:srgbClr val="B8B8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0233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00A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מה עושים בפועל: לא סומכים על התחושה "זה הלך מהר" — עוקבים אחרי זמן אמיתי (שעון, לא הרגשה).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61722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מקור: METR — מחקר מבוקר על מהירות מפתחים עם כלי AI, 2026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A6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· שיעור 1 · שקף 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של מפתח מודרני (חלק א׳: שלבים 1-5)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השאלה: אז איך עובדים נכון עם AI, אם לא סומכים על התחושה (כמו שראינו בשקף הקודם)?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916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הבנת הבעיה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מבינים מה בדיוק צריך, לפני שנוגעים בקוד בכלל</a:t>
            </a:r>
            <a:endParaRPr lang="en-US" sz="19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Specification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כותבים מסמך קצר שמתאר מה בונים ולמה</a:t>
            </a:r>
            <a:endParaRPr lang="en-US" sz="19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בניית Context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אוספים את המידע שה-AI צריך כדי להבין את הפרויקט (קבצים קיימים, מוסכמות, החלטות קודמות)</a:t>
            </a:r>
            <a:endParaRPr lang="en-US" sz="19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תכנון עם AI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מבקשים מה-AI הצעת תוכנית לפני שהוא כותב שורת קוד אחת</a:t>
            </a:r>
            <a:endParaRPr lang="en-US" sz="19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מימוש עם AI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ה-AI כותב את הקוד בפועל, לפי התוכנית שאושרה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48640" y="3931920"/>
            <a:ext cx="11091672" cy="0"/>
          </a:xfrm>
          <a:prstGeom prst="line">
            <a:avLst/>
          </a:prstGeom>
          <a:noFill/>
          <a:ln w="9525">
            <a:solidFill>
              <a:srgbClr val="B8B8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0233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00A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מה עושים בפועל: חמשת השלבים הבאים (6-10) עוסקים בבדיקה ובשילוב הקוד בעולם האמיתי — בשקף הבא.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1137392" y="5189220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A8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37392" y="51892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020556" y="5440680"/>
            <a:ext cx="2089404" cy="0"/>
          </a:xfrm>
          <a:prstGeom prst="line">
            <a:avLst/>
          </a:prstGeom>
          <a:noFill/>
          <a:ln w="15875">
            <a:solidFill>
              <a:srgbClr val="B8B8C8"/>
            </a:solidFill>
            <a:prstDash val="solid"/>
            <a:headEnd type="triangle"/>
          </a:ln>
        </p:spPr>
      </p:sp>
      <p:sp>
        <p:nvSpPr>
          <p:cNvPr id="10" name="Shape 8"/>
          <p:cNvSpPr/>
          <p:nvPr/>
        </p:nvSpPr>
        <p:spPr>
          <a:xfrm>
            <a:off x="8490204" y="5189220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A8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90204" y="51892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73368" y="5440680"/>
            <a:ext cx="2089404" cy="0"/>
          </a:xfrm>
          <a:prstGeom prst="line">
            <a:avLst/>
          </a:prstGeom>
          <a:noFill/>
          <a:ln w="15875">
            <a:solidFill>
              <a:srgbClr val="B8B8C8"/>
            </a:solidFill>
            <a:prstDash val="solid"/>
            <a:headEnd type="triangle"/>
          </a:ln>
        </p:spPr>
      </p:sp>
      <p:sp>
        <p:nvSpPr>
          <p:cNvPr id="13" name="Shape 11"/>
          <p:cNvSpPr/>
          <p:nvPr/>
        </p:nvSpPr>
        <p:spPr>
          <a:xfrm>
            <a:off x="5843016" y="5189220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A8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43016" y="51892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726180" y="5440680"/>
            <a:ext cx="2089404" cy="0"/>
          </a:xfrm>
          <a:prstGeom prst="line">
            <a:avLst/>
          </a:prstGeom>
          <a:noFill/>
          <a:ln w="15875">
            <a:solidFill>
              <a:srgbClr val="B8B8C8"/>
            </a:solidFill>
            <a:prstDash val="solid"/>
            <a:headEnd type="triangle"/>
          </a:ln>
        </p:spPr>
      </p:sp>
      <p:sp>
        <p:nvSpPr>
          <p:cNvPr id="16" name="Shape 14"/>
          <p:cNvSpPr/>
          <p:nvPr/>
        </p:nvSpPr>
        <p:spPr>
          <a:xfrm>
            <a:off x="3195828" y="5189220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A8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95828" y="51892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078992" y="5440680"/>
            <a:ext cx="2089404" cy="0"/>
          </a:xfrm>
          <a:prstGeom prst="line">
            <a:avLst/>
          </a:prstGeom>
          <a:noFill/>
          <a:ln w="15875">
            <a:solidFill>
              <a:srgbClr val="B8B8C8"/>
            </a:solidFill>
            <a:prstDash val="solid"/>
            <a:headEnd type="triangle"/>
          </a:ln>
        </p:spPr>
      </p:sp>
      <p:sp>
        <p:nvSpPr>
          <p:cNvPr id="19" name="Shape 17"/>
          <p:cNvSpPr/>
          <p:nvPr/>
        </p:nvSpPr>
        <p:spPr>
          <a:xfrm>
            <a:off x="548640" y="5189220"/>
            <a:ext cx="502920" cy="502920"/>
          </a:xfrm>
          <a:prstGeom prst="ellipse">
            <a:avLst/>
          </a:prstGeom>
          <a:solidFill>
            <a:srgbClr val="00A88A"/>
          </a:solidFill>
          <a:ln w="19050">
            <a:solidFill>
              <a:srgbClr val="00A8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51892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608076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איור: שלבים 1-5 בזרימה מ-1 עד 5 (ממשיכים לשלבים 6-10 בשקף הבא, כולל מסלול החזרה המלא ל-1).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A6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· שיעור 1 · שקף 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של מפתח מודרני (חלק ב׳: שלבים 6-10)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10916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Code Review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קוראים ובודקים כל שורה שה-AI כתב, לפני שהיא נכנסת לפרויקט</a:t>
            </a:r>
            <a:endParaRPr lang="en-US" sz="19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Testing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מריצים בדיקות אוטומטיות שמוודאות שהקוד באמת עושה מה שהוא אמור</a:t>
            </a:r>
            <a:endParaRPr lang="en-US" sz="19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Commit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שומרים גרסה מתועדת של השינוי (עם Git — נסביר בשיעור הבא)</a:t>
            </a:r>
            <a:endParaRPr lang="en-US" sz="19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Deploy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מעלים את הגרסה לסביבה שבה משתמשים אמיתיים יכולים להשתמש בה</a:t>
            </a:r>
            <a:endParaRPr lang="en-US" sz="19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שיתוף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מציגים ומתעדים את מה שנבנה, לצוות או ללקוח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48640" y="3657600"/>
            <a:ext cx="11091672" cy="0"/>
          </a:xfrm>
          <a:prstGeom prst="line">
            <a:avLst/>
          </a:prstGeom>
          <a:noFill/>
          <a:ln w="9525">
            <a:solidFill>
              <a:srgbClr val="B8B8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74904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00A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מה עושים בפועל: בכל שיעור מהיום נחזור לרשימה הזו ונעמיק בשלב אחד או שניים ממנה. שימו לב: אחרי שלב 10 חוזרים לשלב 1 — זה תהליך מעגלי ואיטרטיבי, לא רצף חד-פעמי שנגמר.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11183112" y="461772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A8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83112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486136" y="4846320"/>
            <a:ext cx="669544" cy="0"/>
          </a:xfrm>
          <a:prstGeom prst="line">
            <a:avLst/>
          </a:prstGeom>
          <a:noFill/>
          <a:ln w="15875">
            <a:solidFill>
              <a:srgbClr val="B8B8C8"/>
            </a:solidFill>
            <a:prstDash val="solid"/>
            <a:headEnd type="triangle"/>
          </a:ln>
        </p:spPr>
      </p:sp>
      <p:sp>
        <p:nvSpPr>
          <p:cNvPr id="9" name="Shape 7"/>
          <p:cNvSpPr/>
          <p:nvPr/>
        </p:nvSpPr>
        <p:spPr>
          <a:xfrm>
            <a:off x="10001504" y="461772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A8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01504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304528" y="4846320"/>
            <a:ext cx="669544" cy="0"/>
          </a:xfrm>
          <a:prstGeom prst="line">
            <a:avLst/>
          </a:prstGeom>
          <a:noFill/>
          <a:ln w="15875">
            <a:solidFill>
              <a:srgbClr val="B8B8C8"/>
            </a:solidFill>
            <a:prstDash val="solid"/>
            <a:headEnd type="triangle"/>
          </a:ln>
        </p:spPr>
      </p:sp>
      <p:sp>
        <p:nvSpPr>
          <p:cNvPr id="12" name="Shape 10"/>
          <p:cNvSpPr/>
          <p:nvPr/>
        </p:nvSpPr>
        <p:spPr>
          <a:xfrm>
            <a:off x="8819896" y="461772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A8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19896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22920" y="4846320"/>
            <a:ext cx="669544" cy="0"/>
          </a:xfrm>
          <a:prstGeom prst="line">
            <a:avLst/>
          </a:prstGeom>
          <a:noFill/>
          <a:ln w="15875">
            <a:solidFill>
              <a:srgbClr val="B8B8C8"/>
            </a:solidFill>
            <a:prstDash val="solid"/>
            <a:headEnd type="triangle"/>
          </a:ln>
        </p:spPr>
      </p:sp>
      <p:sp>
        <p:nvSpPr>
          <p:cNvPr id="15" name="Shape 13"/>
          <p:cNvSpPr/>
          <p:nvPr/>
        </p:nvSpPr>
        <p:spPr>
          <a:xfrm>
            <a:off x="7638288" y="461772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A8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38288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941312" y="4846320"/>
            <a:ext cx="669544" cy="0"/>
          </a:xfrm>
          <a:prstGeom prst="line">
            <a:avLst/>
          </a:prstGeom>
          <a:noFill/>
          <a:ln w="15875">
            <a:solidFill>
              <a:srgbClr val="B8B8C8"/>
            </a:solidFill>
            <a:prstDash val="solid"/>
            <a:headEnd type="triangle"/>
          </a:ln>
        </p:spPr>
      </p:sp>
      <p:sp>
        <p:nvSpPr>
          <p:cNvPr id="18" name="Shape 16"/>
          <p:cNvSpPr/>
          <p:nvPr/>
        </p:nvSpPr>
        <p:spPr>
          <a:xfrm>
            <a:off x="6456680" y="461772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A8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5668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759704" y="4846320"/>
            <a:ext cx="669544" cy="0"/>
          </a:xfrm>
          <a:prstGeom prst="line">
            <a:avLst/>
          </a:prstGeom>
          <a:noFill/>
          <a:ln w="15875">
            <a:solidFill>
              <a:srgbClr val="B8B8C8"/>
            </a:solidFill>
            <a:prstDash val="solid"/>
            <a:headEnd type="triangle"/>
          </a:ln>
        </p:spPr>
      </p:sp>
      <p:sp>
        <p:nvSpPr>
          <p:cNvPr id="21" name="Shape 19"/>
          <p:cNvSpPr/>
          <p:nvPr/>
        </p:nvSpPr>
        <p:spPr>
          <a:xfrm>
            <a:off x="5275072" y="461772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A8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75072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8096" y="4846320"/>
            <a:ext cx="669544" cy="0"/>
          </a:xfrm>
          <a:prstGeom prst="line">
            <a:avLst/>
          </a:prstGeom>
          <a:noFill/>
          <a:ln w="15875">
            <a:solidFill>
              <a:srgbClr val="B8B8C8"/>
            </a:solidFill>
            <a:prstDash val="solid"/>
            <a:headEnd type="triangle"/>
          </a:ln>
        </p:spPr>
      </p:sp>
      <p:sp>
        <p:nvSpPr>
          <p:cNvPr id="24" name="Shape 22"/>
          <p:cNvSpPr/>
          <p:nvPr/>
        </p:nvSpPr>
        <p:spPr>
          <a:xfrm>
            <a:off x="4093464" y="461772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A8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93464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396488" y="4846320"/>
            <a:ext cx="669544" cy="0"/>
          </a:xfrm>
          <a:prstGeom prst="line">
            <a:avLst/>
          </a:prstGeom>
          <a:noFill/>
          <a:ln w="15875">
            <a:solidFill>
              <a:srgbClr val="B8B8C8"/>
            </a:solidFill>
            <a:prstDash val="solid"/>
            <a:headEnd type="triangle"/>
          </a:ln>
        </p:spPr>
      </p:sp>
      <p:sp>
        <p:nvSpPr>
          <p:cNvPr id="27" name="Shape 25"/>
          <p:cNvSpPr/>
          <p:nvPr/>
        </p:nvSpPr>
        <p:spPr>
          <a:xfrm>
            <a:off x="2911856" y="461772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A88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11856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214880" y="4846320"/>
            <a:ext cx="669544" cy="0"/>
          </a:xfrm>
          <a:prstGeom prst="line">
            <a:avLst/>
          </a:prstGeom>
          <a:noFill/>
          <a:ln w="15875">
            <a:solidFill>
              <a:srgbClr val="B8B8C8"/>
            </a:solidFill>
            <a:prstDash val="solid"/>
            <a:headEnd type="triangle"/>
          </a:ln>
        </p:spPr>
      </p:sp>
      <p:sp>
        <p:nvSpPr>
          <p:cNvPr id="30" name="Shape 28"/>
          <p:cNvSpPr/>
          <p:nvPr/>
        </p:nvSpPr>
        <p:spPr>
          <a:xfrm>
            <a:off x="1730248" y="461772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A88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730248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033272" y="4846320"/>
            <a:ext cx="669544" cy="0"/>
          </a:xfrm>
          <a:prstGeom prst="line">
            <a:avLst/>
          </a:prstGeom>
          <a:noFill/>
          <a:ln w="15875">
            <a:solidFill>
              <a:srgbClr val="B8B8C8"/>
            </a:solidFill>
            <a:prstDash val="solid"/>
            <a:headEnd type="triangle"/>
          </a:ln>
        </p:spPr>
      </p:sp>
      <p:sp>
        <p:nvSpPr>
          <p:cNvPr id="33" name="Shape 31"/>
          <p:cNvSpPr/>
          <p:nvPr/>
        </p:nvSpPr>
        <p:spPr>
          <a:xfrm>
            <a:off x="548640" y="4617720"/>
            <a:ext cx="457200" cy="457200"/>
          </a:xfrm>
          <a:prstGeom prst="ellipse">
            <a:avLst/>
          </a:prstGeom>
          <a:solidFill>
            <a:srgbClr val="00A88A"/>
          </a:solidFill>
          <a:ln w="19050">
            <a:solidFill>
              <a:srgbClr val="00A88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77240" y="5074920"/>
            <a:ext cx="0" cy="201168"/>
          </a:xfrm>
          <a:prstGeom prst="line">
            <a:avLst/>
          </a:prstGeom>
          <a:noFill/>
          <a:ln w="15875">
            <a:solidFill>
              <a:srgbClr val="00A88A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>
            <a:off x="11411712" y="5276088"/>
            <a:ext cx="-10634472" cy="0"/>
          </a:xfrm>
          <a:prstGeom prst="line">
            <a:avLst/>
          </a:prstGeom>
          <a:noFill/>
          <a:ln w="15875">
            <a:solidFill>
              <a:srgbClr val="00A88A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11411712" y="5074920"/>
            <a:ext cx="0" cy="201168"/>
          </a:xfrm>
          <a:prstGeom prst="line">
            <a:avLst/>
          </a:prstGeom>
          <a:noFill/>
          <a:ln w="15875">
            <a:solidFill>
              <a:srgbClr val="00A88A"/>
            </a:solidFill>
            <a:prstDash val="dash"/>
            <a:headEnd type="triangle"/>
          </a:ln>
        </p:spPr>
      </p:sp>
      <p:sp>
        <p:nvSpPr>
          <p:cNvPr id="38" name="Text 36"/>
          <p:cNvSpPr/>
          <p:nvPr/>
        </p:nvSpPr>
        <p:spPr>
          <a:xfrm>
            <a:off x="9948672" y="525780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900" i="1" dirty="0">
                <a:solidFill>
                  <a:srgbClr val="00A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חוזרים לשלב 1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48640" y="608076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איור: עשרת שלבי ה-Workflow בזרימה מ-1 עד 10, עם מסלול חזרה מודגש (מקווקו) מ-10 בחזרה ל-1 — ממחיש שזה תהליך מעגלי, לא רצף חד-פעמי.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A6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· שיעור 1 · שקף 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גם הנתונים תומכים ב-Workflow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10916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דו"ח DORA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(מחקר שנתי מוביל בתעשייה על תהליכי פיתוח תוכנה, מבית Google) לשנת 2026, שיפור פרודוקטיביות בהשוואה לעבודה בלי כלי AI כלל:</a:t>
            </a:r>
            <a:endParaRPr lang="en-US" sz="19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קוד קיים (Brownfield) בלי תהליך מסודר: 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~10%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שיפור</a:t>
            </a:r>
            <a:endParaRPr lang="en-US" sz="19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אותם כלים, על פרויקט חדש שנבנה מאפס (Greenfield) עם Workflow ברור: 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35-40%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שיפור</a:t>
            </a:r>
            <a:endParaRPr lang="en-US" sz="19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בלי תהליך מסודר: 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30-41%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יותר 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חוב טכני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(עבודה "מהירה" עכשיו שדורשת תיקון יקר יותר בהמשך), ו-PR עם AI = 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פי 1.7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יותר בעיות מ-PR שכתב בן אדם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48640" y="3657600"/>
            <a:ext cx="11091672" cy="0"/>
          </a:xfrm>
          <a:prstGeom prst="line">
            <a:avLst/>
          </a:prstGeom>
          <a:noFill/>
          <a:ln w="9525">
            <a:solidFill>
              <a:srgbClr val="B8B8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74904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00A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מה עושים בפועל: ההבדל הוא לא הכלי. ההבדל הוא התהליך.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61722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מקור: DORA — ROI of AI-Assisted Software Development,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A6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· שיעור 1 · שקף 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מקרה בוחן: Gemini CLI → Antigravity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השאלה: מה קורה כשהכלי שלמדתם נעלם?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916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הריצה כלי 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(ממשק שורת-פקודה — עובדים דרך הקלדת פקודות טקסט, בלי עכבר) חינמי — Gemini CLI</a:t>
            </a:r>
            <a:endParaRPr lang="en-US" sz="19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אמצע 2026: נסגר, הוחלף ב-Antigravity CLI (לא חינמי באותו אופן)</a:t>
            </a:r>
            <a:endParaRPr lang="en-US" sz="19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מי שלמד רק "את הכלי" — מתחיל כמעט מאפס</a:t>
            </a:r>
            <a:endParaRPr lang="en-US" sz="19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מי שלמד את ה-Workflow — עובר לכלי הבא כמעט בלי לאבד זמן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48640" y="3931920"/>
            <a:ext cx="11091672" cy="0"/>
          </a:xfrm>
          <a:prstGeom prst="line">
            <a:avLst/>
          </a:prstGeom>
          <a:noFill/>
          <a:ln w="9525">
            <a:solidFill>
              <a:srgbClr val="B8B8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0233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00A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מה עושים בפועל: משקיעים בהבנת התהליך של עבודה עם כלי אג'נטי — כמו </a:t>
            </a:r>
            <a:pPr rtl="1" algn="r" indent="0" marL="0">
              <a:buNone/>
            </a:pPr>
            <a:r>
              <a:rPr lang="en-US" sz="1700" b="1" dirty="0">
                <a:solidFill>
                  <a:srgbClr val="00A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</a:t>
            </a:r>
            <a:pPr rtl="1" algn="r" indent="0" marL="0">
              <a:buNone/>
            </a:pPr>
            <a:r>
              <a:rPr lang="en-US" sz="1700" dirty="0">
                <a:solidFill>
                  <a:srgbClr val="00A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(כלי AI לכתיבת קוד מבית </a:t>
            </a:r>
            <a:pPr rtl="1" algn="r" indent="0" marL="0">
              <a:buNone/>
            </a:pPr>
            <a:r>
              <a:rPr lang="en-US" sz="1700" b="1" dirty="0">
                <a:solidFill>
                  <a:srgbClr val="00A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</a:t>
            </a:r>
            <a:pPr rtl="1" algn="r" indent="0" marL="0">
              <a:buNone/>
            </a:pPr>
            <a:r>
              <a:rPr lang="en-US" sz="1700" dirty="0">
                <a:solidFill>
                  <a:srgbClr val="00A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החברה שיצרה את Claude), </a:t>
            </a:r>
            <a:pPr rtl="1" algn="r" indent="0" marL="0">
              <a:buNone/>
            </a:pPr>
            <a:r>
              <a:rPr lang="en-US" sz="1700" b="1" dirty="0">
                <a:solidFill>
                  <a:srgbClr val="00A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Cursor</a:t>
            </a:r>
            <a:pPr rtl="1" algn="r" indent="0" marL="0">
              <a:buNone/>
            </a:pPr>
            <a:r>
              <a:rPr lang="en-US" sz="1700" dirty="0">
                <a:solidFill>
                  <a:srgbClr val="00A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(עורך קוד עם AI מובנה) או Gemini CLI — לא רק ב"איך לוחצים איפה" בכלי ספציפי אחד.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505956" y="5052060"/>
            <a:ext cx="5134356" cy="777240"/>
          </a:xfrm>
          <a:prstGeom prst="roundRect">
            <a:avLst>
              <a:gd name="adj" fmla="val 7059"/>
            </a:avLst>
          </a:prstGeom>
          <a:solidFill>
            <a:srgbClr val="F6F6F8"/>
          </a:solidFill>
          <a:ln w="15875">
            <a:solidFill>
              <a:srgbClr val="B8B8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05956" y="5052060"/>
            <a:ext cx="5134356" cy="7772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1B1F3B"/>
                </a:solidFill>
              </a:rPr>
              <a:t>Gemini CLI</a:t>
            </a:r>
            <a:endParaRPr lang="en-US" sz="1300" dirty="0"/>
          </a:p>
          <a:p>
            <a:pPr rtl="1" algn="ctr" indent="0" marL="0">
              <a:buNone/>
            </a:pPr>
            <a:r>
              <a:rPr lang="en-US" sz="1000" dirty="0">
                <a:solidFill>
                  <a:srgbClr val="C0392B"/>
                </a:solidFill>
              </a:rPr>
              <a:t>חינמי — נסגר אמצע 2026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5052060"/>
            <a:ext cx="5134356" cy="777240"/>
          </a:xfrm>
          <a:prstGeom prst="roundRect">
            <a:avLst>
              <a:gd name="adj" fmla="val 7059"/>
            </a:avLst>
          </a:prstGeom>
          <a:solidFill>
            <a:srgbClr val="00A88A"/>
          </a:solidFill>
          <a:ln w="15875">
            <a:solidFill>
              <a:srgbClr val="00A8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5052060"/>
            <a:ext cx="5134356" cy="7772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Antigravity CLI</a:t>
            </a:r>
            <a:endParaRPr lang="en-US" sz="1300" dirty="0"/>
          </a:p>
          <a:p>
            <a:pPr rtl="1" algn="ctr" indent="0" marL="0">
              <a:buNone/>
            </a:pPr>
            <a:r>
              <a:rPr lang="en-US" sz="1000" dirty="0">
                <a:solidFill>
                  <a:srgbClr val="E6FFFA"/>
                </a:solidFill>
              </a:rPr>
              <a:t>לא חינמי באותו אופן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756148" y="5440680"/>
            <a:ext cx="676656" cy="0"/>
          </a:xfrm>
          <a:prstGeom prst="line">
            <a:avLst/>
          </a:prstGeom>
          <a:noFill/>
          <a:ln w="19050">
            <a:solidFill>
              <a:srgbClr val="B8B8C8"/>
            </a:solidFill>
            <a:prstDash val="solid"/>
            <a:headEnd type="triangle"/>
          </a:ln>
        </p:spPr>
      </p:sp>
      <p:sp>
        <p:nvSpPr>
          <p:cNvPr id="12" name="Text 10"/>
          <p:cNvSpPr/>
          <p:nvPr/>
        </p:nvSpPr>
        <p:spPr>
          <a:xfrm>
            <a:off x="548640" y="608076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איור: Gemini CLI (חינמי, נסגר אמצע 2026) הוחלף ב-Antigravity CLI (לא חינמי באותו אופן). איור המחשה - לא לוגו רשמי.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A6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· שיעור 1 · שקף 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עוד דוגמה: זה לא רק Google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השאלה: זה קרה גם למישהו אחר, או שזה מקרה בודד?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916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מרץ 2026: 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(הפלטפורמה המרכזית בעולם לאחסון ושיתוף קוד — נסביר עליה לעומק בשיעור הבא) שינה את מסלול הסטודנטים ל-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Student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(התוכנית שנותנת לסטודנטים גישה חינמית ל-GitHub Copilot)</a:t>
            </a:r>
            <a:endParaRPr lang="en-US" sz="19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הפעלות חדשות מוקפאות זמנית — בלי לוח זמנים לחידוש</a:t>
            </a:r>
            <a:endParaRPr lang="en-US" sz="19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גם "תנאי מסלול חינם" משתנים בלי אזהרה, לא רק כלים שלמים</a:t>
            </a:r>
            <a:endParaRPr lang="en-US" sz="19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פעילות זוגות: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תחשבו על כלי שהשתנה דרמטית בחייכם תוך שנה-שנתיים — שתפו את בן/בת הזוג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48640" y="3931920"/>
            <a:ext cx="11091672" cy="0"/>
          </a:xfrm>
          <a:prstGeom prst="line">
            <a:avLst/>
          </a:prstGeom>
          <a:noFill/>
          <a:ln w="9525">
            <a:solidFill>
              <a:srgbClr val="B8B8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0233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00A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מה עושים בפועל: בונים על התהליך, לא על תנאי גישה של כלי מסוים.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A6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· שיעור 1 · שקף 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זה קורה גם בענק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השאלה: אולי זה רלוונטי רק לחברות ענק/סטארטאפים קטנים?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916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(חברת התשלומים הדיגיטליים שראינו קודם): מערכת "Minions" — 1,000+ PR ממוזגים בשבוע</a:t>
            </a:r>
            <a:endParaRPr lang="en-US" sz="19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TELUS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(חברת תקשורת קנדית גדולה): 500,000+ שעות נחסכו, 13,000 פתרונות AI</a:t>
            </a:r>
            <a:endParaRPr lang="en-US" sz="19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Zapier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(פלטפורמה פופולרית לחיבור אוטומטי בין אפליקציות): 89% אימוץ AI ארגוני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48640" y="3931920"/>
            <a:ext cx="11091672" cy="0"/>
          </a:xfrm>
          <a:prstGeom prst="line">
            <a:avLst/>
          </a:prstGeom>
          <a:noFill/>
          <a:ln w="9525">
            <a:solidFill>
              <a:srgbClr val="B8B8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0233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00A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מה עושים בפועל: זה לא רק סטארטאפים של שני אנשים — זה גם ענקיות טכנולוגיה, באותו Workflow שלמדנו היום.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61722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מקור: Forbes 2026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A6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· שיעור 1 · שקף 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i="1" dirty="0">
                <a:solidFill>
                  <a:srgbClr val="00A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הדגמה חיה (חלק א׳)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4718304" y="822960"/>
            <a:ext cx="2743200" cy="0"/>
          </a:xfrm>
          <a:prstGeom prst="line">
            <a:avLst/>
          </a:prstGeom>
          <a:noFill/>
          <a:ln w="19050">
            <a:solidFill>
              <a:srgbClr val="00A8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6012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דקות. בונים יחד, בזמן אמת.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פרומפט 1 — ההתחלה, מקלידים מול הכיתה (קובץ HTML=שפת מבנה הדף, CSS=שפת עיצוב, JS/JavaScript=שפת תכנות להתנהגות אינטראקטיבית — שלושתם ביחד = דף אינטרנט עובד):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2258568"/>
            <a:ext cx="10360152" cy="4005072"/>
          </a:xfrm>
          <a:prstGeom prst="rect">
            <a:avLst/>
          </a:prstGeom>
          <a:solidFill>
            <a:srgbClr val="F6F6F8"/>
          </a:solidFill>
          <a:ln w="12700">
            <a:solidFill>
              <a:srgbClr val="B8B8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2395728"/>
            <a:ext cx="9811512" cy="3730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בוא נבנה יחד, שלב אחר שלב, אפליקציית Note-Taking פשוטה שרצה בדפדפן — קובץ HTML יחיד עם CSS ו-JS מוטמעים, בלי שרת.</a:t>
            </a:r>
            <a:endParaRPr lang="en-US" sz="1400" dirty="0"/>
          </a:p>
          <a:p>
            <a:pPr rtl="1" algn="r" indent="0" marL="0">
              <a:buNone/>
            </a:pPr>
            <a:endParaRPr lang="en-US" sz="1400" dirty="0"/>
          </a:p>
          <a:p>
            <a:pPr rtl="1" algn="r" indent="0" marL="0">
              <a:buNone/>
            </a:pPr>
            <a:r>
              <a:rPr lang="en-US" sz="14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שלב 1: תתחיל רק במבנה הבסיסי — אזור טקסט לכתיבת פתק חדש, וכפתור שמירה. אחרי שאני מאשר, נמשיך לשלב הבא (הצגת רשימת הפתקים שנשמרו).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A6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· שיעור 1 · שקף 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i="1" dirty="0">
                <a:solidFill>
                  <a:srgbClr val="00A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הדגמה חיה (חלק ב׳)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4718304" y="822960"/>
            <a:ext cx="2743200" cy="0"/>
          </a:xfrm>
          <a:prstGeom prst="line">
            <a:avLst/>
          </a:prstGeom>
          <a:noFill/>
          <a:ln w="19050">
            <a:solidFill>
              <a:srgbClr val="00A8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6012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ממשיכים בזמן אמת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אחרי שהתוצאה של פרומפט 1 עובדת מקלידים בהמשך (פרומפט 2 מבקש שמירה ב-localStorage — זיכרון מקומי בדפדפן שנשמר גם אחרי רענון הדף):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פרומפט 2 (אחרי אישור שלב 1):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2258568"/>
            <a:ext cx="10360152" cy="1764792"/>
          </a:xfrm>
          <a:prstGeom prst="rect">
            <a:avLst/>
          </a:prstGeom>
          <a:solidFill>
            <a:srgbClr val="F6F6F8"/>
          </a:solidFill>
          <a:ln w="12700">
            <a:solidFill>
              <a:srgbClr val="B8B8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2395728"/>
            <a:ext cx="9811512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מעולה. עכשיו תוסיף: הצגת כל הפתקים השמורים מתחת לטופס, כל אחד בכרטיס נפרד, עם כפתור מחיקה. השתמש ב-localStorage לשמירה בין רענוני דף.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42062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פרומפט 3 (אופציונלי, אם נשאר זמן):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14400" y="4498848"/>
            <a:ext cx="10360152" cy="1764792"/>
          </a:xfrm>
          <a:prstGeom prst="rect">
            <a:avLst/>
          </a:prstGeom>
          <a:solidFill>
            <a:srgbClr val="F6F6F8"/>
          </a:solidFill>
          <a:ln w="12700">
            <a:solidFill>
              <a:srgbClr val="B8B8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88720" y="4636008"/>
            <a:ext cx="9811512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תוסיף חיפוש טקסט חופשי שמסנן את הפתקים המוצגים בזמן אמת תוך כדי הקלדה.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A6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· שיעור 1 · שקף 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עוברים לתרגול: Todo App (חלק א׳ — המשימה)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המטרה של 45 הדקות האלה?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916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לחוות בפועל את מלוא ה-Workflow שלמדנו היום (בקנה מידה זעיר): מהבנת דרישה, דרך שימוש ב-AI למימוש, ועד בדיקה שהתוצר עובד — בזוגות</a:t>
            </a:r>
            <a:endParaRPr lang="en-US" sz="19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המשימה: 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App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באמצעות כלי AI (Claude Code / Cursor / GitHub Copilot — לפי מה שמותקן) שתומך ב: הוספת משימה, סימון כהושלמה, מחיקה, והצגת הרשימה</a:t>
            </a:r>
            <a:endParaRPr lang="en-US" sz="19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בלי 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(קוד שרץ בצד שרת מרוחק, לא בדפדפן שלכם) — מספיק קובץ HTML/CSS/JS אחד שרץ בדפדפן, עם שמירה ב-localStorage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48640" y="3931920"/>
            <a:ext cx="11091672" cy="0"/>
          </a:xfrm>
          <a:prstGeom prst="line">
            <a:avLst/>
          </a:prstGeom>
          <a:noFill/>
          <a:ln w="9525">
            <a:solidFill>
              <a:srgbClr val="B8B8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0233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00A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מה עושים בפועל: אחרי קבלת קוד ראשוני — לא עוצרים. מבקשים שיפור אחד נוסף (מיון, ספירה, עיצוב) כדי לתרגל איטרציה על קוד קיים, לא רק בקשה ראשונה.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A6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· שיעור 1 · שקף 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i="1" dirty="0">
                <a:solidFill>
                  <a:srgbClr val="00A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עוברים לתרגול (חלק ב׳)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4718304" y="822960"/>
            <a:ext cx="2743200" cy="0"/>
          </a:xfrm>
          <a:prstGeom prst="line">
            <a:avLst/>
          </a:prstGeom>
          <a:noFill/>
          <a:ln w="19050">
            <a:solidFill>
              <a:srgbClr val="00A8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6012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פרומפט פתיחה לתרגול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התחילו מכאן, והתאימו לפי הצורך: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2258568"/>
            <a:ext cx="10360152" cy="4005072"/>
          </a:xfrm>
          <a:prstGeom prst="rect">
            <a:avLst/>
          </a:prstGeom>
          <a:solidFill>
            <a:srgbClr val="F6F6F8"/>
          </a:solidFill>
          <a:ln w="12700">
            <a:solidFill>
              <a:srgbClr val="B8B8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2395728"/>
            <a:ext cx="9811512" cy="3730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אני רוצה לבנות Todo App פשוט שרץ בדפדפן, קובץ HTML יחיד עם CSS ו-JS מוטמעים (בלי צורך בשרת). דרישות: טופס להוספת משימה חדשה, רשימת משימות עם checkbox לסימון "הושלם", כפתור מחיקה לכל משימה, שמירת המצב ב-localStorage כך שהרשימה נשארת אחרי רענון הדף, עיצוב נקי ופשוט.</a:t>
            </a:r>
            <a:endParaRPr lang="en-US" sz="1400" dirty="0"/>
          </a:p>
          <a:p>
            <a:pPr rtl="1" algn="r" indent="0" marL="0">
              <a:buNone/>
            </a:pPr>
            <a:endParaRPr lang="en-US" sz="1400" dirty="0"/>
          </a:p>
          <a:p>
            <a:pPr rtl="1" algn="r" indent="0" marL="0">
              <a:buNone/>
            </a:pPr>
            <a:r>
              <a:rPr lang="en-US" sz="14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תכתוב את הקוד המלא בקובץ אחד. תסביר בקצרה מה כל חלק עושה.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A6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· שיעור 1 · שקף 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עוברים לתרגול: מתי סיימתם? (חלק ג׳)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השאלה: איך יודעים שהתרגול הושלם בהצלחה?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916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קובץ index.html שנפתח בדפדפן ועובד בפועל — לא רק "קוד שנראה טוב"</a:t>
            </a:r>
            <a:endParaRPr lang="en-US" sz="19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אפשר להוסיף, לסמן כהושלם, ולמחוק משימה — כל השלושה נבדקו בפועל בדפדפן</a:t>
            </a:r>
            <a:endParaRPr lang="en-US" sz="19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המשימות נשמרות גם אחרי רענון הדף (localStorage)</a:t>
            </a:r>
            <a:endParaRPr lang="en-US" sz="1900" dirty="0"/>
          </a:p>
          <a:p>
            <a:pPr rtl="1" algn="r"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 אחד/ת מבני הזוג יודע/ת להסביר מה הקוד עושה, גם אם AI כתב אותו — זה חלק מהתרגול, לא בונוס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48640" y="3931920"/>
            <a:ext cx="11091672" cy="0"/>
          </a:xfrm>
          <a:prstGeom prst="line">
            <a:avLst/>
          </a:prstGeom>
          <a:noFill/>
          <a:ln w="9525">
            <a:solidFill>
              <a:srgbClr val="B8B8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0233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00A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מה עושים בפועל: אם ה-AI "ממציא" קוד שלא עובד או משתמש בפונקציה לא קיימת — זה בדיוק Hallucination שדיברנו עליו היום. לא תקלה שלכם: תקנו על ידי בקשה מפורשת מה-AI לתקן, או תיאור מדויק יותר של השגיאה שקיבלתם.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A6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· שיעור 1 · שקף 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סיכום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1109167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spcAft>
                <a:spcPts val="1600"/>
              </a:spcAft>
              <a:buNone/>
            </a:pPr>
            <a:r>
              <a:rPr lang="en-US" sz="18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Vibe Coding = תהליך מקצועי, לא ניחוש — והנתונים מוכיחים את זה</a:t>
            </a:r>
            <a:endParaRPr lang="en-US" sz="1800" dirty="0"/>
          </a:p>
          <a:p>
            <a:pPr rtl="1" algn="r" indent="0" marL="0">
              <a:spcAft>
                <a:spcPts val="1600"/>
              </a:spcAft>
              <a:buNone/>
            </a:pPr>
            <a:r>
              <a:rPr lang="en-US" sz="18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AI מאיץ עבודה, אבל כפי שראינו — רק 29% סומכים על הפלט (כלומר 71% לא) — ולכן תמיד בודקים קוד לא מוכר (Hallucination)</a:t>
            </a:r>
            <a:endParaRPr lang="en-US" sz="1800" dirty="0"/>
          </a:p>
          <a:p>
            <a:pPr rtl="1" algn="r" indent="0" marL="0">
              <a:spcAft>
                <a:spcPts val="1600"/>
              </a:spcAft>
              <a:buNone/>
            </a:pPr>
            <a:r>
              <a:rPr lang="en-US" sz="18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לומדים Workflow — כלים יוחלפו, התהליך נשאר (וזה ההבדל בין 10% ל-40%)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4572000"/>
            <a:ext cx="11091672" cy="0"/>
          </a:xfrm>
          <a:prstGeom prst="line">
            <a:avLst/>
          </a:prstGeom>
          <a:noFill/>
          <a:ln w="9525">
            <a:solidFill>
              <a:srgbClr val="B8B8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7091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00A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שבוע הבא:</a:t>
            </a:r>
            <a:pPr rtl="1" algn="r" indent="0" marL="0">
              <a:buNone/>
            </a:pPr>
            <a:r>
              <a:rPr lang="en-US" sz="1700" b="1" dirty="0">
                <a:solidFill>
                  <a:srgbClr val="00A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AI Development Environment — מקימים סביבת עבודה אמיתית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51206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בהמשך הקורס: Context נכון (שבוע 3) · עבודה עם קוד קיים (שבוע 4) · Agents (שבוע 5) · תכנון לפני קוד (שבוע 6) · עד פריסה מלאה בענן ואבטחה (שבועות 11-12)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A6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· שיעור 1 · שקף 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מקורות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645920"/>
            <a:ext cx="11091672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DORA — ROI of AI-Assisted Software Development (dora.dev/ai), 2026</a:t>
            </a:r>
            <a:endParaRPr lang="en-US" sz="1500" dirty="0"/>
          </a:p>
          <a:p>
            <a:pPr rtl="1" algn="r"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 — מחקר מבוקר על מהירות מפתחים עם כלי AI, 2026</a:t>
            </a:r>
            <a:endParaRPr lang="en-US" sz="1500" dirty="0"/>
          </a:p>
          <a:p>
            <a:pPr rtl="1" algn="r"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index.dev — Developer Productivity Statistics with AI Tools 2026</a:t>
            </a:r>
            <a:endParaRPr lang="en-US" sz="1500" dirty="0"/>
          </a:p>
          <a:p>
            <a:pPr rtl="1" algn="r"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Talent — Developer Survey 2026</a:t>
            </a:r>
            <a:endParaRPr lang="en-US" sz="1500" dirty="0"/>
          </a:p>
          <a:p>
            <a:pPr rtl="1" algn="r"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Forbes — 5 Vibe Coding Use Cases Every Company Can Start Using Today, 2026</a:t>
            </a:r>
            <a:endParaRPr lang="en-US" sz="1500" dirty="0"/>
          </a:p>
          <a:p>
            <a:pPr rtl="1" algn="r"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Deloitte — תחזית אימוץ סוכני AI ארגוניים, 2026</a:t>
            </a:r>
            <a:endParaRPr lang="en-US" sz="1500" dirty="0"/>
          </a:p>
          <a:p>
            <a:pPr rtl="1" algn="r"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Developers Blog · Wikipedia (GitHub Copilot)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5212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פירוט מלא וקישורים: references.md — כל הנתונים נבדקו ביולי 2026 ועשויים להשתנות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A6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· שיעור 1 · שקף 25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2026-07-23T10:07:56Z</dcterms:created>
  <dcterms:modified xsi:type="dcterms:W3CDTF">2026-07-23T10:07:56Z</dcterms:modified>
</cp:coreProperties>
</file>