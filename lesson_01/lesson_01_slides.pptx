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– AI-Native Software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שיעור 1: מבוא ל-Vibe Coding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Vibe Coding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0632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בסוף השיעור תדעו לענות על: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520440"/>
            <a:ext cx="5669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Vibe Coding, ובמה הוא שונה מ״להקליד פרומפט״?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 היתרונות, החסרונות והמגבלות — עם נתונים אמיתיים?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מהו ה-Workflow בן 10 השלבים שנלמד לאורך כל הקורס?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למה הקורס מלמד ״תהליך״, ולא ״כלי״?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0" y="640080"/>
            <a:ext cx="5056632" cy="557784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6583680" y="640080"/>
            <a:ext cx="5056632" cy="55778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טרמינל / IDE עם סוכן AI כותב קוד בזמן אמת]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63093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Course · Lesson 1 of 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מהו Vibe Coding?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57784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55778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ככותב קוד, אתם כמנווטים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מנחים AI לכתוב, לבדוק ולתקן קוד בפועל — לא כותבים כל שורה לבד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57784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שליטה מלאה נשארת אצלכם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כיוון, איכות והחלטות ארכיטקטוניות — תמיד בידיים שלכם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57784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557784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ניחוש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תכנון, בדיקה, הבנה ואחריות מלאה על כל שורת קוד שמגיעה לייצור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92240" y="1554480"/>
            <a:ext cx="5148072" cy="420624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492240" y="1554480"/>
            <a:ext cx="5148072" cy="4206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ממשק Claude Code בפעולה — מפתח נותן הנחיה, הסוכן כותב קוד]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Software Engineering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36792" y="173736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737360"/>
            <a:ext cx="5120640" cy="3291840"/>
          </a:xfrm>
          <a:prstGeom prst="roundRect">
            <a:avLst>
              <a:gd name="adj" fmla="val 3333"/>
            </a:avLst>
          </a:prstGeom>
          <a:solidFill>
            <a:srgbClr val="E6FBF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(הגישה של הקורס)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כשותף עבודה מרכזי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מעורב מהבנת הדרישה ועד פריסה בענן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בכל שלב בתהליך הפיתוח, לא רק בכתיבת קוד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11112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הגישה הישנה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11112" y="251460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AI ככלי עזר צדדי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השלמת קוד בסיסית (Autocomplete)</a:t>
            </a:r>
            <a:endParaRPr lang="en-US" sz="14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תוסף לתהליך פיתוח קיים — לא משנה אותו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534924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תוספת לתהליך הפיתוח הקיים — זהו תהליך פיתוח חדש.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המספרים מאחורי המהפכה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915400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6FBF7"/>
          </a:solidFill>
          <a:ln/>
        </p:spPr>
      </p:sp>
      <p:sp>
        <p:nvSpPr>
          <p:cNvPr id="4" name="Text 2"/>
          <p:cNvSpPr/>
          <p:nvPr/>
        </p:nvSpPr>
        <p:spPr>
          <a:xfrm>
            <a:off x="8915400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92.6%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05256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מהמפתחים משתמשים בכלי AI לפחות פעם בחודש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45352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6FBF7"/>
          </a:solidFill>
          <a:ln/>
        </p:spPr>
      </p:sp>
      <p:sp>
        <p:nvSpPr>
          <p:cNvPr id="7" name="Text 5"/>
          <p:cNvSpPr/>
          <p:nvPr/>
        </p:nvSpPr>
        <p:spPr>
          <a:xfrm>
            <a:off x="6245352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26.9%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382512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מקוד הפרודקשן בתעשייה נכתב היום על ידי AI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75304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6FBF7"/>
          </a:solidFill>
          <a:ln/>
        </p:spPr>
      </p:sp>
      <p:sp>
        <p:nvSpPr>
          <p:cNvPr id="10" name="Text 8"/>
          <p:cNvSpPr/>
          <p:nvPr/>
        </p:nvSpPr>
        <p:spPr>
          <a:xfrm>
            <a:off x="3575304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1,000+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712464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Requests בשבוע דרך "Minions" — המערכת הפנימית של Stripe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5256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E6FBF7"/>
          </a:solidFill>
          <a:ln/>
        </p:spPr>
      </p:sp>
      <p:sp>
        <p:nvSpPr>
          <p:cNvPr id="13" name="Text 11"/>
          <p:cNvSpPr/>
          <p:nvPr/>
        </p:nvSpPr>
        <p:spPr>
          <a:xfrm>
            <a:off x="905256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1042416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מהאפליקציות הארגוניות ישלבו סוכני AI אוטונומיים עד סוף 2026 (מ-5% ב-2025)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47548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היפ שמדיה — זה כבר קרה בפועל. השאלה היא לא "האם", אלא "איך נכון".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index.dev Developer Productivity Statistics 2026 · Forbes 2026 · Deloitte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Evolution of Software Development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811512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/>
        </p:spPr>
      </p:sp>
      <p:sp>
        <p:nvSpPr>
          <p:cNvPr id="4" name="Text 2"/>
          <p:cNvSpPr/>
          <p:nvPr/>
        </p:nvSpPr>
        <p:spPr>
          <a:xfrm>
            <a:off x="981151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 מכונה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509760" y="210312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79792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2F2F2"/>
          </a:solidFill>
          <a:ln/>
        </p:spPr>
      </p:sp>
      <p:sp>
        <p:nvSpPr>
          <p:cNvPr id="7" name="Text 5"/>
          <p:cNvSpPr/>
          <p:nvPr/>
        </p:nvSpPr>
        <p:spPr>
          <a:xfrm>
            <a:off x="747979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שפות עיליות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178040" y="210312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148072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E9EEF9"/>
          </a:solidFill>
          <a:ln/>
        </p:spPr>
      </p:sp>
      <p:sp>
        <p:nvSpPr>
          <p:cNvPr id="10" name="Text 8"/>
          <p:cNvSpPr/>
          <p:nvPr/>
        </p:nvSpPr>
        <p:spPr>
          <a:xfrm>
            <a:off x="514807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 +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Autocomplete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2816352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DCEFFF"/>
          </a:solidFill>
          <a:ln/>
        </p:spPr>
      </p:sp>
      <p:sp>
        <p:nvSpPr>
          <p:cNvPr id="13" name="Text 11"/>
          <p:cNvSpPr/>
          <p:nvPr/>
        </p:nvSpPr>
        <p:spPr>
          <a:xfrm>
            <a:off x="281635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514600" y="2103120"/>
            <a:ext cx="274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84632" y="210312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00C2A8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" y="2103120"/>
            <a:ext cx="2011680" cy="13716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Agentic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7490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 קפיצה שינתה מה נחשב "עבודה של מפתח"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389120"/>
            <a:ext cx="11091672" cy="173736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48640" y="4389120"/>
            <a:ext cx="11091672" cy="173736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רצף ויזואלי לכל עידן — כרטיסי ניקוב, IDE ראשון, ממשק Git, סוכן AI]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ציר זמן מדויק — והקצב מואץ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2377440"/>
            <a:ext cx="9966960" cy="0"/>
          </a:xfrm>
          <a:prstGeom prst="line">
            <a:avLst/>
          </a:prstGeom>
          <a:noFill/>
          <a:ln w="25400">
            <a:solidFill>
              <a:srgbClr val="B8B8C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32720" y="2240280"/>
            <a:ext cx="274320" cy="274320"/>
          </a:xfrm>
          <a:prstGeom prst="ellipse">
            <a:avLst/>
          </a:prstGeom>
          <a:solidFill>
            <a:srgbClr val="00C2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55548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שנות ה-70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55548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ראשונים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909560" y="2240280"/>
            <a:ext cx="274320" cy="274320"/>
          </a:xfrm>
          <a:prstGeom prst="ellipse">
            <a:avLst/>
          </a:prstGeom>
          <a:solidFill>
            <a:srgbClr val="00C2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2005 / 2008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132320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/ GitHub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0" y="2240280"/>
            <a:ext cx="274320" cy="274320"/>
          </a:xfrm>
          <a:prstGeom prst="ellipse">
            <a:avLst/>
          </a:prstGeom>
          <a:solidFill>
            <a:srgbClr val="00C2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0916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יוני 2021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70916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100" dirty="0"/>
          </a:p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(Preview)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063240" y="2240280"/>
            <a:ext cx="274320" cy="274320"/>
          </a:xfrm>
          <a:prstGeom prst="ellipse">
            <a:avLst/>
          </a:prstGeom>
          <a:solidFill>
            <a:srgbClr val="00C2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286000" y="2651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נוב' 2022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86000" y="3017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2240280"/>
            <a:ext cx="274320" cy="274320"/>
          </a:xfrm>
          <a:prstGeom prst="ellipse">
            <a:avLst/>
          </a:prstGeom>
          <a:solidFill>
            <a:srgbClr val="FFB0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-137160" y="15087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2024-2026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-13716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כלים אג'נטיים</a:t>
            </a:r>
            <a:endParaRPr lang="en-US" sz="1100" dirty="0"/>
          </a:p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אמיתיים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20624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מ-IDE ל-Git: ~30 שנה. מ-Git ל-Copilot: ~16 שנה. מ-Copilot לאג'נטי: ~3 שנים בלבד.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Wikipedia (GitHub Copilot) · Chronological History of Version Control Systems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יתרונות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577840" y="15544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557784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מהירות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9385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אפליקציה שלקחה ימים — מתחילים לבנות אותה תוך דקות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577840" y="29260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8" name="Text 6"/>
          <p:cNvSpPr/>
          <p:nvPr/>
        </p:nvSpPr>
        <p:spPr>
          <a:xfrm>
            <a:off x="5577840" y="2926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29260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נגישות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33101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אנשים בלי רקע עמוק בתכנות יכולים לבנות דברים אמיתיים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577840" y="4297680"/>
            <a:ext cx="548640" cy="54864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2" name="Text 10"/>
          <p:cNvSpPr/>
          <p:nvPr/>
        </p:nvSpPr>
        <p:spPr>
          <a:xfrm>
            <a:off x="5577840" y="4297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שחרור מבוילרפלייט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48640" y="468172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חוזר וסטנדרטי (מסלולים, טפסים, בדיקות בסיסיות) נכתב מהר בהרבה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92240" y="1554480"/>
            <a:ext cx="5148072" cy="420624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492240" y="1554480"/>
            <a:ext cx="5148072" cy="42062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השוואת ״לפני / אחרי״ — זמן פיתוח שהצטמצם מימים לדקות]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חסרונות ומגבלות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263640" y="155448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FF6E6"/>
          </a:solidFill>
          <a:ln/>
        </p:spPr>
      </p:sp>
      <p:sp>
        <p:nvSpPr>
          <p:cNvPr id="4" name="Shape 2"/>
          <p:cNvSpPr/>
          <p:nvPr/>
        </p:nvSpPr>
        <p:spPr>
          <a:xfrm>
            <a:off x="10927080" y="178308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5" name="Text 3"/>
          <p:cNvSpPr/>
          <p:nvPr/>
        </p:nvSpPr>
        <p:spPr>
          <a:xfrm>
            <a:off x="10927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37960" y="17556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Hallucination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37960" y="22860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המודל ״ממציא״ פונקציות, ספריות או API-ים שלא קיימים — בביטחון מלא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55448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FF6E6"/>
          </a:solidFill>
          <a:ln/>
        </p:spPr>
      </p:sp>
      <p:sp>
        <p:nvSpPr>
          <p:cNvPr id="9" name="Shape 7"/>
          <p:cNvSpPr/>
          <p:nvPr/>
        </p:nvSpPr>
        <p:spPr>
          <a:xfrm>
            <a:off x="5212080" y="178308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10" name="Text 8"/>
          <p:cNvSpPr/>
          <p:nvPr/>
        </p:nvSpPr>
        <p:spPr>
          <a:xfrm>
            <a:off x="521208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17556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חוסר הבנת הקשר רחב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228600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בלי Context מנוהל נכון, המודל ״שוכח״ החלטות קודמות בפרויקט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352044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FF6E6"/>
          </a:solidFill>
          <a:ln/>
        </p:spPr>
      </p:sp>
      <p:sp>
        <p:nvSpPr>
          <p:cNvPr id="14" name="Shape 12"/>
          <p:cNvSpPr/>
          <p:nvPr/>
        </p:nvSpPr>
        <p:spPr>
          <a:xfrm>
            <a:off x="10927080" y="374904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15" name="Text 13"/>
          <p:cNvSpPr/>
          <p:nvPr/>
        </p:nvSpPr>
        <p:spPr>
          <a:xfrm>
            <a:off x="109270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37960" y="37216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 שרץ ≠ קוד נכון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37960" y="42519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קוד יכול להיראות תקין ולרוץ בלי שגיאות — ועדיין להכיל טעות לוגית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52044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FFF6E6"/>
          </a:solidFill>
          <a:ln/>
        </p:spPr>
      </p:sp>
      <p:sp>
        <p:nvSpPr>
          <p:cNvPr id="19" name="Shape 17"/>
          <p:cNvSpPr/>
          <p:nvPr/>
        </p:nvSpPr>
        <p:spPr>
          <a:xfrm>
            <a:off x="5212080" y="374904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20" name="Text 18"/>
          <p:cNvSpPr/>
          <p:nvPr/>
        </p:nvSpPr>
        <p:spPr>
          <a:xfrm>
            <a:off x="521208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2960" y="372160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תלות בכלי משתנה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22960" y="425196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ה-AI של היום עשוי להיעלם או להשתנות מהותית בעוד שנה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55321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מאיץ עבודה, אבל לא מחליף שיפוט הנדסי. ככל שהפרויקט חשוב יותר — כך הביקורת האנושית קריטית יותר.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האמון עדיין נמוך, ובצדק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915400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FFF6E6"/>
          </a:solidFill>
          <a:ln/>
        </p:spPr>
      </p:sp>
      <p:sp>
        <p:nvSpPr>
          <p:cNvPr id="4" name="Text 2"/>
          <p:cNvSpPr/>
          <p:nvPr/>
        </p:nvSpPr>
        <p:spPr>
          <a:xfrm>
            <a:off x="8915400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05256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משתמשים/מתכננים להשתמש בכלי AI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245352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FFF6E6"/>
          </a:solidFill>
          <a:ln/>
        </p:spPr>
      </p:sp>
      <p:sp>
        <p:nvSpPr>
          <p:cNvPr id="7" name="Text 5"/>
          <p:cNvSpPr/>
          <p:nvPr/>
        </p:nvSpPr>
        <p:spPr>
          <a:xfrm>
            <a:off x="6245352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382512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סומכים בפועל על הפלט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575304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FFF6E6"/>
          </a:solidFill>
          <a:ln/>
        </p:spPr>
      </p:sp>
      <p:sp>
        <p:nvSpPr>
          <p:cNvPr id="10" name="Text 8"/>
          <p:cNvSpPr/>
          <p:nvPr/>
        </p:nvSpPr>
        <p:spPr>
          <a:xfrm>
            <a:off x="3575304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61%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712464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מסכימים: "קוד AI נראה נכון אבל לא אמין"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5256" y="1737360"/>
            <a:ext cx="2468880" cy="2651760"/>
          </a:xfrm>
          <a:prstGeom prst="roundRect">
            <a:avLst>
              <a:gd name="adj" fmla="val 3704"/>
            </a:avLst>
          </a:prstGeom>
          <a:solidFill>
            <a:srgbClr val="FFF6E6"/>
          </a:solidFill>
          <a:ln/>
        </p:spPr>
      </p:sp>
      <p:sp>
        <p:nvSpPr>
          <p:cNvPr id="13" name="Text 11"/>
          <p:cNvSpPr/>
          <p:nvPr/>
        </p:nvSpPr>
        <p:spPr>
          <a:xfrm>
            <a:off x="905256" y="1874520"/>
            <a:ext cx="24688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41%+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1042416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יותר באגים בקוד AI-heavy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47548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הפער בין "משתמשים" ל"סומכים" הוא בדיוק מה שהקורס הזה בא לצמצם.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Second Talent Developer Survey 2026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המחקר המטריד: METR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מפתחים מנוסים עבדו עם כלי AI על משימות אמיתיות: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336792" y="1920240"/>
            <a:ext cx="5120640" cy="3017520"/>
          </a:xfrm>
          <a:prstGeom prst="roundRect">
            <a:avLst>
              <a:gd name="adj" fmla="val 3636"/>
            </a:avLst>
          </a:prstGeom>
          <a:solidFill>
            <a:srgbClr val="2A2F55"/>
          </a:solidFill>
          <a:ln/>
        </p:spPr>
      </p:sp>
      <p:sp>
        <p:nvSpPr>
          <p:cNvPr id="5" name="Text 3"/>
          <p:cNvSpPr/>
          <p:nvPr/>
        </p:nvSpPr>
        <p:spPr>
          <a:xfrm>
            <a:off x="6336792" y="219456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19%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336792" y="35661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איטיים יותר בפועל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336792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(בפועל — מדידה אובייקטיבית)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120640" cy="3017520"/>
          </a:xfrm>
          <a:prstGeom prst="roundRect">
            <a:avLst>
              <a:gd name="adj" fmla="val 3636"/>
            </a:avLst>
          </a:prstGeom>
          <a:solidFill>
            <a:srgbClr val="00C2A8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9456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548640" y="35661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האמינו שהם מהירים יותר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(תחושה סובייקטיבית)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52120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התחושה "AI מאיץ אותי" יכולה פשוט לא להיות נכונה — גם אצל מומחים. לכן מודדים, לא מרגישים.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של מפתח מודרני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4" name="Shape 2"/>
          <p:cNvSpPr/>
          <p:nvPr/>
        </p:nvSpPr>
        <p:spPr>
          <a:xfrm>
            <a:off x="1261872" y="16916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5" name="Text 3"/>
          <p:cNvSpPr/>
          <p:nvPr/>
        </p:nvSpPr>
        <p:spPr>
          <a:xfrm>
            <a:off x="1261872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26771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הבנת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הבעיה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679192" y="15544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8" name="Shape 6"/>
          <p:cNvSpPr/>
          <p:nvPr/>
        </p:nvSpPr>
        <p:spPr>
          <a:xfrm>
            <a:off x="3392424" y="16916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9" name="Text 7"/>
          <p:cNvSpPr/>
          <p:nvPr/>
        </p:nvSpPr>
        <p:spPr>
          <a:xfrm>
            <a:off x="3392424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679192" y="226771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09744" y="15544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12" name="Shape 10"/>
          <p:cNvSpPr/>
          <p:nvPr/>
        </p:nvSpPr>
        <p:spPr>
          <a:xfrm>
            <a:off x="5522976" y="16916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3" name="Text 11"/>
          <p:cNvSpPr/>
          <p:nvPr/>
        </p:nvSpPr>
        <p:spPr>
          <a:xfrm>
            <a:off x="5522976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09744" y="226771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בניית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40296" y="15544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16" name="Shape 14"/>
          <p:cNvSpPr/>
          <p:nvPr/>
        </p:nvSpPr>
        <p:spPr>
          <a:xfrm>
            <a:off x="7653528" y="16916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7" name="Text 15"/>
          <p:cNvSpPr/>
          <p:nvPr/>
        </p:nvSpPr>
        <p:spPr>
          <a:xfrm>
            <a:off x="7653528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40296" y="226771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AI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70848" y="155448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20" name="Shape 18"/>
          <p:cNvSpPr/>
          <p:nvPr/>
        </p:nvSpPr>
        <p:spPr>
          <a:xfrm>
            <a:off x="9784080" y="169164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1" name="Text 19"/>
          <p:cNvSpPr/>
          <p:nvPr/>
        </p:nvSpPr>
        <p:spPr>
          <a:xfrm>
            <a:off x="9784080" y="1691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070848" y="226771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מימוש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AI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246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24" name="Shape 22"/>
          <p:cNvSpPr/>
          <p:nvPr/>
        </p:nvSpPr>
        <p:spPr>
          <a:xfrm>
            <a:off x="1261872" y="33832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5" name="Text 23"/>
          <p:cNvSpPr/>
          <p:nvPr/>
        </p:nvSpPr>
        <p:spPr>
          <a:xfrm>
            <a:off x="1261872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395935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79192" y="3246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28" name="Shape 26"/>
          <p:cNvSpPr/>
          <p:nvPr/>
        </p:nvSpPr>
        <p:spPr>
          <a:xfrm>
            <a:off x="3392424" y="33832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29" name="Text 27"/>
          <p:cNvSpPr/>
          <p:nvPr/>
        </p:nvSpPr>
        <p:spPr>
          <a:xfrm>
            <a:off x="3392424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679192" y="395935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809744" y="3246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32" name="Shape 30"/>
          <p:cNvSpPr/>
          <p:nvPr/>
        </p:nvSpPr>
        <p:spPr>
          <a:xfrm>
            <a:off x="5522976" y="33832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33" name="Text 31"/>
          <p:cNvSpPr/>
          <p:nvPr/>
        </p:nvSpPr>
        <p:spPr>
          <a:xfrm>
            <a:off x="5522976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09744" y="395935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940296" y="3246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36" name="Shape 34"/>
          <p:cNvSpPr/>
          <p:nvPr/>
        </p:nvSpPr>
        <p:spPr>
          <a:xfrm>
            <a:off x="7653528" y="33832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37" name="Text 35"/>
          <p:cNvSpPr/>
          <p:nvPr/>
        </p:nvSpPr>
        <p:spPr>
          <a:xfrm>
            <a:off x="7653528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940296" y="395935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070848" y="3246120"/>
            <a:ext cx="1965960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40" name="Shape 38"/>
          <p:cNvSpPr/>
          <p:nvPr/>
        </p:nvSpPr>
        <p:spPr>
          <a:xfrm>
            <a:off x="9784080" y="33832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1" name="Text 39"/>
          <p:cNvSpPr/>
          <p:nvPr/>
        </p:nvSpPr>
        <p:spPr>
          <a:xfrm>
            <a:off x="9784080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070848" y="3959352"/>
            <a:ext cx="1965960" cy="5943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שיתוף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48640" y="48006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תהליך איטרטיבי — לא ליניארי חד-פעמי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48640" y="52578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זהו העיקרון-על של כל הקורס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גם הנתונים תומכים ב-Workflow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36792" y="1737360"/>
            <a:ext cx="5120640" cy="2377440"/>
          </a:xfrm>
          <a:prstGeom prst="roundRect">
            <a:avLst>
              <a:gd name="adj" fmla="val 4615"/>
            </a:avLst>
          </a:prstGeom>
          <a:solidFill>
            <a:srgbClr val="FFF6E6"/>
          </a:solidFill>
          <a:ln/>
        </p:spPr>
      </p:sp>
      <p:sp>
        <p:nvSpPr>
          <p:cNvPr id="4" name="Text 2"/>
          <p:cNvSpPr/>
          <p:nvPr/>
        </p:nvSpPr>
        <p:spPr>
          <a:xfrm>
            <a:off x="6336792" y="18288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B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~10%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583680" y="283464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שיפור פרודוקטיביות — קוד קיים בלי Workflow מסודר (Brownfield)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5120640" cy="2377440"/>
          </a:xfrm>
          <a:prstGeom prst="roundRect">
            <a:avLst>
              <a:gd name="adj" fmla="val 4615"/>
            </a:avLst>
          </a:prstGeom>
          <a:solidFill>
            <a:srgbClr val="E6FBF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8288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35-40%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שיפור פרודוקטיביות — אותם כלים, עם Workflow ברור (Greenfield)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3434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בלי תהליך מסודר: 30-41% יותר חוב טכני · PR שנכתב ב-AI = פי 1.7 יותר בעיות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00C2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ההבדל הוא לא הכלי. ההבדל הוא התהליך.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DORA — ROI of AI-Assisted Software Development, 2026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מקרה בוחן: Gemini CLI → Antigravity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188720" y="2286000"/>
            <a:ext cx="9692640" cy="0"/>
          </a:xfrm>
          <a:prstGeom prst="line">
            <a:avLst/>
          </a:prstGeom>
          <a:noFill/>
          <a:ln w="25400">
            <a:solidFill>
              <a:srgbClr val="B8B8C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241280" y="2148840"/>
            <a:ext cx="274320" cy="274320"/>
          </a:xfrm>
          <a:prstGeom prst="ellipse">
            <a:avLst/>
          </a:prstGeom>
          <a:solidFill>
            <a:srgbClr val="00C2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464040" y="1417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2023-2024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464040" y="1783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Autocomplete</a:t>
            </a:r>
            <a:endParaRPr lang="en-US" sz="1100" dirty="0"/>
          </a:p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בסיסיים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635240" y="2148840"/>
            <a:ext cx="274320" cy="274320"/>
          </a:xfrm>
          <a:prstGeom prst="ellipse">
            <a:avLst/>
          </a:prstGeom>
          <a:solidFill>
            <a:srgbClr val="00C2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2560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2024-2025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2926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כלים Agentic</a:t>
            </a:r>
            <a:endParaRPr lang="en-US" sz="1100" dirty="0"/>
          </a:p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ראשונים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0" y="2148840"/>
            <a:ext cx="274320" cy="274320"/>
          </a:xfrm>
          <a:prstGeom prst="ellipse">
            <a:avLst/>
          </a:prstGeom>
          <a:solidFill>
            <a:srgbClr val="00C2A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51960" y="1417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2025-2026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51960" y="1783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</a:t>
            </a:r>
            <a:endParaRPr lang="en-US" sz="1100" dirty="0"/>
          </a:p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חינמי וזמין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828800" y="2148840"/>
            <a:ext cx="274320" cy="274320"/>
          </a:xfrm>
          <a:prstGeom prst="ellipse">
            <a:avLst/>
          </a:prstGeom>
          <a:solidFill>
            <a:srgbClr val="FFB0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2560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יוני 2026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51560" y="29260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 נסגר —</a:t>
            </a:r>
            <a:endParaRPr lang="en-US" sz="1100" dirty="0"/>
          </a:p>
          <a:p>
            <a:pPr rtl="1"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הוחלף ב-Antigravity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E6FBF7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79476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שלמד רק ״את הכלי״ — מתחיל כמעט מאפס. מי שלמד את ה-Workflow — עובר לכלי הבא כמעט בלי לאבד זמן.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48640" y="4846320"/>
            <a:ext cx="11091672" cy="1417320"/>
          </a:xfrm>
          <a:prstGeom prst="rect">
            <a:avLst/>
          </a:prstGeom>
          <a:solidFill>
            <a:srgbClr val="EDEDF2"/>
          </a:solidFill>
          <a:ln w="15875">
            <a:solidFill>
              <a:srgbClr val="B8B8C8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48640" y="4846320"/>
            <a:ext cx="11091672" cy="14173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[תמונה/לוגו: Gemini CLI ו-Google Antigravity CLI, זה לצד זה]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דוגמה: זה לא רק Google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1091672" cy="2286000"/>
          </a:xfrm>
          <a:prstGeom prst="roundRect">
            <a:avLst>
              <a:gd name="adj" fmla="val 4000"/>
            </a:avLst>
          </a:prstGeom>
          <a:solidFill>
            <a:srgbClr val="FFF6E6"/>
          </a:solidFill>
          <a:ln/>
        </p:spPr>
      </p:sp>
      <p:sp>
        <p:nvSpPr>
          <p:cNvPr id="4" name="Shape 2"/>
          <p:cNvSpPr/>
          <p:nvPr/>
        </p:nvSpPr>
        <p:spPr>
          <a:xfrm>
            <a:off x="10332720" y="1828800"/>
            <a:ext cx="457200" cy="457200"/>
          </a:xfrm>
          <a:prstGeom prst="ellipse">
            <a:avLst/>
          </a:prstGeom>
          <a:solidFill>
            <a:srgbClr val="FFB000"/>
          </a:solidFill>
          <a:ln/>
        </p:spPr>
      </p:sp>
      <p:sp>
        <p:nvSpPr>
          <p:cNvPr id="5" name="Text 3"/>
          <p:cNvSpPr/>
          <p:nvPr/>
        </p:nvSpPr>
        <p:spPr>
          <a:xfrm>
            <a:off x="103327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9326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מרץ 2026: GitHub שינה את מסלול הסטודנטים ל-Copilot Student</a:t>
            </a:r>
            <a:endParaRPr lang="en-US" sz="15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הפעלות חדשות מוקפאות זמנית — בלי לוח זמנים לחידוש</a:t>
            </a:r>
            <a:endParaRPr lang="en-US" sz="15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גם ״תנאי מסלול חינם״ משתנים בלי אזהרה, לא רק כלים שלמים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E6FBF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437083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פעילות זוגות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46634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תחשבו על כלי טכנולוגי שהשתנה דרמטית בחייכם תוך שנה-שנתיים — שתפו את בן/בת הזוג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קורה גם בענק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138160" y="1737360"/>
            <a:ext cx="3520440" cy="2560320"/>
          </a:xfrm>
          <a:prstGeom prst="roundRect">
            <a:avLst>
              <a:gd name="adj" fmla="val 3571"/>
            </a:avLst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8321040" y="1920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321040" y="256032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מערכת "Minions" הפנימית — 1,000+ Pull Requests ממוזגים בשבוע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233672" y="1737360"/>
            <a:ext cx="3520440" cy="2560320"/>
          </a:xfrm>
          <a:prstGeom prst="roundRect">
            <a:avLst>
              <a:gd name="adj" fmla="val 3571"/>
            </a:avLst>
          </a:prstGeom>
          <a:solidFill>
            <a:srgbClr val="E6FBF7"/>
          </a:solidFill>
          <a:ln/>
        </p:spPr>
      </p:sp>
      <p:sp>
        <p:nvSpPr>
          <p:cNvPr id="7" name="Text 5"/>
          <p:cNvSpPr/>
          <p:nvPr/>
        </p:nvSpPr>
        <p:spPr>
          <a:xfrm>
            <a:off x="4416552" y="1920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TELUS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416552" y="256032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500,000+ שעות עבודה נחסכו דרך 13,000 פתרונות מבוססי AI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29184" y="1737360"/>
            <a:ext cx="3520440" cy="2560320"/>
          </a:xfrm>
          <a:prstGeom prst="roundRect">
            <a:avLst>
              <a:gd name="adj" fmla="val 3571"/>
            </a:avLst>
          </a:prstGeom>
          <a:solidFill>
            <a:srgbClr val="E6FBF7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" y="192024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Zapier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12064" y="256032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89% אימוץ AI ארגוני — כמעט כל הארגון עובד עם הכלים האלה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46634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i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לא רק סטארטאפים של שני אנשים — זה גם ענקיות טכנולוגיה.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617220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מקור: Forbes 2026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הדגמה חיה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דקות. בונים יחד, בזמן אמת.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demo/prompt.md להוראות המלאות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0" y="2880360"/>
            <a:ext cx="5788152" cy="329184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3200400" y="2880360"/>
            <a:ext cx="5788152" cy="329184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[תמונה: מסך שיתוף / הקלטת מסך של סוכן AI בונה קוד בזמן אמת]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889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C2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עוברים לתרגול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דקות: בניית Todo App באמצעות AI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265176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הוספת משימה חדשה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סימון משימה כהושלמה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מחיקת משימה</a:t>
            </a:r>
            <a:endParaRPr lang="en-US" sz="1600" dirty="0"/>
          </a:p>
          <a:p>
            <a:pPr algn="r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שמירה עם localStorage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09360" y="2651760"/>
            <a:ext cx="5056632" cy="2926080"/>
          </a:xfrm>
          <a:prstGeom prst="rect">
            <a:avLst/>
          </a:prstGeom>
          <a:solidFill>
            <a:srgbClr val="2A2F55"/>
          </a:solidFill>
          <a:ln w="15875">
            <a:solidFill>
              <a:srgbClr val="00C2A8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309360" y="2651760"/>
            <a:ext cx="5056632" cy="292608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rtl="1" algn="ctr" indent="0" marL="0">
              <a:buNone/>
            </a:pPr>
            <a:r>
              <a:rPr lang="en-US" sz="1200" i="1" dirty="0">
                <a:solidFill>
                  <a:srgbClr val="00C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[אייקון/תמונה: רשימת Todo מסומנת ✓]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ראו exercises.md ו-solutions.md לפירוט מלא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332720" y="155448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4" name="Text 2"/>
          <p:cNvSpPr/>
          <p:nvPr/>
        </p:nvSpPr>
        <p:spPr>
          <a:xfrm>
            <a:off x="1033272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= תהליך מקצועי, לא ניחוש — והנתונים מוכיחים זאת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251460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7" name="Text 5"/>
          <p:cNvSpPr/>
          <p:nvPr/>
        </p:nvSpPr>
        <p:spPr>
          <a:xfrm>
            <a:off x="10332720" y="2514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5146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מאיץ עבודה, אך 71% לא סומכים על הפלט בלי ביקורת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332720" y="3474720"/>
            <a:ext cx="502920" cy="50292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10" name="Text 8"/>
          <p:cNvSpPr/>
          <p:nvPr/>
        </p:nvSpPr>
        <p:spPr>
          <a:xfrm>
            <a:off x="1033272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47472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לומדים Workflow — זה ההבדל בין 10% ל-40% שיפור פרודוקטיביות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00C2A8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285232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שבוע הבא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5623560"/>
            <a:ext cx="10543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Development Environment — מקימים סביבת עבודה אמיתית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1B1F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מקורות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916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DORA — ROI of AI-Assisted Software Development (dora.dev/ai),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 — מחקר מבוקר על מהירות מפתחים עם כלי AI,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index.dev — Developer Productivity Statistics with AI Tools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Talent — Developer Survey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Forbes — 5 Vibe Coding Use Cases Every Company Can Start Using Today,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Deloitte — תחזית אימוץ סוכני AI ארגוניים, 2026</a:t>
            </a:r>
            <a:endParaRPr lang="en-US" sz="1500" dirty="0"/>
          </a:p>
          <a:p>
            <a:pPr algn="r"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Developers Blog · Wikipedia (GitHub Copilot)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פירוט מלא וקישורים: references.md — כל הנתונים נבדקו ביולי 2026 ועשויים להשתנות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492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00" dirty="0">
                <a:solidFill>
                  <a:srgbClr val="A6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Vibe Coding · שיעור 1 · שקף 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2026-07-20T12:12:12Z</dcterms:created>
  <dcterms:modified xsi:type="dcterms:W3CDTF">2026-07-20T12:12:12Z</dcterms:modified>
</cp:coreProperties>
</file>