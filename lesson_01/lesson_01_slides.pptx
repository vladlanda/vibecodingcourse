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Vibe Coding, ובמה הוא שונה מ״להקליד פרומפט״?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היתרונות, החסרונות והמגבלות — עם נתונים אמיתיים?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ה-Workflow בן 10 השלבים שנלמד לאורך כל הקורס?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166360"/>
            <a:ext cx="7616952" cy="1097280"/>
          </a:xfrm>
          <a:prstGeom prst="roundRect">
            <a:avLst>
              <a:gd name="adj" fmla="val 5000"/>
            </a:avLst>
          </a:prstGeom>
          <a:solidFill>
            <a:srgbClr val="1B1F3B"/>
          </a:solidFill>
          <a:ln w="6350">
            <a:solidFill>
              <a:srgbClr val="B8B8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14016" y="5241341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2615184" y="5241341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2816352" y="5241341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5166360"/>
            <a:ext cx="761695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vibe-agent — zsh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68880" y="5480914"/>
            <a:ext cx="7251192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vibe-agent run "add dark mode toggle"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5667451"/>
            <a:ext cx="7251192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8A8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קורא את src/App.tsx...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5853989"/>
            <a:ext cx="7251192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5FD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כותב קומפוננטה חדשה...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68880" y="6040526"/>
            <a:ext cx="7251192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27C9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בוצע — 2 קבצים השתנו ▍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95488" y="4846320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5488" y="4846320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קלט: טקסט טבעי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85176" y="509778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322064" y="4846320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2064" y="4846320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שפה (LLM)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1752" y="509778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4846320"/>
            <a:ext cx="3544824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846320"/>
            <a:ext cx="3544824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פלט: טקסט/קוד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65099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חיזוי Token אחר Token: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52360" y="5669280"/>
            <a:ext cx="621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65592" y="5669280"/>
            <a:ext cx="621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878824" y="5669280"/>
            <a:ext cx="621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92056" y="5669280"/>
            <a:ext cx="621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92056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305288" y="5669280"/>
            <a:ext cx="6217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5288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1018520" y="5669280"/>
            <a:ext cx="621792" cy="292608"/>
          </a:xfrm>
          <a:prstGeom prst="rect">
            <a:avLst/>
          </a:prstGeom>
          <a:solidFill>
            <a:srgbClr val="00A88A"/>
          </a:solidFill>
          <a:ln w="12700">
            <a:solidFill>
              <a:srgbClr val="00A88A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1018520" y="56692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זרימת LLM: קלט טקסט → מודל שפה → פלט. למטה: דוגמה לחיזוי Token אחר Token (המודל מנחש את המילה הבאה ברצף לפי מה שסביר).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95488" y="4846320"/>
            <a:ext cx="3544824" cy="548640"/>
          </a:xfrm>
          <a:prstGeom prst="roundRect">
            <a:avLst>
              <a:gd name="adj" fmla="val 10000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5488" y="4846320"/>
            <a:ext cx="3544824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מנחים בשפה טבעית מה רוצים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85176" y="512064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322064" y="4846320"/>
            <a:ext cx="3544824" cy="548640"/>
          </a:xfrm>
          <a:prstGeom prst="roundRect">
            <a:avLst>
              <a:gd name="adj" fmla="val 10000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2064" y="4846320"/>
            <a:ext cx="3544824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הסוכן פועל ישירות על קבצי הקוד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1752" y="512064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4846320"/>
            <a:ext cx="3544824" cy="548640"/>
          </a:xfrm>
          <a:prstGeom prst="roundRect">
            <a:avLst>
              <a:gd name="adj" fmla="val 10000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846320"/>
            <a:ext cx="3544824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בודקים, מבינים, ומאשרים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5468112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חוזרים על זה בכל שינוי חדש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מעגל העבודה של Vibe Coding: מנחים בשפה טבעית → הסוכן פועל על הקבצים → בודקים ומאשרים — וחוזר חלילה בכל שינוי.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40112" y="4846320"/>
            <a:ext cx="160020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הגישה הישנה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46670" y="484632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46670" y="484632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הבנת דרישה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36942" y="503651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80660" y="484632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0" y="484632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0932" y="503651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484632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14650" y="484632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כתיבת קוד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23919" y="4691786"/>
            <a:ext cx="237744" cy="23774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23919" y="469178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804922" y="503651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84632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84632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בדיקה ופריסה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40112" y="5563210"/>
            <a:ext cx="160020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(הקורס)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46670" y="556321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46670" y="556321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הבנת דרישה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655939" y="5408676"/>
            <a:ext cx="237744" cy="237744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55939" y="54086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7536942" y="575340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80660" y="556321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80660" y="556321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89929" y="5408676"/>
            <a:ext cx="237744" cy="237744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89929" y="54086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170932" y="575340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556321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14650" y="556321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כתיבת קוד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23919" y="5408676"/>
            <a:ext cx="237744" cy="237744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23919" y="54086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804922" y="5753405"/>
            <a:ext cx="109728" cy="0"/>
          </a:xfrm>
          <a:prstGeom prst="line">
            <a:avLst/>
          </a:prstGeom>
          <a:noFill/>
          <a:ln w="12700">
            <a:solidFill>
              <a:srgbClr val="B8B8C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563210"/>
            <a:ext cx="2256282" cy="38039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5563210"/>
            <a:ext cx="2256282" cy="3803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בדיקה ופריסה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557909" y="5408676"/>
            <a:ext cx="237744" cy="237744"/>
          </a:xfrm>
          <a:prstGeom prst="ellipse">
            <a:avLst/>
          </a:prstGeom>
          <a:solidFill>
            <a:srgbClr val="00A8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7909" y="54086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אותם 4 שלבי פיתוח בשתי גישות: בגישה הישנה AI מעורב רק בשלב כתיבת הקוד; בגישת AI-Native (הקורס) AI מעורב בכל שלב.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Requests, מכונות בקיצור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038844" y="4846320"/>
            <a:ext cx="2601468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38844" y="4846320"/>
            <a:ext cx="2601468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מכונה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828532" y="509778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208776" y="4846320"/>
            <a:ext cx="2601468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08776" y="4846320"/>
            <a:ext cx="2601468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שפות עיליות + IDE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98464" y="509778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3378708" y="4846320"/>
            <a:ext cx="2601468" cy="502920"/>
          </a:xfrm>
          <a:prstGeom prst="roundRect">
            <a:avLst>
              <a:gd name="adj" fmla="val 1090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8708" y="4846320"/>
            <a:ext cx="2601468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68396" y="5097780"/>
            <a:ext cx="192024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846320"/>
            <a:ext cx="2601468" cy="502920"/>
          </a:xfrm>
          <a:prstGeom prst="roundRect">
            <a:avLst>
              <a:gd name="adj" fmla="val 10909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846320"/>
            <a:ext cx="2601468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422392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הקצב בין קפיצה לקפיצה הולך ומתקצר (ראו שקף הבא)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4 עידנים בהתפתחות הכלים: קוד מכונה → שפות עיליות + IDE → Git → AI Agentic (העידן הנוכחי, מודגש).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451592" y="5004816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לפני: ימים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71966" y="5004816"/>
            <a:ext cx="8942466" cy="35661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10451592" y="5519928"/>
            <a:ext cx="1188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היום: דקות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8023" y="5519928"/>
            <a:ext cx="1166409" cy="356616"/>
          </a:xfrm>
          <a:prstGeom prst="rect">
            <a:avLst/>
          </a:prstGeom>
          <a:solidFill>
            <a:srgbClr val="00A88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השוואת אורך יחסי: זמן פיתוח שהצטמצם מ״ימים״ (פס ארוך) ל״דקות״ (פס קצר) עבור אותה משימה.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שרץ ≠ קוד נכון — "עובד" ו"נכון" הם שני דברים שונים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תלות בכלי שמשתנה מהר (נדבר על זה בעוד כמה שקפים)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25253" y="4846320"/>
            <a:ext cx="457200" cy="45720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025253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13114" y="5376672"/>
            <a:ext cx="26814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נשכח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252335" y="4846320"/>
            <a:ext cx="457200" cy="45720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7252335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40196" y="5376672"/>
            <a:ext cx="26814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 ≠ נכון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79417" y="4846320"/>
            <a:ext cx="457200" cy="45720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4479417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67278" y="5376672"/>
            <a:ext cx="26814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תלות בכלי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06499" y="4846320"/>
            <a:ext cx="457200" cy="45720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7" name="Text 15"/>
          <p:cNvSpPr/>
          <p:nvPr/>
        </p:nvSpPr>
        <p:spPr>
          <a:xfrm>
            <a:off x="1706499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5376672"/>
            <a:ext cx="26814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תמצות ויזואלי של 4 המגבלות שלמעלה: Context נשכח, עובד≠נכון, תלות בכלי, Hallucination.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בניגוד לבן אדם, מודל שפה כמעט אף פעם לא אומר "אני לא יודע"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1B1F3B"/>
          </a:solidFill>
          <a:ln w="635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846320"/>
            <a:ext cx="10085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smartSort } from "utils";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981944" y="5248656"/>
            <a:ext cx="384048" cy="384048"/>
          </a:xfrm>
          <a:prstGeom prst="ellipse">
            <a:avLst/>
          </a:prstGeom>
          <a:solidFill>
            <a:srgbClr val="E05A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81944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דוגמה: import של פונקציה בשם smartSort שנראית לגיטימית לגמרי — אך לא קיימת בפועל בספרייה. ה-AI "המציא" אותה בביטחון מלא.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137392" y="51892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37392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20556" y="5440680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8490204" y="51892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90204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73368" y="5440680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5843016" y="51892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43016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26180" y="5440680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3195828" y="51892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95828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78992" y="5440680"/>
            <a:ext cx="208940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5189220"/>
            <a:ext cx="502920" cy="502920"/>
          </a:xfrm>
          <a:prstGeom prst="ellipse">
            <a:avLst/>
          </a:prstGeom>
          <a:solidFill>
            <a:srgbClr val="00A88A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189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שלבים 1-5 בזרימה מ-1 עד 5 (ממשיכים לשלבים 6-10 בשקף הבא, כולל מסלול החזרה המלא ל-1).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ונעמיק בשלב אחד או שניים ממנה. שימו לב: אחרי שלב 10 חוזרים לשלב 1 — זה תהליך מעגלי ואיטרטיבי, לא רצף חד-פעמי שנגמר.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183112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83112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486136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10001504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01504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04528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8819896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19896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7638288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828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1312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6456680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668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59704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5275072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75072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8096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4093464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93464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96488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27" name="Shape 25"/>
          <p:cNvSpPr/>
          <p:nvPr/>
        </p:nvSpPr>
        <p:spPr>
          <a:xfrm>
            <a:off x="2911856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11856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214880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30" name="Shape 28"/>
          <p:cNvSpPr/>
          <p:nvPr/>
        </p:nvSpPr>
        <p:spPr>
          <a:xfrm>
            <a:off x="1730248" y="4617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3024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33272" y="4846320"/>
            <a:ext cx="669544" cy="0"/>
          </a:xfrm>
          <a:prstGeom prst="line">
            <a:avLst/>
          </a:prstGeom>
          <a:noFill/>
          <a:ln w="15875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33" name="Shape 31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00A88A"/>
          </a:solidFill>
          <a:ln w="19050">
            <a:solidFill>
              <a:srgbClr val="00A8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77240" y="5074920"/>
            <a:ext cx="0" cy="201168"/>
          </a:xfrm>
          <a:prstGeom prst="line">
            <a:avLst/>
          </a:prstGeom>
          <a:noFill/>
          <a:ln w="15875">
            <a:solidFill>
              <a:srgbClr val="00A88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1411712" y="5276088"/>
            <a:ext cx="-10634472" cy="0"/>
          </a:xfrm>
          <a:prstGeom prst="line">
            <a:avLst/>
          </a:prstGeom>
          <a:noFill/>
          <a:ln w="15875">
            <a:solidFill>
              <a:srgbClr val="00A88A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1411712" y="5074920"/>
            <a:ext cx="0" cy="201168"/>
          </a:xfrm>
          <a:prstGeom prst="line">
            <a:avLst/>
          </a:prstGeom>
          <a:noFill/>
          <a:ln w="15875">
            <a:solidFill>
              <a:srgbClr val="00A88A"/>
            </a:solidFill>
            <a:prstDash val="dash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9948672" y="5257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חוזרים לשלב 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עשרת שלבי ה-Workflow בזרימה מ-1 עד 10, עם מסלול חזרה מודגש (מקווקו) מ-10 בחזרה ל-1 — ממחיש שזה תהליך מעגלי, לא רצף חד-פעמי.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2026, שיפור פרודוקטיביות בהשוואה לעבודה בלי כלי AI כלל: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אמצע 2026: נסגר, הוחלף ב-Antigravity CLI (לא חינמי באותו אופן)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רק "את הכלי" — מתחיל כמעט מאפס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 — כמו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(כלי AI לכתיבת קוד מבית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החברה שיצרה את Claude),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(עורך קוד עם AI מובנה) או Gemini CLI —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05956" y="5052060"/>
            <a:ext cx="5134356" cy="777240"/>
          </a:xfrm>
          <a:prstGeom prst="roundRect">
            <a:avLst>
              <a:gd name="adj" fmla="val 7059"/>
            </a:avLst>
          </a:prstGeom>
          <a:solidFill>
            <a:srgbClr val="F6F6F8"/>
          </a:solidFill>
          <a:ln w="15875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05956" y="5052060"/>
            <a:ext cx="5134356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Gemini CLI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C0392B"/>
                </a:solidFill>
              </a:rPr>
              <a:t>חינמי — נסגר אמצע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5052060"/>
            <a:ext cx="5134356" cy="777240"/>
          </a:xfrm>
          <a:prstGeom prst="roundRect">
            <a:avLst>
              <a:gd name="adj" fmla="val 7059"/>
            </a:avLst>
          </a:prstGeom>
          <a:solidFill>
            <a:srgbClr val="00A88A"/>
          </a:solidFill>
          <a:ln w="15875">
            <a:solidFill>
              <a:srgbClr val="00A8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052060"/>
            <a:ext cx="5134356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Antigravity CLI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E6FFFA"/>
                </a:solidFill>
              </a:rPr>
              <a:t>לא חינמי באותו אופן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56148" y="5440680"/>
            <a:ext cx="676656" cy="0"/>
          </a:xfrm>
          <a:prstGeom prst="line">
            <a:avLst/>
          </a:prstGeom>
          <a:noFill/>
          <a:ln w="19050">
            <a:solidFill>
              <a:srgbClr val="B8B8C8"/>
            </a:solidFill>
            <a:prstDash val="solid"/>
            <a:headEnd type="triangle"/>
          </a:ln>
        </p:spPr>
      </p:sp>
      <p:sp>
        <p:nvSpPr>
          <p:cNvPr id="12" name="Text 10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איור: Gemini CLI (חינמי, נסגר אמצע 2026) הוחלף ב-Antigravity CLI (לא חינמי באותו אופן). איור המחשה - לא לוגו רשמי.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הפעלות חדשות מוקפאות זמנית — בלי לוח זמנים לחידוש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גם "תנאי מסלול חינם" משתנים בלי אזהרה, לא רק כלים שלמים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א׳)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 1 — ההתחלה, מקלידים מול הכיתה (קובץ HTML=שפת מבנה הדף, CSS=שפת עיצוב, JS/JavaScript=שפת תכנות להתנהגות אינטראקטיבית — שלושתם ביחד = דף אינטרנט עובד):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ממשיכים בזמן אמת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שהתוצאה של פרומפט 1 עובדת מקלידים בהמשך (פרומפט 2 מבקש שמירה ב-localStorage — זיכרון מקומי בדפדפן שנשמר גם אחרי רענון הדף):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2 (אחרי אישור שלב 1):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מעולה. עכשיו תוסיף: הצגת כל הפתקים השמורים מתחת לטופס, כל אחד בכרטיס נפרד, עם כפתור מחיקה. השתמש ב-localStorage לשמירה בין רענוני דף.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3 (אופציונלי, אם נשאר זמן):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49884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63600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חיפוש טקסט חופשי שמסנן את הפתקים המוצגים בזמן אמת תוך כדי הקלדה.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Todo App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לחוות בפועל את מלוא ה-Workflow שלמדנו היום (בקנה מידה זעיר): מהבנת דרישה, דרך שימוש ב-AI למימוש, ועד בדיקה שהתוצר עובד — בזוגות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App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באמצעות כלי AI (Claude Code / Cursor / GitHub Copilot — לפי מה שמותקן) שתומך ב: הוספת משימה, סימון כהושלמה, מחיקה, והצגת הרשימה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(קוד שרץ בצד שרת מרוחק, לא בדפדפן שלכם) — מספיק קובץ HTML/CSS/JS אחד שרץ בדפדפן, עם שמירה ב-localStorage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אחרי קבלת קוד ראשוני — לא עוצרים. מבקשים שיפור אחד נוסף (מיון, ספירה, עיצוב) כדי לתרגל איטרציה על קוד קיים, לא רק בקשה ראשונה.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לפי הצורך: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אני רוצה לבנות Todo App פשוט שרץ בדפדפן, קובץ HTML יחיד עם CSS ו-JS מוטמעים (בלי צורך בשרת). דרישות: טופס להוספת משימה חדשה, רשימת משימות עם checkbox לסימון "הושלם", כפתור מחיקה לכל משימה, שמירת המצב ב-localStorage כך שהרשימה נשארת אחרי רענון הדף, עיצוב נקי ופשוט.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תכתוב את הקוד המלא בקובץ אחד. תסביר בקצרה מה כל חלק עושה.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index.html שנפתח בדפדפן ועובד בפועל — לא רק "קוד שנראה טוב"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להוסיף, לסמן כהושלם, ולמחוק משימה — כל השלושה נבדקו בפועל בדפדפן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המשימות נשמרות גם אחרי רענון הדף (localStorage)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אחד/ת מבני הזוג יודע/ת להסביר מה הקוד עושה, גם אם AI כתב אותו — זה חלק מהתרגול, לא בונוס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ה-AI "ממציא" קוד שלא עובד או משתמש בפונקציה לא קיימת — זה בדיוק Hallucination שדיברנו עליו היום. לא תקלה שלכם: תקנו על ידי בקשה מפורשת מה-AI לתקן, או תיאור מדויק יותר של השגיאה שקיבלתם.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Context נכון (שבוע 3) ·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2026-07-23T07:43:50Z</dcterms:created>
  <dcterms:modified xsi:type="dcterms:W3CDTF">2026-07-23T07:43:50Z</dcterms:modified>
</cp:coreProperties>
</file>